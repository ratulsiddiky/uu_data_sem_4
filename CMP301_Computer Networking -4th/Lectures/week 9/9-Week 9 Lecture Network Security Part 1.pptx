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1290" r:id="rId2"/>
    <p:sldId id="956" r:id="rId3"/>
    <p:sldId id="1213" r:id="rId4"/>
    <p:sldId id="1214" r:id="rId5"/>
    <p:sldId id="1217" r:id="rId6"/>
    <p:sldId id="1219" r:id="rId7"/>
    <p:sldId id="1220" r:id="rId8"/>
    <p:sldId id="1221" r:id="rId9"/>
    <p:sldId id="1223" r:id="rId10"/>
    <p:sldId id="1233" r:id="rId11"/>
    <p:sldId id="1234" r:id="rId12"/>
    <p:sldId id="1235" r:id="rId13"/>
    <p:sldId id="1236" r:id="rId14"/>
    <p:sldId id="1238" r:id="rId15"/>
    <p:sldId id="1239" r:id="rId16"/>
    <p:sldId id="1240" r:id="rId17"/>
    <p:sldId id="1241" r:id="rId18"/>
    <p:sldId id="1242" r:id="rId19"/>
    <p:sldId id="1244" r:id="rId20"/>
    <p:sldId id="1245" r:id="rId21"/>
    <p:sldId id="1246" r:id="rId22"/>
    <p:sldId id="1247" r:id="rId23"/>
    <p:sldId id="1248" r:id="rId24"/>
    <p:sldId id="1249" r:id="rId25"/>
    <p:sldId id="1250" r:id="rId26"/>
    <p:sldId id="1289" r:id="rId27"/>
    <p:sldId id="1251" r:id="rId28"/>
    <p:sldId id="1252" r:id="rId29"/>
    <p:sldId id="1253" r:id="rId30"/>
    <p:sldId id="125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48" userDrawn="1">
          <p15:clr>
            <a:srgbClr val="A4A3A4"/>
          </p15:clr>
        </p15:guide>
        <p15:guide id="3" orient="horz" pos="122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2A0"/>
    <a:srgbClr val="9AE0FF"/>
    <a:srgbClr val="66ACD3"/>
    <a:srgbClr val="6EBFF0"/>
    <a:srgbClr val="011199"/>
    <a:srgbClr val="8FAADC"/>
    <a:srgbClr val="B9C2C9"/>
    <a:srgbClr val="E7E7E7"/>
    <a:srgbClr val="F8F8F8"/>
    <a:srgbClr val="C4CD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74"/>
    <p:restoredTop sz="94379" autoAdjust="0"/>
  </p:normalViewPr>
  <p:slideViewPr>
    <p:cSldViewPr snapToGrid="0" snapToObjects="1">
      <p:cViewPr varScale="1">
        <p:scale>
          <a:sx n="78" d="100"/>
          <a:sy n="78" d="100"/>
        </p:scale>
        <p:origin x="586" y="58"/>
      </p:cViewPr>
      <p:guideLst>
        <p:guide pos="648"/>
        <p:guide orient="horz" pos="1224"/>
      </p:guideLst>
    </p:cSldViewPr>
  </p:slideViewPr>
  <p:outlineViewPr>
    <p:cViewPr>
      <p:scale>
        <a:sx n="33" d="100"/>
        <a:sy n="33" d="100"/>
      </p:scale>
      <p:origin x="0" y="-967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7/27/2025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1082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074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3146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12319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1162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3816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650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206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5257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50543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33766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3725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002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7664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57586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4426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30094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6260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26331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66619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6014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1502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5997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86356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9706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7468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80341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9563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26093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7E93C0D-5E34-354A-A654-B383913662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41126D0-2478-AE48-891D-9046D4F5E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9731AF-B9DB-1E4D-A017-6D1C48DC05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40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F3ABA1-E9EF-3248-90FD-6E40E659E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Wireless and Mobile Networks: 7-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wmf"/><Relationship Id="rId5" Type="http://schemas.openxmlformats.org/officeDocument/2006/relationships/image" Target="../media/image4.wmf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wmf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7.wmf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7.wmf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wmf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7.wmf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F4F2C8-32FE-219E-A014-9E004B2ED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Security: 8- 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CC1886E-FF84-E809-5401-224279DC4D07}"/>
              </a:ext>
            </a:extLst>
          </p:cNvPr>
          <p:cNvSpPr txBox="1">
            <a:spLocks/>
          </p:cNvSpPr>
          <p:nvPr/>
        </p:nvSpPr>
        <p:spPr>
          <a:xfrm>
            <a:off x="533400" y="2819400"/>
            <a:ext cx="815340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GB" sz="3400" dirty="0"/>
              <a:t>Network Security – part 1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61C149D-7594-D108-98B8-03ADEED3BC22}"/>
              </a:ext>
            </a:extLst>
          </p:cNvPr>
          <p:cNvSpPr txBox="1">
            <a:spLocks/>
          </p:cNvSpPr>
          <p:nvPr/>
        </p:nvSpPr>
        <p:spPr>
          <a:xfrm>
            <a:off x="762000" y="838200"/>
            <a:ext cx="7399421" cy="179070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2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Calibr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Calibr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Calibr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Calibr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Calibr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Calibr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Calibr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r>
              <a:rPr lang="en-US" dirty="0"/>
              <a:t>CMP301 – Computer Networking</a:t>
            </a:r>
            <a:br>
              <a:rPr lang="en-US" dirty="0"/>
            </a:br>
            <a:r>
              <a:rPr lang="en-US" dirty="0"/>
              <a:t>Lecture Week 9</a:t>
            </a:r>
            <a:endParaRPr lang="en-GB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A3FD3CBC-4C94-BD00-854A-B6C26B3E924B}"/>
              </a:ext>
            </a:extLst>
          </p:cNvPr>
          <p:cNvSpPr txBox="1">
            <a:spLocks/>
          </p:cNvSpPr>
          <p:nvPr/>
        </p:nvSpPr>
        <p:spPr>
          <a:xfrm>
            <a:off x="990600" y="4267200"/>
            <a:ext cx="4419600" cy="17526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SzPct val="50000"/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75000"/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Dr. Omar Nibouche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095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cs typeface="Calibri" panose="020F0502020204030204" pitchFamily="34" charset="0"/>
              </a:rPr>
              <a:t>Security: overview</a:t>
            </a:r>
            <a:endParaRPr lang="en-US" sz="4400" dirty="0"/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009DA679-1707-7346-B163-C91B0D753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E708D807-71AD-3B4B-9781-46E36F32C0D1}"/>
              </a:ext>
            </a:extLst>
          </p:cNvPr>
          <p:cNvSpPr txBox="1">
            <a:spLocks noChangeArrowheads="1"/>
          </p:cNvSpPr>
          <p:nvPr/>
        </p:nvSpPr>
        <p:spPr>
          <a:xfrm>
            <a:off x="867032" y="1295400"/>
            <a:ext cx="8321675" cy="4972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security in practice:</a:t>
            </a:r>
          </a:p>
          <a:p>
            <a:pPr lvl="1"/>
            <a:r>
              <a:rPr lang="en-US" dirty="0"/>
              <a:t>firewalls and intrusion detection systems</a:t>
            </a:r>
          </a:p>
          <a:p>
            <a:pPr lvl="1"/>
            <a:r>
              <a:rPr lang="en-US" dirty="0"/>
              <a:t>security in application, transport, network, link layers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83D5C8EF-2927-2B63-4F6E-08F936E807E9}"/>
              </a:ext>
            </a:extLst>
          </p:cNvPr>
          <p:cNvSpPr txBox="1">
            <a:spLocks noChangeArrowheads="1"/>
          </p:cNvSpPr>
          <p:nvPr/>
        </p:nvSpPr>
        <p:spPr>
          <a:xfrm>
            <a:off x="1028700" y="3210858"/>
            <a:ext cx="7772400" cy="2683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011199"/>
              </a:buClr>
            </a:pPr>
            <a:r>
              <a:rPr lang="en-US" dirty="0"/>
              <a:t>Securing e-mail</a:t>
            </a:r>
          </a:p>
          <a:p>
            <a:pPr>
              <a:buClr>
                <a:srgbClr val="011199"/>
              </a:buClr>
            </a:pPr>
            <a:r>
              <a:rPr lang="en-US" dirty="0"/>
              <a:t>Securing TCP connections: TLS</a:t>
            </a:r>
          </a:p>
          <a:p>
            <a:pPr>
              <a:buClr>
                <a:srgbClr val="011199"/>
              </a:buClr>
            </a:pPr>
            <a:r>
              <a:rPr lang="en-US" dirty="0"/>
              <a:t>Network layer security: IPsec</a:t>
            </a:r>
          </a:p>
          <a:p>
            <a:pPr>
              <a:buClr>
                <a:srgbClr val="011199"/>
              </a:buClr>
            </a:pPr>
            <a:r>
              <a:rPr lang="en-US" dirty="0"/>
              <a:t>Security in wireless and mobile networks</a:t>
            </a:r>
          </a:p>
          <a:p>
            <a:pPr>
              <a:buClr>
                <a:srgbClr val="011199"/>
              </a:buClr>
            </a:pPr>
            <a:r>
              <a:rPr lang="en-US" dirty="0"/>
              <a:t>Operational security: firewalls and IDS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A82334-5FD2-919F-E163-BAC9FB244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0496" y="3947539"/>
            <a:ext cx="3981504" cy="286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2800" i="1" dirty="0">
                <a:solidFill>
                  <a:srgbClr val="0012A0"/>
                </a:solidFill>
                <a:latin typeface="+mn-lt"/>
              </a:rPr>
              <a:t>Computer Networking: A Top-Down Approach </a:t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j-lt"/>
              </a:rPr>
              <a:t>8</a:t>
            </a:r>
            <a:r>
              <a:rPr lang="en-US" altLang="en-US" sz="1800" baseline="30000" dirty="0">
                <a:latin typeface="+mj-lt"/>
              </a:rPr>
              <a:t>th</a:t>
            </a:r>
            <a:r>
              <a:rPr lang="en-US" altLang="en-US" sz="1800" dirty="0">
                <a:latin typeface="+mj-lt"/>
              </a:rPr>
              <a:t> edition, Global Edition </a:t>
            </a:r>
            <a:br>
              <a:rPr lang="en-US" altLang="en-US" sz="1800" dirty="0">
                <a:latin typeface="+mj-lt"/>
              </a:rPr>
            </a:br>
            <a:r>
              <a:rPr lang="en-US" altLang="en-US" sz="1800" dirty="0">
                <a:latin typeface="+mj-lt"/>
              </a:rPr>
              <a:t>Jim Kurose, Keith Ross</a:t>
            </a:r>
            <a:br>
              <a:rPr lang="en-US" altLang="en-US" sz="1800" dirty="0">
                <a:latin typeface="+mj-lt"/>
              </a:rPr>
            </a:br>
            <a:r>
              <a:rPr lang="en-US" altLang="en-US" sz="1800" dirty="0">
                <a:latin typeface="+mj-lt"/>
              </a:rPr>
              <a:t>Copyright © 2022 Pearson Education Ltd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C0CF1EE-8BB7-8E99-C180-D74825311E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174" y="187521"/>
            <a:ext cx="3442368" cy="4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1736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Public key Certification Authorities (CA)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93E8B2A-A755-5E48-807C-4B3E8C517B43}"/>
              </a:ext>
            </a:extLst>
          </p:cNvPr>
          <p:cNvSpPr txBox="1">
            <a:spLocks noChangeArrowheads="1"/>
          </p:cNvSpPr>
          <p:nvPr/>
        </p:nvSpPr>
        <p:spPr>
          <a:xfrm>
            <a:off x="747505" y="1236939"/>
            <a:ext cx="10424078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</a:rPr>
              <a:t>certification authority (CA): </a:t>
            </a:r>
            <a:r>
              <a:rPr lang="en-US" dirty="0"/>
              <a:t>binds public key to particular entity, E</a:t>
            </a:r>
          </a:p>
          <a:p>
            <a:r>
              <a:rPr lang="en-US" dirty="0"/>
              <a:t>entity (person, website, router) registers its public key with CE provides </a:t>
            </a:r>
            <a:r>
              <a:rPr lang="en-US" altLang="ja-JP" dirty="0"/>
              <a:t>“proof of identity” to CA</a:t>
            </a:r>
          </a:p>
          <a:p>
            <a:pPr lvl="1"/>
            <a:r>
              <a:rPr lang="en-US" dirty="0"/>
              <a:t>CA creates certificate binding identity E to E’s public key</a:t>
            </a:r>
          </a:p>
          <a:p>
            <a:pPr lvl="1"/>
            <a:r>
              <a:rPr lang="en-US" dirty="0"/>
              <a:t>certificate containing E’</a:t>
            </a:r>
            <a:r>
              <a:rPr lang="en-US" altLang="ja-JP" dirty="0"/>
              <a:t>s public key digitally signed by CA: CA says “this is E’s public key”</a:t>
            </a:r>
            <a:endParaRPr lang="en-US" dirty="0"/>
          </a:p>
        </p:txBody>
      </p:sp>
      <p:pic>
        <p:nvPicPr>
          <p:cNvPr id="7" name="Picture 4" descr="j0175664[1]">
            <a:extLst>
              <a:ext uri="{FF2B5EF4-FFF2-40B4-BE49-F238E27FC236}">
                <a16:creationId xmlns:a16="http://schemas.microsoft.com/office/drawing/2014/main" id="{23CAD533-9FA9-104F-B787-25857E08A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97651" y="4860718"/>
            <a:ext cx="1155700" cy="917575"/>
          </a:xfrm>
          <a:prstGeom prst="rect">
            <a:avLst/>
          </a:prstGeom>
          <a:noFill/>
        </p:spPr>
      </p:pic>
      <p:pic>
        <p:nvPicPr>
          <p:cNvPr id="8" name="Picture 5" descr="Bob">
            <a:extLst>
              <a:ext uri="{FF2B5EF4-FFF2-40B4-BE49-F238E27FC236}">
                <a16:creationId xmlns:a16="http://schemas.microsoft.com/office/drawing/2014/main" id="{0548BCFD-B7B1-C642-A6A8-74DD77F00F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3814" y="5583030"/>
            <a:ext cx="590550" cy="604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Line 13">
            <a:extLst>
              <a:ext uri="{FF2B5EF4-FFF2-40B4-BE49-F238E27FC236}">
                <a16:creationId xmlns:a16="http://schemas.microsoft.com/office/drawing/2014/main" id="{514DEAE9-3473-A94A-B6EB-D6509081EC31}"/>
              </a:ext>
            </a:extLst>
          </p:cNvPr>
          <p:cNvSpPr>
            <a:spLocks noChangeShapeType="1"/>
          </p:cNvSpPr>
          <p:nvPr/>
        </p:nvSpPr>
        <p:spPr bwMode="auto">
          <a:xfrm>
            <a:off x="3635651" y="4532105"/>
            <a:ext cx="698500" cy="61595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7" name="Text Box 14">
            <a:extLst>
              <a:ext uri="{FF2B5EF4-FFF2-40B4-BE49-F238E27FC236}">
                <a16:creationId xmlns:a16="http://schemas.microsoft.com/office/drawing/2014/main" id="{B959E000-A13C-AB4A-B282-6A6982497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576" y="5387768"/>
            <a:ext cx="1309688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r"/>
            <a:r>
              <a:rPr lang="en-US" sz="1600" dirty="0">
                <a:latin typeface="Arial" charset="0"/>
                <a:cs typeface="Arial" charset="0"/>
              </a:rPr>
              <a:t>Bob</a:t>
            </a:r>
            <a:r>
              <a:rPr lang="ja-JP" altLang="en-US" sz="1600">
                <a:latin typeface="Arial" charset="0"/>
                <a:cs typeface="Arial" charset="0"/>
              </a:rPr>
              <a:t>’</a:t>
            </a:r>
            <a:r>
              <a:rPr lang="en-US" altLang="ja-JP" sz="1600" dirty="0">
                <a:latin typeface="Arial" charset="0"/>
                <a:cs typeface="Arial" charset="0"/>
              </a:rPr>
              <a:t>s </a:t>
            </a:r>
          </a:p>
          <a:p>
            <a:pPr algn="r"/>
            <a:r>
              <a:rPr lang="en-US" sz="1600" dirty="0">
                <a:latin typeface="Arial" charset="0"/>
                <a:cs typeface="Arial" charset="0"/>
              </a:rPr>
              <a:t>identifying information </a:t>
            </a:r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1B9863CF-92EF-BC44-9CCC-D015F7212CD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99139" y="5314743"/>
            <a:ext cx="741362" cy="341312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29" name="Line 26">
            <a:extLst>
              <a:ext uri="{FF2B5EF4-FFF2-40B4-BE49-F238E27FC236}">
                <a16:creationId xmlns:a16="http://schemas.microsoft.com/office/drawing/2014/main" id="{9D776C03-EA8C-2848-85F8-6B5E0D3EEA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686451" y="4349543"/>
            <a:ext cx="2222500" cy="6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30" name="Line 27">
            <a:extLst>
              <a:ext uri="{FF2B5EF4-FFF2-40B4-BE49-F238E27FC236}">
                <a16:creationId xmlns:a16="http://schemas.microsoft.com/office/drawing/2014/main" id="{746B9D1E-91F6-E34F-93A3-36FF0A9C8C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3076" y="4376530"/>
            <a:ext cx="1133475" cy="95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31" name="Group 28">
            <a:extLst>
              <a:ext uri="{FF2B5EF4-FFF2-40B4-BE49-F238E27FC236}">
                <a16:creationId xmlns:a16="http://schemas.microsoft.com/office/drawing/2014/main" id="{B42AC924-4113-6146-9190-3E0B43B0D2A6}"/>
              </a:ext>
            </a:extLst>
          </p:cNvPr>
          <p:cNvGrpSpPr>
            <a:grpSpLocks/>
          </p:cNvGrpSpPr>
          <p:nvPr/>
        </p:nvGrpSpPr>
        <p:grpSpPr bwMode="auto">
          <a:xfrm>
            <a:off x="8307077" y="4044674"/>
            <a:ext cx="858838" cy="1158875"/>
            <a:chOff x="4446" y="2648"/>
            <a:chExt cx="541" cy="730"/>
          </a:xfrm>
        </p:grpSpPr>
        <p:pic>
          <p:nvPicPr>
            <p:cNvPr id="32" name="Picture 29" descr="SO00109_[1]">
              <a:extLst>
                <a:ext uri="{FF2B5EF4-FFF2-40B4-BE49-F238E27FC236}">
                  <a16:creationId xmlns:a16="http://schemas.microsoft.com/office/drawing/2014/main" id="{2A42DF74-0987-5743-815C-6D6077F50B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33" name="Group 30">
              <a:extLst>
                <a:ext uri="{FF2B5EF4-FFF2-40B4-BE49-F238E27FC236}">
                  <a16:creationId xmlns:a16="http://schemas.microsoft.com/office/drawing/2014/main" id="{CABC37BB-8D37-5346-8D2F-6AEE6F2BFB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35" name="Group 31">
                <a:extLst>
                  <a:ext uri="{FF2B5EF4-FFF2-40B4-BE49-F238E27FC236}">
                    <a16:creationId xmlns:a16="http://schemas.microsoft.com/office/drawing/2014/main" id="{6FC90D88-FE04-9642-A206-14C100229D1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37" name="Text Box 32">
                  <a:extLst>
                    <a:ext uri="{FF2B5EF4-FFF2-40B4-BE49-F238E27FC236}">
                      <a16:creationId xmlns:a16="http://schemas.microsoft.com/office/drawing/2014/main" id="{69E50F96-6F41-304B-AA4E-F0D481927F3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38" name="Text Box 33">
                  <a:extLst>
                    <a:ext uri="{FF2B5EF4-FFF2-40B4-BE49-F238E27FC236}">
                      <a16:creationId xmlns:a16="http://schemas.microsoft.com/office/drawing/2014/main" id="{BD9826BE-5617-2545-8BEA-DF335B1185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36" name="Text Box 34">
                <a:extLst>
                  <a:ext uri="{FF2B5EF4-FFF2-40B4-BE49-F238E27FC236}">
                    <a16:creationId xmlns:a16="http://schemas.microsoft.com/office/drawing/2014/main" id="{9DB419F6-7ACA-F647-82AC-3C6EFAC50A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pic>
          <p:nvPicPr>
            <p:cNvPr id="34" name="Picture 35" descr="BS00768_[1]">
              <a:extLst>
                <a:ext uri="{FF2B5EF4-FFF2-40B4-BE49-F238E27FC236}">
                  <a16:creationId xmlns:a16="http://schemas.microsoft.com/office/drawing/2014/main" id="{E90EC5A6-F279-6E4A-A0F4-1F5B775A53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9" name="Text Box 36">
            <a:extLst>
              <a:ext uri="{FF2B5EF4-FFF2-40B4-BE49-F238E27FC236}">
                <a16:creationId xmlns:a16="http://schemas.microsoft.com/office/drawing/2014/main" id="{AEC96A95-A24E-234D-BFA0-CAD51D07B3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5142" y="5204723"/>
            <a:ext cx="3261484" cy="69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sz="2400" dirty="0">
                <a:latin typeface="+mn-lt"/>
                <a:cs typeface="Arial" charset="0"/>
              </a:rPr>
              <a:t>certificate for Bob’</a:t>
            </a:r>
            <a:r>
              <a:rPr lang="en-US" altLang="ja-JP" sz="2400" dirty="0">
                <a:latin typeface="+mn-lt"/>
                <a:cs typeface="Arial" charset="0"/>
              </a:rPr>
              <a:t>s public key, signed by CA</a:t>
            </a:r>
            <a:endParaRPr lang="en-US" sz="2400" dirty="0">
              <a:latin typeface="+mn-lt"/>
              <a:cs typeface="Arial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3A104D4-6597-8545-AE1E-4577D2F09F17}"/>
              </a:ext>
            </a:extLst>
          </p:cNvPr>
          <p:cNvGrpSpPr/>
          <p:nvPr/>
        </p:nvGrpSpPr>
        <p:grpSpPr>
          <a:xfrm>
            <a:off x="2120145" y="4048470"/>
            <a:ext cx="1491075" cy="812454"/>
            <a:chOff x="1914734" y="3557588"/>
            <a:chExt cx="1491075" cy="812454"/>
          </a:xfrm>
        </p:grpSpPr>
        <p:sp>
          <p:nvSpPr>
            <p:cNvPr id="41" name="Text Box 16">
              <a:extLst>
                <a:ext uri="{FF2B5EF4-FFF2-40B4-BE49-F238E27FC236}">
                  <a16:creationId xmlns:a16="http://schemas.microsoft.com/office/drawing/2014/main" id="{D5506696-77AB-1B40-A4F7-5FFAF0CC1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Bob’s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public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42" name="Picture 17" descr="BS00768_[1]">
              <a:extLst>
                <a:ext uri="{FF2B5EF4-FFF2-40B4-BE49-F238E27FC236}">
                  <a16:creationId xmlns:a16="http://schemas.microsoft.com/office/drawing/2014/main" id="{A7ECB05D-E6D2-A048-986D-B97CF60632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3" name="Group 18">
              <a:extLst>
                <a:ext uri="{FF2B5EF4-FFF2-40B4-BE49-F238E27FC236}">
                  <a16:creationId xmlns:a16="http://schemas.microsoft.com/office/drawing/2014/main" id="{C75D009B-E4B0-7D46-9107-860AFBE8AC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45" name="Group 19">
                <a:extLst>
                  <a:ext uri="{FF2B5EF4-FFF2-40B4-BE49-F238E27FC236}">
                    <a16:creationId xmlns:a16="http://schemas.microsoft.com/office/drawing/2014/main" id="{FA341A53-980A-5C49-B6F7-E79003B340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47" name="Text Box 20">
                  <a:extLst>
                    <a:ext uri="{FF2B5EF4-FFF2-40B4-BE49-F238E27FC236}">
                      <a16:creationId xmlns:a16="http://schemas.microsoft.com/office/drawing/2014/main" id="{DEAC77C3-BAA5-F443-8C94-D92E5D6CD6A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48" name="Text Box 21">
                  <a:extLst>
                    <a:ext uri="{FF2B5EF4-FFF2-40B4-BE49-F238E27FC236}">
                      <a16:creationId xmlns:a16="http://schemas.microsoft.com/office/drawing/2014/main" id="{C89B2AF0-297B-6E4C-8552-0E5F297C829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46" name="Text Box 22">
                <a:extLst>
                  <a:ext uri="{FF2B5EF4-FFF2-40B4-BE49-F238E27FC236}">
                    <a16:creationId xmlns:a16="http://schemas.microsoft.com/office/drawing/2014/main" id="{FD5B6C22-76DD-BB4D-93E7-DF948453427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F59881B-A1F9-7A4D-BDB2-822CB1AC868C}"/>
                </a:ext>
              </a:extLst>
            </p:cNvPr>
            <p:cNvCxnSpPr>
              <a:cxnSpLocks/>
            </p:cNvCxnSpPr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A3BB3F4-B2E4-CB40-9B41-6B747981F1D1}"/>
              </a:ext>
            </a:extLst>
          </p:cNvPr>
          <p:cNvGrpSpPr/>
          <p:nvPr/>
        </p:nvGrpSpPr>
        <p:grpSpPr>
          <a:xfrm>
            <a:off x="5939324" y="3900693"/>
            <a:ext cx="1196163" cy="955675"/>
            <a:chOff x="4296054" y="3224833"/>
            <a:chExt cx="1196163" cy="955675"/>
          </a:xfrm>
        </p:grpSpPr>
        <p:sp>
          <p:nvSpPr>
            <p:cNvPr id="50" name="Rectangle 14">
              <a:extLst>
                <a:ext uri="{FF2B5EF4-FFF2-40B4-BE49-F238E27FC236}">
                  <a16:creationId xmlns:a16="http://schemas.microsoft.com/office/drawing/2014/main" id="{9F86004E-57D3-2B47-A9C8-B12CCB4E6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" name="Text Box 15">
              <a:extLst>
                <a:ext uri="{FF2B5EF4-FFF2-40B4-BE49-F238E27FC236}">
                  <a16:creationId xmlns:a16="http://schemas.microsoft.com/office/drawing/2014/main" id="{94D9C94A-2C78-EF44-95ED-65E34026B5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digital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signature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(encrypt)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83C9228D-7D76-B749-BF6B-5CD50A49737B}"/>
              </a:ext>
            </a:extLst>
          </p:cNvPr>
          <p:cNvGrpSpPr/>
          <p:nvPr/>
        </p:nvGrpSpPr>
        <p:grpSpPr>
          <a:xfrm>
            <a:off x="5466319" y="4883978"/>
            <a:ext cx="1517579" cy="936623"/>
            <a:chOff x="1914734" y="3458819"/>
            <a:chExt cx="1517579" cy="936623"/>
          </a:xfrm>
        </p:grpSpPr>
        <p:sp>
          <p:nvSpPr>
            <p:cNvPr id="54" name="Text Box 16">
              <a:extLst>
                <a:ext uri="{FF2B5EF4-FFF2-40B4-BE49-F238E27FC236}">
                  <a16:creationId xmlns:a16="http://schemas.microsoft.com/office/drawing/2014/main" id="{F1F72D12-E9EA-EA4E-9462-C0194DDA2F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623848"/>
              <a:ext cx="960437" cy="6882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CA’s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private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600" dirty="0">
                  <a:solidFill>
                    <a:srgbClr val="000000"/>
                  </a:solidFill>
                  <a:latin typeface="+mn-lt"/>
                  <a:cs typeface="Arial" charset="0"/>
                </a:rPr>
                <a:t>key </a:t>
              </a:r>
            </a:p>
          </p:txBody>
        </p:sp>
        <p:pic>
          <p:nvPicPr>
            <p:cNvPr id="55" name="Picture 17" descr="BS00768_[1]">
              <a:extLst>
                <a:ext uri="{FF2B5EF4-FFF2-40B4-BE49-F238E27FC236}">
                  <a16:creationId xmlns:a16="http://schemas.microsoft.com/office/drawing/2014/main" id="{64902A97-E370-9644-A285-6713693008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6" name="Group 18">
              <a:extLst>
                <a:ext uri="{FF2B5EF4-FFF2-40B4-BE49-F238E27FC236}">
                  <a16:creationId xmlns:a16="http://schemas.microsoft.com/office/drawing/2014/main" id="{40B79DC8-6CFF-1A42-BBB2-043B5D8A67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77720" y="3765205"/>
              <a:ext cx="639764" cy="630237"/>
              <a:chOff x="2994" y="2073"/>
              <a:chExt cx="403" cy="397"/>
            </a:xfrm>
          </p:grpSpPr>
          <p:grpSp>
            <p:nvGrpSpPr>
              <p:cNvPr id="58" name="Group 19">
                <a:extLst>
                  <a:ext uri="{FF2B5EF4-FFF2-40B4-BE49-F238E27FC236}">
                    <a16:creationId xmlns:a16="http://schemas.microsoft.com/office/drawing/2014/main" id="{7CE30E7F-A771-CD48-8BA7-28ECDB8D7D0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403" cy="326"/>
                <a:chOff x="2994" y="2144"/>
                <a:chExt cx="403" cy="326"/>
              </a:xfrm>
            </p:grpSpPr>
            <p:sp>
              <p:nvSpPr>
                <p:cNvPr id="60" name="Text Box 20">
                  <a:extLst>
                    <a:ext uri="{FF2B5EF4-FFF2-40B4-BE49-F238E27FC236}">
                      <a16:creationId xmlns:a16="http://schemas.microsoft.com/office/drawing/2014/main" id="{95F49427-0650-9F48-AD60-F4AD83D7044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61" name="Text Box 21">
                  <a:extLst>
                    <a:ext uri="{FF2B5EF4-FFF2-40B4-BE49-F238E27FC236}">
                      <a16:creationId xmlns:a16="http://schemas.microsoft.com/office/drawing/2014/main" id="{1D3534E8-F6F2-3F40-A422-A479EAB109B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2" y="2257"/>
                  <a:ext cx="295" cy="21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6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CA</a:t>
                  </a:r>
                </a:p>
              </p:txBody>
            </p:sp>
          </p:grpSp>
          <p:sp>
            <p:nvSpPr>
              <p:cNvPr id="59" name="Text Box 22">
                <a:extLst>
                  <a:ext uri="{FF2B5EF4-FFF2-40B4-BE49-F238E27FC236}">
                    <a16:creationId xmlns:a16="http://schemas.microsoft.com/office/drawing/2014/main" id="{91198392-95D5-C743-A978-73224FA9A4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-</a:t>
                </a:r>
              </a:p>
            </p:txBody>
          </p:sp>
        </p:grp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D8B9612A-2D92-F647-989B-3FD2B6A733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0736" y="3458819"/>
              <a:ext cx="1577" cy="6350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03097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Public key Certification Authorities (CA)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2" name="Picture 4" descr="j0175664[1]">
            <a:extLst>
              <a:ext uri="{FF2B5EF4-FFF2-40B4-BE49-F238E27FC236}">
                <a16:creationId xmlns:a16="http://schemas.microsoft.com/office/drawing/2014/main" id="{86204907-90B2-284B-BA6F-A051EB0C0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12410" y="4380535"/>
            <a:ext cx="908948" cy="744538"/>
          </a:xfrm>
          <a:prstGeom prst="rect">
            <a:avLst/>
          </a:prstGeom>
          <a:noFill/>
        </p:spPr>
      </p:pic>
      <p:sp>
        <p:nvSpPr>
          <p:cNvPr id="63" name="Text Box 5">
            <a:extLst>
              <a:ext uri="{FF2B5EF4-FFF2-40B4-BE49-F238E27FC236}">
                <a16:creationId xmlns:a16="http://schemas.microsoft.com/office/drawing/2014/main" id="{BF16691C-9BDB-1D4F-AA2F-7065045EC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9926" y="3334578"/>
            <a:ext cx="960438" cy="837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>
              <a:lnSpc>
                <a:spcPct val="80000"/>
              </a:lnSpc>
            </a:pPr>
            <a:r>
              <a:rPr lang="en-US" dirty="0">
                <a:latin typeface="+mn-lt"/>
                <a:cs typeface="Arial" charset="0"/>
              </a:rPr>
              <a:t>Bob</a:t>
            </a:r>
            <a:r>
              <a:rPr lang="en-US" altLang="ja-JP" dirty="0">
                <a:latin typeface="+mn-lt"/>
                <a:cs typeface="Arial" charset="0"/>
              </a:rPr>
              <a:t>’s 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+mn-lt"/>
                <a:cs typeface="Arial" charset="0"/>
              </a:rPr>
              <a:t>public</a:t>
            </a:r>
          </a:p>
          <a:p>
            <a:pPr>
              <a:lnSpc>
                <a:spcPct val="80000"/>
              </a:lnSpc>
            </a:pPr>
            <a:r>
              <a:rPr lang="en-US" dirty="0">
                <a:latin typeface="+mn-lt"/>
                <a:cs typeface="Arial" charset="0"/>
              </a:rPr>
              <a:t>key </a:t>
            </a:r>
          </a:p>
        </p:txBody>
      </p:sp>
      <p:pic>
        <p:nvPicPr>
          <p:cNvPr id="64" name="Picture 6" descr="BS00768_[1]">
            <a:extLst>
              <a:ext uri="{FF2B5EF4-FFF2-40B4-BE49-F238E27FC236}">
                <a16:creationId xmlns:a16="http://schemas.microsoft.com/office/drawing/2014/main" id="{8280B673-28A1-4F46-858C-8C7273B4D6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8156851" y="3393730"/>
            <a:ext cx="458788" cy="23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5" name="Group 7">
            <a:extLst>
              <a:ext uri="{FF2B5EF4-FFF2-40B4-BE49-F238E27FC236}">
                <a16:creationId xmlns:a16="http://schemas.microsoft.com/office/drawing/2014/main" id="{47A82B01-B7E1-D846-8542-A99CD2AEA39E}"/>
              </a:ext>
            </a:extLst>
          </p:cNvPr>
          <p:cNvGrpSpPr>
            <a:grpSpLocks/>
          </p:cNvGrpSpPr>
          <p:nvPr/>
        </p:nvGrpSpPr>
        <p:grpSpPr bwMode="auto">
          <a:xfrm>
            <a:off x="8066364" y="3631855"/>
            <a:ext cx="528637" cy="604837"/>
            <a:chOff x="2994" y="2073"/>
            <a:chExt cx="333" cy="381"/>
          </a:xfrm>
        </p:grpSpPr>
        <p:grpSp>
          <p:nvGrpSpPr>
            <p:cNvPr id="66" name="Group 8">
              <a:extLst>
                <a:ext uri="{FF2B5EF4-FFF2-40B4-BE49-F238E27FC236}">
                  <a16:creationId xmlns:a16="http://schemas.microsoft.com/office/drawing/2014/main" id="{C2759B9C-729A-5343-BADB-7B154CCF89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4" y="2144"/>
              <a:ext cx="333" cy="310"/>
              <a:chOff x="2994" y="2144"/>
              <a:chExt cx="333" cy="310"/>
            </a:xfrm>
          </p:grpSpPr>
          <p:sp>
            <p:nvSpPr>
              <p:cNvPr id="68" name="Text Box 9">
                <a:extLst>
                  <a:ext uri="{FF2B5EF4-FFF2-40B4-BE49-F238E27FC236}">
                    <a16:creationId xmlns:a16="http://schemas.microsoft.com/office/drawing/2014/main" id="{A77E39EC-DC13-404E-B464-ABE48C6D1B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K </a:t>
                </a:r>
              </a:p>
            </p:txBody>
          </p:sp>
          <p:sp>
            <p:nvSpPr>
              <p:cNvPr id="69" name="Text Box 10">
                <a:extLst>
                  <a:ext uri="{FF2B5EF4-FFF2-40B4-BE49-F238E27FC236}">
                    <a16:creationId xmlns:a16="http://schemas.microsoft.com/office/drawing/2014/main" id="{C5422436-A231-5644-8B83-73C0DDFE2D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5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B</a:t>
                </a:r>
              </a:p>
            </p:txBody>
          </p:sp>
        </p:grpSp>
        <p:sp>
          <p:nvSpPr>
            <p:cNvPr id="67" name="Text Box 11">
              <a:extLst>
                <a:ext uri="{FF2B5EF4-FFF2-40B4-BE49-F238E27FC236}">
                  <a16:creationId xmlns:a16="http://schemas.microsoft.com/office/drawing/2014/main" id="{C552F4B3-060D-5E41-AFB6-6B22FC0A2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24" y="2073"/>
              <a:ext cx="19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/>
              <a:r>
                <a:rPr lang="en-US" sz="1600" dirty="0">
                  <a:solidFill>
                    <a:srgbClr val="C00000"/>
                  </a:solidFill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82" name="Group 24">
            <a:extLst>
              <a:ext uri="{FF2B5EF4-FFF2-40B4-BE49-F238E27FC236}">
                <a16:creationId xmlns:a16="http://schemas.microsoft.com/office/drawing/2014/main" id="{1723C1A2-8445-2D4C-A1AC-7941C67B6447}"/>
              </a:ext>
            </a:extLst>
          </p:cNvPr>
          <p:cNvGrpSpPr>
            <a:grpSpLocks/>
          </p:cNvGrpSpPr>
          <p:nvPr/>
        </p:nvGrpSpPr>
        <p:grpSpPr bwMode="auto">
          <a:xfrm>
            <a:off x="3029916" y="3212410"/>
            <a:ext cx="858838" cy="1158875"/>
            <a:chOff x="4446" y="2648"/>
            <a:chExt cx="541" cy="730"/>
          </a:xfrm>
        </p:grpSpPr>
        <p:pic>
          <p:nvPicPr>
            <p:cNvPr id="83" name="Picture 25" descr="SO00109_[1]">
              <a:extLst>
                <a:ext uri="{FF2B5EF4-FFF2-40B4-BE49-F238E27FC236}">
                  <a16:creationId xmlns:a16="http://schemas.microsoft.com/office/drawing/2014/main" id="{884E3D47-2931-0749-BC1C-167192A82B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84" name="Group 26">
              <a:extLst>
                <a:ext uri="{FF2B5EF4-FFF2-40B4-BE49-F238E27FC236}">
                  <a16:creationId xmlns:a16="http://schemas.microsoft.com/office/drawing/2014/main" id="{C26DAA83-3F07-2948-9CB4-F03941CB54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86" name="Group 27">
                <a:extLst>
                  <a:ext uri="{FF2B5EF4-FFF2-40B4-BE49-F238E27FC236}">
                    <a16:creationId xmlns:a16="http://schemas.microsoft.com/office/drawing/2014/main" id="{3D9235A1-82B6-9A4D-B692-364CBCFC81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88" name="Text Box 28">
                  <a:extLst>
                    <a:ext uri="{FF2B5EF4-FFF2-40B4-BE49-F238E27FC236}">
                      <a16:creationId xmlns:a16="http://schemas.microsoft.com/office/drawing/2014/main" id="{26A0F4D4-6AF6-9E47-A61A-CF82F0B9473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89" name="Text Box 29">
                  <a:extLst>
                    <a:ext uri="{FF2B5EF4-FFF2-40B4-BE49-F238E27FC236}">
                      <a16:creationId xmlns:a16="http://schemas.microsoft.com/office/drawing/2014/main" id="{61B19EC3-D708-D648-BBA1-846CA65A0D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  <a:cs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/>
                  <a:r>
                    <a:rPr lang="en-US" sz="1600" dirty="0">
                      <a:solidFill>
                        <a:srgbClr val="FF0000"/>
                      </a:solidFill>
                      <a:latin typeface="Arial" charset="0"/>
                      <a:cs typeface="Arial" charset="0"/>
                    </a:rPr>
                    <a:t>B</a:t>
                  </a:r>
                </a:p>
              </p:txBody>
            </p:sp>
          </p:grpSp>
          <p:sp>
            <p:nvSpPr>
              <p:cNvPr id="87" name="Text Box 30">
                <a:extLst>
                  <a:ext uri="{FF2B5EF4-FFF2-40B4-BE49-F238E27FC236}">
                    <a16:creationId xmlns:a16="http://schemas.microsoft.com/office/drawing/2014/main" id="{8115967C-E3FB-BE48-ABEF-FBE72FA541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/>
                <a:r>
                  <a:rPr lang="en-US" sz="1600" dirty="0">
                    <a:solidFill>
                      <a:srgbClr val="FF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pic>
          <p:nvPicPr>
            <p:cNvPr id="85" name="Picture 31" descr="BS00768_[1]">
              <a:extLst>
                <a:ext uri="{FF2B5EF4-FFF2-40B4-BE49-F238E27FC236}">
                  <a16:creationId xmlns:a16="http://schemas.microsoft.com/office/drawing/2014/main" id="{00CF9311-3C9B-3A4F-9436-75CF9002FF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0" name="Rectangle 3">
            <a:extLst>
              <a:ext uri="{FF2B5EF4-FFF2-40B4-BE49-F238E27FC236}">
                <a16:creationId xmlns:a16="http://schemas.microsoft.com/office/drawing/2014/main" id="{A9D3E564-4A02-0341-99A6-4CA77C4481EE}"/>
              </a:ext>
            </a:extLst>
          </p:cNvPr>
          <p:cNvSpPr txBox="1">
            <a:spLocks noChangeArrowheads="1"/>
          </p:cNvSpPr>
          <p:nvPr/>
        </p:nvSpPr>
        <p:spPr>
          <a:xfrm>
            <a:off x="809901" y="1325563"/>
            <a:ext cx="11196568" cy="1642924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sz="3200" dirty="0">
                <a:solidFill>
                  <a:schemeClr val="tx2"/>
                </a:solidFill>
              </a:rPr>
              <a:t>when Alice wants Bob</a:t>
            </a:r>
            <a:r>
              <a:rPr lang="en-US" altLang="ja-JP" sz="3200" dirty="0">
                <a:solidFill>
                  <a:schemeClr val="tx2"/>
                </a:solidFill>
              </a:rPr>
              <a:t>’s public key</a:t>
            </a:r>
            <a:r>
              <a:rPr lang="en-US" altLang="ja-JP" dirty="0">
                <a:solidFill>
                  <a:schemeClr val="tx2"/>
                </a:solidFill>
              </a:rPr>
              <a:t>:</a:t>
            </a:r>
          </a:p>
          <a:p>
            <a:pPr lvl="1"/>
            <a:r>
              <a:rPr lang="en-US" sz="2800" dirty="0">
                <a:solidFill>
                  <a:schemeClr val="tx2"/>
                </a:solidFill>
              </a:rPr>
              <a:t>gets Bob</a:t>
            </a:r>
            <a:r>
              <a:rPr lang="en-US" altLang="ja-JP" sz="2800" dirty="0">
                <a:solidFill>
                  <a:schemeClr val="tx2"/>
                </a:solidFill>
              </a:rPr>
              <a:t>’s certificate (Bob or elsewhere) </a:t>
            </a:r>
          </a:p>
          <a:p>
            <a:pPr lvl="1"/>
            <a:r>
              <a:rPr lang="en-US" sz="2800" dirty="0">
                <a:solidFill>
                  <a:schemeClr val="tx2"/>
                </a:solidFill>
              </a:rPr>
              <a:t>apply CA</a:t>
            </a:r>
            <a:r>
              <a:rPr lang="en-US" altLang="ja-JP" sz="2800" dirty="0">
                <a:solidFill>
                  <a:schemeClr val="tx2"/>
                </a:solidFill>
              </a:rPr>
              <a:t>’s public key to Bob</a:t>
            </a:r>
            <a:r>
              <a:rPr lang="ja-JP" altLang="en-US" sz="2800">
                <a:solidFill>
                  <a:schemeClr val="tx2"/>
                </a:solidFill>
              </a:rPr>
              <a:t>’</a:t>
            </a:r>
            <a:r>
              <a:rPr lang="en-US" altLang="ja-JP" sz="2800" dirty="0">
                <a:solidFill>
                  <a:schemeClr val="tx2"/>
                </a:solidFill>
              </a:rPr>
              <a:t>s certificate, get Bob’s public key</a:t>
            </a:r>
            <a:endParaRPr lang="en-US" sz="2800" dirty="0">
              <a:solidFill>
                <a:schemeClr val="tx2"/>
              </a:solidFill>
            </a:endParaRP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F18F6ED6-01A5-0E45-82CA-E5937DA040AC}"/>
              </a:ext>
            </a:extLst>
          </p:cNvPr>
          <p:cNvGrpSpPr/>
          <p:nvPr/>
        </p:nvGrpSpPr>
        <p:grpSpPr>
          <a:xfrm>
            <a:off x="5042250" y="4300884"/>
            <a:ext cx="1571020" cy="993773"/>
            <a:chOff x="1914734" y="3458819"/>
            <a:chExt cx="1571020" cy="993773"/>
          </a:xfrm>
        </p:grpSpPr>
        <p:sp>
          <p:nvSpPr>
            <p:cNvPr id="92" name="Text Box 16">
              <a:extLst>
                <a:ext uri="{FF2B5EF4-FFF2-40B4-BE49-F238E27FC236}">
                  <a16:creationId xmlns:a16="http://schemas.microsoft.com/office/drawing/2014/main" id="{623C5444-33AE-A745-BE15-55AD9A0EE1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14734" y="3570839"/>
              <a:ext cx="960437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+mn-lt"/>
                  <a:cs typeface="Arial" charset="0"/>
                </a:rPr>
                <a:t>CA’s 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+mn-lt"/>
                  <a:cs typeface="Arial" charset="0"/>
                </a:rPr>
                <a:t>public</a:t>
              </a:r>
            </a:p>
            <a:p>
              <a:pPr algn="r" eaLnBrk="0" fontAlgn="base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dirty="0">
                  <a:solidFill>
                    <a:srgbClr val="000000"/>
                  </a:solidFill>
                  <a:latin typeface="+mn-lt"/>
                  <a:cs typeface="Arial" charset="0"/>
                </a:rPr>
                <a:t>key</a:t>
              </a:r>
              <a:r>
                <a:rPr lang="en-US" sz="1800" dirty="0">
                  <a:solidFill>
                    <a:srgbClr val="000000"/>
                  </a:solidFill>
                  <a:latin typeface="+mn-lt"/>
                  <a:cs typeface="Arial" charset="0"/>
                </a:rPr>
                <a:t> </a:t>
              </a:r>
            </a:p>
          </p:txBody>
        </p:sp>
        <p:pic>
          <p:nvPicPr>
            <p:cNvPr id="93" name="Picture 17" descr="BS00768_[1]">
              <a:extLst>
                <a:ext uri="{FF2B5EF4-FFF2-40B4-BE49-F238E27FC236}">
                  <a16:creationId xmlns:a16="http://schemas.microsoft.com/office/drawing/2014/main" id="{D7837F94-C73E-4F4B-9E5D-BA3F3F58A1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 flipV="1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94" name="Group 18">
              <a:extLst>
                <a:ext uri="{FF2B5EF4-FFF2-40B4-BE49-F238E27FC236}">
                  <a16:creationId xmlns:a16="http://schemas.microsoft.com/office/drawing/2014/main" id="{74911AEB-DF5A-1C40-B94B-9013E3477B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53914" y="3765205"/>
              <a:ext cx="731840" cy="687387"/>
              <a:chOff x="2979" y="2073"/>
              <a:chExt cx="461" cy="433"/>
            </a:xfrm>
          </p:grpSpPr>
          <p:grpSp>
            <p:nvGrpSpPr>
              <p:cNvPr id="96" name="Group 19">
                <a:extLst>
                  <a:ext uri="{FF2B5EF4-FFF2-40B4-BE49-F238E27FC236}">
                    <a16:creationId xmlns:a16="http://schemas.microsoft.com/office/drawing/2014/main" id="{4CA1F0FD-4828-2144-A75D-FDE3A86787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79" y="2144"/>
                <a:ext cx="461" cy="362"/>
                <a:chOff x="2979" y="2144"/>
                <a:chExt cx="461" cy="362"/>
              </a:xfrm>
            </p:grpSpPr>
            <p:sp>
              <p:nvSpPr>
                <p:cNvPr id="98" name="Text Box 20">
                  <a:extLst>
                    <a:ext uri="{FF2B5EF4-FFF2-40B4-BE49-F238E27FC236}">
                      <a16:creationId xmlns:a16="http://schemas.microsoft.com/office/drawing/2014/main" id="{B3D79FB7-1C2B-C94B-B437-7A8ECA448205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79" y="2144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24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K </a:t>
                  </a:r>
                </a:p>
              </p:txBody>
            </p:sp>
            <p:sp>
              <p:nvSpPr>
                <p:cNvPr id="99" name="Text Box 21">
                  <a:extLst>
                    <a:ext uri="{FF2B5EF4-FFF2-40B4-BE49-F238E27FC236}">
                      <a16:creationId xmlns:a16="http://schemas.microsoft.com/office/drawing/2014/main" id="{E3966B90-5436-A04E-8C64-3707CB2188F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122" y="2273"/>
                  <a:ext cx="318" cy="23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solidFill>
                        <a:schemeClr val="bg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000">
                      <a:solidFill>
                        <a:schemeClr val="tx1"/>
                      </a:solidFill>
                      <a:latin typeface="Comic Sans MS" charset="0"/>
                      <a:ea typeface="ＭＳ Ｐゴシック" charset="0"/>
                    </a:defRPr>
                  </a:lvl9pPr>
                </a:lstStyle>
                <a:p>
                  <a:pPr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800" dirty="0">
                      <a:solidFill>
                        <a:srgbClr val="C00000"/>
                      </a:solidFill>
                      <a:latin typeface="Arial" charset="0"/>
                      <a:cs typeface="Arial" charset="0"/>
                    </a:rPr>
                    <a:t>CA</a:t>
                  </a:r>
                </a:p>
              </p:txBody>
            </p:sp>
          </p:grpSp>
          <p:sp>
            <p:nvSpPr>
              <p:cNvPr id="97" name="Text Box 22">
                <a:extLst>
                  <a:ext uri="{FF2B5EF4-FFF2-40B4-BE49-F238E27FC236}">
                    <a16:creationId xmlns:a16="http://schemas.microsoft.com/office/drawing/2014/main" id="{97AFB871-1EC4-CD44-A23A-77B6450390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01" y="2073"/>
                <a:ext cx="201" cy="23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pPr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lang="en-US" sz="1800" dirty="0">
                    <a:solidFill>
                      <a:srgbClr val="C00000"/>
                    </a:solidFill>
                    <a:latin typeface="Arial" charset="0"/>
                    <a:cs typeface="Arial" charset="0"/>
                  </a:rPr>
                  <a:t>+</a:t>
                </a:r>
              </a:p>
            </p:txBody>
          </p:sp>
        </p:grp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75A1564F-7EB2-0A4C-BE2B-C0FE1A5F90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0736" y="3458819"/>
              <a:ext cx="1577" cy="63503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61BF86D7-C3B3-2847-ACEE-C8C1FEB25E60}"/>
              </a:ext>
            </a:extLst>
          </p:cNvPr>
          <p:cNvGrpSpPr/>
          <p:nvPr/>
        </p:nvGrpSpPr>
        <p:grpSpPr>
          <a:xfrm>
            <a:off x="5521879" y="3212132"/>
            <a:ext cx="1196163" cy="955675"/>
            <a:chOff x="4296054" y="3224833"/>
            <a:chExt cx="1196163" cy="955675"/>
          </a:xfrm>
        </p:grpSpPr>
        <p:sp>
          <p:nvSpPr>
            <p:cNvPr id="101" name="Rectangle 14">
              <a:extLst>
                <a:ext uri="{FF2B5EF4-FFF2-40B4-BE49-F238E27FC236}">
                  <a16:creationId xmlns:a16="http://schemas.microsoft.com/office/drawing/2014/main" id="{73BE9E8D-6C46-A342-B10D-C6ECD8AED7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102" name="Text Box 15">
              <a:extLst>
                <a:ext uri="{FF2B5EF4-FFF2-40B4-BE49-F238E27FC236}">
                  <a16:creationId xmlns:a16="http://schemas.microsoft.com/office/drawing/2014/main" id="{669CFD21-9EEE-4149-A26A-FB28FA2D21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digital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signature</a:t>
              </a:r>
            </a:p>
            <a:p>
              <a:pPr marL="0" marR="0" lvl="0" indent="0" algn="ctr" defTabSz="914400" eaLnBrk="0" fontAlgn="base" latinLnBrk="0" hangingPunct="0">
                <a:lnSpc>
                  <a:spcPct val="8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lt"/>
                  <a:ea typeface="ＭＳ Ｐゴシック" charset="0"/>
                  <a:cs typeface="Arial" charset="0"/>
                </a:rPr>
                <a:t>(decrypt)</a:t>
              </a:r>
            </a:p>
          </p:txBody>
        </p:sp>
      </p:grp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0504F19-7FCB-A149-8908-2F307F1C15D6}"/>
              </a:ext>
            </a:extLst>
          </p:cNvPr>
          <p:cNvCxnSpPr/>
          <p:nvPr/>
        </p:nvCxnSpPr>
        <p:spPr>
          <a:xfrm>
            <a:off x="3949148" y="3697357"/>
            <a:ext cx="14974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C339D3AD-1952-B248-B66E-C59F9B8324E8}"/>
              </a:ext>
            </a:extLst>
          </p:cNvPr>
          <p:cNvCxnSpPr/>
          <p:nvPr/>
        </p:nvCxnSpPr>
        <p:spPr>
          <a:xfrm>
            <a:off x="6778487" y="3690731"/>
            <a:ext cx="149749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671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FF664698-2E27-2E4F-852C-7F80EA1D4B1F}"/>
              </a:ext>
            </a:extLst>
          </p:cNvPr>
          <p:cNvCxnSpPr/>
          <p:nvPr/>
        </p:nvCxnSpPr>
        <p:spPr>
          <a:xfrm>
            <a:off x="7079973" y="3187148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0ACC18-AD01-564E-BB8B-8855CF57E420}"/>
              </a:ext>
            </a:extLst>
          </p:cNvPr>
          <p:cNvCxnSpPr/>
          <p:nvPr/>
        </p:nvCxnSpPr>
        <p:spPr>
          <a:xfrm>
            <a:off x="4651513" y="3200400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Secure e-mail: confidentiality 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C0184D23-BADA-4B4B-BE0B-C3C7FA37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77" y="1195663"/>
            <a:ext cx="75693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2800" dirty="0">
                <a:solidFill>
                  <a:srgbClr val="000000"/>
                </a:solidFill>
                <a:latin typeface="+mn-lt"/>
              </a:rPr>
              <a:t> Alice wants to send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confidential</a:t>
            </a:r>
            <a:r>
              <a:rPr lang="en-US" sz="2800" dirty="0">
                <a:solidFill>
                  <a:srgbClr val="000000"/>
                </a:solidFill>
                <a:latin typeface="+mn-lt"/>
              </a:rPr>
              <a:t> e-mail, m, to Bob.</a:t>
            </a:r>
          </a:p>
        </p:txBody>
      </p:sp>
      <p:sp>
        <p:nvSpPr>
          <p:cNvPr id="218" name="Freeform 6">
            <a:extLst>
              <a:ext uri="{FF2B5EF4-FFF2-40B4-BE49-F238E27FC236}">
                <a16:creationId xmlns:a16="http://schemas.microsoft.com/office/drawing/2014/main" id="{6CD555F4-CA4B-074A-8785-8FAD92888E75}"/>
              </a:ext>
            </a:extLst>
          </p:cNvPr>
          <p:cNvSpPr>
            <a:spLocks/>
          </p:cNvSpPr>
          <p:nvPr/>
        </p:nvSpPr>
        <p:spPr bwMode="auto">
          <a:xfrm>
            <a:off x="5606568" y="2924035"/>
            <a:ext cx="1335088" cy="782638"/>
          </a:xfrm>
          <a:custGeom>
            <a:avLst/>
            <a:gdLst>
              <a:gd name="T0" fmla="*/ 0 w 2135"/>
              <a:gd name="T1" fmla="*/ 0 h 1662"/>
              <a:gd name="T2" fmla="*/ 0 w 2135"/>
              <a:gd name="T3" fmla="*/ 0 h 1662"/>
              <a:gd name="T4" fmla="*/ 2 w 2135"/>
              <a:gd name="T5" fmla="*/ 0 h 1662"/>
              <a:gd name="T6" fmla="*/ 4 w 2135"/>
              <a:gd name="T7" fmla="*/ 0 h 1662"/>
              <a:gd name="T8" fmla="*/ 7 w 2135"/>
              <a:gd name="T9" fmla="*/ 0 h 1662"/>
              <a:gd name="T10" fmla="*/ 7 w 2135"/>
              <a:gd name="T11" fmla="*/ 1 h 1662"/>
              <a:gd name="T12" fmla="*/ 6 w 2135"/>
              <a:gd name="T13" fmla="*/ 1 h 1662"/>
              <a:gd name="T14" fmla="*/ 3 w 2135"/>
              <a:gd name="T15" fmla="*/ 1 h 1662"/>
              <a:gd name="T16" fmla="*/ 2 w 2135"/>
              <a:gd name="T17" fmla="*/ 1 h 1662"/>
              <a:gd name="T18" fmla="*/ 1 w 2135"/>
              <a:gd name="T19" fmla="*/ 1 h 1662"/>
              <a:gd name="T20" fmla="*/ 0 w 2135"/>
              <a:gd name="T21" fmla="*/ 0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9" name="Line 7">
            <a:extLst>
              <a:ext uri="{FF2B5EF4-FFF2-40B4-BE49-F238E27FC236}">
                <a16:creationId xmlns:a16="http://schemas.microsoft.com/office/drawing/2014/main" id="{A6AEB2B1-BA60-FD48-A28E-555D520C1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2524" y="2595423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pic>
        <p:nvPicPr>
          <p:cNvPr id="220" name="Picture 8" descr="BS00768_[1]">
            <a:extLst>
              <a:ext uri="{FF2B5EF4-FFF2-40B4-BE49-F238E27FC236}">
                <a16:creationId xmlns:a16="http://schemas.microsoft.com/office/drawing/2014/main" id="{E26E87B5-C443-844F-93F0-B1F64DA8F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56449" y="186199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2" name="Group 10">
            <a:extLst>
              <a:ext uri="{FF2B5EF4-FFF2-40B4-BE49-F238E27FC236}">
                <a16:creationId xmlns:a16="http://schemas.microsoft.com/office/drawing/2014/main" id="{B3338351-7863-584E-A2BF-3E9752B05348}"/>
              </a:ext>
            </a:extLst>
          </p:cNvPr>
          <p:cNvGrpSpPr>
            <a:grpSpLocks/>
          </p:cNvGrpSpPr>
          <p:nvPr/>
        </p:nvGrpSpPr>
        <p:grpSpPr bwMode="auto">
          <a:xfrm>
            <a:off x="2829412" y="2122348"/>
            <a:ext cx="754063" cy="727075"/>
            <a:chOff x="1645" y="264"/>
            <a:chExt cx="475" cy="458"/>
          </a:xfrm>
        </p:grpSpPr>
        <p:sp>
          <p:nvSpPr>
            <p:cNvPr id="281" name="Rectangle 11">
              <a:extLst>
                <a:ext uri="{FF2B5EF4-FFF2-40B4-BE49-F238E27FC236}">
                  <a16:creationId xmlns:a16="http://schemas.microsoft.com/office/drawing/2014/main" id="{5B6EC3BE-FAC9-554A-8157-9ABE0F934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82" name="Text Box 12">
              <a:extLst>
                <a:ext uri="{FF2B5EF4-FFF2-40B4-BE49-F238E27FC236}">
                  <a16:creationId xmlns:a16="http://schemas.microsoft.com/office/drawing/2014/main" id="{08D9BCA8-2B3D-644E-8E42-71412F3C1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83" name="Text Box 13">
              <a:extLst>
                <a:ext uri="{FF2B5EF4-FFF2-40B4-BE49-F238E27FC236}">
                  <a16:creationId xmlns:a16="http://schemas.microsoft.com/office/drawing/2014/main" id="{2AD3B9EF-EE74-CF4E-8FB2-62F534311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223" name="Group 14">
            <a:extLst>
              <a:ext uri="{FF2B5EF4-FFF2-40B4-BE49-F238E27FC236}">
                <a16:creationId xmlns:a16="http://schemas.microsoft.com/office/drawing/2014/main" id="{1B74ED03-2B4C-8949-BE82-3D83179789FB}"/>
              </a:ext>
            </a:extLst>
          </p:cNvPr>
          <p:cNvGrpSpPr>
            <a:grpSpLocks/>
          </p:cNvGrpSpPr>
          <p:nvPr/>
        </p:nvGrpSpPr>
        <p:grpSpPr bwMode="auto">
          <a:xfrm>
            <a:off x="2853224" y="3360598"/>
            <a:ext cx="754063" cy="708025"/>
            <a:chOff x="2144" y="3246"/>
            <a:chExt cx="475" cy="446"/>
          </a:xfrm>
        </p:grpSpPr>
        <p:sp>
          <p:nvSpPr>
            <p:cNvPr id="277" name="Rectangle 15">
              <a:extLst>
                <a:ext uri="{FF2B5EF4-FFF2-40B4-BE49-F238E27FC236}">
                  <a16:creationId xmlns:a16="http://schemas.microsoft.com/office/drawing/2014/main" id="{72B4BC9C-E5D4-E241-AAB2-5BB4EBE05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8" name="Text Box 16">
              <a:extLst>
                <a:ext uri="{FF2B5EF4-FFF2-40B4-BE49-F238E27FC236}">
                  <a16:creationId xmlns:a16="http://schemas.microsoft.com/office/drawing/2014/main" id="{574C01F9-512F-C94E-8E54-5BD0FB118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79" name="Text Box 17">
              <a:extLst>
                <a:ext uri="{FF2B5EF4-FFF2-40B4-BE49-F238E27FC236}">
                  <a16:creationId xmlns:a16="http://schemas.microsoft.com/office/drawing/2014/main" id="{1B0822E5-C511-4643-AF89-4C837BEC0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280" name="Text Box 18">
              <a:extLst>
                <a:ext uri="{FF2B5EF4-FFF2-40B4-BE49-F238E27FC236}">
                  <a16:creationId xmlns:a16="http://schemas.microsoft.com/office/drawing/2014/main" id="{A7118F23-0F93-2A4A-9DA6-D9A6B4770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226" name="Line 25">
            <a:extLst>
              <a:ext uri="{FF2B5EF4-FFF2-40B4-BE49-F238E27FC236}">
                <a16:creationId xmlns:a16="http://schemas.microsoft.com/office/drawing/2014/main" id="{0D2B37ED-C6CE-7046-B034-106D8661B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383324" y="3822560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27" name="Text Box 26">
            <a:extLst>
              <a:ext uri="{FF2B5EF4-FFF2-40B4-BE49-F238E27FC236}">
                <a16:creationId xmlns:a16="http://schemas.microsoft.com/office/drawing/2014/main" id="{0457F625-44DB-8442-A226-7B398F9B9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949" y="2216010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228" name="Group 27">
            <a:extLst>
              <a:ext uri="{FF2B5EF4-FFF2-40B4-BE49-F238E27FC236}">
                <a16:creationId xmlns:a16="http://schemas.microsoft.com/office/drawing/2014/main" id="{45F71A6B-961A-8F47-BDAD-766509D125B1}"/>
              </a:ext>
            </a:extLst>
          </p:cNvPr>
          <p:cNvGrpSpPr>
            <a:grpSpLocks/>
          </p:cNvGrpSpPr>
          <p:nvPr/>
        </p:nvGrpSpPr>
        <p:grpSpPr bwMode="auto">
          <a:xfrm>
            <a:off x="3599349" y="3705085"/>
            <a:ext cx="969963" cy="527050"/>
            <a:chOff x="3501" y="648"/>
            <a:chExt cx="611" cy="332"/>
          </a:xfrm>
        </p:grpSpPr>
        <p:sp>
          <p:nvSpPr>
            <p:cNvPr id="271" name="Text Box 28">
              <a:extLst>
                <a:ext uri="{FF2B5EF4-FFF2-40B4-BE49-F238E27FC236}">
                  <a16:creationId xmlns:a16="http://schemas.microsoft.com/office/drawing/2014/main" id="{292C87C3-4A72-1D42-94BC-4559AABC4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272" name="Text Box 29">
              <a:extLst>
                <a:ext uri="{FF2B5EF4-FFF2-40B4-BE49-F238E27FC236}">
                  <a16:creationId xmlns:a16="http://schemas.microsoft.com/office/drawing/2014/main" id="{0288EA14-A354-5247-BF8A-85868B876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229" name="Freeform 30">
            <a:extLst>
              <a:ext uri="{FF2B5EF4-FFF2-40B4-BE49-F238E27FC236}">
                <a16:creationId xmlns:a16="http://schemas.microsoft.com/office/drawing/2014/main" id="{E2495C76-E002-B842-9952-6D4CA66E750A}"/>
              </a:ext>
            </a:extLst>
          </p:cNvPr>
          <p:cNvSpPr>
            <a:spLocks/>
          </p:cNvSpPr>
          <p:nvPr/>
        </p:nvSpPr>
        <p:spPr bwMode="auto">
          <a:xfrm>
            <a:off x="3585062" y="260336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0" name="Freeform 31">
            <a:extLst>
              <a:ext uri="{FF2B5EF4-FFF2-40B4-BE49-F238E27FC236}">
                <a16:creationId xmlns:a16="http://schemas.microsoft.com/office/drawing/2014/main" id="{A59EFB8D-275D-0B46-B002-46DB5110F671}"/>
              </a:ext>
            </a:extLst>
          </p:cNvPr>
          <p:cNvSpPr>
            <a:spLocks/>
          </p:cNvSpPr>
          <p:nvPr/>
        </p:nvSpPr>
        <p:spPr bwMode="auto">
          <a:xfrm flipV="1">
            <a:off x="3607287" y="3424098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1" name="Text Box 32">
            <a:extLst>
              <a:ext uri="{FF2B5EF4-FFF2-40B4-BE49-F238E27FC236}">
                <a16:creationId xmlns:a16="http://schemas.microsoft.com/office/drawing/2014/main" id="{9CEEB54F-D9C0-6C42-AF0B-4A703427A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6287" y="2374760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</a:t>
            </a:r>
          </a:p>
        </p:txBody>
      </p:sp>
      <p:sp>
        <p:nvSpPr>
          <p:cNvPr id="232" name="Text Box 33">
            <a:extLst>
              <a:ext uri="{FF2B5EF4-FFF2-40B4-BE49-F238E27FC236}">
                <a16:creationId xmlns:a16="http://schemas.microsoft.com/office/drawing/2014/main" id="{504C787D-5FD2-5441-8299-EDD8508A8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5846" y="3052623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sp>
        <p:nvSpPr>
          <p:cNvPr id="233" name="Text Box 34">
            <a:extLst>
              <a:ext uri="{FF2B5EF4-FFF2-40B4-BE49-F238E27FC236}">
                <a16:creationId xmlns:a16="http://schemas.microsoft.com/office/drawing/2014/main" id="{983299C2-71F6-8342-BFCF-874B286DA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4649" y="1752460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grpSp>
        <p:nvGrpSpPr>
          <p:cNvPr id="235" name="Group 36">
            <a:extLst>
              <a:ext uri="{FF2B5EF4-FFF2-40B4-BE49-F238E27FC236}">
                <a16:creationId xmlns:a16="http://schemas.microsoft.com/office/drawing/2014/main" id="{B97A4572-6D2F-BB4C-8149-9880CEC9DC3B}"/>
              </a:ext>
            </a:extLst>
          </p:cNvPr>
          <p:cNvGrpSpPr>
            <a:grpSpLocks/>
          </p:cNvGrpSpPr>
          <p:nvPr/>
        </p:nvGrpSpPr>
        <p:grpSpPr bwMode="auto">
          <a:xfrm>
            <a:off x="2818299" y="4105135"/>
            <a:ext cx="471488" cy="474663"/>
            <a:chOff x="2643" y="716"/>
            <a:chExt cx="297" cy="299"/>
          </a:xfrm>
        </p:grpSpPr>
        <p:sp>
          <p:nvSpPr>
            <p:cNvPr id="269" name="Text Box 37">
              <a:extLst>
                <a:ext uri="{FF2B5EF4-FFF2-40B4-BE49-F238E27FC236}">
                  <a16:creationId xmlns:a16="http://schemas.microsoft.com/office/drawing/2014/main" id="{511EE41B-163B-B840-B4EA-F53907AB0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0" name="Text Box 38">
              <a:extLst>
                <a:ext uri="{FF2B5EF4-FFF2-40B4-BE49-F238E27FC236}">
                  <a16:creationId xmlns:a16="http://schemas.microsoft.com/office/drawing/2014/main" id="{8EF72EFE-FDCF-CE4E-BCC6-5D4E761C0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238" name="Picture 41" descr="Alice">
            <a:extLst>
              <a:ext uri="{FF2B5EF4-FFF2-40B4-BE49-F238E27FC236}">
                <a16:creationId xmlns:a16="http://schemas.microsoft.com/office/drawing/2014/main" id="{0C371DC6-AA5F-4442-B6FF-9BE6B85B9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074" y="2898635"/>
            <a:ext cx="5270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" name="Picture 44" descr="BS00592_[1]">
            <a:extLst>
              <a:ext uri="{FF2B5EF4-FFF2-40B4-BE49-F238E27FC236}">
                <a16:creationId xmlns:a16="http://schemas.microsoft.com/office/drawing/2014/main" id="{1BABC6C8-3277-624B-BF93-A243C8C5A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372" y="2808148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2" name="Text Box 45">
            <a:extLst>
              <a:ext uri="{FF2B5EF4-FFF2-40B4-BE49-F238E27FC236}">
                <a16:creationId xmlns:a16="http://schemas.microsoft.com/office/drawing/2014/main" id="{DB84A17E-181E-A340-909B-0A4D03E1C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355" y="3101835"/>
            <a:ext cx="96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Internet</a:t>
            </a:r>
          </a:p>
        </p:txBody>
      </p:sp>
      <p:sp>
        <p:nvSpPr>
          <p:cNvPr id="243" name="Freeform 46">
            <a:extLst>
              <a:ext uri="{FF2B5EF4-FFF2-40B4-BE49-F238E27FC236}">
                <a16:creationId xmlns:a16="http://schemas.microsoft.com/office/drawing/2014/main" id="{7DE99CFA-70C2-9B43-B751-7B0444EE535D}"/>
              </a:ext>
            </a:extLst>
          </p:cNvPr>
          <p:cNvSpPr>
            <a:spLocks/>
          </p:cNvSpPr>
          <p:nvPr/>
        </p:nvSpPr>
        <p:spPr bwMode="auto">
          <a:xfrm flipH="1">
            <a:off x="8120821" y="259701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4" name="Group 47">
            <a:extLst>
              <a:ext uri="{FF2B5EF4-FFF2-40B4-BE49-F238E27FC236}">
                <a16:creationId xmlns:a16="http://schemas.microsoft.com/office/drawing/2014/main" id="{207449D9-5A1F-5649-A266-919B61BC51A3}"/>
              </a:ext>
            </a:extLst>
          </p:cNvPr>
          <p:cNvGrpSpPr>
            <a:grpSpLocks/>
          </p:cNvGrpSpPr>
          <p:nvPr/>
        </p:nvGrpSpPr>
        <p:grpSpPr bwMode="auto">
          <a:xfrm>
            <a:off x="8844721" y="2114410"/>
            <a:ext cx="754063" cy="714375"/>
            <a:chOff x="1645" y="272"/>
            <a:chExt cx="475" cy="450"/>
          </a:xfrm>
        </p:grpSpPr>
        <p:sp>
          <p:nvSpPr>
            <p:cNvPr id="266" name="Rectangle 48">
              <a:extLst>
                <a:ext uri="{FF2B5EF4-FFF2-40B4-BE49-F238E27FC236}">
                  <a16:creationId xmlns:a16="http://schemas.microsoft.com/office/drawing/2014/main" id="{89514FFD-273C-5147-916A-9C739C9AE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7" name="Text Box 49">
              <a:extLst>
                <a:ext uri="{FF2B5EF4-FFF2-40B4-BE49-F238E27FC236}">
                  <a16:creationId xmlns:a16="http://schemas.microsoft.com/office/drawing/2014/main" id="{6723362B-8F17-E747-9DFA-66010D5BA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68" name="Text Box 50">
              <a:extLst>
                <a:ext uri="{FF2B5EF4-FFF2-40B4-BE49-F238E27FC236}">
                  <a16:creationId xmlns:a16="http://schemas.microsoft.com/office/drawing/2014/main" id="{F928449F-C7A9-1546-9C40-35F3BAA45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72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sp>
        <p:nvSpPr>
          <p:cNvPr id="245" name="Freeform 51">
            <a:extLst>
              <a:ext uri="{FF2B5EF4-FFF2-40B4-BE49-F238E27FC236}">
                <a16:creationId xmlns:a16="http://schemas.microsoft.com/office/drawing/2014/main" id="{AA04EF99-94C0-2148-AA70-D2970F6E6E46}"/>
              </a:ext>
            </a:extLst>
          </p:cNvPr>
          <p:cNvSpPr>
            <a:spLocks/>
          </p:cNvSpPr>
          <p:nvPr/>
        </p:nvSpPr>
        <p:spPr bwMode="auto">
          <a:xfrm flipH="1" flipV="1">
            <a:off x="8143046" y="3432035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6" name="Group 52">
            <a:extLst>
              <a:ext uri="{FF2B5EF4-FFF2-40B4-BE49-F238E27FC236}">
                <a16:creationId xmlns:a16="http://schemas.microsoft.com/office/drawing/2014/main" id="{AB1E8548-F881-3D4B-A677-19458575B71B}"/>
              </a:ext>
            </a:extLst>
          </p:cNvPr>
          <p:cNvGrpSpPr>
            <a:grpSpLocks/>
          </p:cNvGrpSpPr>
          <p:nvPr/>
        </p:nvGrpSpPr>
        <p:grpSpPr bwMode="auto">
          <a:xfrm>
            <a:off x="8868534" y="3365360"/>
            <a:ext cx="754063" cy="708025"/>
            <a:chOff x="2144" y="3254"/>
            <a:chExt cx="475" cy="446"/>
          </a:xfrm>
        </p:grpSpPr>
        <p:sp>
          <p:nvSpPr>
            <p:cNvPr id="262" name="Rectangle 53">
              <a:extLst>
                <a:ext uri="{FF2B5EF4-FFF2-40B4-BE49-F238E27FC236}">
                  <a16:creationId xmlns:a16="http://schemas.microsoft.com/office/drawing/2014/main" id="{CCAF72D3-A522-D54B-85CC-0CE7802D0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3" name="Text Box 54">
              <a:extLst>
                <a:ext uri="{FF2B5EF4-FFF2-40B4-BE49-F238E27FC236}">
                  <a16:creationId xmlns:a16="http://schemas.microsoft.com/office/drawing/2014/main" id="{67004EF0-0664-6249-96F6-E6744C406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64" name="Text Box 55">
              <a:extLst>
                <a:ext uri="{FF2B5EF4-FFF2-40B4-BE49-F238E27FC236}">
                  <a16:creationId xmlns:a16="http://schemas.microsoft.com/office/drawing/2014/main" id="{F7120163-D2CD-7B4F-8237-7CDF133D0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" y="325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265" name="Text Box 56">
              <a:extLst>
                <a:ext uri="{FF2B5EF4-FFF2-40B4-BE49-F238E27FC236}">
                  <a16:creationId xmlns:a16="http://schemas.microsoft.com/office/drawing/2014/main" id="{B672981B-BA70-9446-9FE4-7C8B089D4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9" y="3331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</a:t>
              </a:r>
            </a:p>
          </p:txBody>
        </p:sp>
      </p:grpSp>
      <p:pic>
        <p:nvPicPr>
          <p:cNvPr id="248" name="Picture 58" descr="BS00768_[1]">
            <a:extLst>
              <a:ext uri="{FF2B5EF4-FFF2-40B4-BE49-F238E27FC236}">
                <a16:creationId xmlns:a16="http://schemas.microsoft.com/office/drawing/2014/main" id="{5630412B-C927-FE4F-BA3D-EBD552439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365421" y="31558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9" name="Group 59">
            <a:extLst>
              <a:ext uri="{FF2B5EF4-FFF2-40B4-BE49-F238E27FC236}">
                <a16:creationId xmlns:a16="http://schemas.microsoft.com/office/drawing/2014/main" id="{CA05ADE8-6BBE-3548-8E4F-254F16D2FED0}"/>
              </a:ext>
            </a:extLst>
          </p:cNvPr>
          <p:cNvGrpSpPr>
            <a:grpSpLocks/>
          </p:cNvGrpSpPr>
          <p:nvPr/>
        </p:nvGrpSpPr>
        <p:grpSpPr bwMode="auto">
          <a:xfrm>
            <a:off x="8628821" y="4097198"/>
            <a:ext cx="452438" cy="474663"/>
            <a:chOff x="2643" y="716"/>
            <a:chExt cx="285" cy="299"/>
          </a:xfrm>
        </p:grpSpPr>
        <p:sp>
          <p:nvSpPr>
            <p:cNvPr id="260" name="Text Box 60">
              <a:extLst>
                <a:ext uri="{FF2B5EF4-FFF2-40B4-BE49-F238E27FC236}">
                  <a16:creationId xmlns:a16="http://schemas.microsoft.com/office/drawing/2014/main" id="{7515D35F-082C-834B-8B82-EDC0267A4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1" name="Text Box 61">
              <a:extLst>
                <a:ext uri="{FF2B5EF4-FFF2-40B4-BE49-F238E27FC236}">
                  <a16:creationId xmlns:a16="http://schemas.microsoft.com/office/drawing/2014/main" id="{0323DED8-DBB5-A447-A69A-8618C7EA1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</a:t>
              </a:r>
            </a:p>
          </p:txBody>
        </p:sp>
      </p:grpSp>
      <p:sp>
        <p:nvSpPr>
          <p:cNvPr id="252" name="Text Box 64">
            <a:extLst>
              <a:ext uri="{FF2B5EF4-FFF2-40B4-BE49-F238E27FC236}">
                <a16:creationId xmlns:a16="http://schemas.microsoft.com/office/drawing/2014/main" id="{A7E10D4A-19BB-6543-BC7F-0495AE123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974" y="3639998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sp>
        <p:nvSpPr>
          <p:cNvPr id="253" name="Line 65">
            <a:extLst>
              <a:ext uri="{FF2B5EF4-FFF2-40B4-BE49-F238E27FC236}">
                <a16:creationId xmlns:a16="http://schemas.microsoft.com/office/drawing/2014/main" id="{E2786FB4-957F-7B46-A134-64D2A9099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9896" y="2601773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54" name="Text Box 66">
            <a:extLst>
              <a:ext uri="{FF2B5EF4-FFF2-40B4-BE49-F238E27FC236}">
                <a16:creationId xmlns:a16="http://schemas.microsoft.com/office/drawing/2014/main" id="{C5832857-87AB-5041-9D63-DB19AECC5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3609" y="239539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</a:t>
            </a:r>
          </a:p>
        </p:txBody>
      </p:sp>
      <p:pic>
        <p:nvPicPr>
          <p:cNvPr id="255" name="Picture 67" descr="Bob">
            <a:extLst>
              <a:ext uri="{FF2B5EF4-FFF2-40B4-BE49-F238E27FC236}">
                <a16:creationId xmlns:a16="http://schemas.microsoft.com/office/drawing/2014/main" id="{5045B734-7259-3046-A38E-F20FEAFE0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884" y="3039923"/>
            <a:ext cx="642938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" name="Text Box 68">
            <a:extLst>
              <a:ext uri="{FF2B5EF4-FFF2-40B4-BE49-F238E27FC236}">
                <a16:creationId xmlns:a16="http://schemas.microsoft.com/office/drawing/2014/main" id="{3E4F1AE1-4DF6-A146-8288-D083ABA61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509" y="2208073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257" name="Group 69">
            <a:extLst>
              <a:ext uri="{FF2B5EF4-FFF2-40B4-BE49-F238E27FC236}">
                <a16:creationId xmlns:a16="http://schemas.microsoft.com/office/drawing/2014/main" id="{6AC5A6DE-0109-644D-8115-C3E201D8D2D3}"/>
              </a:ext>
            </a:extLst>
          </p:cNvPr>
          <p:cNvGrpSpPr>
            <a:grpSpLocks/>
          </p:cNvGrpSpPr>
          <p:nvPr/>
        </p:nvGrpSpPr>
        <p:grpSpPr bwMode="auto">
          <a:xfrm>
            <a:off x="7698546" y="3682860"/>
            <a:ext cx="969963" cy="527050"/>
            <a:chOff x="3501" y="648"/>
            <a:chExt cx="611" cy="332"/>
          </a:xfrm>
        </p:grpSpPr>
        <p:sp>
          <p:nvSpPr>
            <p:cNvPr id="258" name="Text Box 70">
              <a:extLst>
                <a:ext uri="{FF2B5EF4-FFF2-40B4-BE49-F238E27FC236}">
                  <a16:creationId xmlns:a16="http://schemas.microsoft.com/office/drawing/2014/main" id="{3F2A083A-A8E3-9845-A9A5-F7ACDE4C2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259" name="Text Box 71">
              <a:extLst>
                <a:ext uri="{FF2B5EF4-FFF2-40B4-BE49-F238E27FC236}">
                  <a16:creationId xmlns:a16="http://schemas.microsoft.com/office/drawing/2014/main" id="{4CB67453-F7BA-264E-AF15-8E0F01A7D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221" name="Picture 9" descr="BS00592_[1]">
            <a:extLst>
              <a:ext uri="{FF2B5EF4-FFF2-40B4-BE49-F238E27FC236}">
                <a16:creationId xmlns:a16="http://schemas.microsoft.com/office/drawing/2014/main" id="{269569C0-0F8C-3947-95A7-605BC08D4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475" y="2867025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4" name="Text Box 3">
            <a:extLst>
              <a:ext uri="{FF2B5EF4-FFF2-40B4-BE49-F238E27FC236}">
                <a16:creationId xmlns:a16="http://schemas.microsoft.com/office/drawing/2014/main" id="{8F65192A-556A-A141-AA63-E5E573B1CA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5073" y="4308821"/>
            <a:ext cx="9741797" cy="20005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C00000"/>
                </a:solidFill>
                <a:latin typeface="+mn-lt"/>
              </a:rPr>
              <a:t>Alice: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generates random </a:t>
            </a:r>
            <a:r>
              <a:rPr lang="en-US" sz="2400" i="1" dirty="0">
                <a:latin typeface="+mn-lt"/>
              </a:rPr>
              <a:t>symmetric</a:t>
            </a:r>
            <a:r>
              <a:rPr lang="en-US" sz="2400" dirty="0">
                <a:latin typeface="+mn-lt"/>
              </a:rPr>
              <a:t> private key, K</a:t>
            </a:r>
            <a:r>
              <a:rPr lang="en-US" sz="2400" baseline="-25000" dirty="0">
                <a:latin typeface="+mn-lt"/>
              </a:rPr>
              <a:t>S</a:t>
            </a:r>
            <a:endParaRPr lang="en-US" sz="2400" dirty="0">
              <a:latin typeface="+mn-lt"/>
            </a:endParaRP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encrypts message with K</a:t>
            </a:r>
            <a:r>
              <a:rPr lang="en-US" sz="2400" baseline="-25000" dirty="0">
                <a:latin typeface="+mn-lt"/>
              </a:rPr>
              <a:t>S  </a:t>
            </a:r>
            <a:r>
              <a:rPr lang="en-US" sz="2400" dirty="0">
                <a:latin typeface="+mn-lt"/>
              </a:rPr>
              <a:t>(for efficiency)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also encrypts 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 with Bob’</a:t>
            </a:r>
            <a:r>
              <a:rPr lang="en-US" altLang="ja-JP" sz="2400" dirty="0">
                <a:latin typeface="+mn-lt"/>
              </a:rPr>
              <a:t>s public key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sends both 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(m) and K</a:t>
            </a:r>
            <a:r>
              <a:rPr lang="en-US" sz="2800" baseline="30000" dirty="0">
                <a:latin typeface="+mn-lt"/>
              </a:rPr>
              <a:t>+</a:t>
            </a:r>
            <a:r>
              <a:rPr lang="en-US" sz="2400" baseline="-25000" dirty="0">
                <a:latin typeface="+mn-lt"/>
              </a:rPr>
              <a:t>B</a:t>
            </a:r>
            <a:r>
              <a:rPr lang="en-US" sz="2400" dirty="0">
                <a:latin typeface="+mn-lt"/>
              </a:rPr>
              <a:t>(K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) to Bob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99682B5-A8C2-0C4E-8879-4830396806FE}"/>
              </a:ext>
            </a:extLst>
          </p:cNvPr>
          <p:cNvGrpSpPr/>
          <p:nvPr/>
        </p:nvGrpSpPr>
        <p:grpSpPr>
          <a:xfrm>
            <a:off x="4161184" y="2928730"/>
            <a:ext cx="389850" cy="584775"/>
            <a:chOff x="9846364" y="1192696"/>
            <a:chExt cx="389850" cy="58477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F6CCB7A-264F-5147-8F07-12CBBF002BB1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7DC78BD-0454-BA48-A9E6-43B885EB2B74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DDD79F7A-72D1-0448-B4D5-0C28EC6E5181}"/>
              </a:ext>
            </a:extLst>
          </p:cNvPr>
          <p:cNvGrpSpPr/>
          <p:nvPr/>
        </p:nvGrpSpPr>
        <p:grpSpPr>
          <a:xfrm>
            <a:off x="7981121" y="2908854"/>
            <a:ext cx="344557" cy="584775"/>
            <a:chOff x="9859617" y="1179444"/>
            <a:chExt cx="344557" cy="584775"/>
          </a:xfrm>
        </p:grpSpPr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2C228A61-3219-9A4D-9195-FB9653EE0B26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D05F3754-154C-1648-B8E1-0BD1733AEF59}"/>
                </a:ext>
              </a:extLst>
            </p:cNvPr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-</a:t>
              </a:r>
            </a:p>
          </p:txBody>
        </p:sp>
      </p:grpSp>
      <p:cxnSp>
        <p:nvCxnSpPr>
          <p:cNvPr id="292" name="Straight Arrow Connector 291">
            <a:extLst>
              <a:ext uri="{FF2B5EF4-FFF2-40B4-BE49-F238E27FC236}">
                <a16:creationId xmlns:a16="http://schemas.microsoft.com/office/drawing/2014/main" id="{52D2062F-CA48-1640-B3D5-A53B91C43E7F}"/>
              </a:ext>
            </a:extLst>
          </p:cNvPr>
          <p:cNvCxnSpPr/>
          <p:nvPr/>
        </p:nvCxnSpPr>
        <p:spPr>
          <a:xfrm>
            <a:off x="3220100" y="20109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Straight Arrow Connector 292">
            <a:extLst>
              <a:ext uri="{FF2B5EF4-FFF2-40B4-BE49-F238E27FC236}">
                <a16:creationId xmlns:a16="http://schemas.microsoft.com/office/drawing/2014/main" id="{9404D262-2707-184F-A734-C5EDC8CE3D5E}"/>
              </a:ext>
            </a:extLst>
          </p:cNvPr>
          <p:cNvCxnSpPr>
            <a:cxnSpLocks/>
          </p:cNvCxnSpPr>
          <p:nvPr/>
        </p:nvCxnSpPr>
        <p:spPr>
          <a:xfrm flipH="1" flipV="1">
            <a:off x="3238142" y="4070415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Straight Arrow Connector 293">
            <a:extLst>
              <a:ext uri="{FF2B5EF4-FFF2-40B4-BE49-F238E27FC236}">
                <a16:creationId xmlns:a16="http://schemas.microsoft.com/office/drawing/2014/main" id="{4AEFA32B-1A87-E643-B480-9E16BF81B052}"/>
              </a:ext>
            </a:extLst>
          </p:cNvPr>
          <p:cNvCxnSpPr>
            <a:cxnSpLocks/>
          </p:cNvCxnSpPr>
          <p:nvPr/>
        </p:nvCxnSpPr>
        <p:spPr>
          <a:xfrm flipH="1" flipV="1">
            <a:off x="9042677" y="40683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43377ED2-37FB-2A48-9457-CB5C224CA256}"/>
              </a:ext>
            </a:extLst>
          </p:cNvPr>
          <p:cNvCxnSpPr>
            <a:cxnSpLocks/>
          </p:cNvCxnSpPr>
          <p:nvPr/>
        </p:nvCxnSpPr>
        <p:spPr>
          <a:xfrm flipV="1">
            <a:off x="8996473" y="2842592"/>
            <a:ext cx="0" cy="7029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6" name="Picture 40" descr="BS00768_[1]">
            <a:extLst>
              <a:ext uri="{FF2B5EF4-FFF2-40B4-BE49-F238E27FC236}">
                <a16:creationId xmlns:a16="http://schemas.microsoft.com/office/drawing/2014/main" id="{25CD6C53-D478-0F45-AF7C-0B7FA20E33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305662" y="42909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" name="Picture 63" descr="BS00768_[1]">
            <a:extLst>
              <a:ext uri="{FF2B5EF4-FFF2-40B4-BE49-F238E27FC236}">
                <a16:creationId xmlns:a16="http://schemas.microsoft.com/office/drawing/2014/main" id="{58DA2BF2-4146-C74A-B07F-46340CB5EA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116184" y="430306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4481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FF664698-2E27-2E4F-852C-7F80EA1D4B1F}"/>
              </a:ext>
            </a:extLst>
          </p:cNvPr>
          <p:cNvCxnSpPr/>
          <p:nvPr/>
        </p:nvCxnSpPr>
        <p:spPr>
          <a:xfrm>
            <a:off x="7079973" y="3187148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0ACC18-AD01-564E-BB8B-8855CF57E420}"/>
              </a:ext>
            </a:extLst>
          </p:cNvPr>
          <p:cNvCxnSpPr/>
          <p:nvPr/>
        </p:nvCxnSpPr>
        <p:spPr>
          <a:xfrm>
            <a:off x="4651513" y="3200400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Secure e-mail: confidentiality </a:t>
            </a:r>
            <a:r>
              <a:rPr lang="en-US" sz="3600" b="0" dirty="0">
                <a:latin typeface="+mn-lt"/>
              </a:rPr>
              <a:t>(more) </a:t>
            </a:r>
            <a:endParaRPr lang="en-US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C0184D23-BADA-4B4B-BE0B-C3C7FA37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77" y="1195663"/>
            <a:ext cx="756931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2800" dirty="0">
                <a:solidFill>
                  <a:srgbClr val="000000"/>
                </a:solidFill>
                <a:latin typeface="+mn-lt"/>
              </a:rPr>
              <a:t> Alice wants to send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confidential</a:t>
            </a:r>
            <a:r>
              <a:rPr lang="en-US" sz="2800" dirty="0">
                <a:solidFill>
                  <a:srgbClr val="000000"/>
                </a:solidFill>
                <a:latin typeface="+mn-lt"/>
              </a:rPr>
              <a:t> e-mail, m, to Bob.</a:t>
            </a:r>
          </a:p>
        </p:txBody>
      </p:sp>
      <p:sp>
        <p:nvSpPr>
          <p:cNvPr id="218" name="Freeform 6">
            <a:extLst>
              <a:ext uri="{FF2B5EF4-FFF2-40B4-BE49-F238E27FC236}">
                <a16:creationId xmlns:a16="http://schemas.microsoft.com/office/drawing/2014/main" id="{6CD555F4-CA4B-074A-8785-8FAD92888E75}"/>
              </a:ext>
            </a:extLst>
          </p:cNvPr>
          <p:cNvSpPr>
            <a:spLocks/>
          </p:cNvSpPr>
          <p:nvPr/>
        </p:nvSpPr>
        <p:spPr bwMode="auto">
          <a:xfrm>
            <a:off x="5606568" y="2924035"/>
            <a:ext cx="1335088" cy="782638"/>
          </a:xfrm>
          <a:custGeom>
            <a:avLst/>
            <a:gdLst>
              <a:gd name="T0" fmla="*/ 0 w 2135"/>
              <a:gd name="T1" fmla="*/ 0 h 1662"/>
              <a:gd name="T2" fmla="*/ 0 w 2135"/>
              <a:gd name="T3" fmla="*/ 0 h 1662"/>
              <a:gd name="T4" fmla="*/ 2 w 2135"/>
              <a:gd name="T5" fmla="*/ 0 h 1662"/>
              <a:gd name="T6" fmla="*/ 4 w 2135"/>
              <a:gd name="T7" fmla="*/ 0 h 1662"/>
              <a:gd name="T8" fmla="*/ 7 w 2135"/>
              <a:gd name="T9" fmla="*/ 0 h 1662"/>
              <a:gd name="T10" fmla="*/ 7 w 2135"/>
              <a:gd name="T11" fmla="*/ 1 h 1662"/>
              <a:gd name="T12" fmla="*/ 6 w 2135"/>
              <a:gd name="T13" fmla="*/ 1 h 1662"/>
              <a:gd name="T14" fmla="*/ 3 w 2135"/>
              <a:gd name="T15" fmla="*/ 1 h 1662"/>
              <a:gd name="T16" fmla="*/ 2 w 2135"/>
              <a:gd name="T17" fmla="*/ 1 h 1662"/>
              <a:gd name="T18" fmla="*/ 1 w 2135"/>
              <a:gd name="T19" fmla="*/ 1 h 1662"/>
              <a:gd name="T20" fmla="*/ 0 w 2135"/>
              <a:gd name="T21" fmla="*/ 0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19" name="Line 7">
            <a:extLst>
              <a:ext uri="{FF2B5EF4-FFF2-40B4-BE49-F238E27FC236}">
                <a16:creationId xmlns:a16="http://schemas.microsoft.com/office/drawing/2014/main" id="{A6AEB2B1-BA60-FD48-A28E-555D520C1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2768" y="2595423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pic>
        <p:nvPicPr>
          <p:cNvPr id="220" name="Picture 8" descr="BS00768_[1]">
            <a:extLst>
              <a:ext uri="{FF2B5EF4-FFF2-40B4-BE49-F238E27FC236}">
                <a16:creationId xmlns:a16="http://schemas.microsoft.com/office/drawing/2014/main" id="{E26E87B5-C443-844F-93F0-B1F64DA8F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256449" y="186199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22" name="Group 10">
            <a:extLst>
              <a:ext uri="{FF2B5EF4-FFF2-40B4-BE49-F238E27FC236}">
                <a16:creationId xmlns:a16="http://schemas.microsoft.com/office/drawing/2014/main" id="{B3338351-7863-584E-A2BF-3E9752B05348}"/>
              </a:ext>
            </a:extLst>
          </p:cNvPr>
          <p:cNvGrpSpPr>
            <a:grpSpLocks/>
          </p:cNvGrpSpPr>
          <p:nvPr/>
        </p:nvGrpSpPr>
        <p:grpSpPr bwMode="auto">
          <a:xfrm>
            <a:off x="2829412" y="2122348"/>
            <a:ext cx="754063" cy="727075"/>
            <a:chOff x="1645" y="264"/>
            <a:chExt cx="475" cy="458"/>
          </a:xfrm>
        </p:grpSpPr>
        <p:sp>
          <p:nvSpPr>
            <p:cNvPr id="281" name="Rectangle 11">
              <a:extLst>
                <a:ext uri="{FF2B5EF4-FFF2-40B4-BE49-F238E27FC236}">
                  <a16:creationId xmlns:a16="http://schemas.microsoft.com/office/drawing/2014/main" id="{5B6EC3BE-FAC9-554A-8157-9ABE0F9342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82" name="Text Box 12">
              <a:extLst>
                <a:ext uri="{FF2B5EF4-FFF2-40B4-BE49-F238E27FC236}">
                  <a16:creationId xmlns:a16="http://schemas.microsoft.com/office/drawing/2014/main" id="{08D9BCA8-2B3D-644E-8E42-71412F3C1D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83" name="Text Box 13">
              <a:extLst>
                <a:ext uri="{FF2B5EF4-FFF2-40B4-BE49-F238E27FC236}">
                  <a16:creationId xmlns:a16="http://schemas.microsoft.com/office/drawing/2014/main" id="{2AD3B9EF-EE74-CF4E-8FB2-62F534311F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223" name="Group 14">
            <a:extLst>
              <a:ext uri="{FF2B5EF4-FFF2-40B4-BE49-F238E27FC236}">
                <a16:creationId xmlns:a16="http://schemas.microsoft.com/office/drawing/2014/main" id="{1B74ED03-2B4C-8949-BE82-3D83179789FB}"/>
              </a:ext>
            </a:extLst>
          </p:cNvPr>
          <p:cNvGrpSpPr>
            <a:grpSpLocks/>
          </p:cNvGrpSpPr>
          <p:nvPr/>
        </p:nvGrpSpPr>
        <p:grpSpPr bwMode="auto">
          <a:xfrm>
            <a:off x="2853224" y="3360598"/>
            <a:ext cx="754063" cy="708025"/>
            <a:chOff x="2144" y="3246"/>
            <a:chExt cx="475" cy="446"/>
          </a:xfrm>
        </p:grpSpPr>
        <p:sp>
          <p:nvSpPr>
            <p:cNvPr id="277" name="Rectangle 15">
              <a:extLst>
                <a:ext uri="{FF2B5EF4-FFF2-40B4-BE49-F238E27FC236}">
                  <a16:creationId xmlns:a16="http://schemas.microsoft.com/office/drawing/2014/main" id="{72B4BC9C-E5D4-E241-AAB2-5BB4EBE05A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8" name="Text Box 16">
              <a:extLst>
                <a:ext uri="{FF2B5EF4-FFF2-40B4-BE49-F238E27FC236}">
                  <a16:creationId xmlns:a16="http://schemas.microsoft.com/office/drawing/2014/main" id="{574C01F9-512F-C94E-8E54-5BD0FB118E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79" name="Text Box 17">
              <a:extLst>
                <a:ext uri="{FF2B5EF4-FFF2-40B4-BE49-F238E27FC236}">
                  <a16:creationId xmlns:a16="http://schemas.microsoft.com/office/drawing/2014/main" id="{1B0822E5-C511-4643-AF89-4C837BEC0D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280" name="Text Box 18">
              <a:extLst>
                <a:ext uri="{FF2B5EF4-FFF2-40B4-BE49-F238E27FC236}">
                  <a16:creationId xmlns:a16="http://schemas.microsoft.com/office/drawing/2014/main" id="{A7118F23-0F93-2A4A-9DA6-D9A6B47705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226" name="Line 25">
            <a:extLst>
              <a:ext uri="{FF2B5EF4-FFF2-40B4-BE49-F238E27FC236}">
                <a16:creationId xmlns:a16="http://schemas.microsoft.com/office/drawing/2014/main" id="{0D2B37ED-C6CE-7046-B034-106D8661B30A}"/>
              </a:ext>
            </a:extLst>
          </p:cNvPr>
          <p:cNvSpPr>
            <a:spLocks noChangeShapeType="1"/>
          </p:cNvSpPr>
          <p:nvPr/>
        </p:nvSpPr>
        <p:spPr bwMode="auto">
          <a:xfrm>
            <a:off x="2290560" y="3822560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27" name="Text Box 26">
            <a:extLst>
              <a:ext uri="{FF2B5EF4-FFF2-40B4-BE49-F238E27FC236}">
                <a16:creationId xmlns:a16="http://schemas.microsoft.com/office/drawing/2014/main" id="{0457F625-44DB-8442-A226-7B398F9B9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949" y="2216010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228" name="Group 27">
            <a:extLst>
              <a:ext uri="{FF2B5EF4-FFF2-40B4-BE49-F238E27FC236}">
                <a16:creationId xmlns:a16="http://schemas.microsoft.com/office/drawing/2014/main" id="{45F71A6B-961A-8F47-BDAD-766509D125B1}"/>
              </a:ext>
            </a:extLst>
          </p:cNvPr>
          <p:cNvGrpSpPr>
            <a:grpSpLocks/>
          </p:cNvGrpSpPr>
          <p:nvPr/>
        </p:nvGrpSpPr>
        <p:grpSpPr bwMode="auto">
          <a:xfrm>
            <a:off x="3599349" y="3705085"/>
            <a:ext cx="969963" cy="527050"/>
            <a:chOff x="3501" y="648"/>
            <a:chExt cx="611" cy="332"/>
          </a:xfrm>
        </p:grpSpPr>
        <p:sp>
          <p:nvSpPr>
            <p:cNvPr id="271" name="Text Box 28">
              <a:extLst>
                <a:ext uri="{FF2B5EF4-FFF2-40B4-BE49-F238E27FC236}">
                  <a16:creationId xmlns:a16="http://schemas.microsoft.com/office/drawing/2014/main" id="{292C87C3-4A72-1D42-94BC-4559AABC4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272" name="Text Box 29">
              <a:extLst>
                <a:ext uri="{FF2B5EF4-FFF2-40B4-BE49-F238E27FC236}">
                  <a16:creationId xmlns:a16="http://schemas.microsoft.com/office/drawing/2014/main" id="{0288EA14-A354-5247-BF8A-85868B876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229" name="Freeform 30">
            <a:extLst>
              <a:ext uri="{FF2B5EF4-FFF2-40B4-BE49-F238E27FC236}">
                <a16:creationId xmlns:a16="http://schemas.microsoft.com/office/drawing/2014/main" id="{E2495C76-E002-B842-9952-6D4CA66E750A}"/>
              </a:ext>
            </a:extLst>
          </p:cNvPr>
          <p:cNvSpPr>
            <a:spLocks/>
          </p:cNvSpPr>
          <p:nvPr/>
        </p:nvSpPr>
        <p:spPr bwMode="auto">
          <a:xfrm>
            <a:off x="3585062" y="260336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0" name="Freeform 31">
            <a:extLst>
              <a:ext uri="{FF2B5EF4-FFF2-40B4-BE49-F238E27FC236}">
                <a16:creationId xmlns:a16="http://schemas.microsoft.com/office/drawing/2014/main" id="{A59EFB8D-275D-0B46-B002-46DB5110F671}"/>
              </a:ext>
            </a:extLst>
          </p:cNvPr>
          <p:cNvSpPr>
            <a:spLocks/>
          </p:cNvSpPr>
          <p:nvPr/>
        </p:nvSpPr>
        <p:spPr bwMode="auto">
          <a:xfrm flipV="1">
            <a:off x="3607287" y="3424098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31" name="Text Box 32">
            <a:extLst>
              <a:ext uri="{FF2B5EF4-FFF2-40B4-BE49-F238E27FC236}">
                <a16:creationId xmlns:a16="http://schemas.microsoft.com/office/drawing/2014/main" id="{9CEEB54F-D9C0-6C42-AF0B-4A703427AB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035" y="236150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</a:t>
            </a:r>
          </a:p>
        </p:txBody>
      </p:sp>
      <p:sp>
        <p:nvSpPr>
          <p:cNvPr id="232" name="Text Box 33">
            <a:extLst>
              <a:ext uri="{FF2B5EF4-FFF2-40B4-BE49-F238E27FC236}">
                <a16:creationId xmlns:a16="http://schemas.microsoft.com/office/drawing/2014/main" id="{504C787D-5FD2-5441-8299-EDD8508A8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5846" y="3052623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sp>
        <p:nvSpPr>
          <p:cNvPr id="233" name="Text Box 34">
            <a:extLst>
              <a:ext uri="{FF2B5EF4-FFF2-40B4-BE49-F238E27FC236}">
                <a16:creationId xmlns:a16="http://schemas.microsoft.com/office/drawing/2014/main" id="{983299C2-71F6-8342-BFCF-874B286DA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24649" y="1752460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grpSp>
        <p:nvGrpSpPr>
          <p:cNvPr id="235" name="Group 36">
            <a:extLst>
              <a:ext uri="{FF2B5EF4-FFF2-40B4-BE49-F238E27FC236}">
                <a16:creationId xmlns:a16="http://schemas.microsoft.com/office/drawing/2014/main" id="{B97A4572-6D2F-BB4C-8149-9880CEC9DC3B}"/>
              </a:ext>
            </a:extLst>
          </p:cNvPr>
          <p:cNvGrpSpPr>
            <a:grpSpLocks/>
          </p:cNvGrpSpPr>
          <p:nvPr/>
        </p:nvGrpSpPr>
        <p:grpSpPr bwMode="auto">
          <a:xfrm>
            <a:off x="2818299" y="4105135"/>
            <a:ext cx="471488" cy="474663"/>
            <a:chOff x="2643" y="716"/>
            <a:chExt cx="297" cy="299"/>
          </a:xfrm>
        </p:grpSpPr>
        <p:sp>
          <p:nvSpPr>
            <p:cNvPr id="269" name="Text Box 37">
              <a:extLst>
                <a:ext uri="{FF2B5EF4-FFF2-40B4-BE49-F238E27FC236}">
                  <a16:creationId xmlns:a16="http://schemas.microsoft.com/office/drawing/2014/main" id="{511EE41B-163B-B840-B4EA-F53907AB0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0" name="Text Box 38">
              <a:extLst>
                <a:ext uri="{FF2B5EF4-FFF2-40B4-BE49-F238E27FC236}">
                  <a16:creationId xmlns:a16="http://schemas.microsoft.com/office/drawing/2014/main" id="{8EF72EFE-FDCF-CE4E-BCC6-5D4E761C0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237" name="Picture 40" descr="BS00768_[1]">
            <a:extLst>
              <a:ext uri="{FF2B5EF4-FFF2-40B4-BE49-F238E27FC236}">
                <a16:creationId xmlns:a16="http://schemas.microsoft.com/office/drawing/2014/main" id="{61059736-E07B-744E-B96D-1F4E57611B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305662" y="42909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8" name="Picture 41" descr="Alice">
            <a:extLst>
              <a:ext uri="{FF2B5EF4-FFF2-40B4-BE49-F238E27FC236}">
                <a16:creationId xmlns:a16="http://schemas.microsoft.com/office/drawing/2014/main" id="{0C371DC6-AA5F-4442-B6FF-9BE6B85B9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074" y="2898635"/>
            <a:ext cx="5270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1" name="Picture 44" descr="BS00592_[1]">
            <a:extLst>
              <a:ext uri="{FF2B5EF4-FFF2-40B4-BE49-F238E27FC236}">
                <a16:creationId xmlns:a16="http://schemas.microsoft.com/office/drawing/2014/main" id="{1BABC6C8-3277-624B-BF93-A243C8C5AA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372" y="2808148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2" name="Text Box 45">
            <a:extLst>
              <a:ext uri="{FF2B5EF4-FFF2-40B4-BE49-F238E27FC236}">
                <a16:creationId xmlns:a16="http://schemas.microsoft.com/office/drawing/2014/main" id="{DB84A17E-181E-A340-909B-0A4D03E1CA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1355" y="3101835"/>
            <a:ext cx="96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Internet</a:t>
            </a:r>
          </a:p>
        </p:txBody>
      </p:sp>
      <p:sp>
        <p:nvSpPr>
          <p:cNvPr id="243" name="Freeform 46">
            <a:extLst>
              <a:ext uri="{FF2B5EF4-FFF2-40B4-BE49-F238E27FC236}">
                <a16:creationId xmlns:a16="http://schemas.microsoft.com/office/drawing/2014/main" id="{7DE99CFA-70C2-9B43-B751-7B0444EE535D}"/>
              </a:ext>
            </a:extLst>
          </p:cNvPr>
          <p:cNvSpPr>
            <a:spLocks/>
          </p:cNvSpPr>
          <p:nvPr/>
        </p:nvSpPr>
        <p:spPr bwMode="auto">
          <a:xfrm flipH="1">
            <a:off x="8120821" y="259701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4" name="Group 47">
            <a:extLst>
              <a:ext uri="{FF2B5EF4-FFF2-40B4-BE49-F238E27FC236}">
                <a16:creationId xmlns:a16="http://schemas.microsoft.com/office/drawing/2014/main" id="{207449D9-5A1F-5649-A266-919B61BC51A3}"/>
              </a:ext>
            </a:extLst>
          </p:cNvPr>
          <p:cNvGrpSpPr>
            <a:grpSpLocks/>
          </p:cNvGrpSpPr>
          <p:nvPr/>
        </p:nvGrpSpPr>
        <p:grpSpPr bwMode="auto">
          <a:xfrm>
            <a:off x="8844721" y="2114410"/>
            <a:ext cx="754063" cy="714375"/>
            <a:chOff x="1645" y="272"/>
            <a:chExt cx="475" cy="450"/>
          </a:xfrm>
        </p:grpSpPr>
        <p:sp>
          <p:nvSpPr>
            <p:cNvPr id="266" name="Rectangle 48">
              <a:extLst>
                <a:ext uri="{FF2B5EF4-FFF2-40B4-BE49-F238E27FC236}">
                  <a16:creationId xmlns:a16="http://schemas.microsoft.com/office/drawing/2014/main" id="{89514FFD-273C-5147-916A-9C739C9AE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7" name="Text Box 49">
              <a:extLst>
                <a:ext uri="{FF2B5EF4-FFF2-40B4-BE49-F238E27FC236}">
                  <a16:creationId xmlns:a16="http://schemas.microsoft.com/office/drawing/2014/main" id="{6723362B-8F17-E747-9DFA-66010D5BAC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68" name="Text Box 50">
              <a:extLst>
                <a:ext uri="{FF2B5EF4-FFF2-40B4-BE49-F238E27FC236}">
                  <a16:creationId xmlns:a16="http://schemas.microsoft.com/office/drawing/2014/main" id="{F928449F-C7A9-1546-9C40-35F3BAA45E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72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sp>
        <p:nvSpPr>
          <p:cNvPr id="245" name="Freeform 51">
            <a:extLst>
              <a:ext uri="{FF2B5EF4-FFF2-40B4-BE49-F238E27FC236}">
                <a16:creationId xmlns:a16="http://schemas.microsoft.com/office/drawing/2014/main" id="{AA04EF99-94C0-2148-AA70-D2970F6E6E46}"/>
              </a:ext>
            </a:extLst>
          </p:cNvPr>
          <p:cNvSpPr>
            <a:spLocks/>
          </p:cNvSpPr>
          <p:nvPr/>
        </p:nvSpPr>
        <p:spPr bwMode="auto">
          <a:xfrm flipH="1" flipV="1">
            <a:off x="8143046" y="3432035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246" name="Group 52">
            <a:extLst>
              <a:ext uri="{FF2B5EF4-FFF2-40B4-BE49-F238E27FC236}">
                <a16:creationId xmlns:a16="http://schemas.microsoft.com/office/drawing/2014/main" id="{AB1E8548-F881-3D4B-A677-19458575B71B}"/>
              </a:ext>
            </a:extLst>
          </p:cNvPr>
          <p:cNvGrpSpPr>
            <a:grpSpLocks/>
          </p:cNvGrpSpPr>
          <p:nvPr/>
        </p:nvGrpSpPr>
        <p:grpSpPr bwMode="auto">
          <a:xfrm>
            <a:off x="8868534" y="3365360"/>
            <a:ext cx="754063" cy="708025"/>
            <a:chOff x="2144" y="3254"/>
            <a:chExt cx="475" cy="446"/>
          </a:xfrm>
        </p:grpSpPr>
        <p:sp>
          <p:nvSpPr>
            <p:cNvPr id="262" name="Rectangle 53">
              <a:extLst>
                <a:ext uri="{FF2B5EF4-FFF2-40B4-BE49-F238E27FC236}">
                  <a16:creationId xmlns:a16="http://schemas.microsoft.com/office/drawing/2014/main" id="{CCAF72D3-A522-D54B-85CC-0CE7802D0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3" name="Text Box 54">
              <a:extLst>
                <a:ext uri="{FF2B5EF4-FFF2-40B4-BE49-F238E27FC236}">
                  <a16:creationId xmlns:a16="http://schemas.microsoft.com/office/drawing/2014/main" id="{67004EF0-0664-6249-96F6-E6744C406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264" name="Text Box 55">
              <a:extLst>
                <a:ext uri="{FF2B5EF4-FFF2-40B4-BE49-F238E27FC236}">
                  <a16:creationId xmlns:a16="http://schemas.microsoft.com/office/drawing/2014/main" id="{F7120163-D2CD-7B4F-8237-7CDF133D0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" y="325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265" name="Text Box 56">
              <a:extLst>
                <a:ext uri="{FF2B5EF4-FFF2-40B4-BE49-F238E27FC236}">
                  <a16:creationId xmlns:a16="http://schemas.microsoft.com/office/drawing/2014/main" id="{B672981B-BA70-9446-9FE4-7C8B089D41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9" y="3331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</a:t>
              </a:r>
            </a:p>
          </p:txBody>
        </p:sp>
      </p:grpSp>
      <p:pic>
        <p:nvPicPr>
          <p:cNvPr id="248" name="Picture 58" descr="BS00768_[1]">
            <a:extLst>
              <a:ext uri="{FF2B5EF4-FFF2-40B4-BE49-F238E27FC236}">
                <a16:creationId xmlns:a16="http://schemas.microsoft.com/office/drawing/2014/main" id="{5630412B-C927-FE4F-BA3D-EBD5524396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365421" y="31558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49" name="Group 59">
            <a:extLst>
              <a:ext uri="{FF2B5EF4-FFF2-40B4-BE49-F238E27FC236}">
                <a16:creationId xmlns:a16="http://schemas.microsoft.com/office/drawing/2014/main" id="{CA05ADE8-6BBE-3548-8E4F-254F16D2FED0}"/>
              </a:ext>
            </a:extLst>
          </p:cNvPr>
          <p:cNvGrpSpPr>
            <a:grpSpLocks/>
          </p:cNvGrpSpPr>
          <p:nvPr/>
        </p:nvGrpSpPr>
        <p:grpSpPr bwMode="auto">
          <a:xfrm>
            <a:off x="8628821" y="4097198"/>
            <a:ext cx="452438" cy="474663"/>
            <a:chOff x="2643" y="716"/>
            <a:chExt cx="285" cy="299"/>
          </a:xfrm>
        </p:grpSpPr>
        <p:sp>
          <p:nvSpPr>
            <p:cNvPr id="260" name="Text Box 60">
              <a:extLst>
                <a:ext uri="{FF2B5EF4-FFF2-40B4-BE49-F238E27FC236}">
                  <a16:creationId xmlns:a16="http://schemas.microsoft.com/office/drawing/2014/main" id="{7515D35F-082C-834B-8B82-EDC0267A4D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1" name="Text Box 61">
              <a:extLst>
                <a:ext uri="{FF2B5EF4-FFF2-40B4-BE49-F238E27FC236}">
                  <a16:creationId xmlns:a16="http://schemas.microsoft.com/office/drawing/2014/main" id="{0323DED8-DBB5-A447-A69A-8618C7EA10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-</a:t>
              </a:r>
            </a:p>
          </p:txBody>
        </p:sp>
      </p:grpSp>
      <p:pic>
        <p:nvPicPr>
          <p:cNvPr id="251" name="Picture 63" descr="BS00768_[1]">
            <a:extLst>
              <a:ext uri="{FF2B5EF4-FFF2-40B4-BE49-F238E27FC236}">
                <a16:creationId xmlns:a16="http://schemas.microsoft.com/office/drawing/2014/main" id="{704F2548-B402-D343-A7F0-B9E3DBE18F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116184" y="430306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2" name="Text Box 64">
            <a:extLst>
              <a:ext uri="{FF2B5EF4-FFF2-40B4-BE49-F238E27FC236}">
                <a16:creationId xmlns:a16="http://schemas.microsoft.com/office/drawing/2014/main" id="{A7E10D4A-19BB-6543-BC7F-0495AE123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5974" y="3639998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sp>
        <p:nvSpPr>
          <p:cNvPr id="253" name="Line 65">
            <a:extLst>
              <a:ext uri="{FF2B5EF4-FFF2-40B4-BE49-F238E27FC236}">
                <a16:creationId xmlns:a16="http://schemas.microsoft.com/office/drawing/2014/main" id="{E2786FB4-957F-7B46-A134-64D2A9099ED7}"/>
              </a:ext>
            </a:extLst>
          </p:cNvPr>
          <p:cNvSpPr>
            <a:spLocks noChangeShapeType="1"/>
          </p:cNvSpPr>
          <p:nvPr/>
        </p:nvSpPr>
        <p:spPr bwMode="auto">
          <a:xfrm>
            <a:off x="9609896" y="2601773"/>
            <a:ext cx="50641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54" name="Text Box 66">
            <a:extLst>
              <a:ext uri="{FF2B5EF4-FFF2-40B4-BE49-F238E27FC236}">
                <a16:creationId xmlns:a16="http://schemas.microsoft.com/office/drawing/2014/main" id="{C5832857-87AB-5041-9D63-DB19AECC5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03609" y="239539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m</a:t>
            </a:r>
          </a:p>
        </p:txBody>
      </p:sp>
      <p:pic>
        <p:nvPicPr>
          <p:cNvPr id="255" name="Picture 67" descr="Bob">
            <a:extLst>
              <a:ext uri="{FF2B5EF4-FFF2-40B4-BE49-F238E27FC236}">
                <a16:creationId xmlns:a16="http://schemas.microsoft.com/office/drawing/2014/main" id="{5045B734-7259-3046-A38E-F20FEAFE08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7884" y="3039923"/>
            <a:ext cx="642938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" name="Text Box 68">
            <a:extLst>
              <a:ext uri="{FF2B5EF4-FFF2-40B4-BE49-F238E27FC236}">
                <a16:creationId xmlns:a16="http://schemas.microsoft.com/office/drawing/2014/main" id="{3E4F1AE1-4DF6-A146-8288-D083ABA61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6509" y="2208073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257" name="Group 69">
            <a:extLst>
              <a:ext uri="{FF2B5EF4-FFF2-40B4-BE49-F238E27FC236}">
                <a16:creationId xmlns:a16="http://schemas.microsoft.com/office/drawing/2014/main" id="{6AC5A6DE-0109-644D-8115-C3E201D8D2D3}"/>
              </a:ext>
            </a:extLst>
          </p:cNvPr>
          <p:cNvGrpSpPr>
            <a:grpSpLocks/>
          </p:cNvGrpSpPr>
          <p:nvPr/>
        </p:nvGrpSpPr>
        <p:grpSpPr bwMode="auto">
          <a:xfrm>
            <a:off x="7698546" y="3682860"/>
            <a:ext cx="969963" cy="527050"/>
            <a:chOff x="3501" y="648"/>
            <a:chExt cx="611" cy="332"/>
          </a:xfrm>
        </p:grpSpPr>
        <p:sp>
          <p:nvSpPr>
            <p:cNvPr id="258" name="Text Box 70">
              <a:extLst>
                <a:ext uri="{FF2B5EF4-FFF2-40B4-BE49-F238E27FC236}">
                  <a16:creationId xmlns:a16="http://schemas.microsoft.com/office/drawing/2014/main" id="{3F2A083A-A8E3-9845-A9A5-F7ACDE4C2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259" name="Text Box 71">
              <a:extLst>
                <a:ext uri="{FF2B5EF4-FFF2-40B4-BE49-F238E27FC236}">
                  <a16:creationId xmlns:a16="http://schemas.microsoft.com/office/drawing/2014/main" id="{4CB67453-F7BA-264E-AF15-8E0F01A7D3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221" name="Picture 9" descr="BS00592_[1]">
            <a:extLst>
              <a:ext uri="{FF2B5EF4-FFF2-40B4-BE49-F238E27FC236}">
                <a16:creationId xmlns:a16="http://schemas.microsoft.com/office/drawing/2014/main" id="{269569C0-0F8C-3947-95A7-605BC08D45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475" y="2867025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899682B5-A8C2-0C4E-8879-4830396806FE}"/>
              </a:ext>
            </a:extLst>
          </p:cNvPr>
          <p:cNvGrpSpPr/>
          <p:nvPr/>
        </p:nvGrpSpPr>
        <p:grpSpPr>
          <a:xfrm>
            <a:off x="4161184" y="2928730"/>
            <a:ext cx="389850" cy="584775"/>
            <a:chOff x="9846364" y="1192696"/>
            <a:chExt cx="389850" cy="584775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F6CCB7A-264F-5147-8F07-12CBBF002BB1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7DC78BD-0454-BA48-A9E6-43B885EB2B74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grpSp>
        <p:nvGrpSpPr>
          <p:cNvPr id="288" name="Group 287">
            <a:extLst>
              <a:ext uri="{FF2B5EF4-FFF2-40B4-BE49-F238E27FC236}">
                <a16:creationId xmlns:a16="http://schemas.microsoft.com/office/drawing/2014/main" id="{DDD79F7A-72D1-0448-B4D5-0C28EC6E5181}"/>
              </a:ext>
            </a:extLst>
          </p:cNvPr>
          <p:cNvGrpSpPr/>
          <p:nvPr/>
        </p:nvGrpSpPr>
        <p:grpSpPr>
          <a:xfrm>
            <a:off x="7981121" y="2908854"/>
            <a:ext cx="344557" cy="584775"/>
            <a:chOff x="9859617" y="1179444"/>
            <a:chExt cx="344557" cy="584775"/>
          </a:xfrm>
        </p:grpSpPr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2C228A61-3219-9A4D-9195-FB9653EE0B26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0" name="TextBox 289">
              <a:extLst>
                <a:ext uri="{FF2B5EF4-FFF2-40B4-BE49-F238E27FC236}">
                  <a16:creationId xmlns:a16="http://schemas.microsoft.com/office/drawing/2014/main" id="{D05F3754-154C-1648-B8E1-0BD1733AEF59}"/>
                </a:ext>
              </a:extLst>
            </p:cNvPr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-</a:t>
              </a:r>
            </a:p>
          </p:txBody>
        </p:sp>
      </p:grpSp>
      <p:sp>
        <p:nvSpPr>
          <p:cNvPr id="72" name="Text Box 3">
            <a:extLst>
              <a:ext uri="{FF2B5EF4-FFF2-40B4-BE49-F238E27FC236}">
                <a16:creationId xmlns:a16="http://schemas.microsoft.com/office/drawing/2014/main" id="{A7DDBE4A-929E-B642-9DAE-D762CC72B5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1774" y="4401586"/>
            <a:ext cx="5340626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C00000"/>
                </a:solidFill>
                <a:latin typeface="+mn-lt"/>
              </a:rPr>
              <a:t>Bob: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uses his private key to decrypt and recover K</a:t>
            </a:r>
            <a:r>
              <a:rPr lang="en-US" sz="2400" baseline="-25000" dirty="0">
                <a:latin typeface="+mn-lt"/>
              </a:rPr>
              <a:t>S</a:t>
            </a:r>
          </a:p>
          <a:p>
            <a:pPr marL="396875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400" dirty="0">
                <a:latin typeface="+mn-lt"/>
              </a:rPr>
              <a:t>uses 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 to decrypt K</a:t>
            </a:r>
            <a:r>
              <a:rPr lang="en-US" sz="2400" baseline="-25000" dirty="0">
                <a:latin typeface="+mn-lt"/>
              </a:rPr>
              <a:t>S</a:t>
            </a:r>
            <a:r>
              <a:rPr lang="en-US" sz="2400" dirty="0">
                <a:latin typeface="+mn-lt"/>
              </a:rPr>
              <a:t>(m) to recover m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B599435D-2271-B04F-8D13-401A6A3326A7}"/>
              </a:ext>
            </a:extLst>
          </p:cNvPr>
          <p:cNvCxnSpPr/>
          <p:nvPr/>
        </p:nvCxnSpPr>
        <p:spPr>
          <a:xfrm>
            <a:off x="3220100" y="20109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673F6EEE-3FCB-2E46-81EC-273DBA6A63E6}"/>
              </a:ext>
            </a:extLst>
          </p:cNvPr>
          <p:cNvCxnSpPr>
            <a:cxnSpLocks/>
          </p:cNvCxnSpPr>
          <p:nvPr/>
        </p:nvCxnSpPr>
        <p:spPr>
          <a:xfrm flipH="1" flipV="1">
            <a:off x="3238142" y="4070415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0DE79B7-8500-4745-B5AF-25A00ABB9212}"/>
              </a:ext>
            </a:extLst>
          </p:cNvPr>
          <p:cNvCxnSpPr>
            <a:cxnSpLocks/>
          </p:cNvCxnSpPr>
          <p:nvPr/>
        </p:nvCxnSpPr>
        <p:spPr>
          <a:xfrm flipH="1" flipV="1">
            <a:off x="9042677" y="40683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3754BF6D-ACBE-CC49-BE4E-4102462FD5E0}"/>
              </a:ext>
            </a:extLst>
          </p:cNvPr>
          <p:cNvCxnSpPr>
            <a:cxnSpLocks/>
          </p:cNvCxnSpPr>
          <p:nvPr/>
        </p:nvCxnSpPr>
        <p:spPr>
          <a:xfrm flipV="1">
            <a:off x="8996473" y="2842592"/>
            <a:ext cx="0" cy="70294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19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Freeform 6">
            <a:extLst>
              <a:ext uri="{FF2B5EF4-FFF2-40B4-BE49-F238E27FC236}">
                <a16:creationId xmlns:a16="http://schemas.microsoft.com/office/drawing/2014/main" id="{FBC63C4B-D566-DA4A-87E0-DB2C8EA31F36}"/>
              </a:ext>
            </a:extLst>
          </p:cNvPr>
          <p:cNvSpPr>
            <a:spLocks/>
          </p:cNvSpPr>
          <p:nvPr/>
        </p:nvSpPr>
        <p:spPr bwMode="auto">
          <a:xfrm>
            <a:off x="5566811" y="3122817"/>
            <a:ext cx="1335088" cy="782638"/>
          </a:xfrm>
          <a:custGeom>
            <a:avLst/>
            <a:gdLst>
              <a:gd name="T0" fmla="*/ 0 w 2135"/>
              <a:gd name="T1" fmla="*/ 0 h 1662"/>
              <a:gd name="T2" fmla="*/ 0 w 2135"/>
              <a:gd name="T3" fmla="*/ 0 h 1662"/>
              <a:gd name="T4" fmla="*/ 2 w 2135"/>
              <a:gd name="T5" fmla="*/ 0 h 1662"/>
              <a:gd name="T6" fmla="*/ 4 w 2135"/>
              <a:gd name="T7" fmla="*/ 0 h 1662"/>
              <a:gd name="T8" fmla="*/ 7 w 2135"/>
              <a:gd name="T9" fmla="*/ 0 h 1662"/>
              <a:gd name="T10" fmla="*/ 7 w 2135"/>
              <a:gd name="T11" fmla="*/ 1 h 1662"/>
              <a:gd name="T12" fmla="*/ 6 w 2135"/>
              <a:gd name="T13" fmla="*/ 1 h 1662"/>
              <a:gd name="T14" fmla="*/ 3 w 2135"/>
              <a:gd name="T15" fmla="*/ 1 h 1662"/>
              <a:gd name="T16" fmla="*/ 2 w 2135"/>
              <a:gd name="T17" fmla="*/ 1 h 1662"/>
              <a:gd name="T18" fmla="*/ 1 w 2135"/>
              <a:gd name="T19" fmla="*/ 1 h 1662"/>
              <a:gd name="T20" fmla="*/ 0 w 2135"/>
              <a:gd name="T21" fmla="*/ 0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Secure e-mail: </a:t>
            </a:r>
            <a:r>
              <a:rPr lang="en-US" sz="4000" b="0" dirty="0">
                <a:latin typeface="+mn-lt"/>
              </a:rPr>
              <a:t>integrity, authentication</a:t>
            </a:r>
            <a:endParaRPr lang="en-US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C0184D23-BADA-4B4B-BE0B-C3C7FA37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77" y="1195663"/>
            <a:ext cx="103328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2800" dirty="0">
                <a:solidFill>
                  <a:srgbClr val="000000"/>
                </a:solidFill>
                <a:latin typeface="+mn-lt"/>
              </a:rPr>
              <a:t> Alice wants to send m to Bob, with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message integrity</a:t>
            </a:r>
            <a:r>
              <a:rPr lang="en-US" sz="2800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2800" i="1" dirty="0">
                <a:solidFill>
                  <a:srgbClr val="0012A0"/>
                </a:solidFill>
                <a:latin typeface="+mn-lt"/>
              </a:rPr>
              <a:t>authentication</a:t>
            </a:r>
          </a:p>
        </p:txBody>
      </p:sp>
      <p:sp>
        <p:nvSpPr>
          <p:cNvPr id="136" name="Freeform 6">
            <a:extLst>
              <a:ext uri="{FF2B5EF4-FFF2-40B4-BE49-F238E27FC236}">
                <a16:creationId xmlns:a16="http://schemas.microsoft.com/office/drawing/2014/main" id="{CDA921A5-71DA-7348-AE6D-AED7C35DE016}"/>
              </a:ext>
            </a:extLst>
          </p:cNvPr>
          <p:cNvSpPr>
            <a:spLocks/>
          </p:cNvSpPr>
          <p:nvPr/>
        </p:nvSpPr>
        <p:spPr bwMode="auto">
          <a:xfrm>
            <a:off x="3309110" y="2832340"/>
            <a:ext cx="989013" cy="406400"/>
          </a:xfrm>
          <a:custGeom>
            <a:avLst/>
            <a:gdLst>
              <a:gd name="T0" fmla="*/ 0 w 476"/>
              <a:gd name="T1" fmla="*/ 0 h 247"/>
              <a:gd name="T2" fmla="*/ 2393 w 476"/>
              <a:gd name="T3" fmla="*/ 0 h 247"/>
              <a:gd name="T4" fmla="*/ 2393 w 476"/>
              <a:gd name="T5" fmla="*/ 306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40" name="Group 10">
            <a:extLst>
              <a:ext uri="{FF2B5EF4-FFF2-40B4-BE49-F238E27FC236}">
                <a16:creationId xmlns:a16="http://schemas.microsoft.com/office/drawing/2014/main" id="{B1196B51-736F-8E46-8418-FE6F04F3A461}"/>
              </a:ext>
            </a:extLst>
          </p:cNvPr>
          <p:cNvGrpSpPr>
            <a:grpSpLocks/>
          </p:cNvGrpSpPr>
          <p:nvPr/>
        </p:nvGrpSpPr>
        <p:grpSpPr bwMode="auto">
          <a:xfrm>
            <a:off x="2583623" y="2337040"/>
            <a:ext cx="754063" cy="725487"/>
            <a:chOff x="694" y="2457"/>
            <a:chExt cx="475" cy="457"/>
          </a:xfrm>
        </p:grpSpPr>
        <p:sp>
          <p:nvSpPr>
            <p:cNvPr id="194" name="Rectangle 11">
              <a:extLst>
                <a:ext uri="{FF2B5EF4-FFF2-40B4-BE49-F238E27FC236}">
                  <a16:creationId xmlns:a16="http://schemas.microsoft.com/office/drawing/2014/main" id="{B72747EF-1E71-3E40-8C3C-2E9F6651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" y="2631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95" name="Text Box 12">
              <a:extLst>
                <a:ext uri="{FF2B5EF4-FFF2-40B4-BE49-F238E27FC236}">
                  <a16:creationId xmlns:a16="http://schemas.microsoft.com/office/drawing/2014/main" id="{17E01511-07B5-7443-9FD2-D645D53E5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H( )</a:t>
              </a:r>
            </a:p>
          </p:txBody>
        </p:sp>
        <p:sp>
          <p:nvSpPr>
            <p:cNvPr id="196" name="Text Box 13">
              <a:extLst>
                <a:ext uri="{FF2B5EF4-FFF2-40B4-BE49-F238E27FC236}">
                  <a16:creationId xmlns:a16="http://schemas.microsoft.com/office/drawing/2014/main" id="{F03AD360-92D5-3F4F-8585-69010AEE61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" y="245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141" name="Group 14">
            <a:extLst>
              <a:ext uri="{FF2B5EF4-FFF2-40B4-BE49-F238E27FC236}">
                <a16:creationId xmlns:a16="http://schemas.microsoft.com/office/drawing/2014/main" id="{1CEC776F-D8ED-BB41-8EF6-1269CC17444E}"/>
              </a:ext>
            </a:extLst>
          </p:cNvPr>
          <p:cNvGrpSpPr>
            <a:grpSpLocks/>
          </p:cNvGrpSpPr>
          <p:nvPr/>
        </p:nvGrpSpPr>
        <p:grpSpPr bwMode="auto">
          <a:xfrm>
            <a:off x="3450398" y="2330690"/>
            <a:ext cx="757238" cy="714375"/>
            <a:chOff x="1541" y="1987"/>
            <a:chExt cx="477" cy="450"/>
          </a:xfrm>
        </p:grpSpPr>
        <p:sp>
          <p:nvSpPr>
            <p:cNvPr id="190" name="Rectangle 15">
              <a:extLst>
                <a:ext uri="{FF2B5EF4-FFF2-40B4-BE49-F238E27FC236}">
                  <a16:creationId xmlns:a16="http://schemas.microsoft.com/office/drawing/2014/main" id="{F52BF3D6-1581-884C-89DC-1E614FC10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2154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91" name="Text Box 16">
              <a:extLst>
                <a:ext uri="{FF2B5EF4-FFF2-40B4-BE49-F238E27FC236}">
                  <a16:creationId xmlns:a16="http://schemas.microsoft.com/office/drawing/2014/main" id="{64158AE7-EA74-484B-A754-66C43ED40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 )</a:t>
              </a:r>
            </a:p>
          </p:txBody>
        </p:sp>
        <p:sp>
          <p:nvSpPr>
            <p:cNvPr id="192" name="Text Box 17">
              <a:extLst>
                <a:ext uri="{FF2B5EF4-FFF2-40B4-BE49-F238E27FC236}">
                  <a16:creationId xmlns:a16="http://schemas.microsoft.com/office/drawing/2014/main" id="{6B7AE559-51F7-8142-B595-D975A8D3F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198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  <p:sp>
          <p:nvSpPr>
            <p:cNvPr id="193" name="Text Box 18">
              <a:extLst>
                <a:ext uri="{FF2B5EF4-FFF2-40B4-BE49-F238E27FC236}">
                  <a16:creationId xmlns:a16="http://schemas.microsoft.com/office/drawing/2014/main" id="{04C00144-A0CC-D44F-9A7B-DF9305B04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8" y="2088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44" name="Text Box 25">
            <a:extLst>
              <a:ext uri="{FF2B5EF4-FFF2-40B4-BE49-F238E27FC236}">
                <a16:creationId xmlns:a16="http://schemas.microsoft.com/office/drawing/2014/main" id="{28C8EE68-97D2-FF41-82E7-33345F4D0B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6648" y="2526444"/>
            <a:ext cx="879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H(m )</a:t>
            </a:r>
          </a:p>
        </p:txBody>
      </p:sp>
      <p:grpSp>
        <p:nvGrpSpPr>
          <p:cNvPr id="145" name="Group 26">
            <a:extLst>
              <a:ext uri="{FF2B5EF4-FFF2-40B4-BE49-F238E27FC236}">
                <a16:creationId xmlns:a16="http://schemas.microsoft.com/office/drawing/2014/main" id="{93CCA24C-103C-B648-995F-03EEF3C4F57E}"/>
              </a:ext>
            </a:extLst>
          </p:cNvPr>
          <p:cNvGrpSpPr>
            <a:grpSpLocks/>
          </p:cNvGrpSpPr>
          <p:nvPr/>
        </p:nvGrpSpPr>
        <p:grpSpPr bwMode="auto">
          <a:xfrm>
            <a:off x="4188585" y="2308465"/>
            <a:ext cx="1135063" cy="528637"/>
            <a:chOff x="1778" y="2485"/>
            <a:chExt cx="715" cy="333"/>
          </a:xfrm>
        </p:grpSpPr>
        <p:sp>
          <p:nvSpPr>
            <p:cNvPr id="184" name="Text Box 27">
              <a:extLst>
                <a:ext uri="{FF2B5EF4-FFF2-40B4-BE49-F238E27FC236}">
                  <a16:creationId xmlns:a16="http://schemas.microsoft.com/office/drawing/2014/main" id="{A3D2B037-32E5-0245-B8DB-4BC6E843B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(H(m))</a:t>
              </a:r>
            </a:p>
          </p:txBody>
        </p:sp>
        <p:sp>
          <p:nvSpPr>
            <p:cNvPr id="185" name="Text Box 28">
              <a:extLst>
                <a:ext uri="{FF2B5EF4-FFF2-40B4-BE49-F238E27FC236}">
                  <a16:creationId xmlns:a16="http://schemas.microsoft.com/office/drawing/2014/main" id="{C74CE97F-6B91-2347-AED1-5D20B19B8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46" name="Freeform 29">
            <a:extLst>
              <a:ext uri="{FF2B5EF4-FFF2-40B4-BE49-F238E27FC236}">
                <a16:creationId xmlns:a16="http://schemas.microsoft.com/office/drawing/2014/main" id="{2A230624-3976-DB45-8513-B2545A36D998}"/>
              </a:ext>
            </a:extLst>
          </p:cNvPr>
          <p:cNvSpPr>
            <a:spLocks/>
          </p:cNvSpPr>
          <p:nvPr/>
        </p:nvSpPr>
        <p:spPr bwMode="auto">
          <a:xfrm flipV="1">
            <a:off x="2361373" y="3667365"/>
            <a:ext cx="1958975" cy="392112"/>
          </a:xfrm>
          <a:custGeom>
            <a:avLst/>
            <a:gdLst>
              <a:gd name="T0" fmla="*/ 0 w 476"/>
              <a:gd name="T1" fmla="*/ 0 h 247"/>
              <a:gd name="T2" fmla="*/ 144489 w 476"/>
              <a:gd name="T3" fmla="*/ 0 h 247"/>
              <a:gd name="T4" fmla="*/ 144489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47" name="Text Box 30">
            <a:extLst>
              <a:ext uri="{FF2B5EF4-FFF2-40B4-BE49-F238E27FC236}">
                <a16:creationId xmlns:a16="http://schemas.microsoft.com/office/drawing/2014/main" id="{DABE9DE2-F780-A849-ACDB-E6DCB3DE9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9873" y="260532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48" name="Group 31">
            <a:extLst>
              <a:ext uri="{FF2B5EF4-FFF2-40B4-BE49-F238E27FC236}">
                <a16:creationId xmlns:a16="http://schemas.microsoft.com/office/drawing/2014/main" id="{AE3F8545-E084-314A-8920-DB75ABBDE231}"/>
              </a:ext>
            </a:extLst>
          </p:cNvPr>
          <p:cNvGrpSpPr>
            <a:grpSpLocks/>
          </p:cNvGrpSpPr>
          <p:nvPr/>
        </p:nvGrpSpPr>
        <p:grpSpPr bwMode="auto">
          <a:xfrm>
            <a:off x="3375785" y="1954453"/>
            <a:ext cx="452438" cy="474662"/>
            <a:chOff x="2637" y="716"/>
            <a:chExt cx="285" cy="299"/>
          </a:xfrm>
        </p:grpSpPr>
        <p:sp>
          <p:nvSpPr>
            <p:cNvPr id="182" name="Text Box 32">
              <a:extLst>
                <a:ext uri="{FF2B5EF4-FFF2-40B4-BE49-F238E27FC236}">
                  <a16:creationId xmlns:a16="http://schemas.microsoft.com/office/drawing/2014/main" id="{B887643E-BB09-9446-90F6-D0C86C8BB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83" name="Text Box 33">
              <a:extLst>
                <a:ext uri="{FF2B5EF4-FFF2-40B4-BE49-F238E27FC236}">
                  <a16:creationId xmlns:a16="http://schemas.microsoft.com/office/drawing/2014/main" id="{8F0C780B-DA5F-D24E-B125-07B75293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pic>
        <p:nvPicPr>
          <p:cNvPr id="150" name="Picture 35" descr="BS00768_[1]">
            <a:extLst>
              <a:ext uri="{FF2B5EF4-FFF2-40B4-BE49-F238E27FC236}">
                <a16:creationId xmlns:a16="http://schemas.microsoft.com/office/drawing/2014/main" id="{760325FC-447E-8641-AB3A-BD40E45D3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3872131" y="2141182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Picture 36" descr="Alice">
            <a:extLst>
              <a:ext uri="{FF2B5EF4-FFF2-40B4-BE49-F238E27FC236}">
                <a16:creationId xmlns:a16="http://schemas.microsoft.com/office/drawing/2014/main" id="{6F5B1E19-8AE4-3D48-9575-18C992853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485" y="3141903"/>
            <a:ext cx="5270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6" name="Freeform 41">
            <a:extLst>
              <a:ext uri="{FF2B5EF4-FFF2-40B4-BE49-F238E27FC236}">
                <a16:creationId xmlns:a16="http://schemas.microsoft.com/office/drawing/2014/main" id="{55D2C347-2435-E542-9A79-6C7EC0C3DA50}"/>
              </a:ext>
            </a:extLst>
          </p:cNvPr>
          <p:cNvSpPr>
            <a:spLocks/>
          </p:cNvSpPr>
          <p:nvPr/>
        </p:nvSpPr>
        <p:spPr bwMode="auto">
          <a:xfrm flipH="1">
            <a:off x="8131245" y="2840278"/>
            <a:ext cx="755650" cy="392112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57" name="Freeform 42">
            <a:extLst>
              <a:ext uri="{FF2B5EF4-FFF2-40B4-BE49-F238E27FC236}">
                <a16:creationId xmlns:a16="http://schemas.microsoft.com/office/drawing/2014/main" id="{F807986B-0E09-FA4F-881F-706A27FC7F4F}"/>
              </a:ext>
            </a:extLst>
          </p:cNvPr>
          <p:cNvSpPr>
            <a:spLocks/>
          </p:cNvSpPr>
          <p:nvPr/>
        </p:nvSpPr>
        <p:spPr bwMode="auto">
          <a:xfrm flipH="1" flipV="1">
            <a:off x="8153470" y="3675303"/>
            <a:ext cx="755650" cy="392112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pic>
        <p:nvPicPr>
          <p:cNvPr id="158" name="Picture 43" descr="Bob">
            <a:extLst>
              <a:ext uri="{FF2B5EF4-FFF2-40B4-BE49-F238E27FC236}">
                <a16:creationId xmlns:a16="http://schemas.microsoft.com/office/drawing/2014/main" id="{9D615FF3-AB81-364A-B0F1-CE29503EA2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1858" y="3065703"/>
            <a:ext cx="642938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" name="Text Box 44">
            <a:extLst>
              <a:ext uri="{FF2B5EF4-FFF2-40B4-BE49-F238E27FC236}">
                <a16:creationId xmlns:a16="http://schemas.microsoft.com/office/drawing/2014/main" id="{A018A8CA-0525-644A-A2E4-930729E29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4660" y="3836607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60" name="Group 45">
            <a:extLst>
              <a:ext uri="{FF2B5EF4-FFF2-40B4-BE49-F238E27FC236}">
                <a16:creationId xmlns:a16="http://schemas.microsoft.com/office/drawing/2014/main" id="{B070881B-8F76-0241-BBB2-17A2761F93FB}"/>
              </a:ext>
            </a:extLst>
          </p:cNvPr>
          <p:cNvGrpSpPr>
            <a:grpSpLocks/>
          </p:cNvGrpSpPr>
          <p:nvPr/>
        </p:nvGrpSpPr>
        <p:grpSpPr bwMode="auto">
          <a:xfrm>
            <a:off x="8894833" y="2319578"/>
            <a:ext cx="757238" cy="708025"/>
            <a:chOff x="1541" y="1993"/>
            <a:chExt cx="477" cy="446"/>
          </a:xfrm>
        </p:grpSpPr>
        <p:sp>
          <p:nvSpPr>
            <p:cNvPr id="178" name="Rectangle 46">
              <a:extLst>
                <a:ext uri="{FF2B5EF4-FFF2-40B4-BE49-F238E27FC236}">
                  <a16:creationId xmlns:a16="http://schemas.microsoft.com/office/drawing/2014/main" id="{3DF6F0B4-7F43-4A45-8970-FF3F4C695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2154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79" name="Text Box 47">
              <a:extLst>
                <a:ext uri="{FF2B5EF4-FFF2-40B4-BE49-F238E27FC236}">
                  <a16:creationId xmlns:a16="http://schemas.microsoft.com/office/drawing/2014/main" id="{E2BA66F0-5B75-A94B-BFB8-3C2B9F313A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 )</a:t>
              </a:r>
            </a:p>
          </p:txBody>
        </p:sp>
        <p:sp>
          <p:nvSpPr>
            <p:cNvPr id="180" name="Text Box 48">
              <a:extLst>
                <a:ext uri="{FF2B5EF4-FFF2-40B4-BE49-F238E27FC236}">
                  <a16:creationId xmlns:a16="http://schemas.microsoft.com/office/drawing/2014/main" id="{1F49BE10-EA54-A84A-8F6A-25C464DFC1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1993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  <p:sp>
          <p:nvSpPr>
            <p:cNvPr id="181" name="Text Box 49">
              <a:extLst>
                <a:ext uri="{FF2B5EF4-FFF2-40B4-BE49-F238E27FC236}">
                  <a16:creationId xmlns:a16="http://schemas.microsoft.com/office/drawing/2014/main" id="{2D8AEC8C-F0F2-5044-83E1-CF9E0D45A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3" y="208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pic>
        <p:nvPicPr>
          <p:cNvPr id="162" name="Picture 51" descr="BS00768_[1]">
            <a:extLst>
              <a:ext uri="{FF2B5EF4-FFF2-40B4-BE49-F238E27FC236}">
                <a16:creationId xmlns:a16="http://schemas.microsoft.com/office/drawing/2014/main" id="{211576C7-23B5-8C41-BD5B-D7E4BDB8D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601812" y="212114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3" name="Group 52">
            <a:extLst>
              <a:ext uri="{FF2B5EF4-FFF2-40B4-BE49-F238E27FC236}">
                <a16:creationId xmlns:a16="http://schemas.microsoft.com/office/drawing/2014/main" id="{0AD101C7-1262-424D-87F3-9C9E02F032E0}"/>
              </a:ext>
            </a:extLst>
          </p:cNvPr>
          <p:cNvGrpSpPr>
            <a:grpSpLocks/>
          </p:cNvGrpSpPr>
          <p:nvPr/>
        </p:nvGrpSpPr>
        <p:grpSpPr bwMode="auto">
          <a:xfrm>
            <a:off x="9096445" y="1932228"/>
            <a:ext cx="481013" cy="474662"/>
            <a:chOff x="2637" y="716"/>
            <a:chExt cx="303" cy="299"/>
          </a:xfrm>
        </p:grpSpPr>
        <p:sp>
          <p:nvSpPr>
            <p:cNvPr id="176" name="Text Box 53">
              <a:extLst>
                <a:ext uri="{FF2B5EF4-FFF2-40B4-BE49-F238E27FC236}">
                  <a16:creationId xmlns:a16="http://schemas.microsoft.com/office/drawing/2014/main" id="{4A79E822-86A5-D44B-B0B2-81E7C9CE53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77" name="Text Box 54">
              <a:extLst>
                <a:ext uri="{FF2B5EF4-FFF2-40B4-BE49-F238E27FC236}">
                  <a16:creationId xmlns:a16="http://schemas.microsoft.com/office/drawing/2014/main" id="{7A4A96DE-6FB4-D044-AD65-43209196EF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+</a:t>
              </a:r>
            </a:p>
          </p:txBody>
        </p:sp>
      </p:grpSp>
      <p:grpSp>
        <p:nvGrpSpPr>
          <p:cNvPr id="164" name="Group 55">
            <a:extLst>
              <a:ext uri="{FF2B5EF4-FFF2-40B4-BE49-F238E27FC236}">
                <a16:creationId xmlns:a16="http://schemas.microsoft.com/office/drawing/2014/main" id="{0F0A6289-FA89-A14C-897D-B2BA44609D3F}"/>
              </a:ext>
            </a:extLst>
          </p:cNvPr>
          <p:cNvGrpSpPr>
            <a:grpSpLocks/>
          </p:cNvGrpSpPr>
          <p:nvPr/>
        </p:nvGrpSpPr>
        <p:grpSpPr bwMode="auto">
          <a:xfrm>
            <a:off x="7691438" y="2234268"/>
            <a:ext cx="1135063" cy="528637"/>
            <a:chOff x="1778" y="2485"/>
            <a:chExt cx="715" cy="333"/>
          </a:xfrm>
        </p:grpSpPr>
        <p:sp>
          <p:nvSpPr>
            <p:cNvPr id="174" name="Text Box 56">
              <a:extLst>
                <a:ext uri="{FF2B5EF4-FFF2-40B4-BE49-F238E27FC236}">
                  <a16:creationId xmlns:a16="http://schemas.microsoft.com/office/drawing/2014/main" id="{65E495B1-6FD1-FB4D-8106-739D3AA587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(H(m))</a:t>
              </a:r>
            </a:p>
          </p:txBody>
        </p:sp>
        <p:sp>
          <p:nvSpPr>
            <p:cNvPr id="175" name="Text Box 57">
              <a:extLst>
                <a:ext uri="{FF2B5EF4-FFF2-40B4-BE49-F238E27FC236}">
                  <a16:creationId xmlns:a16="http://schemas.microsoft.com/office/drawing/2014/main" id="{B235E78A-2E04-B642-9500-E3AAD79EAC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65" name="Text Box 58">
            <a:extLst>
              <a:ext uri="{FF2B5EF4-FFF2-40B4-BE49-F238E27FC236}">
                <a16:creationId xmlns:a16="http://schemas.microsoft.com/office/drawing/2014/main" id="{4DA86245-D925-3446-A4D0-A81E917FB3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0133" y="4042015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66" name="Group 59">
            <a:extLst>
              <a:ext uri="{FF2B5EF4-FFF2-40B4-BE49-F238E27FC236}">
                <a16:creationId xmlns:a16="http://schemas.microsoft.com/office/drawing/2014/main" id="{A97BD907-9DC7-7041-9D34-2BBEA9A1D328}"/>
              </a:ext>
            </a:extLst>
          </p:cNvPr>
          <p:cNvGrpSpPr>
            <a:grpSpLocks/>
          </p:cNvGrpSpPr>
          <p:nvPr/>
        </p:nvGrpSpPr>
        <p:grpSpPr bwMode="auto">
          <a:xfrm>
            <a:off x="8915470" y="3532428"/>
            <a:ext cx="754063" cy="712787"/>
            <a:chOff x="694" y="2465"/>
            <a:chExt cx="475" cy="449"/>
          </a:xfrm>
        </p:grpSpPr>
        <p:sp>
          <p:nvSpPr>
            <p:cNvPr id="171" name="Rectangle 60">
              <a:extLst>
                <a:ext uri="{FF2B5EF4-FFF2-40B4-BE49-F238E27FC236}">
                  <a16:creationId xmlns:a16="http://schemas.microsoft.com/office/drawing/2014/main" id="{1D293FAC-5E22-D141-A5E4-DB02E8BB0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" y="2631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72" name="Text Box 61">
              <a:extLst>
                <a:ext uri="{FF2B5EF4-FFF2-40B4-BE49-F238E27FC236}">
                  <a16:creationId xmlns:a16="http://schemas.microsoft.com/office/drawing/2014/main" id="{A757629A-2626-2944-9DE4-3E353D0AB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H( )</a:t>
              </a:r>
            </a:p>
          </p:txBody>
        </p:sp>
        <p:sp>
          <p:nvSpPr>
            <p:cNvPr id="173" name="Text Box 62">
              <a:extLst>
                <a:ext uri="{FF2B5EF4-FFF2-40B4-BE49-F238E27FC236}">
                  <a16:creationId xmlns:a16="http://schemas.microsoft.com/office/drawing/2014/main" id="{1B39B42A-EF1C-E746-A3FD-3109C0DDE1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5" y="2465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</p:grpSp>
      <p:sp>
        <p:nvSpPr>
          <p:cNvPr id="167" name="Freeform 63">
            <a:extLst>
              <a:ext uri="{FF2B5EF4-FFF2-40B4-BE49-F238E27FC236}">
                <a16:creationId xmlns:a16="http://schemas.microsoft.com/office/drawing/2014/main" id="{4691EE9B-BA40-2640-9979-67370B5C964C}"/>
              </a:ext>
            </a:extLst>
          </p:cNvPr>
          <p:cNvSpPr>
            <a:spLocks/>
          </p:cNvSpPr>
          <p:nvPr/>
        </p:nvSpPr>
        <p:spPr bwMode="auto">
          <a:xfrm flipV="1">
            <a:off x="9696520" y="3667365"/>
            <a:ext cx="304800" cy="392112"/>
          </a:xfrm>
          <a:custGeom>
            <a:avLst/>
            <a:gdLst>
              <a:gd name="T0" fmla="*/ 0 w 476"/>
              <a:gd name="T1" fmla="*/ 0 h 247"/>
              <a:gd name="T2" fmla="*/ 2 w 476"/>
              <a:gd name="T3" fmla="*/ 0 h 247"/>
              <a:gd name="T4" fmla="*/ 2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68" name="Freeform 64">
            <a:extLst>
              <a:ext uri="{FF2B5EF4-FFF2-40B4-BE49-F238E27FC236}">
                <a16:creationId xmlns:a16="http://schemas.microsoft.com/office/drawing/2014/main" id="{B7C4584F-BF1A-0544-926F-EA048B2C95C9}"/>
              </a:ext>
            </a:extLst>
          </p:cNvPr>
          <p:cNvSpPr>
            <a:spLocks/>
          </p:cNvSpPr>
          <p:nvPr/>
        </p:nvSpPr>
        <p:spPr bwMode="auto">
          <a:xfrm>
            <a:off x="9675883" y="2791065"/>
            <a:ext cx="304800" cy="392112"/>
          </a:xfrm>
          <a:custGeom>
            <a:avLst/>
            <a:gdLst>
              <a:gd name="T0" fmla="*/ 0 w 476"/>
              <a:gd name="T1" fmla="*/ 0 h 247"/>
              <a:gd name="T2" fmla="*/ 2 w 476"/>
              <a:gd name="T3" fmla="*/ 0 h 247"/>
              <a:gd name="T4" fmla="*/ 2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sp>
        <p:nvSpPr>
          <p:cNvPr id="169" name="Text Box 65">
            <a:extLst>
              <a:ext uri="{FF2B5EF4-FFF2-40B4-BE49-F238E27FC236}">
                <a16:creationId xmlns:a16="http://schemas.microsoft.com/office/drawing/2014/main" id="{F7D43E61-3100-7A4D-BECB-A3331CE384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90828" y="3973269"/>
            <a:ext cx="8794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dirty="0">
                <a:latin typeface="Arial" charset="0"/>
                <a:cs typeface="Arial" charset="0"/>
              </a:rPr>
              <a:t>H(m )</a:t>
            </a:r>
          </a:p>
        </p:txBody>
      </p:sp>
      <p:sp>
        <p:nvSpPr>
          <p:cNvPr id="170" name="Text Box 66">
            <a:extLst>
              <a:ext uri="{FF2B5EF4-FFF2-40B4-BE49-F238E27FC236}">
                <a16:creationId xmlns:a16="http://schemas.microsoft.com/office/drawing/2014/main" id="{1C0EFBE4-3204-B04F-B170-3873C8B04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87276" y="3240592"/>
            <a:ext cx="13589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800" i="1" dirty="0">
                <a:solidFill>
                  <a:srgbClr val="C00000"/>
                </a:solidFill>
                <a:latin typeface="+mn-lt"/>
                <a:cs typeface="Arial" charset="0"/>
              </a:rPr>
              <a:t>compare</a:t>
            </a:r>
          </a:p>
        </p:txBody>
      </p: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085666D-A10E-EE47-B430-1A938BB519D5}"/>
              </a:ext>
            </a:extLst>
          </p:cNvPr>
          <p:cNvCxnSpPr/>
          <p:nvPr/>
        </p:nvCxnSpPr>
        <p:spPr>
          <a:xfrm>
            <a:off x="7040216" y="3412435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A1E527DE-00E9-2C4B-9615-EAC39E329EA7}"/>
              </a:ext>
            </a:extLst>
          </p:cNvPr>
          <p:cNvCxnSpPr/>
          <p:nvPr/>
        </p:nvCxnSpPr>
        <p:spPr>
          <a:xfrm>
            <a:off x="4611756" y="3425687"/>
            <a:ext cx="82163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Picture 44" descr="BS00592_[1]">
            <a:extLst>
              <a:ext uri="{FF2B5EF4-FFF2-40B4-BE49-F238E27FC236}">
                <a16:creationId xmlns:a16="http://schemas.microsoft.com/office/drawing/2014/main" id="{0FF485A1-9AA8-6F46-8E70-E9180D86E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615" y="3033435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1" name="Text Box 45">
            <a:extLst>
              <a:ext uri="{FF2B5EF4-FFF2-40B4-BE49-F238E27FC236}">
                <a16:creationId xmlns:a16="http://schemas.microsoft.com/office/drawing/2014/main" id="{A0823A43-D9DE-EE42-9EF2-86A11D7DC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1598" y="3327122"/>
            <a:ext cx="96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Internet</a:t>
            </a:r>
          </a:p>
        </p:txBody>
      </p:sp>
      <p:pic>
        <p:nvPicPr>
          <p:cNvPr id="202" name="Picture 9" descr="BS00592_[1]">
            <a:extLst>
              <a:ext uri="{FF2B5EF4-FFF2-40B4-BE49-F238E27FC236}">
                <a16:creationId xmlns:a16="http://schemas.microsoft.com/office/drawing/2014/main" id="{A2B82B1E-9E0E-AB4B-B59F-4CA155D8C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718" y="3092312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3" name="Group 202">
            <a:extLst>
              <a:ext uri="{FF2B5EF4-FFF2-40B4-BE49-F238E27FC236}">
                <a16:creationId xmlns:a16="http://schemas.microsoft.com/office/drawing/2014/main" id="{9439904A-0258-7748-9607-D776C1BE1087}"/>
              </a:ext>
            </a:extLst>
          </p:cNvPr>
          <p:cNvGrpSpPr/>
          <p:nvPr/>
        </p:nvGrpSpPr>
        <p:grpSpPr>
          <a:xfrm>
            <a:off x="4121427" y="3167270"/>
            <a:ext cx="389850" cy="584775"/>
            <a:chOff x="9846364" y="1192696"/>
            <a:chExt cx="389850" cy="584775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19D590E-EFF1-A644-A99A-1437DDD19481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1E886BA-0494-1D48-8DAF-FFC6CAA40B1D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FBA5BB77-4637-7B46-B5F9-DEC82AA783F5}"/>
              </a:ext>
            </a:extLst>
          </p:cNvPr>
          <p:cNvGrpSpPr/>
          <p:nvPr/>
        </p:nvGrpSpPr>
        <p:grpSpPr>
          <a:xfrm>
            <a:off x="7967869" y="3147393"/>
            <a:ext cx="344557" cy="584775"/>
            <a:chOff x="9859617" y="1179444"/>
            <a:chExt cx="344557" cy="584775"/>
          </a:xfrm>
        </p:grpSpPr>
        <p:sp>
          <p:nvSpPr>
            <p:cNvPr id="207" name="Oval 206">
              <a:extLst>
                <a:ext uri="{FF2B5EF4-FFF2-40B4-BE49-F238E27FC236}">
                  <a16:creationId xmlns:a16="http://schemas.microsoft.com/office/drawing/2014/main" id="{00E3AD53-6CBA-714C-953B-F457A80C2164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76DC195A-36B0-204A-AEA3-DF2912DA03EB}"/>
                </a:ext>
              </a:extLst>
            </p:cNvPr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-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F5A402-7072-5B45-AFAB-4AEC66343ECF}"/>
              </a:ext>
            </a:extLst>
          </p:cNvPr>
          <p:cNvCxnSpPr/>
          <p:nvPr/>
        </p:nvCxnSpPr>
        <p:spPr>
          <a:xfrm>
            <a:off x="2147404" y="2834861"/>
            <a:ext cx="39756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613887DD-8C89-4442-BCD5-79933D3AA18F}"/>
              </a:ext>
            </a:extLst>
          </p:cNvPr>
          <p:cNvCxnSpPr/>
          <p:nvPr/>
        </p:nvCxnSpPr>
        <p:spPr>
          <a:xfrm>
            <a:off x="3807329" y="2195527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8FC684D3-661D-214E-8AAA-803D5741950F}"/>
              </a:ext>
            </a:extLst>
          </p:cNvPr>
          <p:cNvCxnSpPr/>
          <p:nvPr/>
        </p:nvCxnSpPr>
        <p:spPr>
          <a:xfrm>
            <a:off x="9516467" y="2187153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 Box 4">
            <a:extLst>
              <a:ext uri="{FF2B5EF4-FFF2-40B4-BE49-F238E27FC236}">
                <a16:creationId xmlns:a16="http://schemas.microsoft.com/office/drawing/2014/main" id="{1F245A08-96A8-8C45-A51A-73F89CCBC5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1416" y="4699345"/>
            <a:ext cx="10110167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342900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Alice digitally signs hash of her message with her private key, providing integrity and authentication </a:t>
            </a:r>
          </a:p>
          <a:p>
            <a:pPr marL="342900" indent="-277813">
              <a:buClr>
                <a:srgbClr val="000090"/>
              </a:buClr>
              <a:buSzPct val="100000"/>
              <a:buFont typeface="Wingdings" charset="2"/>
              <a:buChar char="§"/>
            </a:pPr>
            <a:r>
              <a:rPr lang="en-US" sz="2800" dirty="0">
                <a:latin typeface="+mn-lt"/>
              </a:rPr>
              <a:t>sends both message (in the clear) and digital signature</a:t>
            </a:r>
          </a:p>
        </p:txBody>
      </p:sp>
    </p:spTree>
    <p:extLst>
      <p:ext uri="{BB962C8B-B14F-4D97-AF65-F5344CB8AC3E}">
        <p14:creationId xmlns:p14="http://schemas.microsoft.com/office/powerpoint/2010/main" val="383562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ounded Rectangle 101">
            <a:extLst>
              <a:ext uri="{FF2B5EF4-FFF2-40B4-BE49-F238E27FC236}">
                <a16:creationId xmlns:a16="http://schemas.microsoft.com/office/drawing/2014/main" id="{6919003A-0583-1E4A-B26A-5A0954150CD9}"/>
              </a:ext>
            </a:extLst>
          </p:cNvPr>
          <p:cNvSpPr/>
          <p:nvPr/>
        </p:nvSpPr>
        <p:spPr>
          <a:xfrm>
            <a:off x="2869617" y="1808924"/>
            <a:ext cx="3133618" cy="272332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07CD2E-B6EC-9248-927D-6D3F30F4B7C6}"/>
              </a:ext>
            </a:extLst>
          </p:cNvPr>
          <p:cNvSpPr/>
          <p:nvPr/>
        </p:nvSpPr>
        <p:spPr>
          <a:xfrm>
            <a:off x="6387545" y="2001078"/>
            <a:ext cx="2610678" cy="328653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9" name="Freeform 6">
            <a:extLst>
              <a:ext uri="{FF2B5EF4-FFF2-40B4-BE49-F238E27FC236}">
                <a16:creationId xmlns:a16="http://schemas.microsoft.com/office/drawing/2014/main" id="{FBC63C4B-D566-DA4A-87E0-DB2C8EA31F36}"/>
              </a:ext>
            </a:extLst>
          </p:cNvPr>
          <p:cNvSpPr>
            <a:spLocks/>
          </p:cNvSpPr>
          <p:nvPr/>
        </p:nvSpPr>
        <p:spPr bwMode="auto">
          <a:xfrm>
            <a:off x="9913522" y="3440871"/>
            <a:ext cx="1335088" cy="782638"/>
          </a:xfrm>
          <a:custGeom>
            <a:avLst/>
            <a:gdLst>
              <a:gd name="T0" fmla="*/ 0 w 2135"/>
              <a:gd name="T1" fmla="*/ 0 h 1662"/>
              <a:gd name="T2" fmla="*/ 0 w 2135"/>
              <a:gd name="T3" fmla="*/ 0 h 1662"/>
              <a:gd name="T4" fmla="*/ 2 w 2135"/>
              <a:gd name="T5" fmla="*/ 0 h 1662"/>
              <a:gd name="T6" fmla="*/ 4 w 2135"/>
              <a:gd name="T7" fmla="*/ 0 h 1662"/>
              <a:gd name="T8" fmla="*/ 7 w 2135"/>
              <a:gd name="T9" fmla="*/ 0 h 1662"/>
              <a:gd name="T10" fmla="*/ 7 w 2135"/>
              <a:gd name="T11" fmla="*/ 1 h 1662"/>
              <a:gd name="T12" fmla="*/ 6 w 2135"/>
              <a:gd name="T13" fmla="*/ 1 h 1662"/>
              <a:gd name="T14" fmla="*/ 3 w 2135"/>
              <a:gd name="T15" fmla="*/ 1 h 1662"/>
              <a:gd name="T16" fmla="*/ 2 w 2135"/>
              <a:gd name="T17" fmla="*/ 1 h 1662"/>
              <a:gd name="T18" fmla="*/ 1 w 2135"/>
              <a:gd name="T19" fmla="*/ 1 h 1662"/>
              <a:gd name="T20" fmla="*/ 0 w 2135"/>
              <a:gd name="T21" fmla="*/ 0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4517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Secure e-mail: </a:t>
            </a:r>
            <a:r>
              <a:rPr lang="en-US" sz="4000" b="0" dirty="0">
                <a:latin typeface="+mn-lt"/>
              </a:rPr>
              <a:t>integrity, authentication</a:t>
            </a:r>
            <a:endParaRPr lang="en-US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216" name="Text Box 4">
            <a:extLst>
              <a:ext uri="{FF2B5EF4-FFF2-40B4-BE49-F238E27FC236}">
                <a16:creationId xmlns:a16="http://schemas.microsoft.com/office/drawing/2014/main" id="{C0184D23-BADA-4B4B-BE0B-C3C7FA375C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677" y="1195663"/>
            <a:ext cx="1081148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2800" dirty="0">
                <a:solidFill>
                  <a:srgbClr val="000000"/>
                </a:solidFill>
                <a:latin typeface="+mn-lt"/>
              </a:rPr>
              <a:t> Alice sends m to Bob, with </a:t>
            </a:r>
            <a:r>
              <a:rPr lang="en-US" sz="2600" i="1" dirty="0">
                <a:solidFill>
                  <a:srgbClr val="0012A0"/>
                </a:solidFill>
                <a:latin typeface="+mn-lt"/>
              </a:rPr>
              <a:t>confidentiality,</a:t>
            </a:r>
            <a:r>
              <a:rPr lang="en-US" sz="2600" dirty="0">
                <a:solidFill>
                  <a:srgbClr val="000000"/>
                </a:solidFill>
                <a:latin typeface="+mn-lt"/>
              </a:rPr>
              <a:t> </a:t>
            </a:r>
            <a:r>
              <a:rPr lang="en-US" sz="2600" i="1" dirty="0">
                <a:solidFill>
                  <a:srgbClr val="0012A0"/>
                </a:solidFill>
                <a:latin typeface="+mn-lt"/>
              </a:rPr>
              <a:t>message integrity</a:t>
            </a:r>
            <a:r>
              <a:rPr lang="en-US" sz="2600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2600" i="1" dirty="0">
                <a:solidFill>
                  <a:srgbClr val="0012A0"/>
                </a:solidFill>
                <a:latin typeface="+mn-lt"/>
              </a:rPr>
              <a:t>authentication</a:t>
            </a:r>
          </a:p>
        </p:txBody>
      </p:sp>
      <p:sp>
        <p:nvSpPr>
          <p:cNvPr id="136" name="Freeform 6">
            <a:extLst>
              <a:ext uri="{FF2B5EF4-FFF2-40B4-BE49-F238E27FC236}">
                <a16:creationId xmlns:a16="http://schemas.microsoft.com/office/drawing/2014/main" id="{CDA921A5-71DA-7348-AE6D-AED7C35DE016}"/>
              </a:ext>
            </a:extLst>
          </p:cNvPr>
          <p:cNvSpPr>
            <a:spLocks/>
          </p:cNvSpPr>
          <p:nvPr/>
        </p:nvSpPr>
        <p:spPr bwMode="auto">
          <a:xfrm>
            <a:off x="4223508" y="2660061"/>
            <a:ext cx="989013" cy="406400"/>
          </a:xfrm>
          <a:custGeom>
            <a:avLst/>
            <a:gdLst>
              <a:gd name="T0" fmla="*/ 0 w 476"/>
              <a:gd name="T1" fmla="*/ 0 h 247"/>
              <a:gd name="T2" fmla="*/ 2393 w 476"/>
              <a:gd name="T3" fmla="*/ 0 h 247"/>
              <a:gd name="T4" fmla="*/ 2393 w 476"/>
              <a:gd name="T5" fmla="*/ 306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dirty="0"/>
          </a:p>
        </p:txBody>
      </p:sp>
      <p:grpSp>
        <p:nvGrpSpPr>
          <p:cNvPr id="140" name="Group 10">
            <a:extLst>
              <a:ext uri="{FF2B5EF4-FFF2-40B4-BE49-F238E27FC236}">
                <a16:creationId xmlns:a16="http://schemas.microsoft.com/office/drawing/2014/main" id="{B1196B51-736F-8E46-8418-FE6F04F3A461}"/>
              </a:ext>
            </a:extLst>
          </p:cNvPr>
          <p:cNvGrpSpPr>
            <a:grpSpLocks/>
          </p:cNvGrpSpPr>
          <p:nvPr/>
        </p:nvGrpSpPr>
        <p:grpSpPr bwMode="auto">
          <a:xfrm>
            <a:off x="3498021" y="2164761"/>
            <a:ext cx="754063" cy="725487"/>
            <a:chOff x="694" y="2457"/>
            <a:chExt cx="475" cy="457"/>
          </a:xfrm>
        </p:grpSpPr>
        <p:sp>
          <p:nvSpPr>
            <p:cNvPr id="194" name="Rectangle 11">
              <a:extLst>
                <a:ext uri="{FF2B5EF4-FFF2-40B4-BE49-F238E27FC236}">
                  <a16:creationId xmlns:a16="http://schemas.microsoft.com/office/drawing/2014/main" id="{B72747EF-1E71-3E40-8C3C-2E9F66519F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4" y="2631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95" name="Text Box 12">
              <a:extLst>
                <a:ext uri="{FF2B5EF4-FFF2-40B4-BE49-F238E27FC236}">
                  <a16:creationId xmlns:a16="http://schemas.microsoft.com/office/drawing/2014/main" id="{17E01511-07B5-7443-9FD2-D645D53E53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H( )</a:t>
              </a:r>
            </a:p>
          </p:txBody>
        </p:sp>
        <p:sp>
          <p:nvSpPr>
            <p:cNvPr id="196" name="Text Box 13">
              <a:extLst>
                <a:ext uri="{FF2B5EF4-FFF2-40B4-BE49-F238E27FC236}">
                  <a16:creationId xmlns:a16="http://schemas.microsoft.com/office/drawing/2014/main" id="{F03AD360-92D5-3F4F-8585-69010AEE61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87" y="245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141" name="Group 14">
            <a:extLst>
              <a:ext uri="{FF2B5EF4-FFF2-40B4-BE49-F238E27FC236}">
                <a16:creationId xmlns:a16="http://schemas.microsoft.com/office/drawing/2014/main" id="{1CEC776F-D8ED-BB41-8EF6-1269CC17444E}"/>
              </a:ext>
            </a:extLst>
          </p:cNvPr>
          <p:cNvGrpSpPr>
            <a:grpSpLocks/>
          </p:cNvGrpSpPr>
          <p:nvPr/>
        </p:nvGrpSpPr>
        <p:grpSpPr bwMode="auto">
          <a:xfrm>
            <a:off x="4364796" y="2158411"/>
            <a:ext cx="757238" cy="714375"/>
            <a:chOff x="1541" y="1987"/>
            <a:chExt cx="477" cy="450"/>
          </a:xfrm>
        </p:grpSpPr>
        <p:sp>
          <p:nvSpPr>
            <p:cNvPr id="190" name="Rectangle 15">
              <a:extLst>
                <a:ext uri="{FF2B5EF4-FFF2-40B4-BE49-F238E27FC236}">
                  <a16:creationId xmlns:a16="http://schemas.microsoft.com/office/drawing/2014/main" id="{F52BF3D6-1581-884C-89DC-1E614FC109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3" y="2154"/>
              <a:ext cx="475" cy="28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dirty="0">
                <a:latin typeface="Arial" charset="0"/>
                <a:cs typeface="Arial" charset="0"/>
              </a:endParaRPr>
            </a:p>
          </p:txBody>
        </p:sp>
        <p:sp>
          <p:nvSpPr>
            <p:cNvPr id="191" name="Text Box 16">
              <a:extLst>
                <a:ext uri="{FF2B5EF4-FFF2-40B4-BE49-F238E27FC236}">
                  <a16:creationId xmlns:a16="http://schemas.microsoft.com/office/drawing/2014/main" id="{64158AE7-EA74-484B-A754-66C43ED40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 )</a:t>
              </a:r>
            </a:p>
          </p:txBody>
        </p:sp>
        <p:sp>
          <p:nvSpPr>
            <p:cNvPr id="192" name="Text Box 17">
              <a:extLst>
                <a:ext uri="{FF2B5EF4-FFF2-40B4-BE49-F238E27FC236}">
                  <a16:creationId xmlns:a16="http://schemas.microsoft.com/office/drawing/2014/main" id="{6B7AE559-51F7-8142-B595-D975A8D3F6D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5" y="1987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4000" dirty="0">
                  <a:latin typeface="Arial" charset="0"/>
                  <a:cs typeface="Arial" charset="0"/>
                </a:rPr>
                <a:t>.</a:t>
              </a:r>
            </a:p>
          </p:txBody>
        </p:sp>
        <p:sp>
          <p:nvSpPr>
            <p:cNvPr id="193" name="Text Box 18">
              <a:extLst>
                <a:ext uri="{FF2B5EF4-FFF2-40B4-BE49-F238E27FC236}">
                  <a16:creationId xmlns:a16="http://schemas.microsoft.com/office/drawing/2014/main" id="{04C00144-A0CC-D44F-9A7B-DF9305B042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8" y="2088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grpSp>
        <p:nvGrpSpPr>
          <p:cNvPr id="145" name="Group 26">
            <a:extLst>
              <a:ext uri="{FF2B5EF4-FFF2-40B4-BE49-F238E27FC236}">
                <a16:creationId xmlns:a16="http://schemas.microsoft.com/office/drawing/2014/main" id="{93CCA24C-103C-B648-995F-03EEF3C4F57E}"/>
              </a:ext>
            </a:extLst>
          </p:cNvPr>
          <p:cNvGrpSpPr>
            <a:grpSpLocks/>
          </p:cNvGrpSpPr>
          <p:nvPr/>
        </p:nvGrpSpPr>
        <p:grpSpPr bwMode="auto">
          <a:xfrm>
            <a:off x="5102983" y="2083178"/>
            <a:ext cx="1135063" cy="528637"/>
            <a:chOff x="1778" y="2485"/>
            <a:chExt cx="715" cy="333"/>
          </a:xfrm>
        </p:grpSpPr>
        <p:sp>
          <p:nvSpPr>
            <p:cNvPr id="184" name="Text Box 27">
              <a:extLst>
                <a:ext uri="{FF2B5EF4-FFF2-40B4-BE49-F238E27FC236}">
                  <a16:creationId xmlns:a16="http://schemas.microsoft.com/office/drawing/2014/main" id="{A3D2B037-32E5-0245-B8DB-4BC6E843B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r>
                <a:rPr lang="en-US" sz="1800" dirty="0">
                  <a:latin typeface="Arial" charset="0"/>
                  <a:cs typeface="Arial" charset="0"/>
                </a:rPr>
                <a:t>(H(m))</a:t>
              </a:r>
            </a:p>
          </p:txBody>
        </p:sp>
        <p:sp>
          <p:nvSpPr>
            <p:cNvPr id="185" name="Text Box 28">
              <a:extLst>
                <a:ext uri="{FF2B5EF4-FFF2-40B4-BE49-F238E27FC236}">
                  <a16:creationId xmlns:a16="http://schemas.microsoft.com/office/drawing/2014/main" id="{C74CE97F-6B91-2347-AED1-5D20B19B8F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sp>
        <p:nvSpPr>
          <p:cNvPr id="146" name="Freeform 29">
            <a:extLst>
              <a:ext uri="{FF2B5EF4-FFF2-40B4-BE49-F238E27FC236}">
                <a16:creationId xmlns:a16="http://schemas.microsoft.com/office/drawing/2014/main" id="{2A230624-3976-DB45-8513-B2545A36D998}"/>
              </a:ext>
            </a:extLst>
          </p:cNvPr>
          <p:cNvSpPr>
            <a:spLocks/>
          </p:cNvSpPr>
          <p:nvPr/>
        </p:nvSpPr>
        <p:spPr bwMode="auto">
          <a:xfrm flipV="1">
            <a:off x="3259587" y="3495086"/>
            <a:ext cx="1958975" cy="392112"/>
          </a:xfrm>
          <a:custGeom>
            <a:avLst/>
            <a:gdLst>
              <a:gd name="T0" fmla="*/ 0 w 476"/>
              <a:gd name="T1" fmla="*/ 0 h 247"/>
              <a:gd name="T2" fmla="*/ 144489 w 476"/>
              <a:gd name="T3" fmla="*/ 0 h 247"/>
              <a:gd name="T4" fmla="*/ 144489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rot="10800000"/>
          <a:lstStyle/>
          <a:p>
            <a:endParaRPr lang="en-US" dirty="0"/>
          </a:p>
        </p:txBody>
      </p:sp>
      <p:sp>
        <p:nvSpPr>
          <p:cNvPr id="147" name="Text Box 30">
            <a:extLst>
              <a:ext uri="{FF2B5EF4-FFF2-40B4-BE49-F238E27FC236}">
                <a16:creationId xmlns:a16="http://schemas.microsoft.com/office/drawing/2014/main" id="{DABE9DE2-F780-A849-ACDB-E6DCB3DE90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755" y="2436474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grpSp>
        <p:nvGrpSpPr>
          <p:cNvPr id="148" name="Group 31">
            <a:extLst>
              <a:ext uri="{FF2B5EF4-FFF2-40B4-BE49-F238E27FC236}">
                <a16:creationId xmlns:a16="http://schemas.microsoft.com/office/drawing/2014/main" id="{AE3F8545-E084-314A-8920-DB75ABBDE231}"/>
              </a:ext>
            </a:extLst>
          </p:cNvPr>
          <p:cNvGrpSpPr>
            <a:grpSpLocks/>
          </p:cNvGrpSpPr>
          <p:nvPr/>
        </p:nvGrpSpPr>
        <p:grpSpPr bwMode="auto">
          <a:xfrm>
            <a:off x="4290183" y="1782174"/>
            <a:ext cx="452438" cy="474662"/>
            <a:chOff x="2637" y="716"/>
            <a:chExt cx="285" cy="299"/>
          </a:xfrm>
        </p:grpSpPr>
        <p:sp>
          <p:nvSpPr>
            <p:cNvPr id="182" name="Text Box 32">
              <a:extLst>
                <a:ext uri="{FF2B5EF4-FFF2-40B4-BE49-F238E27FC236}">
                  <a16:creationId xmlns:a16="http://schemas.microsoft.com/office/drawing/2014/main" id="{B887643E-BB09-9446-90F6-D0C86C8BB0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1800" dirty="0">
                  <a:latin typeface="Arial" charset="0"/>
                  <a:cs typeface="Arial" charset="0"/>
                </a:rPr>
                <a:t>K</a:t>
              </a:r>
              <a:r>
                <a:rPr lang="en-US" baseline="-25000" dirty="0">
                  <a:latin typeface="Arial" charset="0"/>
                  <a:cs typeface="Arial" charset="0"/>
                </a:rPr>
                <a:t>A</a:t>
              </a:r>
              <a:endParaRPr lang="en-US" sz="1800" dirty="0">
                <a:latin typeface="Arial" charset="0"/>
                <a:cs typeface="Arial" charset="0"/>
              </a:endParaRPr>
            </a:p>
          </p:txBody>
        </p:sp>
        <p:sp>
          <p:nvSpPr>
            <p:cNvPr id="183" name="Text Box 33">
              <a:extLst>
                <a:ext uri="{FF2B5EF4-FFF2-40B4-BE49-F238E27FC236}">
                  <a16:creationId xmlns:a16="http://schemas.microsoft.com/office/drawing/2014/main" id="{8F0C780B-DA5F-D24E-B125-07B752932E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dirty="0">
                  <a:latin typeface="Arial" charset="0"/>
                  <a:cs typeface="Arial" charset="0"/>
                </a:rPr>
                <a:t>-</a:t>
              </a:r>
            </a:p>
          </p:txBody>
        </p:sp>
      </p:grpSp>
      <p:pic>
        <p:nvPicPr>
          <p:cNvPr id="150" name="Picture 35" descr="BS00768_[1]">
            <a:extLst>
              <a:ext uri="{FF2B5EF4-FFF2-40B4-BE49-F238E27FC236}">
                <a16:creationId xmlns:a16="http://schemas.microsoft.com/office/drawing/2014/main" id="{760325FC-447E-8641-AB3A-BD40E45D31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4786529" y="1968903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1" name="Picture 36" descr="Alice">
            <a:extLst>
              <a:ext uri="{FF2B5EF4-FFF2-40B4-BE49-F238E27FC236}">
                <a16:creationId xmlns:a16="http://schemas.microsoft.com/office/drawing/2014/main" id="{6F5B1E19-8AE4-3D48-9575-18C9928530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561" y="2956372"/>
            <a:ext cx="5270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" name="Text Box 44">
            <a:extLst>
              <a:ext uri="{FF2B5EF4-FFF2-40B4-BE49-F238E27FC236}">
                <a16:creationId xmlns:a16="http://schemas.microsoft.com/office/drawing/2014/main" id="{A018A8CA-0525-644A-A2E4-930729E29E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09058" y="3664328"/>
            <a:ext cx="3984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dirty="0">
                <a:latin typeface="Arial" charset="0"/>
                <a:cs typeface="Arial" charset="0"/>
              </a:rPr>
              <a:t>m</a:t>
            </a:r>
          </a:p>
        </p:txBody>
      </p: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A1E527DE-00E9-2C4B-9615-EAC39E329EA7}"/>
              </a:ext>
            </a:extLst>
          </p:cNvPr>
          <p:cNvCxnSpPr>
            <a:cxnSpLocks/>
          </p:cNvCxnSpPr>
          <p:nvPr/>
        </p:nvCxnSpPr>
        <p:spPr>
          <a:xfrm>
            <a:off x="5526154" y="3253408"/>
            <a:ext cx="1550507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Text Box 45">
            <a:extLst>
              <a:ext uri="{FF2B5EF4-FFF2-40B4-BE49-F238E27FC236}">
                <a16:creationId xmlns:a16="http://schemas.microsoft.com/office/drawing/2014/main" id="{A0823A43-D9DE-EE42-9EF2-86A11D7DC6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8309" y="3645176"/>
            <a:ext cx="9667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  <a:cs typeface="Arial" charset="0"/>
              </a:rPr>
              <a:t>Internet</a:t>
            </a: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9439904A-0258-7748-9607-D776C1BE1087}"/>
              </a:ext>
            </a:extLst>
          </p:cNvPr>
          <p:cNvGrpSpPr/>
          <p:nvPr/>
        </p:nvGrpSpPr>
        <p:grpSpPr>
          <a:xfrm>
            <a:off x="5035825" y="2994991"/>
            <a:ext cx="389850" cy="584775"/>
            <a:chOff x="9846364" y="1192696"/>
            <a:chExt cx="389850" cy="584775"/>
          </a:xfrm>
        </p:grpSpPr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819D590E-EFF1-A644-A99A-1437DDD19481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11E886BA-0494-1D48-8DAF-FFC6CAA40B1D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F5A402-7072-5B45-AFAB-4AEC66343ECF}"/>
              </a:ext>
            </a:extLst>
          </p:cNvPr>
          <p:cNvCxnSpPr>
            <a:cxnSpLocks/>
          </p:cNvCxnSpPr>
          <p:nvPr/>
        </p:nvCxnSpPr>
        <p:spPr>
          <a:xfrm>
            <a:off x="3262538" y="2662582"/>
            <a:ext cx="22765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Straight Arrow Connector 213">
            <a:extLst>
              <a:ext uri="{FF2B5EF4-FFF2-40B4-BE49-F238E27FC236}">
                <a16:creationId xmlns:a16="http://schemas.microsoft.com/office/drawing/2014/main" id="{613887DD-8C89-4442-BCD5-79933D3AA18F}"/>
              </a:ext>
            </a:extLst>
          </p:cNvPr>
          <p:cNvCxnSpPr/>
          <p:nvPr/>
        </p:nvCxnSpPr>
        <p:spPr>
          <a:xfrm>
            <a:off x="4721727" y="2023248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39B78702-8E82-044F-9A18-B2714D979F8A}"/>
              </a:ext>
            </a:extLst>
          </p:cNvPr>
          <p:cNvCxnSpPr>
            <a:cxnSpLocks/>
          </p:cNvCxnSpPr>
          <p:nvPr/>
        </p:nvCxnSpPr>
        <p:spPr>
          <a:xfrm>
            <a:off x="8878954" y="3829879"/>
            <a:ext cx="110655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Picture 9" descr="BS00592_[1]">
            <a:extLst>
              <a:ext uri="{FF2B5EF4-FFF2-40B4-BE49-F238E27FC236}">
                <a16:creationId xmlns:a16="http://schemas.microsoft.com/office/drawing/2014/main" id="{55983C4D-CE39-2B44-9000-A0B4F61718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836" y="3496504"/>
            <a:ext cx="544513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" name="Picture 8" descr="BS00768_[1]">
            <a:extLst>
              <a:ext uri="{FF2B5EF4-FFF2-40B4-BE49-F238E27FC236}">
                <a16:creationId xmlns:a16="http://schemas.microsoft.com/office/drawing/2014/main" id="{5D634922-0CDC-3B48-B755-7D3687FF7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7536899" y="2471598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2" name="Group 10">
            <a:extLst>
              <a:ext uri="{FF2B5EF4-FFF2-40B4-BE49-F238E27FC236}">
                <a16:creationId xmlns:a16="http://schemas.microsoft.com/office/drawing/2014/main" id="{479CB536-995E-2848-93C0-49213D5F025B}"/>
              </a:ext>
            </a:extLst>
          </p:cNvPr>
          <p:cNvGrpSpPr>
            <a:grpSpLocks/>
          </p:cNvGrpSpPr>
          <p:nvPr/>
        </p:nvGrpSpPr>
        <p:grpSpPr bwMode="auto">
          <a:xfrm>
            <a:off x="7109862" y="2731948"/>
            <a:ext cx="754063" cy="727075"/>
            <a:chOff x="1645" y="264"/>
            <a:chExt cx="475" cy="458"/>
          </a:xfrm>
        </p:grpSpPr>
        <p:sp>
          <p:nvSpPr>
            <p:cNvPr id="73" name="Rectangle 11">
              <a:extLst>
                <a:ext uri="{FF2B5EF4-FFF2-40B4-BE49-F238E27FC236}">
                  <a16:creationId xmlns:a16="http://schemas.microsoft.com/office/drawing/2014/main" id="{87B2F9BA-C745-1A43-A558-24B6C9943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74" name="Text Box 12">
              <a:extLst>
                <a:ext uri="{FF2B5EF4-FFF2-40B4-BE49-F238E27FC236}">
                  <a16:creationId xmlns:a16="http://schemas.microsoft.com/office/drawing/2014/main" id="{1A0FB0CD-E502-7A4E-A69B-9E31C2D38B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75" name="Text Box 13">
              <a:extLst>
                <a:ext uri="{FF2B5EF4-FFF2-40B4-BE49-F238E27FC236}">
                  <a16:creationId xmlns:a16="http://schemas.microsoft.com/office/drawing/2014/main" id="{0C8C6F93-FFB7-2A4E-905A-46BF3BF75E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</p:grpSp>
      <p:grpSp>
        <p:nvGrpSpPr>
          <p:cNvPr id="76" name="Group 14">
            <a:extLst>
              <a:ext uri="{FF2B5EF4-FFF2-40B4-BE49-F238E27FC236}">
                <a16:creationId xmlns:a16="http://schemas.microsoft.com/office/drawing/2014/main" id="{7B08F5B3-C631-034D-B94A-C26CE6CA152E}"/>
              </a:ext>
            </a:extLst>
          </p:cNvPr>
          <p:cNvGrpSpPr>
            <a:grpSpLocks/>
          </p:cNvGrpSpPr>
          <p:nvPr/>
        </p:nvGrpSpPr>
        <p:grpSpPr bwMode="auto">
          <a:xfrm>
            <a:off x="7133674" y="3970198"/>
            <a:ext cx="754063" cy="708025"/>
            <a:chOff x="2144" y="3246"/>
            <a:chExt cx="475" cy="446"/>
          </a:xfrm>
        </p:grpSpPr>
        <p:sp>
          <p:nvSpPr>
            <p:cNvPr id="77" name="Rectangle 15">
              <a:extLst>
                <a:ext uri="{FF2B5EF4-FFF2-40B4-BE49-F238E27FC236}">
                  <a16:creationId xmlns:a16="http://schemas.microsoft.com/office/drawing/2014/main" id="{87CF5C84-CFB0-A54D-815B-871C0E7714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78" name="Text Box 16">
              <a:extLst>
                <a:ext uri="{FF2B5EF4-FFF2-40B4-BE49-F238E27FC236}">
                  <a16:creationId xmlns:a16="http://schemas.microsoft.com/office/drawing/2014/main" id="{4DF8A064-5DAE-6147-AA3D-CA2BBB157B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 )</a:t>
              </a:r>
            </a:p>
          </p:txBody>
        </p:sp>
        <p:sp>
          <p:nvSpPr>
            <p:cNvPr id="79" name="Text Box 17">
              <a:extLst>
                <a:ext uri="{FF2B5EF4-FFF2-40B4-BE49-F238E27FC236}">
                  <a16:creationId xmlns:a16="http://schemas.microsoft.com/office/drawing/2014/main" id="{2192AFD7-E41C-7048-9674-C1F0750C3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4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.</a:t>
              </a:r>
            </a:p>
          </p:txBody>
        </p:sp>
        <p:sp>
          <p:nvSpPr>
            <p:cNvPr id="80" name="Text Box 18">
              <a:extLst>
                <a:ext uri="{FF2B5EF4-FFF2-40B4-BE49-F238E27FC236}">
                  <a16:creationId xmlns:a16="http://schemas.microsoft.com/office/drawing/2014/main" id="{F709284F-B898-BA4A-AE36-2BDC0285AF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81" name="Line 25">
            <a:extLst>
              <a:ext uri="{FF2B5EF4-FFF2-40B4-BE49-F238E27FC236}">
                <a16:creationId xmlns:a16="http://schemas.microsoft.com/office/drawing/2014/main" id="{93FC36BF-7703-A443-B5C0-29F56D29D732}"/>
              </a:ext>
            </a:extLst>
          </p:cNvPr>
          <p:cNvSpPr>
            <a:spLocks noChangeShapeType="1"/>
          </p:cNvSpPr>
          <p:nvPr/>
        </p:nvSpPr>
        <p:spPr bwMode="auto">
          <a:xfrm>
            <a:off x="6798362" y="4432160"/>
            <a:ext cx="279061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2" name="Text Box 26">
            <a:extLst>
              <a:ext uri="{FF2B5EF4-FFF2-40B4-BE49-F238E27FC236}">
                <a16:creationId xmlns:a16="http://schemas.microsoft.com/office/drawing/2014/main" id="{4FDC4900-F99E-F04E-8448-6CCBAFE285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4399" y="2825610"/>
            <a:ext cx="879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(m )</a:t>
            </a:r>
          </a:p>
        </p:txBody>
      </p:sp>
      <p:grpSp>
        <p:nvGrpSpPr>
          <p:cNvPr id="83" name="Group 27">
            <a:extLst>
              <a:ext uri="{FF2B5EF4-FFF2-40B4-BE49-F238E27FC236}">
                <a16:creationId xmlns:a16="http://schemas.microsoft.com/office/drawing/2014/main" id="{6475EBD6-3E0A-DA48-9F1C-61F229410786}"/>
              </a:ext>
            </a:extLst>
          </p:cNvPr>
          <p:cNvGrpSpPr>
            <a:grpSpLocks/>
          </p:cNvGrpSpPr>
          <p:nvPr/>
        </p:nvGrpSpPr>
        <p:grpSpPr bwMode="auto">
          <a:xfrm>
            <a:off x="7879799" y="4314685"/>
            <a:ext cx="969963" cy="527050"/>
            <a:chOff x="3501" y="648"/>
            <a:chExt cx="611" cy="332"/>
          </a:xfrm>
        </p:grpSpPr>
        <p:sp>
          <p:nvSpPr>
            <p:cNvPr id="84" name="Text Box 28">
              <a:extLst>
                <a:ext uri="{FF2B5EF4-FFF2-40B4-BE49-F238E27FC236}">
                  <a16:creationId xmlns:a16="http://schemas.microsoft.com/office/drawing/2014/main" id="{1D17612A-6DD5-4545-B91F-79CFB68657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(K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S</a:t>
              </a: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 )</a:t>
              </a:r>
            </a:p>
          </p:txBody>
        </p:sp>
        <p:sp>
          <p:nvSpPr>
            <p:cNvPr id="85" name="Text Box 29">
              <a:extLst>
                <a:ext uri="{FF2B5EF4-FFF2-40B4-BE49-F238E27FC236}">
                  <a16:creationId xmlns:a16="http://schemas.microsoft.com/office/drawing/2014/main" id="{3B044692-0A88-C549-8D8F-064AF34295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sp>
        <p:nvSpPr>
          <p:cNvPr id="86" name="Freeform 30">
            <a:extLst>
              <a:ext uri="{FF2B5EF4-FFF2-40B4-BE49-F238E27FC236}">
                <a16:creationId xmlns:a16="http://schemas.microsoft.com/office/drawing/2014/main" id="{209D438A-7E40-1046-9D71-EEB7D84A7705}"/>
              </a:ext>
            </a:extLst>
          </p:cNvPr>
          <p:cNvSpPr>
            <a:spLocks/>
          </p:cNvSpPr>
          <p:nvPr/>
        </p:nvSpPr>
        <p:spPr bwMode="auto">
          <a:xfrm>
            <a:off x="7865512" y="3212960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7" name="Freeform 31">
            <a:extLst>
              <a:ext uri="{FF2B5EF4-FFF2-40B4-BE49-F238E27FC236}">
                <a16:creationId xmlns:a16="http://schemas.microsoft.com/office/drawing/2014/main" id="{9488F0BA-9459-C04E-9FE0-9FE4B103B1A3}"/>
              </a:ext>
            </a:extLst>
          </p:cNvPr>
          <p:cNvSpPr>
            <a:spLocks/>
          </p:cNvSpPr>
          <p:nvPr/>
        </p:nvSpPr>
        <p:spPr bwMode="auto">
          <a:xfrm flipV="1">
            <a:off x="7887737" y="4033698"/>
            <a:ext cx="755650" cy="392113"/>
          </a:xfrm>
          <a:custGeom>
            <a:avLst/>
            <a:gdLst>
              <a:gd name="T0" fmla="*/ 0 w 476"/>
              <a:gd name="T1" fmla="*/ 0 h 247"/>
              <a:gd name="T2" fmla="*/ 476 w 476"/>
              <a:gd name="T3" fmla="*/ 0 h 247"/>
              <a:gd name="T4" fmla="*/ 476 w 476"/>
              <a:gd name="T5" fmla="*/ 247 h 247"/>
              <a:gd name="T6" fmla="*/ 0 60000 65536"/>
              <a:gd name="T7" fmla="*/ 0 60000 65536"/>
              <a:gd name="T8" fmla="*/ 0 60000 65536"/>
              <a:gd name="T9" fmla="*/ 0 w 476"/>
              <a:gd name="T10" fmla="*/ 0 h 247"/>
              <a:gd name="T11" fmla="*/ 476 w 476"/>
              <a:gd name="T12" fmla="*/ 247 h 2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6" h="247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89" name="Text Box 34">
            <a:extLst>
              <a:ext uri="{FF2B5EF4-FFF2-40B4-BE49-F238E27FC236}">
                <a16:creationId xmlns:a16="http://schemas.microsoft.com/office/drawing/2014/main" id="{FF4A2C03-F93B-1444-BA7A-5B93D671B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5099" y="2362060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grpSp>
        <p:nvGrpSpPr>
          <p:cNvPr id="90" name="Group 36">
            <a:extLst>
              <a:ext uri="{FF2B5EF4-FFF2-40B4-BE49-F238E27FC236}">
                <a16:creationId xmlns:a16="http://schemas.microsoft.com/office/drawing/2014/main" id="{F010567E-F375-3441-A880-066E7FB4EE4C}"/>
              </a:ext>
            </a:extLst>
          </p:cNvPr>
          <p:cNvGrpSpPr>
            <a:grpSpLocks/>
          </p:cNvGrpSpPr>
          <p:nvPr/>
        </p:nvGrpSpPr>
        <p:grpSpPr bwMode="auto">
          <a:xfrm>
            <a:off x="7098749" y="4714735"/>
            <a:ext cx="471488" cy="474663"/>
            <a:chOff x="2643" y="716"/>
            <a:chExt cx="297" cy="299"/>
          </a:xfrm>
        </p:grpSpPr>
        <p:sp>
          <p:nvSpPr>
            <p:cNvPr id="91" name="Text Box 37">
              <a:extLst>
                <a:ext uri="{FF2B5EF4-FFF2-40B4-BE49-F238E27FC236}">
                  <a16:creationId xmlns:a16="http://schemas.microsoft.com/office/drawing/2014/main" id="{788BAF0A-DC82-9A43-9E98-761C274DF2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K</a:t>
              </a:r>
              <a:r>
                <a:rPr kumimoji="0" lang="en-US" sz="20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B</a:t>
              </a: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92" name="Text Box 38">
              <a:extLst>
                <a:ext uri="{FF2B5EF4-FFF2-40B4-BE49-F238E27FC236}">
                  <a16:creationId xmlns:a16="http://schemas.microsoft.com/office/drawing/2014/main" id="{0E6BAE5C-4522-F346-95E0-0AA69C38E4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rPr>
                <a:t>+</a:t>
              </a:r>
            </a:p>
          </p:txBody>
        </p:sp>
      </p:grpSp>
      <p:pic>
        <p:nvPicPr>
          <p:cNvPr id="93" name="Picture 40" descr="BS00768_[1]">
            <a:extLst>
              <a:ext uri="{FF2B5EF4-FFF2-40B4-BE49-F238E27FC236}">
                <a16:creationId xmlns:a16="http://schemas.microsoft.com/office/drawing/2014/main" id="{2100A58F-3DE8-CA44-A340-2701137BFA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7586112" y="4900510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" name="Text Box 64">
            <a:extLst>
              <a:ext uri="{FF2B5EF4-FFF2-40B4-BE49-F238E27FC236}">
                <a16:creationId xmlns:a16="http://schemas.microsoft.com/office/drawing/2014/main" id="{0495C371-4F47-344C-BA47-2E01397FF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5448" y="4236346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K</a:t>
            </a:r>
            <a:r>
              <a:rPr kumimoji="0" lang="en-US" sz="20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rPr>
              <a:t>S</a:t>
            </a:r>
          </a:p>
        </p:txBody>
      </p:sp>
      <p:grpSp>
        <p:nvGrpSpPr>
          <p:cNvPr id="96" name="Group 95">
            <a:extLst>
              <a:ext uri="{FF2B5EF4-FFF2-40B4-BE49-F238E27FC236}">
                <a16:creationId xmlns:a16="http://schemas.microsoft.com/office/drawing/2014/main" id="{CDC868E2-FF4E-584F-B734-7FE4135BB5C1}"/>
              </a:ext>
            </a:extLst>
          </p:cNvPr>
          <p:cNvGrpSpPr/>
          <p:nvPr/>
        </p:nvGrpSpPr>
        <p:grpSpPr>
          <a:xfrm>
            <a:off x="8441634" y="3538330"/>
            <a:ext cx="389850" cy="584775"/>
            <a:chOff x="9846364" y="1192696"/>
            <a:chExt cx="389850" cy="584775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2F043BD1-A4FA-BC4B-BE4E-112865DA4496}"/>
                </a:ext>
              </a:extLst>
            </p:cNvPr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C196BCCC-1C75-144D-A1D3-E974D44F362C}"/>
                </a:ext>
              </a:extLst>
            </p:cNvPr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dirty="0"/>
                <a:t>+</a:t>
              </a:r>
            </a:p>
          </p:txBody>
        </p:sp>
      </p:grp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5F03D04-F8E5-DF4D-AA60-CA9A0E39EEA6}"/>
              </a:ext>
            </a:extLst>
          </p:cNvPr>
          <p:cNvCxnSpPr/>
          <p:nvPr/>
        </p:nvCxnSpPr>
        <p:spPr>
          <a:xfrm>
            <a:off x="7500550" y="2620569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2A6E00D5-8912-904B-8565-6DD639E3390E}"/>
              </a:ext>
            </a:extLst>
          </p:cNvPr>
          <p:cNvCxnSpPr>
            <a:cxnSpLocks/>
          </p:cNvCxnSpPr>
          <p:nvPr/>
        </p:nvCxnSpPr>
        <p:spPr>
          <a:xfrm flipH="1" flipV="1">
            <a:off x="7518592" y="4680015"/>
            <a:ext cx="0" cy="35780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 Box 4">
            <a:extLst>
              <a:ext uri="{FF2B5EF4-FFF2-40B4-BE49-F238E27FC236}">
                <a16:creationId xmlns:a16="http://schemas.microsoft.com/office/drawing/2014/main" id="{A0F773C8-BE0A-1D44-A564-CCE4F5ADF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4885" y="4078011"/>
            <a:ext cx="297607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1600" i="1" dirty="0">
                <a:solidFill>
                  <a:srgbClr val="0012A0"/>
                </a:solidFill>
                <a:latin typeface="+mn-lt"/>
              </a:rPr>
              <a:t>message integrity</a:t>
            </a:r>
            <a:r>
              <a:rPr lang="en-US" sz="1600" dirty="0">
                <a:solidFill>
                  <a:srgbClr val="000000"/>
                </a:solidFill>
                <a:latin typeface="+mn-lt"/>
              </a:rPr>
              <a:t>, </a:t>
            </a:r>
            <a:r>
              <a:rPr lang="en-US" sz="1600" i="1" dirty="0">
                <a:solidFill>
                  <a:srgbClr val="0012A0"/>
                </a:solidFill>
                <a:latin typeface="+mn-lt"/>
              </a:rPr>
              <a:t>authentication</a:t>
            </a:r>
          </a:p>
        </p:txBody>
      </p:sp>
      <p:sp>
        <p:nvSpPr>
          <p:cNvPr id="110" name="Text Box 4">
            <a:extLst>
              <a:ext uri="{FF2B5EF4-FFF2-40B4-BE49-F238E27FC236}">
                <a16:creationId xmlns:a16="http://schemas.microsoft.com/office/drawing/2014/main" id="{F23FB403-140F-ED49-8850-0E17EC0B92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5699" y="2017299"/>
            <a:ext cx="13703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99"/>
              </a:buClr>
              <a:buSzPct val="75000"/>
            </a:pPr>
            <a:r>
              <a:rPr lang="en-US" sz="1600" i="1" dirty="0">
                <a:solidFill>
                  <a:srgbClr val="0012A0"/>
                </a:solidFill>
                <a:latin typeface="+mn-lt"/>
              </a:rPr>
              <a:t>confidentiality</a:t>
            </a:r>
          </a:p>
        </p:txBody>
      </p:sp>
      <p:sp>
        <p:nvSpPr>
          <p:cNvPr id="112" name="Text Box 4">
            <a:extLst>
              <a:ext uri="{FF2B5EF4-FFF2-40B4-BE49-F238E27FC236}">
                <a16:creationId xmlns:a16="http://schemas.microsoft.com/office/drawing/2014/main" id="{B7FD7CC3-4A91-3E4D-8524-20024787A2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329" y="5433185"/>
            <a:ext cx="1102787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2800" dirty="0">
                <a:solidFill>
                  <a:srgbClr val="C00000"/>
                </a:solidFill>
                <a:latin typeface="+mn-lt"/>
              </a:rPr>
              <a:t>Alice uses three keys: </a:t>
            </a:r>
            <a:r>
              <a:rPr lang="en-US" sz="2800" dirty="0">
                <a:latin typeface="+mn-lt"/>
              </a:rPr>
              <a:t>her private key, Bob’</a:t>
            </a:r>
            <a:r>
              <a:rPr lang="en-US" altLang="ja-JP" sz="2800" dirty="0">
                <a:latin typeface="+mn-lt"/>
              </a:rPr>
              <a:t>s public key, new symmetric key</a:t>
            </a:r>
            <a:endParaRPr lang="en-US" sz="2800" dirty="0">
              <a:latin typeface="+mn-lt"/>
            </a:endParaRPr>
          </a:p>
        </p:txBody>
      </p:sp>
      <p:sp>
        <p:nvSpPr>
          <p:cNvPr id="113" name="Text Box 4">
            <a:extLst>
              <a:ext uri="{FF2B5EF4-FFF2-40B4-BE49-F238E27FC236}">
                <a16:creationId xmlns:a16="http://schemas.microsoft.com/office/drawing/2014/main" id="{004647EC-7722-7144-ACFF-6986A2917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29947" y="5983150"/>
            <a:ext cx="625502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algn="ctr"/>
            <a:r>
              <a:rPr lang="en-US" sz="2800" i="1" dirty="0">
                <a:solidFill>
                  <a:srgbClr val="0012A0"/>
                </a:solidFill>
                <a:latin typeface="+mn-lt"/>
              </a:rPr>
              <a:t>What are Bob’s complementary actions?</a:t>
            </a:r>
          </a:p>
        </p:txBody>
      </p:sp>
    </p:spTree>
    <p:extLst>
      <p:ext uri="{BB962C8B-B14F-4D97-AF65-F5344CB8AC3E}">
        <p14:creationId xmlns:p14="http://schemas.microsoft.com/office/powerpoint/2010/main" val="374027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 (TLS)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07" name="Rectangle 3">
            <a:extLst>
              <a:ext uri="{FF2B5EF4-FFF2-40B4-BE49-F238E27FC236}">
                <a16:creationId xmlns:a16="http://schemas.microsoft.com/office/drawing/2014/main" id="{C2AED11F-995A-084B-92BE-14113A55714D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widely deployed security protocol above the transport layer</a:t>
            </a:r>
          </a:p>
          <a:p>
            <a:pPr marL="641350" lvl="1" indent="-236538"/>
            <a:r>
              <a:rPr lang="en-US" sz="2800" dirty="0"/>
              <a:t>supported by almost all browsers, web servers: https (port 443)</a:t>
            </a:r>
          </a:p>
          <a:p>
            <a:pPr marL="287338" indent="-287338"/>
            <a:r>
              <a:rPr lang="en-US" sz="3200" dirty="0"/>
              <a:t>provides: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confidentiality: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symmetric encryption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integrity: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cryptographic hashing</a:t>
            </a:r>
          </a:p>
          <a:p>
            <a:pPr marL="574675" lvl="1" indent="-230188">
              <a:spcBef>
                <a:spcPts val="200"/>
              </a:spcBef>
            </a:pPr>
            <a:r>
              <a:rPr lang="en-US" sz="2800" dirty="0">
                <a:solidFill>
                  <a:srgbClr val="C00000"/>
                </a:solidFill>
              </a:rPr>
              <a:t>authentication: </a:t>
            </a:r>
            <a:r>
              <a:rPr lang="en-US" sz="2800" dirty="0"/>
              <a:t>via </a:t>
            </a:r>
            <a:r>
              <a:rPr lang="en-US" sz="2800" i="1" dirty="0">
                <a:solidFill>
                  <a:srgbClr val="0012A0"/>
                </a:solidFill>
              </a:rPr>
              <a:t>public key cryptography</a:t>
            </a:r>
          </a:p>
          <a:p>
            <a:pPr lvl="1"/>
            <a:endParaRPr lang="en-US" dirty="0">
              <a:latin typeface="Gill Sans MT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95DC5F-C059-9743-9CFE-79C99F823EBB}"/>
              </a:ext>
            </a:extLst>
          </p:cNvPr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DCB6489B-5945-A04D-980F-6DB60BC2E2E4}"/>
                </a:ext>
              </a:extLst>
            </p:cNvPr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B45C0EC-C90A-B14B-9553-152CFA2E3357}"/>
                </a:ext>
              </a:extLst>
            </p:cNvPr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2400" i="1" dirty="0"/>
                <a:t>all techniques we have studied!</a:t>
              </a:r>
            </a:p>
          </p:txBody>
        </p:sp>
      </p:grpSp>
      <p:sp>
        <p:nvSpPr>
          <p:cNvPr id="10" name="Rectangle 3">
            <a:extLst>
              <a:ext uri="{FF2B5EF4-FFF2-40B4-BE49-F238E27FC236}">
                <a16:creationId xmlns:a16="http://schemas.microsoft.com/office/drawing/2014/main" id="{88C43E8D-F7BF-7D4A-8D3C-57033712BD67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history: </a:t>
            </a:r>
          </a:p>
          <a:p>
            <a:pPr marL="641350" lvl="1" indent="-236538"/>
            <a:r>
              <a:rPr lang="en-US" sz="2800" dirty="0"/>
              <a:t>early research, implementation: </a:t>
            </a:r>
            <a:r>
              <a:rPr lang="en-US" sz="2600" dirty="0"/>
              <a:t>secure network programming, secure sockets</a:t>
            </a:r>
            <a:endParaRPr lang="en-US" sz="2800" dirty="0"/>
          </a:p>
          <a:p>
            <a:pPr marL="641350" lvl="1" indent="-236538"/>
            <a:r>
              <a:rPr lang="en-US" sz="2800" dirty="0"/>
              <a:t>secure socket layer (SSL) deprecated </a:t>
            </a:r>
            <a:r>
              <a:rPr lang="en-US" sz="2600" dirty="0"/>
              <a:t>[2015]</a:t>
            </a:r>
          </a:p>
          <a:p>
            <a:pPr marL="641350" lvl="1" indent="-236538"/>
            <a:r>
              <a:rPr lang="en-US" sz="2800" dirty="0"/>
              <a:t>TLS </a:t>
            </a:r>
            <a:r>
              <a:rPr lang="en-US" sz="2600" dirty="0"/>
              <a:t>1.3</a:t>
            </a:r>
            <a:r>
              <a:rPr lang="en-US" sz="2800" dirty="0"/>
              <a:t>: RFC 8846 [2018]</a:t>
            </a:r>
          </a:p>
          <a:p>
            <a:pPr marL="641350" lvl="1" indent="-236538"/>
            <a:endParaRPr lang="en-US" sz="2800" dirty="0"/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053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836718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Transport-layer security: what’s needed?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711017D-0786-AE4D-9C8B-A9B78332A06C}"/>
              </a:ext>
            </a:extLst>
          </p:cNvPr>
          <p:cNvSpPr txBox="1">
            <a:spLocks noChangeArrowheads="1"/>
          </p:cNvSpPr>
          <p:nvPr/>
        </p:nvSpPr>
        <p:spPr>
          <a:xfrm>
            <a:off x="1386660" y="2616219"/>
            <a:ext cx="10561981" cy="3597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handshake: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Alice, Bob use their certificates, private keys to authenticate each other, exchange or create shared secret</a:t>
            </a:r>
          </a:p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key derivation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Alice, Bob use shared secret to derive set of keys</a:t>
            </a:r>
          </a:p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 transfer: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stream data transfer: data as a series of records</a:t>
            </a: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not just one-time transactions</a:t>
            </a:r>
          </a:p>
          <a:p>
            <a:r>
              <a:rPr lang="en-US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connection closure: 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special messages to securely close connection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33FD55F0-E149-124E-8E21-E70DE72E018B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1371393"/>
            <a:ext cx="10598426" cy="62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indent="-287338"/>
            <a:r>
              <a:rPr lang="en-US" sz="3200" dirty="0"/>
              <a:t>let’s </a:t>
            </a:r>
            <a:r>
              <a:rPr lang="en-US" sz="3200" i="1" dirty="0"/>
              <a:t>build</a:t>
            </a:r>
            <a:r>
              <a:rPr lang="en-US" sz="3200" dirty="0"/>
              <a:t> a toy TLS protocol, </a:t>
            </a:r>
            <a:r>
              <a:rPr lang="en-US" sz="3200" i="1" dirty="0"/>
              <a:t>t-tls, </a:t>
            </a:r>
            <a:r>
              <a:rPr lang="en-US" sz="3200" dirty="0"/>
              <a:t>to see what’s needed!</a:t>
            </a:r>
            <a:endParaRPr lang="en-US" sz="2800" dirty="0">
              <a:solidFill>
                <a:srgbClr val="0012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60A1B3-23D0-C644-B102-E8B069ED3317}"/>
              </a:ext>
            </a:extLst>
          </p:cNvPr>
          <p:cNvSpPr txBox="1"/>
          <p:nvPr/>
        </p:nvSpPr>
        <p:spPr>
          <a:xfrm>
            <a:off x="1028700" y="1943100"/>
            <a:ext cx="60733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96863" indent="-296863"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3200" dirty="0"/>
              <a:t>we’ve seen the “pieces” already:</a:t>
            </a:r>
          </a:p>
        </p:txBody>
      </p:sp>
    </p:spTree>
    <p:extLst>
      <p:ext uri="{BB962C8B-B14F-4D97-AF65-F5344CB8AC3E}">
        <p14:creationId xmlns:p14="http://schemas.microsoft.com/office/powerpoint/2010/main" val="474129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930C5F0E-4D36-9C4B-88CB-340775C3D57C}"/>
              </a:ext>
            </a:extLst>
          </p:cNvPr>
          <p:cNvGrpSpPr/>
          <p:nvPr/>
        </p:nvGrpSpPr>
        <p:grpSpPr>
          <a:xfrm>
            <a:off x="2421281" y="5115338"/>
            <a:ext cx="2153478" cy="1174878"/>
            <a:chOff x="1623392" y="2040836"/>
            <a:chExt cx="2153478" cy="1742662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9BCC160-B990-A54E-940E-FEBC31E83C58}"/>
                </a:ext>
              </a:extLst>
            </p:cNvPr>
            <p:cNvGrpSpPr/>
            <p:nvPr/>
          </p:nvGrpSpPr>
          <p:grpSpPr>
            <a:xfrm>
              <a:off x="1669774" y="2040836"/>
              <a:ext cx="2107096" cy="848139"/>
              <a:chOff x="6983896" y="4081670"/>
              <a:chExt cx="2107096" cy="848139"/>
            </a:xfrm>
          </p:grpSpPr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B454662-0671-9643-A55F-365DA7A386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Text Box 5">
                <a:extLst>
                  <a:ext uri="{FF2B5EF4-FFF2-40B4-BE49-F238E27FC236}">
                    <a16:creationId xmlns:a16="http://schemas.microsoft.com/office/drawing/2014/main" id="{E8A5DC00-B05C-4D4B-AEB0-AAA10F83CB5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28454" y="4219266"/>
                <a:ext cx="1762538" cy="5934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+mn-lt"/>
                    <a:cs typeface="Arial" charset="0"/>
                  </a:rPr>
                  <a:t>client request</a:t>
                </a:r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4F28683F-5EAF-FF40-BADA-C320A04AB3D4}"/>
                </a:ext>
              </a:extLst>
            </p:cNvPr>
            <p:cNvGrpSpPr/>
            <p:nvPr/>
          </p:nvGrpSpPr>
          <p:grpSpPr>
            <a:xfrm flipH="1">
              <a:off x="1623392" y="2935359"/>
              <a:ext cx="2080591" cy="848139"/>
              <a:chOff x="6983896" y="4081670"/>
              <a:chExt cx="2080591" cy="848139"/>
            </a:xfrm>
          </p:grpSpPr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6AA90659-E488-4244-A265-0CC0984E66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Text Box 5">
                <a:extLst>
                  <a:ext uri="{FF2B5EF4-FFF2-40B4-BE49-F238E27FC236}">
                    <a16:creationId xmlns:a16="http://schemas.microsoft.com/office/drawing/2014/main" id="{A6526929-0E98-4F4D-BBD1-63D92B0CDB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083285" y="4209288"/>
                <a:ext cx="1716158" cy="593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+mn-lt"/>
                    <a:cs typeface="Arial" charset="0"/>
                  </a:rPr>
                  <a:t>server reply</a:t>
                </a: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7284159-8995-8D44-8B2C-98EB32304940}"/>
              </a:ext>
            </a:extLst>
          </p:cNvPr>
          <p:cNvGrpSpPr/>
          <p:nvPr/>
        </p:nvGrpSpPr>
        <p:grpSpPr>
          <a:xfrm>
            <a:off x="2447786" y="3511826"/>
            <a:ext cx="2431772" cy="1782419"/>
            <a:chOff x="1623392" y="2040836"/>
            <a:chExt cx="2431772" cy="264380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6F19937-2079-E54E-809A-EEC900DF25EC}"/>
                </a:ext>
              </a:extLst>
            </p:cNvPr>
            <p:cNvGrpSpPr/>
            <p:nvPr/>
          </p:nvGrpSpPr>
          <p:grpSpPr>
            <a:xfrm>
              <a:off x="1669774" y="2040836"/>
              <a:ext cx="2080591" cy="848139"/>
              <a:chOff x="6983896" y="4081670"/>
              <a:chExt cx="2080591" cy="848139"/>
            </a:xfrm>
          </p:grpSpPr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D0F91550-555B-C94B-A5D6-4DD5B0CABA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 Box 5">
                <a:extLst>
                  <a:ext uri="{FF2B5EF4-FFF2-40B4-BE49-F238E27FC236}">
                    <a16:creationId xmlns:a16="http://schemas.microsoft.com/office/drawing/2014/main" id="{8A54A79F-75A4-E844-893E-FC200D2790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460974" y="4179953"/>
                <a:ext cx="1258957" cy="59347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t-tls hello</a:t>
                </a:r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82AD674-EE10-254E-A440-84021C4A62D4}"/>
                </a:ext>
              </a:extLst>
            </p:cNvPr>
            <p:cNvGrpSpPr/>
            <p:nvPr/>
          </p:nvGrpSpPr>
          <p:grpSpPr>
            <a:xfrm flipH="1">
              <a:off x="1623392" y="2935359"/>
              <a:ext cx="2431772" cy="848139"/>
              <a:chOff x="6632715" y="4081670"/>
              <a:chExt cx="2431772" cy="848139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A16CB137-51BC-4B4A-AD44-E2F3C1F0DB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 Box 5">
                <a:extLst>
                  <a:ext uri="{FF2B5EF4-FFF2-40B4-BE49-F238E27FC236}">
                    <a16:creationId xmlns:a16="http://schemas.microsoft.com/office/drawing/2014/main" id="{5F8BC39E-EDF0-1342-9827-3BE6A9D0100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32715" y="4150319"/>
                <a:ext cx="2360681" cy="593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rgbClr val="C00000"/>
                    </a:solidFill>
                    <a:latin typeface="+mn-lt"/>
                    <a:cs typeface="Arial" charset="0"/>
                  </a:rPr>
                  <a:t>public key certificate</a:t>
                </a:r>
              </a:p>
            </p:txBody>
          </p:sp>
        </p:grp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29E47A9-4F33-984A-B9C1-48E51EFF5F81}"/>
                </a:ext>
              </a:extLst>
            </p:cNvPr>
            <p:cNvCxnSpPr>
              <a:cxnSpLocks/>
            </p:cNvCxnSpPr>
            <p:nvPr/>
          </p:nvCxnSpPr>
          <p:spPr>
            <a:xfrm>
              <a:off x="1636644" y="3836506"/>
              <a:ext cx="2080591" cy="84813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 Box 11">
              <a:extLst>
                <a:ext uri="{FF2B5EF4-FFF2-40B4-BE49-F238E27FC236}">
                  <a16:creationId xmlns:a16="http://schemas.microsoft.com/office/drawing/2014/main" id="{E3A71BE5-5428-884C-9D0F-85B8AD98E3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85594" y="3790270"/>
              <a:ext cx="1805745" cy="6847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rgbClr val="C00000"/>
                  </a:solidFill>
                  <a:latin typeface="+mn-lt"/>
                  <a:cs typeface="Arial" charset="0"/>
                </a:rPr>
                <a:t>K</a:t>
              </a:r>
              <a:r>
                <a:rPr lang="en-US" baseline="-25000" dirty="0">
                  <a:solidFill>
                    <a:srgbClr val="C00000"/>
                  </a:solidFill>
                  <a:latin typeface="+mn-lt"/>
                  <a:cs typeface="Arial" charset="0"/>
                </a:rPr>
                <a:t>B</a:t>
              </a:r>
              <a:r>
                <a:rPr lang="en-US" baseline="30000" dirty="0">
                  <a:solidFill>
                    <a:srgbClr val="C00000"/>
                  </a:solidFill>
                  <a:latin typeface="+mn-lt"/>
                  <a:cs typeface="Arial" charset="0"/>
                </a:rPr>
                <a:t>+</a:t>
              </a:r>
              <a:r>
                <a:rPr lang="en-US" dirty="0">
                  <a:solidFill>
                    <a:srgbClr val="C00000"/>
                  </a:solidFill>
                  <a:latin typeface="+mn-lt"/>
                  <a:cs typeface="Arial" charset="0"/>
                </a:rPr>
                <a:t>(MS) = EMS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3B890D9-A9E7-E148-A927-23B5327FBA02}"/>
              </a:ext>
            </a:extLst>
          </p:cNvPr>
          <p:cNvGrpSpPr/>
          <p:nvPr/>
        </p:nvGrpSpPr>
        <p:grpSpPr>
          <a:xfrm>
            <a:off x="2454413" y="1981200"/>
            <a:ext cx="2126973" cy="1782419"/>
            <a:chOff x="1623392" y="2040836"/>
            <a:chExt cx="2126973" cy="264380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0439343-F5CB-514E-AA77-86CC33169BA3}"/>
                </a:ext>
              </a:extLst>
            </p:cNvPr>
            <p:cNvGrpSpPr/>
            <p:nvPr/>
          </p:nvGrpSpPr>
          <p:grpSpPr>
            <a:xfrm>
              <a:off x="1669774" y="2040836"/>
              <a:ext cx="2080591" cy="848139"/>
              <a:chOff x="6983896" y="4081670"/>
              <a:chExt cx="2080591" cy="848139"/>
            </a:xfrm>
          </p:grpSpPr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CD147B95-2F16-0F4C-B288-AFF61FDD1C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Text Box 5">
                <a:extLst>
                  <a:ext uri="{FF2B5EF4-FFF2-40B4-BE49-F238E27FC236}">
                    <a16:creationId xmlns:a16="http://schemas.microsoft.com/office/drawing/2014/main" id="{0CEE80EA-1A0F-2141-B45A-171010848C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87837" y="4219266"/>
                <a:ext cx="1085712" cy="593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+mn-lt"/>
                    <a:cs typeface="Arial" charset="0"/>
                  </a:rPr>
                  <a:t>TCP SYN</a:t>
                </a:r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8376851-1BCE-4849-8509-B3DAD9C8BFF5}"/>
                </a:ext>
              </a:extLst>
            </p:cNvPr>
            <p:cNvGrpSpPr/>
            <p:nvPr/>
          </p:nvGrpSpPr>
          <p:grpSpPr>
            <a:xfrm flipH="1">
              <a:off x="1623392" y="2935359"/>
              <a:ext cx="2080591" cy="848139"/>
              <a:chOff x="6983896" y="4081670"/>
              <a:chExt cx="2080591" cy="848139"/>
            </a:xfrm>
          </p:grpSpPr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3D4FB3AB-20C8-604E-81FA-D32111B056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ln w="19050">
                <a:solidFill>
                  <a:schemeClr val="bg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Text Box 5">
                <a:extLst>
                  <a:ext uri="{FF2B5EF4-FFF2-40B4-BE49-F238E27FC236}">
                    <a16:creationId xmlns:a16="http://schemas.microsoft.com/office/drawing/2014/main" id="{23D4810A-9307-2941-B5FA-9CB2C7985C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41705" y="4150319"/>
                <a:ext cx="1113184" cy="59347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  <a:cs typeface="ＭＳ Ｐゴシック" charset="0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>
                    <a:solidFill>
                      <a:schemeClr val="tx1"/>
                    </a:solidFill>
                    <a:latin typeface="Comic Sans MS" charset="0"/>
                    <a:ea typeface="ＭＳ Ｐゴシック" charset="0"/>
                  </a:defRPr>
                </a:lvl9pPr>
              </a:lstStyle>
              <a:p>
                <a:r>
                  <a:rPr lang="en-US" dirty="0">
                    <a:solidFill>
                      <a:schemeClr val="bg1">
                        <a:lumMod val="75000"/>
                      </a:schemeClr>
                    </a:solidFill>
                    <a:latin typeface="+mn-lt"/>
                    <a:cs typeface="Arial" charset="0"/>
                  </a:rPr>
                  <a:t>SYNACK</a:t>
                </a:r>
              </a:p>
            </p:txBody>
          </p:sp>
        </p:grp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1945B41C-927D-5D44-B384-B4DB1F5A6A88}"/>
                </a:ext>
              </a:extLst>
            </p:cNvPr>
            <p:cNvCxnSpPr>
              <a:cxnSpLocks/>
            </p:cNvCxnSpPr>
            <p:nvPr/>
          </p:nvCxnSpPr>
          <p:spPr>
            <a:xfrm>
              <a:off x="1636644" y="3836506"/>
              <a:ext cx="2080591" cy="848139"/>
            </a:xfrm>
            <a:prstGeom prst="straightConnector1">
              <a:avLst/>
            </a:prstGeom>
            <a:ln w="19050">
              <a:solidFill>
                <a:schemeClr val="bg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 Box 11">
              <a:extLst>
                <a:ext uri="{FF2B5EF4-FFF2-40B4-BE49-F238E27FC236}">
                  <a16:creationId xmlns:a16="http://schemas.microsoft.com/office/drawing/2014/main" id="{A87FF3D0-8FD9-7144-8C26-79BD1498D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001" y="3868895"/>
              <a:ext cx="742122" cy="6847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r>
                <a:rPr lang="en-US" sz="2400" dirty="0">
                  <a:solidFill>
                    <a:schemeClr val="bg1">
                      <a:lumMod val="75000"/>
                    </a:schemeClr>
                  </a:solidFill>
                  <a:latin typeface="+mn-lt"/>
                  <a:cs typeface="Arial" charset="0"/>
                </a:rPr>
                <a:t>ACK</a:t>
              </a:r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  <a:cs typeface="Arial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initial handshake</a:t>
            </a:r>
            <a:endParaRPr lang="en-US" sz="4400" b="0" dirty="0">
              <a:latin typeface="+mn-lt"/>
            </a:endParaRPr>
          </a:p>
        </p:txBody>
      </p:sp>
      <p:sp>
        <p:nvSpPr>
          <p:cNvPr id="32" name="Content Placeholder 31">
            <a:extLst>
              <a:ext uri="{FF2B5EF4-FFF2-40B4-BE49-F238E27FC236}">
                <a16:creationId xmlns:a16="http://schemas.microsoft.com/office/drawing/2014/main" id="{A94A11CB-4FF9-2B46-A769-F6B82B9EA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8703" y="1216025"/>
            <a:ext cx="5181600" cy="5237784"/>
          </a:xfrm>
        </p:spPr>
        <p:txBody>
          <a:bodyPr>
            <a:normAutofit/>
          </a:bodyPr>
          <a:lstStyle/>
          <a:p>
            <a:pPr marL="130175" indent="0">
              <a:buNone/>
            </a:pPr>
            <a:r>
              <a:rPr lang="en-US" dirty="0">
                <a:solidFill>
                  <a:srgbClr val="C00000"/>
                </a:solidFill>
              </a:rPr>
              <a:t>t-tls handshake phase:</a:t>
            </a:r>
          </a:p>
          <a:p>
            <a:r>
              <a:rPr lang="en-US" dirty="0"/>
              <a:t>Bob establishes TCP connection with Alice</a:t>
            </a:r>
          </a:p>
          <a:p>
            <a:r>
              <a:rPr lang="en-US" dirty="0"/>
              <a:t>Bob verifies that Alice is really Alice</a:t>
            </a:r>
          </a:p>
          <a:p>
            <a:r>
              <a:rPr lang="en-US" dirty="0"/>
              <a:t>Bob sends Alice a master secret key (MS), used to generate all other keys for TLS session</a:t>
            </a:r>
          </a:p>
          <a:p>
            <a:r>
              <a:rPr lang="en-US" dirty="0"/>
              <a:t>potential issues:</a:t>
            </a:r>
          </a:p>
          <a:p>
            <a:pPr lvl="1"/>
            <a:r>
              <a:rPr lang="en-US" dirty="0"/>
              <a:t>3 RTT before client can start receiving data (including TCP handshake)</a:t>
            </a:r>
          </a:p>
          <a:p>
            <a:endParaRPr lang="en-US" dirty="0"/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13" name="Picture 6" descr="Alice">
            <a:extLst>
              <a:ext uri="{FF2B5EF4-FFF2-40B4-BE49-F238E27FC236}">
                <a16:creationId xmlns:a16="http://schemas.microsoft.com/office/drawing/2014/main" id="{C3B7BAC7-7FD0-5341-B149-28B8FEC59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8683" y="1581219"/>
            <a:ext cx="527050" cy="6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7" descr="Bob">
            <a:extLst>
              <a:ext uri="{FF2B5EF4-FFF2-40B4-BE49-F238E27FC236}">
                <a16:creationId xmlns:a16="http://schemas.microsoft.com/office/drawing/2014/main" id="{49B94789-D08D-CE4E-B510-D55798675F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5974" y="1696280"/>
            <a:ext cx="622682" cy="6365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0643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cryptographic keys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5A09AFE-D620-8942-B41C-B9107DCE60FC}"/>
              </a:ext>
            </a:extLst>
          </p:cNvPr>
          <p:cNvSpPr txBox="1">
            <a:spLocks noChangeArrowheads="1"/>
          </p:cNvSpPr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dirty="0"/>
              <a:t>considered bad to use same key for more than one cryptographic function</a:t>
            </a:r>
          </a:p>
          <a:p>
            <a:pPr lvl="1"/>
            <a:r>
              <a:rPr lang="en-US" sz="2800" dirty="0"/>
              <a:t>different keys for message authentication code (MAC) and encryption</a:t>
            </a:r>
          </a:p>
          <a:p>
            <a:pPr indent="-287338"/>
            <a:r>
              <a:rPr lang="en-US" dirty="0"/>
              <a:t>four keys:</a:t>
            </a:r>
          </a:p>
          <a:p>
            <a:pPr marL="981075" lvl="1" indent="0">
              <a:buNone/>
            </a:pPr>
            <a:r>
              <a:rPr lang="en-US" sz="2800" dirty="0"/>
              <a:t>K</a:t>
            </a:r>
            <a:r>
              <a:rPr lang="en-US" sz="2800" baseline="-25000" dirty="0"/>
              <a:t>c</a:t>
            </a:r>
            <a:r>
              <a:rPr lang="en-US" sz="2800" dirty="0"/>
              <a:t> : encryption key for data sent from client to server</a:t>
            </a:r>
          </a:p>
          <a:p>
            <a:pPr marL="981075" lvl="1" indent="0">
              <a:buNone/>
            </a:pPr>
            <a:r>
              <a:rPr lang="en-US" sz="2800" dirty="0"/>
              <a:t>M</a:t>
            </a:r>
            <a:r>
              <a:rPr lang="en-US" sz="2800" baseline="-25000" dirty="0"/>
              <a:t>c</a:t>
            </a:r>
            <a:r>
              <a:rPr lang="en-US" sz="2800" dirty="0"/>
              <a:t> : MAC key for data sent from client to server</a:t>
            </a:r>
          </a:p>
          <a:p>
            <a:pPr marL="981075" lvl="1" indent="0">
              <a:buNone/>
            </a:pPr>
            <a:r>
              <a:rPr lang="en-US" sz="2800" dirty="0"/>
              <a:t>K</a:t>
            </a:r>
            <a:r>
              <a:rPr lang="en-US" sz="2800" baseline="-25000" dirty="0"/>
              <a:t>s</a:t>
            </a:r>
            <a:r>
              <a:rPr lang="en-US" sz="2800" dirty="0"/>
              <a:t> : encryption key for data sent from server to client</a:t>
            </a:r>
          </a:p>
          <a:p>
            <a:pPr marL="981075" lvl="1" indent="0">
              <a:buNone/>
            </a:pPr>
            <a:r>
              <a:rPr lang="en-US" sz="2800" dirty="0"/>
              <a:t>M</a:t>
            </a:r>
            <a:r>
              <a:rPr lang="en-US" sz="2800" baseline="-25000" dirty="0"/>
              <a:t>s</a:t>
            </a:r>
            <a:r>
              <a:rPr lang="en-US" sz="2800" dirty="0"/>
              <a:t> : MAC key for data sent from server to client</a:t>
            </a:r>
          </a:p>
          <a:p>
            <a:pPr indent="-287338"/>
            <a:r>
              <a:rPr lang="en-US" dirty="0"/>
              <a:t>keys derived from key derivation function (KDF)</a:t>
            </a:r>
          </a:p>
          <a:p>
            <a:pPr lvl="1"/>
            <a:r>
              <a:rPr lang="en-US" sz="2800" dirty="0"/>
              <a:t>takes master secret and (possibly) some additional random data to create new keys</a:t>
            </a:r>
          </a:p>
        </p:txBody>
      </p:sp>
      <p:pic>
        <p:nvPicPr>
          <p:cNvPr id="47" name="Picture 35" descr="BS00768_[1]">
            <a:extLst>
              <a:ext uri="{FF2B5EF4-FFF2-40B4-BE49-F238E27FC236}">
                <a16:creationId xmlns:a16="http://schemas.microsoft.com/office/drawing/2014/main" id="{27414126-EE53-FD47-8ED9-DC763D399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433729" y="3413389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" name="Picture 35" descr="BS00768_[1]">
            <a:extLst>
              <a:ext uri="{FF2B5EF4-FFF2-40B4-BE49-F238E27FC236}">
                <a16:creationId xmlns:a16="http://schemas.microsoft.com/office/drawing/2014/main" id="{02DF6332-5A79-2C45-BCE5-BF44842318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442259" y="3868685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4" name="Picture 35" descr="BS00768_[1]">
            <a:extLst>
              <a:ext uri="{FF2B5EF4-FFF2-40B4-BE49-F238E27FC236}">
                <a16:creationId xmlns:a16="http://schemas.microsoft.com/office/drawing/2014/main" id="{F83058A1-6959-C94F-87FF-4E2CF25595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440685" y="4323981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" name="Picture 35" descr="BS00768_[1]">
            <a:extLst>
              <a:ext uri="{FF2B5EF4-FFF2-40B4-BE49-F238E27FC236}">
                <a16:creationId xmlns:a16="http://schemas.microsoft.com/office/drawing/2014/main" id="{B126C34A-7E21-5748-86F0-D2A6A5BA27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1439111" y="4774225"/>
            <a:ext cx="4000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749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encrypting data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5A09AFE-D620-8942-B41C-B9107DCE60FC}"/>
              </a:ext>
            </a:extLst>
          </p:cNvPr>
          <p:cNvSpPr txBox="1">
            <a:spLocks noChangeArrowheads="1"/>
          </p:cNvSpPr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endParaRPr lang="en-US" sz="28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D25B207-1FB5-FF4B-8D7D-67C4A3D06A5A}"/>
              </a:ext>
            </a:extLst>
          </p:cNvPr>
          <p:cNvSpPr txBox="1">
            <a:spLocks noChangeArrowheads="1"/>
          </p:cNvSpPr>
          <p:nvPr/>
        </p:nvSpPr>
        <p:spPr>
          <a:xfrm>
            <a:off x="824946" y="1408042"/>
            <a:ext cx="10227367" cy="3362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recall: TCP provides data </a:t>
            </a:r>
            <a:r>
              <a:rPr lang="en-US" i="1" dirty="0"/>
              <a:t>byte</a:t>
            </a:r>
            <a:r>
              <a:rPr lang="en-US" dirty="0"/>
              <a:t> </a:t>
            </a:r>
            <a:r>
              <a:rPr lang="en-US" i="1" dirty="0"/>
              <a:t>stream</a:t>
            </a:r>
            <a:r>
              <a:rPr lang="en-US" dirty="0"/>
              <a:t> abstraction</a:t>
            </a:r>
          </a:p>
          <a:p>
            <a:r>
              <a:rPr lang="en-US" u="sng" dirty="0">
                <a:solidFill>
                  <a:srgbClr val="0012A0"/>
                </a:solidFill>
              </a:rPr>
              <a:t>Q: </a:t>
            </a:r>
            <a:r>
              <a:rPr lang="en-US" dirty="0"/>
              <a:t>can we encrypt data in-stream as written into TCP socket?</a:t>
            </a:r>
          </a:p>
          <a:p>
            <a:pPr lvl="1"/>
            <a:r>
              <a:rPr lang="en-US" sz="2800" i="1" u="sng" dirty="0">
                <a:solidFill>
                  <a:srgbClr val="0012A0"/>
                </a:solidFill>
              </a:rPr>
              <a:t>A: </a:t>
            </a:r>
            <a:r>
              <a:rPr lang="en-US" sz="2800" dirty="0"/>
              <a:t>where would MAC go? If at end, no message integrity until all data received and connection closed!</a:t>
            </a:r>
          </a:p>
          <a:p>
            <a:pPr lvl="1"/>
            <a:r>
              <a:rPr lang="en-US" sz="2800" i="1" u="sng" dirty="0">
                <a:solidFill>
                  <a:srgbClr val="0012A0"/>
                </a:solidFill>
              </a:rPr>
              <a:t>solution: </a:t>
            </a:r>
            <a:r>
              <a:rPr lang="en-US" sz="2800" dirty="0"/>
              <a:t>break stream in series of “records”</a:t>
            </a:r>
          </a:p>
          <a:p>
            <a:pPr lvl="2"/>
            <a:r>
              <a:rPr lang="en-US" sz="2800" dirty="0"/>
              <a:t>each client-to-server record carries a MAC, created using M</a:t>
            </a:r>
            <a:r>
              <a:rPr lang="en-US" sz="2800" baseline="-25000" dirty="0"/>
              <a:t>c</a:t>
            </a:r>
            <a:endParaRPr lang="en-US" sz="2800" dirty="0"/>
          </a:p>
          <a:p>
            <a:pPr lvl="2"/>
            <a:r>
              <a:rPr lang="en-US" sz="2800" dirty="0"/>
              <a:t>receiver can act on each record as it arrives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7CC204-2725-AB4C-B58B-7112F62D4A61}"/>
              </a:ext>
            </a:extLst>
          </p:cNvPr>
          <p:cNvGrpSpPr/>
          <p:nvPr/>
        </p:nvGrpSpPr>
        <p:grpSpPr>
          <a:xfrm>
            <a:off x="3259219" y="5449045"/>
            <a:ext cx="5723798" cy="700398"/>
            <a:chOff x="1748471" y="5104488"/>
            <a:chExt cx="5723798" cy="700398"/>
          </a:xfrm>
        </p:grpSpPr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64A9355E-2311-9848-B1C5-BF4F86752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8471" y="5111919"/>
              <a:ext cx="5723798" cy="609373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endParaRPr lang="en-US" sz="2000" dirty="0"/>
            </a:p>
          </p:txBody>
        </p:sp>
        <p:cxnSp>
          <p:nvCxnSpPr>
            <p:cNvPr id="19" name="Straight Connector 34">
              <a:extLst>
                <a:ext uri="{FF2B5EF4-FFF2-40B4-BE49-F238E27FC236}">
                  <a16:creationId xmlns:a16="http://schemas.microsoft.com/office/drawing/2014/main" id="{1ABCBCC2-8272-AF45-BA8C-D38FE21660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35104" y="5104488"/>
              <a:ext cx="0" cy="64570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0" name="Straight Connector 35">
              <a:extLst>
                <a:ext uri="{FF2B5EF4-FFF2-40B4-BE49-F238E27FC236}">
                  <a16:creationId xmlns:a16="http://schemas.microsoft.com/office/drawing/2014/main" id="{9E9D8E90-1CBE-084C-8FB6-ABEDC4C5E9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94902" y="5111544"/>
              <a:ext cx="0" cy="6933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3" name="TextBox 38">
              <a:extLst>
                <a:ext uri="{FF2B5EF4-FFF2-40B4-BE49-F238E27FC236}">
                  <a16:creationId xmlns:a16="http://schemas.microsoft.com/office/drawing/2014/main" id="{0F524D55-CED6-F640-B11D-905C1442C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572" y="5393635"/>
              <a:ext cx="1828776" cy="316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3200" dirty="0">
                  <a:solidFill>
                    <a:schemeClr val="bg1"/>
                  </a:solidFill>
                  <a:latin typeface="+mn-lt"/>
                  <a:cs typeface="Arial" charset="0"/>
                </a:rPr>
                <a:t>data</a:t>
              </a:r>
            </a:p>
          </p:txBody>
        </p:sp>
        <p:sp>
          <p:nvSpPr>
            <p:cNvPr id="24" name="TextBox 39">
              <a:extLst>
                <a:ext uri="{FF2B5EF4-FFF2-40B4-BE49-F238E27FC236}">
                  <a16:creationId xmlns:a16="http://schemas.microsoft.com/office/drawing/2014/main" id="{573DB687-A85D-7E4A-A7A7-2A1A38ECA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134" y="5354816"/>
              <a:ext cx="1070013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MAC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25" name="TextBox 40">
              <a:extLst>
                <a:ext uri="{FF2B5EF4-FFF2-40B4-BE49-F238E27FC236}">
                  <a16:creationId xmlns:a16="http://schemas.microsoft.com/office/drawing/2014/main" id="{95EFDCA5-DD6E-8E46-B7A8-A73629FF0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55217" y="5346778"/>
              <a:ext cx="1338345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length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2B18A76-F268-AC4E-9474-CBA7C17A826B}"/>
              </a:ext>
            </a:extLst>
          </p:cNvPr>
          <p:cNvGrpSpPr/>
          <p:nvPr/>
        </p:nvGrpSpPr>
        <p:grpSpPr>
          <a:xfrm>
            <a:off x="950842" y="4595190"/>
            <a:ext cx="10227367" cy="1602505"/>
            <a:chOff x="950842" y="4595190"/>
            <a:chExt cx="10227367" cy="1602505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C72136EC-BB48-374E-9FE9-B7E3E8583AE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50842" y="4595190"/>
              <a:ext cx="10227367" cy="6659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dirty="0"/>
                <a:t>t-tls record encrypted using symmetric key, K</a:t>
              </a:r>
              <a:r>
                <a:rPr lang="en-US" sz="2800" baseline="-25000" dirty="0"/>
                <a:t>c, </a:t>
              </a:r>
              <a:r>
                <a:rPr lang="en-US" sz="2800" dirty="0"/>
                <a:t>passed to TCP: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24A3BE-C0F4-2046-AE63-D800C557C227}"/>
                </a:ext>
              </a:extLst>
            </p:cNvPr>
            <p:cNvSpPr txBox="1"/>
            <p:nvPr/>
          </p:nvSpPr>
          <p:spPr>
            <a:xfrm>
              <a:off x="2358886" y="5274365"/>
              <a:ext cx="93576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0012A0"/>
                  </a:solidFill>
                </a:rPr>
                <a:t>K</a:t>
              </a:r>
              <a:r>
                <a:rPr lang="en-US" sz="5400" baseline="-25000" dirty="0">
                  <a:solidFill>
                    <a:srgbClr val="0012A0"/>
                  </a:solidFill>
                </a:rPr>
                <a:t>c</a:t>
              </a:r>
              <a:r>
                <a:rPr lang="en-US" sz="5400" dirty="0">
                  <a:solidFill>
                    <a:srgbClr val="0012A0"/>
                  </a:solidFill>
                </a:rPr>
                <a:t>(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797B9B9-4805-474C-8F87-6466AA4B4923}"/>
                </a:ext>
              </a:extLst>
            </p:cNvPr>
            <p:cNvSpPr txBox="1"/>
            <p:nvPr/>
          </p:nvSpPr>
          <p:spPr>
            <a:xfrm>
              <a:off x="9084364" y="5254488"/>
              <a:ext cx="394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0012A0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8589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encrypting data </a:t>
            </a:r>
            <a:r>
              <a:rPr lang="en-US" sz="3600" b="0" dirty="0">
                <a:latin typeface="+mn-lt"/>
              </a:rPr>
              <a:t>(more)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5A09AFE-D620-8942-B41C-B9107DCE60FC}"/>
              </a:ext>
            </a:extLst>
          </p:cNvPr>
          <p:cNvSpPr txBox="1">
            <a:spLocks noChangeArrowheads="1"/>
          </p:cNvSpPr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endParaRPr lang="en-US" sz="2800"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D25B207-1FB5-FF4B-8D7D-67C4A3D06A5A}"/>
              </a:ext>
            </a:extLst>
          </p:cNvPr>
          <p:cNvSpPr txBox="1">
            <a:spLocks noChangeArrowheads="1"/>
          </p:cNvSpPr>
          <p:nvPr/>
        </p:nvSpPr>
        <p:spPr>
          <a:xfrm>
            <a:off x="824946" y="1408042"/>
            <a:ext cx="10770706" cy="1865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possible attacks on data stream?</a:t>
            </a:r>
          </a:p>
          <a:p>
            <a:pPr lvl="1"/>
            <a:r>
              <a:rPr lang="en-US" sz="2800" i="1" dirty="0">
                <a:solidFill>
                  <a:srgbClr val="0012A0"/>
                </a:solidFill>
              </a:rPr>
              <a:t>re-ordering: </a:t>
            </a:r>
            <a:r>
              <a:rPr lang="en-US" sz="2800" dirty="0"/>
              <a:t>man-in middle intercepts TCP segments and reorders (manipulating sequence #s in unencrypted TCP header)</a:t>
            </a:r>
          </a:p>
          <a:p>
            <a:pPr lvl="1"/>
            <a:r>
              <a:rPr lang="en-US" sz="2800" i="1" dirty="0">
                <a:solidFill>
                  <a:srgbClr val="0012A0"/>
                </a:solidFill>
              </a:rPr>
              <a:t>replay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D10C6FCF-6552-434B-A569-0DFC7248D525}"/>
              </a:ext>
            </a:extLst>
          </p:cNvPr>
          <p:cNvSpPr txBox="1">
            <a:spLocks noChangeArrowheads="1"/>
          </p:cNvSpPr>
          <p:nvPr/>
        </p:nvSpPr>
        <p:spPr>
          <a:xfrm>
            <a:off x="738807" y="3124198"/>
            <a:ext cx="10770706" cy="18652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solutions:</a:t>
            </a:r>
          </a:p>
          <a:p>
            <a:pPr lvl="1"/>
            <a:r>
              <a:rPr lang="en-US" sz="2800" dirty="0"/>
              <a:t>use TLS sequence numbers (data, TLS-seq-# incorporated into MAC)</a:t>
            </a:r>
          </a:p>
          <a:p>
            <a:pPr lvl="1"/>
            <a:r>
              <a:rPr lang="en-US" sz="2800" dirty="0"/>
              <a:t>use nonce</a:t>
            </a:r>
          </a:p>
        </p:txBody>
      </p:sp>
    </p:spTree>
    <p:extLst>
      <p:ext uri="{BB962C8B-B14F-4D97-AF65-F5344CB8AC3E}">
        <p14:creationId xmlns:p14="http://schemas.microsoft.com/office/powerpoint/2010/main" val="3785819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t-tls: connection close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4" name="Rectangle 3">
            <a:extLst>
              <a:ext uri="{FF2B5EF4-FFF2-40B4-BE49-F238E27FC236}">
                <a16:creationId xmlns:a16="http://schemas.microsoft.com/office/drawing/2014/main" id="{45A09AFE-D620-8942-B41C-B9107DCE60FC}"/>
              </a:ext>
            </a:extLst>
          </p:cNvPr>
          <p:cNvSpPr txBox="1">
            <a:spLocks noChangeArrowheads="1"/>
          </p:cNvSpPr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endParaRPr lang="en-US" sz="2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C7CC204-2725-AB4C-B58B-7112F62D4A61}"/>
              </a:ext>
            </a:extLst>
          </p:cNvPr>
          <p:cNvGrpSpPr/>
          <p:nvPr/>
        </p:nvGrpSpPr>
        <p:grpSpPr>
          <a:xfrm>
            <a:off x="2515561" y="4712132"/>
            <a:ext cx="6745752" cy="719730"/>
            <a:chOff x="726517" y="5104488"/>
            <a:chExt cx="6745752" cy="719730"/>
          </a:xfrm>
        </p:grpSpPr>
        <p:sp>
          <p:nvSpPr>
            <p:cNvPr id="15" name="Rectangle 1">
              <a:extLst>
                <a:ext uri="{FF2B5EF4-FFF2-40B4-BE49-F238E27FC236}">
                  <a16:creationId xmlns:a16="http://schemas.microsoft.com/office/drawing/2014/main" id="{64A9355E-2311-9848-B1C5-BF4F867525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795" y="5111919"/>
              <a:ext cx="6622474" cy="609373"/>
            </a:xfrm>
            <a:prstGeom prst="rect">
              <a:avLst/>
            </a:prstGeom>
            <a:solidFill>
              <a:srgbClr val="00B050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txBody>
            <a:bodyPr wrap="none"/>
            <a:lstStyle/>
            <a:p>
              <a:endParaRPr lang="en-US" sz="2000" dirty="0"/>
            </a:p>
          </p:txBody>
        </p:sp>
        <p:cxnSp>
          <p:nvCxnSpPr>
            <p:cNvPr id="19" name="Straight Connector 34">
              <a:extLst>
                <a:ext uri="{FF2B5EF4-FFF2-40B4-BE49-F238E27FC236}">
                  <a16:creationId xmlns:a16="http://schemas.microsoft.com/office/drawing/2014/main" id="{1ABCBCC2-8272-AF45-BA8C-D38FE216609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035104" y="5104488"/>
              <a:ext cx="0" cy="645706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cxnSp>
          <p:nvCxnSpPr>
            <p:cNvPr id="20" name="Straight Connector 35">
              <a:extLst>
                <a:ext uri="{FF2B5EF4-FFF2-40B4-BE49-F238E27FC236}">
                  <a16:creationId xmlns:a16="http://schemas.microsoft.com/office/drawing/2014/main" id="{9E9D8E90-1CBE-084C-8FB6-ABEDC4C5E9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94902" y="5111544"/>
              <a:ext cx="0" cy="6933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23" name="TextBox 38">
              <a:extLst>
                <a:ext uri="{FF2B5EF4-FFF2-40B4-BE49-F238E27FC236}">
                  <a16:creationId xmlns:a16="http://schemas.microsoft.com/office/drawing/2014/main" id="{0F524D55-CED6-F640-B11D-905C1442C8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9572" y="5393635"/>
              <a:ext cx="1828776" cy="3160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sz="3200" dirty="0">
                  <a:solidFill>
                    <a:schemeClr val="bg1"/>
                  </a:solidFill>
                  <a:latin typeface="+mn-lt"/>
                  <a:cs typeface="Arial" charset="0"/>
                </a:rPr>
                <a:t>data</a:t>
              </a:r>
            </a:p>
          </p:txBody>
        </p:sp>
        <p:sp>
          <p:nvSpPr>
            <p:cNvPr id="24" name="TextBox 39">
              <a:extLst>
                <a:ext uri="{FF2B5EF4-FFF2-40B4-BE49-F238E27FC236}">
                  <a16:creationId xmlns:a16="http://schemas.microsoft.com/office/drawing/2014/main" id="{573DB687-A85D-7E4A-A7A7-2A1A38ECAD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134" y="5354816"/>
              <a:ext cx="1070013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MAC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25" name="TextBox 40">
              <a:extLst>
                <a:ext uri="{FF2B5EF4-FFF2-40B4-BE49-F238E27FC236}">
                  <a16:creationId xmlns:a16="http://schemas.microsoft.com/office/drawing/2014/main" id="{95EFDCA5-DD6E-8E46-B7A8-A73629FF01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517" y="5355912"/>
              <a:ext cx="1338345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length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  <p:sp>
          <p:nvSpPr>
            <p:cNvPr id="21" name="TextBox 40">
              <a:extLst>
                <a:ext uri="{FF2B5EF4-FFF2-40B4-BE49-F238E27FC236}">
                  <a16:creationId xmlns:a16="http://schemas.microsoft.com/office/drawing/2014/main" id="{40349773-0930-D141-AEDF-6487C739A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177" y="5344482"/>
              <a:ext cx="1338345" cy="2889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2pPr>
              <a:lvl3pPr marL="11430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3pPr>
              <a:lvl4pPr marL="16002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4pPr>
              <a:lvl5pPr marL="2057400" indent="-228600"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i="1">
                  <a:solidFill>
                    <a:schemeClr val="tx1"/>
                  </a:solidFill>
                  <a:latin typeface="Comic Sans MS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200"/>
                </a:lnSpc>
              </a:pPr>
              <a:r>
                <a:rPr lang="en-US" dirty="0">
                  <a:solidFill>
                    <a:schemeClr val="bg1"/>
                  </a:solidFill>
                  <a:latin typeface="+mn-lt"/>
                  <a:cs typeface="Arial" charset="0"/>
                </a:rPr>
                <a:t>type</a:t>
              </a:r>
              <a:endParaRPr lang="en-US" sz="1800" dirty="0">
                <a:solidFill>
                  <a:schemeClr val="bg1"/>
                </a:solidFill>
                <a:latin typeface="+mn-lt"/>
                <a:cs typeface="Arial" charset="0"/>
              </a:endParaRPr>
            </a:p>
          </p:txBody>
        </p:sp>
        <p:cxnSp>
          <p:nvCxnSpPr>
            <p:cNvPr id="22" name="Straight Connector 35">
              <a:extLst>
                <a:ext uri="{FF2B5EF4-FFF2-40B4-BE49-F238E27FC236}">
                  <a16:creationId xmlns:a16="http://schemas.microsoft.com/office/drawing/2014/main" id="{ACA878E9-7BAB-4547-BDA6-CEACC26C2C2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55412" y="5130876"/>
              <a:ext cx="0" cy="693342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2B18A76-F268-AC4E-9474-CBA7C17A826B}"/>
              </a:ext>
            </a:extLst>
          </p:cNvPr>
          <p:cNvGrpSpPr/>
          <p:nvPr/>
        </p:nvGrpSpPr>
        <p:grpSpPr>
          <a:xfrm>
            <a:off x="1176130" y="3879573"/>
            <a:ext cx="10227367" cy="1582628"/>
            <a:chOff x="950842" y="4595190"/>
            <a:chExt cx="10227367" cy="1582628"/>
          </a:xfrm>
        </p:grpSpPr>
        <p:sp>
          <p:nvSpPr>
            <p:cNvPr id="29" name="Rectangle 3">
              <a:extLst>
                <a:ext uri="{FF2B5EF4-FFF2-40B4-BE49-F238E27FC236}">
                  <a16:creationId xmlns:a16="http://schemas.microsoft.com/office/drawing/2014/main" id="{C72136EC-BB48-374E-9FE9-B7E3E8583AEA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950842" y="4595190"/>
              <a:ext cx="10227367" cy="665923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280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224A3BE-C0F4-2046-AE63-D800C557C227}"/>
                </a:ext>
              </a:extLst>
            </p:cNvPr>
            <p:cNvSpPr txBox="1"/>
            <p:nvPr/>
          </p:nvSpPr>
          <p:spPr>
            <a:xfrm>
              <a:off x="1547356" y="5240075"/>
              <a:ext cx="93576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0012A0"/>
                  </a:solidFill>
                </a:rPr>
                <a:t>K</a:t>
              </a:r>
              <a:r>
                <a:rPr lang="en-US" sz="5400" baseline="-25000" dirty="0">
                  <a:solidFill>
                    <a:srgbClr val="0012A0"/>
                  </a:solidFill>
                </a:rPr>
                <a:t>c</a:t>
              </a:r>
              <a:r>
                <a:rPr lang="en-US" sz="5400" dirty="0">
                  <a:solidFill>
                    <a:srgbClr val="0012A0"/>
                  </a:solidFill>
                </a:rPr>
                <a:t>(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797B9B9-4805-474C-8F87-6466AA4B4923}"/>
                </a:ext>
              </a:extLst>
            </p:cNvPr>
            <p:cNvSpPr txBox="1"/>
            <p:nvPr/>
          </p:nvSpPr>
          <p:spPr>
            <a:xfrm>
              <a:off x="9084364" y="5254488"/>
              <a:ext cx="39466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dirty="0">
                  <a:solidFill>
                    <a:srgbClr val="0012A0"/>
                  </a:solidFill>
                </a:rPr>
                <a:t>)</a:t>
              </a:r>
            </a:p>
          </p:txBody>
        </p:sp>
      </p:grpSp>
      <p:sp>
        <p:nvSpPr>
          <p:cNvPr id="18" name="Rectangle 3">
            <a:extLst>
              <a:ext uri="{FF2B5EF4-FFF2-40B4-BE49-F238E27FC236}">
                <a16:creationId xmlns:a16="http://schemas.microsoft.com/office/drawing/2014/main" id="{CFB3BD4C-9E5D-884B-8F72-F51F636D1647}"/>
              </a:ext>
            </a:extLst>
          </p:cNvPr>
          <p:cNvSpPr txBox="1">
            <a:spLocks noChangeArrowheads="1"/>
          </p:cNvSpPr>
          <p:nvPr/>
        </p:nvSpPr>
        <p:spPr>
          <a:xfrm>
            <a:off x="1222512" y="1507434"/>
            <a:ext cx="10969487" cy="3821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truncation attack: </a:t>
            </a:r>
          </a:p>
          <a:p>
            <a:pPr lvl="1"/>
            <a:r>
              <a:rPr lang="en-US" sz="2800" dirty="0"/>
              <a:t>attacker forges TCP connection close segment</a:t>
            </a:r>
          </a:p>
          <a:p>
            <a:pPr lvl="1"/>
            <a:r>
              <a:rPr lang="en-US" sz="2800" dirty="0"/>
              <a:t>one or both sides thinks there is less data than there actually is </a:t>
            </a:r>
          </a:p>
          <a:p>
            <a:r>
              <a:rPr lang="en-US" dirty="0">
                <a:solidFill>
                  <a:srgbClr val="0012A0"/>
                </a:solidFill>
              </a:rPr>
              <a:t>solution: </a:t>
            </a:r>
            <a:r>
              <a:rPr lang="en-US" dirty="0"/>
              <a:t>record types, with one type for closure</a:t>
            </a:r>
          </a:p>
          <a:p>
            <a:pPr lvl="1"/>
            <a:r>
              <a:rPr lang="en-US" dirty="0"/>
              <a:t>type 0 for data; type 1 for close</a:t>
            </a:r>
          </a:p>
          <a:p>
            <a:r>
              <a:rPr lang="en-US" dirty="0"/>
              <a:t>MAC now computed using data, type, sequence #</a:t>
            </a:r>
          </a:p>
        </p:txBody>
      </p:sp>
    </p:spTree>
    <p:extLst>
      <p:ext uri="{BB962C8B-B14F-4D97-AF65-F5344CB8AC3E}">
        <p14:creationId xmlns:p14="http://schemas.microsoft.com/office/powerpoint/2010/main" val="2740477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E75DA-960F-9E42-A5A3-3B8B45FCB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451" y="1631260"/>
            <a:ext cx="10850217" cy="4875557"/>
          </a:xfrm>
        </p:spPr>
        <p:txBody>
          <a:bodyPr>
            <a:normAutofit/>
          </a:bodyPr>
          <a:lstStyle/>
          <a:p>
            <a:r>
              <a:rPr lang="en-US" dirty="0"/>
              <a:t>“cipher suite”: algorithms that can be used for key generation, encryption, MAC, digital signature</a:t>
            </a:r>
          </a:p>
          <a:p>
            <a:r>
              <a:rPr lang="en-US" dirty="0"/>
              <a:t>TLS: 1.3 </a:t>
            </a:r>
            <a:r>
              <a:rPr lang="en-US" sz="2000" dirty="0"/>
              <a:t>(2018)</a:t>
            </a:r>
            <a:r>
              <a:rPr lang="en-US" sz="3200" dirty="0"/>
              <a:t>:</a:t>
            </a:r>
            <a:r>
              <a:rPr lang="en-US" dirty="0"/>
              <a:t> more limited cipher suite choice than TLS 1.2 </a:t>
            </a:r>
            <a:r>
              <a:rPr lang="en-US" sz="2000" dirty="0"/>
              <a:t>(2008)</a:t>
            </a:r>
          </a:p>
          <a:p>
            <a:pPr lvl="1"/>
            <a:r>
              <a:rPr lang="en-US" sz="2800" dirty="0"/>
              <a:t>only 5 choices, rather than 37 choices</a:t>
            </a:r>
          </a:p>
          <a:p>
            <a:pPr lvl="1"/>
            <a:r>
              <a:rPr lang="en-US" sz="2800" i="1" dirty="0"/>
              <a:t>requires</a:t>
            </a:r>
            <a:r>
              <a:rPr lang="en-US" sz="2800" dirty="0"/>
              <a:t> Diffie-Hellman (DH) for key exchange, rather than DH or RSA</a:t>
            </a:r>
          </a:p>
          <a:p>
            <a:pPr lvl="1"/>
            <a:r>
              <a:rPr lang="en-US" sz="2800" dirty="0"/>
              <a:t>combined encryption and authentication algorithm (“authenticated encryption”) for data rather than serial encryption, authentication</a:t>
            </a:r>
          </a:p>
          <a:p>
            <a:pPr lvl="2"/>
            <a:r>
              <a:rPr lang="en-US" sz="2400" dirty="0"/>
              <a:t>4 based on AES</a:t>
            </a:r>
          </a:p>
          <a:p>
            <a:pPr lvl="1"/>
            <a:r>
              <a:rPr lang="en-US" sz="2800" dirty="0"/>
              <a:t>HMAC uses SHA (256 or 284) cryptographic hash function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TLS: 1.3 cipher suite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67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TLS 1.3 handshake: 1 RTT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7" name="Line 73">
            <a:extLst>
              <a:ext uri="{FF2B5EF4-FFF2-40B4-BE49-F238E27FC236}">
                <a16:creationId xmlns:a16="http://schemas.microsoft.com/office/drawing/2014/main" id="{FD2D2176-5510-9F45-87FD-D6A6EC51F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0269" y="2213057"/>
            <a:ext cx="4486220" cy="109998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8" name="Line 74">
            <a:extLst>
              <a:ext uri="{FF2B5EF4-FFF2-40B4-BE49-F238E27FC236}">
                <a16:creationId xmlns:a16="http://schemas.microsoft.com/office/drawing/2014/main" id="{9C9A11CD-F0BB-C549-A8F8-6D4FF0D12F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17983" y="2123298"/>
            <a:ext cx="52309" cy="374741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30" name="Group 92">
            <a:extLst>
              <a:ext uri="{FF2B5EF4-FFF2-40B4-BE49-F238E27FC236}">
                <a16:creationId xmlns:a16="http://schemas.microsoft.com/office/drawing/2014/main" id="{6E8A024B-934D-504C-8896-F75B17C4E30C}"/>
              </a:ext>
            </a:extLst>
          </p:cNvPr>
          <p:cNvGrpSpPr>
            <a:grpSpLocks/>
          </p:cNvGrpSpPr>
          <p:nvPr/>
        </p:nvGrpSpPr>
        <p:grpSpPr bwMode="auto">
          <a:xfrm>
            <a:off x="977632" y="1543313"/>
            <a:ext cx="775403" cy="566176"/>
            <a:chOff x="-44" y="1473"/>
            <a:chExt cx="981" cy="1105"/>
          </a:xfrm>
        </p:grpSpPr>
        <p:pic>
          <p:nvPicPr>
            <p:cNvPr id="31" name="Picture 93" descr="desktop_computer_stylized_medium">
              <a:extLst>
                <a:ext uri="{FF2B5EF4-FFF2-40B4-BE49-F238E27FC236}">
                  <a16:creationId xmlns:a16="http://schemas.microsoft.com/office/drawing/2014/main" id="{FFF52D87-075E-6348-BE99-E8EC7CD1E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94">
              <a:extLst>
                <a:ext uri="{FF2B5EF4-FFF2-40B4-BE49-F238E27FC236}">
                  <a16:creationId xmlns:a16="http://schemas.microsoft.com/office/drawing/2014/main" id="{D7116080-D36D-CD47-8C70-8E42B60EEB2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" name="Group 95">
            <a:extLst>
              <a:ext uri="{FF2B5EF4-FFF2-40B4-BE49-F238E27FC236}">
                <a16:creationId xmlns:a16="http://schemas.microsoft.com/office/drawing/2014/main" id="{139F01BA-E014-9249-B995-5FAC9C861608}"/>
              </a:ext>
            </a:extLst>
          </p:cNvPr>
          <p:cNvGrpSpPr>
            <a:grpSpLocks/>
          </p:cNvGrpSpPr>
          <p:nvPr/>
        </p:nvGrpSpPr>
        <p:grpSpPr bwMode="auto">
          <a:xfrm>
            <a:off x="5846659" y="1522600"/>
            <a:ext cx="318750" cy="557545"/>
            <a:chOff x="4140" y="429"/>
            <a:chExt cx="1425" cy="2396"/>
          </a:xfrm>
        </p:grpSpPr>
        <p:sp>
          <p:nvSpPr>
            <p:cNvPr id="34" name="Freeform 96">
              <a:extLst>
                <a:ext uri="{FF2B5EF4-FFF2-40B4-BE49-F238E27FC236}">
                  <a16:creationId xmlns:a16="http://schemas.microsoft.com/office/drawing/2014/main" id="{26F68C99-0453-5B45-95CB-564AAAC97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Rectangle 97">
              <a:extLst>
                <a:ext uri="{FF2B5EF4-FFF2-40B4-BE49-F238E27FC236}">
                  <a16:creationId xmlns:a16="http://schemas.microsoft.com/office/drawing/2014/main" id="{86B8B2EC-8A39-8744-AEE7-7DE596B8F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36" name="Freeform 98">
              <a:extLst>
                <a:ext uri="{FF2B5EF4-FFF2-40B4-BE49-F238E27FC236}">
                  <a16:creationId xmlns:a16="http://schemas.microsoft.com/office/drawing/2014/main" id="{B016FCC5-1355-7C46-BE07-AA386B36F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" name="Freeform 99">
              <a:extLst>
                <a:ext uri="{FF2B5EF4-FFF2-40B4-BE49-F238E27FC236}">
                  <a16:creationId xmlns:a16="http://schemas.microsoft.com/office/drawing/2014/main" id="{E10DD31D-2B99-5E4F-ACC6-3EE07F59D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" name="Rectangle 100">
              <a:extLst>
                <a:ext uri="{FF2B5EF4-FFF2-40B4-BE49-F238E27FC236}">
                  <a16:creationId xmlns:a16="http://schemas.microsoft.com/office/drawing/2014/main" id="{07D055DB-84BC-8141-BF69-FEB62694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39" name="Group 101">
              <a:extLst>
                <a:ext uri="{FF2B5EF4-FFF2-40B4-BE49-F238E27FC236}">
                  <a16:creationId xmlns:a16="http://schemas.microsoft.com/office/drawing/2014/main" id="{7EBA2B7C-6079-8746-B162-23AD0AB2A8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5" name="AutoShape 102">
                <a:extLst>
                  <a:ext uri="{FF2B5EF4-FFF2-40B4-BE49-F238E27FC236}">
                    <a16:creationId xmlns:a16="http://schemas.microsoft.com/office/drawing/2014/main" id="{0B5CF742-03A1-6840-937B-1734F87445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6" name="AutoShape 103">
                <a:extLst>
                  <a:ext uri="{FF2B5EF4-FFF2-40B4-BE49-F238E27FC236}">
                    <a16:creationId xmlns:a16="http://schemas.microsoft.com/office/drawing/2014/main" id="{B8E8974D-EF0D-0B4E-B873-CD95E1DB3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" name="Rectangle 104">
              <a:extLst>
                <a:ext uri="{FF2B5EF4-FFF2-40B4-BE49-F238E27FC236}">
                  <a16:creationId xmlns:a16="http://schemas.microsoft.com/office/drawing/2014/main" id="{C1375B90-3426-4144-81E9-3AB17E3B5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1" name="Group 105">
              <a:extLst>
                <a:ext uri="{FF2B5EF4-FFF2-40B4-BE49-F238E27FC236}">
                  <a16:creationId xmlns:a16="http://schemas.microsoft.com/office/drawing/2014/main" id="{F5B4E34A-A543-A54C-B5B9-24CF5E72B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3" name="AutoShape 106">
                <a:extLst>
                  <a:ext uri="{FF2B5EF4-FFF2-40B4-BE49-F238E27FC236}">
                    <a16:creationId xmlns:a16="http://schemas.microsoft.com/office/drawing/2014/main" id="{4460BD36-1985-6243-8FEF-6363BA07C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4" name="AutoShape 107">
                <a:extLst>
                  <a:ext uri="{FF2B5EF4-FFF2-40B4-BE49-F238E27FC236}">
                    <a16:creationId xmlns:a16="http://schemas.microsoft.com/office/drawing/2014/main" id="{04A041AD-0228-384D-A83E-190B8418A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" name="Rectangle 108">
              <a:extLst>
                <a:ext uri="{FF2B5EF4-FFF2-40B4-BE49-F238E27FC236}">
                  <a16:creationId xmlns:a16="http://schemas.microsoft.com/office/drawing/2014/main" id="{996612E0-5C46-C249-9643-F7B6C380E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3" name="Rectangle 109">
              <a:extLst>
                <a:ext uri="{FF2B5EF4-FFF2-40B4-BE49-F238E27FC236}">
                  <a16:creationId xmlns:a16="http://schemas.microsoft.com/office/drawing/2014/main" id="{DCF6931C-69E4-FE4E-B760-71FAC5A16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4" name="Group 110">
              <a:extLst>
                <a:ext uri="{FF2B5EF4-FFF2-40B4-BE49-F238E27FC236}">
                  <a16:creationId xmlns:a16="http://schemas.microsoft.com/office/drawing/2014/main" id="{CAB625F0-0691-D04B-B240-3FB9F11663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1" name="AutoShape 111">
                <a:extLst>
                  <a:ext uri="{FF2B5EF4-FFF2-40B4-BE49-F238E27FC236}">
                    <a16:creationId xmlns:a16="http://schemas.microsoft.com/office/drawing/2014/main" id="{1798E5BB-0EE4-B14D-A096-D6DF8E1A3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2" name="AutoShape 112">
                <a:extLst>
                  <a:ext uri="{FF2B5EF4-FFF2-40B4-BE49-F238E27FC236}">
                    <a16:creationId xmlns:a16="http://schemas.microsoft.com/office/drawing/2014/main" id="{37D6D764-BBE7-2C4C-B814-C8433A252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5" name="Freeform 113">
              <a:extLst>
                <a:ext uri="{FF2B5EF4-FFF2-40B4-BE49-F238E27FC236}">
                  <a16:creationId xmlns:a16="http://schemas.microsoft.com/office/drawing/2014/main" id="{2735D8B7-00A2-114C-8592-1506F5632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6" name="Group 114">
              <a:extLst>
                <a:ext uri="{FF2B5EF4-FFF2-40B4-BE49-F238E27FC236}">
                  <a16:creationId xmlns:a16="http://schemas.microsoft.com/office/drawing/2014/main" id="{D2FEF0BF-A9A6-B94E-AEC6-B75180F9C2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9" name="AutoShape 115">
                <a:extLst>
                  <a:ext uri="{FF2B5EF4-FFF2-40B4-BE49-F238E27FC236}">
                    <a16:creationId xmlns:a16="http://schemas.microsoft.com/office/drawing/2014/main" id="{8ED374E1-9B28-E146-BDED-A72B05703C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0" name="AutoShape 116">
                <a:extLst>
                  <a:ext uri="{FF2B5EF4-FFF2-40B4-BE49-F238E27FC236}">
                    <a16:creationId xmlns:a16="http://schemas.microsoft.com/office/drawing/2014/main" id="{D587FE6E-D81D-534E-8051-418AD812D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7" name="Rectangle 117">
              <a:extLst>
                <a:ext uri="{FF2B5EF4-FFF2-40B4-BE49-F238E27FC236}">
                  <a16:creationId xmlns:a16="http://schemas.microsoft.com/office/drawing/2014/main" id="{B1AB82F8-F3C2-2C41-87BC-893365048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8" name="Freeform 118">
              <a:extLst>
                <a:ext uri="{FF2B5EF4-FFF2-40B4-BE49-F238E27FC236}">
                  <a16:creationId xmlns:a16="http://schemas.microsoft.com/office/drawing/2014/main" id="{FFFBD39F-75BA-A04D-A04B-8A96E3641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" name="Freeform 119">
              <a:extLst>
                <a:ext uri="{FF2B5EF4-FFF2-40B4-BE49-F238E27FC236}">
                  <a16:creationId xmlns:a16="http://schemas.microsoft.com/office/drawing/2014/main" id="{423E4EEF-52F1-274F-8150-7B8FE36B1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Oval 120">
              <a:extLst>
                <a:ext uri="{FF2B5EF4-FFF2-40B4-BE49-F238E27FC236}">
                  <a16:creationId xmlns:a16="http://schemas.microsoft.com/office/drawing/2014/main" id="{8E622F2C-9916-E44C-8D15-A3EB50990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1" name="Freeform 121">
              <a:extLst>
                <a:ext uri="{FF2B5EF4-FFF2-40B4-BE49-F238E27FC236}">
                  <a16:creationId xmlns:a16="http://schemas.microsoft.com/office/drawing/2014/main" id="{2B2C122C-9558-C74A-B292-6745935E5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AutoShape 122">
              <a:extLst>
                <a:ext uri="{FF2B5EF4-FFF2-40B4-BE49-F238E27FC236}">
                  <a16:creationId xmlns:a16="http://schemas.microsoft.com/office/drawing/2014/main" id="{9EB66954-1692-804C-9BE3-43BB692ED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4" name="AutoShape 123">
              <a:extLst>
                <a:ext uri="{FF2B5EF4-FFF2-40B4-BE49-F238E27FC236}">
                  <a16:creationId xmlns:a16="http://schemas.microsoft.com/office/drawing/2014/main" id="{2BACD6F5-3BD3-8443-98EE-6D7911FBA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5" name="Oval 124">
              <a:extLst>
                <a:ext uri="{FF2B5EF4-FFF2-40B4-BE49-F238E27FC236}">
                  <a16:creationId xmlns:a16="http://schemas.microsoft.com/office/drawing/2014/main" id="{2287EC08-ED14-2548-BC2D-0D0B10C39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6" name="Oval 125">
              <a:extLst>
                <a:ext uri="{FF2B5EF4-FFF2-40B4-BE49-F238E27FC236}">
                  <a16:creationId xmlns:a16="http://schemas.microsoft.com/office/drawing/2014/main" id="{31709B70-F20F-5045-B062-881A30E1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endParaRPr>
            </a:p>
          </p:txBody>
        </p:sp>
        <p:sp>
          <p:nvSpPr>
            <p:cNvPr id="57" name="Oval 126">
              <a:extLst>
                <a:ext uri="{FF2B5EF4-FFF2-40B4-BE49-F238E27FC236}">
                  <a16:creationId xmlns:a16="http://schemas.microsoft.com/office/drawing/2014/main" id="{2AB72B66-2D1D-5D48-9738-F7A60A6DE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8" name="Rectangle 127">
              <a:extLst>
                <a:ext uri="{FF2B5EF4-FFF2-40B4-BE49-F238E27FC236}">
                  <a16:creationId xmlns:a16="http://schemas.microsoft.com/office/drawing/2014/main" id="{5182F070-FBAE-C742-8223-21FCE45B2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sp>
        <p:nvSpPr>
          <p:cNvPr id="67" name="Line 74">
            <a:extLst>
              <a:ext uri="{FF2B5EF4-FFF2-40B4-BE49-F238E27FC236}">
                <a16:creationId xmlns:a16="http://schemas.microsoft.com/office/drawing/2014/main" id="{B6EBBF64-96C1-1946-824F-FA9C089FD9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0104" y="2037159"/>
            <a:ext cx="52309" cy="374741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68" name="Line 73">
            <a:extLst>
              <a:ext uri="{FF2B5EF4-FFF2-40B4-BE49-F238E27FC236}">
                <a16:creationId xmlns:a16="http://schemas.microsoft.com/office/drawing/2014/main" id="{73AB1539-E1D3-A74D-B91D-21C37901A4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0389" y="3419059"/>
            <a:ext cx="4453089" cy="748747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70" name="Line 73">
            <a:extLst>
              <a:ext uri="{FF2B5EF4-FFF2-40B4-BE49-F238E27FC236}">
                <a16:creationId xmlns:a16="http://schemas.microsoft.com/office/drawing/2014/main" id="{B119B6F9-3051-4845-8DC3-AC7CA82816D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10390" y="4446052"/>
            <a:ext cx="4466341" cy="762054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66FD78D8-A011-BF41-BF8B-F55B6EBED7DB}"/>
              </a:ext>
            </a:extLst>
          </p:cNvPr>
          <p:cNvGrpSpPr/>
          <p:nvPr/>
        </p:nvGrpSpPr>
        <p:grpSpPr>
          <a:xfrm>
            <a:off x="1706701" y="1921563"/>
            <a:ext cx="3024326" cy="1148008"/>
            <a:chOff x="1706701" y="1921563"/>
            <a:chExt cx="3024326" cy="1148008"/>
          </a:xfrm>
        </p:grpSpPr>
        <p:sp>
          <p:nvSpPr>
            <p:cNvPr id="21" name="Rectangle 77">
              <a:extLst>
                <a:ext uri="{FF2B5EF4-FFF2-40B4-BE49-F238E27FC236}">
                  <a16:creationId xmlns:a16="http://schemas.microsoft.com/office/drawing/2014/main" id="{F8CA38D6-DA75-DA48-A714-1C05DAF7BD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2912" y="2409556"/>
              <a:ext cx="1049579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23" name="Rectangle 79">
              <a:extLst>
                <a:ext uri="{FF2B5EF4-FFF2-40B4-BE49-F238E27FC236}">
                  <a16:creationId xmlns:a16="http://schemas.microsoft.com/office/drawing/2014/main" id="{27341C0E-38B0-8E4B-B70A-41ED33D9D6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8572" y="2658404"/>
              <a:ext cx="593334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3C8411C-D034-C847-A430-7115B6AF6DC3}"/>
                </a:ext>
              </a:extLst>
            </p:cNvPr>
            <p:cNvSpPr/>
            <p:nvPr/>
          </p:nvSpPr>
          <p:spPr>
            <a:xfrm>
              <a:off x="2067341" y="1921563"/>
              <a:ext cx="2637181" cy="1126435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0B4A451-6D15-754A-81D3-3A6437D01540}"/>
                </a:ext>
              </a:extLst>
            </p:cNvPr>
            <p:cNvSpPr txBox="1"/>
            <p:nvPr/>
          </p:nvSpPr>
          <p:spPr>
            <a:xfrm>
              <a:off x="2054088" y="1921564"/>
              <a:ext cx="2676939" cy="11480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client hello: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/>
                <a:t>supported cipher suites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/>
                <a:t>DH key agreement protocol, parameters</a:t>
              </a: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79AF327-7180-2D4F-B786-6C4D99E8780B}"/>
                </a:ext>
              </a:extLst>
            </p:cNvPr>
            <p:cNvGrpSpPr/>
            <p:nvPr/>
          </p:nvGrpSpPr>
          <p:grpSpPr>
            <a:xfrm>
              <a:off x="1706701" y="2080591"/>
              <a:ext cx="318052" cy="369332"/>
              <a:chOff x="10015814" y="1484244"/>
              <a:chExt cx="318052" cy="369332"/>
            </a:xfrm>
          </p:grpSpPr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C56D9E5A-5ED3-374B-9790-3B78253C2B98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A0280EBC-BB7A-564A-963E-3E72488991D3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</p:grpSp>
      </p:grpSp>
      <p:grpSp>
        <p:nvGrpSpPr>
          <p:cNvPr id="111" name="Group 110">
            <a:extLst>
              <a:ext uri="{FF2B5EF4-FFF2-40B4-BE49-F238E27FC236}">
                <a16:creationId xmlns:a16="http://schemas.microsoft.com/office/drawing/2014/main" id="{AAE94685-FD97-0B41-8CD2-EFB1AACB74B8}"/>
              </a:ext>
            </a:extLst>
          </p:cNvPr>
          <p:cNvGrpSpPr/>
          <p:nvPr/>
        </p:nvGrpSpPr>
        <p:grpSpPr>
          <a:xfrm>
            <a:off x="2020957" y="3160644"/>
            <a:ext cx="3442735" cy="1148007"/>
            <a:chOff x="2020957" y="3160644"/>
            <a:chExt cx="3442735" cy="1148007"/>
          </a:xfrm>
        </p:grpSpPr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33401A1E-798A-B043-A313-16D3E1D0D4E3}"/>
                </a:ext>
              </a:extLst>
            </p:cNvPr>
            <p:cNvGrpSpPr/>
            <p:nvPr/>
          </p:nvGrpSpPr>
          <p:grpSpPr>
            <a:xfrm>
              <a:off x="2020957" y="3160644"/>
              <a:ext cx="2696817" cy="1148007"/>
              <a:chOff x="8382000" y="2670313"/>
              <a:chExt cx="2696817" cy="1148007"/>
            </a:xfrm>
          </p:grpSpPr>
          <p:sp>
            <p:nvSpPr>
              <p:cNvPr id="79" name="Rectangle 79">
                <a:extLst>
                  <a:ext uri="{FF2B5EF4-FFF2-40B4-BE49-F238E27FC236}">
                    <a16:creationId xmlns:a16="http://schemas.microsoft.com/office/drawing/2014/main" id="{929B3F4D-DC3B-524F-832B-72A27F4E7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26484" y="3407153"/>
                <a:ext cx="593334" cy="35558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5AE9F0B4-D415-2D4C-8FE9-1E41596DEA9F}"/>
                  </a:ext>
                </a:extLst>
              </p:cNvPr>
              <p:cNvSpPr/>
              <p:nvPr/>
            </p:nvSpPr>
            <p:spPr>
              <a:xfrm>
                <a:off x="8382000" y="2683565"/>
                <a:ext cx="2696817" cy="112643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11876DC1-8D84-6748-BD43-CDCAB74776FE}"/>
                  </a:ext>
                </a:extLst>
              </p:cNvPr>
              <p:cNvSpPr txBox="1"/>
              <p:nvPr/>
            </p:nvSpPr>
            <p:spPr>
              <a:xfrm>
                <a:off x="8382000" y="2670313"/>
                <a:ext cx="2670313" cy="1148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/>
                  <a:t>server hello:</a:t>
                </a:r>
              </a:p>
              <a:p>
                <a:pPr marL="285750" indent="-220663">
                  <a:lnSpc>
                    <a:spcPct val="90000"/>
                  </a:lnSpc>
                  <a:buClr>
                    <a:srgbClr val="0012A0"/>
                  </a:buClr>
                  <a:buFont typeface="Wingdings" pitchFamily="2" charset="2"/>
                  <a:buChar char="§"/>
                </a:pPr>
                <a:r>
                  <a:rPr lang="en-US" dirty="0"/>
                  <a:t>selected cipher suite</a:t>
                </a:r>
              </a:p>
              <a:p>
                <a:pPr marL="285750" indent="-220663">
                  <a:lnSpc>
                    <a:spcPct val="90000"/>
                  </a:lnSpc>
                  <a:buClr>
                    <a:srgbClr val="0012A0"/>
                  </a:buClr>
                  <a:buFont typeface="Wingdings" pitchFamily="2" charset="2"/>
                  <a:buChar char="§"/>
                </a:pPr>
                <a:r>
                  <a:rPr lang="en-US" dirty="0"/>
                  <a:t>DH key agreement protocol, parameters</a:t>
                </a:r>
              </a:p>
            </p:txBody>
          </p: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84B20F14-67AA-4449-8216-AA9235811F84}"/>
                </a:ext>
              </a:extLst>
            </p:cNvPr>
            <p:cNvGrpSpPr/>
            <p:nvPr/>
          </p:nvGrpSpPr>
          <p:grpSpPr>
            <a:xfrm>
              <a:off x="5145640" y="3332921"/>
              <a:ext cx="318052" cy="369332"/>
              <a:chOff x="10015814" y="1484244"/>
              <a:chExt cx="318052" cy="369332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8FEE8FED-9849-0640-ADC2-A51F04F1D092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BA7D11A2-826D-6F4D-8085-88C8D0B18D5C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6A04956-A9EC-9F4E-B0FD-8BDF21A502C5}"/>
              </a:ext>
            </a:extLst>
          </p:cNvPr>
          <p:cNvGrpSpPr/>
          <p:nvPr/>
        </p:nvGrpSpPr>
        <p:grpSpPr>
          <a:xfrm>
            <a:off x="1030840" y="4094921"/>
            <a:ext cx="318052" cy="369332"/>
            <a:chOff x="10015814" y="1484244"/>
            <a:chExt cx="318052" cy="369332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DA21D853-0AA1-3E42-8F47-15ECB71F1459}"/>
                </a:ext>
              </a:extLst>
            </p:cNvPr>
            <p:cNvSpPr/>
            <p:nvPr/>
          </p:nvSpPr>
          <p:spPr>
            <a:xfrm>
              <a:off x="10015814" y="1517597"/>
              <a:ext cx="318052" cy="318052"/>
            </a:xfrm>
            <a:prstGeom prst="ellipse">
              <a:avLst/>
            </a:prstGeom>
            <a:solidFill>
              <a:schemeClr val="bg1"/>
            </a:solidFill>
            <a:ln w="2222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06F4317B-0829-2745-8E4A-0EBC142CF32B}"/>
                </a:ext>
              </a:extLst>
            </p:cNvPr>
            <p:cNvSpPr txBox="1"/>
            <p:nvPr/>
          </p:nvSpPr>
          <p:spPr>
            <a:xfrm>
              <a:off x="10029066" y="1484244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3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C5895EB-3741-A047-8065-8814A15AE75E}"/>
              </a:ext>
            </a:extLst>
          </p:cNvPr>
          <p:cNvSpPr txBox="1"/>
          <p:nvPr/>
        </p:nvSpPr>
        <p:spPr>
          <a:xfrm>
            <a:off x="980662" y="5346318"/>
            <a:ext cx="940904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/>
              <a:t>client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5AAEDA9-73ED-5A45-B4A9-823B5C3F169C}"/>
              </a:ext>
            </a:extLst>
          </p:cNvPr>
          <p:cNvSpPr txBox="1"/>
          <p:nvPr/>
        </p:nvSpPr>
        <p:spPr>
          <a:xfrm>
            <a:off x="5473148" y="5366196"/>
            <a:ext cx="1013792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/>
              <a:t>server 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8D2E281-5D35-6042-A1B3-F9E2FBADECFB}"/>
              </a:ext>
            </a:extLst>
          </p:cNvPr>
          <p:cNvGrpSpPr/>
          <p:nvPr/>
        </p:nvGrpSpPr>
        <p:grpSpPr>
          <a:xfrm>
            <a:off x="7098196" y="1159564"/>
            <a:ext cx="4775747" cy="1670444"/>
            <a:chOff x="7098196" y="1159564"/>
            <a:chExt cx="4775747" cy="1670444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AC36F151-9EED-B348-96AA-8062FCF1CB3B}"/>
                </a:ext>
              </a:extLst>
            </p:cNvPr>
            <p:cNvSpPr txBox="1"/>
            <p:nvPr/>
          </p:nvSpPr>
          <p:spPr>
            <a:xfrm>
              <a:off x="7421212" y="1165257"/>
              <a:ext cx="4452731" cy="1664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2400" dirty="0"/>
                <a:t>client TLS hello msg: 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i="1" dirty="0"/>
                <a:t>guesses </a:t>
              </a:r>
              <a:r>
                <a:rPr lang="en-US" sz="2400" dirty="0"/>
                <a:t>key agreement protocol, parameters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indicates cipher suites it supports</a:t>
              </a:r>
            </a:p>
          </p:txBody>
        </p: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273D9687-9F48-3447-976D-72F8C75DF63E}"/>
                </a:ext>
              </a:extLst>
            </p:cNvPr>
            <p:cNvGrpSpPr/>
            <p:nvPr/>
          </p:nvGrpSpPr>
          <p:grpSpPr>
            <a:xfrm>
              <a:off x="7098196" y="1159564"/>
              <a:ext cx="318052" cy="369332"/>
              <a:chOff x="10015814" y="1484244"/>
              <a:chExt cx="318052" cy="369332"/>
            </a:xfrm>
          </p:grpSpPr>
          <p:sp>
            <p:nvSpPr>
              <p:cNvPr id="99" name="Oval 98">
                <a:extLst>
                  <a:ext uri="{FF2B5EF4-FFF2-40B4-BE49-F238E27FC236}">
                    <a16:creationId xmlns:a16="http://schemas.microsoft.com/office/drawing/2014/main" id="{AC8042C3-B36C-2F4D-B826-590F3BDA6D55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D5B5C66D-1F38-D643-99AF-39C171C11E55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</p:grpSp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B0B08D4F-46F1-8A4B-BB13-DC6881FEB440}"/>
              </a:ext>
            </a:extLst>
          </p:cNvPr>
          <p:cNvGrpSpPr/>
          <p:nvPr/>
        </p:nvGrpSpPr>
        <p:grpSpPr>
          <a:xfrm>
            <a:off x="7084944" y="2854909"/>
            <a:ext cx="4444447" cy="1664751"/>
            <a:chOff x="7084944" y="2854909"/>
            <a:chExt cx="4444447" cy="1664751"/>
          </a:xfrm>
        </p:grpSpPr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0B52424-6607-484C-BD49-FC6EC4A0C5B5}"/>
                </a:ext>
              </a:extLst>
            </p:cNvPr>
            <p:cNvSpPr txBox="1"/>
            <p:nvPr/>
          </p:nvSpPr>
          <p:spPr>
            <a:xfrm>
              <a:off x="7394708" y="2854909"/>
              <a:ext cx="4134683" cy="1664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2400" dirty="0"/>
                <a:t>server TLS hello msg chooses 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key agreement protocol, parameters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cipher suite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server-signed certificate</a:t>
              </a:r>
            </a:p>
          </p:txBody>
        </p: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86F9CB07-1EAC-B945-80DF-41F8681DFE0B}"/>
                </a:ext>
              </a:extLst>
            </p:cNvPr>
            <p:cNvGrpSpPr/>
            <p:nvPr/>
          </p:nvGrpSpPr>
          <p:grpSpPr>
            <a:xfrm>
              <a:off x="7084944" y="2875721"/>
              <a:ext cx="318052" cy="369332"/>
              <a:chOff x="10015814" y="1484244"/>
              <a:chExt cx="318052" cy="369332"/>
            </a:xfrm>
          </p:grpSpPr>
          <p:sp>
            <p:nvSpPr>
              <p:cNvPr id="103" name="Oval 102">
                <a:extLst>
                  <a:ext uri="{FF2B5EF4-FFF2-40B4-BE49-F238E27FC236}">
                    <a16:creationId xmlns:a16="http://schemas.microsoft.com/office/drawing/2014/main" id="{48519843-0AD0-A94D-B2B9-7974C84A5527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EB3A009-2410-4A4A-A33A-2700AEB8B24D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2</a:t>
                </a:r>
              </a:p>
            </p:txBody>
          </p:sp>
        </p:grp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A4F4A90-03F0-F34A-822F-A3F079D550FA}"/>
              </a:ext>
            </a:extLst>
          </p:cNvPr>
          <p:cNvGrpSpPr/>
          <p:nvPr/>
        </p:nvGrpSpPr>
        <p:grpSpPr>
          <a:xfrm>
            <a:off x="7071692" y="4538868"/>
            <a:ext cx="4934773" cy="1674744"/>
            <a:chOff x="7071692" y="4538868"/>
            <a:chExt cx="4934773" cy="1674744"/>
          </a:xfrm>
        </p:grpSpPr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28CC550-011E-5041-B6E2-2DDA5F90CF12}"/>
                </a:ext>
              </a:extLst>
            </p:cNvPr>
            <p:cNvSpPr txBox="1"/>
            <p:nvPr/>
          </p:nvSpPr>
          <p:spPr>
            <a:xfrm>
              <a:off x="7381456" y="4548861"/>
              <a:ext cx="4625009" cy="16647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85000"/>
                </a:lnSpc>
              </a:pPr>
              <a:r>
                <a:rPr lang="en-US" sz="2400" dirty="0"/>
                <a:t>client: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checks server certificate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generates key</a:t>
              </a:r>
            </a:p>
            <a:p>
              <a:pPr marL="342900" indent="-225425">
                <a:lnSpc>
                  <a:spcPct val="85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sz="2400" dirty="0"/>
                <a:t>can now make application request (e.g.., HTTPS GET)</a:t>
              </a:r>
            </a:p>
          </p:txBody>
        </p: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8F248C5B-DA6D-4146-B6BB-E22ABB520608}"/>
                </a:ext>
              </a:extLst>
            </p:cNvPr>
            <p:cNvGrpSpPr/>
            <p:nvPr/>
          </p:nvGrpSpPr>
          <p:grpSpPr>
            <a:xfrm>
              <a:off x="7071692" y="4538868"/>
              <a:ext cx="318052" cy="369332"/>
              <a:chOff x="10015814" y="1484244"/>
              <a:chExt cx="318052" cy="369332"/>
            </a:xfrm>
          </p:grpSpPr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0F7BDA39-4222-C64B-AFF8-63BB40E7EDA6}"/>
                  </a:ext>
                </a:extLst>
              </p:cNvPr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bg1"/>
              </a:solidFill>
              <a:ln w="2222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6D5B9647-139B-944F-BD2F-804D83D4EF24}"/>
                  </a:ext>
                </a:extLst>
              </p:cNvPr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23498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805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TLS 1.3 handshake: 0 RTT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7" name="Line 73">
            <a:extLst>
              <a:ext uri="{FF2B5EF4-FFF2-40B4-BE49-F238E27FC236}">
                <a16:creationId xmlns:a16="http://schemas.microsoft.com/office/drawing/2014/main" id="{FD2D2176-5510-9F45-87FD-D6A6EC51F7F4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0269" y="2213057"/>
            <a:ext cx="4486220" cy="1099985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18" name="Line 74">
            <a:extLst>
              <a:ext uri="{FF2B5EF4-FFF2-40B4-BE49-F238E27FC236}">
                <a16:creationId xmlns:a16="http://schemas.microsoft.com/office/drawing/2014/main" id="{9C9A11CD-F0BB-C549-A8F8-6D4FF0D12F1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417983" y="2123298"/>
            <a:ext cx="52309" cy="374741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grpSp>
        <p:nvGrpSpPr>
          <p:cNvPr id="30" name="Group 92">
            <a:extLst>
              <a:ext uri="{FF2B5EF4-FFF2-40B4-BE49-F238E27FC236}">
                <a16:creationId xmlns:a16="http://schemas.microsoft.com/office/drawing/2014/main" id="{6E8A024B-934D-504C-8896-F75B17C4E30C}"/>
              </a:ext>
            </a:extLst>
          </p:cNvPr>
          <p:cNvGrpSpPr>
            <a:grpSpLocks/>
          </p:cNvGrpSpPr>
          <p:nvPr/>
        </p:nvGrpSpPr>
        <p:grpSpPr bwMode="auto">
          <a:xfrm>
            <a:off x="977632" y="1543313"/>
            <a:ext cx="775403" cy="566176"/>
            <a:chOff x="-44" y="1473"/>
            <a:chExt cx="981" cy="1105"/>
          </a:xfrm>
        </p:grpSpPr>
        <p:pic>
          <p:nvPicPr>
            <p:cNvPr id="31" name="Picture 93" descr="desktop_computer_stylized_medium">
              <a:extLst>
                <a:ext uri="{FF2B5EF4-FFF2-40B4-BE49-F238E27FC236}">
                  <a16:creationId xmlns:a16="http://schemas.microsoft.com/office/drawing/2014/main" id="{FFF52D87-075E-6348-BE99-E8EC7CD1EE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2" name="Freeform 94">
              <a:extLst>
                <a:ext uri="{FF2B5EF4-FFF2-40B4-BE49-F238E27FC236}">
                  <a16:creationId xmlns:a16="http://schemas.microsoft.com/office/drawing/2014/main" id="{D7116080-D36D-CD47-8C70-8E42B60EEB2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33" name="Group 95">
            <a:extLst>
              <a:ext uri="{FF2B5EF4-FFF2-40B4-BE49-F238E27FC236}">
                <a16:creationId xmlns:a16="http://schemas.microsoft.com/office/drawing/2014/main" id="{139F01BA-E014-9249-B995-5FAC9C861608}"/>
              </a:ext>
            </a:extLst>
          </p:cNvPr>
          <p:cNvGrpSpPr>
            <a:grpSpLocks/>
          </p:cNvGrpSpPr>
          <p:nvPr/>
        </p:nvGrpSpPr>
        <p:grpSpPr bwMode="auto">
          <a:xfrm>
            <a:off x="5846659" y="1522600"/>
            <a:ext cx="318750" cy="557545"/>
            <a:chOff x="4140" y="429"/>
            <a:chExt cx="1425" cy="2396"/>
          </a:xfrm>
        </p:grpSpPr>
        <p:sp>
          <p:nvSpPr>
            <p:cNvPr id="34" name="Freeform 96">
              <a:extLst>
                <a:ext uri="{FF2B5EF4-FFF2-40B4-BE49-F238E27FC236}">
                  <a16:creationId xmlns:a16="http://schemas.microsoft.com/office/drawing/2014/main" id="{26F68C99-0453-5B45-95CB-564AAAC977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7 w 354"/>
                <a:gd name="T1" fmla="*/ 0 h 2742"/>
                <a:gd name="T2" fmla="*/ 38 w 354"/>
                <a:gd name="T3" fmla="*/ 55 h 2742"/>
                <a:gd name="T4" fmla="*/ 37 w 354"/>
                <a:gd name="T5" fmla="*/ 425 h 2742"/>
                <a:gd name="T6" fmla="*/ 0 w 354"/>
                <a:gd name="T7" fmla="*/ 445 h 2742"/>
                <a:gd name="T8" fmla="*/ 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5" name="Rectangle 97">
              <a:extLst>
                <a:ext uri="{FF2B5EF4-FFF2-40B4-BE49-F238E27FC236}">
                  <a16:creationId xmlns:a16="http://schemas.microsoft.com/office/drawing/2014/main" id="{86B8B2EC-8A39-8744-AEE7-7DE596B8F4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36" name="Freeform 98">
              <a:extLst>
                <a:ext uri="{FF2B5EF4-FFF2-40B4-BE49-F238E27FC236}">
                  <a16:creationId xmlns:a16="http://schemas.microsoft.com/office/drawing/2014/main" id="{B016FCC5-1355-7C46-BE07-AA386B36F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23 w 211"/>
                <a:gd name="T3" fmla="*/ 36 h 2537"/>
                <a:gd name="T4" fmla="*/ 2 w 211"/>
                <a:gd name="T5" fmla="*/ 40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" name="Freeform 99">
              <a:extLst>
                <a:ext uri="{FF2B5EF4-FFF2-40B4-BE49-F238E27FC236}">
                  <a16:creationId xmlns:a16="http://schemas.microsoft.com/office/drawing/2014/main" id="{E10DD31D-2B99-5E4F-ACC6-3EE07F59D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1 h 226"/>
                <a:gd name="T4" fmla="*/ 36 w 328"/>
                <a:gd name="T5" fmla="*/ 38 h 226"/>
                <a:gd name="T6" fmla="*/ 0 w 328"/>
                <a:gd name="T7" fmla="*/ 1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8" name="Rectangle 100">
              <a:extLst>
                <a:ext uri="{FF2B5EF4-FFF2-40B4-BE49-F238E27FC236}">
                  <a16:creationId xmlns:a16="http://schemas.microsoft.com/office/drawing/2014/main" id="{07D055DB-84BC-8141-BF69-FEB626941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39" name="Group 101">
              <a:extLst>
                <a:ext uri="{FF2B5EF4-FFF2-40B4-BE49-F238E27FC236}">
                  <a16:creationId xmlns:a16="http://schemas.microsoft.com/office/drawing/2014/main" id="{7EBA2B7C-6079-8746-B162-23AD0AB2A8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5" name="AutoShape 102">
                <a:extLst>
                  <a:ext uri="{FF2B5EF4-FFF2-40B4-BE49-F238E27FC236}">
                    <a16:creationId xmlns:a16="http://schemas.microsoft.com/office/drawing/2014/main" id="{0B5CF742-03A1-6840-937B-1734F87445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6" name="AutoShape 103">
                <a:extLst>
                  <a:ext uri="{FF2B5EF4-FFF2-40B4-BE49-F238E27FC236}">
                    <a16:creationId xmlns:a16="http://schemas.microsoft.com/office/drawing/2014/main" id="{B8E8974D-EF0D-0B4E-B873-CD95E1DB3B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0" name="Rectangle 104">
              <a:extLst>
                <a:ext uri="{FF2B5EF4-FFF2-40B4-BE49-F238E27FC236}">
                  <a16:creationId xmlns:a16="http://schemas.microsoft.com/office/drawing/2014/main" id="{C1375B90-3426-4144-81E9-3AB17E3B59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1" name="Group 105">
              <a:extLst>
                <a:ext uri="{FF2B5EF4-FFF2-40B4-BE49-F238E27FC236}">
                  <a16:creationId xmlns:a16="http://schemas.microsoft.com/office/drawing/2014/main" id="{F5B4E34A-A543-A54C-B5B9-24CF5E72B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3" name="AutoShape 106">
                <a:extLst>
                  <a:ext uri="{FF2B5EF4-FFF2-40B4-BE49-F238E27FC236}">
                    <a16:creationId xmlns:a16="http://schemas.microsoft.com/office/drawing/2014/main" id="{4460BD36-1985-6243-8FEF-6363BA07C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4" name="AutoShape 107">
                <a:extLst>
                  <a:ext uri="{FF2B5EF4-FFF2-40B4-BE49-F238E27FC236}">
                    <a16:creationId xmlns:a16="http://schemas.microsoft.com/office/drawing/2014/main" id="{04A041AD-0228-384D-A83E-190B8418A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2" name="Rectangle 108">
              <a:extLst>
                <a:ext uri="{FF2B5EF4-FFF2-40B4-BE49-F238E27FC236}">
                  <a16:creationId xmlns:a16="http://schemas.microsoft.com/office/drawing/2014/main" id="{996612E0-5C46-C249-9643-F7B6C380E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3" name="Rectangle 109">
              <a:extLst>
                <a:ext uri="{FF2B5EF4-FFF2-40B4-BE49-F238E27FC236}">
                  <a16:creationId xmlns:a16="http://schemas.microsoft.com/office/drawing/2014/main" id="{DCF6931C-69E4-FE4E-B760-71FAC5A16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grpSp>
          <p:nvGrpSpPr>
            <p:cNvPr id="44" name="Group 110">
              <a:extLst>
                <a:ext uri="{FF2B5EF4-FFF2-40B4-BE49-F238E27FC236}">
                  <a16:creationId xmlns:a16="http://schemas.microsoft.com/office/drawing/2014/main" id="{CAB625F0-0691-D04B-B240-3FB9F116634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1" name="AutoShape 111">
                <a:extLst>
                  <a:ext uri="{FF2B5EF4-FFF2-40B4-BE49-F238E27FC236}">
                    <a16:creationId xmlns:a16="http://schemas.microsoft.com/office/drawing/2014/main" id="{1798E5BB-0EE4-B14D-A096-D6DF8E1A3F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2" name="AutoShape 112">
                <a:extLst>
                  <a:ext uri="{FF2B5EF4-FFF2-40B4-BE49-F238E27FC236}">
                    <a16:creationId xmlns:a16="http://schemas.microsoft.com/office/drawing/2014/main" id="{37D6D764-BBE7-2C4C-B814-C8433A252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5" name="Freeform 113">
              <a:extLst>
                <a:ext uri="{FF2B5EF4-FFF2-40B4-BE49-F238E27FC236}">
                  <a16:creationId xmlns:a16="http://schemas.microsoft.com/office/drawing/2014/main" id="{2735D8B7-00A2-114C-8592-1506F5632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36 w 328"/>
                <a:gd name="T3" fmla="*/ 20 h 226"/>
                <a:gd name="T4" fmla="*/ 36 w 328"/>
                <a:gd name="T5" fmla="*/ 36 h 226"/>
                <a:gd name="T6" fmla="*/ 0 w 328"/>
                <a:gd name="T7" fmla="*/ 15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46" name="Group 114">
              <a:extLst>
                <a:ext uri="{FF2B5EF4-FFF2-40B4-BE49-F238E27FC236}">
                  <a16:creationId xmlns:a16="http://schemas.microsoft.com/office/drawing/2014/main" id="{D2FEF0BF-A9A6-B94E-AEC6-B75180F9C2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9" name="AutoShape 115">
                <a:extLst>
                  <a:ext uri="{FF2B5EF4-FFF2-40B4-BE49-F238E27FC236}">
                    <a16:creationId xmlns:a16="http://schemas.microsoft.com/office/drawing/2014/main" id="{8ED374E1-9B28-E146-BDED-A72B05703C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  <p:sp>
            <p:nvSpPr>
              <p:cNvPr id="60" name="AutoShape 116">
                <a:extLst>
                  <a:ext uri="{FF2B5EF4-FFF2-40B4-BE49-F238E27FC236}">
                    <a16:creationId xmlns:a16="http://schemas.microsoft.com/office/drawing/2014/main" id="{D587FE6E-D81D-534E-8051-418AD812D9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+mn-cs"/>
                </a:endParaRPr>
              </a:p>
            </p:txBody>
          </p:sp>
        </p:grpSp>
        <p:sp>
          <p:nvSpPr>
            <p:cNvPr id="47" name="Rectangle 117">
              <a:extLst>
                <a:ext uri="{FF2B5EF4-FFF2-40B4-BE49-F238E27FC236}">
                  <a16:creationId xmlns:a16="http://schemas.microsoft.com/office/drawing/2014/main" id="{B1AB82F8-F3C2-2C41-87BC-893365048E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48" name="Freeform 118">
              <a:extLst>
                <a:ext uri="{FF2B5EF4-FFF2-40B4-BE49-F238E27FC236}">
                  <a16:creationId xmlns:a16="http://schemas.microsoft.com/office/drawing/2014/main" id="{FFFBD39F-75BA-A04D-A04B-8A96E36414E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32 w 296"/>
                <a:gd name="T3" fmla="*/ 22 h 256"/>
                <a:gd name="T4" fmla="*/ 32 w 296"/>
                <a:gd name="T5" fmla="*/ 41 h 256"/>
                <a:gd name="T6" fmla="*/ 0 w 296"/>
                <a:gd name="T7" fmla="*/ 15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" name="Freeform 119">
              <a:extLst>
                <a:ext uri="{FF2B5EF4-FFF2-40B4-BE49-F238E27FC236}">
                  <a16:creationId xmlns:a16="http://schemas.microsoft.com/office/drawing/2014/main" id="{423E4EEF-52F1-274F-8150-7B8FE36B1D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34 w 304"/>
                <a:gd name="T3" fmla="*/ 27 h 288"/>
                <a:gd name="T4" fmla="*/ 31 w 304"/>
                <a:gd name="T5" fmla="*/ 48 h 288"/>
                <a:gd name="T6" fmla="*/ 2 w 304"/>
                <a:gd name="T7" fmla="*/ 2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Oval 120">
              <a:extLst>
                <a:ext uri="{FF2B5EF4-FFF2-40B4-BE49-F238E27FC236}">
                  <a16:creationId xmlns:a16="http://schemas.microsoft.com/office/drawing/2014/main" id="{8E622F2C-9916-E44C-8D15-A3EB50990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1" name="Freeform 121">
              <a:extLst>
                <a:ext uri="{FF2B5EF4-FFF2-40B4-BE49-F238E27FC236}">
                  <a16:creationId xmlns:a16="http://schemas.microsoft.com/office/drawing/2014/main" id="{2B2C122C-9558-C74A-B292-6745935E5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8 h 240"/>
                <a:gd name="T2" fmla="*/ 2 w 306"/>
                <a:gd name="T3" fmla="*/ 40 h 240"/>
                <a:gd name="T4" fmla="*/ 34 w 306"/>
                <a:gd name="T5" fmla="*/ 18 h 240"/>
                <a:gd name="T6" fmla="*/ 32 w 306"/>
                <a:gd name="T7" fmla="*/ 0 h 240"/>
                <a:gd name="T8" fmla="*/ 0 w 306"/>
                <a:gd name="T9" fmla="*/ 1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3" name="AutoShape 122">
              <a:extLst>
                <a:ext uri="{FF2B5EF4-FFF2-40B4-BE49-F238E27FC236}">
                  <a16:creationId xmlns:a16="http://schemas.microsoft.com/office/drawing/2014/main" id="{9EB66954-1692-804C-9BE3-43BB692EDE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4" name="AutoShape 123">
              <a:extLst>
                <a:ext uri="{FF2B5EF4-FFF2-40B4-BE49-F238E27FC236}">
                  <a16:creationId xmlns:a16="http://schemas.microsoft.com/office/drawing/2014/main" id="{2BACD6F5-3BD3-8443-98EE-6D7911FBA4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5" name="Oval 124">
              <a:extLst>
                <a:ext uri="{FF2B5EF4-FFF2-40B4-BE49-F238E27FC236}">
                  <a16:creationId xmlns:a16="http://schemas.microsoft.com/office/drawing/2014/main" id="{2287EC08-ED14-2548-BC2D-0D0B10C39E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6" name="Oval 125">
              <a:extLst>
                <a:ext uri="{FF2B5EF4-FFF2-40B4-BE49-F238E27FC236}">
                  <a16:creationId xmlns:a16="http://schemas.microsoft.com/office/drawing/2014/main" id="{31709B70-F20F-5045-B062-881A30E1B4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Arial" charset="0"/>
              </a:endParaRPr>
            </a:p>
          </p:txBody>
        </p:sp>
        <p:sp>
          <p:nvSpPr>
            <p:cNvPr id="57" name="Oval 126">
              <a:extLst>
                <a:ext uri="{FF2B5EF4-FFF2-40B4-BE49-F238E27FC236}">
                  <a16:creationId xmlns:a16="http://schemas.microsoft.com/office/drawing/2014/main" id="{2AB72B66-2D1D-5D48-9738-F7A60A6DE4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58" name="Rectangle 127">
              <a:extLst>
                <a:ext uri="{FF2B5EF4-FFF2-40B4-BE49-F238E27FC236}">
                  <a16:creationId xmlns:a16="http://schemas.microsoft.com/office/drawing/2014/main" id="{5182F070-FBAE-C742-8223-21FCE45B25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</p:grpSp>
      <p:sp>
        <p:nvSpPr>
          <p:cNvPr id="67" name="Line 74">
            <a:extLst>
              <a:ext uri="{FF2B5EF4-FFF2-40B4-BE49-F238E27FC236}">
                <a16:creationId xmlns:a16="http://schemas.microsoft.com/office/drawing/2014/main" id="{B6EBBF64-96C1-1946-824F-FA9C089FD9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0104" y="2037159"/>
            <a:ext cx="52309" cy="374741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68" name="Line 73">
            <a:extLst>
              <a:ext uri="{FF2B5EF4-FFF2-40B4-BE49-F238E27FC236}">
                <a16:creationId xmlns:a16="http://schemas.microsoft.com/office/drawing/2014/main" id="{73AB1539-E1D3-A74D-B91D-21C37901A47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10389" y="3856384"/>
            <a:ext cx="4453089" cy="748747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1" name="Rectangle 77">
            <a:extLst>
              <a:ext uri="{FF2B5EF4-FFF2-40B4-BE49-F238E27FC236}">
                <a16:creationId xmlns:a16="http://schemas.microsoft.com/office/drawing/2014/main" id="{F8CA38D6-DA75-DA48-A714-1C05DAF7BD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912" y="2409556"/>
            <a:ext cx="1049579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23" name="Rectangle 79">
            <a:extLst>
              <a:ext uri="{FF2B5EF4-FFF2-40B4-BE49-F238E27FC236}">
                <a16:creationId xmlns:a16="http://schemas.microsoft.com/office/drawing/2014/main" id="{27341C0E-38B0-8E4B-B70A-41ED33D9D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8572" y="2658404"/>
            <a:ext cx="593334" cy="3555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charset="0"/>
              <a:cs typeface="+mn-cs"/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D3C8411C-D034-C847-A430-7115B6AF6DC3}"/>
              </a:ext>
            </a:extLst>
          </p:cNvPr>
          <p:cNvSpPr/>
          <p:nvPr/>
        </p:nvSpPr>
        <p:spPr>
          <a:xfrm>
            <a:off x="2067341" y="1921564"/>
            <a:ext cx="2637181" cy="1391480"/>
          </a:xfrm>
          <a:prstGeom prst="rect">
            <a:avLst/>
          </a:prstGeom>
          <a:solidFill>
            <a:schemeClr val="bg1"/>
          </a:solidFill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0B4A451-6D15-754A-81D3-3A6437D01540}"/>
              </a:ext>
            </a:extLst>
          </p:cNvPr>
          <p:cNvSpPr txBox="1"/>
          <p:nvPr/>
        </p:nvSpPr>
        <p:spPr>
          <a:xfrm>
            <a:off x="2054088" y="1921564"/>
            <a:ext cx="2676939" cy="139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client hello:</a:t>
            </a:r>
          </a:p>
          <a:p>
            <a:pPr marL="285750" indent="-220663">
              <a:lnSpc>
                <a:spcPct val="90000"/>
              </a:lnSpc>
              <a:buClr>
                <a:srgbClr val="0012A0"/>
              </a:buClr>
              <a:buFont typeface="Wingdings" pitchFamily="2" charset="2"/>
              <a:buChar char="§"/>
            </a:pPr>
            <a:r>
              <a:rPr lang="en-US" dirty="0"/>
              <a:t>supported cipher suites</a:t>
            </a:r>
          </a:p>
          <a:p>
            <a:pPr marL="285750" indent="-220663">
              <a:lnSpc>
                <a:spcPct val="90000"/>
              </a:lnSpc>
              <a:buClr>
                <a:srgbClr val="0012A0"/>
              </a:buClr>
              <a:buFont typeface="Wingdings" pitchFamily="2" charset="2"/>
              <a:buChar char="§"/>
            </a:pPr>
            <a:r>
              <a:rPr lang="en-US" dirty="0"/>
              <a:t>DH key agreement protocol, parameters</a:t>
            </a:r>
          </a:p>
          <a:p>
            <a:pPr marL="285750" indent="-220663">
              <a:lnSpc>
                <a:spcPct val="90000"/>
              </a:lnSpc>
              <a:buClr>
                <a:srgbClr val="0012A0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application data</a:t>
            </a:r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33401A1E-798A-B043-A313-16D3E1D0D4E3}"/>
              </a:ext>
            </a:extLst>
          </p:cNvPr>
          <p:cNvGrpSpPr/>
          <p:nvPr/>
        </p:nvGrpSpPr>
        <p:grpSpPr>
          <a:xfrm>
            <a:off x="2020957" y="3597969"/>
            <a:ext cx="2683565" cy="1437857"/>
            <a:chOff x="8382000" y="2670313"/>
            <a:chExt cx="2683565" cy="1437857"/>
          </a:xfrm>
        </p:grpSpPr>
        <p:sp>
          <p:nvSpPr>
            <p:cNvPr id="79" name="Rectangle 79">
              <a:extLst>
                <a:ext uri="{FF2B5EF4-FFF2-40B4-BE49-F238E27FC236}">
                  <a16:creationId xmlns:a16="http://schemas.microsoft.com/office/drawing/2014/main" id="{929B3F4D-DC3B-524F-832B-72A27F4E7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6484" y="3407153"/>
              <a:ext cx="593334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AE9F0B4-D415-2D4C-8FE9-1E41596DEA9F}"/>
                </a:ext>
              </a:extLst>
            </p:cNvPr>
            <p:cNvSpPr/>
            <p:nvPr/>
          </p:nvSpPr>
          <p:spPr>
            <a:xfrm>
              <a:off x="8382000" y="2683565"/>
              <a:ext cx="2683565" cy="1424605"/>
            </a:xfrm>
            <a:prstGeom prst="rect">
              <a:avLst/>
            </a:prstGeom>
            <a:solidFill>
              <a:schemeClr val="bg1"/>
            </a:solidFill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1876DC1-8D84-6748-BD43-CDCAB74776FE}"/>
                </a:ext>
              </a:extLst>
            </p:cNvPr>
            <p:cNvSpPr txBox="1"/>
            <p:nvPr/>
          </p:nvSpPr>
          <p:spPr>
            <a:xfrm>
              <a:off x="8382000" y="2670313"/>
              <a:ext cx="2670313" cy="13973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/>
                <a:t>server hello: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/>
                <a:t>selected cipher suite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/>
                <a:t>DH key agreement protocol, parameters</a:t>
              </a:r>
            </a:p>
            <a:p>
              <a:pPr marL="285750" indent="-220663">
                <a:lnSpc>
                  <a:spcPct val="90000"/>
                </a:lnSpc>
                <a:buClr>
                  <a:srgbClr val="0012A0"/>
                </a:buClr>
                <a:buFont typeface="Wingdings" pitchFamily="2" charset="2"/>
                <a:buChar char="§"/>
              </a:pPr>
              <a:r>
                <a:rPr lang="en-US" dirty="0">
                  <a:solidFill>
                    <a:srgbClr val="C00000"/>
                  </a:solidFill>
                </a:rPr>
                <a:t>application data (reply)</a:t>
              </a:r>
            </a:p>
          </p:txBody>
        </p:sp>
      </p:grpSp>
      <p:sp>
        <p:nvSpPr>
          <p:cNvPr id="92" name="TextBox 91">
            <a:extLst>
              <a:ext uri="{FF2B5EF4-FFF2-40B4-BE49-F238E27FC236}">
                <a16:creationId xmlns:a16="http://schemas.microsoft.com/office/drawing/2014/main" id="{3C5895EB-3741-A047-8065-8814A15AE75E}"/>
              </a:ext>
            </a:extLst>
          </p:cNvPr>
          <p:cNvSpPr txBox="1"/>
          <p:nvPr/>
        </p:nvSpPr>
        <p:spPr>
          <a:xfrm>
            <a:off x="980662" y="5346318"/>
            <a:ext cx="940904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/>
              <a:t>client 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5AAEDA9-73ED-5A45-B4A9-823B5C3F169C}"/>
              </a:ext>
            </a:extLst>
          </p:cNvPr>
          <p:cNvSpPr txBox="1"/>
          <p:nvPr/>
        </p:nvSpPr>
        <p:spPr>
          <a:xfrm>
            <a:off x="5473148" y="5366196"/>
            <a:ext cx="1013792" cy="409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400" dirty="0"/>
              <a:t>server </a:t>
            </a:r>
          </a:p>
        </p:txBody>
      </p:sp>
      <p:sp>
        <p:nvSpPr>
          <p:cNvPr id="94" name="Content Placeholder 2">
            <a:extLst>
              <a:ext uri="{FF2B5EF4-FFF2-40B4-BE49-F238E27FC236}">
                <a16:creationId xmlns:a16="http://schemas.microsoft.com/office/drawing/2014/main" id="{58702B9F-F007-BD45-B451-CDED71CA3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4140" y="1430821"/>
            <a:ext cx="4929807" cy="4875557"/>
          </a:xfrm>
        </p:spPr>
        <p:txBody>
          <a:bodyPr>
            <a:normAutofit/>
          </a:bodyPr>
          <a:lstStyle/>
          <a:p>
            <a:r>
              <a:rPr lang="en-US" dirty="0"/>
              <a:t>initial hello message contains encrypted application data!</a:t>
            </a:r>
          </a:p>
          <a:p>
            <a:pPr marL="641350" indent="-236538">
              <a:buFont typeface="Arial" panose="020B0604020202020204" pitchFamily="34" charset="0"/>
              <a:buChar char="•"/>
            </a:pPr>
            <a:r>
              <a:rPr lang="en-US" sz="2400" dirty="0"/>
              <a:t>“resuming” earlier connection between client and server </a:t>
            </a:r>
          </a:p>
          <a:p>
            <a:pPr marL="641350" indent="-236538">
              <a:buFont typeface="Arial" panose="020B0604020202020204" pitchFamily="34" charset="0"/>
              <a:buChar char="•"/>
            </a:pPr>
            <a:r>
              <a:rPr lang="en-US" sz="2400" dirty="0"/>
              <a:t>application data encrypted using “resumption master secret” from earlier connection</a:t>
            </a:r>
          </a:p>
          <a:p>
            <a:pPr indent="-234950"/>
            <a:r>
              <a:rPr lang="en-US" dirty="0"/>
              <a:t>vulnerable to replay attacks!</a:t>
            </a:r>
          </a:p>
          <a:p>
            <a:pPr marL="641350" indent="-236538">
              <a:buFont typeface="Arial" panose="020B0604020202020204" pitchFamily="34" charset="0"/>
              <a:buChar char="•"/>
            </a:pPr>
            <a:r>
              <a:rPr lang="en-US" sz="2400" dirty="0"/>
              <a:t>maybe OK for get HTTP GET or client requests not modifying server state</a:t>
            </a:r>
          </a:p>
        </p:txBody>
      </p:sp>
    </p:spTree>
    <p:extLst>
      <p:ext uri="{BB962C8B-B14F-4D97-AF65-F5344CB8AC3E}">
        <p14:creationId xmlns:p14="http://schemas.microsoft.com/office/powerpoint/2010/main" val="318982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4E75DA-960F-9E42-A5A3-3B8B45FCB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016" y="1371600"/>
            <a:ext cx="10850217" cy="1965960"/>
          </a:xfrm>
        </p:spPr>
        <p:txBody>
          <a:bodyPr>
            <a:normAutofit/>
          </a:bodyPr>
          <a:lstStyle/>
          <a:p>
            <a:r>
              <a:rPr lang="en-US" sz="3100" dirty="0"/>
              <a:t>provides datagram-level encryption, authentication, integrity</a:t>
            </a:r>
          </a:p>
          <a:p>
            <a:pPr lvl="1"/>
            <a:r>
              <a:rPr lang="en-US" sz="2700" dirty="0"/>
              <a:t>for both user traffic and control traffic (e.g., BGP, DNS messages)</a:t>
            </a:r>
          </a:p>
          <a:p>
            <a:r>
              <a:rPr lang="en-US" sz="3100" dirty="0"/>
              <a:t>two “modes”:</a:t>
            </a:r>
          </a:p>
          <a:p>
            <a:pPr marL="130175" indent="0">
              <a:buNone/>
            </a:pPr>
            <a:endParaRPr lang="en-US" sz="2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IP Sec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573CB3-64BF-DB4E-9011-11A11037F1AA}"/>
              </a:ext>
            </a:extLst>
          </p:cNvPr>
          <p:cNvSpPr txBox="1"/>
          <p:nvPr/>
        </p:nvSpPr>
        <p:spPr>
          <a:xfrm>
            <a:off x="1470993" y="4681977"/>
            <a:ext cx="3856382" cy="1166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85000"/>
              </a:lnSpc>
            </a:pPr>
            <a:r>
              <a:rPr lang="en-US" sz="2800" dirty="0">
                <a:solidFill>
                  <a:srgbClr val="C00000"/>
                </a:solidFill>
              </a:rPr>
              <a:t>transport mode: </a:t>
            </a:r>
          </a:p>
          <a:p>
            <a:pPr marL="287338" indent="-222250">
              <a:lnSpc>
                <a:spcPct val="85000"/>
              </a:lnSpc>
              <a:spcBef>
                <a:spcPts val="600"/>
              </a:spcBef>
              <a:buFont typeface="Wingdings" pitchFamily="2" charset="2"/>
              <a:buChar char="§"/>
            </a:pPr>
            <a:r>
              <a:rPr lang="en-US" sz="2400" i="1" dirty="0">
                <a:solidFill>
                  <a:srgbClr val="0012A0"/>
                </a:solidFill>
              </a:rPr>
              <a:t>only</a:t>
            </a:r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/>
              <a:t> datagram </a:t>
            </a:r>
            <a:r>
              <a:rPr lang="en-US" sz="2400" i="1" dirty="0">
                <a:solidFill>
                  <a:srgbClr val="0012A0"/>
                </a:solidFill>
              </a:rPr>
              <a:t>payload</a:t>
            </a:r>
            <a:r>
              <a:rPr lang="en-US" sz="2400" dirty="0"/>
              <a:t> is encrypted, authenticated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92BC05-B609-5E41-B728-096F53B746FD}"/>
              </a:ext>
            </a:extLst>
          </p:cNvPr>
          <p:cNvSpPr/>
          <p:nvPr/>
        </p:nvSpPr>
        <p:spPr>
          <a:xfrm>
            <a:off x="6188765" y="4093770"/>
            <a:ext cx="4717774" cy="21725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tunnel mode: </a:t>
            </a:r>
          </a:p>
          <a:p>
            <a:pPr marL="285750" indent="-220663">
              <a:lnSpc>
                <a:spcPct val="85000"/>
              </a:lnSpc>
              <a:spcBef>
                <a:spcPts val="600"/>
              </a:spcBef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400" dirty="0"/>
              <a:t>entire datagram is encrypted, authenticated</a:t>
            </a:r>
          </a:p>
          <a:p>
            <a:pPr marL="285750" indent="-220663">
              <a:lnSpc>
                <a:spcPct val="85000"/>
              </a:lnSpc>
              <a:buClr>
                <a:srgbClr val="0012A0"/>
              </a:buClr>
              <a:buFont typeface="Wingdings" pitchFamily="2" charset="2"/>
              <a:buChar char="§"/>
            </a:pPr>
            <a:r>
              <a:rPr lang="en-US" sz="2400" dirty="0"/>
              <a:t>encrypted datagram encapsulated in new datagram with new IP header, tunneled to destination</a:t>
            </a:r>
          </a:p>
        </p:txBody>
      </p: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ADDFE080-966A-8641-9BE1-AE22D314AFD8}"/>
              </a:ext>
            </a:extLst>
          </p:cNvPr>
          <p:cNvGrpSpPr/>
          <p:nvPr/>
        </p:nvGrpSpPr>
        <p:grpSpPr>
          <a:xfrm>
            <a:off x="5943602" y="2769704"/>
            <a:ext cx="4841859" cy="1089162"/>
            <a:chOff x="5943602" y="2769704"/>
            <a:chExt cx="4841859" cy="1089162"/>
          </a:xfrm>
        </p:grpSpPr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14E20BA2-5A30-9E42-BEA5-46DC9B6477BE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8079996" y="2940636"/>
              <a:ext cx="506067" cy="1330393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dirty="0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CCAC4CF-B9CD-DB4D-99A9-B6AF032C18A5}"/>
                </a:ext>
              </a:extLst>
            </p:cNvPr>
            <p:cNvGrpSpPr/>
            <p:nvPr/>
          </p:nvGrpSpPr>
          <p:grpSpPr>
            <a:xfrm>
              <a:off x="5943602" y="2769704"/>
              <a:ext cx="1681218" cy="980660"/>
              <a:chOff x="6049618" y="2769704"/>
              <a:chExt cx="1681218" cy="980660"/>
            </a:xfrm>
          </p:grpSpPr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0654F112-25E5-0945-9EB7-D53617CD32AF}"/>
                  </a:ext>
                </a:extLst>
              </p:cNvPr>
              <p:cNvCxnSpPr>
                <a:endCxn id="14" idx="9"/>
              </p:cNvCxnSpPr>
              <p:nvPr/>
            </p:nvCxnSpPr>
            <p:spPr>
              <a:xfrm>
                <a:off x="6645292" y="3188175"/>
                <a:ext cx="781512" cy="35856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469CF614-B510-1B47-A18F-FC95BC06D323}"/>
                  </a:ext>
                </a:extLst>
              </p:cNvPr>
              <p:cNvGrpSpPr/>
              <p:nvPr/>
            </p:nvGrpSpPr>
            <p:grpSpPr>
              <a:xfrm>
                <a:off x="7124700" y="3417997"/>
                <a:ext cx="606136" cy="332367"/>
                <a:chOff x="7493876" y="2774731"/>
                <a:chExt cx="1481958" cy="894622"/>
              </a:xfrm>
            </p:grpSpPr>
            <p:sp>
              <p:nvSpPr>
                <p:cNvPr id="8" name="Freeform 7">
                  <a:extLst>
                    <a:ext uri="{FF2B5EF4-FFF2-40B4-BE49-F238E27FC236}">
                      <a16:creationId xmlns:a16="http://schemas.microsoft.com/office/drawing/2014/main" id="{24575021-E1EF-B74C-854B-B558B2CCDE16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CE423A64-C38A-EE48-AC51-530692CDD759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6D703D38-4520-6D4B-98BA-E02BCBF7D5CA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11" name="Freeform 10">
                    <a:extLst>
                      <a:ext uri="{FF2B5EF4-FFF2-40B4-BE49-F238E27FC236}">
                        <a16:creationId xmlns:a16="http://schemas.microsoft.com/office/drawing/2014/main" id="{F3154BDF-A977-C44E-BAFA-B438903A17FB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" name="Freeform 11">
                    <a:extLst>
                      <a:ext uri="{FF2B5EF4-FFF2-40B4-BE49-F238E27FC236}">
                        <a16:creationId xmlns:a16="http://schemas.microsoft.com/office/drawing/2014/main" id="{3B56605F-E424-7947-AACE-63CB7FDB4132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3" name="Freeform 12">
                    <a:extLst>
                      <a:ext uri="{FF2B5EF4-FFF2-40B4-BE49-F238E27FC236}">
                        <a16:creationId xmlns:a16="http://schemas.microsoft.com/office/drawing/2014/main" id="{C12C5A52-8947-FC49-BB36-076F264D475C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4" name="Freeform 13">
                    <a:extLst>
                      <a:ext uri="{FF2B5EF4-FFF2-40B4-BE49-F238E27FC236}">
                        <a16:creationId xmlns:a16="http://schemas.microsoft.com/office/drawing/2014/main" id="{7390FDBA-6052-5F40-A3EE-4F48A9EFA97F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18" name="Group 542">
                <a:extLst>
                  <a:ext uri="{FF2B5EF4-FFF2-40B4-BE49-F238E27FC236}">
                    <a16:creationId xmlns:a16="http://schemas.microsoft.com/office/drawing/2014/main" id="{1C4F3015-F821-EC4A-8824-6B80D22099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49618" y="2769704"/>
                <a:ext cx="720837" cy="645768"/>
                <a:chOff x="-44" y="1473"/>
                <a:chExt cx="981" cy="1105"/>
              </a:xfrm>
            </p:grpSpPr>
            <p:pic>
              <p:nvPicPr>
                <p:cNvPr id="19" name="Picture 529" descr="desktop_computer_stylized_medium">
                  <a:extLst>
                    <a:ext uri="{FF2B5EF4-FFF2-40B4-BE49-F238E27FC236}">
                      <a16:creationId xmlns:a16="http://schemas.microsoft.com/office/drawing/2014/main" id="{B4A218B7-E585-A542-B8AE-0035B8F1441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0" name="Freeform 530">
                  <a:extLst>
                    <a:ext uri="{FF2B5EF4-FFF2-40B4-BE49-F238E27FC236}">
                      <a16:creationId xmlns:a16="http://schemas.microsoft.com/office/drawing/2014/main" id="{6B93B8A7-EC13-1F4D-A7BC-566E965802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22 w 356"/>
                    <a:gd name="T3" fmla="*/ 36 h 368"/>
                    <a:gd name="T4" fmla="*/ 856 w 356"/>
                    <a:gd name="T5" fmla="*/ 765 h 368"/>
                    <a:gd name="T6" fmla="*/ 189 w 356"/>
                    <a:gd name="T7" fmla="*/ 957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B050F89-D418-D448-9E4C-F6EE2C0E8D48}"/>
                </a:ext>
              </a:extLst>
            </p:cNvPr>
            <p:cNvGrpSpPr/>
            <p:nvPr/>
          </p:nvGrpSpPr>
          <p:grpSpPr>
            <a:xfrm flipH="1">
              <a:off x="9104243" y="2789583"/>
              <a:ext cx="1681218" cy="980660"/>
              <a:chOff x="6049618" y="2769704"/>
              <a:chExt cx="1681218" cy="980660"/>
            </a:xfrm>
          </p:grpSpPr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E4CAEDFE-5BCE-6B43-AC71-87755DEC1C69}"/>
                  </a:ext>
                </a:extLst>
              </p:cNvPr>
              <p:cNvCxnSpPr>
                <a:endCxn id="69" idx="9"/>
              </p:cNvCxnSpPr>
              <p:nvPr/>
            </p:nvCxnSpPr>
            <p:spPr>
              <a:xfrm>
                <a:off x="6645292" y="3188175"/>
                <a:ext cx="781512" cy="35856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1811847D-A970-9443-B7D2-72AC5D9B1BA0}"/>
                  </a:ext>
                </a:extLst>
              </p:cNvPr>
              <p:cNvGrpSpPr/>
              <p:nvPr/>
            </p:nvGrpSpPr>
            <p:grpSpPr>
              <a:xfrm>
                <a:off x="7124700" y="3417997"/>
                <a:ext cx="606136" cy="332367"/>
                <a:chOff x="7493876" y="2774731"/>
                <a:chExt cx="1481958" cy="894622"/>
              </a:xfrm>
            </p:grpSpPr>
            <p:sp>
              <p:nvSpPr>
                <p:cNvPr id="63" name="Freeform 62">
                  <a:extLst>
                    <a:ext uri="{FF2B5EF4-FFF2-40B4-BE49-F238E27FC236}">
                      <a16:creationId xmlns:a16="http://schemas.microsoft.com/office/drawing/2014/main" id="{B366F0C3-D84C-1B40-8469-120A8C080073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     </a:t>
                  </a:r>
                </a:p>
              </p:txBody>
            </p:sp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57EB0FBE-636E-A546-8091-4FBBC9BF1A7C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rPr>
                    <a:t>              </a:t>
                  </a:r>
                </a:p>
              </p:txBody>
            </p:sp>
            <p:grpSp>
              <p:nvGrpSpPr>
                <p:cNvPr id="65" name="Group 64">
                  <a:extLst>
                    <a:ext uri="{FF2B5EF4-FFF2-40B4-BE49-F238E27FC236}">
                      <a16:creationId xmlns:a16="http://schemas.microsoft.com/office/drawing/2014/main" id="{778360FB-EEF4-2940-9D36-36DE310F905D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66" name="Freeform 65">
                    <a:extLst>
                      <a:ext uri="{FF2B5EF4-FFF2-40B4-BE49-F238E27FC236}">
                        <a16:creationId xmlns:a16="http://schemas.microsoft.com/office/drawing/2014/main" id="{2453C865-DC81-6D4B-ABCB-2846FCE503CA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7" name="Freeform 66">
                    <a:extLst>
                      <a:ext uri="{FF2B5EF4-FFF2-40B4-BE49-F238E27FC236}">
                        <a16:creationId xmlns:a16="http://schemas.microsoft.com/office/drawing/2014/main" id="{8662D64E-0AE9-E64E-8628-AF46CCE5A27A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8" name="Freeform 67">
                    <a:extLst>
                      <a:ext uri="{FF2B5EF4-FFF2-40B4-BE49-F238E27FC236}">
                        <a16:creationId xmlns:a16="http://schemas.microsoft.com/office/drawing/2014/main" id="{918CF3A8-5656-8442-BB3F-09C800215476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69" name="Freeform 68">
                    <a:extLst>
                      <a:ext uri="{FF2B5EF4-FFF2-40B4-BE49-F238E27FC236}">
                        <a16:creationId xmlns:a16="http://schemas.microsoft.com/office/drawing/2014/main" id="{5524A23D-EA0A-6246-B1E7-4F2EF8987EB8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60" name="Group 542">
                <a:extLst>
                  <a:ext uri="{FF2B5EF4-FFF2-40B4-BE49-F238E27FC236}">
                    <a16:creationId xmlns:a16="http://schemas.microsoft.com/office/drawing/2014/main" id="{22947704-2D5C-B840-B65A-0BC7455D43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49618" y="2769704"/>
                <a:ext cx="720837" cy="645768"/>
                <a:chOff x="-44" y="1473"/>
                <a:chExt cx="981" cy="1105"/>
              </a:xfrm>
            </p:grpSpPr>
            <p:pic>
              <p:nvPicPr>
                <p:cNvPr id="61" name="Picture 529" descr="desktop_computer_stylized_medium">
                  <a:extLst>
                    <a:ext uri="{FF2B5EF4-FFF2-40B4-BE49-F238E27FC236}">
                      <a16:creationId xmlns:a16="http://schemas.microsoft.com/office/drawing/2014/main" id="{3691EF3D-3B9E-8D45-A16D-54C9B0ACDE4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 xmlns="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2" name="Freeform 530">
                  <a:extLst>
                    <a:ext uri="{FF2B5EF4-FFF2-40B4-BE49-F238E27FC236}">
                      <a16:creationId xmlns:a16="http://schemas.microsoft.com/office/drawing/2014/main" id="{3C7B9C58-9F63-3F41-9270-A2468F13B9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374" y="1579"/>
                  <a:ext cx="477" cy="506"/>
                </a:xfrm>
                <a:custGeom>
                  <a:avLst/>
                  <a:gdLst>
                    <a:gd name="T0" fmla="*/ 0 w 356"/>
                    <a:gd name="T1" fmla="*/ 0 h 368"/>
                    <a:gd name="T2" fmla="*/ 722 w 356"/>
                    <a:gd name="T3" fmla="*/ 36 h 368"/>
                    <a:gd name="T4" fmla="*/ 856 w 356"/>
                    <a:gd name="T5" fmla="*/ 765 h 368"/>
                    <a:gd name="T6" fmla="*/ 189 w 356"/>
                    <a:gd name="T7" fmla="*/ 957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 cap="flat" cmpd="sng">
                      <a:solidFill>
                        <a:schemeClr val="tx1"/>
                      </a:solidFill>
                      <a:prstDash val="solid"/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118" name="Group 117">
              <a:extLst>
                <a:ext uri="{FF2B5EF4-FFF2-40B4-BE49-F238E27FC236}">
                  <a16:creationId xmlns:a16="http://schemas.microsoft.com/office/drawing/2014/main" id="{25DDDE38-741C-E746-B5BF-21B2066982F8}"/>
                </a:ext>
              </a:extLst>
            </p:cNvPr>
            <p:cNvGrpSpPr/>
            <p:nvPr/>
          </p:nvGrpSpPr>
          <p:grpSpPr>
            <a:xfrm>
              <a:off x="7715977" y="3548786"/>
              <a:ext cx="1285150" cy="185014"/>
              <a:chOff x="1616358" y="2551230"/>
              <a:chExt cx="2138678" cy="218510"/>
            </a:xfrm>
          </p:grpSpPr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A4321BA5-2FBD-9248-8FC5-A60CD7C16E0A}"/>
                  </a:ext>
                </a:extLst>
              </p:cNvPr>
              <p:cNvSpPr/>
              <p:nvPr/>
            </p:nvSpPr>
            <p:spPr>
              <a:xfrm>
                <a:off x="1673508" y="2551230"/>
                <a:ext cx="2027398" cy="218510"/>
              </a:xfrm>
              <a:prstGeom prst="rect">
                <a:avLst/>
              </a:prstGeom>
              <a:gradFill>
                <a:gsLst>
                  <a:gs pos="0">
                    <a:srgbClr val="0012A0"/>
                  </a:gs>
                  <a:gs pos="100000">
                    <a:srgbClr val="0012A0"/>
                  </a:gs>
                  <a:gs pos="52000">
                    <a:srgbClr val="6EBFF0"/>
                  </a:gs>
                </a:gsLst>
                <a:lin ang="16200000" scaled="0"/>
              </a:gradFill>
              <a:ln w="635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DA3EB330-152D-4F4B-937A-5933A9E2D50F}"/>
                  </a:ext>
                </a:extLst>
              </p:cNvPr>
              <p:cNvSpPr/>
              <p:nvPr/>
            </p:nvSpPr>
            <p:spPr>
              <a:xfrm>
                <a:off x="1616358" y="2551230"/>
                <a:ext cx="114300" cy="21851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635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0805F181-49B9-C142-9B51-F857DE897BF7}"/>
                  </a:ext>
                </a:extLst>
              </p:cNvPr>
              <p:cNvSpPr/>
              <p:nvPr/>
            </p:nvSpPr>
            <p:spPr>
              <a:xfrm>
                <a:off x="3643756" y="2559750"/>
                <a:ext cx="111280" cy="209990"/>
              </a:xfrm>
              <a:prstGeom prst="ellipse">
                <a:avLst/>
              </a:prstGeom>
              <a:gradFill flip="none" rotWithShape="1">
                <a:gsLst>
                  <a:gs pos="0">
                    <a:srgbClr val="0012A0">
                      <a:lumMod val="100000"/>
                    </a:srgbClr>
                  </a:gs>
                  <a:gs pos="75000">
                    <a:srgbClr val="66ACD3"/>
                  </a:gs>
                  <a:gs pos="99000">
                    <a:srgbClr val="0012A0"/>
                  </a:gs>
                  <a:gs pos="29000">
                    <a:srgbClr val="6EBFF0"/>
                  </a:gs>
                </a:gsLst>
                <a:lin ang="16200000" scaled="0"/>
                <a:tileRect/>
              </a:gradFill>
              <a:ln w="6350">
                <a:solidFill>
                  <a:schemeClr val="bg1">
                    <a:lumMod val="50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0D93417B-0185-D242-8A05-91DA57EBFD3E}"/>
                  </a:ext>
                </a:extLst>
              </p:cNvPr>
              <p:cNvSpPr/>
              <p:nvPr/>
            </p:nvSpPr>
            <p:spPr>
              <a:xfrm>
                <a:off x="3491356" y="2551230"/>
                <a:ext cx="209550" cy="218510"/>
              </a:xfrm>
              <a:prstGeom prst="rect">
                <a:avLst/>
              </a:prstGeom>
              <a:gradFill>
                <a:gsLst>
                  <a:gs pos="0">
                    <a:srgbClr val="0012A0"/>
                  </a:gs>
                  <a:gs pos="100000">
                    <a:srgbClr val="0012A0"/>
                  </a:gs>
                  <a:gs pos="52000">
                    <a:srgbClr val="6EBFF0"/>
                  </a:gs>
                </a:gsLst>
                <a:lin ang="16200000" scaled="0"/>
              </a:gradFill>
              <a:ln w="6350"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137" name="Freeform 8">
            <a:extLst>
              <a:ext uri="{FF2B5EF4-FFF2-40B4-BE49-F238E27FC236}">
                <a16:creationId xmlns:a16="http://schemas.microsoft.com/office/drawing/2014/main" id="{B88EADF6-5835-854B-A410-631A5C1DF737}"/>
              </a:ext>
            </a:extLst>
          </p:cNvPr>
          <p:cNvSpPr>
            <a:spLocks/>
          </p:cNvSpPr>
          <p:nvPr/>
        </p:nvSpPr>
        <p:spPr bwMode="auto">
          <a:xfrm rot="5400000">
            <a:off x="2931526" y="3676128"/>
            <a:ext cx="506067" cy="1330393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A154F271-87D0-7C47-A4F2-62E2B0FD78A7}"/>
              </a:ext>
            </a:extLst>
          </p:cNvPr>
          <p:cNvGrpSpPr/>
          <p:nvPr/>
        </p:nvGrpSpPr>
        <p:grpSpPr>
          <a:xfrm>
            <a:off x="795132" y="3505196"/>
            <a:ext cx="1681218" cy="980660"/>
            <a:chOff x="6049618" y="2769704"/>
            <a:chExt cx="1681218" cy="980660"/>
          </a:xfrm>
        </p:grpSpPr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C69ECC50-1D6A-FE4E-B412-35AE1EB7DAED}"/>
                </a:ext>
              </a:extLst>
            </p:cNvPr>
            <p:cNvCxnSpPr>
              <a:endCxn id="150" idx="9"/>
            </p:cNvCxnSpPr>
            <p:nvPr/>
          </p:nvCxnSpPr>
          <p:spPr>
            <a:xfrm>
              <a:off x="6645292" y="3188175"/>
              <a:ext cx="781512" cy="3585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0" name="Group 139">
              <a:extLst>
                <a:ext uri="{FF2B5EF4-FFF2-40B4-BE49-F238E27FC236}">
                  <a16:creationId xmlns:a16="http://schemas.microsoft.com/office/drawing/2014/main" id="{56970CFE-113F-524E-A271-D0B56F1E4DCD}"/>
                </a:ext>
              </a:extLst>
            </p:cNvPr>
            <p:cNvGrpSpPr/>
            <p:nvPr/>
          </p:nvGrpSpPr>
          <p:grpSpPr>
            <a:xfrm>
              <a:off x="7124700" y="3417997"/>
              <a:ext cx="606136" cy="332367"/>
              <a:chOff x="7493876" y="2774731"/>
              <a:chExt cx="1481958" cy="894622"/>
            </a:xfrm>
          </p:grpSpPr>
          <p:sp>
            <p:nvSpPr>
              <p:cNvPr id="144" name="Freeform 143">
                <a:extLst>
                  <a:ext uri="{FF2B5EF4-FFF2-40B4-BE49-F238E27FC236}">
                    <a16:creationId xmlns:a16="http://schemas.microsoft.com/office/drawing/2014/main" id="{C672BC0C-11BC-AE43-A36C-720372A95C6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F7D8EBDC-1B3F-D04A-ABF7-F1F8011A446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46" name="Group 145">
                <a:extLst>
                  <a:ext uri="{FF2B5EF4-FFF2-40B4-BE49-F238E27FC236}">
                    <a16:creationId xmlns:a16="http://schemas.microsoft.com/office/drawing/2014/main" id="{3E0C9D8E-6E81-AE48-B276-5C3D4C1174C5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47" name="Freeform 146">
                  <a:extLst>
                    <a:ext uri="{FF2B5EF4-FFF2-40B4-BE49-F238E27FC236}">
                      <a16:creationId xmlns:a16="http://schemas.microsoft.com/office/drawing/2014/main" id="{DFF60AC0-D5B0-B64E-AE9A-940F23337C5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8" name="Freeform 147">
                  <a:extLst>
                    <a:ext uri="{FF2B5EF4-FFF2-40B4-BE49-F238E27FC236}">
                      <a16:creationId xmlns:a16="http://schemas.microsoft.com/office/drawing/2014/main" id="{530B7CED-D36A-D146-8C6D-8F3222A6958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49" name="Freeform 148">
                  <a:extLst>
                    <a:ext uri="{FF2B5EF4-FFF2-40B4-BE49-F238E27FC236}">
                      <a16:creationId xmlns:a16="http://schemas.microsoft.com/office/drawing/2014/main" id="{450884DB-292E-5D43-B1E4-7A972475C1C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50" name="Freeform 149">
                  <a:extLst>
                    <a:ext uri="{FF2B5EF4-FFF2-40B4-BE49-F238E27FC236}">
                      <a16:creationId xmlns:a16="http://schemas.microsoft.com/office/drawing/2014/main" id="{22199CA4-1DF9-774D-A219-054BAAB7B83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41" name="Group 542">
              <a:extLst>
                <a:ext uri="{FF2B5EF4-FFF2-40B4-BE49-F238E27FC236}">
                  <a16:creationId xmlns:a16="http://schemas.microsoft.com/office/drawing/2014/main" id="{1F53B190-AACE-C347-A601-DF96906103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49618" y="2769704"/>
              <a:ext cx="720837" cy="645768"/>
              <a:chOff x="-44" y="1473"/>
              <a:chExt cx="981" cy="1105"/>
            </a:xfrm>
          </p:grpSpPr>
          <p:pic>
            <p:nvPicPr>
              <p:cNvPr id="142" name="Picture 529" descr="desktop_computer_stylized_medium">
                <a:extLst>
                  <a:ext uri="{FF2B5EF4-FFF2-40B4-BE49-F238E27FC236}">
                    <a16:creationId xmlns:a16="http://schemas.microsoft.com/office/drawing/2014/main" id="{74447E28-A5A4-A447-B88B-5C81E70791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3" name="Freeform 530">
                <a:extLst>
                  <a:ext uri="{FF2B5EF4-FFF2-40B4-BE49-F238E27FC236}">
                    <a16:creationId xmlns:a16="http://schemas.microsoft.com/office/drawing/2014/main" id="{63E6D02A-C676-6143-AC61-64B525308E30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22 w 356"/>
                  <a:gd name="T3" fmla="*/ 36 h 368"/>
                  <a:gd name="T4" fmla="*/ 856 w 356"/>
                  <a:gd name="T5" fmla="*/ 765 h 368"/>
                  <a:gd name="T6" fmla="*/ 189 w 356"/>
                  <a:gd name="T7" fmla="*/ 95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51" name="Group 150">
            <a:extLst>
              <a:ext uri="{FF2B5EF4-FFF2-40B4-BE49-F238E27FC236}">
                <a16:creationId xmlns:a16="http://schemas.microsoft.com/office/drawing/2014/main" id="{9AB21A84-8433-A744-8995-3FF202FC2F08}"/>
              </a:ext>
            </a:extLst>
          </p:cNvPr>
          <p:cNvGrpSpPr/>
          <p:nvPr/>
        </p:nvGrpSpPr>
        <p:grpSpPr>
          <a:xfrm flipH="1">
            <a:off x="3955773" y="3525075"/>
            <a:ext cx="1681218" cy="980660"/>
            <a:chOff x="6049618" y="2769704"/>
            <a:chExt cx="1681218" cy="980660"/>
          </a:xfrm>
        </p:grpSpPr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0698FEC1-99B4-8D49-8878-EE9F93FCD604}"/>
                </a:ext>
              </a:extLst>
            </p:cNvPr>
            <p:cNvCxnSpPr>
              <a:endCxn id="163" idx="9"/>
            </p:cNvCxnSpPr>
            <p:nvPr/>
          </p:nvCxnSpPr>
          <p:spPr>
            <a:xfrm>
              <a:off x="6645292" y="3188175"/>
              <a:ext cx="781512" cy="358563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3" name="Group 152">
              <a:extLst>
                <a:ext uri="{FF2B5EF4-FFF2-40B4-BE49-F238E27FC236}">
                  <a16:creationId xmlns:a16="http://schemas.microsoft.com/office/drawing/2014/main" id="{D54EE5B6-8CEE-C24D-9E77-55CFC6B7EBF7}"/>
                </a:ext>
              </a:extLst>
            </p:cNvPr>
            <p:cNvGrpSpPr/>
            <p:nvPr/>
          </p:nvGrpSpPr>
          <p:grpSpPr>
            <a:xfrm>
              <a:off x="7124700" y="3417997"/>
              <a:ext cx="606136" cy="332367"/>
              <a:chOff x="7493876" y="2774731"/>
              <a:chExt cx="1481958" cy="894622"/>
            </a:xfrm>
          </p:grpSpPr>
          <p:sp>
            <p:nvSpPr>
              <p:cNvPr id="157" name="Freeform 156">
                <a:extLst>
                  <a:ext uri="{FF2B5EF4-FFF2-40B4-BE49-F238E27FC236}">
                    <a16:creationId xmlns:a16="http://schemas.microsoft.com/office/drawing/2014/main" id="{FA697D45-FC0F-8B46-B063-A633921C81C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     </a:t>
                </a:r>
              </a:p>
            </p:txBody>
          </p:sp>
          <p:sp>
            <p:nvSpPr>
              <p:cNvPr id="158" name="Oval 157">
                <a:extLst>
                  <a:ext uri="{FF2B5EF4-FFF2-40B4-BE49-F238E27FC236}">
                    <a16:creationId xmlns:a16="http://schemas.microsoft.com/office/drawing/2014/main" id="{ACA12577-0F0A-924E-87DB-05AAFDF314F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             </a:t>
                </a:r>
              </a:p>
            </p:txBody>
          </p: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D8F9D064-FCD7-5643-95F2-11F9764C79D3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160" name="Freeform 159">
                  <a:extLst>
                    <a:ext uri="{FF2B5EF4-FFF2-40B4-BE49-F238E27FC236}">
                      <a16:creationId xmlns:a16="http://schemas.microsoft.com/office/drawing/2014/main" id="{08220A6F-F84C-E34B-8703-26B9D645FA3E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1" name="Freeform 160">
                  <a:extLst>
                    <a:ext uri="{FF2B5EF4-FFF2-40B4-BE49-F238E27FC236}">
                      <a16:creationId xmlns:a16="http://schemas.microsoft.com/office/drawing/2014/main" id="{93FE19AB-AF3C-AF42-BECE-EA8F8C8D509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2" name="Freeform 161">
                  <a:extLst>
                    <a:ext uri="{FF2B5EF4-FFF2-40B4-BE49-F238E27FC236}">
                      <a16:creationId xmlns:a16="http://schemas.microsoft.com/office/drawing/2014/main" id="{9458235E-780D-3F47-B8EB-5F49424819F3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63" name="Freeform 162">
                  <a:extLst>
                    <a:ext uri="{FF2B5EF4-FFF2-40B4-BE49-F238E27FC236}">
                      <a16:creationId xmlns:a16="http://schemas.microsoft.com/office/drawing/2014/main" id="{9AFFB59D-DA07-0044-B94E-45ABEB1D4F4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154" name="Group 542">
              <a:extLst>
                <a:ext uri="{FF2B5EF4-FFF2-40B4-BE49-F238E27FC236}">
                  <a16:creationId xmlns:a16="http://schemas.microsoft.com/office/drawing/2014/main" id="{303EBD73-22AF-554E-AF0F-5CEB974785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49618" y="2769704"/>
              <a:ext cx="720837" cy="645768"/>
              <a:chOff x="-44" y="1473"/>
              <a:chExt cx="981" cy="1105"/>
            </a:xfrm>
          </p:grpSpPr>
          <p:pic>
            <p:nvPicPr>
              <p:cNvPr id="155" name="Picture 529" descr="desktop_computer_stylized_medium">
                <a:extLst>
                  <a:ext uri="{FF2B5EF4-FFF2-40B4-BE49-F238E27FC236}">
                    <a16:creationId xmlns:a16="http://schemas.microsoft.com/office/drawing/2014/main" id="{DA8EBB88-E178-D147-81B8-46282C8115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6" name="Freeform 530">
                <a:extLst>
                  <a:ext uri="{FF2B5EF4-FFF2-40B4-BE49-F238E27FC236}">
                    <a16:creationId xmlns:a16="http://schemas.microsoft.com/office/drawing/2014/main" id="{B79E9C72-6480-6E40-A2DD-061F96875BE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722 w 356"/>
                  <a:gd name="T3" fmla="*/ 36 h 368"/>
                  <a:gd name="T4" fmla="*/ 856 w 356"/>
                  <a:gd name="T5" fmla="*/ 765 h 368"/>
                  <a:gd name="T6" fmla="*/ 189 w 356"/>
                  <a:gd name="T7" fmla="*/ 957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 cap="flat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34FBF839-7AAB-2945-A100-E03CF525DA47}"/>
              </a:ext>
            </a:extLst>
          </p:cNvPr>
          <p:cNvGrpSpPr/>
          <p:nvPr/>
        </p:nvGrpSpPr>
        <p:grpSpPr>
          <a:xfrm>
            <a:off x="1596889" y="3625654"/>
            <a:ext cx="1744188" cy="288737"/>
            <a:chOff x="1596889" y="3055814"/>
            <a:chExt cx="1744188" cy="288737"/>
          </a:xfrm>
        </p:grpSpPr>
        <p:grpSp>
          <p:nvGrpSpPr>
            <p:cNvPr id="179" name="Group 178">
              <a:extLst>
                <a:ext uri="{FF2B5EF4-FFF2-40B4-BE49-F238E27FC236}">
                  <a16:creationId xmlns:a16="http://schemas.microsoft.com/office/drawing/2014/main" id="{C85152D4-74C3-EE4F-BD9E-95F04F9F97F2}"/>
                </a:ext>
              </a:extLst>
            </p:cNvPr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024B5617-C9CC-374E-B759-E5A588F2A04B}"/>
                  </a:ext>
                </a:extLst>
              </p:cNvPr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F76628DF-7E5A-F04D-940F-07D8396FF85F}"/>
                  </a:ext>
                </a:extLst>
              </p:cNvPr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DE6F30FB-9BE9-5A4A-B26D-E6514FFA6757}"/>
                  </a:ext>
                </a:extLst>
              </p:cNvPr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>
                    <a:solidFill>
                      <a:srgbClr val="0012A0"/>
                    </a:solidFill>
                  </a:rPr>
                  <a:t>payload</a:t>
                </a:r>
                <a:endParaRPr lang="en-US" sz="1100" i="1" dirty="0">
                  <a:solidFill>
                    <a:srgbClr val="0012A0"/>
                  </a:solidFill>
                </a:endParaRPr>
              </a:p>
            </p:txBody>
          </p:sp>
          <p:cxnSp>
            <p:nvCxnSpPr>
              <p:cNvPr id="175" name="Straight Connector 174">
                <a:extLst>
                  <a:ext uri="{FF2B5EF4-FFF2-40B4-BE49-F238E27FC236}">
                    <a16:creationId xmlns:a16="http://schemas.microsoft.com/office/drawing/2014/main" id="{D1761815-C40C-064C-94D5-C8EF205B2F81}"/>
                  </a:ext>
                </a:extLst>
              </p:cNvPr>
              <p:cNvCxnSpPr/>
              <p:nvPr/>
            </p:nvCxnSpPr>
            <p:spPr>
              <a:xfrm>
                <a:off x="2474705" y="318507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6" name="Straight Connector 175">
                <a:extLst>
                  <a:ext uri="{FF2B5EF4-FFF2-40B4-BE49-F238E27FC236}">
                    <a16:creationId xmlns:a16="http://schemas.microsoft.com/office/drawing/2014/main" id="{EBA373B1-9E8B-BE44-976A-016C443F9D84}"/>
                  </a:ext>
                </a:extLst>
              </p:cNvPr>
              <p:cNvCxnSpPr/>
              <p:nvPr/>
            </p:nvCxnSpPr>
            <p:spPr>
              <a:xfrm>
                <a:off x="25255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Straight Connector 176">
                <a:extLst>
                  <a:ext uri="{FF2B5EF4-FFF2-40B4-BE49-F238E27FC236}">
                    <a16:creationId xmlns:a16="http://schemas.microsoft.com/office/drawing/2014/main" id="{A11DBAE8-2A7F-254C-90B2-B6475BD2C676}"/>
                  </a:ext>
                </a:extLst>
              </p:cNvPr>
              <p:cNvCxnSpPr/>
              <p:nvPr/>
            </p:nvCxnSpPr>
            <p:spPr>
              <a:xfrm>
                <a:off x="26017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>
                <a:extLst>
                  <a:ext uri="{FF2B5EF4-FFF2-40B4-BE49-F238E27FC236}">
                    <a16:creationId xmlns:a16="http://schemas.microsoft.com/office/drawing/2014/main" id="{4CBA3BFA-0586-D74E-9F22-E3C770289342}"/>
                  </a:ext>
                </a:extLst>
              </p:cNvPr>
              <p:cNvCxnSpPr/>
              <p:nvPr/>
            </p:nvCxnSpPr>
            <p:spPr>
              <a:xfrm>
                <a:off x="2658855" y="317872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1" name="Right Arrow 190">
              <a:extLst>
                <a:ext uri="{FF2B5EF4-FFF2-40B4-BE49-F238E27FC236}">
                  <a16:creationId xmlns:a16="http://schemas.microsoft.com/office/drawing/2014/main" id="{F0F81BD7-A275-8B45-B483-677DEE767174}"/>
                </a:ext>
              </a:extLst>
            </p:cNvPr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99000">
                  <a:srgbClr val="0012A0"/>
                </a:gs>
                <a:gs pos="58000">
                  <a:srgbClr val="6EBFF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C81DAD9C-B11E-7E4C-B1D4-50FEE9FD3D2B}"/>
              </a:ext>
            </a:extLst>
          </p:cNvPr>
          <p:cNvGrpSpPr/>
          <p:nvPr/>
        </p:nvGrpSpPr>
        <p:grpSpPr>
          <a:xfrm>
            <a:off x="1889212" y="3652032"/>
            <a:ext cx="749300" cy="222250"/>
            <a:chOff x="2066925" y="3086100"/>
            <a:chExt cx="749300" cy="222250"/>
          </a:xfrm>
        </p:grpSpPr>
        <p:sp>
          <p:nvSpPr>
            <p:cNvPr id="180" name="Rounded Rectangle 179">
              <a:extLst>
                <a:ext uri="{FF2B5EF4-FFF2-40B4-BE49-F238E27FC236}">
                  <a16:creationId xmlns:a16="http://schemas.microsoft.com/office/drawing/2014/main" id="{7B63C554-F8BB-914B-BBC9-73A76795DDA4}"/>
                </a:ext>
              </a:extLst>
            </p:cNvPr>
            <p:cNvSpPr/>
            <p:nvPr/>
          </p:nvSpPr>
          <p:spPr>
            <a:xfrm>
              <a:off x="2066925" y="3092450"/>
              <a:ext cx="749300" cy="215900"/>
            </a:xfrm>
            <a:prstGeom prst="roundRect">
              <a:avLst/>
            </a:prstGeom>
            <a:solidFill>
              <a:schemeClr val="bg1">
                <a:alpha val="83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ABDE7371-0052-4946-BCF2-B3C5AE34BC52}"/>
                </a:ext>
              </a:extLst>
            </p:cNvPr>
            <p:cNvCxnSpPr/>
            <p:nvPr/>
          </p:nvCxnSpPr>
          <p:spPr>
            <a:xfrm flipH="1">
              <a:off x="209867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015DDBCC-875A-2B45-BFA3-531D564C016F}"/>
                </a:ext>
              </a:extLst>
            </p:cNvPr>
            <p:cNvCxnSpPr/>
            <p:nvPr/>
          </p:nvCxnSpPr>
          <p:spPr>
            <a:xfrm flipH="1">
              <a:off x="2190750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002D6003-527B-524D-AED8-D67D4BA07A07}"/>
                </a:ext>
              </a:extLst>
            </p:cNvPr>
            <p:cNvCxnSpPr/>
            <p:nvPr/>
          </p:nvCxnSpPr>
          <p:spPr>
            <a:xfrm flipH="1">
              <a:off x="228282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C4B601CA-4EB8-7E44-B4A6-4D550673F9BE}"/>
                </a:ext>
              </a:extLst>
            </p:cNvPr>
            <p:cNvCxnSpPr/>
            <p:nvPr/>
          </p:nvCxnSpPr>
          <p:spPr>
            <a:xfrm flipH="1">
              <a:off x="2374900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2ABDA2B9-BAAB-124C-9413-F5CD374D8F77}"/>
                </a:ext>
              </a:extLst>
            </p:cNvPr>
            <p:cNvCxnSpPr/>
            <p:nvPr/>
          </p:nvCxnSpPr>
          <p:spPr>
            <a:xfrm flipH="1">
              <a:off x="2466975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9044783D-8E72-CE48-ACE0-6A9DD70D1495}"/>
                </a:ext>
              </a:extLst>
            </p:cNvPr>
            <p:cNvCxnSpPr/>
            <p:nvPr/>
          </p:nvCxnSpPr>
          <p:spPr>
            <a:xfrm flipH="1">
              <a:off x="2559050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F44FC8C9-8FCF-E440-9975-62F8CAA13B14}"/>
                </a:ext>
              </a:extLst>
            </p:cNvPr>
            <p:cNvCxnSpPr/>
            <p:nvPr/>
          </p:nvCxnSpPr>
          <p:spPr>
            <a:xfrm flipH="1">
              <a:off x="265112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7D9D21C7-F384-7D40-8D53-8B4AE98209F8}"/>
                </a:ext>
              </a:extLst>
            </p:cNvPr>
            <p:cNvCxnSpPr/>
            <p:nvPr/>
          </p:nvCxnSpPr>
          <p:spPr>
            <a:xfrm flipH="1">
              <a:off x="2736850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CB6C3B58-5506-0645-9AF9-B1C7FEE9AFF8}"/>
              </a:ext>
            </a:extLst>
          </p:cNvPr>
          <p:cNvGrpSpPr/>
          <p:nvPr/>
        </p:nvGrpSpPr>
        <p:grpSpPr>
          <a:xfrm>
            <a:off x="6745359" y="2651620"/>
            <a:ext cx="1744188" cy="288737"/>
            <a:chOff x="1596889" y="3055814"/>
            <a:chExt cx="1744188" cy="288737"/>
          </a:xfrm>
        </p:grpSpPr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F2B8D7CF-0A3F-EC45-938C-C9D0E6AA5830}"/>
                </a:ext>
              </a:extLst>
            </p:cNvPr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BDD9945C-957E-7D44-A61B-24C9B3CFF69B}"/>
                  </a:ext>
                </a:extLst>
              </p:cNvPr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23D9B710-1640-AD40-A5AA-3C6FC8D5C570}"/>
                  </a:ext>
                </a:extLst>
              </p:cNvPr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2421D4F2-FFEC-9145-8E7A-18B871660902}"/>
                  </a:ext>
                </a:extLst>
              </p:cNvPr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>
                    <a:solidFill>
                      <a:srgbClr val="0012A0"/>
                    </a:solidFill>
                  </a:rPr>
                  <a:t>payload</a:t>
                </a:r>
                <a:endParaRPr lang="en-US" sz="1100" i="1" dirty="0">
                  <a:solidFill>
                    <a:srgbClr val="0012A0"/>
                  </a:solidFill>
                </a:endParaRPr>
              </a:p>
            </p:txBody>
          </p:sp>
          <p:cxnSp>
            <p:nvCxnSpPr>
              <p:cNvPr id="199" name="Straight Connector 198">
                <a:extLst>
                  <a:ext uri="{FF2B5EF4-FFF2-40B4-BE49-F238E27FC236}">
                    <a16:creationId xmlns:a16="http://schemas.microsoft.com/office/drawing/2014/main" id="{B4ED4815-0AB2-2547-8691-6F35AD39CC8C}"/>
                  </a:ext>
                </a:extLst>
              </p:cNvPr>
              <p:cNvCxnSpPr/>
              <p:nvPr/>
            </p:nvCxnSpPr>
            <p:spPr>
              <a:xfrm>
                <a:off x="2474705" y="318507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0" name="Straight Connector 199">
                <a:extLst>
                  <a:ext uri="{FF2B5EF4-FFF2-40B4-BE49-F238E27FC236}">
                    <a16:creationId xmlns:a16="http://schemas.microsoft.com/office/drawing/2014/main" id="{1CC9C6AF-1976-0141-B4E2-F4180F0E7C9F}"/>
                  </a:ext>
                </a:extLst>
              </p:cNvPr>
              <p:cNvCxnSpPr/>
              <p:nvPr/>
            </p:nvCxnSpPr>
            <p:spPr>
              <a:xfrm>
                <a:off x="25255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1" name="Straight Connector 200">
                <a:extLst>
                  <a:ext uri="{FF2B5EF4-FFF2-40B4-BE49-F238E27FC236}">
                    <a16:creationId xmlns:a16="http://schemas.microsoft.com/office/drawing/2014/main" id="{AB63FBC0-0BD3-6F42-90A6-1849FFF1961F}"/>
                  </a:ext>
                </a:extLst>
              </p:cNvPr>
              <p:cNvCxnSpPr/>
              <p:nvPr/>
            </p:nvCxnSpPr>
            <p:spPr>
              <a:xfrm>
                <a:off x="26017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2" name="Straight Connector 201">
                <a:extLst>
                  <a:ext uri="{FF2B5EF4-FFF2-40B4-BE49-F238E27FC236}">
                    <a16:creationId xmlns:a16="http://schemas.microsoft.com/office/drawing/2014/main" id="{E07AE5E7-0778-1A49-88FF-ED8318715FE6}"/>
                  </a:ext>
                </a:extLst>
              </p:cNvPr>
              <p:cNvCxnSpPr/>
              <p:nvPr/>
            </p:nvCxnSpPr>
            <p:spPr>
              <a:xfrm>
                <a:off x="2658855" y="317872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5" name="Right Arrow 194">
              <a:extLst>
                <a:ext uri="{FF2B5EF4-FFF2-40B4-BE49-F238E27FC236}">
                  <a16:creationId xmlns:a16="http://schemas.microsoft.com/office/drawing/2014/main" id="{2E55176C-A45D-DF4D-8A60-73DECEE081D8}"/>
                </a:ext>
              </a:extLst>
            </p:cNvPr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99000">
                  <a:srgbClr val="0012A0"/>
                </a:gs>
                <a:gs pos="58000">
                  <a:srgbClr val="6EBFF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06" name="Right Arrow 205">
            <a:extLst>
              <a:ext uri="{FF2B5EF4-FFF2-40B4-BE49-F238E27FC236}">
                <a16:creationId xmlns:a16="http://schemas.microsoft.com/office/drawing/2014/main" id="{2EE4E256-9324-E143-9C6B-7837E26CF5B4}"/>
              </a:ext>
            </a:extLst>
          </p:cNvPr>
          <p:cNvSpPr/>
          <p:nvPr/>
        </p:nvSpPr>
        <p:spPr>
          <a:xfrm>
            <a:off x="8691048" y="3108820"/>
            <a:ext cx="613508" cy="288737"/>
          </a:xfrm>
          <a:prstGeom prst="rightArrow">
            <a:avLst/>
          </a:prstGeom>
          <a:gradFill>
            <a:gsLst>
              <a:gs pos="0">
                <a:schemeClr val="bg1"/>
              </a:gs>
              <a:gs pos="99000">
                <a:srgbClr val="0012A0"/>
              </a:gs>
              <a:gs pos="58000">
                <a:srgbClr val="6EBFF0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5" name="Group 254">
            <a:extLst>
              <a:ext uri="{FF2B5EF4-FFF2-40B4-BE49-F238E27FC236}">
                <a16:creationId xmlns:a16="http://schemas.microsoft.com/office/drawing/2014/main" id="{E4162931-2654-1C40-B805-4B3DC15EE849}"/>
              </a:ext>
            </a:extLst>
          </p:cNvPr>
          <p:cNvGrpSpPr/>
          <p:nvPr/>
        </p:nvGrpSpPr>
        <p:grpSpPr>
          <a:xfrm>
            <a:off x="7232575" y="3038475"/>
            <a:ext cx="1430955" cy="365894"/>
            <a:chOff x="7219875" y="3091894"/>
            <a:chExt cx="1430955" cy="271200"/>
          </a:xfrm>
        </p:grpSpPr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0693E30F-EB99-744A-A643-BA8CD54419C5}"/>
                </a:ext>
              </a:extLst>
            </p:cNvPr>
            <p:cNvSpPr/>
            <p:nvPr/>
          </p:nvSpPr>
          <p:spPr>
            <a:xfrm>
              <a:off x="7219875" y="3096088"/>
              <a:ext cx="1430955" cy="253465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62284DC6-132B-E542-80A3-B3F242A4E0E0}"/>
                </a:ext>
              </a:extLst>
            </p:cNvPr>
            <p:cNvCxnSpPr/>
            <p:nvPr/>
          </p:nvCxnSpPr>
          <p:spPr>
            <a:xfrm>
              <a:off x="7498944" y="3091894"/>
              <a:ext cx="0" cy="266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54275846-C439-E14A-9D15-E5870F5B377C}"/>
                </a:ext>
              </a:extLst>
            </p:cNvPr>
            <p:cNvCxnSpPr/>
            <p:nvPr/>
          </p:nvCxnSpPr>
          <p:spPr>
            <a:xfrm>
              <a:off x="7273344" y="3096694"/>
              <a:ext cx="0" cy="266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3B4E1BD7-83C8-B34D-A0CF-3DC9ED73B671}"/>
                </a:ext>
              </a:extLst>
            </p:cNvPr>
            <p:cNvCxnSpPr/>
            <p:nvPr/>
          </p:nvCxnSpPr>
          <p:spPr>
            <a:xfrm>
              <a:off x="7321344" y="3094294"/>
              <a:ext cx="0" cy="266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17A53D37-0107-E447-B026-FB75F1CC92B6}"/>
                </a:ext>
              </a:extLst>
            </p:cNvPr>
            <p:cNvCxnSpPr/>
            <p:nvPr/>
          </p:nvCxnSpPr>
          <p:spPr>
            <a:xfrm>
              <a:off x="7423344" y="3091894"/>
              <a:ext cx="0" cy="26640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48AD58B-2CA9-1848-8136-929DDC770F6D}"/>
              </a:ext>
            </a:extLst>
          </p:cNvPr>
          <p:cNvGrpSpPr/>
          <p:nvPr/>
        </p:nvGrpSpPr>
        <p:grpSpPr>
          <a:xfrm>
            <a:off x="7564040" y="3084742"/>
            <a:ext cx="1060174" cy="276999"/>
            <a:chOff x="2418521" y="3140627"/>
            <a:chExt cx="1060174" cy="276999"/>
          </a:xfrm>
        </p:grpSpPr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6C60EDEB-4300-AB41-9986-F99E9A60DC2D}"/>
                </a:ext>
              </a:extLst>
            </p:cNvPr>
            <p:cNvSpPr/>
            <p:nvPr/>
          </p:nvSpPr>
          <p:spPr>
            <a:xfrm>
              <a:off x="2418521" y="3187148"/>
              <a:ext cx="1060174" cy="18553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AA3D14F8-C2C0-1942-AAB9-0D27DFEA4274}"/>
                </a:ext>
              </a:extLst>
            </p:cNvPr>
            <p:cNvSpPr/>
            <p:nvPr/>
          </p:nvSpPr>
          <p:spPr>
            <a:xfrm>
              <a:off x="2706480" y="3197527"/>
              <a:ext cx="733425" cy="1587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C2A90FB1-6706-3A4F-BBFE-498069E83A46}"/>
                </a:ext>
              </a:extLst>
            </p:cNvPr>
            <p:cNvSpPr txBox="1"/>
            <p:nvPr/>
          </p:nvSpPr>
          <p:spPr>
            <a:xfrm>
              <a:off x="2750930" y="3140627"/>
              <a:ext cx="68159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i="1" dirty="0">
                  <a:solidFill>
                    <a:srgbClr val="0012A0"/>
                  </a:solidFill>
                </a:rPr>
                <a:t>payload</a:t>
              </a:r>
              <a:endParaRPr lang="en-US" sz="1100" i="1" dirty="0">
                <a:solidFill>
                  <a:srgbClr val="0012A0"/>
                </a:solidFill>
              </a:endParaRPr>
            </a:p>
          </p:txBody>
        </p: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084F05C2-5576-3742-A4F3-7A300C18EE7C}"/>
                </a:ext>
              </a:extLst>
            </p:cNvPr>
            <p:cNvCxnSpPr>
              <a:cxnSpLocks/>
            </p:cNvCxnSpPr>
            <p:nvPr/>
          </p:nvCxnSpPr>
          <p:spPr>
            <a:xfrm>
              <a:off x="2474705" y="3196425"/>
              <a:ext cx="0" cy="166838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924A26B1-D43B-7644-AB0D-E8B93E6849A1}"/>
                </a:ext>
              </a:extLst>
            </p:cNvPr>
            <p:cNvCxnSpPr>
              <a:cxnSpLocks/>
            </p:cNvCxnSpPr>
            <p:nvPr/>
          </p:nvCxnSpPr>
          <p:spPr>
            <a:xfrm>
              <a:off x="2525505" y="3199637"/>
              <a:ext cx="0" cy="159966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269EB996-1998-C44B-9E2F-071294DFF07D}"/>
                </a:ext>
              </a:extLst>
            </p:cNvPr>
            <p:cNvCxnSpPr>
              <a:cxnSpLocks/>
            </p:cNvCxnSpPr>
            <p:nvPr/>
          </p:nvCxnSpPr>
          <p:spPr>
            <a:xfrm>
              <a:off x="2616945" y="3194825"/>
              <a:ext cx="0" cy="159966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D1756B14-A618-4644-AADB-42B672171E69}"/>
                </a:ext>
              </a:extLst>
            </p:cNvPr>
            <p:cNvCxnSpPr>
              <a:cxnSpLocks/>
            </p:cNvCxnSpPr>
            <p:nvPr/>
          </p:nvCxnSpPr>
          <p:spPr>
            <a:xfrm>
              <a:off x="2660259" y="3196429"/>
              <a:ext cx="0" cy="159966"/>
            </a:xfrm>
            <a:prstGeom prst="line">
              <a:avLst/>
            </a:prstGeom>
            <a:ln w="63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34794A70-C767-7C46-ADA2-E0E60DA28AAE}"/>
              </a:ext>
            </a:extLst>
          </p:cNvPr>
          <p:cNvGrpSpPr/>
          <p:nvPr/>
        </p:nvGrpSpPr>
        <p:grpSpPr>
          <a:xfrm>
            <a:off x="7542671" y="3101525"/>
            <a:ext cx="1106157" cy="224519"/>
            <a:chOff x="2044062" y="3084919"/>
            <a:chExt cx="1106157" cy="224519"/>
          </a:xfrm>
        </p:grpSpPr>
        <p:sp>
          <p:nvSpPr>
            <p:cNvPr id="242" name="Rounded Rectangle 241">
              <a:extLst>
                <a:ext uri="{FF2B5EF4-FFF2-40B4-BE49-F238E27FC236}">
                  <a16:creationId xmlns:a16="http://schemas.microsoft.com/office/drawing/2014/main" id="{6650B23A-89BA-1940-B8C3-500EB3D61607}"/>
                </a:ext>
              </a:extLst>
            </p:cNvPr>
            <p:cNvSpPr/>
            <p:nvPr/>
          </p:nvSpPr>
          <p:spPr>
            <a:xfrm>
              <a:off x="2044062" y="3092450"/>
              <a:ext cx="1106157" cy="215900"/>
            </a:xfrm>
            <a:prstGeom prst="roundRect">
              <a:avLst/>
            </a:prstGeom>
            <a:solidFill>
              <a:schemeClr val="bg1">
                <a:alpha val="83000"/>
              </a:schemeClr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FB27433E-EED3-ED41-BE05-8C704F5F5DC3}"/>
                </a:ext>
              </a:extLst>
            </p:cNvPr>
            <p:cNvCxnSpPr/>
            <p:nvPr/>
          </p:nvCxnSpPr>
          <p:spPr>
            <a:xfrm flipH="1">
              <a:off x="209867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A4996838-AA15-B440-BC8D-124BB6D41640}"/>
                </a:ext>
              </a:extLst>
            </p:cNvPr>
            <p:cNvCxnSpPr/>
            <p:nvPr/>
          </p:nvCxnSpPr>
          <p:spPr>
            <a:xfrm flipH="1">
              <a:off x="2190750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46E859A7-F339-B54B-BD00-1FB8D9513390}"/>
                </a:ext>
              </a:extLst>
            </p:cNvPr>
            <p:cNvCxnSpPr/>
            <p:nvPr/>
          </p:nvCxnSpPr>
          <p:spPr>
            <a:xfrm flipH="1">
              <a:off x="228282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E339ED11-A33B-1E40-88B3-BE3FDA8649FC}"/>
                </a:ext>
              </a:extLst>
            </p:cNvPr>
            <p:cNvCxnSpPr/>
            <p:nvPr/>
          </p:nvCxnSpPr>
          <p:spPr>
            <a:xfrm flipH="1">
              <a:off x="2374900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1E136345-3B81-6C44-ABCC-4CA60BACE6D6}"/>
                </a:ext>
              </a:extLst>
            </p:cNvPr>
            <p:cNvCxnSpPr/>
            <p:nvPr/>
          </p:nvCxnSpPr>
          <p:spPr>
            <a:xfrm flipH="1">
              <a:off x="2466975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F9056E8C-084E-9F43-B23D-FB8E99B599C1}"/>
                </a:ext>
              </a:extLst>
            </p:cNvPr>
            <p:cNvCxnSpPr/>
            <p:nvPr/>
          </p:nvCxnSpPr>
          <p:spPr>
            <a:xfrm flipH="1">
              <a:off x="2559050" y="308610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7259DDFB-3EEF-9D44-AA4B-0EC4728CD355}"/>
                </a:ext>
              </a:extLst>
            </p:cNvPr>
            <p:cNvCxnSpPr/>
            <p:nvPr/>
          </p:nvCxnSpPr>
          <p:spPr>
            <a:xfrm flipH="1">
              <a:off x="2651125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326856E5-4AD5-BE4D-B500-A7AD5439B70D}"/>
                </a:ext>
              </a:extLst>
            </p:cNvPr>
            <p:cNvCxnSpPr/>
            <p:nvPr/>
          </p:nvCxnSpPr>
          <p:spPr>
            <a:xfrm flipH="1">
              <a:off x="2736850" y="3089275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001DADB0-222C-B24B-8D0D-03760C7F0822}"/>
                </a:ext>
              </a:extLst>
            </p:cNvPr>
            <p:cNvCxnSpPr/>
            <p:nvPr/>
          </p:nvCxnSpPr>
          <p:spPr>
            <a:xfrm flipH="1">
              <a:off x="2814139" y="3084920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F55875F2-F8D1-CE45-8BAC-8744F73D4F68}"/>
                </a:ext>
              </a:extLst>
            </p:cNvPr>
            <p:cNvCxnSpPr/>
            <p:nvPr/>
          </p:nvCxnSpPr>
          <p:spPr>
            <a:xfrm flipH="1">
              <a:off x="2891428" y="3090363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8D1BEB87-E97E-DB4D-BFBB-74F001CDB608}"/>
                </a:ext>
              </a:extLst>
            </p:cNvPr>
            <p:cNvCxnSpPr/>
            <p:nvPr/>
          </p:nvCxnSpPr>
          <p:spPr>
            <a:xfrm flipH="1">
              <a:off x="2968717" y="3089274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118157D5-90E4-7444-8E1F-DBD672AE220E}"/>
                </a:ext>
              </a:extLst>
            </p:cNvPr>
            <p:cNvCxnSpPr/>
            <p:nvPr/>
          </p:nvCxnSpPr>
          <p:spPr>
            <a:xfrm flipH="1">
              <a:off x="3046006" y="3084919"/>
              <a:ext cx="50800" cy="219075"/>
            </a:xfrm>
            <a:prstGeom prst="line">
              <a:avLst/>
            </a:prstGeom>
            <a:ln w="12700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47956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0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Two IPsec protocols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28" name="Content Placeholder 2">
            <a:extLst>
              <a:ext uri="{FF2B5EF4-FFF2-40B4-BE49-F238E27FC236}">
                <a16:creationId xmlns:a16="http://schemas.microsoft.com/office/drawing/2014/main" id="{1D1CD0CA-808A-CE4C-B224-FD9C5A476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217" y="1409700"/>
            <a:ext cx="11512826" cy="4648200"/>
          </a:xfrm>
        </p:spPr>
        <p:txBody>
          <a:bodyPr>
            <a:normAutofit/>
          </a:bodyPr>
          <a:lstStyle/>
          <a:p>
            <a:pPr indent="-339725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Authentication Header (AH) protocol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[RFC 4302]</a:t>
            </a: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provides source authentication &amp; data integrity but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not 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confidentiality</a:t>
            </a:r>
            <a:endParaRPr lang="en-US" sz="2800" i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0" indent="-339725"/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Encapsulation Security Protocol (ESP) </a:t>
            </a:r>
            <a:r>
              <a:rPr lang="en-US" sz="2400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[RFC 4303]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provides source authentication, data integrity, </a:t>
            </a:r>
            <a:r>
              <a:rPr lang="en-US" sz="2800" i="1" dirty="0">
                <a:latin typeface="Calibri" panose="020F0502020204030204" pitchFamily="34" charset="0"/>
                <a:cs typeface="Calibri" panose="020F0502020204030204" pitchFamily="34" charset="0"/>
              </a:rPr>
              <a:t>and confidentiality</a:t>
            </a:r>
          </a:p>
          <a:p>
            <a:pPr lvl="1"/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more widely used than AH</a:t>
            </a:r>
          </a:p>
        </p:txBody>
      </p:sp>
    </p:spTree>
    <p:extLst>
      <p:ext uri="{BB962C8B-B14F-4D97-AF65-F5344CB8AC3E}">
        <p14:creationId xmlns:p14="http://schemas.microsoft.com/office/powerpoint/2010/main" val="42968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3D4DFD4A-11BF-1D45-8B30-8DB0138CD137}"/>
              </a:ext>
            </a:extLst>
          </p:cNvPr>
          <p:cNvGrpSpPr/>
          <p:nvPr/>
        </p:nvGrpSpPr>
        <p:grpSpPr>
          <a:xfrm>
            <a:off x="4412974" y="4461518"/>
            <a:ext cx="2075622" cy="462165"/>
            <a:chOff x="5075582" y="4872335"/>
            <a:chExt cx="2075622" cy="462165"/>
          </a:xfrm>
        </p:grpSpPr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765E93B6-9CDC-5143-84AB-38E846F49DB1}"/>
                </a:ext>
              </a:extLst>
            </p:cNvPr>
            <p:cNvGrpSpPr/>
            <p:nvPr/>
          </p:nvGrpSpPr>
          <p:grpSpPr>
            <a:xfrm>
              <a:off x="5075582" y="4896928"/>
              <a:ext cx="2075622" cy="437572"/>
              <a:chOff x="5049078" y="4896928"/>
              <a:chExt cx="2075622" cy="437572"/>
            </a:xfrm>
          </p:grpSpPr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507A4581-6CDE-F444-A2B2-E64F0F6448DB}"/>
                  </a:ext>
                </a:extLst>
              </p:cNvPr>
              <p:cNvCxnSpPr/>
              <p:nvPr/>
            </p:nvCxnSpPr>
            <p:spPr>
              <a:xfrm>
                <a:off x="5049078" y="4896928"/>
                <a:ext cx="0" cy="437322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7132BA6B-88D0-CF4D-968C-D65925A67EFC}"/>
                  </a:ext>
                </a:extLst>
              </p:cNvPr>
              <p:cNvCxnSpPr/>
              <p:nvPr/>
            </p:nvCxnSpPr>
            <p:spPr>
              <a:xfrm>
                <a:off x="7124700" y="4897178"/>
                <a:ext cx="0" cy="437322"/>
              </a:xfrm>
              <a:prstGeom prst="line">
                <a:avLst/>
              </a:prstGeom>
              <a:ln w="22225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C3ADA45E-C6EB-3447-8BEB-9BCF74056209}"/>
                  </a:ext>
                </a:extLst>
              </p:cNvPr>
              <p:cNvCxnSpPr/>
              <p:nvPr/>
            </p:nvCxnSpPr>
            <p:spPr>
              <a:xfrm>
                <a:off x="5049078" y="5088835"/>
                <a:ext cx="2075622" cy="0"/>
              </a:xfrm>
              <a:prstGeom prst="straightConnector1">
                <a:avLst/>
              </a:prstGeom>
              <a:ln w="22225">
                <a:solidFill>
                  <a:srgbClr val="C00000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2E7F0EA5-09A6-6842-884F-3E684CFAD883}"/>
                </a:ext>
              </a:extLst>
            </p:cNvPr>
            <p:cNvSpPr txBox="1"/>
            <p:nvPr/>
          </p:nvSpPr>
          <p:spPr>
            <a:xfrm>
              <a:off x="5844208" y="4872335"/>
              <a:ext cx="501419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SA</a:t>
              </a:r>
            </a:p>
          </p:txBody>
        </p:sp>
      </p:grpSp>
      <p:sp>
        <p:nvSpPr>
          <p:cNvPr id="79" name="Freeform 296">
            <a:extLst>
              <a:ext uri="{FF2B5EF4-FFF2-40B4-BE49-F238E27FC236}">
                <a16:creationId xmlns:a16="http://schemas.microsoft.com/office/drawing/2014/main" id="{B6B47B2B-E669-7641-BD1F-EF8AD0999924}"/>
              </a:ext>
            </a:extLst>
          </p:cNvPr>
          <p:cNvSpPr>
            <a:spLocks/>
          </p:cNvSpPr>
          <p:nvPr/>
        </p:nvSpPr>
        <p:spPr bwMode="auto">
          <a:xfrm flipH="1">
            <a:off x="6417911" y="3939027"/>
            <a:ext cx="2272749" cy="733284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/>
              </a:rPr>
              <a:t>             </a:t>
            </a:r>
          </a:p>
        </p:txBody>
      </p:sp>
      <p:sp>
        <p:nvSpPr>
          <p:cNvPr id="78" name="Freeform 296">
            <a:extLst>
              <a:ext uri="{FF2B5EF4-FFF2-40B4-BE49-F238E27FC236}">
                <a16:creationId xmlns:a16="http://schemas.microsoft.com/office/drawing/2014/main" id="{80FB4D7C-907B-9B45-9C13-DF3038D7097F}"/>
              </a:ext>
            </a:extLst>
          </p:cNvPr>
          <p:cNvSpPr>
            <a:spLocks/>
          </p:cNvSpPr>
          <p:nvPr/>
        </p:nvSpPr>
        <p:spPr bwMode="auto">
          <a:xfrm>
            <a:off x="2199862" y="3869635"/>
            <a:ext cx="2202205" cy="733284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/>
              </a:rPr>
              <a:t>         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Security associations (SAs) 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128" name="Content Placeholder 2">
            <a:extLst>
              <a:ext uri="{FF2B5EF4-FFF2-40B4-BE49-F238E27FC236}">
                <a16:creationId xmlns:a16="http://schemas.microsoft.com/office/drawing/2014/main" id="{1D1CD0CA-808A-CE4C-B224-FD9C5A476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7469" y="1277178"/>
            <a:ext cx="10571923" cy="4648200"/>
          </a:xfrm>
        </p:spPr>
        <p:txBody>
          <a:bodyPr>
            <a:normAutofit/>
          </a:bodyPr>
          <a:lstStyle/>
          <a:p>
            <a:pPr indent="-287338"/>
            <a:r>
              <a:rPr lang="en-US" dirty="0"/>
              <a:t>before sending data, </a:t>
            </a:r>
            <a:r>
              <a:rPr lang="en-US" altLang="ja-JP" dirty="0">
                <a:solidFill>
                  <a:srgbClr val="C00000"/>
                </a:solidFill>
              </a:rPr>
              <a:t>security association (SA) </a:t>
            </a:r>
            <a:r>
              <a:rPr lang="en-US" altLang="ja-JP" dirty="0"/>
              <a:t>established from sending to receiving entity  (directional)</a:t>
            </a:r>
            <a:endParaRPr lang="en-US" altLang="ja-JP" sz="3200" dirty="0"/>
          </a:p>
          <a:p>
            <a:pPr indent="-287338"/>
            <a:r>
              <a:rPr lang="en-US" dirty="0"/>
              <a:t>ending, receiving entitles maintain </a:t>
            </a:r>
            <a:r>
              <a:rPr lang="en-US" i="1" dirty="0"/>
              <a:t>state information</a:t>
            </a:r>
            <a:r>
              <a:rPr lang="en-US" dirty="0"/>
              <a:t> about SA</a:t>
            </a:r>
          </a:p>
          <a:p>
            <a:pPr lvl="1"/>
            <a:r>
              <a:rPr lang="en-US" sz="2800" dirty="0"/>
              <a:t>recall: TCP endpoints also maintain state info</a:t>
            </a:r>
          </a:p>
          <a:p>
            <a:pPr lvl="1"/>
            <a:r>
              <a:rPr lang="en-US" sz="2800" dirty="0"/>
              <a:t>IP is connectionless; IPsec is connection-oriented!</a:t>
            </a:r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6FB17627-5C23-D54C-B033-E10C852C3F9C}"/>
              </a:ext>
            </a:extLst>
          </p:cNvPr>
          <p:cNvSpPr>
            <a:spLocks/>
          </p:cNvSpPr>
          <p:nvPr/>
        </p:nvSpPr>
        <p:spPr bwMode="auto">
          <a:xfrm rot="5400000">
            <a:off x="5175294" y="3311699"/>
            <a:ext cx="506067" cy="1966498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695061-2BC1-A043-8983-A6D2BB90BD71}"/>
              </a:ext>
            </a:extLst>
          </p:cNvPr>
          <p:cNvGrpSpPr/>
          <p:nvPr/>
        </p:nvGrpSpPr>
        <p:grpSpPr>
          <a:xfrm>
            <a:off x="3891171" y="4067354"/>
            <a:ext cx="606136" cy="332367"/>
            <a:chOff x="7493876" y="2774731"/>
            <a:chExt cx="1481958" cy="894622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86CDCF8-2884-1F4C-AA6B-D8D80F83C69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9EC3C24-26E3-8B4C-851E-AD6D23CDCC1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4A41B52-12BB-9441-9E64-29FEFD2BE35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80901BB0-76B8-C24E-8578-0902719A228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91921B51-C23E-594C-8341-49C1C08B6E1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DD6B8F6F-5734-7B4B-A6B9-B10838823A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4C7E467F-864A-1147-BEDB-AD380AC091F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" name="Group 542">
            <a:extLst>
              <a:ext uri="{FF2B5EF4-FFF2-40B4-BE49-F238E27FC236}">
                <a16:creationId xmlns:a16="http://schemas.microsoft.com/office/drawing/2014/main" id="{08C0C01B-02BB-B64A-9B9C-694B14773163}"/>
              </a:ext>
            </a:extLst>
          </p:cNvPr>
          <p:cNvGrpSpPr>
            <a:grpSpLocks/>
          </p:cNvGrpSpPr>
          <p:nvPr/>
        </p:nvGrpSpPr>
        <p:grpSpPr bwMode="auto">
          <a:xfrm>
            <a:off x="2153481" y="3763618"/>
            <a:ext cx="720837" cy="645768"/>
            <a:chOff x="-44" y="1473"/>
            <a:chExt cx="981" cy="1105"/>
          </a:xfrm>
        </p:grpSpPr>
        <p:pic>
          <p:nvPicPr>
            <p:cNvPr id="29" name="Picture 529" descr="desktop_computer_stylized_medium">
              <a:extLst>
                <a:ext uri="{FF2B5EF4-FFF2-40B4-BE49-F238E27FC236}">
                  <a16:creationId xmlns:a16="http://schemas.microsoft.com/office/drawing/2014/main" id="{5EEF7061-2D27-E847-94C1-54CEBAA029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530">
              <a:extLst>
                <a:ext uri="{FF2B5EF4-FFF2-40B4-BE49-F238E27FC236}">
                  <a16:creationId xmlns:a16="http://schemas.microsoft.com/office/drawing/2014/main" id="{8FA5248B-FCAA-5641-89A7-12921404161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22 w 356"/>
                <a:gd name="T3" fmla="*/ 36 h 368"/>
                <a:gd name="T4" fmla="*/ 856 w 356"/>
                <a:gd name="T5" fmla="*/ 765 h 368"/>
                <a:gd name="T6" fmla="*/ 189 w 356"/>
                <a:gd name="T7" fmla="*/ 95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DAF8A6-5787-7D4C-9F9B-955DF1495910}"/>
              </a:ext>
            </a:extLst>
          </p:cNvPr>
          <p:cNvGrpSpPr/>
          <p:nvPr/>
        </p:nvGrpSpPr>
        <p:grpSpPr>
          <a:xfrm flipH="1">
            <a:off x="6411723" y="4079806"/>
            <a:ext cx="606136" cy="332367"/>
            <a:chOff x="7493876" y="2774731"/>
            <a:chExt cx="1481958" cy="894622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31839A8-0111-AD45-B261-A1F4E1E587F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615D6D-3E36-EE4D-A354-73B8CAA4E91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918CFD4-C276-5640-A6D8-F6B84448E0B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27D4CDD-9090-FA48-988F-6404841E9AF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2DDD519D-867C-934D-9C4A-482DCA2333E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4977966-70E0-934E-B872-811836A01E3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269B995-6A3D-F14E-968C-CE8736C00A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" name="Group 542">
            <a:extLst>
              <a:ext uri="{FF2B5EF4-FFF2-40B4-BE49-F238E27FC236}">
                <a16:creationId xmlns:a16="http://schemas.microsoft.com/office/drawing/2014/main" id="{375DE9C2-8640-6840-AF58-780A20D2C09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864763" y="3902767"/>
            <a:ext cx="720837" cy="645768"/>
            <a:chOff x="-44" y="1473"/>
            <a:chExt cx="981" cy="1105"/>
          </a:xfrm>
        </p:grpSpPr>
        <p:pic>
          <p:nvPicPr>
            <p:cNvPr id="17" name="Picture 529" descr="desktop_computer_stylized_medium">
              <a:extLst>
                <a:ext uri="{FF2B5EF4-FFF2-40B4-BE49-F238E27FC236}">
                  <a16:creationId xmlns:a16="http://schemas.microsoft.com/office/drawing/2014/main" id="{9952E610-CCCD-0245-9E4B-5001C72897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Freeform 530">
              <a:extLst>
                <a:ext uri="{FF2B5EF4-FFF2-40B4-BE49-F238E27FC236}">
                  <a16:creationId xmlns:a16="http://schemas.microsoft.com/office/drawing/2014/main" id="{1BB7CCB4-A0EE-E840-ABF7-1BF234B1C2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22 w 356"/>
                <a:gd name="T3" fmla="*/ 36 h 368"/>
                <a:gd name="T4" fmla="*/ 856 w 356"/>
                <a:gd name="T5" fmla="*/ 765 h 368"/>
                <a:gd name="T6" fmla="*/ 189 w 356"/>
                <a:gd name="T7" fmla="*/ 95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CB4ADB-AB8F-8A42-A9F9-3C57E849C39C}"/>
              </a:ext>
            </a:extLst>
          </p:cNvPr>
          <p:cNvGrpSpPr/>
          <p:nvPr/>
        </p:nvGrpSpPr>
        <p:grpSpPr>
          <a:xfrm>
            <a:off x="4611757" y="4151258"/>
            <a:ext cx="1653170" cy="214830"/>
            <a:chOff x="1616358" y="2551230"/>
            <a:chExt cx="2134354" cy="2185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6FCE47-CE47-9445-B6CF-CA95B2574C7B}"/>
                </a:ext>
              </a:extLst>
            </p:cNvPr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100000">
                  <a:srgbClr val="0012A0"/>
                </a:gs>
                <a:gs pos="52000">
                  <a:srgbClr val="6EBFF0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1352516-FF6E-7843-A5FD-B8810B418FF2}"/>
                </a:ext>
              </a:extLst>
            </p:cNvPr>
            <p:cNvSpPr/>
            <p:nvPr/>
          </p:nvSpPr>
          <p:spPr>
            <a:xfrm>
              <a:off x="1616358" y="2551230"/>
              <a:ext cx="114300" cy="2185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CEB6B48-E134-7B43-B2D9-DA0135DDCCCF}"/>
                </a:ext>
              </a:extLst>
            </p:cNvPr>
            <p:cNvSpPr/>
            <p:nvPr/>
          </p:nvSpPr>
          <p:spPr>
            <a:xfrm>
              <a:off x="3639432" y="2552938"/>
              <a:ext cx="111280" cy="209990"/>
            </a:xfrm>
            <a:prstGeom prst="ellipse">
              <a:avLst/>
            </a:prstGeom>
            <a:gradFill flip="none" rotWithShape="1">
              <a:gsLst>
                <a:gs pos="0">
                  <a:srgbClr val="0012A0">
                    <a:lumMod val="100000"/>
                  </a:srgbClr>
                </a:gs>
                <a:gs pos="69000">
                  <a:srgbClr val="66ACD3"/>
                </a:gs>
                <a:gs pos="99000">
                  <a:srgbClr val="0012A0"/>
                </a:gs>
                <a:gs pos="29000">
                  <a:srgbClr val="6EBFF0"/>
                </a:gs>
              </a:gsLst>
              <a:lin ang="16200000" scaled="0"/>
              <a:tileRect/>
            </a:gra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FB9112-79F2-0345-AC1F-08C2F47B7086}"/>
                </a:ext>
              </a:extLst>
            </p:cNvPr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100000">
                  <a:srgbClr val="0012A0"/>
                </a:gs>
                <a:gs pos="52000">
                  <a:srgbClr val="6EBFF0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F7B2F1-7981-6243-94B5-7FD42CA503C2}"/>
              </a:ext>
            </a:extLst>
          </p:cNvPr>
          <p:cNvCxnSpPr/>
          <p:nvPr/>
        </p:nvCxnSpPr>
        <p:spPr>
          <a:xfrm>
            <a:off x="4495545" y="4251618"/>
            <a:ext cx="15072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D069B82-596C-0441-A853-7EF039592387}"/>
              </a:ext>
            </a:extLst>
          </p:cNvPr>
          <p:cNvCxnSpPr/>
          <p:nvPr/>
        </p:nvCxnSpPr>
        <p:spPr>
          <a:xfrm>
            <a:off x="6259031" y="4266690"/>
            <a:ext cx="15072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 Box 43">
            <a:extLst>
              <a:ext uri="{FF2B5EF4-FFF2-40B4-BE49-F238E27FC236}">
                <a16:creationId xmlns:a16="http://schemas.microsoft.com/office/drawing/2014/main" id="{D73D72CE-63DC-F847-87E3-A8D504C36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4349" y="3729810"/>
            <a:ext cx="1050288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400" dirty="0">
                <a:latin typeface="+mn-lt"/>
                <a:cs typeface="Arial" charset="0"/>
              </a:rPr>
              <a:t>193.68.2.23</a:t>
            </a:r>
          </a:p>
        </p:txBody>
      </p:sp>
      <p:sp>
        <p:nvSpPr>
          <p:cNvPr id="83" name="Text Box 44">
            <a:extLst>
              <a:ext uri="{FF2B5EF4-FFF2-40B4-BE49-F238E27FC236}">
                <a16:creationId xmlns:a16="http://schemas.microsoft.com/office/drawing/2014/main" id="{9B1B9717-FF4B-8946-AE2A-0C012D94A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26745" y="3727970"/>
            <a:ext cx="123303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r>
              <a:rPr lang="en-US" sz="1400" dirty="0">
                <a:latin typeface="+mn-lt"/>
                <a:cs typeface="Arial" charset="0"/>
              </a:rPr>
              <a:t>200.168.1.100</a:t>
            </a:r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767BD11-E82F-3948-BD96-4A21755B1EBD}"/>
              </a:ext>
            </a:extLst>
          </p:cNvPr>
          <p:cNvCxnSpPr/>
          <p:nvPr/>
        </p:nvCxnSpPr>
        <p:spPr>
          <a:xfrm flipV="1">
            <a:off x="6370204" y="4003180"/>
            <a:ext cx="0" cy="21515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9CCF7ED3-5C82-F645-97C8-EC60CE9A906C}"/>
              </a:ext>
            </a:extLst>
          </p:cNvPr>
          <p:cNvCxnSpPr/>
          <p:nvPr/>
        </p:nvCxnSpPr>
        <p:spPr>
          <a:xfrm flipV="1">
            <a:off x="4522354" y="3997577"/>
            <a:ext cx="0" cy="215153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5" name="Group 94">
            <a:extLst>
              <a:ext uri="{FF2B5EF4-FFF2-40B4-BE49-F238E27FC236}">
                <a16:creationId xmlns:a16="http://schemas.microsoft.com/office/drawing/2014/main" id="{81E1401D-4FDF-354D-8E6F-BC1C33B9DDCD}"/>
              </a:ext>
            </a:extLst>
          </p:cNvPr>
          <p:cNvGrpSpPr/>
          <p:nvPr/>
        </p:nvGrpSpPr>
        <p:grpSpPr>
          <a:xfrm>
            <a:off x="1109249" y="4672427"/>
            <a:ext cx="9147934" cy="1993417"/>
            <a:chOff x="1109249" y="4672427"/>
            <a:chExt cx="9147934" cy="1993417"/>
          </a:xfrm>
        </p:grpSpPr>
        <p:sp>
          <p:nvSpPr>
            <p:cNvPr id="96" name="Rectangle 59">
              <a:extLst>
                <a:ext uri="{FF2B5EF4-FFF2-40B4-BE49-F238E27FC236}">
                  <a16:creationId xmlns:a16="http://schemas.microsoft.com/office/drawing/2014/main" id="{87BD3CA9-DE24-6B4C-B69C-BFA7530CA3A7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1109249" y="4672427"/>
              <a:ext cx="8161337" cy="1953660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Font typeface="Wingdings" charset="0"/>
                <a:buNone/>
              </a:pPr>
              <a:r>
                <a:rPr lang="en-US" dirty="0">
                  <a:solidFill>
                    <a:srgbClr val="0012A0"/>
                  </a:solidFill>
                </a:rPr>
                <a:t>R1 stores for SA: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32-bit identifier: </a:t>
              </a:r>
              <a:r>
                <a:rPr lang="en-US" sz="2200" i="1" dirty="0"/>
                <a:t>Security Parameter Index (SPI)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origin SA interface </a:t>
              </a:r>
              <a:r>
                <a:rPr lang="en-US" sz="2000" dirty="0"/>
                <a:t>(200.168.1.100)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destination SA interface </a:t>
              </a:r>
              <a:r>
                <a:rPr lang="en-US" sz="1800" dirty="0"/>
                <a:t>(193.68.2.23)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type of encryption used</a:t>
              </a:r>
            </a:p>
          </p:txBody>
        </p:sp>
        <p:sp>
          <p:nvSpPr>
            <p:cNvPr id="97" name="Rectangle 59">
              <a:extLst>
                <a:ext uri="{FF2B5EF4-FFF2-40B4-BE49-F238E27FC236}">
                  <a16:creationId xmlns:a16="http://schemas.microsoft.com/office/drawing/2014/main" id="{A80DCF40-C508-554C-A640-06F187BCC45F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045685" y="5487436"/>
              <a:ext cx="4211498" cy="1178408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352425" indent="-22225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Clr>
                  <a:srgbClr val="0000A3"/>
                </a:buClr>
                <a:buFont typeface="Wingdings" pitchFamily="2" charset="2"/>
                <a:buChar char="§"/>
                <a:tabLst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95325" indent="-231775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00A8"/>
                </a:buClr>
                <a:buFont typeface="Arial" panose="020B0604020202020204" pitchFamily="34" charset="0"/>
                <a:buChar char="•"/>
                <a:tabLst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400"/>
                </a:spcBef>
              </a:pPr>
              <a:r>
                <a:rPr lang="en-US" sz="2200" dirty="0"/>
                <a:t>encryption key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type of integrity check used </a:t>
              </a:r>
            </a:p>
            <a:p>
              <a:pPr>
                <a:spcBef>
                  <a:spcPts val="400"/>
                </a:spcBef>
              </a:pPr>
              <a:r>
                <a:rPr lang="en-US" sz="2200" dirty="0"/>
                <a:t>authentication key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587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21">
            <a:extLst>
              <a:ext uri="{FF2B5EF4-FFF2-40B4-BE49-F238E27FC236}">
                <a16:creationId xmlns:a16="http://schemas.microsoft.com/office/drawing/2014/main" id="{77DBD444-9315-7048-BDE5-13C962A17FE0}"/>
              </a:ext>
            </a:extLst>
          </p:cNvPr>
          <p:cNvSpPr/>
          <p:nvPr/>
        </p:nvSpPr>
        <p:spPr>
          <a:xfrm>
            <a:off x="3286107" y="3295753"/>
            <a:ext cx="1376764" cy="6121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4EA96FA-150A-454A-ADE0-BF32617A8756}"/>
              </a:ext>
            </a:extLst>
          </p:cNvPr>
          <p:cNvSpPr/>
          <p:nvPr/>
        </p:nvSpPr>
        <p:spPr>
          <a:xfrm>
            <a:off x="6656987" y="3290586"/>
            <a:ext cx="2298915" cy="6121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AD8BB7-609E-0244-A14B-25AB29CD6D16}"/>
              </a:ext>
            </a:extLst>
          </p:cNvPr>
          <p:cNvSpPr/>
          <p:nvPr/>
        </p:nvSpPr>
        <p:spPr>
          <a:xfrm>
            <a:off x="2464696" y="2177291"/>
            <a:ext cx="6455044" cy="6121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IPsec datagram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88" name="Rectangle 5">
            <a:extLst>
              <a:ext uri="{FF2B5EF4-FFF2-40B4-BE49-F238E27FC236}">
                <a16:creationId xmlns:a16="http://schemas.microsoft.com/office/drawing/2014/main" id="{AD848549-52A5-A642-92EF-5B798CBC6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6181" y="2174539"/>
            <a:ext cx="1128712" cy="609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new IP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header</a:t>
            </a:r>
          </a:p>
        </p:txBody>
      </p:sp>
      <p:sp>
        <p:nvSpPr>
          <p:cNvPr id="93" name="Rectangle 6">
            <a:extLst>
              <a:ext uri="{FF2B5EF4-FFF2-40B4-BE49-F238E27FC236}">
                <a16:creationId xmlns:a16="http://schemas.microsoft.com/office/drawing/2014/main" id="{B2AE65F7-928A-0840-8E23-DC0C5CC66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893" y="2174539"/>
            <a:ext cx="700087" cy="609600"/>
          </a:xfrm>
          <a:prstGeom prst="rect">
            <a:avLst/>
          </a:prstGeom>
          <a:solidFill>
            <a:srgbClr val="FF99CC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ESP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header</a:t>
            </a:r>
          </a:p>
        </p:txBody>
      </p:sp>
      <p:sp>
        <p:nvSpPr>
          <p:cNvPr id="98" name="Rectangle 7">
            <a:extLst>
              <a:ext uri="{FF2B5EF4-FFF2-40B4-BE49-F238E27FC236}">
                <a16:creationId xmlns:a16="http://schemas.microsoft.com/office/drawing/2014/main" id="{49D5FBE5-E7DA-864C-BE81-AEDD04DA8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4981" y="2174539"/>
            <a:ext cx="976312" cy="60960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original</a:t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IP hdr</a:t>
            </a:r>
          </a:p>
        </p:txBody>
      </p:sp>
      <p:sp>
        <p:nvSpPr>
          <p:cNvPr id="99" name="Rectangle 8">
            <a:extLst>
              <a:ext uri="{FF2B5EF4-FFF2-40B4-BE49-F238E27FC236}">
                <a16:creationId xmlns:a16="http://schemas.microsoft.com/office/drawing/2014/main" id="{312E8F9D-ED21-9F4F-854A-45C20C56F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1293" y="2174539"/>
            <a:ext cx="2224087" cy="60960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Original IP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datagram payload</a:t>
            </a:r>
          </a:p>
        </p:txBody>
      </p:sp>
      <p:sp>
        <p:nvSpPr>
          <p:cNvPr id="100" name="Rectangle 9">
            <a:extLst>
              <a:ext uri="{FF2B5EF4-FFF2-40B4-BE49-F238E27FC236}">
                <a16:creationId xmlns:a16="http://schemas.microsoft.com/office/drawing/2014/main" id="{DB646282-CE51-8B43-B570-883831148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5381" y="2166239"/>
            <a:ext cx="700087" cy="609600"/>
          </a:xfrm>
          <a:prstGeom prst="rect">
            <a:avLst/>
          </a:prstGeom>
          <a:solidFill>
            <a:srgbClr val="00CC99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ESP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trailer</a:t>
            </a:r>
          </a:p>
        </p:txBody>
      </p:sp>
      <p:sp>
        <p:nvSpPr>
          <p:cNvPr id="101" name="Rectangle 10">
            <a:extLst>
              <a:ext uri="{FF2B5EF4-FFF2-40B4-BE49-F238E27FC236}">
                <a16:creationId xmlns:a16="http://schemas.microsoft.com/office/drawing/2014/main" id="{1945AEBE-82E5-184D-8050-81A50E0FE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818" y="2166239"/>
            <a:ext cx="700087" cy="609600"/>
          </a:xfrm>
          <a:prstGeom prst="rect">
            <a:avLst/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ESP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</a:rPr>
              <a:t>auth</a:t>
            </a:r>
          </a:p>
        </p:txBody>
      </p:sp>
      <p:grpSp>
        <p:nvGrpSpPr>
          <p:cNvPr id="103" name="Group 18">
            <a:extLst>
              <a:ext uri="{FF2B5EF4-FFF2-40B4-BE49-F238E27FC236}">
                <a16:creationId xmlns:a16="http://schemas.microsoft.com/office/drawing/2014/main" id="{B7A61894-02AD-4A4D-BA66-10CD7FCFAD94}"/>
              </a:ext>
            </a:extLst>
          </p:cNvPr>
          <p:cNvGrpSpPr>
            <a:grpSpLocks/>
          </p:cNvGrpSpPr>
          <p:nvPr/>
        </p:nvGrpSpPr>
        <p:grpSpPr bwMode="auto">
          <a:xfrm>
            <a:off x="6669881" y="3282614"/>
            <a:ext cx="2281237" cy="609600"/>
            <a:chOff x="3346" y="2367"/>
            <a:chExt cx="1437" cy="384"/>
          </a:xfrm>
        </p:grpSpPr>
        <p:sp>
          <p:nvSpPr>
            <p:cNvPr id="112" name="Rectangle 19">
              <a:extLst>
                <a:ext uri="{FF2B5EF4-FFF2-40B4-BE49-F238E27FC236}">
                  <a16:creationId xmlns:a16="http://schemas.microsoft.com/office/drawing/2014/main" id="{C23F3DAB-F8E9-6743-A49D-72EF0660D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6" y="2367"/>
              <a:ext cx="529" cy="384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padding</a:t>
              </a:r>
            </a:p>
          </p:txBody>
        </p:sp>
        <p:sp>
          <p:nvSpPr>
            <p:cNvPr id="113" name="Rectangle 20">
              <a:extLst>
                <a:ext uri="{FF2B5EF4-FFF2-40B4-BE49-F238E27FC236}">
                  <a16:creationId xmlns:a16="http://schemas.microsoft.com/office/drawing/2014/main" id="{31286223-F856-B14D-8277-3E61286397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8" y="2367"/>
              <a:ext cx="468" cy="384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pad</a:t>
              </a:r>
              <a:b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</a:b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length</a:t>
              </a:r>
            </a:p>
          </p:txBody>
        </p:sp>
        <p:sp>
          <p:nvSpPr>
            <p:cNvPr id="114" name="Rectangle 21">
              <a:extLst>
                <a:ext uri="{FF2B5EF4-FFF2-40B4-BE49-F238E27FC236}">
                  <a16:creationId xmlns:a16="http://schemas.microsoft.com/office/drawing/2014/main" id="{73C6F23B-BC42-C141-A877-A7CA38B39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1" y="2367"/>
              <a:ext cx="442" cy="384"/>
            </a:xfrm>
            <a:prstGeom prst="rect">
              <a:avLst/>
            </a:prstGeom>
            <a:solidFill>
              <a:srgbClr val="00CC9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next</a:t>
              </a:r>
              <a:b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</a:b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header</a:t>
              </a:r>
            </a:p>
          </p:txBody>
        </p:sp>
      </p:grpSp>
      <p:sp>
        <p:nvSpPr>
          <p:cNvPr id="104" name="Line 22">
            <a:extLst>
              <a:ext uri="{FF2B5EF4-FFF2-40B4-BE49-F238E27FC236}">
                <a16:creationId xmlns:a16="http://schemas.microsoft.com/office/drawing/2014/main" id="{D2E7EF83-959E-5941-B056-F7B0DA51B7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92106" y="2836527"/>
            <a:ext cx="803275" cy="374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5" name="Line 23">
            <a:extLst>
              <a:ext uri="{FF2B5EF4-FFF2-40B4-BE49-F238E27FC236}">
                <a16:creationId xmlns:a16="http://schemas.microsoft.com/office/drawing/2014/main" id="{68EA18AF-3C87-8F44-BED1-F1CBCEE6681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189118" y="2822239"/>
            <a:ext cx="747712" cy="4032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grpSp>
        <p:nvGrpSpPr>
          <p:cNvPr id="106" name="Group 24">
            <a:extLst>
              <a:ext uri="{FF2B5EF4-FFF2-40B4-BE49-F238E27FC236}">
                <a16:creationId xmlns:a16="http://schemas.microsoft.com/office/drawing/2014/main" id="{FEE4C952-B419-6240-97B3-9BA89FF1A58B}"/>
              </a:ext>
            </a:extLst>
          </p:cNvPr>
          <p:cNvGrpSpPr>
            <a:grpSpLocks/>
          </p:cNvGrpSpPr>
          <p:nvPr/>
        </p:nvGrpSpPr>
        <p:grpSpPr bwMode="auto">
          <a:xfrm>
            <a:off x="3275806" y="3285789"/>
            <a:ext cx="1392237" cy="625475"/>
            <a:chOff x="1409" y="2193"/>
            <a:chExt cx="877" cy="386"/>
          </a:xfrm>
        </p:grpSpPr>
        <p:sp>
          <p:nvSpPr>
            <p:cNvPr id="110" name="Rectangle 25">
              <a:extLst>
                <a:ext uri="{FF2B5EF4-FFF2-40B4-BE49-F238E27FC236}">
                  <a16:creationId xmlns:a16="http://schemas.microsoft.com/office/drawing/2014/main" id="{CB30A88A-2F21-EE45-BF4F-A9F6A8FA6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09" y="2193"/>
              <a:ext cx="441" cy="384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SPI</a:t>
              </a:r>
            </a:p>
          </p:txBody>
        </p:sp>
        <p:sp>
          <p:nvSpPr>
            <p:cNvPr id="111" name="Rectangle 26">
              <a:extLst>
                <a:ext uri="{FF2B5EF4-FFF2-40B4-BE49-F238E27FC236}">
                  <a16:creationId xmlns:a16="http://schemas.microsoft.com/office/drawing/2014/main" id="{EC87F6A4-DE19-D043-9460-717C9BBCE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5" y="2195"/>
              <a:ext cx="441" cy="384"/>
            </a:xfrm>
            <a:prstGeom prst="rect">
              <a:avLst/>
            </a:prstGeom>
            <a:solidFill>
              <a:srgbClr val="FF99CC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Seq</a:t>
              </a:r>
            </a:p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</a:rPr>
                <a:t>#</a:t>
              </a:r>
            </a:p>
          </p:txBody>
        </p:sp>
      </p:grpSp>
      <p:sp>
        <p:nvSpPr>
          <p:cNvPr id="107" name="Line 27">
            <a:extLst>
              <a:ext uri="{FF2B5EF4-FFF2-40B4-BE49-F238E27FC236}">
                <a16:creationId xmlns:a16="http://schemas.microsoft.com/office/drawing/2014/main" id="{7350C550-FB21-BA4B-B0FA-77C0C50694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69456" y="2823827"/>
            <a:ext cx="319087" cy="4270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8" name="Line 28">
            <a:extLst>
              <a:ext uri="{FF2B5EF4-FFF2-40B4-BE49-F238E27FC236}">
                <a16:creationId xmlns:a16="http://schemas.microsoft.com/office/drawing/2014/main" id="{F3C56AA0-CE2D-1E41-B015-E684D98C1088}"/>
              </a:ext>
            </a:extLst>
          </p:cNvPr>
          <p:cNvSpPr>
            <a:spLocks noChangeShapeType="1"/>
          </p:cNvSpPr>
          <p:nvPr/>
        </p:nvSpPr>
        <p:spPr bwMode="auto">
          <a:xfrm>
            <a:off x="4294981" y="2865102"/>
            <a:ext cx="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sp>
        <p:nvSpPr>
          <p:cNvPr id="109" name="Line 29">
            <a:extLst>
              <a:ext uri="{FF2B5EF4-FFF2-40B4-BE49-F238E27FC236}">
                <a16:creationId xmlns:a16="http://schemas.microsoft.com/office/drawing/2014/main" id="{3CA2A9DE-1E2E-144C-A029-F6A1E691A132}"/>
              </a:ext>
            </a:extLst>
          </p:cNvPr>
          <p:cNvSpPr>
            <a:spLocks noChangeShapeType="1"/>
          </p:cNvSpPr>
          <p:nvPr/>
        </p:nvSpPr>
        <p:spPr bwMode="auto">
          <a:xfrm>
            <a:off x="4280693" y="2823827"/>
            <a:ext cx="360362" cy="414338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ＭＳ Ｐゴシック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CE35867-502B-CF42-BE77-7C4B7F0D05DF}"/>
              </a:ext>
            </a:extLst>
          </p:cNvPr>
          <p:cNvCxnSpPr/>
          <p:nvPr/>
        </p:nvCxnSpPr>
        <p:spPr>
          <a:xfrm>
            <a:off x="4283533" y="1959429"/>
            <a:ext cx="3944983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 Box 12">
            <a:extLst>
              <a:ext uri="{FF2B5EF4-FFF2-40B4-BE49-F238E27FC236}">
                <a16:creationId xmlns:a16="http://schemas.microsoft.com/office/drawing/2014/main" id="{9AEEF36D-F857-F942-9E31-EB01333373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9844" y="1775579"/>
            <a:ext cx="1140056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encrypted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E438CAA3-51B7-8C43-8883-52C08C8D16AC}"/>
              </a:ext>
            </a:extLst>
          </p:cNvPr>
          <p:cNvCxnSpPr>
            <a:cxnSpLocks/>
          </p:cNvCxnSpPr>
          <p:nvPr/>
        </p:nvCxnSpPr>
        <p:spPr>
          <a:xfrm>
            <a:off x="3586848" y="1693817"/>
            <a:ext cx="5307874" cy="0"/>
          </a:xfrm>
          <a:prstGeom prst="straightConnector1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 Box 15">
            <a:extLst>
              <a:ext uri="{FF2B5EF4-FFF2-40B4-BE49-F238E27FC236}">
                <a16:creationId xmlns:a16="http://schemas.microsoft.com/office/drawing/2014/main" id="{C61631BA-E0F3-914F-B2DB-6B523DA0F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70810" y="1503708"/>
            <a:ext cx="1505540" cy="36933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Comic Sans MS" charset="0"/>
                <a:ea typeface="ＭＳ Ｐゴシック" charset="0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ja-JP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charset="0"/>
              </a:rPr>
              <a:t>authenticated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charset="0"/>
            </a:endParaRPr>
          </a:p>
        </p:txBody>
      </p:sp>
      <p:sp>
        <p:nvSpPr>
          <p:cNvPr id="124" name="Rectangle 3">
            <a:extLst>
              <a:ext uri="{FF2B5EF4-FFF2-40B4-BE49-F238E27FC236}">
                <a16:creationId xmlns:a16="http://schemas.microsoft.com/office/drawing/2014/main" id="{B5C8CA56-4CEE-4B4B-85A6-370DE8D07FA9}"/>
              </a:ext>
            </a:extLst>
          </p:cNvPr>
          <p:cNvSpPr txBox="1">
            <a:spLocks noChangeArrowheads="1"/>
          </p:cNvSpPr>
          <p:nvPr/>
        </p:nvSpPr>
        <p:spPr>
          <a:xfrm>
            <a:off x="2221640" y="4220754"/>
            <a:ext cx="10475458" cy="23637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dirty="0"/>
              <a:t>ESP trailer: padding for block ciphers</a:t>
            </a:r>
          </a:p>
          <a:p>
            <a:pPr>
              <a:spcBef>
                <a:spcPts val="600"/>
              </a:spcBef>
            </a:pPr>
            <a:r>
              <a:rPr lang="en-US" dirty="0"/>
              <a:t>ESP header: 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SPI, so receiving entity knows what to do</a:t>
            </a:r>
          </a:p>
          <a:p>
            <a:pPr lvl="1">
              <a:spcBef>
                <a:spcPts val="600"/>
              </a:spcBef>
            </a:pPr>
            <a:r>
              <a:rPr lang="en-US" dirty="0"/>
              <a:t>sequence number, to thwart replay attacks</a:t>
            </a:r>
          </a:p>
          <a:p>
            <a:pPr>
              <a:spcBef>
                <a:spcPts val="600"/>
              </a:spcBef>
            </a:pPr>
            <a:r>
              <a:rPr lang="en-US" dirty="0"/>
              <a:t>MAC in ESP auth field created with shared secret key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D6159F3-D2DF-154C-8507-BEACC4A9BAD1}"/>
              </a:ext>
            </a:extLst>
          </p:cNvPr>
          <p:cNvSpPr txBox="1"/>
          <p:nvPr/>
        </p:nvSpPr>
        <p:spPr>
          <a:xfrm>
            <a:off x="9481978" y="2534194"/>
            <a:ext cx="201689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i="1" dirty="0">
                <a:solidFill>
                  <a:srgbClr val="0012A0"/>
                </a:solidFill>
              </a:rPr>
              <a:t>tunnel mode</a:t>
            </a:r>
          </a:p>
          <a:p>
            <a:pPr algn="ctr"/>
            <a:r>
              <a:rPr lang="en-US" sz="2800" i="1" dirty="0">
                <a:solidFill>
                  <a:srgbClr val="0012A0"/>
                </a:solidFill>
              </a:rPr>
              <a:t>ESP</a:t>
            </a:r>
          </a:p>
        </p:txBody>
      </p:sp>
    </p:spTree>
    <p:extLst>
      <p:ext uri="{BB962C8B-B14F-4D97-AF65-F5344CB8AC3E}">
        <p14:creationId xmlns:p14="http://schemas.microsoft.com/office/powerpoint/2010/main" val="126271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Freeform 296">
            <a:extLst>
              <a:ext uri="{FF2B5EF4-FFF2-40B4-BE49-F238E27FC236}">
                <a16:creationId xmlns:a16="http://schemas.microsoft.com/office/drawing/2014/main" id="{B6B47B2B-E669-7641-BD1F-EF8AD0999924}"/>
              </a:ext>
            </a:extLst>
          </p:cNvPr>
          <p:cNvSpPr>
            <a:spLocks/>
          </p:cNvSpPr>
          <p:nvPr/>
        </p:nvSpPr>
        <p:spPr bwMode="auto">
          <a:xfrm flipH="1">
            <a:off x="10431271" y="1866576"/>
            <a:ext cx="1445739" cy="733284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/>
              </a:rPr>
              <a:t>             </a:t>
            </a:r>
          </a:p>
        </p:txBody>
      </p:sp>
      <p:sp>
        <p:nvSpPr>
          <p:cNvPr id="78" name="Freeform 296">
            <a:extLst>
              <a:ext uri="{FF2B5EF4-FFF2-40B4-BE49-F238E27FC236}">
                <a16:creationId xmlns:a16="http://schemas.microsoft.com/office/drawing/2014/main" id="{80FB4D7C-907B-9B45-9C13-DF3038D7097F}"/>
              </a:ext>
            </a:extLst>
          </p:cNvPr>
          <p:cNvSpPr>
            <a:spLocks/>
          </p:cNvSpPr>
          <p:nvPr/>
        </p:nvSpPr>
        <p:spPr bwMode="auto">
          <a:xfrm>
            <a:off x="7119480" y="1797184"/>
            <a:ext cx="1295948" cy="733284"/>
          </a:xfrm>
          <a:custGeom>
            <a:avLst/>
            <a:gdLst>
              <a:gd name="T0" fmla="*/ 2147483647 w 1877"/>
              <a:gd name="T1" fmla="*/ 2147483647 h 917"/>
              <a:gd name="T2" fmla="*/ 2147483647 w 1877"/>
              <a:gd name="T3" fmla="*/ 2147483647 h 917"/>
              <a:gd name="T4" fmla="*/ 2147483647 w 1877"/>
              <a:gd name="T5" fmla="*/ 2147483647 h 917"/>
              <a:gd name="T6" fmla="*/ 2147483647 w 1877"/>
              <a:gd name="T7" fmla="*/ 2147483647 h 917"/>
              <a:gd name="T8" fmla="*/ 2147483647 w 1877"/>
              <a:gd name="T9" fmla="*/ 2147483647 h 917"/>
              <a:gd name="T10" fmla="*/ 2147483647 w 1877"/>
              <a:gd name="T11" fmla="*/ 2147483647 h 917"/>
              <a:gd name="T12" fmla="*/ 2147483647 w 1877"/>
              <a:gd name="T13" fmla="*/ 2147483647 h 917"/>
              <a:gd name="T14" fmla="*/ 2147483647 w 1877"/>
              <a:gd name="T15" fmla="*/ 2147483647 h 917"/>
              <a:gd name="T16" fmla="*/ 2147483647 w 1877"/>
              <a:gd name="T17" fmla="*/ 2147483647 h 917"/>
              <a:gd name="T18" fmla="*/ 2147483647 w 1877"/>
              <a:gd name="T19" fmla="*/ 2147483647 h 917"/>
              <a:gd name="T20" fmla="*/ 2147483647 w 1877"/>
              <a:gd name="T21" fmla="*/ 2147483647 h 917"/>
              <a:gd name="T22" fmla="*/ 2147483647 w 1877"/>
              <a:gd name="T23" fmla="*/ 2147483647 h 917"/>
              <a:gd name="T24" fmla="*/ 2147483647 w 1877"/>
              <a:gd name="T25" fmla="*/ 2147483647 h 917"/>
              <a:gd name="T26" fmla="*/ 2147483647 w 1877"/>
              <a:gd name="T27" fmla="*/ 2147483647 h 917"/>
              <a:gd name="T28" fmla="*/ 2147483647 w 1877"/>
              <a:gd name="T29" fmla="*/ 2147483647 h 917"/>
              <a:gd name="T30" fmla="*/ 2147483647 w 1877"/>
              <a:gd name="T31" fmla="*/ 2147483647 h 917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877"/>
              <a:gd name="T49" fmla="*/ 0 h 917"/>
              <a:gd name="T50" fmla="*/ 1877 w 1877"/>
              <a:gd name="T51" fmla="*/ 917 h 917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877" h="91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ＭＳ Ｐゴシック" panose="020B0600070205080204" pitchFamily="34" charset="-128"/>
                <a:cs typeface="Arial"/>
              </a:rPr>
              <a:t>            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ESP tunnel mode: actions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6" name="Freeform 8">
            <a:extLst>
              <a:ext uri="{FF2B5EF4-FFF2-40B4-BE49-F238E27FC236}">
                <a16:creationId xmlns:a16="http://schemas.microsoft.com/office/drawing/2014/main" id="{6FB17627-5C23-D54C-B033-E10C852C3F9C}"/>
              </a:ext>
            </a:extLst>
          </p:cNvPr>
          <p:cNvSpPr>
            <a:spLocks/>
          </p:cNvSpPr>
          <p:nvPr/>
        </p:nvSpPr>
        <p:spPr bwMode="auto">
          <a:xfrm rot="5400000">
            <a:off x="9188655" y="1239248"/>
            <a:ext cx="506067" cy="1966498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7695061-2BC1-A043-8983-A6D2BB90BD71}"/>
              </a:ext>
            </a:extLst>
          </p:cNvPr>
          <p:cNvGrpSpPr/>
          <p:nvPr/>
        </p:nvGrpSpPr>
        <p:grpSpPr>
          <a:xfrm>
            <a:off x="7705752" y="1994903"/>
            <a:ext cx="606136" cy="332367"/>
            <a:chOff x="7493876" y="2774731"/>
            <a:chExt cx="1481958" cy="894622"/>
          </a:xfrm>
        </p:grpSpPr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286CDCF8-2884-1F4C-AA6B-D8D80F83C69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C9EC3C24-26E3-8B4C-851E-AD6D23CDCC1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4A41B52-12BB-9441-9E64-29FEFD2BE35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80901BB0-76B8-C24E-8578-0902719A228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91921B51-C23E-594C-8341-49C1C08B6E1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DD6B8F6F-5734-7B4B-A6B9-B10838823A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4C7E467F-864A-1147-BEDB-AD380AC091FD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8" name="Group 542">
            <a:extLst>
              <a:ext uri="{FF2B5EF4-FFF2-40B4-BE49-F238E27FC236}">
                <a16:creationId xmlns:a16="http://schemas.microsoft.com/office/drawing/2014/main" id="{08C0C01B-02BB-B64A-9B9C-694B14773163}"/>
              </a:ext>
            </a:extLst>
          </p:cNvPr>
          <p:cNvGrpSpPr>
            <a:grpSpLocks/>
          </p:cNvGrpSpPr>
          <p:nvPr/>
        </p:nvGrpSpPr>
        <p:grpSpPr bwMode="auto">
          <a:xfrm>
            <a:off x="6975223" y="1412870"/>
            <a:ext cx="720837" cy="645768"/>
            <a:chOff x="-44" y="1473"/>
            <a:chExt cx="981" cy="1105"/>
          </a:xfrm>
        </p:grpSpPr>
        <p:pic>
          <p:nvPicPr>
            <p:cNvPr id="29" name="Picture 529" descr="desktop_computer_stylized_medium">
              <a:extLst>
                <a:ext uri="{FF2B5EF4-FFF2-40B4-BE49-F238E27FC236}">
                  <a16:creationId xmlns:a16="http://schemas.microsoft.com/office/drawing/2014/main" id="{5EEF7061-2D27-E847-94C1-54CEBAA0294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530">
              <a:extLst>
                <a:ext uri="{FF2B5EF4-FFF2-40B4-BE49-F238E27FC236}">
                  <a16:creationId xmlns:a16="http://schemas.microsoft.com/office/drawing/2014/main" id="{8FA5248B-FCAA-5641-89A7-12921404161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22 w 356"/>
                <a:gd name="T3" fmla="*/ 36 h 368"/>
                <a:gd name="T4" fmla="*/ 856 w 356"/>
                <a:gd name="T5" fmla="*/ 765 h 368"/>
                <a:gd name="T6" fmla="*/ 189 w 356"/>
                <a:gd name="T7" fmla="*/ 95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6DAF8A6-5787-7D4C-9F9B-955DF1495910}"/>
              </a:ext>
            </a:extLst>
          </p:cNvPr>
          <p:cNvGrpSpPr/>
          <p:nvPr/>
        </p:nvGrpSpPr>
        <p:grpSpPr>
          <a:xfrm flipH="1">
            <a:off x="10425084" y="2007355"/>
            <a:ext cx="606136" cy="332367"/>
            <a:chOff x="7493876" y="2774731"/>
            <a:chExt cx="1481958" cy="894622"/>
          </a:xfrm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D31839A8-0111-AD45-B261-A1F4E1E587F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8D615D6D-3E36-EE4D-A354-73B8CAA4E917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918CFD4-C276-5640-A6D8-F6B84448E0B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227D4CDD-9090-FA48-988F-6404841E9AFC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2DDD519D-867C-934D-9C4A-482DCA2333EC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4977966-70E0-934E-B872-811836A01E3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1269B995-6A3D-F14E-968C-CE8736C00A7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6" name="Group 542">
            <a:extLst>
              <a:ext uri="{FF2B5EF4-FFF2-40B4-BE49-F238E27FC236}">
                <a16:creationId xmlns:a16="http://schemas.microsoft.com/office/drawing/2014/main" id="{375DE9C2-8640-6840-AF58-780A20D2C09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11471163" y="1737550"/>
            <a:ext cx="720837" cy="645768"/>
            <a:chOff x="-44" y="1473"/>
            <a:chExt cx="981" cy="1105"/>
          </a:xfrm>
        </p:grpSpPr>
        <p:pic>
          <p:nvPicPr>
            <p:cNvPr id="17" name="Picture 529" descr="desktop_computer_stylized_medium">
              <a:extLst>
                <a:ext uri="{FF2B5EF4-FFF2-40B4-BE49-F238E27FC236}">
                  <a16:creationId xmlns:a16="http://schemas.microsoft.com/office/drawing/2014/main" id="{9952E610-CCCD-0245-9E4B-5001C728974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" name="Freeform 530">
              <a:extLst>
                <a:ext uri="{FF2B5EF4-FFF2-40B4-BE49-F238E27FC236}">
                  <a16:creationId xmlns:a16="http://schemas.microsoft.com/office/drawing/2014/main" id="{1BB7CCB4-A0EE-E840-ABF7-1BF234B1C21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22 w 356"/>
                <a:gd name="T3" fmla="*/ 36 h 368"/>
                <a:gd name="T4" fmla="*/ 856 w 356"/>
                <a:gd name="T5" fmla="*/ 765 h 368"/>
                <a:gd name="T6" fmla="*/ 189 w 356"/>
                <a:gd name="T7" fmla="*/ 95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CB4ADB-AB8F-8A42-A9F9-3C57E849C39C}"/>
              </a:ext>
            </a:extLst>
          </p:cNvPr>
          <p:cNvGrpSpPr/>
          <p:nvPr/>
        </p:nvGrpSpPr>
        <p:grpSpPr>
          <a:xfrm>
            <a:off x="8625118" y="2078807"/>
            <a:ext cx="1653170" cy="214830"/>
            <a:chOff x="1616358" y="2551230"/>
            <a:chExt cx="2134354" cy="2185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6FCE47-CE47-9445-B6CF-CA95B2574C7B}"/>
                </a:ext>
              </a:extLst>
            </p:cNvPr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100000">
                  <a:srgbClr val="0012A0"/>
                </a:gs>
                <a:gs pos="52000">
                  <a:srgbClr val="6EBFF0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81352516-FF6E-7843-A5FD-B8810B418FF2}"/>
                </a:ext>
              </a:extLst>
            </p:cNvPr>
            <p:cNvSpPr/>
            <p:nvPr/>
          </p:nvSpPr>
          <p:spPr>
            <a:xfrm>
              <a:off x="1616358" y="2551230"/>
              <a:ext cx="114300" cy="21851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CEB6B48-E134-7B43-B2D9-DA0135DDCCCF}"/>
                </a:ext>
              </a:extLst>
            </p:cNvPr>
            <p:cNvSpPr/>
            <p:nvPr/>
          </p:nvSpPr>
          <p:spPr>
            <a:xfrm>
              <a:off x="3639432" y="2552938"/>
              <a:ext cx="111280" cy="209990"/>
            </a:xfrm>
            <a:prstGeom prst="ellipse">
              <a:avLst/>
            </a:prstGeom>
            <a:gradFill flip="none" rotWithShape="1">
              <a:gsLst>
                <a:gs pos="0">
                  <a:srgbClr val="0012A0">
                    <a:lumMod val="100000"/>
                  </a:srgbClr>
                </a:gs>
                <a:gs pos="69000">
                  <a:srgbClr val="66ACD3"/>
                </a:gs>
                <a:gs pos="99000">
                  <a:srgbClr val="0012A0"/>
                </a:gs>
                <a:gs pos="29000">
                  <a:srgbClr val="6EBFF0"/>
                </a:gs>
              </a:gsLst>
              <a:lin ang="16200000" scaled="0"/>
              <a:tileRect/>
            </a:gradFill>
            <a:ln w="6350">
              <a:solidFill>
                <a:schemeClr val="bg1">
                  <a:lumMod val="50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FB9112-79F2-0345-AC1F-08C2F47B7086}"/>
                </a:ext>
              </a:extLst>
            </p:cNvPr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100000">
                  <a:srgbClr val="0012A0"/>
                </a:gs>
                <a:gs pos="52000">
                  <a:srgbClr val="6EBFF0"/>
                </a:gs>
              </a:gsLst>
              <a:lin ang="16200000" scaled="0"/>
            </a:gradFill>
            <a:ln w="635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1F7B2F1-7981-6243-94B5-7FD42CA503C2}"/>
              </a:ext>
            </a:extLst>
          </p:cNvPr>
          <p:cNvCxnSpPr>
            <a:cxnSpLocks/>
          </p:cNvCxnSpPr>
          <p:nvPr/>
        </p:nvCxnSpPr>
        <p:spPr>
          <a:xfrm>
            <a:off x="8309113" y="2179167"/>
            <a:ext cx="350519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FD069B82-596C-0441-A853-7EF039592387}"/>
              </a:ext>
            </a:extLst>
          </p:cNvPr>
          <p:cNvCxnSpPr/>
          <p:nvPr/>
        </p:nvCxnSpPr>
        <p:spPr>
          <a:xfrm>
            <a:off x="10272392" y="2194239"/>
            <a:ext cx="150726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59">
            <a:extLst>
              <a:ext uri="{FF2B5EF4-FFF2-40B4-BE49-F238E27FC236}">
                <a16:creationId xmlns:a16="http://schemas.microsoft.com/office/drawing/2014/main" id="{87BD3CA9-DE24-6B4C-B69C-BFA7530CA3A7}"/>
              </a:ext>
            </a:extLst>
          </p:cNvPr>
          <p:cNvSpPr txBox="1">
            <a:spLocks noChangeArrowheads="1"/>
          </p:cNvSpPr>
          <p:nvPr/>
        </p:nvSpPr>
        <p:spPr>
          <a:xfrm>
            <a:off x="751440" y="1346132"/>
            <a:ext cx="1315899" cy="482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dirty="0">
                <a:solidFill>
                  <a:srgbClr val="0012A0"/>
                </a:solidFill>
              </a:rPr>
              <a:t>at R1: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E5C7171E-ED33-734D-875F-55DE74D7D1FB}"/>
              </a:ext>
            </a:extLst>
          </p:cNvPr>
          <p:cNvSpPr txBox="1">
            <a:spLocks noChangeArrowheads="1"/>
          </p:cNvSpPr>
          <p:nvPr/>
        </p:nvSpPr>
        <p:spPr>
          <a:xfrm>
            <a:off x="957470" y="1815547"/>
            <a:ext cx="5628860" cy="462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200"/>
              </a:spcBef>
            </a:pPr>
            <a:r>
              <a:rPr lang="en-US" sz="2600" dirty="0"/>
              <a:t>appends ESP trailer to original datagram (which includes original header fields!)</a:t>
            </a:r>
            <a:endParaRPr lang="en-US" altLang="ja-JP" sz="2600" dirty="0"/>
          </a:p>
          <a:p>
            <a:pPr>
              <a:spcBef>
                <a:spcPts val="200"/>
              </a:spcBef>
            </a:pPr>
            <a:r>
              <a:rPr lang="en-US" sz="2600" dirty="0"/>
              <a:t>encrypts result using algorithm &amp; key specified by SA</a:t>
            </a:r>
          </a:p>
          <a:p>
            <a:pPr>
              <a:spcBef>
                <a:spcPts val="200"/>
              </a:spcBef>
            </a:pPr>
            <a:r>
              <a:rPr lang="en-US" sz="2600" dirty="0"/>
              <a:t>appends </a:t>
            </a:r>
            <a:r>
              <a:rPr lang="en-US" altLang="ja-JP" sz="2600" dirty="0"/>
              <a:t>ESP header </a:t>
            </a:r>
            <a:r>
              <a:rPr lang="en-US" sz="2600" dirty="0"/>
              <a:t>to front of this encrypted quantity</a:t>
            </a:r>
            <a:endParaRPr lang="en-US" altLang="ja-JP" sz="2600" dirty="0"/>
          </a:p>
          <a:p>
            <a:pPr>
              <a:spcBef>
                <a:spcPts val="200"/>
              </a:spcBef>
            </a:pPr>
            <a:r>
              <a:rPr lang="en-US" sz="2600" dirty="0"/>
              <a:t>creates authentication MAC using algorithm and key specified in SA</a:t>
            </a:r>
          </a:p>
          <a:p>
            <a:pPr>
              <a:spcBef>
                <a:spcPts val="200"/>
              </a:spcBef>
            </a:pPr>
            <a:r>
              <a:rPr lang="en-US" sz="2600" dirty="0"/>
              <a:t>appends MAC forming </a:t>
            </a:r>
            <a:r>
              <a:rPr lang="en-US" sz="2600" i="1" dirty="0"/>
              <a:t>payload</a:t>
            </a:r>
            <a:endParaRPr lang="en-US" sz="2600" dirty="0"/>
          </a:p>
          <a:p>
            <a:pPr>
              <a:spcBef>
                <a:spcPts val="200"/>
              </a:spcBef>
            </a:pPr>
            <a:r>
              <a:rPr lang="en-US" sz="2600" dirty="0"/>
              <a:t>creates new IP header, new IP header fields, addresses to tunnel endpoint</a:t>
            </a:r>
            <a:endParaRPr lang="en-US" sz="2600" dirty="0">
              <a:latin typeface="Gill Sans MT" charset="0"/>
            </a:endParaRP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16EF8F26-68F0-3A49-83F2-9460CE31D4BD}"/>
              </a:ext>
            </a:extLst>
          </p:cNvPr>
          <p:cNvGrpSpPr/>
          <p:nvPr/>
        </p:nvGrpSpPr>
        <p:grpSpPr>
          <a:xfrm>
            <a:off x="7182680" y="1021603"/>
            <a:ext cx="1744188" cy="288737"/>
            <a:chOff x="1596889" y="3055814"/>
            <a:chExt cx="1744188" cy="288737"/>
          </a:xfrm>
        </p:grpSpPr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508F2435-C43C-FA49-9048-2F2BF3798893}"/>
                </a:ext>
              </a:extLst>
            </p:cNvPr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4A3D55E3-0578-CC47-A17E-9134279D78F2}"/>
                  </a:ext>
                </a:extLst>
              </p:cNvPr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44B8151D-E68D-1145-A447-BD209DA884BC}"/>
                  </a:ext>
                </a:extLst>
              </p:cNvPr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61D665C1-A6C6-4D44-BD8D-87CC0C9760A7}"/>
                  </a:ext>
                </a:extLst>
              </p:cNvPr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>
                    <a:solidFill>
                      <a:srgbClr val="0012A0"/>
                    </a:solidFill>
                  </a:rPr>
                  <a:t>payload</a:t>
                </a:r>
                <a:endParaRPr lang="en-US" sz="1100" i="1" dirty="0">
                  <a:solidFill>
                    <a:srgbClr val="0012A0"/>
                  </a:solidFill>
                </a:endParaRPr>
              </a:p>
            </p:txBody>
          </p: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9B77B4E6-2DF5-434C-9D1F-8148FD99055F}"/>
                  </a:ext>
                </a:extLst>
              </p:cNvPr>
              <p:cNvCxnSpPr/>
              <p:nvPr/>
            </p:nvCxnSpPr>
            <p:spPr>
              <a:xfrm>
                <a:off x="2474705" y="318507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3C2B58DB-D327-624A-9251-1D3B9D784F52}"/>
                  </a:ext>
                </a:extLst>
              </p:cNvPr>
              <p:cNvCxnSpPr/>
              <p:nvPr/>
            </p:nvCxnSpPr>
            <p:spPr>
              <a:xfrm>
                <a:off x="25255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9112AEA3-37DD-2840-A4A9-2C15B83C8125}"/>
                  </a:ext>
                </a:extLst>
              </p:cNvPr>
              <p:cNvCxnSpPr/>
              <p:nvPr/>
            </p:nvCxnSpPr>
            <p:spPr>
              <a:xfrm>
                <a:off x="2601705" y="3181902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02775019-AB2E-284F-A8FC-A7E09359C104}"/>
                  </a:ext>
                </a:extLst>
              </p:cNvPr>
              <p:cNvCxnSpPr/>
              <p:nvPr/>
            </p:nvCxnSpPr>
            <p:spPr>
              <a:xfrm>
                <a:off x="2658855" y="3178727"/>
                <a:ext cx="0" cy="187325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Right Arrow 60">
              <a:extLst>
                <a:ext uri="{FF2B5EF4-FFF2-40B4-BE49-F238E27FC236}">
                  <a16:creationId xmlns:a16="http://schemas.microsoft.com/office/drawing/2014/main" id="{BA6CD437-95CA-334D-B101-BD1A5EC9A655}"/>
                </a:ext>
              </a:extLst>
            </p:cNvPr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99000">
                  <a:srgbClr val="0012A0"/>
                </a:gs>
                <a:gs pos="58000">
                  <a:srgbClr val="6EBFF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24F8D8C-99F1-D149-B2C4-30701AD83546}"/>
              </a:ext>
            </a:extLst>
          </p:cNvPr>
          <p:cNvGrpSpPr/>
          <p:nvPr/>
        </p:nvGrpSpPr>
        <p:grpSpPr>
          <a:xfrm>
            <a:off x="7810500" y="2415622"/>
            <a:ext cx="2071981" cy="365894"/>
            <a:chOff x="8266244" y="1514475"/>
            <a:chExt cx="2071981" cy="365894"/>
          </a:xfrm>
        </p:grpSpPr>
        <p:sp>
          <p:nvSpPr>
            <p:cNvPr id="69" name="Right Arrow 68">
              <a:extLst>
                <a:ext uri="{FF2B5EF4-FFF2-40B4-BE49-F238E27FC236}">
                  <a16:creationId xmlns:a16="http://schemas.microsoft.com/office/drawing/2014/main" id="{14EF7333-F5C9-B44C-B88E-E62F99908C70}"/>
                </a:ext>
              </a:extLst>
            </p:cNvPr>
            <p:cNvSpPr/>
            <p:nvPr/>
          </p:nvSpPr>
          <p:spPr>
            <a:xfrm>
              <a:off x="9724717" y="1584820"/>
              <a:ext cx="613508" cy="288737"/>
            </a:xfrm>
            <a:prstGeom prst="rightArrow">
              <a:avLst/>
            </a:prstGeom>
            <a:gradFill>
              <a:gsLst>
                <a:gs pos="0">
                  <a:schemeClr val="bg1"/>
                </a:gs>
                <a:gs pos="99000">
                  <a:srgbClr val="0012A0"/>
                </a:gs>
                <a:gs pos="58000">
                  <a:srgbClr val="6EBFF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60DE8A9C-4B04-9644-B41E-AF7C1D3EF044}"/>
                </a:ext>
              </a:extLst>
            </p:cNvPr>
            <p:cNvGrpSpPr/>
            <p:nvPr/>
          </p:nvGrpSpPr>
          <p:grpSpPr>
            <a:xfrm>
              <a:off x="8266244" y="1514475"/>
              <a:ext cx="1430955" cy="365894"/>
              <a:chOff x="7219875" y="3091894"/>
              <a:chExt cx="1430955" cy="271200"/>
            </a:xfrm>
          </p:grpSpPr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BCBD4545-82EF-4945-8E69-7E9761D559A5}"/>
                  </a:ext>
                </a:extLst>
              </p:cNvPr>
              <p:cNvSpPr/>
              <p:nvPr/>
            </p:nvSpPr>
            <p:spPr>
              <a:xfrm>
                <a:off x="7219875" y="3096088"/>
                <a:ext cx="1430955" cy="253465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8E42E31E-7EE3-5A45-8848-61D2549D7ADB}"/>
                  </a:ext>
                </a:extLst>
              </p:cNvPr>
              <p:cNvCxnSpPr/>
              <p:nvPr/>
            </p:nvCxnSpPr>
            <p:spPr>
              <a:xfrm>
                <a:off x="7498944" y="3091894"/>
                <a:ext cx="0" cy="2664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A264DD8E-2606-094F-9E6A-C8247EFFB5F4}"/>
                  </a:ext>
                </a:extLst>
              </p:cNvPr>
              <p:cNvCxnSpPr/>
              <p:nvPr/>
            </p:nvCxnSpPr>
            <p:spPr>
              <a:xfrm>
                <a:off x="7273344" y="3096694"/>
                <a:ext cx="0" cy="2664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BA83087D-DA47-2D4F-B05A-5004EE6C6A00}"/>
                  </a:ext>
                </a:extLst>
              </p:cNvPr>
              <p:cNvCxnSpPr/>
              <p:nvPr/>
            </p:nvCxnSpPr>
            <p:spPr>
              <a:xfrm>
                <a:off x="7321344" y="3094294"/>
                <a:ext cx="0" cy="2664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9A81B492-7189-CE48-818D-ACC1F0352D17}"/>
                  </a:ext>
                </a:extLst>
              </p:cNvPr>
              <p:cNvCxnSpPr/>
              <p:nvPr/>
            </p:nvCxnSpPr>
            <p:spPr>
              <a:xfrm>
                <a:off x="7423344" y="3091894"/>
                <a:ext cx="0" cy="266400"/>
              </a:xfrm>
              <a:prstGeom prst="line">
                <a:avLst/>
              </a:prstGeom>
              <a:ln w="127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ABE4CD6-E82A-F240-A866-6260742792F6}"/>
                </a:ext>
              </a:extLst>
            </p:cNvPr>
            <p:cNvGrpSpPr/>
            <p:nvPr/>
          </p:nvGrpSpPr>
          <p:grpSpPr>
            <a:xfrm>
              <a:off x="8597709" y="1560742"/>
              <a:ext cx="1060174" cy="276999"/>
              <a:chOff x="2418521" y="3140627"/>
              <a:chExt cx="1060174" cy="276999"/>
            </a:xfrm>
          </p:grpSpPr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03E18FFA-9DBA-334B-91E4-C4F945F0B3EA}"/>
                  </a:ext>
                </a:extLst>
              </p:cNvPr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80C17C6E-B531-7748-BABE-6E5E48BE5ECD}"/>
                  </a:ext>
                </a:extLst>
              </p:cNvPr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2C83816C-F16B-754B-92F8-EDFED659B677}"/>
                  </a:ext>
                </a:extLst>
              </p:cNvPr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i="1" dirty="0">
                    <a:solidFill>
                      <a:srgbClr val="0012A0"/>
                    </a:solidFill>
                  </a:rPr>
                  <a:t>payload</a:t>
                </a:r>
                <a:endParaRPr lang="en-US" sz="1100" i="1" dirty="0">
                  <a:solidFill>
                    <a:srgbClr val="0012A0"/>
                  </a:solidFill>
                </a:endParaRPr>
              </a:p>
            </p:txBody>
          </p: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1B00FE65-C4C2-5545-93B6-6727ED3C81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4705" y="3196425"/>
                <a:ext cx="0" cy="166838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83132241-B0B1-1A40-8C9E-481B9DD98D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25505" y="3199637"/>
                <a:ext cx="0" cy="159966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F6C721FF-574B-C341-9B62-4A5E7C1D99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16945" y="3194825"/>
                <a:ext cx="0" cy="159966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26BD0451-EAAF-9A4D-9561-B511690D84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0259" y="3196429"/>
                <a:ext cx="0" cy="159966"/>
              </a:xfrm>
              <a:prstGeom prst="line">
                <a:avLst/>
              </a:prstGeom>
              <a:ln w="63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D2610363-12AA-1E4B-BFD9-93368F887F16}"/>
                </a:ext>
              </a:extLst>
            </p:cNvPr>
            <p:cNvGrpSpPr/>
            <p:nvPr/>
          </p:nvGrpSpPr>
          <p:grpSpPr>
            <a:xfrm>
              <a:off x="8589592" y="1577525"/>
              <a:ext cx="1106157" cy="224519"/>
              <a:chOff x="2044062" y="3084919"/>
              <a:chExt cx="1106157" cy="224519"/>
            </a:xfrm>
          </p:grpSpPr>
          <p:sp>
            <p:nvSpPr>
              <p:cNvPr id="101" name="Rounded Rectangle 100">
                <a:extLst>
                  <a:ext uri="{FF2B5EF4-FFF2-40B4-BE49-F238E27FC236}">
                    <a16:creationId xmlns:a16="http://schemas.microsoft.com/office/drawing/2014/main" id="{DFCBB9E6-6B01-CB4B-B08E-35B56E6CF3CA}"/>
                  </a:ext>
                </a:extLst>
              </p:cNvPr>
              <p:cNvSpPr/>
              <p:nvPr/>
            </p:nvSpPr>
            <p:spPr>
              <a:xfrm>
                <a:off x="2044062" y="3092450"/>
                <a:ext cx="1106157" cy="215900"/>
              </a:xfrm>
              <a:prstGeom prst="roundRect">
                <a:avLst/>
              </a:prstGeom>
              <a:solidFill>
                <a:schemeClr val="bg1">
                  <a:alpha val="83000"/>
                </a:schemeClr>
              </a:solidFill>
              <a:ln w="190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6700C3E6-2524-7E46-82D5-5602E6F1A82A}"/>
                  </a:ext>
                </a:extLst>
              </p:cNvPr>
              <p:cNvCxnSpPr/>
              <p:nvPr/>
            </p:nvCxnSpPr>
            <p:spPr>
              <a:xfrm flipH="1">
                <a:off x="2098675" y="3089275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90EE30DF-49C2-944F-9D74-32D4F038B24A}"/>
                  </a:ext>
                </a:extLst>
              </p:cNvPr>
              <p:cNvCxnSpPr/>
              <p:nvPr/>
            </p:nvCxnSpPr>
            <p:spPr>
              <a:xfrm flipH="1">
                <a:off x="2190750" y="3086100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3E6384E5-004C-CB4C-9349-F26EB5891BF1}"/>
                  </a:ext>
                </a:extLst>
              </p:cNvPr>
              <p:cNvCxnSpPr/>
              <p:nvPr/>
            </p:nvCxnSpPr>
            <p:spPr>
              <a:xfrm flipH="1">
                <a:off x="2282825" y="3089275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E14E1685-BAD6-5748-B9AF-D8E7525B4C0E}"/>
                  </a:ext>
                </a:extLst>
              </p:cNvPr>
              <p:cNvCxnSpPr/>
              <p:nvPr/>
            </p:nvCxnSpPr>
            <p:spPr>
              <a:xfrm flipH="1">
                <a:off x="2374900" y="3089275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321C10CB-10E5-F047-9DE3-D0911A3D6023}"/>
                  </a:ext>
                </a:extLst>
              </p:cNvPr>
              <p:cNvCxnSpPr/>
              <p:nvPr/>
            </p:nvCxnSpPr>
            <p:spPr>
              <a:xfrm flipH="1">
                <a:off x="2466975" y="3086100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F8D60F35-591E-1341-913C-3CE2CE97453C}"/>
                  </a:ext>
                </a:extLst>
              </p:cNvPr>
              <p:cNvCxnSpPr/>
              <p:nvPr/>
            </p:nvCxnSpPr>
            <p:spPr>
              <a:xfrm flipH="1">
                <a:off x="2559050" y="3086100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81CE0022-A86D-804C-84A3-3EA263B4D77B}"/>
                  </a:ext>
                </a:extLst>
              </p:cNvPr>
              <p:cNvCxnSpPr/>
              <p:nvPr/>
            </p:nvCxnSpPr>
            <p:spPr>
              <a:xfrm flipH="1">
                <a:off x="2651125" y="3089275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E773942A-A5B8-5544-94DB-CFA818FE4273}"/>
                  </a:ext>
                </a:extLst>
              </p:cNvPr>
              <p:cNvCxnSpPr/>
              <p:nvPr/>
            </p:nvCxnSpPr>
            <p:spPr>
              <a:xfrm flipH="1">
                <a:off x="2736850" y="3089275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9FE558D8-AE7B-004C-96BB-709C2713F76D}"/>
                  </a:ext>
                </a:extLst>
              </p:cNvPr>
              <p:cNvCxnSpPr/>
              <p:nvPr/>
            </p:nvCxnSpPr>
            <p:spPr>
              <a:xfrm flipH="1">
                <a:off x="2814139" y="3084920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B330E8F3-669E-6A42-80C7-ED14D3F869E3}"/>
                  </a:ext>
                </a:extLst>
              </p:cNvPr>
              <p:cNvCxnSpPr/>
              <p:nvPr/>
            </p:nvCxnSpPr>
            <p:spPr>
              <a:xfrm flipH="1">
                <a:off x="2891428" y="3090363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68FDB270-37FA-0D40-A6DB-0D76AC866C3D}"/>
                  </a:ext>
                </a:extLst>
              </p:cNvPr>
              <p:cNvCxnSpPr/>
              <p:nvPr/>
            </p:nvCxnSpPr>
            <p:spPr>
              <a:xfrm flipH="1">
                <a:off x="2968717" y="3089274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745079AD-16D1-9D4D-A1C7-19CC9F1BA8A2}"/>
                  </a:ext>
                </a:extLst>
              </p:cNvPr>
              <p:cNvCxnSpPr/>
              <p:nvPr/>
            </p:nvCxnSpPr>
            <p:spPr>
              <a:xfrm flipH="1">
                <a:off x="3046006" y="3084919"/>
                <a:ext cx="50800" cy="219075"/>
              </a:xfrm>
              <a:prstGeom prst="line">
                <a:avLst/>
              </a:prstGeom>
              <a:ln w="12700">
                <a:solidFill>
                  <a:srgbClr val="C0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11A41B8C-8BB8-7948-A279-B3B3A7923B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3598" y="3140765"/>
            <a:ext cx="4114331" cy="1602697"/>
          </a:xfrm>
          <a:prstGeom prst="rect">
            <a:avLst/>
          </a:prstGeom>
        </p:spPr>
      </p:pic>
      <p:sp>
        <p:nvSpPr>
          <p:cNvPr id="114" name="Rectangle 59">
            <a:extLst>
              <a:ext uri="{FF2B5EF4-FFF2-40B4-BE49-F238E27FC236}">
                <a16:creationId xmlns:a16="http://schemas.microsoft.com/office/drawing/2014/main" id="{F9FA3A03-ABA4-DF42-8BEA-5D278C650CAE}"/>
              </a:ext>
            </a:extLst>
          </p:cNvPr>
          <p:cNvSpPr txBox="1">
            <a:spLocks noChangeArrowheads="1"/>
          </p:cNvSpPr>
          <p:nvPr/>
        </p:nvSpPr>
        <p:spPr>
          <a:xfrm>
            <a:off x="7635945" y="1684062"/>
            <a:ext cx="752682" cy="4826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charset="0"/>
              <a:buNone/>
            </a:pPr>
            <a:r>
              <a:rPr lang="en-US" sz="2000" dirty="0"/>
              <a:t>R1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33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8813"/>
            <a:ext cx="10515600" cy="894622"/>
          </a:xfrm>
        </p:spPr>
        <p:txBody>
          <a:bodyPr>
            <a:normAutofit/>
          </a:bodyPr>
          <a:lstStyle/>
          <a:p>
            <a:r>
              <a:rPr lang="en-US" b="0" dirty="0">
                <a:latin typeface="+mn-lt"/>
              </a:rPr>
              <a:t>IPsec sequence numbers</a:t>
            </a:r>
            <a:endParaRPr lang="en-US" sz="4400" b="0" dirty="0">
              <a:latin typeface="+mn-lt"/>
            </a:endParaRP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82" name="Rectangle 3">
            <a:extLst>
              <a:ext uri="{FF2B5EF4-FFF2-40B4-BE49-F238E27FC236}">
                <a16:creationId xmlns:a16="http://schemas.microsoft.com/office/drawing/2014/main" id="{09904426-31F8-974C-8449-D83EB232E147}"/>
              </a:ext>
            </a:extLst>
          </p:cNvPr>
          <p:cNvSpPr txBox="1">
            <a:spLocks noChangeArrowheads="1"/>
          </p:cNvSpPr>
          <p:nvPr/>
        </p:nvSpPr>
        <p:spPr>
          <a:xfrm>
            <a:off x="929446" y="1302164"/>
            <a:ext cx="10427666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new SA, sender initializes seq. # to 0</a:t>
            </a:r>
          </a:p>
          <a:p>
            <a:r>
              <a:rPr lang="en-US" dirty="0"/>
              <a:t>each time datagram is sent on SA:</a:t>
            </a:r>
          </a:p>
          <a:p>
            <a:pPr lvl="1"/>
            <a:r>
              <a:rPr lang="en-US" dirty="0"/>
              <a:t>sender increments seq # counter</a:t>
            </a:r>
          </a:p>
          <a:p>
            <a:pPr lvl="1"/>
            <a:r>
              <a:rPr lang="en-US" dirty="0"/>
              <a:t>places value in seq # field</a:t>
            </a:r>
          </a:p>
          <a:p>
            <a:r>
              <a:rPr lang="en-US" dirty="0"/>
              <a:t>goal:</a:t>
            </a:r>
          </a:p>
          <a:p>
            <a:pPr lvl="1"/>
            <a:r>
              <a:rPr lang="en-US" dirty="0"/>
              <a:t>prevent attacker from sniffing and replaying a packet</a:t>
            </a:r>
          </a:p>
          <a:p>
            <a:pPr lvl="1"/>
            <a:r>
              <a:rPr lang="en-US" dirty="0"/>
              <a:t>receipt of duplicate, authenticated IP packets may disrupt service</a:t>
            </a:r>
          </a:p>
          <a:p>
            <a:r>
              <a:rPr lang="en-US" dirty="0"/>
              <a:t>method: </a:t>
            </a:r>
          </a:p>
          <a:p>
            <a:pPr lvl="1"/>
            <a:r>
              <a:rPr lang="en-US" dirty="0"/>
              <a:t>destination checks for duplicates</a:t>
            </a:r>
          </a:p>
          <a:p>
            <a:pPr lvl="1"/>
            <a:r>
              <a:rPr lang="en-US" dirty="0"/>
              <a:t>doesn’t keep track of </a:t>
            </a:r>
            <a:r>
              <a:rPr lang="en-US" i="1" dirty="0"/>
              <a:t>all </a:t>
            </a:r>
            <a:r>
              <a:rPr lang="en-US" dirty="0"/>
              <a:t>received packets; instead uses a window</a:t>
            </a:r>
          </a:p>
          <a:p>
            <a:pPr lvl="1"/>
            <a:endParaRPr lang="en-US" sz="2000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396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720" y="1472239"/>
            <a:ext cx="6225209" cy="894622"/>
          </a:xfrm>
        </p:spPr>
        <p:txBody>
          <a:bodyPr>
            <a:noAutofit/>
          </a:bodyPr>
          <a:lstStyle/>
          <a:p>
            <a:r>
              <a:rPr lang="en-US" sz="3200" b="0" dirty="0">
                <a:latin typeface="+mn-lt"/>
              </a:rPr>
              <a:t>Security Policy Database (SPD)</a:t>
            </a:r>
          </a:p>
        </p:txBody>
      </p:sp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6DF02F7-7DB2-0545-9523-F468B9D8C7F8}"/>
              </a:ext>
            </a:extLst>
          </p:cNvPr>
          <p:cNvSpPr txBox="1">
            <a:spLocks noChangeArrowheads="1"/>
          </p:cNvSpPr>
          <p:nvPr/>
        </p:nvSpPr>
        <p:spPr>
          <a:xfrm>
            <a:off x="864705" y="2554356"/>
            <a:ext cx="5231295" cy="2746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policy: for given datagram, sender needs to know if it should use IP sec</a:t>
            </a:r>
          </a:p>
          <a:p>
            <a:r>
              <a:rPr lang="en-US" sz="2400" dirty="0"/>
              <a:t>policy stored in </a:t>
            </a:r>
            <a:r>
              <a:rPr lang="en-US" sz="2400" dirty="0">
                <a:solidFill>
                  <a:srgbClr val="C00000"/>
                </a:solidFill>
              </a:rPr>
              <a:t>security policy database (SPD)</a:t>
            </a:r>
          </a:p>
          <a:p>
            <a:r>
              <a:rPr lang="en-US" sz="2400" dirty="0"/>
              <a:t>needs to know which SA to use</a:t>
            </a:r>
          </a:p>
          <a:p>
            <a:pPr lvl="1"/>
            <a:r>
              <a:rPr lang="en-US" dirty="0"/>
              <a:t>may use: source and destination IP address; protocol number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E96A7A-3CC4-3F4A-BA0A-E705FA131172}"/>
              </a:ext>
            </a:extLst>
          </p:cNvPr>
          <p:cNvSpPr txBox="1"/>
          <p:nvPr/>
        </p:nvSpPr>
        <p:spPr>
          <a:xfrm>
            <a:off x="6586329" y="1603513"/>
            <a:ext cx="53936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12A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Security Assoc. Database (SAD)</a:t>
            </a:r>
          </a:p>
          <a:p>
            <a:endParaRPr lang="en-US" dirty="0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C9AD72EB-38BE-4749-B734-30ECD6FFA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4524" y="2207176"/>
            <a:ext cx="5367476" cy="29214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38138" indent="-338138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cs typeface="Gill Sans MT" charset="0"/>
              </a:rPr>
              <a:t>endpoint holds SA state in </a:t>
            </a:r>
            <a:r>
              <a:rPr lang="en-US" sz="2400" dirty="0">
                <a:solidFill>
                  <a:srgbClr val="CC0000"/>
                </a:solidFill>
                <a:cs typeface="Gill Sans MT" charset="0"/>
              </a:rPr>
              <a:t>security association database (SAD)</a:t>
            </a:r>
          </a:p>
          <a:p>
            <a:pPr marL="338138" indent="-338138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cs typeface="Gill Sans MT" charset="0"/>
              </a:rPr>
              <a:t>when sending IPsec datagram, R1 accesses SAD to determine how to process datagram</a:t>
            </a:r>
          </a:p>
          <a:p>
            <a:pPr marL="338138" indent="-338138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cs typeface="Gill Sans MT" charset="0"/>
              </a:rPr>
              <a:t>when IPsec datagram arrives to R2, R2 examines SPI in IPsec datagram, indexes SAD with SPI, processing</a:t>
            </a:r>
          </a:p>
          <a:p>
            <a:pPr marL="338138" indent="-338138">
              <a:lnSpc>
                <a:spcPct val="90000"/>
              </a:lnSpc>
              <a:spcBef>
                <a:spcPts val="300"/>
              </a:spcBef>
              <a:buClr>
                <a:srgbClr val="000099"/>
              </a:buClr>
              <a:buSzPct val="100000"/>
              <a:buFont typeface="Wingdings" charset="2"/>
              <a:buChar char="§"/>
            </a:pPr>
            <a:r>
              <a:rPr lang="en-US" sz="2400" dirty="0">
                <a:cs typeface="Gill Sans MT" charset="0"/>
              </a:rPr>
              <a:t>datagram accordingly.</a:t>
            </a:r>
          </a:p>
          <a:p>
            <a:pPr marL="342900" indent="-342900">
              <a:spcBef>
                <a:spcPct val="20000"/>
              </a:spcBef>
              <a:buClr>
                <a:srgbClr val="000099"/>
              </a:buClr>
              <a:buSzPct val="75000"/>
              <a:buFont typeface="Wingdings" charset="0"/>
              <a:buChar char="v"/>
            </a:pPr>
            <a:endParaRPr lang="en-US" sz="2400" dirty="0"/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Char char="r"/>
            </a:pPr>
            <a:endParaRPr lang="en-US" sz="2800" dirty="0"/>
          </a:p>
          <a:p>
            <a:pPr marL="342900" indent="-342900">
              <a:spcBef>
                <a:spcPct val="20000"/>
              </a:spcBef>
              <a:buClr>
                <a:schemeClr val="accent2"/>
              </a:buClr>
              <a:buSzPct val="85000"/>
              <a:buFont typeface="ZapfDingbats" charset="0"/>
              <a:buChar char="r"/>
            </a:pPr>
            <a:endParaRPr lang="en-US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6ECBC5-3AF7-274F-8BF2-A44F38FF1C44}"/>
              </a:ext>
            </a:extLst>
          </p:cNvPr>
          <p:cNvSpPr txBox="1"/>
          <p:nvPr/>
        </p:nvSpPr>
        <p:spPr>
          <a:xfrm>
            <a:off x="7810500" y="5526157"/>
            <a:ext cx="28303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12A0"/>
                </a:solidFill>
              </a:rPr>
              <a:t>SPD: </a:t>
            </a:r>
            <a:r>
              <a:rPr lang="en-US" altLang="ja-JP" sz="2800" i="1" dirty="0">
                <a:solidFill>
                  <a:srgbClr val="0012A0"/>
                </a:solidFill>
              </a:rPr>
              <a:t>“what” to do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71C801-CD50-7F4E-A7A7-09FC0141B1BD}"/>
              </a:ext>
            </a:extLst>
          </p:cNvPr>
          <p:cNvSpPr txBox="1"/>
          <p:nvPr/>
        </p:nvSpPr>
        <p:spPr>
          <a:xfrm>
            <a:off x="2206488" y="5506277"/>
            <a:ext cx="30852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solidFill>
                  <a:srgbClr val="0012A0"/>
                </a:solidFill>
              </a:rPr>
              <a:t>SAD: “</a:t>
            </a:r>
            <a:r>
              <a:rPr lang="en-US" altLang="ja-JP" sz="2800" i="1" dirty="0">
                <a:solidFill>
                  <a:srgbClr val="0012A0"/>
                </a:solidFill>
              </a:rPr>
              <a:t>how” to do it </a:t>
            </a:r>
            <a:endParaRPr lang="en-US" sz="2800" i="1" dirty="0">
              <a:solidFill>
                <a:srgbClr val="0012A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IPsec security databases</a:t>
            </a:r>
          </a:p>
        </p:txBody>
      </p:sp>
    </p:spTree>
    <p:extLst>
      <p:ext uri="{BB962C8B-B14F-4D97-AF65-F5344CB8AC3E}">
        <p14:creationId xmlns:p14="http://schemas.microsoft.com/office/powerpoint/2010/main" val="285521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Summary: IPsec services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9313B3D-8965-0847-86CC-C1B8EA783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20658" y="1650048"/>
            <a:ext cx="7772400" cy="4648200"/>
          </a:xfrm>
        </p:spPr>
        <p:txBody>
          <a:bodyPr/>
          <a:lstStyle/>
          <a:p>
            <a:pPr marL="130175" indent="0">
              <a:buNone/>
            </a:pPr>
            <a:r>
              <a:rPr lang="en-US" sz="3200" dirty="0"/>
              <a:t>Trudy sits somewhere between R1, R2. she doesn’</a:t>
            </a:r>
            <a:r>
              <a:rPr lang="en-US" altLang="ja-JP" sz="3200" dirty="0"/>
              <a:t>t know the keys</a:t>
            </a:r>
          </a:p>
          <a:p>
            <a:pPr lvl="1"/>
            <a:r>
              <a:rPr lang="en-US" sz="2800" dirty="0"/>
              <a:t>will Trudy be able to see original contents of datagram? How about source, dest IP address, transport protocol, application port?</a:t>
            </a:r>
          </a:p>
          <a:p>
            <a:pPr lvl="1"/>
            <a:r>
              <a:rPr lang="en-US" sz="2800" dirty="0"/>
              <a:t>flip bits without detection?</a:t>
            </a:r>
          </a:p>
          <a:p>
            <a:pPr lvl="1"/>
            <a:r>
              <a:rPr lang="en-US" sz="2800" dirty="0"/>
              <a:t>masquerade as R1 using R1</a:t>
            </a:r>
            <a:r>
              <a:rPr lang="en-US" altLang="ja-JP" sz="2800" dirty="0"/>
              <a:t>’s IP address?</a:t>
            </a:r>
          </a:p>
          <a:p>
            <a:pPr lvl="1"/>
            <a:r>
              <a:rPr lang="en-US" sz="2800" dirty="0"/>
              <a:t>replay a datagram?</a:t>
            </a:r>
          </a:p>
          <a:p>
            <a:pPr lvl="1"/>
            <a:endParaRPr lang="en-US" dirty="0">
              <a:latin typeface="Gill Sans MT" charset="0"/>
            </a:endParaRPr>
          </a:p>
          <a:p>
            <a:pPr lvl="1"/>
            <a:endParaRPr lang="en-US" dirty="0">
              <a:latin typeface="Gill Sans MT" charset="0"/>
            </a:endParaRPr>
          </a:p>
        </p:txBody>
      </p:sp>
      <p:pic>
        <p:nvPicPr>
          <p:cNvPr id="13" name="Picture 9" descr="Eve">
            <a:extLst>
              <a:ext uri="{FF2B5EF4-FFF2-40B4-BE49-F238E27FC236}">
                <a16:creationId xmlns:a16="http://schemas.microsoft.com/office/drawing/2014/main" id="{D157BE8D-0796-AF47-8EEE-0EFF6D3ED6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1622425"/>
            <a:ext cx="936625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46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IKE: Internet Key Exchange 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791D8B07-0DDE-C742-9800-8DA6D67052A5}"/>
              </a:ext>
            </a:extLst>
          </p:cNvPr>
          <p:cNvSpPr txBox="1">
            <a:spLocks noChangeArrowheads="1"/>
          </p:cNvSpPr>
          <p:nvPr/>
        </p:nvSpPr>
        <p:spPr>
          <a:xfrm>
            <a:off x="758686" y="1467679"/>
            <a:ext cx="11128513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>
              <a:lnSpc>
                <a:spcPct val="80000"/>
              </a:lnSpc>
            </a:pPr>
            <a:r>
              <a:rPr lang="en-US" i="1" dirty="0">
                <a:solidFill>
                  <a:srgbClr val="0012A0"/>
                </a:solidFill>
              </a:rPr>
              <a:t>previous examples: </a:t>
            </a:r>
            <a:r>
              <a:rPr lang="en-US" dirty="0"/>
              <a:t>manual establishment of IPsec SAs in IPsec endpoints:</a:t>
            </a:r>
          </a:p>
          <a:p>
            <a:pPr lvl="2">
              <a:lnSpc>
                <a:spcPct val="80000"/>
              </a:lnSpc>
              <a:buFontTx/>
              <a:buNone/>
            </a:pPr>
            <a:r>
              <a:rPr lang="en-US" sz="2400" i="1" dirty="0">
                <a:solidFill>
                  <a:srgbClr val="0012A0"/>
                </a:solidFill>
                <a:cs typeface="Arial" charset="0"/>
              </a:rPr>
              <a:t>Example SA: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SPI: 12345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Source IP: 200.168.1.100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Dest IP: 193.68.2.23 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Protocol: ESP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Encryption algorithm: 3DES-cbc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HMAC algorithm: MD5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Encryption key: 0x7aeaca…</a:t>
            </a:r>
          </a:p>
          <a:p>
            <a:pPr lvl="3">
              <a:lnSpc>
                <a:spcPct val="80000"/>
              </a:lnSpc>
              <a:buFontTx/>
              <a:buNone/>
            </a:pPr>
            <a:r>
              <a:rPr lang="en-US" sz="2000" dirty="0">
                <a:cs typeface="Arial" charset="0"/>
              </a:rPr>
              <a:t>HMAC key:0xc0291f…</a:t>
            </a:r>
          </a:p>
          <a:p>
            <a:pPr indent="-287338">
              <a:lnSpc>
                <a:spcPct val="80000"/>
              </a:lnSpc>
            </a:pPr>
            <a:r>
              <a:rPr lang="en-US" dirty="0"/>
              <a:t>manual keying is impractical for VPN with 100s of endpoints </a:t>
            </a:r>
          </a:p>
          <a:p>
            <a:pPr indent="-287338">
              <a:lnSpc>
                <a:spcPct val="80000"/>
              </a:lnSpc>
            </a:pPr>
            <a:r>
              <a:rPr lang="en-US" dirty="0"/>
              <a:t>instead use </a:t>
            </a:r>
            <a:r>
              <a:rPr lang="en-US" dirty="0">
                <a:solidFill>
                  <a:srgbClr val="CC0000"/>
                </a:solidFill>
              </a:rPr>
              <a:t>IPsec IKE (Internet Key Exchange</a:t>
            </a:r>
            <a:r>
              <a:rPr lang="en-US" dirty="0"/>
              <a:t>)</a:t>
            </a:r>
          </a:p>
          <a:p>
            <a:pPr lvl="1">
              <a:lnSpc>
                <a:spcPct val="80000"/>
              </a:lnSpc>
              <a:buFont typeface="Wingdings" charset="0"/>
              <a:buNone/>
            </a:pPr>
            <a:endParaRPr lang="en-US" sz="2000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72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IKE: PSK and PKI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4752D4D6-28AB-3B41-8A86-690170A4FC1F}"/>
              </a:ext>
            </a:extLst>
          </p:cNvPr>
          <p:cNvSpPr txBox="1">
            <a:spLocks noChangeArrowheads="1"/>
          </p:cNvSpPr>
          <p:nvPr/>
        </p:nvSpPr>
        <p:spPr>
          <a:xfrm>
            <a:off x="1022212" y="1426403"/>
            <a:ext cx="10599945" cy="4926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339725"/>
            <a:r>
              <a:rPr lang="en-US" sz="3200" dirty="0"/>
              <a:t>authentication (prove who you are) with either</a:t>
            </a:r>
          </a:p>
          <a:p>
            <a:pPr lvl="1"/>
            <a:r>
              <a:rPr lang="en-US" sz="2800" dirty="0"/>
              <a:t>pre-shared secret (PSK) or </a:t>
            </a:r>
          </a:p>
          <a:p>
            <a:pPr lvl="1"/>
            <a:r>
              <a:rPr lang="en-US" sz="2800" dirty="0"/>
              <a:t>with PKI (pubic/private keys and certificates).</a:t>
            </a:r>
          </a:p>
          <a:p>
            <a:pPr indent="-339725"/>
            <a:r>
              <a:rPr lang="en-US" sz="3200" dirty="0"/>
              <a:t>PSK: both sides start with secret</a:t>
            </a:r>
          </a:p>
          <a:p>
            <a:pPr lvl="1"/>
            <a:r>
              <a:rPr lang="en-US" sz="2800" dirty="0"/>
              <a:t>run IKE to authenticate each other and to generate IPsec SAs (one in each direction), including encryption, authentication keys</a:t>
            </a:r>
          </a:p>
          <a:p>
            <a:pPr indent="-339725"/>
            <a:r>
              <a:rPr lang="en-US" sz="3200" dirty="0"/>
              <a:t>PKI: both sides start with public/private key pair, certificate</a:t>
            </a:r>
          </a:p>
          <a:p>
            <a:pPr lvl="1"/>
            <a:r>
              <a:rPr lang="en-US" sz="2800" dirty="0"/>
              <a:t>run IKE to authenticate each other, obtain IPsec SAs (one in each direction).</a:t>
            </a:r>
          </a:p>
          <a:p>
            <a:pPr lvl="1"/>
            <a:r>
              <a:rPr lang="en-US" sz="2800" dirty="0"/>
              <a:t>similar with handshake in SSL.</a:t>
            </a:r>
          </a:p>
          <a:p>
            <a:pPr lvl="1">
              <a:buFont typeface="Wingdings" charset="0"/>
              <a:buNone/>
            </a:pPr>
            <a:endParaRPr lang="en-US" sz="2800" dirty="0"/>
          </a:p>
          <a:p>
            <a:pPr lvl="1">
              <a:buFont typeface="Wingdings" charset="0"/>
              <a:buNone/>
            </a:pPr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663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IKE phases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E60D70A-372F-794A-BD3C-627372D3685C}"/>
              </a:ext>
            </a:extLst>
          </p:cNvPr>
          <p:cNvSpPr txBox="1">
            <a:spLocks noChangeArrowheads="1"/>
          </p:cNvSpPr>
          <p:nvPr/>
        </p:nvSpPr>
        <p:spPr>
          <a:xfrm>
            <a:off x="970722" y="1467677"/>
            <a:ext cx="1032013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-287338"/>
            <a:r>
              <a:rPr lang="en-US" sz="3200" dirty="0"/>
              <a:t>IKE has two phases</a:t>
            </a:r>
          </a:p>
          <a:p>
            <a:pPr lvl="1"/>
            <a:r>
              <a:rPr lang="en-US" sz="2800" i="1" dirty="0">
                <a:solidFill>
                  <a:srgbClr val="000099"/>
                </a:solidFill>
              </a:rPr>
              <a:t>phase 1: </a:t>
            </a:r>
            <a:r>
              <a:rPr lang="en-US" sz="2800" dirty="0"/>
              <a:t>establish bi-directional IKE SA</a:t>
            </a:r>
          </a:p>
          <a:p>
            <a:pPr lvl="2"/>
            <a:r>
              <a:rPr lang="en-US" sz="2800" dirty="0">
                <a:cs typeface="Gill Sans MT" charset="0"/>
              </a:rPr>
              <a:t>note: IKE SA different from IPsec SA</a:t>
            </a:r>
          </a:p>
          <a:p>
            <a:pPr lvl="2"/>
            <a:r>
              <a:rPr lang="en-US" sz="2800" dirty="0">
                <a:cs typeface="Gill Sans MT" charset="0"/>
              </a:rPr>
              <a:t>aka ISAKMP security association</a:t>
            </a:r>
          </a:p>
          <a:p>
            <a:pPr lvl="1"/>
            <a:r>
              <a:rPr lang="en-US" sz="2800" i="1" dirty="0">
                <a:solidFill>
                  <a:srgbClr val="000099"/>
                </a:solidFill>
              </a:rPr>
              <a:t>phase 2: </a:t>
            </a:r>
            <a:r>
              <a:rPr lang="en-US" sz="2800" dirty="0"/>
              <a:t>ISAKMP is used to securely negotiate IPsec pair of SAs</a:t>
            </a:r>
          </a:p>
          <a:p>
            <a:pPr indent="-287338"/>
            <a:r>
              <a:rPr lang="en-US" sz="3200" dirty="0"/>
              <a:t>phase 1 has two modes: aggressive mode and main mode</a:t>
            </a:r>
          </a:p>
          <a:p>
            <a:pPr lvl="1"/>
            <a:r>
              <a:rPr lang="en-US" sz="2800" dirty="0"/>
              <a:t>aggressive mode uses fewer messages</a:t>
            </a:r>
          </a:p>
          <a:p>
            <a:pPr lvl="1"/>
            <a:r>
              <a:rPr lang="en-US" sz="2800" dirty="0"/>
              <a:t>main mode provides identity protection and is more flexible</a:t>
            </a:r>
          </a:p>
          <a:p>
            <a:pPr lvl="1">
              <a:buFont typeface="Wingdings" charset="0"/>
              <a:buNone/>
            </a:pPr>
            <a:endParaRPr lang="en-US" sz="2800" dirty="0"/>
          </a:p>
          <a:p>
            <a:pPr lvl="1"/>
            <a:endParaRPr lang="en-US" dirty="0">
              <a:latin typeface="Gill Sans MT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7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lide Number Placeholder 2">
            <a:extLst>
              <a:ext uri="{FF2B5EF4-FFF2-40B4-BE49-F238E27FC236}">
                <a16:creationId xmlns:a16="http://schemas.microsoft.com/office/drawing/2014/main" id="{B3B502CE-5FFD-D64A-A1E9-1DA0362379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 dirty="0"/>
              <a:t>Security: 8- 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35EEEAD-4869-A944-A582-22F817FC6DE2}"/>
              </a:ext>
            </a:extLst>
          </p:cNvPr>
          <p:cNvSpPr txBox="1">
            <a:spLocks/>
          </p:cNvSpPr>
          <p:nvPr/>
        </p:nvSpPr>
        <p:spPr>
          <a:xfrm>
            <a:off x="838200" y="398813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>
                <a:solidFill>
                  <a:srgbClr val="0000A3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0" dirty="0">
                <a:latin typeface="+mn-lt"/>
              </a:rPr>
              <a:t>IPsec summary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7EDF0287-CB9F-064B-9850-D7015F1D6CB0}"/>
              </a:ext>
            </a:extLst>
          </p:cNvPr>
          <p:cNvSpPr txBox="1">
            <a:spLocks noChangeArrowheads="1"/>
          </p:cNvSpPr>
          <p:nvPr/>
        </p:nvSpPr>
        <p:spPr>
          <a:xfrm>
            <a:off x="864704" y="1507435"/>
            <a:ext cx="10624931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4813" indent="-274638"/>
            <a:r>
              <a:rPr lang="en-US" sz="3200" dirty="0"/>
              <a:t>IKE message exchange for algorithms, secret keys, SPI numbers</a:t>
            </a:r>
          </a:p>
          <a:p>
            <a:pPr marL="404813" indent="-274638"/>
            <a:r>
              <a:rPr lang="en-US" sz="3200" dirty="0"/>
              <a:t>either AH or ESP protocol  (or both)</a:t>
            </a:r>
          </a:p>
          <a:p>
            <a:pPr marL="852488" lvl="2" indent="-274638"/>
            <a:r>
              <a:rPr lang="en-US" sz="2800" dirty="0"/>
              <a:t>AH provides integrity, source authentication</a:t>
            </a:r>
          </a:p>
          <a:p>
            <a:pPr marL="852488" lvl="2" indent="-274638"/>
            <a:r>
              <a:rPr lang="en-US" sz="2800" dirty="0"/>
              <a:t>ESP protocol (with AH) additionally provides encryption</a:t>
            </a:r>
          </a:p>
          <a:p>
            <a:pPr marL="404813" indent="-274638"/>
            <a:r>
              <a:rPr lang="en-US" sz="3200" dirty="0"/>
              <a:t>IPsec peers can be two end systems, two routers/firewalls, or a router/firewall and </a:t>
            </a:r>
            <a:r>
              <a:rPr lang="en-US" dirty="0">
                <a:latin typeface="Gill Sans MT" charset="0"/>
              </a:rPr>
              <a:t>an end system</a:t>
            </a:r>
          </a:p>
        </p:txBody>
      </p:sp>
    </p:spTree>
    <p:extLst>
      <p:ext uri="{BB962C8B-B14F-4D97-AF65-F5344CB8AC3E}">
        <p14:creationId xmlns:p14="http://schemas.microsoft.com/office/powerpoint/2010/main" val="392172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Words>2504</Words>
  <Application>Microsoft Office PowerPoint</Application>
  <PresentationFormat>Widescreen</PresentationFormat>
  <Paragraphs>538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Calibri Light</vt:lpstr>
      <vt:lpstr>Gill Sans MT</vt:lpstr>
      <vt:lpstr>Wingdings</vt:lpstr>
      <vt:lpstr>ZapfDingbats</vt:lpstr>
      <vt:lpstr>Office Theme</vt:lpstr>
      <vt:lpstr>PowerPoint Presentation</vt:lpstr>
      <vt:lpstr>Security: overview</vt:lpstr>
      <vt:lpstr>Public key Certification Authorities (CA)</vt:lpstr>
      <vt:lpstr>Public key Certification Authorities (CA)</vt:lpstr>
      <vt:lpstr>Secure e-mail: confidentiality </vt:lpstr>
      <vt:lpstr>Secure e-mail: confidentiality (more) </vt:lpstr>
      <vt:lpstr>Secure e-mail: integrity, authentication</vt:lpstr>
      <vt:lpstr>Secure e-mail: integrity, authentication</vt:lpstr>
      <vt:lpstr>Transport-layer security (TLS)</vt:lpstr>
      <vt:lpstr>Transport-layer security: what’s needed?</vt:lpstr>
      <vt:lpstr>t-tls: initial handshake</vt:lpstr>
      <vt:lpstr>t-tls: cryptographic keys</vt:lpstr>
      <vt:lpstr>t-tls: encrypting data</vt:lpstr>
      <vt:lpstr>t-tls: encrypting data (more)</vt:lpstr>
      <vt:lpstr>t-tls: connection close</vt:lpstr>
      <vt:lpstr>TLS: 1.3 cipher suite</vt:lpstr>
      <vt:lpstr>TLS 1.3 handshake: 1 RTT</vt:lpstr>
      <vt:lpstr>TLS 1.3 handshake: 0 RTT</vt:lpstr>
      <vt:lpstr>IP Sec</vt:lpstr>
      <vt:lpstr>Two IPsec protocols</vt:lpstr>
      <vt:lpstr>Security associations (SAs) </vt:lpstr>
      <vt:lpstr>IPsec datagram</vt:lpstr>
      <vt:lpstr>ESP tunnel mode: actions</vt:lpstr>
      <vt:lpstr>IPsec sequence numbers</vt:lpstr>
      <vt:lpstr>Security Policy Database (SPD)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user01</cp:lastModifiedBy>
  <cp:revision>1080</cp:revision>
  <dcterms:created xsi:type="dcterms:W3CDTF">2020-01-18T07:24:59Z</dcterms:created>
  <dcterms:modified xsi:type="dcterms:W3CDTF">2025-07-27T15:42:11Z</dcterms:modified>
</cp:coreProperties>
</file>