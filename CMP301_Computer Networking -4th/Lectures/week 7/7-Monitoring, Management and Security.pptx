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1352" r:id="rId2"/>
    <p:sldId id="1346" r:id="rId3"/>
    <p:sldId id="1348" r:id="rId4"/>
    <p:sldId id="1353" r:id="rId5"/>
    <p:sldId id="1334" r:id="rId6"/>
    <p:sldId id="1337" r:id="rId7"/>
    <p:sldId id="301" r:id="rId8"/>
    <p:sldId id="303" r:id="rId9"/>
    <p:sldId id="304" r:id="rId10"/>
    <p:sldId id="305" r:id="rId11"/>
    <p:sldId id="306" r:id="rId12"/>
    <p:sldId id="359" r:id="rId13"/>
    <p:sldId id="378" r:id="rId14"/>
    <p:sldId id="1309" r:id="rId15"/>
    <p:sldId id="425" r:id="rId16"/>
    <p:sldId id="388" r:id="rId17"/>
    <p:sldId id="1288" r:id="rId18"/>
    <p:sldId id="421" r:id="rId19"/>
    <p:sldId id="422" r:id="rId20"/>
    <p:sldId id="424" r:id="rId21"/>
    <p:sldId id="1342" r:id="rId22"/>
    <p:sldId id="1343" r:id="rId23"/>
    <p:sldId id="1344" r:id="rId24"/>
    <p:sldId id="1164" r:id="rId25"/>
    <p:sldId id="1165" r:id="rId26"/>
    <p:sldId id="1169" r:id="rId27"/>
    <p:sldId id="1170" r:id="rId28"/>
    <p:sldId id="1171" r:id="rId29"/>
    <p:sldId id="279" r:id="rId30"/>
    <p:sldId id="1078" r:id="rId31"/>
    <p:sldId id="1172" r:id="rId32"/>
    <p:sldId id="1173" r:id="rId33"/>
    <p:sldId id="1174" r:id="rId34"/>
    <p:sldId id="1175" r:id="rId35"/>
    <p:sldId id="1177" r:id="rId36"/>
    <p:sldId id="1178" r:id="rId37"/>
    <p:sldId id="280" r:id="rId38"/>
    <p:sldId id="281" r:id="rId39"/>
    <p:sldId id="282" r:id="rId40"/>
    <p:sldId id="1185" r:id="rId41"/>
    <p:sldId id="1188" r:id="rId42"/>
    <p:sldId id="1190" r:id="rId43"/>
    <p:sldId id="1191" r:id="rId44"/>
    <p:sldId id="1206" r:id="rId45"/>
    <p:sldId id="1208" r:id="rId46"/>
    <p:sldId id="1209" r:id="rId47"/>
    <p:sldId id="1312" r:id="rId48"/>
    <p:sldId id="1074" r:id="rId49"/>
    <p:sldId id="1075" r:id="rId50"/>
    <p:sldId id="762" r:id="rId51"/>
    <p:sldId id="673" r:id="rId52"/>
    <p:sldId id="869" r:id="rId53"/>
    <p:sldId id="857" r:id="rId54"/>
    <p:sldId id="858" r:id="rId55"/>
    <p:sldId id="860" r:id="rId56"/>
    <p:sldId id="861" r:id="rId57"/>
    <p:sldId id="862" r:id="rId58"/>
    <p:sldId id="863" r:id="rId59"/>
    <p:sldId id="871" r:id="rId60"/>
    <p:sldId id="872" r:id="rId61"/>
    <p:sldId id="864" r:id="rId62"/>
    <p:sldId id="873" r:id="rId63"/>
    <p:sldId id="865" r:id="rId64"/>
    <p:sldId id="874"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371172-F3D2-4A4B-9BEF-D3215B49ABA9}" type="doc">
      <dgm:prSet loTypeId="urn:microsoft.com/office/officeart/2005/8/layout/chevron1" loCatId="process" qsTypeId="urn:microsoft.com/office/officeart/2005/8/quickstyle/simple4" qsCatId="simple" csTypeId="urn:microsoft.com/office/officeart/2005/8/colors/accent1_2" csCatId="accent1" phldr="1"/>
      <dgm:spPr/>
      <dgm:t>
        <a:bodyPr/>
        <a:lstStyle/>
        <a:p>
          <a:endParaRPr lang="en-US"/>
        </a:p>
      </dgm:t>
    </dgm:pt>
    <dgm:pt modelId="{CC2952DF-AC03-534F-B405-EB5CAF5DE705}">
      <dgm:prSet custT="1"/>
      <dgm:spPr/>
      <dgm:t>
        <a:bodyPr/>
        <a:lstStyle/>
        <a:p>
          <a:pPr rtl="0"/>
          <a:r>
            <a:rPr lang="en-US" sz="2300" b="1" dirty="0">
              <a:solidFill>
                <a:schemeClr val="bg1"/>
              </a:solidFill>
              <a:latin typeface="+mj-lt"/>
            </a:rPr>
            <a:t>Confidentiality</a:t>
          </a:r>
          <a:endParaRPr lang="en-US" sz="2300" dirty="0">
            <a:solidFill>
              <a:schemeClr val="bg1"/>
            </a:solidFill>
            <a:latin typeface="+mj-lt"/>
          </a:endParaRPr>
        </a:p>
      </dgm:t>
    </dgm:pt>
    <dgm:pt modelId="{40888F45-DB02-4E44-9784-95FA75AFD454}" type="parTrans" cxnId="{B4587728-C9A1-FA4E-82A9-D7B261438D1E}">
      <dgm:prSet/>
      <dgm:spPr/>
      <dgm:t>
        <a:bodyPr/>
        <a:lstStyle/>
        <a:p>
          <a:endParaRPr lang="en-US"/>
        </a:p>
      </dgm:t>
    </dgm:pt>
    <dgm:pt modelId="{9EB32828-026E-2046-BFE2-239970B8AE6B}" type="sibTrans" cxnId="{B4587728-C9A1-FA4E-82A9-D7B261438D1E}">
      <dgm:prSet/>
      <dgm:spPr/>
      <dgm:t>
        <a:bodyPr/>
        <a:lstStyle/>
        <a:p>
          <a:endParaRPr lang="en-US"/>
        </a:p>
      </dgm:t>
    </dgm:pt>
    <dgm:pt modelId="{09385EB0-9460-1347-8FDD-55234D987950}">
      <dgm:prSet/>
      <dgm:spPr/>
      <dgm:t>
        <a:bodyPr/>
        <a:lstStyle/>
        <a:p>
          <a:pPr rtl="0"/>
          <a:r>
            <a:rPr lang="en-US" b="1" dirty="0">
              <a:latin typeface="+mj-lt"/>
            </a:rPr>
            <a:t>Preserving authorized restrictions on information access and disclosure, including means for protecting personal privacy and proprietary information</a:t>
          </a:r>
          <a:endParaRPr lang="en-US" dirty="0">
            <a:latin typeface="+mj-lt"/>
          </a:endParaRPr>
        </a:p>
      </dgm:t>
    </dgm:pt>
    <dgm:pt modelId="{F26493AF-F02E-8446-A9F1-A3B7F982E61B}" type="parTrans" cxnId="{7E42F8D5-6F18-5749-8B3D-A47D284552A5}">
      <dgm:prSet/>
      <dgm:spPr/>
      <dgm:t>
        <a:bodyPr/>
        <a:lstStyle/>
        <a:p>
          <a:endParaRPr lang="en-US"/>
        </a:p>
      </dgm:t>
    </dgm:pt>
    <dgm:pt modelId="{EEE25363-96A6-D04E-87EE-E3BEB479E232}" type="sibTrans" cxnId="{7E42F8D5-6F18-5749-8B3D-A47D284552A5}">
      <dgm:prSet/>
      <dgm:spPr/>
      <dgm:t>
        <a:bodyPr/>
        <a:lstStyle/>
        <a:p>
          <a:endParaRPr lang="en-US"/>
        </a:p>
      </dgm:t>
    </dgm:pt>
    <dgm:pt modelId="{40063ED1-409C-FC44-A2F5-9C91C751F2EE}">
      <dgm:prSet custT="1"/>
      <dgm:spPr/>
      <dgm:t>
        <a:bodyPr/>
        <a:lstStyle/>
        <a:p>
          <a:pPr rtl="0"/>
          <a:r>
            <a:rPr lang="en-US" sz="2400" b="1" dirty="0">
              <a:solidFill>
                <a:schemeClr val="bg1"/>
              </a:solidFill>
              <a:latin typeface="+mj-lt"/>
            </a:rPr>
            <a:t>Integrity</a:t>
          </a:r>
          <a:endParaRPr lang="en-US" sz="2400" dirty="0">
            <a:solidFill>
              <a:schemeClr val="bg1"/>
            </a:solidFill>
            <a:latin typeface="+mj-lt"/>
          </a:endParaRPr>
        </a:p>
      </dgm:t>
    </dgm:pt>
    <dgm:pt modelId="{63E50B16-A73A-4849-8B35-5EA33FEA9FF4}" type="parTrans" cxnId="{69B92DBC-A1A9-C44F-A377-1EE237E81319}">
      <dgm:prSet/>
      <dgm:spPr/>
      <dgm:t>
        <a:bodyPr/>
        <a:lstStyle/>
        <a:p>
          <a:endParaRPr lang="en-US"/>
        </a:p>
      </dgm:t>
    </dgm:pt>
    <dgm:pt modelId="{ABE2992F-EC88-5142-A882-07293919F130}" type="sibTrans" cxnId="{69B92DBC-A1A9-C44F-A377-1EE237E81319}">
      <dgm:prSet/>
      <dgm:spPr/>
      <dgm:t>
        <a:bodyPr/>
        <a:lstStyle/>
        <a:p>
          <a:endParaRPr lang="en-US"/>
        </a:p>
      </dgm:t>
    </dgm:pt>
    <dgm:pt modelId="{5978D22D-D756-1D49-B818-48A1EE68D56D}">
      <dgm:prSet/>
      <dgm:spPr/>
      <dgm:t>
        <a:bodyPr/>
        <a:lstStyle/>
        <a:p>
          <a:pPr rtl="0"/>
          <a:r>
            <a:rPr lang="en-US" b="1" dirty="0">
              <a:latin typeface="+mj-lt"/>
            </a:rPr>
            <a:t>Guarding against improper information modification or destruction, including ensuring information nonrepudiation and authenticity</a:t>
          </a:r>
        </a:p>
      </dgm:t>
    </dgm:pt>
    <dgm:pt modelId="{D2589990-8548-C94F-98F7-890448CBA79D}" type="parTrans" cxnId="{6FDC73AF-FBF6-2548-ABBB-22743AD94915}">
      <dgm:prSet/>
      <dgm:spPr/>
      <dgm:t>
        <a:bodyPr/>
        <a:lstStyle/>
        <a:p>
          <a:endParaRPr lang="en-US"/>
        </a:p>
      </dgm:t>
    </dgm:pt>
    <dgm:pt modelId="{474EE7B6-01C7-E643-BAED-BED2D46F783F}" type="sibTrans" cxnId="{6FDC73AF-FBF6-2548-ABBB-22743AD94915}">
      <dgm:prSet/>
      <dgm:spPr/>
      <dgm:t>
        <a:bodyPr/>
        <a:lstStyle/>
        <a:p>
          <a:endParaRPr lang="en-US"/>
        </a:p>
      </dgm:t>
    </dgm:pt>
    <dgm:pt modelId="{EADF74B9-168E-944C-B968-82B720F1C125}">
      <dgm:prSet custT="1"/>
      <dgm:spPr/>
      <dgm:t>
        <a:bodyPr/>
        <a:lstStyle/>
        <a:p>
          <a:pPr rtl="0"/>
          <a:r>
            <a:rPr lang="en-US" sz="2400" b="1" dirty="0">
              <a:solidFill>
                <a:schemeClr val="bg1"/>
              </a:solidFill>
              <a:latin typeface="+mj-lt"/>
            </a:rPr>
            <a:t>Availability</a:t>
          </a:r>
          <a:endParaRPr lang="en-US" sz="2400" dirty="0">
            <a:solidFill>
              <a:schemeClr val="bg1"/>
            </a:solidFill>
            <a:latin typeface="+mj-lt"/>
          </a:endParaRPr>
        </a:p>
      </dgm:t>
    </dgm:pt>
    <dgm:pt modelId="{F74FE56B-E426-A745-85F1-83912FDA8101}" type="parTrans" cxnId="{D4CB0DBA-23FB-B447-B9A7-94713C18E119}">
      <dgm:prSet/>
      <dgm:spPr/>
      <dgm:t>
        <a:bodyPr/>
        <a:lstStyle/>
        <a:p>
          <a:endParaRPr lang="en-US"/>
        </a:p>
      </dgm:t>
    </dgm:pt>
    <dgm:pt modelId="{72BFDC2A-6676-644B-B953-978D0B972DF9}" type="sibTrans" cxnId="{D4CB0DBA-23FB-B447-B9A7-94713C18E119}">
      <dgm:prSet/>
      <dgm:spPr/>
      <dgm:t>
        <a:bodyPr/>
        <a:lstStyle/>
        <a:p>
          <a:endParaRPr lang="en-US"/>
        </a:p>
      </dgm:t>
    </dgm:pt>
    <dgm:pt modelId="{6B57FDDA-8F0C-8B42-BABC-39C99BE7864F}">
      <dgm:prSet/>
      <dgm:spPr/>
      <dgm:t>
        <a:bodyPr/>
        <a:lstStyle/>
        <a:p>
          <a:pPr rtl="0"/>
          <a:r>
            <a:rPr lang="en-US" b="1" dirty="0">
              <a:latin typeface="+mj-lt"/>
            </a:rPr>
            <a:t>Ensuring timely and reliable access to and use of information</a:t>
          </a:r>
        </a:p>
      </dgm:t>
    </dgm:pt>
    <dgm:pt modelId="{B257E21D-7B0C-6A48-8CE5-DCA7C0C78347}" type="parTrans" cxnId="{43EDDF10-11C3-9542-93EF-D6E1EDFCB4D6}">
      <dgm:prSet/>
      <dgm:spPr/>
      <dgm:t>
        <a:bodyPr/>
        <a:lstStyle/>
        <a:p>
          <a:endParaRPr lang="en-US"/>
        </a:p>
      </dgm:t>
    </dgm:pt>
    <dgm:pt modelId="{D23D747C-9A87-3F48-B657-3DDC226BD5F6}" type="sibTrans" cxnId="{43EDDF10-11C3-9542-93EF-D6E1EDFCB4D6}">
      <dgm:prSet/>
      <dgm:spPr/>
      <dgm:t>
        <a:bodyPr/>
        <a:lstStyle/>
        <a:p>
          <a:endParaRPr lang="en-US"/>
        </a:p>
      </dgm:t>
    </dgm:pt>
    <dgm:pt modelId="{4FE5D1E9-ED82-0F45-86A4-7E3F6D691E65}" type="pres">
      <dgm:prSet presAssocID="{3C371172-F3D2-4A4B-9BEF-D3215B49ABA9}" presName="Name0" presStyleCnt="0">
        <dgm:presLayoutVars>
          <dgm:dir/>
          <dgm:animLvl val="lvl"/>
          <dgm:resizeHandles val="exact"/>
        </dgm:presLayoutVars>
      </dgm:prSet>
      <dgm:spPr/>
    </dgm:pt>
    <dgm:pt modelId="{E3E77CF0-4539-1549-8A27-6B602C871039}" type="pres">
      <dgm:prSet presAssocID="{CC2952DF-AC03-534F-B405-EB5CAF5DE705}" presName="composite" presStyleCnt="0"/>
      <dgm:spPr/>
    </dgm:pt>
    <dgm:pt modelId="{2669473D-5311-9F43-858A-DA4F11AAF30A}" type="pres">
      <dgm:prSet presAssocID="{CC2952DF-AC03-534F-B405-EB5CAF5DE705}" presName="parTx" presStyleLbl="node1" presStyleIdx="0" presStyleCnt="3" custScaleX="111077">
        <dgm:presLayoutVars>
          <dgm:chMax val="0"/>
          <dgm:chPref val="0"/>
          <dgm:bulletEnabled val="1"/>
        </dgm:presLayoutVars>
      </dgm:prSet>
      <dgm:spPr/>
    </dgm:pt>
    <dgm:pt modelId="{C5173CA9-CAEE-B642-8B8F-CD4B816E3BFB}" type="pres">
      <dgm:prSet presAssocID="{CC2952DF-AC03-534F-B405-EB5CAF5DE705}" presName="desTx" presStyleLbl="revTx" presStyleIdx="0" presStyleCnt="3" custScaleY="118826" custLinFactNeighborX="5402" custLinFactNeighborY="12065">
        <dgm:presLayoutVars>
          <dgm:bulletEnabled val="1"/>
        </dgm:presLayoutVars>
      </dgm:prSet>
      <dgm:spPr/>
    </dgm:pt>
    <dgm:pt modelId="{8D6DA9DC-68B9-3346-8820-35A9B4A9FB2F}" type="pres">
      <dgm:prSet presAssocID="{9EB32828-026E-2046-BFE2-239970B8AE6B}" presName="space" presStyleCnt="0"/>
      <dgm:spPr/>
    </dgm:pt>
    <dgm:pt modelId="{6EDEFE10-E2C8-1448-8A31-9FAB252E7F00}" type="pres">
      <dgm:prSet presAssocID="{40063ED1-409C-FC44-A2F5-9C91C751F2EE}" presName="composite" presStyleCnt="0"/>
      <dgm:spPr/>
    </dgm:pt>
    <dgm:pt modelId="{EC783FE8-0006-004E-9EC5-CCA2F7583147}" type="pres">
      <dgm:prSet presAssocID="{40063ED1-409C-FC44-A2F5-9C91C751F2EE}" presName="parTx" presStyleLbl="node1" presStyleIdx="1" presStyleCnt="3" custLinFactNeighborX="4410">
        <dgm:presLayoutVars>
          <dgm:chMax val="0"/>
          <dgm:chPref val="0"/>
          <dgm:bulletEnabled val="1"/>
        </dgm:presLayoutVars>
      </dgm:prSet>
      <dgm:spPr/>
    </dgm:pt>
    <dgm:pt modelId="{92F85E19-9F62-2146-BBFE-59F35C65EE0E}" type="pres">
      <dgm:prSet presAssocID="{40063ED1-409C-FC44-A2F5-9C91C751F2EE}" presName="desTx" presStyleLbl="revTx" presStyleIdx="1" presStyleCnt="3" custScaleY="113872" custLinFactNeighborX="5343" custLinFactNeighborY="5872">
        <dgm:presLayoutVars>
          <dgm:bulletEnabled val="1"/>
        </dgm:presLayoutVars>
      </dgm:prSet>
      <dgm:spPr/>
    </dgm:pt>
    <dgm:pt modelId="{3955E22D-6180-2644-BF8C-CF6687C98768}" type="pres">
      <dgm:prSet presAssocID="{ABE2992F-EC88-5142-A882-07293919F130}" presName="space" presStyleCnt="0"/>
      <dgm:spPr/>
    </dgm:pt>
    <dgm:pt modelId="{08E3F871-3101-EE48-8D9C-C734641FA3CF}" type="pres">
      <dgm:prSet presAssocID="{EADF74B9-168E-944C-B968-82B720F1C125}" presName="composite" presStyleCnt="0"/>
      <dgm:spPr/>
    </dgm:pt>
    <dgm:pt modelId="{FAB70A0B-6355-A049-80C7-D281E9662899}" type="pres">
      <dgm:prSet presAssocID="{EADF74B9-168E-944C-B968-82B720F1C125}" presName="parTx" presStyleLbl="node1" presStyleIdx="2" presStyleCnt="3">
        <dgm:presLayoutVars>
          <dgm:chMax val="0"/>
          <dgm:chPref val="0"/>
          <dgm:bulletEnabled val="1"/>
        </dgm:presLayoutVars>
      </dgm:prSet>
      <dgm:spPr/>
    </dgm:pt>
    <dgm:pt modelId="{2A12BD47-4BDB-3343-9554-B0171B10A11F}" type="pres">
      <dgm:prSet presAssocID="{EADF74B9-168E-944C-B968-82B720F1C125}" presName="desTx" presStyleLbl="revTx" presStyleIdx="2" presStyleCnt="3" custScaleY="113872" custLinFactNeighborX="9067" custLinFactNeighborY="8349">
        <dgm:presLayoutVars>
          <dgm:bulletEnabled val="1"/>
        </dgm:presLayoutVars>
      </dgm:prSet>
      <dgm:spPr/>
    </dgm:pt>
  </dgm:ptLst>
  <dgm:cxnLst>
    <dgm:cxn modelId="{4A7DCD0D-2283-E846-8C58-44C334E8AE5B}" type="presOf" srcId="{5978D22D-D756-1D49-B818-48A1EE68D56D}" destId="{92F85E19-9F62-2146-BBFE-59F35C65EE0E}" srcOrd="0" destOrd="0" presId="urn:microsoft.com/office/officeart/2005/8/layout/chevron1"/>
    <dgm:cxn modelId="{43EDDF10-11C3-9542-93EF-D6E1EDFCB4D6}" srcId="{EADF74B9-168E-944C-B968-82B720F1C125}" destId="{6B57FDDA-8F0C-8B42-BABC-39C99BE7864F}" srcOrd="0" destOrd="0" parTransId="{B257E21D-7B0C-6A48-8CE5-DCA7C0C78347}" sibTransId="{D23D747C-9A87-3F48-B657-3DDC226BD5F6}"/>
    <dgm:cxn modelId="{B4587728-C9A1-FA4E-82A9-D7B261438D1E}" srcId="{3C371172-F3D2-4A4B-9BEF-D3215B49ABA9}" destId="{CC2952DF-AC03-534F-B405-EB5CAF5DE705}" srcOrd="0" destOrd="0" parTransId="{40888F45-DB02-4E44-9784-95FA75AFD454}" sibTransId="{9EB32828-026E-2046-BFE2-239970B8AE6B}"/>
    <dgm:cxn modelId="{9FB9145D-8A59-724B-9FFD-3FC20702C844}" type="presOf" srcId="{6B57FDDA-8F0C-8B42-BABC-39C99BE7864F}" destId="{2A12BD47-4BDB-3343-9554-B0171B10A11F}" srcOrd="0" destOrd="0" presId="urn:microsoft.com/office/officeart/2005/8/layout/chevron1"/>
    <dgm:cxn modelId="{4D09D848-8C4A-4B41-9CBF-C5D776ECFC0F}" type="presOf" srcId="{EADF74B9-168E-944C-B968-82B720F1C125}" destId="{FAB70A0B-6355-A049-80C7-D281E9662899}" srcOrd="0" destOrd="0" presId="urn:microsoft.com/office/officeart/2005/8/layout/chevron1"/>
    <dgm:cxn modelId="{22532881-9504-FB4C-BA35-58C71CD26479}" type="presOf" srcId="{CC2952DF-AC03-534F-B405-EB5CAF5DE705}" destId="{2669473D-5311-9F43-858A-DA4F11AAF30A}" srcOrd="0" destOrd="0" presId="urn:microsoft.com/office/officeart/2005/8/layout/chevron1"/>
    <dgm:cxn modelId="{CA82DA86-47BB-D449-8178-DDF24B140840}" type="presOf" srcId="{40063ED1-409C-FC44-A2F5-9C91C751F2EE}" destId="{EC783FE8-0006-004E-9EC5-CCA2F7583147}" srcOrd="0" destOrd="0" presId="urn:microsoft.com/office/officeart/2005/8/layout/chevron1"/>
    <dgm:cxn modelId="{6FDC73AF-FBF6-2548-ABBB-22743AD94915}" srcId="{40063ED1-409C-FC44-A2F5-9C91C751F2EE}" destId="{5978D22D-D756-1D49-B818-48A1EE68D56D}" srcOrd="0" destOrd="0" parTransId="{D2589990-8548-C94F-98F7-890448CBA79D}" sibTransId="{474EE7B6-01C7-E643-BAED-BED2D46F783F}"/>
    <dgm:cxn modelId="{D4CB0DBA-23FB-B447-B9A7-94713C18E119}" srcId="{3C371172-F3D2-4A4B-9BEF-D3215B49ABA9}" destId="{EADF74B9-168E-944C-B968-82B720F1C125}" srcOrd="2" destOrd="0" parTransId="{F74FE56B-E426-A745-85F1-83912FDA8101}" sibTransId="{72BFDC2A-6676-644B-B953-978D0B972DF9}"/>
    <dgm:cxn modelId="{69B92DBC-A1A9-C44F-A377-1EE237E81319}" srcId="{3C371172-F3D2-4A4B-9BEF-D3215B49ABA9}" destId="{40063ED1-409C-FC44-A2F5-9C91C751F2EE}" srcOrd="1" destOrd="0" parTransId="{63E50B16-A73A-4849-8B35-5EA33FEA9FF4}" sibTransId="{ABE2992F-EC88-5142-A882-07293919F130}"/>
    <dgm:cxn modelId="{7E42F8D5-6F18-5749-8B3D-A47D284552A5}" srcId="{CC2952DF-AC03-534F-B405-EB5CAF5DE705}" destId="{09385EB0-9460-1347-8FDD-55234D987950}" srcOrd="0" destOrd="0" parTransId="{F26493AF-F02E-8446-A9F1-A3B7F982E61B}" sibTransId="{EEE25363-96A6-D04E-87EE-E3BEB479E232}"/>
    <dgm:cxn modelId="{639C11DB-CB03-5148-8BFA-8D382B8EB482}" type="presOf" srcId="{09385EB0-9460-1347-8FDD-55234D987950}" destId="{C5173CA9-CAEE-B642-8B8F-CD4B816E3BFB}" srcOrd="0" destOrd="0" presId="urn:microsoft.com/office/officeart/2005/8/layout/chevron1"/>
    <dgm:cxn modelId="{3F9CE1E7-332D-CC4B-84C5-BFF44CC9C6DD}" type="presOf" srcId="{3C371172-F3D2-4A4B-9BEF-D3215B49ABA9}" destId="{4FE5D1E9-ED82-0F45-86A4-7E3F6D691E65}" srcOrd="0" destOrd="0" presId="urn:microsoft.com/office/officeart/2005/8/layout/chevron1"/>
    <dgm:cxn modelId="{5EFE181E-621D-C34D-A4C9-EB4D70BAC9A6}" type="presParOf" srcId="{4FE5D1E9-ED82-0F45-86A4-7E3F6D691E65}" destId="{E3E77CF0-4539-1549-8A27-6B602C871039}" srcOrd="0" destOrd="0" presId="urn:microsoft.com/office/officeart/2005/8/layout/chevron1"/>
    <dgm:cxn modelId="{8FAE5F01-6FB4-4648-B930-80680B3C4AC7}" type="presParOf" srcId="{E3E77CF0-4539-1549-8A27-6B602C871039}" destId="{2669473D-5311-9F43-858A-DA4F11AAF30A}" srcOrd="0" destOrd="0" presId="urn:microsoft.com/office/officeart/2005/8/layout/chevron1"/>
    <dgm:cxn modelId="{0E825875-C344-2246-82F7-C020EACB7309}" type="presParOf" srcId="{E3E77CF0-4539-1549-8A27-6B602C871039}" destId="{C5173CA9-CAEE-B642-8B8F-CD4B816E3BFB}" srcOrd="1" destOrd="0" presId="urn:microsoft.com/office/officeart/2005/8/layout/chevron1"/>
    <dgm:cxn modelId="{CE21CB00-59B1-A241-B049-F10E26C951D5}" type="presParOf" srcId="{4FE5D1E9-ED82-0F45-86A4-7E3F6D691E65}" destId="{8D6DA9DC-68B9-3346-8820-35A9B4A9FB2F}" srcOrd="1" destOrd="0" presId="urn:microsoft.com/office/officeart/2005/8/layout/chevron1"/>
    <dgm:cxn modelId="{82E98A38-5084-5A44-9502-F808297D340A}" type="presParOf" srcId="{4FE5D1E9-ED82-0F45-86A4-7E3F6D691E65}" destId="{6EDEFE10-E2C8-1448-8A31-9FAB252E7F00}" srcOrd="2" destOrd="0" presId="urn:microsoft.com/office/officeart/2005/8/layout/chevron1"/>
    <dgm:cxn modelId="{DCB521BD-A995-3C4F-BF4B-312A17D00B97}" type="presParOf" srcId="{6EDEFE10-E2C8-1448-8A31-9FAB252E7F00}" destId="{EC783FE8-0006-004E-9EC5-CCA2F7583147}" srcOrd="0" destOrd="0" presId="urn:microsoft.com/office/officeart/2005/8/layout/chevron1"/>
    <dgm:cxn modelId="{1991EE75-9E7E-8043-AE1C-ECAD56CE1D57}" type="presParOf" srcId="{6EDEFE10-E2C8-1448-8A31-9FAB252E7F00}" destId="{92F85E19-9F62-2146-BBFE-59F35C65EE0E}" srcOrd="1" destOrd="0" presId="urn:microsoft.com/office/officeart/2005/8/layout/chevron1"/>
    <dgm:cxn modelId="{9D886389-57D0-9345-9CC5-9323B1229E59}" type="presParOf" srcId="{4FE5D1E9-ED82-0F45-86A4-7E3F6D691E65}" destId="{3955E22D-6180-2644-BF8C-CF6687C98768}" srcOrd="3" destOrd="0" presId="urn:microsoft.com/office/officeart/2005/8/layout/chevron1"/>
    <dgm:cxn modelId="{5EA5695A-F978-854F-B296-35219879578E}" type="presParOf" srcId="{4FE5D1E9-ED82-0F45-86A4-7E3F6D691E65}" destId="{08E3F871-3101-EE48-8D9C-C734641FA3CF}" srcOrd="4" destOrd="0" presId="urn:microsoft.com/office/officeart/2005/8/layout/chevron1"/>
    <dgm:cxn modelId="{7A500F83-B66C-864E-802A-644EA1141221}" type="presParOf" srcId="{08E3F871-3101-EE48-8D9C-C734641FA3CF}" destId="{FAB70A0B-6355-A049-80C7-D281E9662899}" srcOrd="0" destOrd="0" presId="urn:microsoft.com/office/officeart/2005/8/layout/chevron1"/>
    <dgm:cxn modelId="{3B6BDA6A-930D-BD4F-908B-EB99AD16033F}" type="presParOf" srcId="{08E3F871-3101-EE48-8D9C-C734641FA3CF}" destId="{2A12BD47-4BDB-3343-9554-B0171B10A11F}"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3A1221-7895-9A46-8777-244D9A4FFCB5}" type="doc">
      <dgm:prSet loTypeId="urn:microsoft.com/office/officeart/2005/8/layout/hList3" loCatId="list" qsTypeId="urn:microsoft.com/office/officeart/2005/8/quickstyle/simple4" qsCatId="simple" csTypeId="urn:microsoft.com/office/officeart/2005/8/colors/accent1_2" csCatId="accent1" phldr="1"/>
      <dgm:spPr/>
      <dgm:t>
        <a:bodyPr/>
        <a:lstStyle/>
        <a:p>
          <a:endParaRPr lang="en-US"/>
        </a:p>
      </dgm:t>
    </dgm:pt>
    <dgm:pt modelId="{3C8162DC-9A38-234A-BF50-29269EF60E37}">
      <dgm:prSet custT="1"/>
      <dgm:spPr>
        <a:solidFill>
          <a:schemeClr val="accent1">
            <a:lumMod val="60000"/>
            <a:lumOff val="40000"/>
          </a:schemeClr>
        </a:solidFill>
      </dgm:spPr>
      <dgm:t>
        <a:bodyPr/>
        <a:lstStyle/>
        <a:p>
          <a:pPr rtl="0"/>
          <a:r>
            <a:rPr lang="en-US" sz="3600" b="0" dirty="0">
              <a:solidFill>
                <a:srgbClr val="800000"/>
              </a:solidFill>
              <a:effectLst>
                <a:outerShdw blurRad="38100" dist="38100" dir="2700000" algn="tl">
                  <a:srgbClr val="000000">
                    <a:alpha val="43137"/>
                  </a:srgbClr>
                </a:outerShdw>
              </a:effectLst>
              <a:latin typeface="+mj-lt"/>
            </a:rPr>
            <a:t>The four means of authenticating user identity are based on:</a:t>
          </a:r>
        </a:p>
      </dgm:t>
    </dgm:pt>
    <dgm:pt modelId="{15376F90-9FB9-6441-9554-858E91071F1F}" type="parTrans" cxnId="{2CC17927-1A37-9B43-A607-4BA4F5CF900A}">
      <dgm:prSet/>
      <dgm:spPr/>
      <dgm:t>
        <a:bodyPr/>
        <a:lstStyle/>
        <a:p>
          <a:endParaRPr lang="en-US"/>
        </a:p>
      </dgm:t>
    </dgm:pt>
    <dgm:pt modelId="{57A63946-7EED-6443-8972-11A5E69850AC}" type="sibTrans" cxnId="{2CC17927-1A37-9B43-A607-4BA4F5CF900A}">
      <dgm:prSet/>
      <dgm:spPr/>
      <dgm:t>
        <a:bodyPr/>
        <a:lstStyle/>
        <a:p>
          <a:endParaRPr lang="en-US"/>
        </a:p>
      </dgm:t>
    </dgm:pt>
    <dgm:pt modelId="{9A425725-5BC3-9E48-8D4B-C57007FBE638}">
      <dgm:prSet/>
      <dgm:spPr>
        <a:solidFill>
          <a:schemeClr val="accent1">
            <a:lumMod val="60000"/>
            <a:lumOff val="40000"/>
          </a:schemeClr>
        </a:solidFill>
      </dgm:spPr>
      <dgm:t>
        <a:bodyPr/>
        <a:lstStyle/>
        <a:p>
          <a:pPr algn="ctr" rtl="0"/>
          <a:r>
            <a:rPr lang="en-US" b="0" dirty="0">
              <a:ln>
                <a:solidFill>
                  <a:schemeClr val="bg2">
                    <a:lumMod val="50000"/>
                  </a:schemeClr>
                </a:solidFill>
              </a:ln>
              <a:solidFill>
                <a:srgbClr val="0000FF"/>
              </a:solidFill>
              <a:latin typeface="+mj-lt"/>
            </a:rPr>
            <a:t>Something the individual knows</a:t>
          </a:r>
        </a:p>
      </dgm:t>
    </dgm:pt>
    <dgm:pt modelId="{66A970E0-3EAB-754C-AA2E-B2846BF273CE}" type="parTrans" cxnId="{5DC6B2A8-F686-5642-8173-64C8874E07C9}">
      <dgm:prSet/>
      <dgm:spPr/>
      <dgm:t>
        <a:bodyPr/>
        <a:lstStyle/>
        <a:p>
          <a:endParaRPr lang="en-US"/>
        </a:p>
      </dgm:t>
    </dgm:pt>
    <dgm:pt modelId="{2F6C71E9-4AE4-B245-8F52-0C7990E20B80}" type="sibTrans" cxnId="{5DC6B2A8-F686-5642-8173-64C8874E07C9}">
      <dgm:prSet/>
      <dgm:spPr/>
      <dgm:t>
        <a:bodyPr/>
        <a:lstStyle/>
        <a:p>
          <a:endParaRPr lang="en-US"/>
        </a:p>
      </dgm:t>
    </dgm:pt>
    <dgm:pt modelId="{DA094B08-D6EC-3A40-9D64-2185244C2134}">
      <dgm:prSet/>
      <dgm:spPr>
        <a:solidFill>
          <a:schemeClr val="accent1">
            <a:lumMod val="60000"/>
            <a:lumOff val="40000"/>
          </a:schemeClr>
        </a:solidFill>
      </dgm:spPr>
      <dgm:t>
        <a:bodyPr/>
        <a:lstStyle/>
        <a:p>
          <a:pPr algn="l" rtl="0"/>
          <a:r>
            <a:rPr lang="en-US" b="0" dirty="0">
              <a:solidFill>
                <a:srgbClr val="800000"/>
              </a:solidFill>
              <a:latin typeface="+mj-lt"/>
            </a:rPr>
            <a:t>Password, PIN, answers to prearranged questions</a:t>
          </a:r>
        </a:p>
      </dgm:t>
    </dgm:pt>
    <dgm:pt modelId="{18D841F5-114F-294C-BA24-406997EE8226}" type="parTrans" cxnId="{6C86A8AA-F03A-614A-8B2B-006CA15AA635}">
      <dgm:prSet/>
      <dgm:spPr/>
      <dgm:t>
        <a:bodyPr/>
        <a:lstStyle/>
        <a:p>
          <a:endParaRPr lang="en-US"/>
        </a:p>
      </dgm:t>
    </dgm:pt>
    <dgm:pt modelId="{1750BC11-6B46-644A-AD2C-4A05463E92F7}" type="sibTrans" cxnId="{6C86A8AA-F03A-614A-8B2B-006CA15AA635}">
      <dgm:prSet/>
      <dgm:spPr/>
      <dgm:t>
        <a:bodyPr/>
        <a:lstStyle/>
        <a:p>
          <a:endParaRPr lang="en-US"/>
        </a:p>
      </dgm:t>
    </dgm:pt>
    <dgm:pt modelId="{490135F2-5863-F54B-85A0-238664A3B643}">
      <dgm:prSet/>
      <dgm:spPr>
        <a:solidFill>
          <a:schemeClr val="accent1">
            <a:lumMod val="60000"/>
            <a:lumOff val="40000"/>
          </a:schemeClr>
        </a:solidFill>
      </dgm:spPr>
      <dgm:t>
        <a:bodyPr/>
        <a:lstStyle/>
        <a:p>
          <a:pPr algn="ctr" rtl="0"/>
          <a:r>
            <a:rPr lang="en-US" b="0" dirty="0">
              <a:ln>
                <a:solidFill>
                  <a:schemeClr val="bg2">
                    <a:lumMod val="50000"/>
                  </a:schemeClr>
                </a:solidFill>
              </a:ln>
              <a:solidFill>
                <a:srgbClr val="0000FF"/>
              </a:solidFill>
              <a:latin typeface="+mj-lt"/>
            </a:rPr>
            <a:t>Something the individual possesses (token)</a:t>
          </a:r>
        </a:p>
      </dgm:t>
    </dgm:pt>
    <dgm:pt modelId="{319E5F9E-199F-D646-A5DD-76D10B86F2A5}" type="parTrans" cxnId="{F346C330-4186-CF46-A48F-B37F8D782A3C}">
      <dgm:prSet/>
      <dgm:spPr/>
      <dgm:t>
        <a:bodyPr/>
        <a:lstStyle/>
        <a:p>
          <a:endParaRPr lang="en-US"/>
        </a:p>
      </dgm:t>
    </dgm:pt>
    <dgm:pt modelId="{129DA994-79FE-934D-A1C5-EDDC22B1AD0A}" type="sibTrans" cxnId="{F346C330-4186-CF46-A48F-B37F8D782A3C}">
      <dgm:prSet/>
      <dgm:spPr/>
      <dgm:t>
        <a:bodyPr/>
        <a:lstStyle/>
        <a:p>
          <a:endParaRPr lang="en-US"/>
        </a:p>
      </dgm:t>
    </dgm:pt>
    <dgm:pt modelId="{70BCDC5B-1DFE-D44E-B10C-19879EEB2220}">
      <dgm:prSet/>
      <dgm:spPr>
        <a:solidFill>
          <a:schemeClr val="accent1">
            <a:lumMod val="60000"/>
            <a:lumOff val="40000"/>
          </a:schemeClr>
        </a:solidFill>
      </dgm:spPr>
      <dgm:t>
        <a:bodyPr/>
        <a:lstStyle/>
        <a:p>
          <a:pPr algn="l" rtl="0"/>
          <a:r>
            <a:rPr lang="en-US" b="0" dirty="0">
              <a:solidFill>
                <a:srgbClr val="800000"/>
              </a:solidFill>
              <a:latin typeface="+mj-lt"/>
            </a:rPr>
            <a:t>Smartcard, electronic keycard, physical key</a:t>
          </a:r>
        </a:p>
      </dgm:t>
    </dgm:pt>
    <dgm:pt modelId="{995CF7EC-C73B-B54A-9F3A-94B5C720ED68}" type="parTrans" cxnId="{2ECFC01E-761A-734A-A0B1-27C40E6CF113}">
      <dgm:prSet/>
      <dgm:spPr/>
      <dgm:t>
        <a:bodyPr/>
        <a:lstStyle/>
        <a:p>
          <a:endParaRPr lang="en-US"/>
        </a:p>
      </dgm:t>
    </dgm:pt>
    <dgm:pt modelId="{A59289C0-7DA3-D54A-BB56-CD02D399341A}" type="sibTrans" cxnId="{2ECFC01E-761A-734A-A0B1-27C40E6CF113}">
      <dgm:prSet/>
      <dgm:spPr/>
      <dgm:t>
        <a:bodyPr/>
        <a:lstStyle/>
        <a:p>
          <a:endParaRPr lang="en-US"/>
        </a:p>
      </dgm:t>
    </dgm:pt>
    <dgm:pt modelId="{2494B512-93B2-CD4E-A97A-F5D3578693A5}">
      <dgm:prSet/>
      <dgm:spPr>
        <a:solidFill>
          <a:schemeClr val="accent1">
            <a:lumMod val="60000"/>
            <a:lumOff val="40000"/>
          </a:schemeClr>
        </a:solidFill>
      </dgm:spPr>
      <dgm:t>
        <a:bodyPr/>
        <a:lstStyle/>
        <a:p>
          <a:pPr algn="ctr" rtl="0"/>
          <a:r>
            <a:rPr lang="en-US" b="0" dirty="0">
              <a:ln>
                <a:solidFill>
                  <a:schemeClr val="bg2">
                    <a:lumMod val="50000"/>
                  </a:schemeClr>
                </a:solidFill>
              </a:ln>
              <a:solidFill>
                <a:srgbClr val="0000FF"/>
              </a:solidFill>
              <a:latin typeface="+mj-lt"/>
            </a:rPr>
            <a:t>Something the individual is (static biometrics)</a:t>
          </a:r>
        </a:p>
      </dgm:t>
    </dgm:pt>
    <dgm:pt modelId="{F83CB3DE-5D3F-6046-AB1F-FE5F4773E567}" type="parTrans" cxnId="{D4C05942-5341-B843-9DE9-E1451246169F}">
      <dgm:prSet/>
      <dgm:spPr/>
      <dgm:t>
        <a:bodyPr/>
        <a:lstStyle/>
        <a:p>
          <a:endParaRPr lang="en-US"/>
        </a:p>
      </dgm:t>
    </dgm:pt>
    <dgm:pt modelId="{B96E484E-7A8C-AF4B-AD2C-C80711D7E208}" type="sibTrans" cxnId="{D4C05942-5341-B843-9DE9-E1451246169F}">
      <dgm:prSet/>
      <dgm:spPr/>
      <dgm:t>
        <a:bodyPr/>
        <a:lstStyle/>
        <a:p>
          <a:endParaRPr lang="en-US"/>
        </a:p>
      </dgm:t>
    </dgm:pt>
    <dgm:pt modelId="{19D906B0-C045-4441-BB75-E10C4668B4F2}">
      <dgm:prSet/>
      <dgm:spPr>
        <a:solidFill>
          <a:schemeClr val="accent1">
            <a:lumMod val="60000"/>
            <a:lumOff val="40000"/>
          </a:schemeClr>
        </a:solidFill>
      </dgm:spPr>
      <dgm:t>
        <a:bodyPr/>
        <a:lstStyle/>
        <a:p>
          <a:pPr algn="l" rtl="0"/>
          <a:r>
            <a:rPr lang="en-US" b="0" dirty="0">
              <a:solidFill>
                <a:srgbClr val="800000"/>
              </a:solidFill>
              <a:latin typeface="+mj-lt"/>
            </a:rPr>
            <a:t>Fingerprint, retina, face</a:t>
          </a:r>
        </a:p>
      </dgm:t>
    </dgm:pt>
    <dgm:pt modelId="{7C29C5C0-9240-C245-89FF-1D864E2780E2}" type="parTrans" cxnId="{229AC9E0-E552-CB4D-9807-D28F6510C7D9}">
      <dgm:prSet/>
      <dgm:spPr/>
      <dgm:t>
        <a:bodyPr/>
        <a:lstStyle/>
        <a:p>
          <a:endParaRPr lang="en-US"/>
        </a:p>
      </dgm:t>
    </dgm:pt>
    <dgm:pt modelId="{DB0C8628-3B90-D346-8162-77FF036E8D8B}" type="sibTrans" cxnId="{229AC9E0-E552-CB4D-9807-D28F6510C7D9}">
      <dgm:prSet/>
      <dgm:spPr/>
      <dgm:t>
        <a:bodyPr/>
        <a:lstStyle/>
        <a:p>
          <a:endParaRPr lang="en-US"/>
        </a:p>
      </dgm:t>
    </dgm:pt>
    <dgm:pt modelId="{ECBE5338-F799-904D-B2C8-F97AA7811BF5}">
      <dgm:prSet/>
      <dgm:spPr>
        <a:solidFill>
          <a:schemeClr val="accent1">
            <a:lumMod val="60000"/>
            <a:lumOff val="40000"/>
          </a:schemeClr>
        </a:solidFill>
      </dgm:spPr>
      <dgm:t>
        <a:bodyPr/>
        <a:lstStyle/>
        <a:p>
          <a:pPr algn="ctr" rtl="0"/>
          <a:r>
            <a:rPr lang="en-US" b="0" dirty="0">
              <a:ln>
                <a:solidFill>
                  <a:schemeClr val="bg2">
                    <a:lumMod val="50000"/>
                  </a:schemeClr>
                </a:solidFill>
              </a:ln>
              <a:solidFill>
                <a:srgbClr val="0000FF"/>
              </a:solidFill>
              <a:latin typeface="+mj-lt"/>
            </a:rPr>
            <a:t>Something the individual does (dynamic biometrics) </a:t>
          </a:r>
        </a:p>
      </dgm:t>
    </dgm:pt>
    <dgm:pt modelId="{E5B20691-5E9C-AA43-A5E2-ED0FFC82B6F7}" type="parTrans" cxnId="{60156B1E-83EB-8F45-8D77-C070E0AEF9E2}">
      <dgm:prSet/>
      <dgm:spPr/>
      <dgm:t>
        <a:bodyPr/>
        <a:lstStyle/>
        <a:p>
          <a:endParaRPr lang="en-US"/>
        </a:p>
      </dgm:t>
    </dgm:pt>
    <dgm:pt modelId="{CAD717D8-1D22-F347-A298-725960198930}" type="sibTrans" cxnId="{60156B1E-83EB-8F45-8D77-C070E0AEF9E2}">
      <dgm:prSet/>
      <dgm:spPr/>
      <dgm:t>
        <a:bodyPr/>
        <a:lstStyle/>
        <a:p>
          <a:endParaRPr lang="en-US"/>
        </a:p>
      </dgm:t>
    </dgm:pt>
    <dgm:pt modelId="{C56929A0-38DC-C741-8731-AD113AF3DD10}">
      <dgm:prSet/>
      <dgm:spPr>
        <a:solidFill>
          <a:schemeClr val="accent1">
            <a:lumMod val="60000"/>
            <a:lumOff val="40000"/>
          </a:schemeClr>
        </a:solidFill>
      </dgm:spPr>
      <dgm:t>
        <a:bodyPr/>
        <a:lstStyle/>
        <a:p>
          <a:pPr algn="l" rtl="0"/>
          <a:r>
            <a:rPr lang="en-US" b="0" dirty="0">
              <a:solidFill>
                <a:srgbClr val="800000"/>
              </a:solidFill>
              <a:latin typeface="+mj-lt"/>
            </a:rPr>
            <a:t>Voice pattern, handwriting, typing rhythm </a:t>
          </a:r>
        </a:p>
      </dgm:t>
    </dgm:pt>
    <dgm:pt modelId="{CEFC98D1-1059-FB49-AEB4-927C7972D131}" type="parTrans" cxnId="{0BCD6708-E2D4-9D44-8D04-593614F4BA62}">
      <dgm:prSet/>
      <dgm:spPr/>
      <dgm:t>
        <a:bodyPr/>
        <a:lstStyle/>
        <a:p>
          <a:endParaRPr lang="en-US"/>
        </a:p>
      </dgm:t>
    </dgm:pt>
    <dgm:pt modelId="{63371AFB-75E8-8949-A739-2D77669A48DE}" type="sibTrans" cxnId="{0BCD6708-E2D4-9D44-8D04-593614F4BA62}">
      <dgm:prSet/>
      <dgm:spPr/>
      <dgm:t>
        <a:bodyPr/>
        <a:lstStyle/>
        <a:p>
          <a:endParaRPr lang="en-US"/>
        </a:p>
      </dgm:t>
    </dgm:pt>
    <dgm:pt modelId="{4DE75C25-8AB6-AC48-8CCE-CC14CE5AFDD6}">
      <dgm:prSet/>
      <dgm:spPr/>
      <dgm:t>
        <a:bodyPr/>
        <a:lstStyle/>
        <a:p>
          <a:endParaRPr lang="en-US" dirty="0"/>
        </a:p>
      </dgm:t>
    </dgm:pt>
    <dgm:pt modelId="{903A8029-00E0-0F45-84C0-751562C032E2}" type="parTrans" cxnId="{45FE3C7E-946A-4E41-96FC-A255609384F5}">
      <dgm:prSet/>
      <dgm:spPr/>
      <dgm:t>
        <a:bodyPr/>
        <a:lstStyle/>
        <a:p>
          <a:endParaRPr lang="en-US"/>
        </a:p>
      </dgm:t>
    </dgm:pt>
    <dgm:pt modelId="{1E4A610B-7136-FF4C-AA80-249B00558E9F}" type="sibTrans" cxnId="{45FE3C7E-946A-4E41-96FC-A255609384F5}">
      <dgm:prSet/>
      <dgm:spPr/>
      <dgm:t>
        <a:bodyPr/>
        <a:lstStyle/>
        <a:p>
          <a:endParaRPr lang="en-US"/>
        </a:p>
      </dgm:t>
    </dgm:pt>
    <dgm:pt modelId="{5BDAED95-C48D-644A-87B0-7F68122F3229}" type="pres">
      <dgm:prSet presAssocID="{293A1221-7895-9A46-8777-244D9A4FFCB5}" presName="composite" presStyleCnt="0">
        <dgm:presLayoutVars>
          <dgm:chMax val="1"/>
          <dgm:dir/>
          <dgm:resizeHandles val="exact"/>
        </dgm:presLayoutVars>
      </dgm:prSet>
      <dgm:spPr/>
    </dgm:pt>
    <dgm:pt modelId="{D2C1D77E-6AC8-8E42-B99A-293D993351D8}" type="pres">
      <dgm:prSet presAssocID="{3C8162DC-9A38-234A-BF50-29269EF60E37}" presName="roof" presStyleLbl="dkBgShp" presStyleIdx="0" presStyleCnt="2"/>
      <dgm:spPr/>
    </dgm:pt>
    <dgm:pt modelId="{7478F3E0-8E09-F64C-B855-BD7879D406BD}" type="pres">
      <dgm:prSet presAssocID="{3C8162DC-9A38-234A-BF50-29269EF60E37}" presName="pillars" presStyleCnt="0"/>
      <dgm:spPr/>
    </dgm:pt>
    <dgm:pt modelId="{198BB093-4285-EC44-88FF-71FB54257C73}" type="pres">
      <dgm:prSet presAssocID="{3C8162DC-9A38-234A-BF50-29269EF60E37}" presName="pillar1" presStyleLbl="node1" presStyleIdx="0" presStyleCnt="4">
        <dgm:presLayoutVars>
          <dgm:bulletEnabled val="1"/>
        </dgm:presLayoutVars>
      </dgm:prSet>
      <dgm:spPr/>
    </dgm:pt>
    <dgm:pt modelId="{0B6B2944-485F-D94E-91E5-D49764415E8F}" type="pres">
      <dgm:prSet presAssocID="{490135F2-5863-F54B-85A0-238664A3B643}" presName="pillarX" presStyleLbl="node1" presStyleIdx="1" presStyleCnt="4">
        <dgm:presLayoutVars>
          <dgm:bulletEnabled val="1"/>
        </dgm:presLayoutVars>
      </dgm:prSet>
      <dgm:spPr/>
    </dgm:pt>
    <dgm:pt modelId="{BCF55D28-D450-0B40-8AFF-C3F11E85BEFF}" type="pres">
      <dgm:prSet presAssocID="{2494B512-93B2-CD4E-A97A-F5D3578693A5}" presName="pillarX" presStyleLbl="node1" presStyleIdx="2" presStyleCnt="4">
        <dgm:presLayoutVars>
          <dgm:bulletEnabled val="1"/>
        </dgm:presLayoutVars>
      </dgm:prSet>
      <dgm:spPr/>
    </dgm:pt>
    <dgm:pt modelId="{83BB62CB-8350-7548-AF1C-8700E4AF25F5}" type="pres">
      <dgm:prSet presAssocID="{ECBE5338-F799-904D-B2C8-F97AA7811BF5}" presName="pillarX" presStyleLbl="node1" presStyleIdx="3" presStyleCnt="4">
        <dgm:presLayoutVars>
          <dgm:bulletEnabled val="1"/>
        </dgm:presLayoutVars>
      </dgm:prSet>
      <dgm:spPr/>
    </dgm:pt>
    <dgm:pt modelId="{216527E0-2AA5-794B-AC2B-3E3DC5EF240C}" type="pres">
      <dgm:prSet presAssocID="{3C8162DC-9A38-234A-BF50-29269EF60E37}" presName="base" presStyleLbl="dkBgShp" presStyleIdx="1" presStyleCnt="2"/>
      <dgm:spPr/>
    </dgm:pt>
  </dgm:ptLst>
  <dgm:cxnLst>
    <dgm:cxn modelId="{4D333204-B25D-EA4A-B29E-8A50D363F853}" type="presOf" srcId="{C56929A0-38DC-C741-8731-AD113AF3DD10}" destId="{83BB62CB-8350-7548-AF1C-8700E4AF25F5}" srcOrd="0" destOrd="1" presId="urn:microsoft.com/office/officeart/2005/8/layout/hList3"/>
    <dgm:cxn modelId="{55387907-C94F-9C45-A32C-5AE215E99F96}" type="presOf" srcId="{3C8162DC-9A38-234A-BF50-29269EF60E37}" destId="{D2C1D77E-6AC8-8E42-B99A-293D993351D8}" srcOrd="0" destOrd="0" presId="urn:microsoft.com/office/officeart/2005/8/layout/hList3"/>
    <dgm:cxn modelId="{0BCD6708-E2D4-9D44-8D04-593614F4BA62}" srcId="{ECBE5338-F799-904D-B2C8-F97AA7811BF5}" destId="{C56929A0-38DC-C741-8731-AD113AF3DD10}" srcOrd="0" destOrd="0" parTransId="{CEFC98D1-1059-FB49-AEB4-927C7972D131}" sibTransId="{63371AFB-75E8-8949-A739-2D77669A48DE}"/>
    <dgm:cxn modelId="{3434451E-3847-C342-948D-5170E6038810}" type="presOf" srcId="{293A1221-7895-9A46-8777-244D9A4FFCB5}" destId="{5BDAED95-C48D-644A-87B0-7F68122F3229}" srcOrd="0" destOrd="0" presId="urn:microsoft.com/office/officeart/2005/8/layout/hList3"/>
    <dgm:cxn modelId="{60156B1E-83EB-8F45-8D77-C070E0AEF9E2}" srcId="{3C8162DC-9A38-234A-BF50-29269EF60E37}" destId="{ECBE5338-F799-904D-B2C8-F97AA7811BF5}" srcOrd="3" destOrd="0" parTransId="{E5B20691-5E9C-AA43-A5E2-ED0FFC82B6F7}" sibTransId="{CAD717D8-1D22-F347-A298-725960198930}"/>
    <dgm:cxn modelId="{2ECFC01E-761A-734A-A0B1-27C40E6CF113}" srcId="{490135F2-5863-F54B-85A0-238664A3B643}" destId="{70BCDC5B-1DFE-D44E-B10C-19879EEB2220}" srcOrd="0" destOrd="0" parTransId="{995CF7EC-C73B-B54A-9F3A-94B5C720ED68}" sibTransId="{A59289C0-7DA3-D54A-BB56-CD02D399341A}"/>
    <dgm:cxn modelId="{BCCBF41E-F2B7-9A40-BDAA-C6A3E40DFB7F}" type="presOf" srcId="{19D906B0-C045-4441-BB75-E10C4668B4F2}" destId="{BCF55D28-D450-0B40-8AFF-C3F11E85BEFF}" srcOrd="0" destOrd="1" presId="urn:microsoft.com/office/officeart/2005/8/layout/hList3"/>
    <dgm:cxn modelId="{E99AE321-8152-9B43-B0C1-9DED6815B668}" type="presOf" srcId="{70BCDC5B-1DFE-D44E-B10C-19879EEB2220}" destId="{0B6B2944-485F-D94E-91E5-D49764415E8F}" srcOrd="0" destOrd="1" presId="urn:microsoft.com/office/officeart/2005/8/layout/hList3"/>
    <dgm:cxn modelId="{2CC17927-1A37-9B43-A607-4BA4F5CF900A}" srcId="{293A1221-7895-9A46-8777-244D9A4FFCB5}" destId="{3C8162DC-9A38-234A-BF50-29269EF60E37}" srcOrd="0" destOrd="0" parTransId="{15376F90-9FB9-6441-9554-858E91071F1F}" sibTransId="{57A63946-7EED-6443-8972-11A5E69850AC}"/>
    <dgm:cxn modelId="{F346C330-4186-CF46-A48F-B37F8D782A3C}" srcId="{3C8162DC-9A38-234A-BF50-29269EF60E37}" destId="{490135F2-5863-F54B-85A0-238664A3B643}" srcOrd="1" destOrd="0" parTransId="{319E5F9E-199F-D646-A5DD-76D10B86F2A5}" sibTransId="{129DA994-79FE-934D-A1C5-EDDC22B1AD0A}"/>
    <dgm:cxn modelId="{AF4DA540-982C-C242-A754-77E763105A94}" type="presOf" srcId="{490135F2-5863-F54B-85A0-238664A3B643}" destId="{0B6B2944-485F-D94E-91E5-D49764415E8F}" srcOrd="0" destOrd="0" presId="urn:microsoft.com/office/officeart/2005/8/layout/hList3"/>
    <dgm:cxn modelId="{D4C05942-5341-B843-9DE9-E1451246169F}" srcId="{3C8162DC-9A38-234A-BF50-29269EF60E37}" destId="{2494B512-93B2-CD4E-A97A-F5D3578693A5}" srcOrd="2" destOrd="0" parTransId="{F83CB3DE-5D3F-6046-AB1F-FE5F4773E567}" sibTransId="{B96E484E-7A8C-AF4B-AD2C-C80711D7E208}"/>
    <dgm:cxn modelId="{9200AE44-AA47-1943-9FF7-369FF37D3DCB}" type="presOf" srcId="{DA094B08-D6EC-3A40-9D64-2185244C2134}" destId="{198BB093-4285-EC44-88FF-71FB54257C73}" srcOrd="0" destOrd="1" presId="urn:microsoft.com/office/officeart/2005/8/layout/hList3"/>
    <dgm:cxn modelId="{45FE3C7E-946A-4E41-96FC-A255609384F5}" srcId="{293A1221-7895-9A46-8777-244D9A4FFCB5}" destId="{4DE75C25-8AB6-AC48-8CCE-CC14CE5AFDD6}" srcOrd="1" destOrd="0" parTransId="{903A8029-00E0-0F45-84C0-751562C032E2}" sibTransId="{1E4A610B-7136-FF4C-AA80-249B00558E9F}"/>
    <dgm:cxn modelId="{3EE8F793-C6F2-F944-BCF7-5BC9B26E609D}" type="presOf" srcId="{ECBE5338-F799-904D-B2C8-F97AA7811BF5}" destId="{83BB62CB-8350-7548-AF1C-8700E4AF25F5}" srcOrd="0" destOrd="0" presId="urn:microsoft.com/office/officeart/2005/8/layout/hList3"/>
    <dgm:cxn modelId="{5DC6B2A8-F686-5642-8173-64C8874E07C9}" srcId="{3C8162DC-9A38-234A-BF50-29269EF60E37}" destId="{9A425725-5BC3-9E48-8D4B-C57007FBE638}" srcOrd="0" destOrd="0" parTransId="{66A970E0-3EAB-754C-AA2E-B2846BF273CE}" sibTransId="{2F6C71E9-4AE4-B245-8F52-0C7990E20B80}"/>
    <dgm:cxn modelId="{6C86A8AA-F03A-614A-8B2B-006CA15AA635}" srcId="{9A425725-5BC3-9E48-8D4B-C57007FBE638}" destId="{DA094B08-D6EC-3A40-9D64-2185244C2134}" srcOrd="0" destOrd="0" parTransId="{18D841F5-114F-294C-BA24-406997EE8226}" sibTransId="{1750BC11-6B46-644A-AD2C-4A05463E92F7}"/>
    <dgm:cxn modelId="{229AC9E0-E552-CB4D-9807-D28F6510C7D9}" srcId="{2494B512-93B2-CD4E-A97A-F5D3578693A5}" destId="{19D906B0-C045-4441-BB75-E10C4668B4F2}" srcOrd="0" destOrd="0" parTransId="{7C29C5C0-9240-C245-89FF-1D864E2780E2}" sibTransId="{DB0C8628-3B90-D346-8162-77FF036E8D8B}"/>
    <dgm:cxn modelId="{12B400F4-AFD8-474B-8C4B-7A3DC822B164}" type="presOf" srcId="{2494B512-93B2-CD4E-A97A-F5D3578693A5}" destId="{BCF55D28-D450-0B40-8AFF-C3F11E85BEFF}" srcOrd="0" destOrd="0" presId="urn:microsoft.com/office/officeart/2005/8/layout/hList3"/>
    <dgm:cxn modelId="{0568D2FC-A046-7E40-8FF6-30C6C2E7994B}" type="presOf" srcId="{9A425725-5BC3-9E48-8D4B-C57007FBE638}" destId="{198BB093-4285-EC44-88FF-71FB54257C73}" srcOrd="0" destOrd="0" presId="urn:microsoft.com/office/officeart/2005/8/layout/hList3"/>
    <dgm:cxn modelId="{A622117E-22EE-594E-9B25-360ACE63EBB6}" type="presParOf" srcId="{5BDAED95-C48D-644A-87B0-7F68122F3229}" destId="{D2C1D77E-6AC8-8E42-B99A-293D993351D8}" srcOrd="0" destOrd="0" presId="urn:microsoft.com/office/officeart/2005/8/layout/hList3"/>
    <dgm:cxn modelId="{FBBF7710-5E4C-8243-8B75-2883F6361741}" type="presParOf" srcId="{5BDAED95-C48D-644A-87B0-7F68122F3229}" destId="{7478F3E0-8E09-F64C-B855-BD7879D406BD}" srcOrd="1" destOrd="0" presId="urn:microsoft.com/office/officeart/2005/8/layout/hList3"/>
    <dgm:cxn modelId="{6DD8A3BF-0B0A-6A42-951B-F4361AC10129}" type="presParOf" srcId="{7478F3E0-8E09-F64C-B855-BD7879D406BD}" destId="{198BB093-4285-EC44-88FF-71FB54257C73}" srcOrd="0" destOrd="0" presId="urn:microsoft.com/office/officeart/2005/8/layout/hList3"/>
    <dgm:cxn modelId="{2C40E6CB-FEF5-3C49-BC00-D6CC97DE6C32}" type="presParOf" srcId="{7478F3E0-8E09-F64C-B855-BD7879D406BD}" destId="{0B6B2944-485F-D94E-91E5-D49764415E8F}" srcOrd="1" destOrd="0" presId="urn:microsoft.com/office/officeart/2005/8/layout/hList3"/>
    <dgm:cxn modelId="{8314629A-7A70-ED40-8A3F-349D4EB66ED5}" type="presParOf" srcId="{7478F3E0-8E09-F64C-B855-BD7879D406BD}" destId="{BCF55D28-D450-0B40-8AFF-C3F11E85BEFF}" srcOrd="2" destOrd="0" presId="urn:microsoft.com/office/officeart/2005/8/layout/hList3"/>
    <dgm:cxn modelId="{638CF924-E6C7-9F47-AFBC-35489F90B55A}" type="presParOf" srcId="{7478F3E0-8E09-F64C-B855-BD7879D406BD}" destId="{83BB62CB-8350-7548-AF1C-8700E4AF25F5}" srcOrd="3" destOrd="0" presId="urn:microsoft.com/office/officeart/2005/8/layout/hList3"/>
    <dgm:cxn modelId="{0F3E7904-91A8-0546-A8B7-DC7C526B7AE6}" type="presParOf" srcId="{5BDAED95-C48D-644A-87B0-7F68122F3229}" destId="{216527E0-2AA5-794B-AC2B-3E3DC5EF240C}"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69473D-5311-9F43-858A-DA4F11AAF30A}">
      <dsp:nvSpPr>
        <dsp:cNvPr id="0" name=""/>
        <dsp:cNvSpPr/>
      </dsp:nvSpPr>
      <dsp:spPr>
        <a:xfrm>
          <a:off x="1785" y="158274"/>
          <a:ext cx="3238427" cy="116619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rtl="0">
            <a:lnSpc>
              <a:spcPct val="90000"/>
            </a:lnSpc>
            <a:spcBef>
              <a:spcPct val="0"/>
            </a:spcBef>
            <a:spcAft>
              <a:spcPct val="35000"/>
            </a:spcAft>
            <a:buNone/>
          </a:pPr>
          <a:r>
            <a:rPr lang="en-US" sz="2300" b="1" kern="1200" dirty="0">
              <a:solidFill>
                <a:schemeClr val="bg1"/>
              </a:solidFill>
              <a:latin typeface="+mj-lt"/>
            </a:rPr>
            <a:t>Confidentiality</a:t>
          </a:r>
          <a:endParaRPr lang="en-US" sz="2300" kern="1200" dirty="0">
            <a:solidFill>
              <a:schemeClr val="bg1"/>
            </a:solidFill>
            <a:latin typeface="+mj-lt"/>
          </a:endParaRPr>
        </a:p>
      </dsp:txBody>
      <dsp:txXfrm>
        <a:off x="584881" y="158274"/>
        <a:ext cx="2072235" cy="1166192"/>
      </dsp:txXfrm>
    </dsp:sp>
    <dsp:sp modelId="{C5173CA9-CAEE-B642-8B8F-CD4B816E3BFB}">
      <dsp:nvSpPr>
        <dsp:cNvPr id="0" name=""/>
        <dsp:cNvSpPr/>
      </dsp:nvSpPr>
      <dsp:spPr>
        <a:xfrm>
          <a:off x="289255" y="1334971"/>
          <a:ext cx="2332384" cy="3705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77900" rtl="0">
            <a:lnSpc>
              <a:spcPct val="90000"/>
            </a:lnSpc>
            <a:spcBef>
              <a:spcPct val="0"/>
            </a:spcBef>
            <a:spcAft>
              <a:spcPct val="15000"/>
            </a:spcAft>
            <a:buChar char="•"/>
          </a:pPr>
          <a:r>
            <a:rPr lang="en-US" sz="2200" b="1" kern="1200" dirty="0">
              <a:latin typeface="+mj-lt"/>
            </a:rPr>
            <a:t>Preserving authorized restrictions on information access and disclosure, including means for protecting personal privacy and proprietary information</a:t>
          </a:r>
          <a:endParaRPr lang="en-US" sz="2200" kern="1200" dirty="0">
            <a:latin typeface="+mj-lt"/>
          </a:endParaRPr>
        </a:p>
      </dsp:txBody>
      <dsp:txXfrm>
        <a:off x="289255" y="1334971"/>
        <a:ext cx="2332384" cy="3705588"/>
      </dsp:txXfrm>
    </dsp:sp>
    <dsp:sp modelId="{EC783FE8-0006-004E-9EC5-CCA2F7583147}">
      <dsp:nvSpPr>
        <dsp:cNvPr id="0" name=""/>
        <dsp:cNvSpPr/>
      </dsp:nvSpPr>
      <dsp:spPr>
        <a:xfrm>
          <a:off x="3152786" y="196897"/>
          <a:ext cx="2915480" cy="116619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bg1"/>
              </a:solidFill>
              <a:latin typeface="+mj-lt"/>
            </a:rPr>
            <a:t>Integrity</a:t>
          </a:r>
          <a:endParaRPr lang="en-US" sz="2400" kern="1200" dirty="0">
            <a:solidFill>
              <a:schemeClr val="bg1"/>
            </a:solidFill>
            <a:latin typeface="+mj-lt"/>
          </a:endParaRPr>
        </a:p>
      </dsp:txBody>
      <dsp:txXfrm>
        <a:off x="3735882" y="196897"/>
        <a:ext cx="1749288" cy="1166192"/>
      </dsp:txXfrm>
    </dsp:sp>
    <dsp:sp modelId="{92F85E19-9F62-2146-BBFE-59F35C65EE0E}">
      <dsp:nvSpPr>
        <dsp:cNvPr id="0" name=""/>
        <dsp:cNvSpPr/>
      </dsp:nvSpPr>
      <dsp:spPr>
        <a:xfrm>
          <a:off x="3148833" y="1475682"/>
          <a:ext cx="2332384" cy="355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77900" rtl="0">
            <a:lnSpc>
              <a:spcPct val="90000"/>
            </a:lnSpc>
            <a:spcBef>
              <a:spcPct val="0"/>
            </a:spcBef>
            <a:spcAft>
              <a:spcPct val="15000"/>
            </a:spcAft>
            <a:buChar char="•"/>
          </a:pPr>
          <a:r>
            <a:rPr lang="en-US" sz="2200" b="1" kern="1200" dirty="0">
              <a:latin typeface="+mj-lt"/>
            </a:rPr>
            <a:t>Guarding against improper information modification or destruction, including ensuring information nonrepudiation and authenticity</a:t>
          </a:r>
        </a:p>
      </dsp:txBody>
      <dsp:txXfrm>
        <a:off x="3148833" y="1475682"/>
        <a:ext cx="2332384" cy="3551098"/>
      </dsp:txXfrm>
    </dsp:sp>
    <dsp:sp modelId="{FAB70A0B-6355-A049-80C7-D281E9662899}">
      <dsp:nvSpPr>
        <dsp:cNvPr id="0" name=""/>
        <dsp:cNvSpPr/>
      </dsp:nvSpPr>
      <dsp:spPr>
        <a:xfrm>
          <a:off x="5723693" y="196897"/>
          <a:ext cx="2915480" cy="1166192"/>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6012" tIns="32004" rIns="32004" bIns="32004"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bg1"/>
              </a:solidFill>
              <a:latin typeface="+mj-lt"/>
            </a:rPr>
            <a:t>Availability</a:t>
          </a:r>
          <a:endParaRPr lang="en-US" sz="2400" kern="1200" dirty="0">
            <a:solidFill>
              <a:schemeClr val="bg1"/>
            </a:solidFill>
            <a:latin typeface="+mj-lt"/>
          </a:endParaRPr>
        </a:p>
      </dsp:txBody>
      <dsp:txXfrm>
        <a:off x="6306789" y="196897"/>
        <a:ext cx="1749288" cy="1166192"/>
      </dsp:txXfrm>
    </dsp:sp>
    <dsp:sp modelId="{2A12BD47-4BDB-3343-9554-B0171B10A11F}">
      <dsp:nvSpPr>
        <dsp:cNvPr id="0" name=""/>
        <dsp:cNvSpPr/>
      </dsp:nvSpPr>
      <dsp:spPr>
        <a:xfrm>
          <a:off x="5935171" y="1489461"/>
          <a:ext cx="2332384" cy="355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77900" rtl="0">
            <a:lnSpc>
              <a:spcPct val="90000"/>
            </a:lnSpc>
            <a:spcBef>
              <a:spcPct val="0"/>
            </a:spcBef>
            <a:spcAft>
              <a:spcPct val="15000"/>
            </a:spcAft>
            <a:buChar char="•"/>
          </a:pPr>
          <a:r>
            <a:rPr lang="en-US" sz="2200" b="1" kern="1200" dirty="0">
              <a:latin typeface="+mj-lt"/>
            </a:rPr>
            <a:t>Ensuring timely and reliable access to and use of information</a:t>
          </a:r>
        </a:p>
      </dsp:txBody>
      <dsp:txXfrm>
        <a:off x="5935171" y="1489461"/>
        <a:ext cx="2332384" cy="35510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C1D77E-6AC8-8E42-B99A-293D993351D8}">
      <dsp:nvSpPr>
        <dsp:cNvPr id="0" name=""/>
        <dsp:cNvSpPr/>
      </dsp:nvSpPr>
      <dsp:spPr>
        <a:xfrm>
          <a:off x="0" y="0"/>
          <a:ext cx="8229600" cy="1440180"/>
        </a:xfrm>
        <a:prstGeom prst="rect">
          <a:avLst/>
        </a:prstGeom>
        <a:solidFill>
          <a:schemeClr val="accent1">
            <a:lumMod val="60000"/>
            <a:lumOff val="4000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137160" tIns="137160" rIns="137160" bIns="137160" numCol="1" spcCol="1270" anchor="ctr" anchorCtr="0">
          <a:noAutofit/>
        </a:bodyPr>
        <a:lstStyle/>
        <a:p>
          <a:pPr marL="0" lvl="0" indent="0" algn="ctr" defTabSz="1600200" rtl="0">
            <a:lnSpc>
              <a:spcPct val="90000"/>
            </a:lnSpc>
            <a:spcBef>
              <a:spcPct val="0"/>
            </a:spcBef>
            <a:spcAft>
              <a:spcPct val="35000"/>
            </a:spcAft>
            <a:buNone/>
          </a:pPr>
          <a:r>
            <a:rPr lang="en-US" sz="3600" b="0" kern="1200" dirty="0">
              <a:solidFill>
                <a:srgbClr val="800000"/>
              </a:solidFill>
              <a:effectLst>
                <a:outerShdw blurRad="38100" dist="38100" dir="2700000" algn="tl">
                  <a:srgbClr val="000000">
                    <a:alpha val="43137"/>
                  </a:srgbClr>
                </a:outerShdw>
              </a:effectLst>
              <a:latin typeface="+mj-lt"/>
            </a:rPr>
            <a:t>The four means of authenticating user identity are based on:</a:t>
          </a:r>
        </a:p>
      </dsp:txBody>
      <dsp:txXfrm>
        <a:off x="0" y="0"/>
        <a:ext cx="8229600" cy="1440180"/>
      </dsp:txXfrm>
    </dsp:sp>
    <dsp:sp modelId="{198BB093-4285-EC44-88FF-71FB54257C73}">
      <dsp:nvSpPr>
        <dsp:cNvPr id="0" name=""/>
        <dsp:cNvSpPr/>
      </dsp:nvSpPr>
      <dsp:spPr>
        <a:xfrm>
          <a:off x="0" y="1440180"/>
          <a:ext cx="2057399" cy="3024378"/>
        </a:xfrm>
        <a:prstGeom prst="rect">
          <a:avLst/>
        </a:prstGeom>
        <a:solidFill>
          <a:schemeClr val="accent1">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t" anchorCtr="0">
          <a:noAutofit/>
        </a:bodyPr>
        <a:lstStyle/>
        <a:p>
          <a:pPr marL="0" lvl="0" indent="0" algn="ctr" defTabSz="1155700" rtl="0">
            <a:lnSpc>
              <a:spcPct val="90000"/>
            </a:lnSpc>
            <a:spcBef>
              <a:spcPct val="0"/>
            </a:spcBef>
            <a:spcAft>
              <a:spcPct val="35000"/>
            </a:spcAft>
            <a:buNone/>
          </a:pPr>
          <a:r>
            <a:rPr lang="en-US" sz="2600" b="0" kern="1200" dirty="0">
              <a:ln>
                <a:solidFill>
                  <a:schemeClr val="bg2">
                    <a:lumMod val="50000"/>
                  </a:schemeClr>
                </a:solidFill>
              </a:ln>
              <a:solidFill>
                <a:srgbClr val="0000FF"/>
              </a:solidFill>
              <a:latin typeface="+mj-lt"/>
            </a:rPr>
            <a:t>Something the individual knows</a:t>
          </a:r>
        </a:p>
        <a:p>
          <a:pPr marL="228600" lvl="1" indent="-228600" algn="l" defTabSz="889000" rtl="0">
            <a:lnSpc>
              <a:spcPct val="90000"/>
            </a:lnSpc>
            <a:spcBef>
              <a:spcPct val="0"/>
            </a:spcBef>
            <a:spcAft>
              <a:spcPct val="15000"/>
            </a:spcAft>
            <a:buChar char="•"/>
          </a:pPr>
          <a:r>
            <a:rPr lang="en-US" sz="2000" b="0" kern="1200" dirty="0">
              <a:solidFill>
                <a:srgbClr val="800000"/>
              </a:solidFill>
              <a:latin typeface="+mj-lt"/>
            </a:rPr>
            <a:t>Password, PIN, answers to prearranged questions</a:t>
          </a:r>
        </a:p>
      </dsp:txBody>
      <dsp:txXfrm>
        <a:off x="0" y="1440180"/>
        <a:ext cx="2057399" cy="3024378"/>
      </dsp:txXfrm>
    </dsp:sp>
    <dsp:sp modelId="{0B6B2944-485F-D94E-91E5-D49764415E8F}">
      <dsp:nvSpPr>
        <dsp:cNvPr id="0" name=""/>
        <dsp:cNvSpPr/>
      </dsp:nvSpPr>
      <dsp:spPr>
        <a:xfrm>
          <a:off x="2057400" y="1440180"/>
          <a:ext cx="2057399" cy="3024378"/>
        </a:xfrm>
        <a:prstGeom prst="rect">
          <a:avLst/>
        </a:prstGeom>
        <a:solidFill>
          <a:schemeClr val="accent1">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t" anchorCtr="0">
          <a:noAutofit/>
        </a:bodyPr>
        <a:lstStyle/>
        <a:p>
          <a:pPr marL="0" lvl="0" indent="0" algn="ctr" defTabSz="1155700" rtl="0">
            <a:lnSpc>
              <a:spcPct val="90000"/>
            </a:lnSpc>
            <a:spcBef>
              <a:spcPct val="0"/>
            </a:spcBef>
            <a:spcAft>
              <a:spcPct val="35000"/>
            </a:spcAft>
            <a:buNone/>
          </a:pPr>
          <a:r>
            <a:rPr lang="en-US" sz="2600" b="0" kern="1200" dirty="0">
              <a:ln>
                <a:solidFill>
                  <a:schemeClr val="bg2">
                    <a:lumMod val="50000"/>
                  </a:schemeClr>
                </a:solidFill>
              </a:ln>
              <a:solidFill>
                <a:srgbClr val="0000FF"/>
              </a:solidFill>
              <a:latin typeface="+mj-lt"/>
            </a:rPr>
            <a:t>Something the individual possesses (token)</a:t>
          </a:r>
        </a:p>
        <a:p>
          <a:pPr marL="228600" lvl="1" indent="-228600" algn="l" defTabSz="889000" rtl="0">
            <a:lnSpc>
              <a:spcPct val="90000"/>
            </a:lnSpc>
            <a:spcBef>
              <a:spcPct val="0"/>
            </a:spcBef>
            <a:spcAft>
              <a:spcPct val="15000"/>
            </a:spcAft>
            <a:buChar char="•"/>
          </a:pPr>
          <a:r>
            <a:rPr lang="en-US" sz="2000" b="0" kern="1200" dirty="0">
              <a:solidFill>
                <a:srgbClr val="800000"/>
              </a:solidFill>
              <a:latin typeface="+mj-lt"/>
            </a:rPr>
            <a:t>Smartcard, electronic keycard, physical key</a:t>
          </a:r>
        </a:p>
      </dsp:txBody>
      <dsp:txXfrm>
        <a:off x="2057400" y="1440180"/>
        <a:ext cx="2057399" cy="3024378"/>
      </dsp:txXfrm>
    </dsp:sp>
    <dsp:sp modelId="{BCF55D28-D450-0B40-8AFF-C3F11E85BEFF}">
      <dsp:nvSpPr>
        <dsp:cNvPr id="0" name=""/>
        <dsp:cNvSpPr/>
      </dsp:nvSpPr>
      <dsp:spPr>
        <a:xfrm>
          <a:off x="4114800" y="1440180"/>
          <a:ext cx="2057399" cy="3024378"/>
        </a:xfrm>
        <a:prstGeom prst="rect">
          <a:avLst/>
        </a:prstGeom>
        <a:solidFill>
          <a:schemeClr val="accent1">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t" anchorCtr="0">
          <a:noAutofit/>
        </a:bodyPr>
        <a:lstStyle/>
        <a:p>
          <a:pPr marL="0" lvl="0" indent="0" algn="ctr" defTabSz="1155700" rtl="0">
            <a:lnSpc>
              <a:spcPct val="90000"/>
            </a:lnSpc>
            <a:spcBef>
              <a:spcPct val="0"/>
            </a:spcBef>
            <a:spcAft>
              <a:spcPct val="35000"/>
            </a:spcAft>
            <a:buNone/>
          </a:pPr>
          <a:r>
            <a:rPr lang="en-US" sz="2600" b="0" kern="1200" dirty="0">
              <a:ln>
                <a:solidFill>
                  <a:schemeClr val="bg2">
                    <a:lumMod val="50000"/>
                  </a:schemeClr>
                </a:solidFill>
              </a:ln>
              <a:solidFill>
                <a:srgbClr val="0000FF"/>
              </a:solidFill>
              <a:latin typeface="+mj-lt"/>
            </a:rPr>
            <a:t>Something the individual is (static biometrics)</a:t>
          </a:r>
        </a:p>
        <a:p>
          <a:pPr marL="228600" lvl="1" indent="-228600" algn="l" defTabSz="889000" rtl="0">
            <a:lnSpc>
              <a:spcPct val="90000"/>
            </a:lnSpc>
            <a:spcBef>
              <a:spcPct val="0"/>
            </a:spcBef>
            <a:spcAft>
              <a:spcPct val="15000"/>
            </a:spcAft>
            <a:buChar char="•"/>
          </a:pPr>
          <a:r>
            <a:rPr lang="en-US" sz="2000" b="0" kern="1200" dirty="0">
              <a:solidFill>
                <a:srgbClr val="800000"/>
              </a:solidFill>
              <a:latin typeface="+mj-lt"/>
            </a:rPr>
            <a:t>Fingerprint, retina, face</a:t>
          </a:r>
        </a:p>
      </dsp:txBody>
      <dsp:txXfrm>
        <a:off x="4114800" y="1440180"/>
        <a:ext cx="2057399" cy="3024378"/>
      </dsp:txXfrm>
    </dsp:sp>
    <dsp:sp modelId="{83BB62CB-8350-7548-AF1C-8700E4AF25F5}">
      <dsp:nvSpPr>
        <dsp:cNvPr id="0" name=""/>
        <dsp:cNvSpPr/>
      </dsp:nvSpPr>
      <dsp:spPr>
        <a:xfrm>
          <a:off x="6172199" y="1440180"/>
          <a:ext cx="2057399" cy="3024378"/>
        </a:xfrm>
        <a:prstGeom prst="rect">
          <a:avLst/>
        </a:prstGeom>
        <a:solidFill>
          <a:schemeClr val="accent1">
            <a:lumMod val="60000"/>
            <a:lumOff val="4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t" anchorCtr="0">
          <a:noAutofit/>
        </a:bodyPr>
        <a:lstStyle/>
        <a:p>
          <a:pPr marL="0" lvl="0" indent="0" algn="ctr" defTabSz="1155700" rtl="0">
            <a:lnSpc>
              <a:spcPct val="90000"/>
            </a:lnSpc>
            <a:spcBef>
              <a:spcPct val="0"/>
            </a:spcBef>
            <a:spcAft>
              <a:spcPct val="35000"/>
            </a:spcAft>
            <a:buNone/>
          </a:pPr>
          <a:r>
            <a:rPr lang="en-US" sz="2600" b="0" kern="1200" dirty="0">
              <a:ln>
                <a:solidFill>
                  <a:schemeClr val="bg2">
                    <a:lumMod val="50000"/>
                  </a:schemeClr>
                </a:solidFill>
              </a:ln>
              <a:solidFill>
                <a:srgbClr val="0000FF"/>
              </a:solidFill>
              <a:latin typeface="+mj-lt"/>
            </a:rPr>
            <a:t>Something the individual does (dynamic biometrics) </a:t>
          </a:r>
        </a:p>
        <a:p>
          <a:pPr marL="228600" lvl="1" indent="-228600" algn="l" defTabSz="889000" rtl="0">
            <a:lnSpc>
              <a:spcPct val="90000"/>
            </a:lnSpc>
            <a:spcBef>
              <a:spcPct val="0"/>
            </a:spcBef>
            <a:spcAft>
              <a:spcPct val="15000"/>
            </a:spcAft>
            <a:buChar char="•"/>
          </a:pPr>
          <a:r>
            <a:rPr lang="en-US" sz="2000" b="0" kern="1200" dirty="0">
              <a:solidFill>
                <a:srgbClr val="800000"/>
              </a:solidFill>
              <a:latin typeface="+mj-lt"/>
            </a:rPr>
            <a:t>Voice pattern, handwriting, typing rhythm </a:t>
          </a:r>
        </a:p>
      </dsp:txBody>
      <dsp:txXfrm>
        <a:off x="6172199" y="1440180"/>
        <a:ext cx="2057399" cy="3024378"/>
      </dsp:txXfrm>
    </dsp:sp>
    <dsp:sp modelId="{216527E0-2AA5-794B-AC2B-3E3DC5EF240C}">
      <dsp:nvSpPr>
        <dsp:cNvPr id="0" name=""/>
        <dsp:cNvSpPr/>
      </dsp:nvSpPr>
      <dsp:spPr>
        <a:xfrm>
          <a:off x="0" y="4464558"/>
          <a:ext cx="8229600" cy="336042"/>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6B4083-359D-4939-8A09-D1D438427546}" type="datetimeFigureOut">
              <a:rPr lang="en-GB" smtClean="0"/>
              <a:t>04/11/2023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2F4E4-95D2-4CC3-9DA8-6A880E45ED75}" type="slidenum">
              <a:rPr lang="en-GB" smtClean="0"/>
              <a:t>‹#›</a:t>
            </a:fld>
            <a:endParaRPr lang="en-GB"/>
          </a:p>
        </p:txBody>
      </p:sp>
    </p:spTree>
    <p:extLst>
      <p:ext uri="{BB962C8B-B14F-4D97-AF65-F5344CB8AC3E}">
        <p14:creationId xmlns:p14="http://schemas.microsoft.com/office/powerpoint/2010/main" val="892772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cisco.com/c/en/us/td/docs/ios-xml/ios/cdp/configuration/15-mt/cdp-15-mt-book/nm-cdp-discover.html"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D4C4C"/>
                </a:solidFill>
                <a:effectLst/>
                <a:latin typeface="CiscoSans"/>
              </a:rPr>
              <a:t>Network monitoring systems can provide reports on how network components have performed over a defined period. By analyzing these reports, network administrators can anticipate when the organization may need to consider upgrading or implementing new IT infrastructure.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4D4C4C"/>
              </a:solidFill>
              <a:effectLst/>
              <a:latin typeface="Cisco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D4C4C"/>
                </a:solidFill>
                <a:effectLst/>
                <a:latin typeface="CiscoSans"/>
              </a:rPr>
              <a:t>Network monitoring helps organizations understand what "normal" performance looks like for their networks. So, when unusual activity occurs, such as an unexplained increase in network traffic levels, it's easier for administrators to identify the issue quickly--and to determine whether it may be a security threat.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4D4C4C"/>
              </a:solidFill>
              <a:effectLst/>
              <a:latin typeface="CiscoSans"/>
            </a:endParaRPr>
          </a:p>
          <a:p>
            <a:pPr fontAlgn="base">
              <a:lnSpc>
                <a:spcPct val="107000"/>
              </a:lnSpc>
              <a:spcAft>
                <a:spcPts val="800"/>
              </a:spcAft>
            </a:pPr>
            <a:r>
              <a:rPr lang="en-GB" sz="1400" kern="0" dirty="0">
                <a:solidFill>
                  <a:srgbClr val="4D4C4C"/>
                </a:solidFill>
                <a:effectLst/>
                <a:latin typeface="inherit"/>
                <a:ea typeface="Times New Roman" panose="02020603050405020304" pitchFamily="18" charset="0"/>
                <a:cs typeface="Arial" panose="020B0604020202020204" pitchFamily="34" charset="0"/>
              </a:rPr>
              <a:t>SNMP: </a:t>
            </a:r>
            <a:r>
              <a:rPr lang="en-GB" sz="1200" kern="0" dirty="0">
                <a:solidFill>
                  <a:srgbClr val="4D4C4C"/>
                </a:solidFill>
                <a:effectLst/>
                <a:latin typeface="inherit"/>
                <a:ea typeface="Times New Roman" panose="02020603050405020304" pitchFamily="18" charset="0"/>
                <a:cs typeface="Arial" panose="020B0604020202020204" pitchFamily="34" charset="0"/>
              </a:rPr>
              <a:t>The Simple Network Management Protocol is an application-layer protocol that uses a call-and-response system to check statuses of many types of devices, from switches to printers. SNMP can be used to monitor system status and configuration.</a:t>
            </a:r>
            <a:endParaRPr lang="en-GB" sz="1100" kern="100" dirty="0">
              <a:effectLst/>
              <a:latin typeface="Calibri" panose="020F0502020204030204" pitchFamily="34" charset="0"/>
              <a:ea typeface="Calibri" panose="020F0502020204030204" pitchFamily="34" charset="0"/>
              <a:cs typeface="Arial" panose="020B0604020202020204" pitchFamily="34" charset="0"/>
            </a:endParaRPr>
          </a:p>
          <a:p>
            <a:pPr fontAlgn="base">
              <a:lnSpc>
                <a:spcPct val="107000"/>
              </a:lnSpc>
              <a:spcAft>
                <a:spcPts val="800"/>
              </a:spcAft>
            </a:pPr>
            <a:r>
              <a:rPr lang="en-GB" sz="1200" kern="0" dirty="0">
                <a:solidFill>
                  <a:srgbClr val="4D4C4C"/>
                </a:solidFill>
                <a:effectLst/>
                <a:latin typeface="inherit"/>
                <a:ea typeface="Times New Roman" panose="02020603050405020304" pitchFamily="18" charset="0"/>
                <a:cs typeface="Arial" panose="020B0604020202020204" pitchFamily="34" charset="0"/>
              </a:rPr>
              <a:t> </a:t>
            </a:r>
            <a:endParaRPr lang="en-GB" sz="1100" kern="100" dirty="0">
              <a:effectLst/>
              <a:latin typeface="Calibri" panose="020F0502020204030204" pitchFamily="34" charset="0"/>
              <a:ea typeface="Calibri" panose="020F0502020204030204" pitchFamily="34" charset="0"/>
              <a:cs typeface="Arial" panose="020B0604020202020204" pitchFamily="34" charset="0"/>
            </a:endParaRPr>
          </a:p>
          <a:p>
            <a:pPr fontAlgn="base">
              <a:lnSpc>
                <a:spcPct val="107000"/>
              </a:lnSpc>
              <a:spcAft>
                <a:spcPts val="800"/>
              </a:spcAft>
            </a:pPr>
            <a:r>
              <a:rPr lang="en-GB" sz="1400" kern="0" dirty="0">
                <a:solidFill>
                  <a:srgbClr val="4D4C4C"/>
                </a:solidFill>
                <a:effectLst/>
                <a:latin typeface="inherit"/>
                <a:ea typeface="Times New Roman" panose="02020603050405020304" pitchFamily="18" charset="0"/>
                <a:cs typeface="Arial" panose="020B0604020202020204" pitchFamily="34" charset="0"/>
              </a:rPr>
              <a:t>ICMP: </a:t>
            </a:r>
            <a:r>
              <a:rPr lang="en-GB" sz="1200" kern="0" dirty="0">
                <a:solidFill>
                  <a:srgbClr val="4D4C4C"/>
                </a:solidFill>
                <a:effectLst/>
                <a:latin typeface="inherit"/>
                <a:ea typeface="Times New Roman" panose="02020603050405020304" pitchFamily="18" charset="0"/>
                <a:cs typeface="Arial" panose="020B0604020202020204" pitchFamily="34" charset="0"/>
              </a:rPr>
              <a:t>Network devices, such as routers and servers, use the Internet Control Message Protocol to send IP-operations information and to generate error messages in the event of device failures.</a:t>
            </a:r>
            <a:endParaRPr lang="en-GB" sz="1100" kern="100" dirty="0">
              <a:effectLst/>
              <a:latin typeface="Calibri" panose="020F0502020204030204" pitchFamily="34" charset="0"/>
              <a:ea typeface="Calibri" panose="020F0502020204030204" pitchFamily="34" charset="0"/>
              <a:cs typeface="Arial" panose="020B0604020202020204" pitchFamily="34" charset="0"/>
            </a:endParaRPr>
          </a:p>
          <a:p>
            <a:pPr fontAlgn="base">
              <a:lnSpc>
                <a:spcPct val="107000"/>
              </a:lnSpc>
              <a:spcAft>
                <a:spcPts val="800"/>
              </a:spcAft>
            </a:pPr>
            <a:r>
              <a:rPr lang="en-GB" sz="1200" kern="0" dirty="0">
                <a:solidFill>
                  <a:srgbClr val="4D4C4C"/>
                </a:solidFill>
                <a:effectLst/>
                <a:latin typeface="inherit"/>
                <a:ea typeface="Times New Roman" panose="02020603050405020304" pitchFamily="18" charset="0"/>
                <a:cs typeface="Arial" panose="020B0604020202020204" pitchFamily="34" charset="0"/>
              </a:rPr>
              <a:t> </a:t>
            </a:r>
            <a:endParaRPr lang="en-GB" sz="1100" kern="100" dirty="0">
              <a:effectLst/>
              <a:latin typeface="Calibri" panose="020F0502020204030204" pitchFamily="34" charset="0"/>
              <a:ea typeface="Calibri" panose="020F0502020204030204" pitchFamily="34" charset="0"/>
              <a:cs typeface="Arial" panose="020B0604020202020204" pitchFamily="34" charset="0"/>
            </a:endParaRPr>
          </a:p>
          <a:p>
            <a:pPr fontAlgn="base">
              <a:lnSpc>
                <a:spcPct val="107000"/>
              </a:lnSpc>
              <a:spcAft>
                <a:spcPts val="800"/>
              </a:spcAft>
            </a:pPr>
            <a:r>
              <a:rPr lang="en-GB" sz="1400" kern="0" dirty="0">
                <a:solidFill>
                  <a:srgbClr val="4D4C4C"/>
                </a:solidFill>
                <a:effectLst/>
                <a:latin typeface="inherit"/>
                <a:ea typeface="Times New Roman" panose="02020603050405020304" pitchFamily="18" charset="0"/>
                <a:cs typeface="Arial" panose="020B0604020202020204" pitchFamily="34" charset="0"/>
              </a:rPr>
              <a:t>Cisco Discovery Protocol: </a:t>
            </a:r>
            <a:r>
              <a:rPr lang="en-GB" sz="1200" kern="0" dirty="0">
                <a:solidFill>
                  <a:srgbClr val="4D4C4C"/>
                </a:solidFill>
                <a:effectLst/>
                <a:latin typeface="inherit"/>
                <a:ea typeface="Times New Roman" panose="02020603050405020304" pitchFamily="18" charset="0"/>
                <a:cs typeface="Arial" panose="020B0604020202020204" pitchFamily="34" charset="0"/>
              </a:rPr>
              <a:t>The </a:t>
            </a:r>
            <a:r>
              <a:rPr lang="en-GB" sz="1200" kern="0" dirty="0">
                <a:solidFill>
                  <a:srgbClr val="007493"/>
                </a:solidFill>
                <a:effectLst/>
                <a:latin typeface="inherit"/>
                <a:ea typeface="Times New Roman" panose="02020603050405020304" pitchFamily="18" charset="0"/>
                <a:cs typeface="Arial" panose="020B0604020202020204" pitchFamily="34" charset="0"/>
                <a:hlinkClick r:id="rId3"/>
              </a:rPr>
              <a:t>Cisco Discovery Protocol</a:t>
            </a:r>
            <a:r>
              <a:rPr lang="en-GB" sz="1200" kern="0" dirty="0">
                <a:solidFill>
                  <a:srgbClr val="4D4C4C"/>
                </a:solidFill>
                <a:effectLst/>
                <a:latin typeface="inherit"/>
                <a:ea typeface="Times New Roman" panose="02020603050405020304" pitchFamily="18" charset="0"/>
                <a:cs typeface="Arial" panose="020B0604020202020204" pitchFamily="34" charset="0"/>
              </a:rPr>
              <a:t> facilitates management of Cisco devices by discovering these devices, determining how they are configured, and allowing systems using different network-layer protocols to learn about one another.</a:t>
            </a:r>
            <a:endParaRPr lang="en-GB" sz="1100" kern="100"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4D4C4C"/>
              </a:solidFill>
              <a:effectLst/>
              <a:latin typeface="CiscoSans"/>
            </a:endParaRPr>
          </a:p>
          <a:p>
            <a:endParaRPr lang="en-GB"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dirty="0"/>
          </a:p>
        </p:txBody>
      </p:sp>
    </p:spTree>
    <p:extLst>
      <p:ext uri="{BB962C8B-B14F-4D97-AF65-F5344CB8AC3E}">
        <p14:creationId xmlns:p14="http://schemas.microsoft.com/office/powerpoint/2010/main" val="1665300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0" dirty="0">
                <a:solidFill>
                  <a:srgbClr val="4D4C4C"/>
                </a:solidFill>
                <a:effectLst/>
                <a:latin typeface="Arial" panose="020B0604020202020204" pitchFamily="34" charset="0"/>
                <a:ea typeface="Times New Roman" panose="02020603050405020304" pitchFamily="18" charset="0"/>
                <a:cs typeface="Arial" panose="020B0604020202020204" pitchFamily="34" charset="0"/>
              </a:rPr>
              <a:t>The most effective systems combine devices and sensors into a single view of network traffic, making it easy for IT not only to monitor but to protect and remediate performance issues.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kern="0" dirty="0">
              <a:solidFill>
                <a:srgbClr val="4D4C4C"/>
              </a:solidFill>
              <a:effectLst/>
              <a:latin typeface="Arial" panose="020B0604020202020204" pitchFamily="34" charset="0"/>
              <a:ea typeface="Calibri" panose="020F0502020204030204" pitchFamily="34" charset="0"/>
              <a:cs typeface="Arial" panose="020B0604020202020204" pitchFamily="34" charset="0"/>
            </a:endParaRPr>
          </a:p>
          <a:p>
            <a:pPr fontAlgn="base">
              <a:lnSpc>
                <a:spcPct val="107000"/>
              </a:lnSpc>
              <a:spcAft>
                <a:spcPts val="1000"/>
              </a:spcAft>
            </a:pPr>
            <a:r>
              <a:rPr lang="en-GB" sz="1800" kern="0" dirty="0">
                <a:solidFill>
                  <a:srgbClr val="4D4C4C"/>
                </a:solidFill>
                <a:effectLst/>
                <a:latin typeface="Arial" panose="020B0604020202020204" pitchFamily="34" charset="0"/>
                <a:ea typeface="Times New Roman" panose="02020603050405020304" pitchFamily="18" charset="0"/>
                <a:cs typeface="Arial" panose="020B0604020202020204" pitchFamily="34" charset="0"/>
              </a:rPr>
              <a:t>Typically, the data is collected and sent to the system in one of two ways:</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fontAlgn="base">
              <a:lnSpc>
                <a:spcPct val="107000"/>
              </a:lnSpc>
              <a:spcAft>
                <a:spcPts val="1000"/>
              </a:spcAft>
              <a:buSzPts val="1000"/>
              <a:buFont typeface="Symbol" panose="05050102010706020507" pitchFamily="18" charset="2"/>
              <a:buChar char=""/>
              <a:tabLst>
                <a:tab pos="457200" algn="l"/>
              </a:tabLst>
            </a:pPr>
            <a:r>
              <a:rPr lang="en-GB" sz="1800" kern="0" dirty="0">
                <a:solidFill>
                  <a:srgbClr val="4D4C4C"/>
                </a:solidFill>
                <a:effectLst/>
                <a:latin typeface="inherit"/>
                <a:ea typeface="Times New Roman" panose="02020603050405020304" pitchFamily="18" charset="0"/>
                <a:cs typeface="Arial" panose="020B0604020202020204" pitchFamily="34" charset="0"/>
              </a:rPr>
              <a:t>By using protocols such as SNMP: SNMP queries each element in the network and sends each response to the network management system.</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GB" sz="1800" kern="0" dirty="0">
                <a:solidFill>
                  <a:srgbClr val="4D4C4C"/>
                </a:solidFill>
                <a:effectLst/>
                <a:latin typeface="inherit"/>
                <a:ea typeface="Times New Roman" panose="02020603050405020304" pitchFamily="18" charset="0"/>
                <a:cs typeface="Arial" panose="020B0604020202020204" pitchFamily="34" charset="0"/>
              </a:rPr>
              <a:t>Streaming telemetry: A software agent installed in a network element allows for the automatic transmission of key performance indicators in real time. Streaming telemetry is rapidly replacing SNMP, because it is more efficient, can produce many more data points, and is more scalable. </a:t>
            </a:r>
            <a:endParaRPr lang="en-GB" dirty="0"/>
          </a:p>
        </p:txBody>
      </p:sp>
      <p:sp>
        <p:nvSpPr>
          <p:cNvPr id="4" name="Slide Number Placeholder 3"/>
          <p:cNvSpPr>
            <a:spLocks noGrp="1"/>
          </p:cNvSpPr>
          <p:nvPr>
            <p:ph type="sldNum" sz="quarter" idx="5"/>
          </p:nvPr>
        </p:nvSpPr>
        <p:spPr/>
        <p:txBody>
          <a:bodyPr/>
          <a:lstStyle/>
          <a:p>
            <a:fld id="{3D91EEAC-CFEF-9647-876F-EABC6B8338D7}" type="slidenum">
              <a:rPr lang="en-US" smtClean="0"/>
              <a:t>4</a:t>
            </a:fld>
            <a:endParaRPr lang="en-US" dirty="0"/>
          </a:p>
        </p:txBody>
      </p:sp>
    </p:spTree>
    <p:extLst>
      <p:ext uri="{BB962C8B-B14F-4D97-AF65-F5344CB8AC3E}">
        <p14:creationId xmlns:p14="http://schemas.microsoft.com/office/powerpoint/2010/main" val="990796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2667"/>
              </a:lnSpc>
            </a:pPr>
            <a:r>
              <a:rPr lang="en-US" sz="1200" dirty="0">
                <a:latin typeface="Arial" panose="020B0604020202020204" pitchFamily="34" charset="0"/>
                <a:cs typeface="Arial" panose="020B0604020202020204" pitchFamily="34" charset="0"/>
              </a:rPr>
              <a:t>As a general rule, for security purposes, OOB management is appropriate for large enterprise networks. However, it is not always desirable. The decision to use OOB management depends on the type of management applications running and the protocols being monitored.</a:t>
            </a:r>
          </a:p>
          <a:p>
            <a:pPr>
              <a:lnSpc>
                <a:spcPts val="2667"/>
              </a:lnSpc>
            </a:pP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OOB management guidelines are:</a:t>
            </a:r>
          </a:p>
          <a:p>
            <a:pPr marL="380990" indent="-380990">
              <a:buFont typeface="Arial" panose="020B0604020202020204" pitchFamily="34" charset="0"/>
              <a:buChar char="•"/>
            </a:pPr>
            <a:r>
              <a:rPr lang="en-US" sz="1200" dirty="0">
                <a:latin typeface="Arial" panose="020B0604020202020204" pitchFamily="34" charset="0"/>
                <a:cs typeface="Arial" panose="020B0604020202020204" pitchFamily="34" charset="0"/>
              </a:rPr>
              <a:t>Provide the highest level of security.</a:t>
            </a:r>
          </a:p>
          <a:p>
            <a:pPr marL="380990" indent="-380990">
              <a:buFont typeface="Arial" panose="020B0604020202020204" pitchFamily="34" charset="0"/>
              <a:buChar char="•"/>
            </a:pPr>
            <a:r>
              <a:rPr lang="en-US" sz="1200" dirty="0">
                <a:latin typeface="Arial" panose="020B0604020202020204" pitchFamily="34" charset="0"/>
                <a:cs typeface="Arial" panose="020B0604020202020204" pitchFamily="34" charset="0"/>
              </a:rPr>
              <a:t>Mitigate the risk of passing insecure management protocols over the production network.</a:t>
            </a:r>
          </a:p>
          <a:p>
            <a:pPr>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In-band management is recommended in smaller networks as a means of achieving a more cost-effective security deployment. In such architectures, management traffic flows in-band in all cases. It is made as secure as possible using secure management protocols, for example using SSH instead of Telnet.</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In-band management guidelines are:</a:t>
            </a:r>
          </a:p>
          <a:p>
            <a:pPr marL="380990" indent="-380990">
              <a:buFont typeface="Arial" panose="020B0604020202020204" pitchFamily="34" charset="0"/>
              <a:buChar char="•"/>
            </a:pPr>
            <a:r>
              <a:rPr lang="en-US" sz="1200" dirty="0">
                <a:latin typeface="Arial" panose="020B0604020202020204" pitchFamily="34" charset="0"/>
                <a:cs typeface="Arial" panose="020B0604020202020204" pitchFamily="34" charset="0"/>
              </a:rPr>
              <a:t>Apply only to devices that need to be managed or monitored.</a:t>
            </a:r>
          </a:p>
          <a:p>
            <a:pPr marL="380990" indent="-380990">
              <a:buFont typeface="Arial" panose="020B0604020202020204" pitchFamily="34" charset="0"/>
              <a:buChar char="•"/>
            </a:pPr>
            <a:r>
              <a:rPr lang="en-US" sz="1200" dirty="0">
                <a:latin typeface="Arial" panose="020B0604020202020204" pitchFamily="34" charset="0"/>
                <a:cs typeface="Arial" panose="020B0604020202020204" pitchFamily="34" charset="0"/>
              </a:rPr>
              <a:t>Use IPsec, SSH, or SSL when possible.</a:t>
            </a:r>
          </a:p>
          <a:p>
            <a:pPr marL="380990" indent="-380990">
              <a:buFont typeface="Arial" panose="020B0604020202020204" pitchFamily="34" charset="0"/>
              <a:buChar char="•"/>
            </a:pPr>
            <a:r>
              <a:rPr lang="en-US" sz="1200" dirty="0">
                <a:latin typeface="Arial" panose="020B0604020202020204" pitchFamily="34" charset="0"/>
                <a:cs typeface="Arial" panose="020B0604020202020204" pitchFamily="34" charset="0"/>
              </a:rPr>
              <a:t>Decide whether the management channel needs to be open at all times.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It is possible to remotely monitor system messages by viewing the logs on a syslog server, or by accessing the device through Telnet, SSH, or through the console port</a:t>
            </a:r>
            <a:r>
              <a:rPr lang="en-US" sz="1200" dirty="0"/>
              <a:t>.</a:t>
            </a:r>
          </a:p>
          <a:p>
            <a:pPr marL="0" indent="0">
              <a:buFont typeface="Arial" panose="020B0604020202020204" pitchFamily="34" charset="0"/>
              <a:buNone/>
            </a:pPr>
            <a:endParaRPr lang="en-US" sz="1200" dirty="0">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D39426-7662-CB4C-8824-EFF6FB89C05D}" type="slidenum">
              <a:rPr lang="en-AU"/>
              <a:pPr/>
              <a:t>12</a:t>
            </a:fld>
            <a:endParaRPr lang="en-AU" dirty="0"/>
          </a:p>
        </p:txBody>
      </p:sp>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p:txBody>
          <a:bodyPr/>
          <a:lstStyle/>
          <a:p>
            <a:r>
              <a:rPr lang="en-US" sz="1200" kern="1200" dirty="0">
                <a:solidFill>
                  <a:schemeClr val="tx1"/>
                </a:solidFill>
                <a:effectLst/>
                <a:latin typeface="Arial" pitchFamily="-107" charset="0"/>
                <a:ea typeface="+mn-ea"/>
                <a:cs typeface="+mn-cs"/>
              </a:rPr>
              <a:t> The NIST Internal/Interagency Report NISTIR 7298 (</a:t>
            </a:r>
            <a:r>
              <a:rPr lang="en-US" sz="1200" i="1" kern="1200" dirty="0">
                <a:solidFill>
                  <a:schemeClr val="tx1"/>
                </a:solidFill>
                <a:effectLst/>
                <a:latin typeface="Arial" pitchFamily="-107" charset="0"/>
                <a:ea typeface="+mn-ea"/>
                <a:cs typeface="+mn-cs"/>
              </a:rPr>
              <a:t>Glossary of Key Information</a:t>
            </a:r>
          </a:p>
          <a:p>
            <a:r>
              <a:rPr lang="en-US" sz="1200" i="1" kern="1200" dirty="0">
                <a:solidFill>
                  <a:schemeClr val="tx1"/>
                </a:solidFill>
                <a:effectLst/>
                <a:latin typeface="Arial" pitchFamily="-107" charset="0"/>
                <a:ea typeface="+mn-ea"/>
                <a:cs typeface="+mn-cs"/>
              </a:rPr>
              <a:t>Security Terms </a:t>
            </a:r>
            <a:r>
              <a:rPr lang="en-US" sz="1200" kern="1200" dirty="0">
                <a:solidFill>
                  <a:schemeClr val="tx1"/>
                </a:solidFill>
                <a:effectLst/>
                <a:latin typeface="Arial" pitchFamily="-107" charset="0"/>
                <a:ea typeface="+mn-ea"/>
                <a:cs typeface="+mn-cs"/>
              </a:rPr>
              <a:t>, May 2013) defines the term </a:t>
            </a:r>
            <a:r>
              <a:rPr lang="en-US" sz="1200" i="1" kern="1200" dirty="0">
                <a:solidFill>
                  <a:schemeClr val="tx1"/>
                </a:solidFill>
                <a:effectLst/>
                <a:latin typeface="Arial" pitchFamily="-107" charset="0"/>
                <a:ea typeface="+mn-ea"/>
                <a:cs typeface="+mn-cs"/>
              </a:rPr>
              <a:t>computer security</a:t>
            </a:r>
            <a:r>
              <a:rPr lang="en-US" sz="1200" kern="1200" dirty="0">
                <a:solidFill>
                  <a:schemeClr val="tx1"/>
                </a:solidFill>
                <a:effectLst/>
                <a:latin typeface="Arial" pitchFamily="-107" charset="0"/>
                <a:ea typeface="+mn-ea"/>
                <a:cs typeface="+mn-cs"/>
              </a:rPr>
              <a:t>  as follows:</a:t>
            </a:r>
          </a:p>
          <a:p>
            <a:endParaRPr lang="en-US" sz="1200" b="0" kern="1200" baseline="0" dirty="0">
              <a:solidFill>
                <a:schemeClr val="tx1"/>
              </a:solidFill>
              <a:latin typeface="Arial" pitchFamily="-107" charset="0"/>
              <a:ea typeface="+mn-ea"/>
              <a:cs typeface="+mn-cs"/>
            </a:endParaRP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Computer Security: </a:t>
            </a:r>
            <a:r>
              <a:rPr lang="en-US" sz="1200" kern="1200" dirty="0">
                <a:solidFill>
                  <a:schemeClr val="tx1"/>
                </a:solidFill>
                <a:effectLst/>
                <a:latin typeface="Arial" pitchFamily="-107" charset="0"/>
                <a:ea typeface="+mn-ea"/>
                <a:cs typeface="+mn-cs"/>
              </a:rPr>
              <a:t> Measures and controls that ensure confidentiality, integrity, and availability of information system assets including hardware, software, firmware, and information being processed, stored, and communicated.</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This definition introduces three key objectives that are at the heart of computer security:</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Confidentiality: This term covers two related concepts: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Data confidentiality : Assures that private or confidential information is not made available or disclosed to unauthorized individuals.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Privacy : Assures that individuals control or influence what information related to them may be collected and stored and by whom and to whom that information may be disclosed.</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Integrity: This term covers two related concepts: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Data integrity : Assures that information and programs are changed only in a specified and authorized manner.</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System integrity : Assures that a system performs its intended function in an unimpaired manner, free from deliberate or inadvertent unauthorized manipulation of the system.</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Availability: Assures that systems work promptly and service is not denied to authorized users.</a:t>
            </a:r>
            <a:endParaRPr lang="en-US" b="0" dirty="0">
              <a:latin typeface="Times New Roman" pitchFamily="-107" charset="0"/>
            </a:endParaRPr>
          </a:p>
        </p:txBody>
      </p:sp>
    </p:spTree>
    <p:extLst>
      <p:ext uri="{BB962C8B-B14F-4D97-AF65-F5344CB8AC3E}">
        <p14:creationId xmlns:p14="http://schemas.microsoft.com/office/powerpoint/2010/main" val="3923366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Confidentiality: Preserving authorized restrictions on information access and disclosure, including means for protecting personal privacy and proprietary information. A loss of confidentiality is the unauthorized disclosure of information.</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Integrity: Guarding against improper information modification or destruction, including ensuring information non-repudiation and authenticity. A loss of integrity is the unauthorized modification or destruction of information.</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Availability: Ensuring timely and reliable access to and use of information. A loss of availability is the disruption of access to or use of information or an information system.</a:t>
            </a:r>
          </a:p>
          <a:p>
            <a:endParaRPr lang="en-US" b="0" dirty="0">
              <a:latin typeface="Times New Roman" pitchFamily="-107" charset="0"/>
            </a:endParaRPr>
          </a:p>
          <a:p>
            <a:r>
              <a:rPr lang="en-US" sz="1200" b="0" kern="1200" baseline="0" dirty="0">
                <a:solidFill>
                  <a:schemeClr val="tx1"/>
                </a:solidFill>
                <a:latin typeface="Arial" pitchFamily="-107" charset="0"/>
                <a:ea typeface="+mn-ea"/>
                <a:cs typeface="+mn-cs"/>
              </a:rPr>
              <a:t>Although the use of the CIA triad to define security objectives is well established, some in the security field feel that additional concepts are needed to present a complete picture. Two of the most commonly mentioned are as follows: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Authenticity: The property of being genuine and being able to be verified and trusted; confidence in the validity of a transmission, a message, or message originator. This means verifying that users are who they say they are and that each input arriving at the system came from a trusted source.</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 Accountability: The security goal that generates the requirement for actions of an entity to be traced uniquely to that entity. This supports nonrepudiation, deterrence, fault isolation, intrusion detection and prevention, and after-action recovery and legal action. Because truly secure systems aren’t yet an achievable goal, we must be able to trace a security breach to a responsible party. Systems must keep records of their activities to permit later forensic analysis to trace security breaches or to aid in transaction disputes.</a:t>
            </a:r>
          </a:p>
          <a:p>
            <a:endParaRPr lang="en-US" sz="1200" b="0" kern="1200" baseline="0" dirty="0">
              <a:solidFill>
                <a:schemeClr val="tx1"/>
              </a:solidFill>
              <a:latin typeface="Arial" pitchFamily="-107" charset="0"/>
              <a:ea typeface="+mn-ea"/>
              <a:cs typeface="+mn-cs"/>
            </a:endParaRPr>
          </a:p>
          <a:p>
            <a:r>
              <a:rPr lang="en-US" sz="1200" b="0" kern="1200" baseline="0" dirty="0">
                <a:solidFill>
                  <a:schemeClr val="tx1"/>
                </a:solidFill>
                <a:latin typeface="Arial" pitchFamily="-107" charset="0"/>
                <a:ea typeface="+mn-ea"/>
                <a:cs typeface="+mn-cs"/>
              </a:rPr>
              <a:t>Authenticity can be included under integrity.</a:t>
            </a:r>
            <a:endParaRPr lang="en-US" b="0" dirty="0"/>
          </a:p>
          <a:p>
            <a:endParaRPr lang="en-US" b="0" dirty="0"/>
          </a:p>
        </p:txBody>
      </p:sp>
      <p:sp>
        <p:nvSpPr>
          <p:cNvPr id="4" name="Slide Number Placeholder 3"/>
          <p:cNvSpPr>
            <a:spLocks noGrp="1"/>
          </p:cNvSpPr>
          <p:nvPr>
            <p:ph type="sldNum" sz="quarter" idx="10"/>
          </p:nvPr>
        </p:nvSpPr>
        <p:spPr/>
        <p:txBody>
          <a:bodyPr/>
          <a:lstStyle/>
          <a:p>
            <a:fld id="{F8560DBF-F109-8946-ADF0-EE66B221E988}" type="slidenum">
              <a:rPr lang="en-AU" smtClean="0"/>
              <a:pPr/>
              <a:t>13</a:t>
            </a:fld>
            <a:endParaRPr lang="en-AU" dirty="0"/>
          </a:p>
        </p:txBody>
      </p:sp>
    </p:spTree>
    <p:extLst>
      <p:ext uri="{BB962C8B-B14F-4D97-AF65-F5344CB8AC3E}">
        <p14:creationId xmlns:p14="http://schemas.microsoft.com/office/powerpoint/2010/main" val="463298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07" charset="0"/>
                <a:ea typeface="+mn-ea"/>
                <a:cs typeface="+mn-cs"/>
              </a:rPr>
              <a:t>These three concepts form what is often referred to as the CIA triad . The three concepts embody the fundamental security objectives for both data and for information and computing services. For example, the NIST standard FIPS 199 (Standards for Security</a:t>
            </a:r>
          </a:p>
          <a:p>
            <a:r>
              <a:rPr lang="en-US" sz="1200" kern="1200" dirty="0">
                <a:solidFill>
                  <a:schemeClr val="tx1"/>
                </a:solidFill>
                <a:effectLst/>
                <a:latin typeface="Arial" pitchFamily="-107" charset="0"/>
                <a:ea typeface="+mn-ea"/>
                <a:cs typeface="+mn-cs"/>
              </a:rPr>
              <a:t>Categorization of Federal Information and Information Systems , February 2004) lists confidentiality, integrity, and availability as the three security objectives for information and for information systems. </a:t>
            </a:r>
          </a:p>
          <a:p>
            <a:endParaRPr lang="en-US" sz="1200" kern="1200" dirty="0">
              <a:solidFill>
                <a:schemeClr val="tx1"/>
              </a:solidFill>
              <a:effectLst/>
              <a:latin typeface="Arial" pitchFamily="-107" charset="0"/>
              <a:ea typeface="+mn-ea"/>
              <a:cs typeface="+mn-cs"/>
            </a:endParaRPr>
          </a:p>
          <a:p>
            <a:r>
              <a:rPr lang="en-US" sz="2000" dirty="0">
                <a:latin typeface="Arial" panose="020B0604020202020204" pitchFamily="34" charset="0"/>
                <a:cs typeface="Arial" panose="020B0604020202020204" pitchFamily="34" charset="0"/>
              </a:rPr>
              <a:t>To the CIA triad, one may add ( in the context of secure communication and exchange of data):</a:t>
            </a:r>
          </a:p>
          <a:p>
            <a:pPr marL="609585" lvl="1" indent="0">
              <a:buFont typeface="Arial" panose="020B0604020202020204" pitchFamily="34" charset="0"/>
              <a:buNone/>
            </a:pPr>
            <a:endParaRPr lang="en-US" sz="1867" dirty="0">
              <a:latin typeface="Arial" panose="020B0604020202020204" pitchFamily="34" charset="0"/>
              <a:cs typeface="Arial" panose="020B0604020202020204" pitchFamily="34" charset="0"/>
            </a:endParaRPr>
          </a:p>
          <a:p>
            <a:pPr marL="990575" lvl="1" indent="-380990">
              <a:buFont typeface="Arial" panose="020B0604020202020204" pitchFamily="34" charset="0"/>
              <a:buChar char="•"/>
            </a:pPr>
            <a:r>
              <a:rPr lang="en-US" sz="1867" b="1" dirty="0">
                <a:latin typeface="Arial" panose="020B0604020202020204" pitchFamily="34" charset="0"/>
                <a:cs typeface="Arial" panose="020B0604020202020204" pitchFamily="34" charset="0"/>
              </a:rPr>
              <a:t>Data Non-Repudiation</a:t>
            </a:r>
            <a:r>
              <a:rPr lang="en-US" sz="1867" dirty="0">
                <a:latin typeface="Arial" panose="020B0604020202020204" pitchFamily="34" charset="0"/>
                <a:cs typeface="Arial" panose="020B0604020202020204" pitchFamily="34" charset="0"/>
              </a:rPr>
              <a:t> - Guarantees that the sender cannot repudiate, or refute, the validity of a message sent. Nonrepudiation relies on the fact that only the sender has the unique characteristics or signature for how that message is treated.</a:t>
            </a:r>
          </a:p>
          <a:p>
            <a:endParaRPr lang="en-US" sz="1200" kern="1200" dirty="0">
              <a:solidFill>
                <a:schemeClr val="tx1"/>
              </a:solidFill>
              <a:effectLst/>
              <a:latin typeface="Arial" pitchFamily="-107" charset="0"/>
              <a:ea typeface="+mn-ea"/>
              <a:cs typeface="+mn-cs"/>
            </a:endParaRPr>
          </a:p>
          <a:p>
            <a:endParaRPr lang="en-US" sz="1200" kern="1200" dirty="0">
              <a:solidFill>
                <a:schemeClr val="tx1"/>
              </a:solidFill>
              <a:effectLst/>
              <a:latin typeface="Arial" pitchFamily="-107" charset="0"/>
              <a:ea typeface="+mn-ea"/>
              <a:cs typeface="+mn-cs"/>
            </a:endParaRPr>
          </a:p>
          <a:p>
            <a:endParaRPr lang="en-US" sz="1200" kern="1200" dirty="0">
              <a:solidFill>
                <a:schemeClr val="tx1"/>
              </a:solidFill>
              <a:effectLst/>
              <a:latin typeface="Arial" pitchFamily="-107" charset="0"/>
              <a:ea typeface="+mn-ea"/>
              <a:cs typeface="+mn-cs"/>
            </a:endParaRPr>
          </a:p>
          <a:p>
            <a:endParaRPr lang="en-US" sz="1200" kern="1200" dirty="0">
              <a:solidFill>
                <a:schemeClr val="tx1"/>
              </a:solidFill>
              <a:effectLst/>
              <a:latin typeface="Arial" pitchFamily="-107"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3C66C1E7-2ED8-B84B-84CD-65BD503AEB24}" type="slidenum">
              <a:rPr lang="en-AU"/>
              <a:pPr/>
              <a:t>15</a:t>
            </a:fld>
            <a:endParaRPr lang="en-AU"/>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en-US" b="0" dirty="0"/>
          </a:p>
          <a:p>
            <a:pPr eaLnBrk="1" hangingPunct="1"/>
            <a:r>
              <a:rPr lang="en-US" b="0" dirty="0"/>
              <a:t>An access control mechanism mediates between a user (or a process executing on behalf of a user) and system resources, such as applications, operating systems, firewalls, routers, files, and databases. </a:t>
            </a:r>
          </a:p>
          <a:p>
            <a:pPr eaLnBrk="1" hangingPunct="1"/>
            <a:endParaRPr lang="en-US" b="0" dirty="0"/>
          </a:p>
          <a:p>
            <a:pPr eaLnBrk="1" hangingPunct="1"/>
            <a:r>
              <a:rPr lang="en-US" b="0" dirty="0"/>
              <a:t>The system must first authenticate an entity seeking access. Typically, the authentication function determines whether the user is permitted to access the system at all. </a:t>
            </a:r>
          </a:p>
          <a:p>
            <a:pPr eaLnBrk="1" hangingPunct="1"/>
            <a:endParaRPr lang="en-US" b="0" dirty="0"/>
          </a:p>
          <a:p>
            <a:pPr eaLnBrk="1" hangingPunct="1"/>
            <a:r>
              <a:rPr lang="en-US" b="0" dirty="0"/>
              <a:t>Then the access control function determines if the specific requested access by this user is permitted. </a:t>
            </a:r>
          </a:p>
          <a:p>
            <a:pPr eaLnBrk="1" hangingPunct="1"/>
            <a:endParaRPr lang="en-US" b="0" dirty="0"/>
          </a:p>
          <a:p>
            <a:pPr eaLnBrk="1" hangingPunct="1"/>
            <a:r>
              <a:rPr lang="en-US" b="0" dirty="0"/>
              <a:t>An auditing function monitors and keeps a record of user accesses to system resources.</a:t>
            </a:r>
          </a:p>
          <a:p>
            <a:pPr eaLnBrk="1" hangingPunct="1"/>
            <a:endParaRPr lang="en-US" b="0" dirty="0"/>
          </a:p>
        </p:txBody>
      </p:sp>
    </p:spTree>
    <p:extLst>
      <p:ext uri="{BB962C8B-B14F-4D97-AF65-F5344CB8AC3E}">
        <p14:creationId xmlns:p14="http://schemas.microsoft.com/office/powerpoint/2010/main" val="2351217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43DC452E-A0ED-BE41-B448-B29A356FBA95}" type="slidenum">
              <a:rPr lang="en-AU"/>
              <a:pPr/>
              <a:t>16</a:t>
            </a:fld>
            <a:endParaRPr lang="en-AU"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NIST SP 800-63-3 (Digital Authentication Guideline , October 2016) defines digital user authentication as the process of establishing confidence in user identities that are presented electronically to an information system. </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Systems can use the authenticated identity to determine if the authenticated individual is authorized to perform particular functions, such as database transactions or access to system resources. </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In many cases, the authentication and transaction, or other authorized function, take place across an open network such as the Internet. </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Equally authentication and subsequent authorization can take place locally, such as across a local area network.</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p:txBody>
      </p:sp>
    </p:spTree>
    <p:extLst>
      <p:ext uri="{BB962C8B-B14F-4D97-AF65-F5344CB8AC3E}">
        <p14:creationId xmlns:p14="http://schemas.microsoft.com/office/powerpoint/2010/main" val="2590379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CA23D415-03AD-4749-9717-E66872E9B2DD}" type="slidenum">
              <a:rPr lang="en-AU"/>
              <a:pPr/>
              <a:t>17</a:t>
            </a:fld>
            <a:endParaRPr lang="en-AU"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r>
              <a:rPr lang="en-US" dirty="0">
                <a:latin typeface="Times" pitchFamily="-110" charset="0"/>
              </a:rPr>
              <a:t>There are four general means of authenticating a user's identity, which can be used alone or in combination:</a:t>
            </a:r>
          </a:p>
          <a:p>
            <a:pPr eaLnBrk="1" hangingPunct="1"/>
            <a:endParaRPr lang="en-US" dirty="0">
              <a:latin typeface="Times" pitchFamily="-110" charset="0"/>
              <a:ea typeface="Times New Roman" pitchFamily="-110" charset="0"/>
              <a:cs typeface="Times New Roman" pitchFamily="-110" charset="0"/>
            </a:endParaRPr>
          </a:p>
          <a:p>
            <a:pPr eaLnBrk="1" hangingPunct="1"/>
            <a:r>
              <a:rPr lang="en-US" dirty="0">
                <a:latin typeface="Times" pitchFamily="-110" charset="0"/>
                <a:ea typeface="Times New Roman" pitchFamily="-110" charset="0"/>
                <a:cs typeface="Times New Roman" pitchFamily="-110" charset="0"/>
              </a:rPr>
              <a:t>• </a:t>
            </a:r>
            <a:r>
              <a:rPr lang="en-US" b="1" dirty="0">
                <a:latin typeface="Times" pitchFamily="-110" charset="0"/>
              </a:rPr>
              <a:t>Something the individual knows:</a:t>
            </a:r>
            <a:r>
              <a:rPr lang="en-US" dirty="0">
                <a:latin typeface="Times" pitchFamily="-110" charset="0"/>
              </a:rPr>
              <a:t> Examples includes a password, a personal identification number (PIN), or answers to a prearranged set of questions.</a:t>
            </a:r>
          </a:p>
          <a:p>
            <a:pPr eaLnBrk="1" hangingPunct="1"/>
            <a:endParaRPr lang="en-US" dirty="0">
              <a:latin typeface="Times" pitchFamily="-110" charset="0"/>
              <a:ea typeface="Times New Roman" pitchFamily="-110" charset="0"/>
              <a:cs typeface="Times New Roman" pitchFamily="-110" charset="0"/>
            </a:endParaRPr>
          </a:p>
          <a:p>
            <a:pPr eaLnBrk="1" hangingPunct="1"/>
            <a:r>
              <a:rPr lang="en-US" dirty="0">
                <a:latin typeface="Times" pitchFamily="-110" charset="0"/>
                <a:ea typeface="Times New Roman" pitchFamily="-110" charset="0"/>
                <a:cs typeface="Times New Roman" pitchFamily="-110" charset="0"/>
              </a:rPr>
              <a:t>• </a:t>
            </a:r>
            <a:r>
              <a:rPr lang="en-US" b="1" dirty="0">
                <a:latin typeface="Times" pitchFamily="-110" charset="0"/>
              </a:rPr>
              <a:t>Something the individual possesses:</a:t>
            </a:r>
            <a:r>
              <a:rPr lang="en-US" dirty="0">
                <a:latin typeface="Times" pitchFamily="-110" charset="0"/>
              </a:rPr>
              <a:t> Examples include electronic keycards, smart cards, and physical keys. This type of authenticator is referred to as a </a:t>
            </a:r>
            <a:r>
              <a:rPr lang="en-US" i="1" dirty="0">
                <a:latin typeface="Times" pitchFamily="-110" charset="0"/>
              </a:rPr>
              <a:t>token</a:t>
            </a:r>
            <a:r>
              <a:rPr lang="en-US" dirty="0">
                <a:latin typeface="Times" pitchFamily="-110" charset="0"/>
              </a:rPr>
              <a:t>.</a:t>
            </a:r>
          </a:p>
          <a:p>
            <a:pPr eaLnBrk="1" hangingPunct="1"/>
            <a:endParaRPr lang="en-US" dirty="0">
              <a:latin typeface="Times" pitchFamily="-110" charset="0"/>
              <a:ea typeface="Times New Roman" pitchFamily="-110" charset="0"/>
              <a:cs typeface="Times New Roman" pitchFamily="-110" charset="0"/>
            </a:endParaRPr>
          </a:p>
          <a:p>
            <a:pPr eaLnBrk="1" hangingPunct="1"/>
            <a:r>
              <a:rPr lang="en-US" dirty="0">
                <a:latin typeface="Times" pitchFamily="-110" charset="0"/>
                <a:ea typeface="Times New Roman" pitchFamily="-110" charset="0"/>
                <a:cs typeface="Times New Roman" pitchFamily="-110" charset="0"/>
              </a:rPr>
              <a:t>• </a:t>
            </a:r>
            <a:r>
              <a:rPr lang="en-US" b="1" dirty="0">
                <a:latin typeface="Times" pitchFamily="-110" charset="0"/>
              </a:rPr>
              <a:t>Something the individual is (static biometrics):</a:t>
            </a:r>
            <a:r>
              <a:rPr lang="en-US" dirty="0">
                <a:latin typeface="Times" pitchFamily="-110" charset="0"/>
              </a:rPr>
              <a:t> Examples include recognition by fingerprint, retina, and face.</a:t>
            </a:r>
          </a:p>
          <a:p>
            <a:pPr eaLnBrk="1" hangingPunct="1"/>
            <a:endParaRPr lang="en-US" dirty="0">
              <a:latin typeface="Times" pitchFamily="-110" charset="0"/>
              <a:ea typeface="Times New Roman" pitchFamily="-110" charset="0"/>
              <a:cs typeface="Times New Roman" pitchFamily="-110" charset="0"/>
            </a:endParaRPr>
          </a:p>
          <a:p>
            <a:pPr eaLnBrk="1" hangingPunct="1"/>
            <a:r>
              <a:rPr lang="en-US" dirty="0">
                <a:latin typeface="Times" pitchFamily="-110" charset="0"/>
                <a:ea typeface="Times New Roman" pitchFamily="-110" charset="0"/>
                <a:cs typeface="Times New Roman" pitchFamily="-110" charset="0"/>
              </a:rPr>
              <a:t>• </a:t>
            </a:r>
            <a:r>
              <a:rPr lang="en-US" b="1" dirty="0">
                <a:latin typeface="Times" pitchFamily="-110" charset="0"/>
              </a:rPr>
              <a:t>Something the individual does (dynamic biometrics):</a:t>
            </a:r>
            <a:r>
              <a:rPr lang="en-US" dirty="0">
                <a:latin typeface="Times" pitchFamily="-110" charset="0"/>
              </a:rPr>
              <a:t> Examples include recognition by voice pattern, handwriting characteristics, and typing rhythm.</a:t>
            </a:r>
          </a:p>
          <a:p>
            <a:pPr eaLnBrk="1" hangingPunct="1"/>
            <a:endParaRPr lang="en-US" dirty="0">
              <a:latin typeface="Times" pitchFamily="-110" charset="0"/>
            </a:endParaRPr>
          </a:p>
          <a:p>
            <a:pPr eaLnBrk="1" hangingPunct="1"/>
            <a:r>
              <a:rPr lang="en-US" dirty="0">
                <a:latin typeface="Times" pitchFamily="-110" charset="0"/>
              </a:rPr>
              <a:t>All of these methods, properly implemented and used, can provide secure user authentication. </a:t>
            </a:r>
          </a:p>
          <a:p>
            <a:pPr eaLnBrk="1" hangingPunct="1"/>
            <a:endParaRPr lang="en-US" dirty="0">
              <a:latin typeface="Times" pitchFamily="-110" charset="0"/>
            </a:endParaRPr>
          </a:p>
          <a:p>
            <a:pPr eaLnBrk="1" hangingPunct="1"/>
            <a:r>
              <a:rPr lang="en-US" dirty="0">
                <a:latin typeface="Times" pitchFamily="-110" charset="0"/>
              </a:rPr>
              <a:t>However, each method has problems:</a:t>
            </a:r>
          </a:p>
          <a:p>
            <a:pPr marL="628650" lvl="1" indent="-171450" eaLnBrk="1" hangingPunct="1">
              <a:buFont typeface="Arial" panose="020B0604020202020204" pitchFamily="34" charset="0"/>
              <a:buChar char="•"/>
            </a:pPr>
            <a:r>
              <a:rPr lang="en-US" dirty="0">
                <a:latin typeface="Times" pitchFamily="-110" charset="0"/>
              </a:rPr>
              <a:t>An adversary may be able to guess or steal a password.</a:t>
            </a:r>
          </a:p>
          <a:p>
            <a:pPr marL="628650" lvl="1" indent="-171450" eaLnBrk="1" hangingPunct="1">
              <a:buFont typeface="Arial" panose="020B0604020202020204" pitchFamily="34" charset="0"/>
              <a:buChar char="•"/>
            </a:pPr>
            <a:r>
              <a:rPr lang="en-US" dirty="0">
                <a:latin typeface="Times" pitchFamily="-110" charset="0"/>
              </a:rPr>
              <a:t>Similarly, an adversary may be able to forge or steal a token. </a:t>
            </a:r>
          </a:p>
          <a:p>
            <a:pPr marL="628650" lvl="1" indent="-171450" eaLnBrk="1" hangingPunct="1">
              <a:buFont typeface="Arial" panose="020B0604020202020204" pitchFamily="34" charset="0"/>
              <a:buChar char="•"/>
            </a:pPr>
            <a:r>
              <a:rPr lang="en-US" dirty="0">
                <a:latin typeface="Times" pitchFamily="-110" charset="0"/>
              </a:rPr>
              <a:t>A user may forget a password or lose a token.</a:t>
            </a:r>
          </a:p>
          <a:p>
            <a:pPr marL="628650" lvl="1" indent="-171450" eaLnBrk="1" hangingPunct="1">
              <a:buFont typeface="Arial" panose="020B0604020202020204" pitchFamily="34" charset="0"/>
              <a:buChar char="•"/>
            </a:pPr>
            <a:r>
              <a:rPr lang="en-US" dirty="0" err="1">
                <a:latin typeface="Times" pitchFamily="-110" charset="0"/>
              </a:rPr>
              <a:t>etc</a:t>
            </a:r>
            <a:r>
              <a:rPr lang="en-US" dirty="0">
                <a:latin typeface="Times" pitchFamily="-110" charset="0"/>
              </a:rPr>
              <a:t> </a:t>
            </a:r>
          </a:p>
          <a:p>
            <a:pPr eaLnBrk="1" hangingPunct="1"/>
            <a:endParaRPr lang="en-US" dirty="0">
              <a:latin typeface="Times" pitchFamily="-110" charset="0"/>
            </a:endParaRPr>
          </a:p>
          <a:p>
            <a:pPr eaLnBrk="1" hangingPunct="1"/>
            <a:r>
              <a:rPr lang="en-US" dirty="0">
                <a:latin typeface="Times" pitchFamily="-110" charset="0"/>
              </a:rPr>
              <a:t>Further, there is a significant administrative overhead for managing password and token information on systems and securing such information on systems. </a:t>
            </a:r>
          </a:p>
          <a:p>
            <a:pPr eaLnBrk="1" hangingPunct="1"/>
            <a:r>
              <a:rPr lang="en-US" dirty="0">
                <a:latin typeface="Times" pitchFamily="-110" charset="0"/>
              </a:rPr>
              <a:t>With respect to biometric authenticators, there are a variety of problems, including dealing with false positives and false negatives, user acceptance, cost, and convenience. </a:t>
            </a:r>
          </a:p>
        </p:txBody>
      </p:sp>
    </p:spTree>
    <p:extLst>
      <p:ext uri="{BB962C8B-B14F-4D97-AF65-F5344CB8AC3E}">
        <p14:creationId xmlns:p14="http://schemas.microsoft.com/office/powerpoint/2010/main" val="4101928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C8F4857B-3A9C-8643-9AF1-AC1CA37E0998}" type="slidenum">
              <a:rPr lang="en-AU"/>
              <a:pPr/>
              <a:t>18</a:t>
            </a:fld>
            <a:endParaRPr lang="en-AU"/>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Two definitions of access control are useful in understanding its scope.</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1.  NISTIR 7298 (</a:t>
            </a:r>
            <a:r>
              <a:rPr lang="en-US" sz="1200" i="1" kern="1200" dirty="0">
                <a:solidFill>
                  <a:schemeClr val="tx1"/>
                </a:solidFill>
                <a:effectLst/>
                <a:latin typeface="Arial" pitchFamily="-110" charset="0"/>
                <a:ea typeface="ＭＳ Ｐゴシック" pitchFamily="-110" charset="-128"/>
                <a:cs typeface="ＭＳ Ｐゴシック" pitchFamily="-110" charset="-128"/>
              </a:rPr>
              <a:t>Glossary of Key Information Security Terms </a:t>
            </a:r>
            <a:r>
              <a:rPr lang="en-US" sz="1200" kern="1200" dirty="0">
                <a:solidFill>
                  <a:schemeClr val="tx1"/>
                </a:solidFill>
                <a:effectLst/>
                <a:latin typeface="Arial" pitchFamily="-110" charset="0"/>
                <a:ea typeface="ＭＳ Ｐゴシック" pitchFamily="-110" charset="-128"/>
                <a:cs typeface="ＭＳ Ｐゴシック" pitchFamily="-110" charset="-128"/>
              </a:rPr>
              <a:t>, May 2013), defines access control as the process of granting or denying specific requests to: (1) obtain and use information and related information processing services; </a:t>
            </a:r>
          </a:p>
          <a:p>
            <a:r>
              <a:rPr lang="en-US" sz="1200" kern="1200" dirty="0">
                <a:solidFill>
                  <a:schemeClr val="tx1"/>
                </a:solidFill>
                <a:effectLst/>
                <a:latin typeface="Arial" pitchFamily="-110" charset="0"/>
                <a:ea typeface="ＭＳ Ｐゴシック" pitchFamily="-110" charset="-128"/>
                <a:cs typeface="ＭＳ Ｐゴシック" pitchFamily="-110" charset="-128"/>
              </a:rPr>
              <a:t>And (2) enter specific physical facilities.</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pPr eaLnBrk="1" hangingPunct="1"/>
            <a:endParaRPr lang="en-US" dirty="0">
              <a:latin typeface="Times New Roman" pitchFamily="-110" charset="0"/>
            </a:endParaRPr>
          </a:p>
        </p:txBody>
      </p:sp>
    </p:spTree>
    <p:extLst>
      <p:ext uri="{BB962C8B-B14F-4D97-AF65-F5344CB8AC3E}">
        <p14:creationId xmlns:p14="http://schemas.microsoft.com/office/powerpoint/2010/main" val="10921169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C8F4857B-3A9C-8643-9AF1-AC1CA37E0998}" type="slidenum">
              <a:rPr lang="en-AU"/>
              <a:pPr/>
              <a:t>19</a:t>
            </a:fld>
            <a:endParaRPr lang="en-AU"/>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RFC 4949, </a:t>
            </a:r>
            <a:r>
              <a:rPr lang="en-US" sz="1200" i="1" kern="1200" dirty="0">
                <a:solidFill>
                  <a:schemeClr val="tx1"/>
                </a:solidFill>
                <a:effectLst/>
                <a:latin typeface="Arial" pitchFamily="-110" charset="0"/>
                <a:ea typeface="ＭＳ Ｐゴシック" pitchFamily="-110" charset="-128"/>
                <a:cs typeface="ＭＳ Ｐゴシック" pitchFamily="-110" charset="-128"/>
              </a:rPr>
              <a:t>Internet Security Glossary</a:t>
            </a:r>
            <a:r>
              <a:rPr lang="en-US" sz="1200" kern="1200" dirty="0">
                <a:solidFill>
                  <a:schemeClr val="tx1"/>
                </a:solidFill>
                <a:effectLst/>
                <a:latin typeface="Arial" pitchFamily="-110" charset="0"/>
                <a:ea typeface="ＭＳ Ｐゴシック" pitchFamily="-110" charset="-128"/>
                <a:cs typeface="ＭＳ Ｐゴシック" pitchFamily="-110" charset="-128"/>
              </a:rPr>
              <a:t> , defines access control as a process by which use of system resources is regulated according to a security policy and is permitted only by authorized entities (users, programs, processes, or other systems) according to that policy.</a:t>
            </a:r>
          </a:p>
          <a:p>
            <a:pPr eaLnBrk="1" hangingPunct="1"/>
            <a:endParaRPr lang="en-US" dirty="0">
              <a:latin typeface="Times New Roman" pitchFamily="-110" charset="0"/>
            </a:endParaRPr>
          </a:p>
        </p:txBody>
      </p:sp>
    </p:spTree>
    <p:extLst>
      <p:ext uri="{BB962C8B-B14F-4D97-AF65-F5344CB8AC3E}">
        <p14:creationId xmlns:p14="http://schemas.microsoft.com/office/powerpoint/2010/main" val="3127990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C8F4857B-3A9C-8643-9AF1-AC1CA37E0998}" type="slidenum">
              <a:rPr lang="en-AU"/>
              <a:pPr/>
              <a:t>20</a:t>
            </a:fld>
            <a:endParaRPr lang="en-AU"/>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In a broad sense, all of computer security is concerned with access control. </a:t>
            </a:r>
          </a:p>
          <a:p>
            <a:r>
              <a:rPr lang="en-US" sz="1200" kern="1200" dirty="0">
                <a:solidFill>
                  <a:schemeClr val="tx1"/>
                </a:solidFill>
                <a:effectLst/>
                <a:latin typeface="Arial" pitchFamily="-110" charset="0"/>
                <a:ea typeface="ＭＳ Ｐゴシック" pitchFamily="-110" charset="-128"/>
                <a:cs typeface="ＭＳ Ｐゴシック" pitchFamily="-110" charset="-128"/>
              </a:rPr>
              <a:t>Indeed, RFC 4949 defines computer security as follows: measures that implement and assure security services in a computer system, particularly those that assure access control service. </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Access control implements a security policy that specifies who or what (e.g., in the case of a process) may have access to each specific system resource, and the type of access that is permitted in each instance.</a:t>
            </a:r>
          </a:p>
          <a:p>
            <a:pPr eaLnBrk="1" hangingPunct="1"/>
            <a:endParaRPr lang="en-US" dirty="0">
              <a:latin typeface="Times New Roman" pitchFamily="-110" charset="0"/>
            </a:endParaRPr>
          </a:p>
        </p:txBody>
      </p:sp>
    </p:spTree>
    <p:extLst>
      <p:ext uri="{BB962C8B-B14F-4D97-AF65-F5344CB8AC3E}">
        <p14:creationId xmlns:p14="http://schemas.microsoft.com/office/powerpoint/2010/main" val="3802411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925230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9248985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7005969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339725">
              <a:buNone/>
            </a:pPr>
            <a:r>
              <a:rPr lang="en-US" i="1" u="sng" dirty="0">
                <a:solidFill>
                  <a:srgbClr val="0012A0"/>
                </a:solidFill>
              </a:rPr>
              <a:t>Q:</a:t>
            </a:r>
            <a:r>
              <a:rPr lang="en-US" i="1" dirty="0">
                <a:solidFill>
                  <a:srgbClr val="0012A0"/>
                </a:solidFill>
              </a:rPr>
              <a:t>  </a:t>
            </a:r>
            <a:r>
              <a:rPr lang="en-US" dirty="0"/>
              <a:t>What can a “</a:t>
            </a:r>
            <a:r>
              <a:rPr lang="en-US" altLang="ja-JP" dirty="0"/>
              <a:t>bad guy” do?</a:t>
            </a:r>
          </a:p>
          <a:p>
            <a:pPr indent="-339725">
              <a:buNone/>
            </a:pPr>
            <a:r>
              <a:rPr lang="en-US" i="1" u="sng" dirty="0">
                <a:solidFill>
                  <a:srgbClr val="0012A0"/>
                </a:solidFill>
              </a:rPr>
              <a:t>A:</a:t>
            </a:r>
            <a:r>
              <a:rPr lang="en-US" i="1" dirty="0">
                <a:solidFill>
                  <a:srgbClr val="0012A0"/>
                </a:solidFill>
              </a:rPr>
              <a:t>  </a:t>
            </a:r>
            <a:r>
              <a:rPr lang="en-US" dirty="0"/>
              <a:t>A lot!</a:t>
            </a:r>
          </a:p>
          <a:p>
            <a:pPr lvl="1"/>
            <a:r>
              <a:rPr lang="en-US" sz="2800" dirty="0">
                <a:solidFill>
                  <a:srgbClr val="C00000"/>
                </a:solidFill>
              </a:rPr>
              <a:t>eavesdrop: </a:t>
            </a:r>
            <a:r>
              <a:rPr lang="en-US" sz="2800" dirty="0"/>
              <a:t>intercept messages</a:t>
            </a:r>
          </a:p>
          <a:p>
            <a:pPr lvl="1"/>
            <a:r>
              <a:rPr lang="en-US" sz="2800" dirty="0"/>
              <a:t>actively </a:t>
            </a:r>
            <a:r>
              <a:rPr lang="en-US" sz="2800" dirty="0">
                <a:solidFill>
                  <a:srgbClr val="C00000"/>
                </a:solidFill>
              </a:rPr>
              <a:t>insert</a:t>
            </a:r>
            <a:r>
              <a:rPr lang="en-US" sz="2800" dirty="0"/>
              <a:t> messages into connection</a:t>
            </a:r>
          </a:p>
          <a:p>
            <a:pPr lvl="1"/>
            <a:r>
              <a:rPr lang="en-US" sz="2800" dirty="0">
                <a:solidFill>
                  <a:srgbClr val="C00000"/>
                </a:solidFill>
              </a:rPr>
              <a:t>impersonation: </a:t>
            </a:r>
            <a:r>
              <a:rPr lang="en-US" sz="2800" dirty="0"/>
              <a:t>can fake (spoof) source address in packet (or any field in packet)</a:t>
            </a:r>
          </a:p>
          <a:p>
            <a:pPr lvl="1"/>
            <a:r>
              <a:rPr lang="en-US" sz="2800" dirty="0">
                <a:solidFill>
                  <a:srgbClr val="C00000"/>
                </a:solidFill>
              </a:rPr>
              <a:t>hijacking: </a:t>
            </a:r>
            <a:r>
              <a:rPr lang="en-US" altLang="ja-JP" sz="2800" dirty="0"/>
              <a:t>“take over” ongoing connection by removing sender or receiver, inserting himself in place</a:t>
            </a:r>
          </a:p>
          <a:p>
            <a:pPr lvl="1"/>
            <a:r>
              <a:rPr lang="en-US" sz="2800" dirty="0">
                <a:solidFill>
                  <a:srgbClr val="C00000"/>
                </a:solidFill>
              </a:rPr>
              <a:t>denial of service: </a:t>
            </a:r>
            <a:r>
              <a:rPr lang="en-US" sz="2800" dirty="0"/>
              <a:t>prevent service from being used by others (e.g.,  by overloading resources)</a:t>
            </a:r>
          </a:p>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24</a:t>
            </a:fld>
            <a:endParaRPr lang="en-US" dirty="0"/>
          </a:p>
        </p:txBody>
      </p:sp>
    </p:spTree>
    <p:extLst>
      <p:ext uri="{BB962C8B-B14F-4D97-AF65-F5344CB8AC3E}">
        <p14:creationId xmlns:p14="http://schemas.microsoft.com/office/powerpoint/2010/main" val="3371273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0175" indent="-117475">
              <a:buNone/>
            </a:pPr>
            <a:r>
              <a:rPr lang="en-US" sz="2000" dirty="0"/>
              <a:t>Who might Bob and Alice be?</a:t>
            </a:r>
          </a:p>
          <a:p>
            <a:pPr marL="461963" indent="-250825"/>
            <a:r>
              <a:rPr lang="en-US" dirty="0"/>
              <a:t>… well, </a:t>
            </a:r>
            <a:r>
              <a:rPr lang="en-US" i="1" dirty="0"/>
              <a:t>real-life</a:t>
            </a:r>
            <a:r>
              <a:rPr lang="en-US" dirty="0"/>
              <a:t> Bobs and Alices!</a:t>
            </a:r>
          </a:p>
          <a:p>
            <a:pPr marL="461963" indent="-250825"/>
            <a:r>
              <a:rPr lang="en-US" dirty="0"/>
              <a:t>Web browser/server for electronic transactions (e.g., on-line purchases)</a:t>
            </a:r>
          </a:p>
          <a:p>
            <a:pPr marL="461963" indent="-250825"/>
            <a:r>
              <a:rPr lang="en-US" dirty="0"/>
              <a:t>on-line banking client/server</a:t>
            </a:r>
          </a:p>
          <a:p>
            <a:pPr marL="461963" indent="-250825"/>
            <a:r>
              <a:rPr lang="en-US" dirty="0"/>
              <a:t>DNS servers</a:t>
            </a:r>
          </a:p>
          <a:p>
            <a:pPr marL="461963" indent="-250825"/>
            <a:r>
              <a:rPr lang="en-US" dirty="0"/>
              <a:t>BGP routers exchanging routing table updates</a:t>
            </a:r>
          </a:p>
          <a:p>
            <a:pPr marL="461963" indent="-250825"/>
            <a:r>
              <a:rPr lang="en-US" dirty="0"/>
              <a:t>other examples?</a:t>
            </a:r>
          </a:p>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25</a:t>
            </a:fld>
            <a:endParaRPr lang="en-US" dirty="0"/>
          </a:p>
        </p:txBody>
      </p:sp>
    </p:spTree>
    <p:extLst>
      <p:ext uri="{BB962C8B-B14F-4D97-AF65-F5344CB8AC3E}">
        <p14:creationId xmlns:p14="http://schemas.microsoft.com/office/powerpoint/2010/main" val="3794087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26</a:t>
            </a:fld>
            <a:endParaRPr lang="en-US" dirty="0"/>
          </a:p>
        </p:txBody>
      </p:sp>
    </p:spTree>
    <p:extLst>
      <p:ext uri="{BB962C8B-B14F-4D97-AF65-F5344CB8AC3E}">
        <p14:creationId xmlns:p14="http://schemas.microsoft.com/office/powerpoint/2010/main" val="25937081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27</a:t>
            </a:fld>
            <a:endParaRPr lang="en-US" dirty="0"/>
          </a:p>
        </p:txBody>
      </p:sp>
    </p:spTree>
    <p:extLst>
      <p:ext uri="{BB962C8B-B14F-4D97-AF65-F5344CB8AC3E}">
        <p14:creationId xmlns:p14="http://schemas.microsoft.com/office/powerpoint/2010/main" val="1398541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28</a:t>
            </a:fld>
            <a:endParaRPr lang="en-US" dirty="0"/>
          </a:p>
        </p:txBody>
      </p:sp>
    </p:spTree>
    <p:extLst>
      <p:ext uri="{BB962C8B-B14F-4D97-AF65-F5344CB8AC3E}">
        <p14:creationId xmlns:p14="http://schemas.microsoft.com/office/powerpoint/2010/main" val="1536671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669753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31</a:t>
            </a:fld>
            <a:endParaRPr lang="en-US" dirty="0"/>
          </a:p>
        </p:txBody>
      </p:sp>
    </p:spTree>
    <p:extLst>
      <p:ext uri="{BB962C8B-B14F-4D97-AF65-F5344CB8AC3E}">
        <p14:creationId xmlns:p14="http://schemas.microsoft.com/office/powerpoint/2010/main" val="19207873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32</a:t>
            </a:fld>
            <a:endParaRPr lang="en-US" dirty="0"/>
          </a:p>
        </p:txBody>
      </p:sp>
    </p:spTree>
    <p:extLst>
      <p:ext uri="{BB962C8B-B14F-4D97-AF65-F5344CB8AC3E}">
        <p14:creationId xmlns:p14="http://schemas.microsoft.com/office/powerpoint/2010/main" val="20401877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33</a:t>
            </a:fld>
            <a:endParaRPr lang="en-US" dirty="0"/>
          </a:p>
        </p:txBody>
      </p:sp>
    </p:spTree>
    <p:extLst>
      <p:ext uri="{BB962C8B-B14F-4D97-AF65-F5344CB8AC3E}">
        <p14:creationId xmlns:p14="http://schemas.microsoft.com/office/powerpoint/2010/main" val="22597626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34</a:t>
            </a:fld>
            <a:endParaRPr lang="en-US" dirty="0"/>
          </a:p>
        </p:txBody>
      </p:sp>
    </p:spTree>
    <p:extLst>
      <p:ext uri="{BB962C8B-B14F-4D97-AF65-F5344CB8AC3E}">
        <p14:creationId xmlns:p14="http://schemas.microsoft.com/office/powerpoint/2010/main" val="38381084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Wingdings" charset="0"/>
              <a:buNone/>
            </a:pPr>
            <a:r>
              <a:rPr lang="en-US" sz="2000" dirty="0">
                <a:solidFill>
                  <a:srgbClr val="C00000"/>
                </a:solidFill>
              </a:rPr>
              <a:t>symmetric key crypto:</a:t>
            </a:r>
          </a:p>
          <a:p>
            <a:r>
              <a:rPr lang="en-US" dirty="0"/>
              <a:t>requires sender, receiver know shared secret key</a:t>
            </a:r>
          </a:p>
          <a:p>
            <a:r>
              <a:rPr lang="en-US" dirty="0"/>
              <a:t>Q: how to agree on key in first place (particularly if never “</a:t>
            </a:r>
            <a:r>
              <a:rPr lang="en-US" altLang="ja-JP" dirty="0"/>
              <a:t>met”)?</a:t>
            </a:r>
          </a:p>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35</a:t>
            </a:fld>
            <a:endParaRPr lang="en-US" dirty="0"/>
          </a:p>
        </p:txBody>
      </p:sp>
    </p:spTree>
    <p:extLst>
      <p:ext uri="{BB962C8B-B14F-4D97-AF65-F5344CB8AC3E}">
        <p14:creationId xmlns:p14="http://schemas.microsoft.com/office/powerpoint/2010/main" val="16840549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36</a:t>
            </a:fld>
            <a:endParaRPr lang="en-US" dirty="0"/>
          </a:p>
        </p:txBody>
      </p:sp>
    </p:spTree>
    <p:extLst>
      <p:ext uri="{BB962C8B-B14F-4D97-AF65-F5344CB8AC3E}">
        <p14:creationId xmlns:p14="http://schemas.microsoft.com/office/powerpoint/2010/main" val="23902813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40</a:t>
            </a:fld>
            <a:endParaRPr lang="en-US" dirty="0"/>
          </a:p>
        </p:txBody>
      </p:sp>
    </p:spTree>
    <p:extLst>
      <p:ext uri="{BB962C8B-B14F-4D97-AF65-F5344CB8AC3E}">
        <p14:creationId xmlns:p14="http://schemas.microsoft.com/office/powerpoint/2010/main" val="35219764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41</a:t>
            </a:fld>
            <a:endParaRPr lang="en-US" dirty="0"/>
          </a:p>
        </p:txBody>
      </p:sp>
    </p:spTree>
    <p:extLst>
      <p:ext uri="{BB962C8B-B14F-4D97-AF65-F5344CB8AC3E}">
        <p14:creationId xmlns:p14="http://schemas.microsoft.com/office/powerpoint/2010/main" val="15317401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42</a:t>
            </a:fld>
            <a:endParaRPr lang="en-US" dirty="0"/>
          </a:p>
        </p:txBody>
      </p:sp>
    </p:spTree>
    <p:extLst>
      <p:ext uri="{BB962C8B-B14F-4D97-AF65-F5344CB8AC3E}">
        <p14:creationId xmlns:p14="http://schemas.microsoft.com/office/powerpoint/2010/main" val="4023076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43</a:t>
            </a:fld>
            <a:endParaRPr lang="en-US" dirty="0"/>
          </a:p>
        </p:txBody>
      </p:sp>
    </p:spTree>
    <p:extLst>
      <p:ext uri="{BB962C8B-B14F-4D97-AF65-F5344CB8AC3E}">
        <p14:creationId xmlns:p14="http://schemas.microsoft.com/office/powerpoint/2010/main" val="797525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44</a:t>
            </a:fld>
            <a:endParaRPr lang="en-US" dirty="0"/>
          </a:p>
        </p:txBody>
      </p:sp>
    </p:spTree>
    <p:extLst>
      <p:ext uri="{BB962C8B-B14F-4D97-AF65-F5344CB8AC3E}">
        <p14:creationId xmlns:p14="http://schemas.microsoft.com/office/powerpoint/2010/main" val="20194807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45</a:t>
            </a:fld>
            <a:endParaRPr lang="en-US" dirty="0"/>
          </a:p>
        </p:txBody>
      </p:sp>
    </p:spTree>
    <p:extLst>
      <p:ext uri="{BB962C8B-B14F-4D97-AF65-F5344CB8AC3E}">
        <p14:creationId xmlns:p14="http://schemas.microsoft.com/office/powerpoint/2010/main" val="25315386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46</a:t>
            </a:fld>
            <a:endParaRPr lang="en-US" dirty="0"/>
          </a:p>
        </p:txBody>
      </p:sp>
    </p:spTree>
    <p:extLst>
      <p:ext uri="{BB962C8B-B14F-4D97-AF65-F5344CB8AC3E}">
        <p14:creationId xmlns:p14="http://schemas.microsoft.com/office/powerpoint/2010/main" val="27089004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16699213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40755272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2979326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51</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20483547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52</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388248537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53</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35686483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54</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16570202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55</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29602548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56</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33677440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57</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25141508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58</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33929176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59</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40403858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60</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28781731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61</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25933974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62</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158277980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63</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131771908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25488" indent="-277813" defTabSz="882650">
              <a:defRPr sz="2400">
                <a:solidFill>
                  <a:schemeClr val="tx1"/>
                </a:solidFill>
                <a:latin typeface="Arial" charset="0"/>
              </a:defRPr>
            </a:lvl2pPr>
            <a:lvl3pPr marL="1116013" indent="-222250" defTabSz="882650">
              <a:defRPr sz="2400">
                <a:solidFill>
                  <a:schemeClr val="tx1"/>
                </a:solidFill>
                <a:latin typeface="Arial" charset="0"/>
              </a:defRPr>
            </a:lvl3pPr>
            <a:lvl4pPr marL="1563688" indent="-222250" defTabSz="882650">
              <a:defRPr sz="2400">
                <a:solidFill>
                  <a:schemeClr val="tx1"/>
                </a:solidFill>
                <a:latin typeface="Arial" charset="0"/>
              </a:defRPr>
            </a:lvl4pPr>
            <a:lvl5pPr marL="2009775" indent="-222250" defTabSz="882650">
              <a:defRPr sz="2400">
                <a:solidFill>
                  <a:schemeClr val="tx1"/>
                </a:solidFill>
                <a:latin typeface="Arial" charset="0"/>
              </a:defRPr>
            </a:lvl5pPr>
            <a:lvl6pPr marL="2466975" indent="-222250" algn="ctr" defTabSz="882650" eaLnBrk="0" fontAlgn="base" hangingPunct="0">
              <a:lnSpc>
                <a:spcPct val="90000"/>
              </a:lnSpc>
              <a:spcBef>
                <a:spcPct val="0"/>
              </a:spcBef>
              <a:spcAft>
                <a:spcPct val="0"/>
              </a:spcAft>
              <a:defRPr sz="2400">
                <a:solidFill>
                  <a:schemeClr val="tx1"/>
                </a:solidFill>
                <a:latin typeface="Arial" charset="0"/>
              </a:defRPr>
            </a:lvl6pPr>
            <a:lvl7pPr marL="2924175" indent="-222250" algn="ctr" defTabSz="882650" eaLnBrk="0" fontAlgn="base" hangingPunct="0">
              <a:lnSpc>
                <a:spcPct val="90000"/>
              </a:lnSpc>
              <a:spcBef>
                <a:spcPct val="0"/>
              </a:spcBef>
              <a:spcAft>
                <a:spcPct val="0"/>
              </a:spcAft>
              <a:defRPr sz="2400">
                <a:solidFill>
                  <a:schemeClr val="tx1"/>
                </a:solidFill>
                <a:latin typeface="Arial" charset="0"/>
              </a:defRPr>
            </a:lvl7pPr>
            <a:lvl8pPr marL="3381375" indent="-222250" algn="ctr" defTabSz="882650" eaLnBrk="0" fontAlgn="base" hangingPunct="0">
              <a:lnSpc>
                <a:spcPct val="90000"/>
              </a:lnSpc>
              <a:spcBef>
                <a:spcPct val="0"/>
              </a:spcBef>
              <a:spcAft>
                <a:spcPct val="0"/>
              </a:spcAft>
              <a:defRPr sz="2400">
                <a:solidFill>
                  <a:schemeClr val="tx1"/>
                </a:solidFill>
                <a:latin typeface="Arial" charset="0"/>
              </a:defRPr>
            </a:lvl8pPr>
            <a:lvl9pPr marL="3838575" indent="-222250" algn="ctr" defTabSz="882650" eaLnBrk="0" fontAlgn="base" hangingPunct="0">
              <a:lnSpc>
                <a:spcPct val="90000"/>
              </a:lnSpc>
              <a:spcBef>
                <a:spcPct val="0"/>
              </a:spcBef>
              <a:spcAft>
                <a:spcPct val="0"/>
              </a:spcAft>
              <a:defRPr sz="2400">
                <a:solidFill>
                  <a:schemeClr val="tx1"/>
                </a:solidFill>
                <a:latin typeface="Arial" charset="0"/>
              </a:defRPr>
            </a:lvl9pPr>
          </a:lstStyle>
          <a:p>
            <a:fld id="{99470662-2A6C-4C51-9B3B-17DB6EFD3236}" type="slidenum">
              <a:rPr lang="en-US" altLang="en-US" sz="800" smtClean="0"/>
              <a:pPr/>
              <a:t>64</a:t>
            </a:fld>
            <a:endParaRPr lang="en-US" altLang="en-US" sz="800" dirty="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3049618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C3C25-8B07-95CA-9C4B-27DC578A11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E28614E-6442-81EF-B487-675F0A5721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91F0B6B-422C-33C3-8503-EC3B5EF57B5A}"/>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5" name="Footer Placeholder 4">
            <a:extLst>
              <a:ext uri="{FF2B5EF4-FFF2-40B4-BE49-F238E27FC236}">
                <a16:creationId xmlns:a16="http://schemas.microsoft.com/office/drawing/2014/main" id="{261062F0-D001-4545-259E-4388913668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BDE491-69CA-270C-E701-C981E98F67CE}"/>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3413706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F2DE-DC83-0B32-3064-DBE1325C24A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E692A1E-22DF-04EB-CA2B-647D858C65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DFA3089-2252-3CDF-18F6-A59844E9F5BB}"/>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5" name="Footer Placeholder 4">
            <a:extLst>
              <a:ext uri="{FF2B5EF4-FFF2-40B4-BE49-F238E27FC236}">
                <a16:creationId xmlns:a16="http://schemas.microsoft.com/office/drawing/2014/main" id="{97EDD447-E510-6DAD-B8E4-36613195ACF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4EF75C-2EA5-A1A8-A59E-5F70950FAA9E}"/>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3192516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DD47F-0C0F-A914-327E-516D3844C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5D51AF3-AF37-E38F-F95C-2EA246B369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0AB5DF-E6A8-4F7E-E126-6C677F4A0566}"/>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5" name="Footer Placeholder 4">
            <a:extLst>
              <a:ext uri="{FF2B5EF4-FFF2-40B4-BE49-F238E27FC236}">
                <a16:creationId xmlns:a16="http://schemas.microsoft.com/office/drawing/2014/main" id="{DF1CB36B-051A-9336-06B1-8EF75075EA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D0D8EE-805A-637E-4F63-160BB7FCA879}"/>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360129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018E-3D9F-AB47-FF44-69870BA6533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2D85C17-BB63-B3E9-09CF-C1B9C8E881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AB956AE-EDC9-D9DF-ABD3-4837AF28BB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C334E4D-0D21-B38D-A1F9-4BA24A7813B7}"/>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6" name="Footer Placeholder 5">
            <a:extLst>
              <a:ext uri="{FF2B5EF4-FFF2-40B4-BE49-F238E27FC236}">
                <a16:creationId xmlns:a16="http://schemas.microsoft.com/office/drawing/2014/main" id="{60C4A029-608A-255C-909D-3A190B33976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5868BB-A798-860E-9486-B37BDB4AE38D}"/>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2421342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EE9A-D18C-D5B2-E18F-A45CD2E906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3B84924-D640-B0DD-B574-8BDE22889F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8176BF-3A10-18AF-E249-B8ABF8CFC8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7BD9658-91EF-4207-75C3-DF76C6035B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F7FB99-A299-297A-3A10-88D6388035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6E2B133-924E-BA07-B13C-511F60142263}"/>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8" name="Footer Placeholder 7">
            <a:extLst>
              <a:ext uri="{FF2B5EF4-FFF2-40B4-BE49-F238E27FC236}">
                <a16:creationId xmlns:a16="http://schemas.microsoft.com/office/drawing/2014/main" id="{044B100B-8F7F-432A-7FC0-637883FC381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8A2242B-47E2-8B08-A3CD-D9BCF848B996}"/>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2903693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A23B1-8D98-609E-A197-1818210EEB9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A13C7A3-8C4C-56B0-CD79-2F1905CFED6C}"/>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4" name="Footer Placeholder 3">
            <a:extLst>
              <a:ext uri="{FF2B5EF4-FFF2-40B4-BE49-F238E27FC236}">
                <a16:creationId xmlns:a16="http://schemas.microsoft.com/office/drawing/2014/main" id="{939BC5AC-CC83-2BCA-1713-013F74CBBB0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D0F238F-4CCA-AA65-A72E-C57B7BD34EBD}"/>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551195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B3A7F6-64FD-4965-3BD1-DA6EE16E58A7}"/>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3" name="Footer Placeholder 2">
            <a:extLst>
              <a:ext uri="{FF2B5EF4-FFF2-40B4-BE49-F238E27FC236}">
                <a16:creationId xmlns:a16="http://schemas.microsoft.com/office/drawing/2014/main" id="{45387798-2469-E54C-D6A3-F2F4C82E0F5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8B5153F-3564-78DB-CA72-0ED6FE80000B}"/>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3235190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A56E-5C16-FDFA-E4FB-429131F936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FE161E7-843F-F051-38EC-85A8BAF1A7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E830D0A-BE38-E715-88DF-82AF18BCD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C48340-6D53-6B1A-CF91-6614A08AA6DD}"/>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6" name="Footer Placeholder 5">
            <a:extLst>
              <a:ext uri="{FF2B5EF4-FFF2-40B4-BE49-F238E27FC236}">
                <a16:creationId xmlns:a16="http://schemas.microsoft.com/office/drawing/2014/main" id="{214B6E87-8E32-70CC-9DB1-C7793F0E970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79EF08-EEA0-862B-C7A2-0A10DD934A27}"/>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2688723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3B103-8A8C-E630-28C8-A34F45FF14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1019E19-0B04-91D8-181F-4F160E0D8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2BBDF47-8898-650F-616F-9426DA82BA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85C7EC-78A8-EA2A-9F9B-7DB8997CE07D}"/>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6" name="Footer Placeholder 5">
            <a:extLst>
              <a:ext uri="{FF2B5EF4-FFF2-40B4-BE49-F238E27FC236}">
                <a16:creationId xmlns:a16="http://schemas.microsoft.com/office/drawing/2014/main" id="{91780616-FBD6-BA75-DFFD-DB1E4F85C4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CB5562E-C366-AE57-AB42-057972550FB2}"/>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357541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8D1FE-9C20-1F97-E91E-FDE2F7640B8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A9A06C4-9D46-8F1E-6DD3-71E79ED2BE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64B7C5-6946-1A1E-C6EF-448320A7EFE6}"/>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5" name="Footer Placeholder 4">
            <a:extLst>
              <a:ext uri="{FF2B5EF4-FFF2-40B4-BE49-F238E27FC236}">
                <a16:creationId xmlns:a16="http://schemas.microsoft.com/office/drawing/2014/main" id="{08241450-B9A9-D935-6C0A-ECC0D41FAF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51A78B-DEDE-C507-6622-E88758003528}"/>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1128515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54AA94-6775-9686-BAB8-0D6E989924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315E38C-3926-CAA1-24D5-0523A6F239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BA895CD-B687-C8DC-A74E-F3F9A0A8AC7B}"/>
              </a:ext>
            </a:extLst>
          </p:cNvPr>
          <p:cNvSpPr>
            <a:spLocks noGrp="1"/>
          </p:cNvSpPr>
          <p:nvPr>
            <p:ph type="dt" sz="half" idx="10"/>
          </p:nvPr>
        </p:nvSpPr>
        <p:spPr/>
        <p:txBody>
          <a:bodyPr/>
          <a:lstStyle/>
          <a:p>
            <a:fld id="{96D3DA11-7A57-4930-8B0D-D4F64F3EEA37}" type="datetimeFigureOut">
              <a:rPr lang="en-GB" smtClean="0"/>
              <a:t>04/11/2023</a:t>
            </a:fld>
            <a:endParaRPr lang="en-GB"/>
          </a:p>
        </p:txBody>
      </p:sp>
      <p:sp>
        <p:nvSpPr>
          <p:cNvPr id="5" name="Footer Placeholder 4">
            <a:extLst>
              <a:ext uri="{FF2B5EF4-FFF2-40B4-BE49-F238E27FC236}">
                <a16:creationId xmlns:a16="http://schemas.microsoft.com/office/drawing/2014/main" id="{0B6CAD0E-A468-F2F2-2AC6-CABF96E52ED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B36124-A92F-47C0-8304-2F209758A02C}"/>
              </a:ext>
            </a:extLst>
          </p:cNvPr>
          <p:cNvSpPr>
            <a:spLocks noGrp="1"/>
          </p:cNvSpPr>
          <p:nvPr>
            <p:ph type="sldNum" sz="quarter" idx="12"/>
          </p:nvPr>
        </p:nvSpPr>
        <p:spPr/>
        <p:txBody>
          <a:bodyPr/>
          <a:lstStyle/>
          <a:p>
            <a:fld id="{0C076D5B-FE04-4C37-84FB-1FD0A60C0852}" type="slidenum">
              <a:rPr lang="en-GB" smtClean="0"/>
              <a:t>‹#›</a:t>
            </a:fld>
            <a:endParaRPr lang="en-GB"/>
          </a:p>
        </p:txBody>
      </p:sp>
    </p:spTree>
    <p:extLst>
      <p:ext uri="{BB962C8B-B14F-4D97-AF65-F5344CB8AC3E}">
        <p14:creationId xmlns:p14="http://schemas.microsoft.com/office/powerpoint/2010/main" val="647179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365760"/>
            <a:ext cx="12192000" cy="1219200"/>
          </a:xfrm>
          <a:prstGeom prst="rect">
            <a:avLst/>
          </a:prstGeom>
          <a:noFill/>
          <a:ln/>
        </p:spPr>
        <p:txBody>
          <a:bodyPr wrap="square" rtlCol="0"/>
          <a:lstStyle>
            <a:lvl1pPr marL="0" indent="0">
              <a:buNone/>
              <a:defRPr lang="en-US" sz="2933" dirty="0">
                <a:solidFill>
                  <a:srgbClr val="024C69"/>
                </a:solidFill>
                <a:latin typeface="Arial" pitchFamily="34" charset="0"/>
                <a:ea typeface="Arial" pitchFamily="34" charset="-122"/>
                <a:cs typeface="Arial" pitchFamily="34" charset="-120"/>
              </a:defRPr>
            </a:lvl1pPr>
          </a:lstStyle>
          <a:p>
            <a:pPr marL="0" indent="0">
              <a:buNone/>
            </a:pPr>
            <a:r>
              <a:rPr lang="en-US" sz="2933" dirty="0">
                <a:solidFill>
                  <a:srgbClr val="024C69"/>
                </a:solidFill>
                <a:latin typeface="Arial" pitchFamily="34" charset="0"/>
                <a:ea typeface="Arial" pitchFamily="34" charset="-122"/>
                <a:cs typeface="Arial" pitchFamily="34" charset="-120"/>
              </a:rPr>
              <a:t>(custom placeholder text!)</a:t>
            </a:r>
            <a:endParaRPr lang="en-US" sz="2933" dirty="0"/>
          </a:p>
        </p:txBody>
      </p:sp>
    </p:spTree>
    <p:extLst>
      <p:ext uri="{BB962C8B-B14F-4D97-AF65-F5344CB8AC3E}">
        <p14:creationId xmlns:p14="http://schemas.microsoft.com/office/powerpoint/2010/main" val="751896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3_Segue">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ctrTitle"/>
          </p:nvPr>
        </p:nvSpPr>
        <p:spPr>
          <a:xfrm>
            <a:off x="555233" y="1220545"/>
            <a:ext cx="10130723" cy="3426595"/>
          </a:xfrm>
          <a:prstGeom prst="rect">
            <a:avLst/>
          </a:prstGeom>
        </p:spPr>
        <p:txBody>
          <a:bodyPr anchor="b">
            <a:noAutofit/>
          </a:bodyPr>
          <a:lstStyle>
            <a:lvl1pPr marL="0" indent="0" algn="l">
              <a:lnSpc>
                <a:spcPct val="90000"/>
              </a:lnSpc>
              <a:buFont typeface="Arial" panose="020B0604020202020204" pitchFamily="34" charset="0"/>
              <a:buNone/>
              <a:defRPr sz="6133"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11357833" y="6323876"/>
            <a:ext cx="287662" cy="206025"/>
          </a:xfrm>
          <a:prstGeom prst="rect">
            <a:avLst/>
          </a:prstGeom>
          <a:noFill/>
          <a:ln w="9525" algn="ctr">
            <a:noFill/>
            <a:miter lim="800000"/>
            <a:headEnd/>
            <a:tailEnd/>
          </a:ln>
          <a:effectLst/>
        </p:spPr>
        <p:txBody>
          <a:bodyPr wrap="none" lIns="82115" tIns="41056" rIns="82115" bIns="41056" anchor="b">
            <a:spAutoFit/>
          </a:bodyPr>
          <a:lstStyle/>
          <a:p>
            <a:pPr algn="r" defTabSz="814305" fontAlgn="auto">
              <a:spcBef>
                <a:spcPts val="0"/>
              </a:spcBef>
              <a:spcAft>
                <a:spcPts val="0"/>
              </a:spcAft>
              <a:defRPr/>
            </a:pPr>
            <a:fld id="{6A1E46DC-7EF6-4EA2-B285-14272867D133}" type="slidenum">
              <a:rPr lang="en-US" sz="800">
                <a:solidFill>
                  <a:schemeClr val="accent5">
                    <a:lumMod val="50000"/>
                  </a:schemeClr>
                </a:solidFill>
                <a:latin typeface="+mn-lt"/>
                <a:ea typeface="+mn-ea"/>
                <a:cs typeface="CiscoSans Thin"/>
              </a:rPr>
              <a:pPr algn="r" defTabSz="814305" fontAlgn="auto">
                <a:spcBef>
                  <a:spcPts val="0"/>
                </a:spcBef>
                <a:spcAft>
                  <a:spcPts val="0"/>
                </a:spcAft>
                <a:defRPr/>
              </a:pPr>
              <a:t>‹#›</a:t>
            </a:fld>
            <a:endParaRPr lang="en-US" sz="800" dirty="0">
              <a:solidFill>
                <a:schemeClr val="accent5">
                  <a:lumMod val="50000"/>
                </a:schemeClr>
              </a:solidFill>
              <a:latin typeface="+mn-lt"/>
              <a:ea typeface="+mn-ea"/>
              <a:cs typeface="CiscoSans Thin"/>
            </a:endParaRPr>
          </a:p>
        </p:txBody>
      </p:sp>
    </p:spTree>
    <p:extLst>
      <p:ext uri="{BB962C8B-B14F-4D97-AF65-F5344CB8AC3E}">
        <p14:creationId xmlns:p14="http://schemas.microsoft.com/office/powerpoint/2010/main" val="424696161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2A25E0-CF56-6AB7-FDD6-E6CC8CB1D5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A38A2B0-CB1C-0AC5-0231-32F55340FB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7697C1-2F28-0C0C-A4DC-EA4E8AC58A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D3DA11-7A57-4930-8B0D-D4F64F3EEA37}" type="datetimeFigureOut">
              <a:rPr lang="en-GB" smtClean="0"/>
              <a:t>04/11/2023</a:t>
            </a:fld>
            <a:endParaRPr lang="en-GB"/>
          </a:p>
        </p:txBody>
      </p:sp>
      <p:sp>
        <p:nvSpPr>
          <p:cNvPr id="5" name="Footer Placeholder 4">
            <a:extLst>
              <a:ext uri="{FF2B5EF4-FFF2-40B4-BE49-F238E27FC236}">
                <a16:creationId xmlns:a16="http://schemas.microsoft.com/office/drawing/2014/main" id="{C91CD144-1836-2CD5-092C-6C1D2FE024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E672E17-CB3E-4244-F9E7-5C50D8D54C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76D5B-FE04-4C37-84FB-1FD0A60C0852}" type="slidenum">
              <a:rPr lang="en-GB" smtClean="0"/>
              <a:t>‹#›</a:t>
            </a:fld>
            <a:endParaRPr lang="en-GB"/>
          </a:p>
        </p:txBody>
      </p:sp>
    </p:spTree>
    <p:extLst>
      <p:ext uri="{BB962C8B-B14F-4D97-AF65-F5344CB8AC3E}">
        <p14:creationId xmlns:p14="http://schemas.microsoft.com/office/powerpoint/2010/main" val="115320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video" Target="https://www.youtube.com/embed/ZMkjpSfk8-E?feature=oembed" TargetMode="Externa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2.wmf"/><Relationship Id="rId5" Type="http://schemas.openxmlformats.org/officeDocument/2006/relationships/image" Target="../media/image10.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12.wmf"/><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12.wmf"/><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43.xml"/><Relationship Id="rId1" Type="http://schemas.openxmlformats.org/officeDocument/2006/relationships/slideLayout" Target="../slideLayouts/slideLayout4.xml"/><Relationship Id="rId5" Type="http://schemas.openxmlformats.org/officeDocument/2006/relationships/image" Target="../media/image12.wmf"/><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D872F0-76DE-5B1F-0188-2E60B0716A22}"/>
              </a:ext>
            </a:extLst>
          </p:cNvPr>
          <p:cNvSpPr>
            <a:spLocks noGrp="1"/>
          </p:cNvSpPr>
          <p:nvPr>
            <p:ph type="sldNum" sz="quarter" idx="4294967295"/>
          </p:nvPr>
        </p:nvSpPr>
        <p:spPr>
          <a:xfrm>
            <a:off x="11582400" y="6172200"/>
            <a:ext cx="609600" cy="304800"/>
          </a:xfrm>
        </p:spPr>
        <p:txBody>
          <a:bodyPr/>
          <a:lstStyle/>
          <a:p>
            <a:fld id="{F7021451-1387-4CA6-816F-3879F97B5CBC}" type="slidenum">
              <a:rPr lang="en-US" smtClean="0"/>
              <a:t>1</a:t>
            </a:fld>
            <a:endParaRPr lang="en-US" dirty="0"/>
          </a:p>
        </p:txBody>
      </p:sp>
      <p:sp>
        <p:nvSpPr>
          <p:cNvPr id="5" name="Object1">
            <a:extLst>
              <a:ext uri="{FF2B5EF4-FFF2-40B4-BE49-F238E27FC236}">
                <a16:creationId xmlns:a16="http://schemas.microsoft.com/office/drawing/2014/main" id="{D8BA817F-62D5-0DAC-3283-FD439B9B7ECF}"/>
              </a:ext>
            </a:extLst>
          </p:cNvPr>
          <p:cNvSpPr txBox="1">
            <a:spLocks/>
          </p:cNvSpPr>
          <p:nvPr/>
        </p:nvSpPr>
        <p:spPr>
          <a:xfrm>
            <a:off x="2527300" y="2959100"/>
            <a:ext cx="8534400" cy="749300"/>
          </a:xfrm>
          <a:prstGeom prst="rect">
            <a:avLst/>
          </a:prstGeom>
          <a:noFill/>
          <a:ln/>
        </p:spPr>
        <p:txBody>
          <a:bodyPr vert="horz" wrap="square" lIns="91440" tIns="45720" rIns="91440" bIns="45720" rtlCol="0">
            <a:normAutofit/>
          </a:bodyPr>
          <a:lstStyle>
            <a:lvl1pPr marL="0" indent="0" algn="l" defTabSz="914400" rtl="0" eaLnBrk="1" latinLnBrk="0" hangingPunct="1">
              <a:lnSpc>
                <a:spcPct val="90000"/>
              </a:lnSpc>
              <a:spcBef>
                <a:spcPts val="1000"/>
              </a:spcBef>
              <a:buClr>
                <a:srgbClr val="0000A3"/>
              </a:buClr>
              <a:buFont typeface="Wingdings" pitchFamily="2" charset="2"/>
              <a:buNone/>
              <a:tabLst/>
              <a:defRPr lang="en-US" sz="2933" kern="1200" dirty="0">
                <a:solidFill>
                  <a:srgbClr val="024C69"/>
                </a:solidFill>
                <a:latin typeface="Arial" pitchFamily="34" charset="0"/>
                <a:ea typeface="Arial" pitchFamily="34" charset="-122"/>
                <a:cs typeface="Arial" pitchFamily="34" charset="-120"/>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Monitoring, Management and Security</a:t>
            </a:r>
          </a:p>
        </p:txBody>
      </p:sp>
    </p:spTree>
    <p:extLst>
      <p:ext uri="{BB962C8B-B14F-4D97-AF65-F5344CB8AC3E}">
        <p14:creationId xmlns:p14="http://schemas.microsoft.com/office/powerpoint/2010/main" val="1938522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C1C27B-44AB-52F4-834A-51EFFDE32519}"/>
              </a:ext>
            </a:extLst>
          </p:cNvPr>
          <p:cNvSpPr>
            <a:spLocks noGrp="1"/>
          </p:cNvSpPr>
          <p:nvPr>
            <p:ph type="body" idx="100"/>
          </p:nvPr>
        </p:nvSpPr>
        <p:spPr>
          <a:xfrm>
            <a:off x="0" y="365760"/>
            <a:ext cx="12192000" cy="512064"/>
          </a:xfrm>
        </p:spPr>
        <p:txBody>
          <a:bodyPr/>
          <a:lstStyle/>
          <a:p>
            <a:r>
              <a:rPr lang="en-US" b="0" i="0" dirty="0">
                <a:solidFill>
                  <a:schemeClr val="tx1"/>
                </a:solidFill>
                <a:effectLst/>
                <a:latin typeface="CiscoSans"/>
              </a:rPr>
              <a:t>What are network monitoring systems?</a:t>
            </a:r>
          </a:p>
        </p:txBody>
      </p:sp>
      <p:sp>
        <p:nvSpPr>
          <p:cNvPr id="4" name="Slide Number Placeholder 3">
            <a:extLst>
              <a:ext uri="{FF2B5EF4-FFF2-40B4-BE49-F238E27FC236}">
                <a16:creationId xmlns:a16="http://schemas.microsoft.com/office/drawing/2014/main" id="{E06C19F5-1F12-8D95-4F4F-A8432D6D3637}"/>
              </a:ext>
            </a:extLst>
          </p:cNvPr>
          <p:cNvSpPr>
            <a:spLocks noGrp="1"/>
          </p:cNvSpPr>
          <p:nvPr>
            <p:ph type="sldNum" sz="quarter" idx="4294967295"/>
          </p:nvPr>
        </p:nvSpPr>
        <p:spPr>
          <a:xfrm>
            <a:off x="11582400" y="6172200"/>
            <a:ext cx="609600" cy="304800"/>
          </a:xfrm>
        </p:spPr>
        <p:txBody>
          <a:bodyPr/>
          <a:lstStyle/>
          <a:p>
            <a:fld id="{F7021451-1387-4CA6-816F-3879F97B5CBC}" type="slidenum">
              <a:rPr lang="en-US" smtClean="0"/>
              <a:t>2</a:t>
            </a:fld>
            <a:endParaRPr lang="en-US" dirty="0"/>
          </a:p>
        </p:txBody>
      </p:sp>
      <p:sp>
        <p:nvSpPr>
          <p:cNvPr id="6" name="TextBox 5">
            <a:extLst>
              <a:ext uri="{FF2B5EF4-FFF2-40B4-BE49-F238E27FC236}">
                <a16:creationId xmlns:a16="http://schemas.microsoft.com/office/drawing/2014/main" id="{19A150B8-90F5-3966-B932-2B3A6E49D425}"/>
              </a:ext>
            </a:extLst>
          </p:cNvPr>
          <p:cNvSpPr txBox="1"/>
          <p:nvPr/>
        </p:nvSpPr>
        <p:spPr>
          <a:xfrm>
            <a:off x="88900" y="1109531"/>
            <a:ext cx="11671300" cy="5324535"/>
          </a:xfrm>
          <a:prstGeom prst="rect">
            <a:avLst/>
          </a:prstGeom>
          <a:noFill/>
        </p:spPr>
        <p:txBody>
          <a:bodyPr wrap="square">
            <a:spAutoFit/>
          </a:bodyPr>
          <a:lstStyle/>
          <a:p>
            <a:pPr marL="457200" indent="-457200" algn="l" fontAlgn="base">
              <a:buFont typeface="Arial" panose="020B0604020202020204" pitchFamily="34" charset="0"/>
              <a:buChar char="•"/>
            </a:pPr>
            <a:r>
              <a:rPr lang="en-US" sz="2400" b="0" i="0" dirty="0">
                <a:effectLst/>
                <a:latin typeface="CiscoSans"/>
              </a:rPr>
              <a:t>Network monitoring systems include software and hardware tools that can track various aspects of a network and its operation:</a:t>
            </a:r>
          </a:p>
          <a:p>
            <a:pPr marL="1371600" lvl="2" indent="-457200" fontAlgn="base">
              <a:buFont typeface="Arial" panose="020B0604020202020204" pitchFamily="34" charset="0"/>
              <a:buChar char="•"/>
            </a:pPr>
            <a:r>
              <a:rPr lang="en-US" sz="2400" dirty="0">
                <a:latin typeface="CiscoSans"/>
              </a:rPr>
              <a:t>T</a:t>
            </a:r>
            <a:r>
              <a:rPr lang="en-US" sz="2400" b="0" i="0" dirty="0">
                <a:effectLst/>
                <a:latin typeface="CiscoSans"/>
              </a:rPr>
              <a:t>raffic</a:t>
            </a:r>
          </a:p>
          <a:p>
            <a:pPr marL="1371600" lvl="2" indent="-457200" fontAlgn="base">
              <a:buFont typeface="Arial" panose="020B0604020202020204" pitchFamily="34" charset="0"/>
              <a:buChar char="•"/>
            </a:pPr>
            <a:r>
              <a:rPr lang="en-US" sz="2400" dirty="0">
                <a:latin typeface="CiscoSans"/>
              </a:rPr>
              <a:t>B</a:t>
            </a:r>
            <a:r>
              <a:rPr lang="en-US" sz="2400" b="0" i="0" dirty="0">
                <a:effectLst/>
                <a:latin typeface="CiscoSans"/>
              </a:rPr>
              <a:t>andwidth utilization</a:t>
            </a:r>
          </a:p>
          <a:p>
            <a:pPr marL="1371600" lvl="2" indent="-457200" fontAlgn="base">
              <a:buFont typeface="Arial" panose="020B0604020202020204" pitchFamily="34" charset="0"/>
              <a:buChar char="•"/>
            </a:pPr>
            <a:r>
              <a:rPr lang="en-US" sz="2400" dirty="0">
                <a:latin typeface="CiscoSans"/>
              </a:rPr>
              <a:t>U</a:t>
            </a:r>
            <a:r>
              <a:rPr lang="en-US" sz="2400" b="0" i="0" dirty="0">
                <a:effectLst/>
                <a:latin typeface="CiscoSans"/>
              </a:rPr>
              <a:t>ptime; </a:t>
            </a:r>
            <a:r>
              <a:rPr lang="en-US" sz="2400" b="0" i="0" dirty="0" err="1">
                <a:effectLst/>
                <a:latin typeface="CiscoSans"/>
              </a:rPr>
              <a:t>etc</a:t>
            </a:r>
            <a:endParaRPr lang="en-US" sz="2400" b="0" i="0" dirty="0">
              <a:effectLst/>
              <a:latin typeface="CiscoSans"/>
            </a:endParaRPr>
          </a:p>
          <a:p>
            <a:pPr marL="457200" indent="-457200" algn="l" fontAlgn="base">
              <a:buFont typeface="Arial" panose="020B0604020202020204" pitchFamily="34" charset="0"/>
              <a:buChar char="•"/>
            </a:pPr>
            <a:r>
              <a:rPr lang="en-US" sz="2400" dirty="0">
                <a:latin typeface="CiscoSans"/>
              </a:rPr>
              <a:t>S</a:t>
            </a:r>
            <a:r>
              <a:rPr lang="en-US" sz="2400" b="0" i="0" dirty="0">
                <a:effectLst/>
                <a:latin typeface="CiscoSans"/>
              </a:rPr>
              <a:t>ystems can detect devices and other elements that comprise or touch the network, as well as provide status updates.</a:t>
            </a:r>
          </a:p>
          <a:p>
            <a:pPr marL="457200" indent="-457200" algn="l" fontAlgn="base">
              <a:buFont typeface="Arial" panose="020B0604020202020204" pitchFamily="34" charset="0"/>
              <a:buChar char="•"/>
            </a:pPr>
            <a:r>
              <a:rPr lang="en-US" sz="2400" b="0" i="0" dirty="0">
                <a:effectLst/>
                <a:latin typeface="CiscoSans"/>
              </a:rPr>
              <a:t>Network administrators rely on network monitoring systems to help them quickly detect device or connection failures or issues such as traffic bottlenecks that limit data flow. </a:t>
            </a:r>
          </a:p>
          <a:p>
            <a:pPr marL="457200" indent="-457200" algn="l" fontAlgn="base">
              <a:buFont typeface="Arial" panose="020B0604020202020204" pitchFamily="34" charset="0"/>
              <a:buChar char="•"/>
            </a:pPr>
            <a:r>
              <a:rPr lang="en-US" sz="2400" b="0" i="0" dirty="0">
                <a:effectLst/>
                <a:latin typeface="CiscoSans"/>
              </a:rPr>
              <a:t>These systems can alert administrators to issues via email or text and deliver reports via </a:t>
            </a:r>
            <a:r>
              <a:rPr lang="en-US" sz="2400" b="0" i="0" u="none" strike="noStrike" dirty="0">
                <a:effectLst/>
                <a:latin typeface="inherit"/>
              </a:rPr>
              <a:t>network analytics</a:t>
            </a:r>
            <a:r>
              <a:rPr lang="en-US" sz="2400" b="0" i="0" dirty="0">
                <a:effectLst/>
                <a:latin typeface="CiscoSans"/>
              </a:rPr>
              <a:t>.</a:t>
            </a:r>
          </a:p>
          <a:p>
            <a:pPr marL="457200" indent="-457200" fontAlgn="base">
              <a:buFont typeface="Arial" panose="020B0604020202020204" pitchFamily="34" charset="0"/>
              <a:buChar char="•"/>
            </a:pPr>
            <a:r>
              <a:rPr lang="en-US" sz="2400" b="0" i="0" dirty="0">
                <a:effectLst/>
                <a:latin typeface="CiscoSans"/>
              </a:rPr>
              <a:t>Network monitoring systems use protocols to identify and report on network performance issues.</a:t>
            </a:r>
          </a:p>
          <a:p>
            <a:pPr marL="457200" indent="-457200" algn="l" fontAlgn="base">
              <a:buFont typeface="Arial" panose="020B0604020202020204" pitchFamily="34" charset="0"/>
              <a:buChar char="•"/>
            </a:pPr>
            <a:endParaRPr lang="en-US" sz="2800" b="0" i="0" dirty="0">
              <a:effectLst/>
              <a:latin typeface="CiscoSans"/>
            </a:endParaRPr>
          </a:p>
        </p:txBody>
      </p:sp>
    </p:spTree>
    <p:extLst>
      <p:ext uri="{BB962C8B-B14F-4D97-AF65-F5344CB8AC3E}">
        <p14:creationId xmlns:p14="http://schemas.microsoft.com/office/powerpoint/2010/main" val="2452159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BE08CA-B05B-FE14-84EE-C6D767DAAC8A}"/>
              </a:ext>
            </a:extLst>
          </p:cNvPr>
          <p:cNvSpPr>
            <a:spLocks noGrp="1"/>
          </p:cNvSpPr>
          <p:nvPr>
            <p:ph type="sldNum" sz="quarter" idx="4294967295"/>
          </p:nvPr>
        </p:nvSpPr>
        <p:spPr>
          <a:xfrm>
            <a:off x="11582400" y="6172200"/>
            <a:ext cx="609600" cy="304800"/>
          </a:xfrm>
        </p:spPr>
        <p:txBody>
          <a:bodyPr/>
          <a:lstStyle/>
          <a:p>
            <a:fld id="{F7021451-1387-4CA6-816F-3879F97B5CBC}" type="slidenum">
              <a:rPr lang="en-US" smtClean="0"/>
              <a:t>3</a:t>
            </a:fld>
            <a:endParaRPr lang="en-US" dirty="0"/>
          </a:p>
        </p:txBody>
      </p:sp>
      <p:sp>
        <p:nvSpPr>
          <p:cNvPr id="6" name="TextBox 5">
            <a:extLst>
              <a:ext uri="{FF2B5EF4-FFF2-40B4-BE49-F238E27FC236}">
                <a16:creationId xmlns:a16="http://schemas.microsoft.com/office/drawing/2014/main" id="{142D036C-BE62-3C6E-9104-180254F8C39A}"/>
              </a:ext>
            </a:extLst>
          </p:cNvPr>
          <p:cNvSpPr txBox="1"/>
          <p:nvPr/>
        </p:nvSpPr>
        <p:spPr>
          <a:xfrm>
            <a:off x="191386" y="737559"/>
            <a:ext cx="10387584" cy="6001643"/>
          </a:xfrm>
          <a:prstGeom prst="rect">
            <a:avLst/>
          </a:prstGeom>
          <a:noFill/>
        </p:spPr>
        <p:txBody>
          <a:bodyPr wrap="square">
            <a:spAutoFit/>
          </a:bodyPr>
          <a:lstStyle/>
          <a:p>
            <a:pPr marL="457200" indent="-457200" algn="l" fontAlgn="base">
              <a:buFont typeface="Arial" panose="020B0604020202020204" pitchFamily="34" charset="0"/>
              <a:buChar char="•"/>
            </a:pPr>
            <a:r>
              <a:rPr lang="en-US" sz="2400" b="0" i="0" dirty="0">
                <a:solidFill>
                  <a:srgbClr val="4D4C4C"/>
                </a:solidFill>
                <a:effectLst/>
                <a:latin typeface="CiscoSans"/>
              </a:rPr>
              <a:t>Clear visibility into the network:</a:t>
            </a:r>
          </a:p>
          <a:p>
            <a:pPr marL="457200" indent="-457200" algn="l" fontAlgn="base">
              <a:buFont typeface="Arial" panose="020B0604020202020204" pitchFamily="34" charset="0"/>
              <a:buChar char="•"/>
            </a:pPr>
            <a:endParaRPr lang="en-US" sz="2400" b="0" i="0" dirty="0">
              <a:solidFill>
                <a:srgbClr val="4D4C4C"/>
              </a:solidFill>
              <a:effectLst/>
              <a:latin typeface="CiscoSans"/>
            </a:endParaRPr>
          </a:p>
          <a:p>
            <a:pPr marL="914400" lvl="1" indent="-457200" fontAlgn="base">
              <a:buFont typeface="Arial" panose="020B0604020202020204" pitchFamily="34" charset="0"/>
              <a:buChar char="•"/>
            </a:pPr>
            <a:r>
              <a:rPr lang="en-US" sz="2400" b="0" i="0" dirty="0">
                <a:solidFill>
                  <a:srgbClr val="4D4C4C"/>
                </a:solidFill>
                <a:effectLst/>
                <a:latin typeface="CiscoSans"/>
              </a:rPr>
              <a:t>A clear picture of all the connected devices in the network</a:t>
            </a:r>
            <a:endParaRPr lang="en-US" sz="2400" dirty="0">
              <a:solidFill>
                <a:srgbClr val="4D4C4C"/>
              </a:solidFill>
              <a:latin typeface="CiscoSans"/>
            </a:endParaRPr>
          </a:p>
          <a:p>
            <a:pPr marL="914400" lvl="1" indent="-457200" fontAlgn="base">
              <a:buFont typeface="Arial" panose="020B0604020202020204" pitchFamily="34" charset="0"/>
              <a:buChar char="•"/>
            </a:pPr>
            <a:r>
              <a:rPr lang="en-US" sz="2400" b="0" i="0" dirty="0">
                <a:solidFill>
                  <a:srgbClr val="4D4C4C"/>
                </a:solidFill>
                <a:effectLst/>
                <a:latin typeface="CiscoSans"/>
              </a:rPr>
              <a:t>How data is moving among them</a:t>
            </a:r>
            <a:endParaRPr lang="en-US" sz="2400" dirty="0">
              <a:solidFill>
                <a:srgbClr val="4D4C4C"/>
              </a:solidFill>
              <a:latin typeface="CiscoSans"/>
            </a:endParaRPr>
          </a:p>
          <a:p>
            <a:pPr marL="914400" lvl="1" indent="-457200" fontAlgn="base">
              <a:buFont typeface="Arial" panose="020B0604020202020204" pitchFamily="34" charset="0"/>
              <a:buChar char="•"/>
            </a:pPr>
            <a:r>
              <a:rPr lang="en-US" sz="2400" b="0" i="0" dirty="0">
                <a:solidFill>
                  <a:srgbClr val="4D4C4C"/>
                </a:solidFill>
                <a:effectLst/>
                <a:latin typeface="CiscoSans"/>
              </a:rPr>
              <a:t>Identify and correct issues that can undermine performance and lead to outages.</a:t>
            </a:r>
          </a:p>
          <a:p>
            <a:pPr marL="457200" indent="-457200" algn="l" fontAlgn="base">
              <a:buFont typeface="Arial" panose="020B0604020202020204" pitchFamily="34" charset="0"/>
              <a:buChar char="•"/>
            </a:pPr>
            <a:endParaRPr lang="en-US" sz="2400" b="0" i="0" dirty="0">
              <a:solidFill>
                <a:srgbClr val="4D4C4C"/>
              </a:solidFill>
              <a:effectLst/>
              <a:latin typeface="CiscoSans"/>
            </a:endParaRPr>
          </a:p>
          <a:p>
            <a:pPr marL="457200" indent="-457200" algn="l" fontAlgn="base">
              <a:buFont typeface="Arial" panose="020B0604020202020204" pitchFamily="34" charset="0"/>
              <a:buChar char="•"/>
            </a:pPr>
            <a:r>
              <a:rPr lang="en-US" sz="2400" b="0" i="0" dirty="0">
                <a:solidFill>
                  <a:srgbClr val="4D4C4C"/>
                </a:solidFill>
                <a:effectLst/>
                <a:latin typeface="CiscoSans"/>
              </a:rPr>
              <a:t>Better use of IT resources</a:t>
            </a:r>
          </a:p>
          <a:p>
            <a:pPr marL="914400" lvl="1" indent="-457200" fontAlgn="base">
              <a:buFont typeface="Arial" panose="020B0604020202020204" pitchFamily="34" charset="0"/>
              <a:buChar char="•"/>
            </a:pPr>
            <a:r>
              <a:rPr lang="en-US" sz="2400" dirty="0">
                <a:solidFill>
                  <a:srgbClr val="4D4C4C"/>
                </a:solidFill>
                <a:latin typeface="CiscoSans"/>
              </a:rPr>
              <a:t>H</a:t>
            </a:r>
            <a:r>
              <a:rPr lang="en-US" sz="2400" b="0" i="0" dirty="0">
                <a:solidFill>
                  <a:srgbClr val="4D4C4C"/>
                </a:solidFill>
                <a:effectLst/>
                <a:latin typeface="CiscoSans"/>
              </a:rPr>
              <a:t>ardware and software tools in to reduce manual work for IT teams.</a:t>
            </a:r>
          </a:p>
          <a:p>
            <a:pPr marL="914400" lvl="1" indent="-457200" fontAlgn="base">
              <a:buFont typeface="Arial" panose="020B0604020202020204" pitchFamily="34" charset="0"/>
              <a:buChar char="•"/>
            </a:pPr>
            <a:r>
              <a:rPr lang="en-US" sz="2400" b="0" i="0" dirty="0">
                <a:solidFill>
                  <a:srgbClr val="4D4C4C"/>
                </a:solidFill>
                <a:effectLst/>
                <a:latin typeface="CiscoSans"/>
              </a:rPr>
              <a:t>Early insight into future infrastructure needs</a:t>
            </a:r>
          </a:p>
          <a:p>
            <a:pPr marL="457200" indent="-457200" algn="l" fontAlgn="base">
              <a:buFont typeface="Arial" panose="020B0604020202020204" pitchFamily="34" charset="0"/>
              <a:buChar char="•"/>
            </a:pPr>
            <a:endParaRPr lang="en-US" sz="2400" b="0" i="0" dirty="0">
              <a:solidFill>
                <a:srgbClr val="4D4C4C"/>
              </a:solidFill>
              <a:effectLst/>
              <a:latin typeface="CiscoSans"/>
            </a:endParaRPr>
          </a:p>
          <a:p>
            <a:pPr marL="457200" indent="-457200" algn="l" fontAlgn="base">
              <a:buFont typeface="Arial" panose="020B0604020202020204" pitchFamily="34" charset="0"/>
              <a:buChar char="•"/>
            </a:pPr>
            <a:r>
              <a:rPr lang="en-US" sz="2400" b="0" i="0" dirty="0">
                <a:solidFill>
                  <a:srgbClr val="4D4C4C"/>
                </a:solidFill>
                <a:effectLst/>
                <a:latin typeface="CiscoSans"/>
              </a:rPr>
              <a:t>The ability to identify security threats faster</a:t>
            </a:r>
          </a:p>
          <a:p>
            <a:pPr marL="457200" indent="-457200" algn="l" fontAlgn="base">
              <a:buFont typeface="Arial" panose="020B0604020202020204" pitchFamily="34" charset="0"/>
              <a:buChar char="•"/>
            </a:pPr>
            <a:r>
              <a:rPr lang="en-GB" sz="2400" kern="0" dirty="0">
                <a:solidFill>
                  <a:srgbClr val="4D4C4C"/>
                </a:solidFill>
                <a:latin typeface="inherit"/>
                <a:ea typeface="Times New Roman" panose="02020603050405020304" pitchFamily="18" charset="0"/>
                <a:cs typeface="Arial" panose="020B0604020202020204" pitchFamily="34" charset="0"/>
              </a:rPr>
              <a:t>N</a:t>
            </a:r>
            <a:r>
              <a:rPr lang="en-GB" sz="2400" kern="0" dirty="0">
                <a:solidFill>
                  <a:srgbClr val="4D4C4C"/>
                </a:solidFill>
                <a:effectLst/>
                <a:latin typeface="inherit"/>
                <a:ea typeface="Times New Roman" panose="02020603050405020304" pitchFamily="18" charset="0"/>
                <a:cs typeface="Arial" panose="020B0604020202020204" pitchFamily="34" charset="0"/>
              </a:rPr>
              <a:t>etwork monitoring protocols:</a:t>
            </a:r>
          </a:p>
          <a:p>
            <a:pPr marL="914400" lvl="1" indent="-457200" fontAlgn="base">
              <a:buFont typeface="Arial" panose="020B0604020202020204" pitchFamily="34" charset="0"/>
              <a:buChar char="•"/>
            </a:pPr>
            <a:r>
              <a:rPr lang="en-GB" sz="2400" kern="0" dirty="0">
                <a:solidFill>
                  <a:srgbClr val="4D4C4C"/>
                </a:solidFill>
                <a:latin typeface="inherit"/>
                <a:ea typeface="Times New Roman" panose="02020603050405020304" pitchFamily="18" charset="0"/>
                <a:cs typeface="Arial" panose="020B0604020202020204" pitchFamily="34" charset="0"/>
              </a:rPr>
              <a:t>SNMP</a:t>
            </a:r>
          </a:p>
          <a:p>
            <a:pPr marL="914400" lvl="1" indent="-457200" fontAlgn="base">
              <a:buFont typeface="Arial" panose="020B0604020202020204" pitchFamily="34" charset="0"/>
              <a:buChar char="•"/>
            </a:pPr>
            <a:r>
              <a:rPr lang="en-GB" sz="2400" kern="0" dirty="0">
                <a:solidFill>
                  <a:srgbClr val="4D4C4C"/>
                </a:solidFill>
                <a:effectLst/>
                <a:latin typeface="inherit"/>
                <a:ea typeface="Times New Roman" panose="02020603050405020304" pitchFamily="18" charset="0"/>
                <a:cs typeface="Arial" panose="020B0604020202020204" pitchFamily="34" charset="0"/>
              </a:rPr>
              <a:t>ICMP</a:t>
            </a:r>
          </a:p>
          <a:p>
            <a:pPr marL="914400" lvl="1" indent="-457200" fontAlgn="base">
              <a:buFont typeface="Arial" panose="020B0604020202020204" pitchFamily="34" charset="0"/>
              <a:buChar char="•"/>
            </a:pPr>
            <a:r>
              <a:rPr lang="en-GB" sz="2400" b="0" i="0" kern="0" dirty="0">
                <a:solidFill>
                  <a:srgbClr val="4D4C4C"/>
                </a:solidFill>
                <a:latin typeface="inherit"/>
                <a:cs typeface="Arial" panose="020B0604020202020204" pitchFamily="34" charset="0"/>
              </a:rPr>
              <a:t>CDP - </a:t>
            </a:r>
            <a:r>
              <a:rPr lang="en-GB" sz="2400" kern="0" dirty="0">
                <a:solidFill>
                  <a:srgbClr val="4D4C4C"/>
                </a:solidFill>
                <a:effectLst/>
                <a:latin typeface="inherit"/>
                <a:ea typeface="Times New Roman" panose="02020603050405020304" pitchFamily="18" charset="0"/>
                <a:cs typeface="Arial" panose="020B0604020202020204" pitchFamily="34" charset="0"/>
              </a:rPr>
              <a:t>Cisco Discovery Protocol</a:t>
            </a:r>
            <a:endParaRPr lang="en-US" sz="2400" b="0" i="0" dirty="0">
              <a:solidFill>
                <a:srgbClr val="4D4C4C"/>
              </a:solidFill>
              <a:effectLst/>
              <a:latin typeface="CiscoSans"/>
            </a:endParaRPr>
          </a:p>
        </p:txBody>
      </p:sp>
      <p:sp>
        <p:nvSpPr>
          <p:cNvPr id="8" name="TextBox 7">
            <a:extLst>
              <a:ext uri="{FF2B5EF4-FFF2-40B4-BE49-F238E27FC236}">
                <a16:creationId xmlns:a16="http://schemas.microsoft.com/office/drawing/2014/main" id="{6DB5144E-6655-F2AC-E8DF-27416F934EF2}"/>
              </a:ext>
            </a:extLst>
          </p:cNvPr>
          <p:cNvSpPr txBox="1"/>
          <p:nvPr/>
        </p:nvSpPr>
        <p:spPr>
          <a:xfrm>
            <a:off x="191386" y="140430"/>
            <a:ext cx="6097772" cy="584775"/>
          </a:xfrm>
          <a:prstGeom prst="rect">
            <a:avLst/>
          </a:prstGeom>
          <a:noFill/>
        </p:spPr>
        <p:txBody>
          <a:bodyPr wrap="square">
            <a:spAutoFit/>
          </a:bodyPr>
          <a:lstStyle/>
          <a:p>
            <a:r>
              <a:rPr lang="en-US" sz="3200" dirty="0">
                <a:latin typeface="CiscoSans"/>
              </a:rPr>
              <a:t>N</a:t>
            </a:r>
            <a:r>
              <a:rPr lang="en-US" sz="3200" b="0" i="0" dirty="0">
                <a:solidFill>
                  <a:schemeClr val="tx1"/>
                </a:solidFill>
                <a:effectLst/>
                <a:latin typeface="CiscoSans"/>
              </a:rPr>
              <a:t>etwork monitoring </a:t>
            </a:r>
          </a:p>
        </p:txBody>
      </p:sp>
    </p:spTree>
    <p:extLst>
      <p:ext uri="{BB962C8B-B14F-4D97-AF65-F5344CB8AC3E}">
        <p14:creationId xmlns:p14="http://schemas.microsoft.com/office/powerpoint/2010/main" val="161108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558ACC-F44B-0147-8CA0-93C22362A7AA}"/>
              </a:ext>
            </a:extLst>
          </p:cNvPr>
          <p:cNvSpPr>
            <a:spLocks noGrp="1"/>
          </p:cNvSpPr>
          <p:nvPr>
            <p:ph type="sldNum" sz="quarter" idx="4294967295"/>
          </p:nvPr>
        </p:nvSpPr>
        <p:spPr>
          <a:xfrm>
            <a:off x="11582400" y="6172200"/>
            <a:ext cx="609600" cy="304800"/>
          </a:xfrm>
        </p:spPr>
        <p:txBody>
          <a:bodyPr/>
          <a:lstStyle/>
          <a:p>
            <a:fld id="{F7021451-1387-4CA6-816F-3879F97B5CBC}" type="slidenum">
              <a:rPr lang="en-US" smtClean="0"/>
              <a:t>4</a:t>
            </a:fld>
            <a:endParaRPr lang="en-US" dirty="0"/>
          </a:p>
        </p:txBody>
      </p:sp>
      <p:sp>
        <p:nvSpPr>
          <p:cNvPr id="6" name="TextBox 5">
            <a:extLst>
              <a:ext uri="{FF2B5EF4-FFF2-40B4-BE49-F238E27FC236}">
                <a16:creationId xmlns:a16="http://schemas.microsoft.com/office/drawing/2014/main" id="{7E5AA8CB-DED2-D322-3223-539B974001D6}"/>
              </a:ext>
            </a:extLst>
          </p:cNvPr>
          <p:cNvSpPr txBox="1"/>
          <p:nvPr/>
        </p:nvSpPr>
        <p:spPr>
          <a:xfrm>
            <a:off x="91440" y="1693579"/>
            <a:ext cx="6501384" cy="4592347"/>
          </a:xfrm>
          <a:prstGeom prst="rect">
            <a:avLst/>
          </a:prstGeom>
          <a:noFill/>
        </p:spPr>
        <p:txBody>
          <a:bodyPr wrap="square">
            <a:spAutoFit/>
          </a:bodyPr>
          <a:lstStyle/>
          <a:p>
            <a:pPr marL="342900" indent="-342900" fontAlgn="base">
              <a:lnSpc>
                <a:spcPct val="107000"/>
              </a:lnSpc>
              <a:spcAft>
                <a:spcPts val="1000"/>
              </a:spcAft>
              <a:buFont typeface="Arial" panose="020B0604020202020204" pitchFamily="34" charset="0"/>
              <a:buChar char="•"/>
            </a:pPr>
            <a:r>
              <a:rPr lang="en-GB" sz="2400" kern="0" dirty="0">
                <a:solidFill>
                  <a:srgbClr val="4D4C4C"/>
                </a:solidFill>
                <a:effectLst/>
                <a:latin typeface="Arial" panose="020B0604020202020204" pitchFamily="34" charset="0"/>
                <a:ea typeface="Times New Roman" panose="02020603050405020304" pitchFamily="18" charset="0"/>
                <a:cs typeface="Arial" panose="020B0604020202020204" pitchFamily="34" charset="0"/>
              </a:rPr>
              <a:t>Network management systems collect data from connected network devices such as switches, routers, access points, and client devices. </a:t>
            </a:r>
          </a:p>
          <a:p>
            <a:pPr marL="342900" indent="-342900" fontAlgn="base">
              <a:lnSpc>
                <a:spcPct val="107000"/>
              </a:lnSpc>
              <a:spcAft>
                <a:spcPts val="1000"/>
              </a:spcAft>
              <a:buFont typeface="Arial" panose="020B0604020202020204" pitchFamily="34" charset="0"/>
              <a:buChar char="•"/>
            </a:pPr>
            <a:r>
              <a:rPr lang="en-GB" sz="2400" kern="0" dirty="0">
                <a:solidFill>
                  <a:srgbClr val="4D4C4C"/>
                </a:solidFill>
                <a:effectLst/>
                <a:latin typeface="Arial" panose="020B0604020202020204" pitchFamily="34" charset="0"/>
                <a:ea typeface="Times New Roman" panose="02020603050405020304" pitchFamily="18" charset="0"/>
                <a:cs typeface="Arial" panose="020B0604020202020204" pitchFamily="34" charset="0"/>
              </a:rPr>
              <a:t>They also give network administrators fine-grained control over how those devices operate and interact with one another.</a:t>
            </a:r>
            <a:endParaRPr lang="en-GB" sz="2400" kern="1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Arial" panose="020B0604020202020204" pitchFamily="34" charset="0"/>
              <a:buChar char="•"/>
            </a:pPr>
            <a:r>
              <a:rPr lang="en-GB" sz="2400" kern="0" dirty="0">
                <a:solidFill>
                  <a:srgbClr val="4D4C4C"/>
                </a:solidFill>
                <a:effectLst/>
                <a:latin typeface="Arial" panose="020B0604020202020204" pitchFamily="34" charset="0"/>
                <a:ea typeface="Times New Roman" panose="02020603050405020304" pitchFamily="18" charset="0"/>
              </a:rPr>
              <a:t>The data captured from these devices is used to proactively identify performance issues, monitor security and segmentation, and accelerate troubleshooting.</a:t>
            </a:r>
            <a:endParaRPr lang="en-GB" sz="2400" dirty="0"/>
          </a:p>
        </p:txBody>
      </p:sp>
      <p:sp>
        <p:nvSpPr>
          <p:cNvPr id="8" name="TextBox 7">
            <a:extLst>
              <a:ext uri="{FF2B5EF4-FFF2-40B4-BE49-F238E27FC236}">
                <a16:creationId xmlns:a16="http://schemas.microsoft.com/office/drawing/2014/main" id="{4654862A-A772-B791-56BB-2DAD4A5D1685}"/>
              </a:ext>
            </a:extLst>
          </p:cNvPr>
          <p:cNvSpPr txBox="1"/>
          <p:nvPr/>
        </p:nvSpPr>
        <p:spPr>
          <a:xfrm>
            <a:off x="624840" y="572074"/>
            <a:ext cx="6096000" cy="592726"/>
          </a:xfrm>
          <a:prstGeom prst="rect">
            <a:avLst/>
          </a:prstGeom>
          <a:noFill/>
        </p:spPr>
        <p:txBody>
          <a:bodyPr wrap="square">
            <a:spAutoFit/>
          </a:bodyPr>
          <a:lstStyle/>
          <a:p>
            <a:pPr fontAlgn="base">
              <a:lnSpc>
                <a:spcPct val="107000"/>
              </a:lnSpc>
              <a:spcAft>
                <a:spcPts val="480"/>
              </a:spcAft>
            </a:pPr>
            <a:r>
              <a:rPr lang="en-GB" sz="3200" kern="0" dirty="0">
                <a:solidFill>
                  <a:srgbClr val="4D4C4C"/>
                </a:solidFill>
                <a:effectLst/>
                <a:latin typeface="Arial" panose="020B0604020202020204" pitchFamily="34" charset="0"/>
                <a:ea typeface="Times New Roman" panose="02020603050405020304" pitchFamily="18" charset="0"/>
                <a:cs typeface="Arial" panose="020B0604020202020204" pitchFamily="34" charset="0"/>
              </a:rPr>
              <a:t>Network management </a:t>
            </a:r>
            <a:endParaRPr lang="en-GB" sz="3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9" name="Online Media 10" title="What is Network Management?">
            <a:hlinkClick r:id="" action="ppaction://media"/>
            <a:extLst>
              <a:ext uri="{FF2B5EF4-FFF2-40B4-BE49-F238E27FC236}">
                <a16:creationId xmlns:a16="http://schemas.microsoft.com/office/drawing/2014/main" id="{282E5949-E48C-6582-41F7-4DCE60BE682C}"/>
              </a:ext>
            </a:extLst>
          </p:cNvPr>
          <p:cNvPicPr>
            <a:picLocks noRot="1" noChangeAspect="1"/>
          </p:cNvPicPr>
          <p:nvPr>
            <a:videoFile r:link="rId1"/>
          </p:nvPr>
        </p:nvPicPr>
        <p:blipFill>
          <a:blip r:embed="rId4"/>
          <a:stretch>
            <a:fillRect/>
          </a:stretch>
        </p:blipFill>
        <p:spPr>
          <a:xfrm>
            <a:off x="6720840" y="1164800"/>
            <a:ext cx="4758117" cy="2688336"/>
          </a:xfrm>
          <a:prstGeom prst="rect">
            <a:avLst/>
          </a:prstGeom>
        </p:spPr>
      </p:pic>
    </p:spTree>
    <p:extLst>
      <p:ext uri="{BB962C8B-B14F-4D97-AF65-F5344CB8AC3E}">
        <p14:creationId xmlns:p14="http://schemas.microsoft.com/office/powerpoint/2010/main" val="387152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vol="80000">
                <p:cTn id="12" fill="hold" display="0">
                  <p:stCondLst>
                    <p:cond delay="indefinite"/>
                  </p:stCondLst>
                </p:cTn>
                <p:tgtEl>
                  <p:spTgt spid="9"/>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Types of Management Access</a:t>
            </a:r>
          </a:p>
        </p:txBody>
      </p:sp>
      <p:sp>
        <p:nvSpPr>
          <p:cNvPr id="5" name="Object4"/>
          <p:cNvSpPr/>
          <p:nvPr/>
        </p:nvSpPr>
        <p:spPr>
          <a:xfrm>
            <a:off x="-1" y="1219200"/>
            <a:ext cx="6879956" cy="3429000"/>
          </a:xfrm>
          <a:prstGeom prst="rect">
            <a:avLst/>
          </a:prstGeom>
          <a:noFill/>
          <a:ln/>
        </p:spPr>
        <p:txBody>
          <a:bodyPr wrap="square" rtlCol="0" anchor="t"/>
          <a:lstStyle/>
          <a:p>
            <a:r>
              <a:rPr lang="en-US" sz="2133" dirty="0">
                <a:solidFill>
                  <a:srgbClr val="000000"/>
                </a:solidFill>
                <a:latin typeface="Arial" panose="020B0604020202020204" pitchFamily="34" charset="0"/>
                <a:ea typeface="Arial" pitchFamily="34" charset="-122"/>
                <a:cs typeface="Arial" panose="020B0604020202020204" pitchFamily="34" charset="0"/>
              </a:rPr>
              <a:t>(</a:t>
            </a:r>
            <a:r>
              <a:rPr lang="en-US" sz="2133" dirty="0">
                <a:latin typeface="Arial" panose="020B0604020202020204" pitchFamily="34" charset="0"/>
                <a:cs typeface="Arial" panose="020B0604020202020204" pitchFamily="34" charset="0"/>
              </a:rPr>
              <a:t>From a reporting standpoint, most networking devices can send log data that can be invaluable when troubleshooting network problems or security threats. This data can be viewed in real time, on demand, and in scheduled reports.</a:t>
            </a:r>
          </a:p>
          <a:p>
            <a:endParaRPr lang="en-US" sz="2133" dirty="0">
              <a:latin typeface="Arial" panose="020B0604020202020204" pitchFamily="34" charset="0"/>
              <a:cs typeface="Arial" panose="020B0604020202020204" pitchFamily="34" charset="0"/>
            </a:endParaRPr>
          </a:p>
          <a:p>
            <a:r>
              <a:rPr lang="en-US" sz="2133" dirty="0">
                <a:latin typeface="Arial" panose="020B0604020202020204" pitchFamily="34" charset="0"/>
                <a:cs typeface="Arial" panose="020B0604020202020204" pitchFamily="34" charset="0"/>
              </a:rPr>
              <a:t>When logging and managing information, the information flow between management hosts and the managed devices can take two paths:</a:t>
            </a:r>
          </a:p>
          <a:p>
            <a:endParaRPr lang="en-US" sz="2133" dirty="0">
              <a:latin typeface="Arial" panose="020B0604020202020204" pitchFamily="34" charset="0"/>
              <a:cs typeface="Arial" panose="020B0604020202020204" pitchFamily="34" charset="0"/>
            </a:endParaRPr>
          </a:p>
          <a:p>
            <a:pPr marL="380990" indent="-380990">
              <a:buFont typeface="Arial" panose="020B0604020202020204" pitchFamily="34" charset="0"/>
              <a:buChar char="•"/>
            </a:pPr>
            <a:r>
              <a:rPr lang="en-US" sz="1867" b="1" dirty="0">
                <a:latin typeface="Arial" panose="020B0604020202020204" pitchFamily="34" charset="0"/>
                <a:cs typeface="Arial" panose="020B0604020202020204" pitchFamily="34" charset="0"/>
              </a:rPr>
              <a:t>In-band</a:t>
            </a:r>
            <a:r>
              <a:rPr lang="en-US" sz="1867" dirty="0">
                <a:latin typeface="Arial" panose="020B0604020202020204" pitchFamily="34" charset="0"/>
                <a:cs typeface="Arial" panose="020B0604020202020204" pitchFamily="34" charset="0"/>
              </a:rPr>
              <a:t> - Information flows across an enterprise production network, the Internet, or both, using regular data channels.</a:t>
            </a:r>
          </a:p>
          <a:p>
            <a:pPr marL="380990" indent="-380990">
              <a:buFont typeface="Arial" panose="020B0604020202020204" pitchFamily="34" charset="0"/>
              <a:buChar char="•"/>
            </a:pPr>
            <a:r>
              <a:rPr lang="en-US" sz="1867" b="1" dirty="0">
                <a:latin typeface="Arial" panose="020B0604020202020204" pitchFamily="34" charset="0"/>
                <a:cs typeface="Arial" panose="020B0604020202020204" pitchFamily="34" charset="0"/>
              </a:rPr>
              <a:t>Out-of-band (OOB)</a:t>
            </a:r>
            <a:r>
              <a:rPr lang="en-US" sz="1867" dirty="0">
                <a:latin typeface="Arial" panose="020B0604020202020204" pitchFamily="34" charset="0"/>
                <a:cs typeface="Arial" panose="020B0604020202020204" pitchFamily="34" charset="0"/>
              </a:rPr>
              <a:t> - Information flows on a dedicated management network on which no production traffic resides.</a:t>
            </a:r>
          </a:p>
          <a:p>
            <a:pPr>
              <a:lnSpc>
                <a:spcPts val="2667"/>
              </a:lnSpc>
            </a:pPr>
            <a:endParaRPr lang="en-US" sz="1867" dirty="0"/>
          </a:p>
        </p:txBody>
      </p:sp>
      <p:pic>
        <p:nvPicPr>
          <p:cNvPr id="4" name="Picture 3">
            <a:extLst>
              <a:ext uri="{FF2B5EF4-FFF2-40B4-BE49-F238E27FC236}">
                <a16:creationId xmlns:a16="http://schemas.microsoft.com/office/drawing/2014/main" id="{533898F8-7D69-4320-B544-54D10E878A0A}"/>
              </a:ext>
            </a:extLst>
          </p:cNvPr>
          <p:cNvPicPr>
            <a:picLocks noChangeAspect="1"/>
          </p:cNvPicPr>
          <p:nvPr/>
        </p:nvPicPr>
        <p:blipFill>
          <a:blip r:embed="rId3"/>
          <a:stretch>
            <a:fillRect/>
          </a:stretch>
        </p:blipFill>
        <p:spPr>
          <a:xfrm>
            <a:off x="6520069" y="937811"/>
            <a:ext cx="5427516" cy="2338789"/>
          </a:xfrm>
          <a:prstGeom prst="rect">
            <a:avLst/>
          </a:prstGeom>
        </p:spPr>
      </p:pic>
      <p:pic>
        <p:nvPicPr>
          <p:cNvPr id="6" name="Picture 5">
            <a:extLst>
              <a:ext uri="{FF2B5EF4-FFF2-40B4-BE49-F238E27FC236}">
                <a16:creationId xmlns:a16="http://schemas.microsoft.com/office/drawing/2014/main" id="{347F18E5-777A-45E0-873A-F350AC43B067}"/>
              </a:ext>
            </a:extLst>
          </p:cNvPr>
          <p:cNvPicPr>
            <a:picLocks noChangeAspect="1"/>
          </p:cNvPicPr>
          <p:nvPr/>
        </p:nvPicPr>
        <p:blipFill>
          <a:blip r:embed="rId4"/>
          <a:stretch>
            <a:fillRect/>
          </a:stretch>
        </p:blipFill>
        <p:spPr>
          <a:xfrm>
            <a:off x="7017777" y="3581401"/>
            <a:ext cx="4426800" cy="3200400"/>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Introduction to Syslog</a:t>
            </a:r>
          </a:p>
        </p:txBody>
      </p:sp>
      <p:sp>
        <p:nvSpPr>
          <p:cNvPr id="5" name="Object4"/>
          <p:cNvSpPr/>
          <p:nvPr/>
        </p:nvSpPr>
        <p:spPr>
          <a:xfrm>
            <a:off x="-1" y="964760"/>
            <a:ext cx="8191500" cy="3683441"/>
          </a:xfrm>
          <a:prstGeom prst="rect">
            <a:avLst/>
          </a:prstGeom>
          <a:noFill/>
          <a:ln/>
        </p:spPr>
        <p:txBody>
          <a:bodyPr wrap="square" rtlCol="0" anchor="t"/>
          <a:lstStyle/>
          <a:p>
            <a:r>
              <a:rPr lang="en-US" sz="2000" dirty="0">
                <a:latin typeface="Arial" panose="020B0604020202020204" pitchFamily="34" charset="0"/>
                <a:cs typeface="Arial" panose="020B0604020202020204" pitchFamily="34" charset="0"/>
              </a:rPr>
              <a:t>The most common method of accessing system messages is to use a protocol called syslog.</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Syslog is a term used to describe a standard. It is also used to describe the protocol developed for that standard. Many networking devices support syslog, including routers, switches, application servers, firewalls, and other network appliances. The syslog protocol allows networking devices to send their system messages across the network to syslog servers.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The syslog logging service provides three primary functions, as follows:</a:t>
            </a:r>
          </a:p>
          <a:p>
            <a:pPr marL="380990" indent="-380990">
              <a:buFont typeface="Arial" panose="020B0604020202020204" pitchFamily="34" charset="0"/>
              <a:buChar char="•"/>
            </a:pPr>
            <a:r>
              <a:rPr lang="en-US" sz="2000" dirty="0">
                <a:latin typeface="Arial" panose="020B0604020202020204" pitchFamily="34" charset="0"/>
                <a:cs typeface="Arial" panose="020B0604020202020204" pitchFamily="34" charset="0"/>
              </a:rPr>
              <a:t>The ability to gather logging information for monitoring and troubleshooting</a:t>
            </a:r>
          </a:p>
          <a:p>
            <a:pPr marL="380990" indent="-380990">
              <a:buFont typeface="Arial" panose="020B0604020202020204" pitchFamily="34" charset="0"/>
              <a:buChar char="•"/>
            </a:pPr>
            <a:r>
              <a:rPr lang="en-US" sz="2000" dirty="0">
                <a:latin typeface="Arial" panose="020B0604020202020204" pitchFamily="34" charset="0"/>
                <a:cs typeface="Arial" panose="020B0604020202020204" pitchFamily="34" charset="0"/>
              </a:rPr>
              <a:t>The ability to select the type of logging information that is captured</a:t>
            </a:r>
          </a:p>
          <a:p>
            <a:pPr marL="380990" indent="-380990">
              <a:buFont typeface="Arial" panose="020B0604020202020204" pitchFamily="34" charset="0"/>
              <a:buChar char="•"/>
            </a:pPr>
            <a:r>
              <a:rPr lang="en-US" sz="2000" dirty="0">
                <a:latin typeface="Arial" panose="020B0604020202020204" pitchFamily="34" charset="0"/>
                <a:cs typeface="Arial" panose="020B0604020202020204" pitchFamily="34" charset="0"/>
              </a:rPr>
              <a:t>The ability to specify the destinations of captured syslog messages</a:t>
            </a:r>
          </a:p>
          <a:p>
            <a:endParaRPr lang="en-US" sz="1867" dirty="0"/>
          </a:p>
        </p:txBody>
      </p:sp>
      <p:pic>
        <p:nvPicPr>
          <p:cNvPr id="4" name="Picture 3">
            <a:extLst>
              <a:ext uri="{FF2B5EF4-FFF2-40B4-BE49-F238E27FC236}">
                <a16:creationId xmlns:a16="http://schemas.microsoft.com/office/drawing/2014/main" id="{BBD123F8-8E56-4508-ACCC-E92E16C55542}"/>
              </a:ext>
            </a:extLst>
          </p:cNvPr>
          <p:cNvPicPr>
            <a:picLocks noChangeAspect="1"/>
          </p:cNvPicPr>
          <p:nvPr/>
        </p:nvPicPr>
        <p:blipFill>
          <a:blip r:embed="rId3"/>
          <a:stretch>
            <a:fillRect/>
          </a:stretch>
        </p:blipFill>
        <p:spPr>
          <a:xfrm>
            <a:off x="7930102" y="1845920"/>
            <a:ext cx="4124076" cy="2435857"/>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23353"/>
            <a:ext cx="12192000" cy="1219200"/>
          </a:xfrm>
          <a:prstGeom prst="rect">
            <a:avLst/>
          </a:prstGeom>
          <a:noFill/>
          <a:ln/>
        </p:spPr>
        <p:txBody>
          <a:bodyPr wrap="square" rtlCol="0"/>
          <a:lstStyle/>
          <a:p>
            <a:r>
              <a:rPr lang="en-US" dirty="0"/>
              <a:t>Introduction to SNMP</a:t>
            </a:r>
          </a:p>
        </p:txBody>
      </p:sp>
      <p:sp>
        <p:nvSpPr>
          <p:cNvPr id="5" name="Object4"/>
          <p:cNvSpPr/>
          <p:nvPr/>
        </p:nvSpPr>
        <p:spPr>
          <a:xfrm>
            <a:off x="1" y="932954"/>
            <a:ext cx="5915771" cy="3715247"/>
          </a:xfrm>
          <a:prstGeom prst="rect">
            <a:avLst/>
          </a:prstGeom>
          <a:noFill/>
          <a:ln/>
        </p:spPr>
        <p:txBody>
          <a:bodyPr wrap="square" rtlCol="0" anchor="t"/>
          <a:lstStyle/>
          <a:p>
            <a:r>
              <a:rPr lang="en-US" sz="2133" dirty="0">
                <a:latin typeface="Arial" panose="020B0604020202020204" pitchFamily="34" charset="0"/>
                <a:cs typeface="Arial" panose="020B0604020202020204" pitchFamily="34" charset="0"/>
              </a:rPr>
              <a:t>SNMP is an application layer protocol that provides a message format for communication between managers and agents. </a:t>
            </a:r>
          </a:p>
          <a:p>
            <a:endParaRPr lang="en-US" sz="2133" dirty="0">
              <a:latin typeface="Arial" panose="020B0604020202020204" pitchFamily="34" charset="0"/>
              <a:cs typeface="Arial" panose="020B0604020202020204" pitchFamily="34" charset="0"/>
            </a:endParaRPr>
          </a:p>
          <a:p>
            <a:r>
              <a:rPr lang="en-US" sz="2133" dirty="0">
                <a:latin typeface="Arial" panose="020B0604020202020204" pitchFamily="34" charset="0"/>
                <a:cs typeface="Arial" panose="020B0604020202020204" pitchFamily="34" charset="0"/>
              </a:rPr>
              <a:t>The SNMP system consists of three elements:</a:t>
            </a:r>
          </a:p>
          <a:p>
            <a:pPr marL="380990" indent="-380990">
              <a:buFont typeface="Arial" panose="020B0604020202020204" pitchFamily="34" charset="0"/>
              <a:buChar char="•"/>
            </a:pPr>
            <a:r>
              <a:rPr lang="en-US" sz="2133" dirty="0">
                <a:latin typeface="Arial" panose="020B0604020202020204" pitchFamily="34" charset="0"/>
                <a:cs typeface="Arial" panose="020B0604020202020204" pitchFamily="34" charset="0"/>
              </a:rPr>
              <a:t>SNMP manager</a:t>
            </a:r>
          </a:p>
          <a:p>
            <a:pPr marL="380990" indent="-380990">
              <a:buFont typeface="Arial" panose="020B0604020202020204" pitchFamily="34" charset="0"/>
              <a:buChar char="•"/>
            </a:pPr>
            <a:r>
              <a:rPr lang="en-US" sz="2133" dirty="0">
                <a:latin typeface="Arial" panose="020B0604020202020204" pitchFamily="34" charset="0"/>
                <a:cs typeface="Arial" panose="020B0604020202020204" pitchFamily="34" charset="0"/>
              </a:rPr>
              <a:t>SNMP agents (managed node)</a:t>
            </a:r>
          </a:p>
          <a:p>
            <a:pPr marL="380990" indent="-380990">
              <a:buFont typeface="Arial" panose="020B0604020202020204" pitchFamily="34" charset="0"/>
              <a:buChar char="•"/>
            </a:pPr>
            <a:r>
              <a:rPr lang="en-US" sz="2133" dirty="0">
                <a:latin typeface="Arial" panose="020B0604020202020204" pitchFamily="34" charset="0"/>
                <a:cs typeface="Arial" panose="020B0604020202020204" pitchFamily="34" charset="0"/>
              </a:rPr>
              <a:t>Management Information Base (MIB)</a:t>
            </a:r>
          </a:p>
          <a:p>
            <a:r>
              <a:rPr lang="en-US" sz="2133" dirty="0">
                <a:latin typeface="Arial" panose="020B0604020202020204" pitchFamily="34" charset="0"/>
                <a:cs typeface="Arial" panose="020B0604020202020204" pitchFamily="34" charset="0"/>
              </a:rPr>
              <a:t>To configure SNMP on a networking device, it is first necessary to define the relationship between the manager and the agent.</a:t>
            </a:r>
          </a:p>
          <a:p>
            <a:endParaRPr lang="en-US" sz="2133" dirty="0">
              <a:latin typeface="Arial" panose="020B0604020202020204" pitchFamily="34" charset="0"/>
              <a:cs typeface="Arial" panose="020B0604020202020204" pitchFamily="34" charset="0"/>
            </a:endParaRPr>
          </a:p>
          <a:p>
            <a:r>
              <a:rPr lang="en-US" sz="2133" dirty="0">
                <a:latin typeface="Arial" panose="020B0604020202020204" pitchFamily="34" charset="0"/>
                <a:cs typeface="Arial" panose="020B0604020202020204" pitchFamily="34" charset="0"/>
              </a:rPr>
              <a:t>The SNMP manager is part of a network management system (NMS). The SNMP manager runs SNMP management software.</a:t>
            </a:r>
          </a:p>
        </p:txBody>
      </p:sp>
      <p:sp>
        <p:nvSpPr>
          <p:cNvPr id="8" name="TextBox 7">
            <a:extLst>
              <a:ext uri="{FF2B5EF4-FFF2-40B4-BE49-F238E27FC236}">
                <a16:creationId xmlns:a16="http://schemas.microsoft.com/office/drawing/2014/main" id="{E4BF6EEA-D96F-42C7-8C96-7599C17CF833}"/>
              </a:ext>
            </a:extLst>
          </p:cNvPr>
          <p:cNvSpPr txBox="1"/>
          <p:nvPr/>
        </p:nvSpPr>
        <p:spPr>
          <a:xfrm>
            <a:off x="5671929" y="3985500"/>
            <a:ext cx="6647292" cy="1528945"/>
          </a:xfrm>
          <a:prstGeom prst="rect">
            <a:avLst/>
          </a:prstGeom>
          <a:noFill/>
        </p:spPr>
        <p:txBody>
          <a:bodyPr wrap="square">
            <a:spAutoFit/>
          </a:bodyPr>
          <a:lstStyle/>
          <a:p>
            <a:r>
              <a:rPr lang="en-US" sz="1867" dirty="0">
                <a:latin typeface="Arial" panose="020B0604020202020204" pitchFamily="34" charset="0"/>
                <a:cs typeface="Arial" panose="020B0604020202020204" pitchFamily="34" charset="0"/>
              </a:rPr>
              <a:t>As shown in the figure, the SNMP manager can collect information from an SNMP agent by using the “get” action. It can change configurations on an agent by using the “set” action. In addition, SNMP agents can forward information directly to a network manager by using “traps”.</a:t>
            </a:r>
          </a:p>
        </p:txBody>
      </p:sp>
      <p:pic>
        <p:nvPicPr>
          <p:cNvPr id="4" name="Picture 3">
            <a:extLst>
              <a:ext uri="{FF2B5EF4-FFF2-40B4-BE49-F238E27FC236}">
                <a16:creationId xmlns:a16="http://schemas.microsoft.com/office/drawing/2014/main" id="{1F7B6369-D8D9-4081-A4AD-DF34655C7E88}"/>
              </a:ext>
            </a:extLst>
          </p:cNvPr>
          <p:cNvPicPr>
            <a:picLocks noChangeAspect="1"/>
          </p:cNvPicPr>
          <p:nvPr/>
        </p:nvPicPr>
        <p:blipFill>
          <a:blip r:embed="rId3"/>
          <a:stretch>
            <a:fillRect/>
          </a:stretch>
        </p:blipFill>
        <p:spPr>
          <a:xfrm>
            <a:off x="6096000" y="365760"/>
            <a:ext cx="4849077" cy="3713136"/>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Management Information Base (MIB)</a:t>
            </a:r>
          </a:p>
        </p:txBody>
      </p:sp>
      <p:sp>
        <p:nvSpPr>
          <p:cNvPr id="5" name="Object4"/>
          <p:cNvSpPr/>
          <p:nvPr/>
        </p:nvSpPr>
        <p:spPr>
          <a:xfrm>
            <a:off x="1" y="944880"/>
            <a:ext cx="7749871" cy="3429000"/>
          </a:xfrm>
          <a:prstGeom prst="rect">
            <a:avLst/>
          </a:prstGeom>
          <a:noFill/>
          <a:ln/>
        </p:spPr>
        <p:txBody>
          <a:bodyPr wrap="square" rtlCol="0" anchor="t"/>
          <a:lstStyle/>
          <a:p>
            <a:pPr>
              <a:lnSpc>
                <a:spcPts val="2667"/>
              </a:lnSpc>
            </a:pPr>
            <a:r>
              <a:rPr lang="en-US" sz="2133" dirty="0">
                <a:latin typeface="Arial" panose="020B0604020202020204" pitchFamily="34" charset="0"/>
                <a:cs typeface="Arial" panose="020B0604020202020204" pitchFamily="34" charset="0"/>
              </a:rPr>
              <a:t>The MIB organizes variables hierarchically. MIB variables enable the management software to monitor and control the network device. </a:t>
            </a:r>
          </a:p>
          <a:p>
            <a:pPr>
              <a:lnSpc>
                <a:spcPts val="2667"/>
              </a:lnSpc>
            </a:pPr>
            <a:endParaRPr lang="en-US" sz="2133" dirty="0">
              <a:latin typeface="Arial" panose="020B0604020202020204" pitchFamily="34" charset="0"/>
              <a:cs typeface="Arial" panose="020B0604020202020204" pitchFamily="34" charset="0"/>
            </a:endParaRPr>
          </a:p>
          <a:p>
            <a:pPr>
              <a:lnSpc>
                <a:spcPts val="2667"/>
              </a:lnSpc>
            </a:pPr>
            <a:r>
              <a:rPr lang="en-US" sz="2133" dirty="0">
                <a:latin typeface="Arial" panose="020B0604020202020204" pitchFamily="34" charset="0"/>
                <a:cs typeface="Arial" panose="020B0604020202020204" pitchFamily="34" charset="0"/>
              </a:rPr>
              <a:t>Formally, the MIB defines each variable as an object ID (OID). OIDs uniquely identify managed objects in the MIB hierarchy. The MIB organizes the OIDs based on RFC standards into a hierarchy of OIDs, usually shown as a tree.</a:t>
            </a:r>
          </a:p>
          <a:p>
            <a:pPr>
              <a:lnSpc>
                <a:spcPts val="2667"/>
              </a:lnSpc>
            </a:pPr>
            <a:endParaRPr lang="en-US" sz="2133" dirty="0">
              <a:latin typeface="Arial" panose="020B0604020202020204" pitchFamily="34" charset="0"/>
              <a:cs typeface="Arial" panose="020B0604020202020204" pitchFamily="34" charset="0"/>
            </a:endParaRPr>
          </a:p>
          <a:p>
            <a:pPr>
              <a:lnSpc>
                <a:spcPts val="2667"/>
              </a:lnSpc>
            </a:pPr>
            <a:r>
              <a:rPr lang="en-US" sz="2133" dirty="0">
                <a:latin typeface="Arial" panose="020B0604020202020204" pitchFamily="34" charset="0"/>
                <a:cs typeface="Arial" panose="020B0604020202020204" pitchFamily="34" charset="0"/>
              </a:rPr>
              <a:t>The figure shows portions of the MIB structure defined by Cisco. Note how the OID can be described in words or numbers to help locate a particular variable in the tree. OIDs belonging to Cisco, are numbered as follows: .iso (1).org (3).dod (6).internet (1).private (4).enterprises (1).cisco (9). Therefore, the OID is 1.3.6.1.4.1.9.</a:t>
            </a:r>
          </a:p>
        </p:txBody>
      </p:sp>
      <p:pic>
        <p:nvPicPr>
          <p:cNvPr id="4" name="Picture 3">
            <a:extLst>
              <a:ext uri="{FF2B5EF4-FFF2-40B4-BE49-F238E27FC236}">
                <a16:creationId xmlns:a16="http://schemas.microsoft.com/office/drawing/2014/main" id="{02207E70-4880-4030-84A1-A38DDF3AD27D}"/>
              </a:ext>
            </a:extLst>
          </p:cNvPr>
          <p:cNvPicPr>
            <a:picLocks noChangeAspect="1"/>
          </p:cNvPicPr>
          <p:nvPr/>
        </p:nvPicPr>
        <p:blipFill>
          <a:blip r:embed="rId3"/>
          <a:stretch>
            <a:fillRect/>
          </a:stretch>
        </p:blipFill>
        <p:spPr>
          <a:xfrm>
            <a:off x="7749871" y="731520"/>
            <a:ext cx="4251212" cy="5112027"/>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SNMP Versions</a:t>
            </a:r>
          </a:p>
        </p:txBody>
      </p:sp>
      <p:sp>
        <p:nvSpPr>
          <p:cNvPr id="5" name="Object4"/>
          <p:cNvSpPr/>
          <p:nvPr/>
        </p:nvSpPr>
        <p:spPr>
          <a:xfrm>
            <a:off x="-1" y="837537"/>
            <a:ext cx="12107188" cy="3429000"/>
          </a:xfrm>
          <a:prstGeom prst="rect">
            <a:avLst/>
          </a:prstGeom>
          <a:noFill/>
          <a:ln/>
        </p:spPr>
        <p:txBody>
          <a:bodyPr wrap="square" rtlCol="0" anchor="t"/>
          <a:lstStyle/>
          <a:p>
            <a:r>
              <a:rPr lang="en-US" sz="2133" dirty="0">
                <a:latin typeface="Arial" panose="020B0604020202020204" pitchFamily="34" charset="0"/>
                <a:cs typeface="Arial" panose="020B0604020202020204" pitchFamily="34" charset="0"/>
              </a:rPr>
              <a:t>Here are several versions of SNMP:</a:t>
            </a:r>
          </a:p>
          <a:p>
            <a:endParaRPr lang="en-US" sz="2133" dirty="0">
              <a:latin typeface="Arial" panose="020B0604020202020204" pitchFamily="34" charset="0"/>
              <a:cs typeface="Arial" panose="020B0604020202020204" pitchFamily="34" charset="0"/>
            </a:endParaRPr>
          </a:p>
          <a:p>
            <a:pPr marL="380990" indent="-380990">
              <a:buFont typeface="Arial" panose="020B0604020202020204" pitchFamily="34" charset="0"/>
              <a:buChar char="•"/>
            </a:pPr>
            <a:r>
              <a:rPr lang="en-US" sz="2133" b="1" dirty="0">
                <a:latin typeface="Arial" panose="020B0604020202020204" pitchFamily="34" charset="0"/>
                <a:cs typeface="Arial" panose="020B0604020202020204" pitchFamily="34" charset="0"/>
              </a:rPr>
              <a:t>SNMPv1</a:t>
            </a:r>
            <a:r>
              <a:rPr lang="en-US" sz="2133" dirty="0">
                <a:latin typeface="Arial" panose="020B0604020202020204" pitchFamily="34" charset="0"/>
                <a:cs typeface="Arial" panose="020B0604020202020204" pitchFamily="34" charset="0"/>
              </a:rPr>
              <a:t> - This is the Simple Network Management Protocol, a Full Internet Standard, that is defined in RFC 1157.</a:t>
            </a:r>
          </a:p>
          <a:p>
            <a:pPr marL="380990" indent="-380990">
              <a:buFont typeface="Arial" panose="020B0604020202020204" pitchFamily="34" charset="0"/>
              <a:buChar char="•"/>
            </a:pPr>
            <a:r>
              <a:rPr lang="en-US" sz="2133" b="1" dirty="0">
                <a:latin typeface="Arial" panose="020B0604020202020204" pitchFamily="34" charset="0"/>
                <a:cs typeface="Arial" panose="020B0604020202020204" pitchFamily="34" charset="0"/>
              </a:rPr>
              <a:t>SNMPv2c</a:t>
            </a:r>
            <a:r>
              <a:rPr lang="en-US" sz="2133" dirty="0">
                <a:latin typeface="Arial" panose="020B0604020202020204" pitchFamily="34" charset="0"/>
                <a:cs typeface="Arial" panose="020B0604020202020204" pitchFamily="34" charset="0"/>
              </a:rPr>
              <a:t> - This is defined in RFCs 1901 to 1908. It uses a community-string-based Administrative Framework.</a:t>
            </a:r>
          </a:p>
          <a:p>
            <a:pPr marL="380990" indent="-380990">
              <a:buFont typeface="Arial" panose="020B0604020202020204" pitchFamily="34" charset="0"/>
              <a:buChar char="•"/>
            </a:pPr>
            <a:r>
              <a:rPr lang="en-US" sz="2133" b="1" dirty="0">
                <a:latin typeface="Arial" panose="020B0604020202020204" pitchFamily="34" charset="0"/>
                <a:cs typeface="Arial" panose="020B0604020202020204" pitchFamily="34" charset="0"/>
              </a:rPr>
              <a:t>SNMPv3</a:t>
            </a:r>
            <a:r>
              <a:rPr lang="en-US" sz="2133" dirty="0">
                <a:latin typeface="Arial" panose="020B0604020202020204" pitchFamily="34" charset="0"/>
                <a:cs typeface="Arial" panose="020B0604020202020204" pitchFamily="34" charset="0"/>
              </a:rPr>
              <a:t> - This is an interoperable standards-based protocol originally defined in RFCs 2273 to 2275. It provides secure access to devices by authenticating and encrypting packets over the network. It includes these security features: message integrity to ensure that a packet was not tampered with in transit, authentication to determine that the message is from a valid source, and encryption to prevent the contents of a message from being read by an unauthorized source.</a:t>
            </a:r>
          </a:p>
          <a:p>
            <a:endParaRPr lang="en-US" sz="2133" dirty="0">
              <a:latin typeface="Arial" panose="020B0604020202020204" pitchFamily="34" charset="0"/>
              <a:cs typeface="Arial" panose="020B0604020202020204" pitchFamily="34" charset="0"/>
            </a:endParaRPr>
          </a:p>
          <a:p>
            <a:r>
              <a:rPr lang="en-US" sz="2133" dirty="0">
                <a:latin typeface="Arial" panose="020B0604020202020204" pitchFamily="34" charset="0"/>
                <a:cs typeface="Arial" panose="020B0604020202020204" pitchFamily="34" charset="0"/>
              </a:rPr>
              <a:t>All versions use SNMP managers, agents, and MIBs. Cisco IOS software supports the above three versions. Both SNMPv1 and SNMPv2c use a community-based form of security. The community of managers that is able to access the MIB of the agent is defined by a community string. SNMPv3 provides for both security models and security levels. </a:t>
            </a:r>
          </a:p>
        </p:txBody>
      </p:sp>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SNMP Vulnerabilities</a:t>
            </a:r>
          </a:p>
        </p:txBody>
      </p:sp>
      <p:sp>
        <p:nvSpPr>
          <p:cNvPr id="5" name="Object4"/>
          <p:cNvSpPr/>
          <p:nvPr/>
        </p:nvSpPr>
        <p:spPr>
          <a:xfrm>
            <a:off x="2" y="1219200"/>
            <a:ext cx="5258461" cy="3429000"/>
          </a:xfrm>
          <a:prstGeom prst="rect">
            <a:avLst/>
          </a:prstGeom>
          <a:noFill/>
          <a:ln/>
        </p:spPr>
        <p:txBody>
          <a:bodyPr wrap="square" rtlCol="0" anchor="t"/>
          <a:lstStyle/>
          <a:p>
            <a:pPr>
              <a:lnSpc>
                <a:spcPts val="2667"/>
              </a:lnSpc>
            </a:pPr>
            <a:r>
              <a:rPr lang="en-US" sz="2400" dirty="0">
                <a:latin typeface="Arial" panose="020B0604020202020204" pitchFamily="34" charset="0"/>
                <a:cs typeface="Arial" panose="020B0604020202020204" pitchFamily="34" charset="0"/>
              </a:rPr>
              <a:t>In any network topology, at least one manager node should run SNMP management software. Network devices that can be managed, such as switches, routers, servers, and workstations, are equipped with the SNMP agent software module. </a:t>
            </a:r>
          </a:p>
          <a:p>
            <a:pPr>
              <a:lnSpc>
                <a:spcPts val="2667"/>
              </a:lnSpc>
            </a:pPr>
            <a:endParaRPr lang="en-US" sz="2400" dirty="0">
              <a:latin typeface="Arial" panose="020B0604020202020204" pitchFamily="34" charset="0"/>
              <a:cs typeface="Arial" panose="020B0604020202020204" pitchFamily="34" charset="0"/>
            </a:endParaRPr>
          </a:p>
          <a:p>
            <a:pPr>
              <a:lnSpc>
                <a:spcPts val="2667"/>
              </a:lnSpc>
            </a:pPr>
            <a:r>
              <a:rPr lang="en-US" sz="2400" dirty="0">
                <a:latin typeface="Arial" panose="020B0604020202020204" pitchFamily="34" charset="0"/>
                <a:cs typeface="Arial" panose="020B0604020202020204" pitchFamily="34" charset="0"/>
              </a:rPr>
              <a:t>SNMP is vulnerable to attack precisely because SNMP agents can be polled with get requests and accept configuration changes with set requests, as shown in the figure.</a:t>
            </a:r>
          </a:p>
          <a:p>
            <a:pPr>
              <a:lnSpc>
                <a:spcPts val="2667"/>
              </a:lnSpc>
            </a:pPr>
            <a:endParaRPr lang="en-US" sz="1867" dirty="0"/>
          </a:p>
          <a:p>
            <a:pPr>
              <a:lnSpc>
                <a:spcPts val="2667"/>
              </a:lnSpc>
            </a:pPr>
            <a:endParaRPr lang="en-US" sz="1867" dirty="0"/>
          </a:p>
        </p:txBody>
      </p:sp>
      <p:pic>
        <p:nvPicPr>
          <p:cNvPr id="4" name="Picture 3">
            <a:extLst>
              <a:ext uri="{FF2B5EF4-FFF2-40B4-BE49-F238E27FC236}">
                <a16:creationId xmlns:a16="http://schemas.microsoft.com/office/drawing/2014/main" id="{0E638619-D779-4A92-9F75-BB40D1845A7B}"/>
              </a:ext>
            </a:extLst>
          </p:cNvPr>
          <p:cNvPicPr>
            <a:picLocks noChangeAspect="1"/>
          </p:cNvPicPr>
          <p:nvPr/>
        </p:nvPicPr>
        <p:blipFill>
          <a:blip r:embed="rId3"/>
          <a:stretch>
            <a:fillRect/>
          </a:stretch>
        </p:blipFill>
        <p:spPr>
          <a:xfrm>
            <a:off x="4880547" y="906780"/>
            <a:ext cx="6701853" cy="4419600"/>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SNMPv3</a:t>
            </a:r>
          </a:p>
        </p:txBody>
      </p:sp>
      <p:sp>
        <p:nvSpPr>
          <p:cNvPr id="5" name="Object4"/>
          <p:cNvSpPr/>
          <p:nvPr/>
        </p:nvSpPr>
        <p:spPr>
          <a:xfrm>
            <a:off x="0" y="1219200"/>
            <a:ext cx="10972800" cy="3429000"/>
          </a:xfrm>
          <a:prstGeom prst="rect">
            <a:avLst/>
          </a:prstGeom>
          <a:noFill/>
          <a:ln/>
        </p:spPr>
        <p:txBody>
          <a:bodyPr wrap="square" rtlCol="0" anchor="t"/>
          <a:lstStyle/>
          <a:p>
            <a:r>
              <a:rPr lang="en-US" sz="2400" dirty="0">
                <a:latin typeface="Arial" panose="020B0604020202020204" pitchFamily="34" charset="0"/>
                <a:cs typeface="Arial" panose="020B0604020202020204" pitchFamily="34" charset="0"/>
              </a:rPr>
              <a:t>SNMPv3 provides three security features:</a:t>
            </a:r>
          </a:p>
          <a:p>
            <a:endParaRPr lang="en-US" sz="2400" dirty="0">
              <a:latin typeface="Arial" panose="020B0604020202020204" pitchFamily="34" charset="0"/>
              <a:cs typeface="Arial" panose="020B0604020202020204" pitchFamily="34" charset="0"/>
            </a:endParaRPr>
          </a:p>
          <a:p>
            <a:pPr marL="380990" indent="-380990">
              <a:buFont typeface="Arial" panose="020B0604020202020204" pitchFamily="34" charset="0"/>
              <a:buChar char="•"/>
            </a:pPr>
            <a:r>
              <a:rPr lang="en-US" sz="2400" b="1" dirty="0">
                <a:latin typeface="Arial" panose="020B0604020202020204" pitchFamily="34" charset="0"/>
                <a:cs typeface="Arial" panose="020B0604020202020204" pitchFamily="34" charset="0"/>
              </a:rPr>
              <a:t>Message integrity and authentication</a:t>
            </a:r>
            <a:r>
              <a:rPr lang="en-US" sz="2400" dirty="0">
                <a:latin typeface="Arial" panose="020B0604020202020204" pitchFamily="34" charset="0"/>
                <a:cs typeface="Arial" panose="020B0604020202020204" pitchFamily="34" charset="0"/>
              </a:rPr>
              <a:t> - Ensures that a packet has not been tampered with in transit and is from a valid source.</a:t>
            </a:r>
          </a:p>
          <a:p>
            <a:pPr marL="380990" indent="-38099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80990" indent="-380990">
              <a:buFont typeface="Arial" panose="020B0604020202020204" pitchFamily="34" charset="0"/>
              <a:buChar char="•"/>
            </a:pPr>
            <a:r>
              <a:rPr lang="en-US" sz="2400" b="1" dirty="0">
                <a:latin typeface="Arial" panose="020B0604020202020204" pitchFamily="34" charset="0"/>
                <a:cs typeface="Arial" panose="020B0604020202020204" pitchFamily="34" charset="0"/>
              </a:rPr>
              <a:t>Encryption</a:t>
            </a:r>
            <a:r>
              <a:rPr lang="en-US" sz="2400" dirty="0">
                <a:latin typeface="Arial" panose="020B0604020202020204" pitchFamily="34" charset="0"/>
                <a:cs typeface="Arial" panose="020B0604020202020204" pitchFamily="34" charset="0"/>
              </a:rPr>
              <a:t> - Scrambles the contents of a packet to prevent it from being seen by an unauthorized source.</a:t>
            </a:r>
          </a:p>
          <a:p>
            <a:pPr marL="380990" indent="-38099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80990" indent="-380990">
              <a:buFont typeface="Arial" panose="020B0604020202020204" pitchFamily="34" charset="0"/>
              <a:buChar char="•"/>
            </a:pPr>
            <a:r>
              <a:rPr lang="en-US" sz="2400" b="1" dirty="0">
                <a:latin typeface="Arial" panose="020B0604020202020204" pitchFamily="34" charset="0"/>
                <a:cs typeface="Arial" panose="020B0604020202020204" pitchFamily="34" charset="0"/>
              </a:rPr>
              <a:t>Access control</a:t>
            </a:r>
            <a:r>
              <a:rPr lang="en-US" sz="2400" dirty="0">
                <a:latin typeface="Arial" panose="020B0604020202020204" pitchFamily="34" charset="0"/>
                <a:cs typeface="Arial" panose="020B0604020202020204" pitchFamily="34" charset="0"/>
              </a:rPr>
              <a:t> - Restricts each principal to certain actions on specific portions of data.</a:t>
            </a:r>
          </a:p>
        </p:txBody>
      </p:sp>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1775520" y="692696"/>
            <a:ext cx="8445624" cy="1800200"/>
          </a:xfrm>
        </p:spPr>
        <p:txBody>
          <a:bodyPr>
            <a:noAutofit/>
          </a:bodyPr>
          <a:lstStyle/>
          <a:p>
            <a:pPr>
              <a:lnSpc>
                <a:spcPts val="4000"/>
              </a:lnSpc>
            </a:pPr>
            <a:r>
              <a:rPr lang="en-US" sz="3200" dirty="0">
                <a:solidFill>
                  <a:srgbClr val="E3A988"/>
                </a:solidFill>
              </a:rPr>
              <a:t>The NIST Internal/Interagency Report NISTIR 7298 (</a:t>
            </a:r>
            <a:r>
              <a:rPr lang="en-US" sz="3200" i="1" dirty="0">
                <a:solidFill>
                  <a:srgbClr val="E3A988"/>
                </a:solidFill>
              </a:rPr>
              <a:t>Glossary of Key Information Security Terms , </a:t>
            </a:r>
            <a:r>
              <a:rPr lang="en-US" sz="3200" dirty="0">
                <a:solidFill>
                  <a:srgbClr val="E3A988"/>
                </a:solidFill>
              </a:rPr>
              <a:t>May 2013) defines the term </a:t>
            </a:r>
            <a:r>
              <a:rPr lang="en-US" sz="3200" i="1" dirty="0">
                <a:solidFill>
                  <a:srgbClr val="E3A988"/>
                </a:solidFill>
              </a:rPr>
              <a:t>computer security</a:t>
            </a:r>
            <a:r>
              <a:rPr lang="en-US" sz="3200" dirty="0">
                <a:solidFill>
                  <a:srgbClr val="E3A988"/>
                </a:solidFill>
              </a:rPr>
              <a:t> as follows:</a:t>
            </a:r>
          </a:p>
        </p:txBody>
      </p:sp>
      <p:sp>
        <p:nvSpPr>
          <p:cNvPr id="200707" name="Rectangle 3"/>
          <p:cNvSpPr>
            <a:spLocks noGrp="1" noChangeArrowheads="1"/>
          </p:cNvSpPr>
          <p:nvPr>
            <p:ph idx="1"/>
          </p:nvPr>
        </p:nvSpPr>
        <p:spPr>
          <a:xfrm>
            <a:off x="214313" y="2996952"/>
            <a:ext cx="11658600" cy="3456384"/>
          </a:xfrm>
        </p:spPr>
        <p:txBody>
          <a:bodyPr>
            <a:normAutofit/>
          </a:bodyPr>
          <a:lstStyle/>
          <a:p>
            <a:pPr marL="0" indent="0">
              <a:spcBef>
                <a:spcPts val="72"/>
              </a:spcBef>
              <a:buNone/>
            </a:pPr>
            <a:r>
              <a:rPr lang="en-US" sz="3600" dirty="0">
                <a:effectLst/>
                <a:latin typeface="Calibri" panose="020F0502020204030204" pitchFamily="34" charset="0"/>
                <a:ea typeface="Calibri" panose="020F0502020204030204" pitchFamily="34" charset="0"/>
                <a:cs typeface="Arial" panose="020B0604020202020204" pitchFamily="34" charset="0"/>
              </a:rPr>
              <a:t>“ Measures and controls that ensure confidentiality, integrity, and availability of information system assets including hardware, software, firmware, and information being processed, stored, and communicated.”</a:t>
            </a:r>
            <a:endParaRPr lang="en-AU"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pitchFamily="-107"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p:cNvSpPr>
            <a:spLocks noGrp="1"/>
          </p:cNvSpPr>
          <p:nvPr>
            <p:ph type="title"/>
          </p:nvPr>
        </p:nvSpPr>
        <p:spPr>
          <a:xfrm>
            <a:off x="191385" y="33515"/>
            <a:ext cx="11748977" cy="1600200"/>
          </a:xfrm>
        </p:spPr>
        <p:txBody>
          <a:bodyPr>
            <a:normAutofit fontScale="90000"/>
          </a:bodyPr>
          <a:lstStyle/>
          <a:p>
            <a:r>
              <a:rPr lang="en-US" dirty="0"/>
              <a:t>Key Security Concepts: CIA and Communications Security</a:t>
            </a:r>
            <a:br>
              <a:rPr lang="en-US" dirty="0"/>
            </a:br>
            <a:endParaRPr lang="en-US" dirty="0"/>
          </a:p>
        </p:txBody>
      </p:sp>
      <p:graphicFrame>
        <p:nvGraphicFramePr>
          <p:cNvPr id="24" name="Content Placeholder 23"/>
          <p:cNvGraphicFramePr>
            <a:graphicFrameLocks noGrp="1"/>
          </p:cNvGraphicFramePr>
          <p:nvPr>
            <p:ph idx="1"/>
          </p:nvPr>
        </p:nvGraphicFramePr>
        <p:xfrm>
          <a:off x="1703512" y="1556792"/>
          <a:ext cx="8640960"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548640"/>
          </a:xfrm>
          <a:prstGeom prst="rect">
            <a:avLst/>
          </a:prstGeom>
          <a:noFill/>
          <a:ln/>
        </p:spPr>
        <p:txBody>
          <a:bodyPr wrap="square" rtlCol="0"/>
          <a:lstStyle/>
          <a:p>
            <a:r>
              <a:rPr lang="en-US" dirty="0"/>
              <a:t>Communications Security: CIA</a:t>
            </a:r>
          </a:p>
        </p:txBody>
      </p:sp>
      <p:sp>
        <p:nvSpPr>
          <p:cNvPr id="5" name="Object4"/>
          <p:cNvSpPr/>
          <p:nvPr/>
        </p:nvSpPr>
        <p:spPr>
          <a:xfrm>
            <a:off x="28575" y="1157288"/>
            <a:ext cx="5876356" cy="3490912"/>
          </a:xfrm>
          <a:prstGeom prst="rect">
            <a:avLst/>
          </a:prstGeom>
          <a:noFill/>
          <a:ln/>
        </p:spPr>
        <p:txBody>
          <a:bodyPr wrap="square" rtlCol="0" anchor="t"/>
          <a:lstStyle/>
          <a:p>
            <a:r>
              <a:rPr lang="en-US" sz="2800" dirty="0">
                <a:latin typeface="Arial" panose="020B0604020202020204" pitchFamily="34" charset="0"/>
                <a:cs typeface="Arial" panose="020B0604020202020204" pitchFamily="34" charset="0"/>
              </a:rPr>
              <a:t>Information security deals with protecting information and information systems from unauthorized access, use, disclosure, disruption, modification, or destruction. The CIA Triad serves as a </a:t>
            </a:r>
            <a:r>
              <a:rPr lang="en-US" sz="2800" b="1" dirty="0">
                <a:highlight>
                  <a:srgbClr val="FFFF00"/>
                </a:highlight>
                <a:latin typeface="Arial" panose="020B0604020202020204" pitchFamily="34" charset="0"/>
                <a:cs typeface="Arial" panose="020B0604020202020204" pitchFamily="34" charset="0"/>
              </a:rPr>
              <a:t>conceptual</a:t>
            </a:r>
            <a:r>
              <a:rPr lang="en-US" sz="2800" dirty="0">
                <a:latin typeface="Arial" panose="020B0604020202020204" pitchFamily="34" charset="0"/>
                <a:cs typeface="Arial" panose="020B0604020202020204" pitchFamily="34" charset="0"/>
              </a:rPr>
              <a:t> foundation for the field. </a:t>
            </a:r>
          </a:p>
          <a:p>
            <a:endParaRPr lang="en-US" sz="1867" dirty="0">
              <a:latin typeface="Arial" panose="020B0604020202020204" pitchFamily="34" charset="0"/>
              <a:cs typeface="Arial" panose="020B0604020202020204" pitchFamily="34" charset="0"/>
            </a:endParaRPr>
          </a:p>
          <a:p>
            <a:pPr>
              <a:lnSpc>
                <a:spcPts val="2667"/>
              </a:lnSpc>
            </a:pPr>
            <a:endParaRPr lang="en-US" sz="1867" dirty="0"/>
          </a:p>
        </p:txBody>
      </p:sp>
      <p:pic>
        <p:nvPicPr>
          <p:cNvPr id="4" name="Picture 3">
            <a:extLst>
              <a:ext uri="{FF2B5EF4-FFF2-40B4-BE49-F238E27FC236}">
                <a16:creationId xmlns:a16="http://schemas.microsoft.com/office/drawing/2014/main" id="{71D9147F-E172-4EE3-8FDB-B7948617396B}"/>
              </a:ext>
            </a:extLst>
          </p:cNvPr>
          <p:cNvPicPr>
            <a:picLocks noChangeAspect="1"/>
          </p:cNvPicPr>
          <p:nvPr/>
        </p:nvPicPr>
        <p:blipFill>
          <a:blip r:embed="rId3"/>
          <a:stretch>
            <a:fillRect/>
          </a:stretch>
        </p:blipFill>
        <p:spPr>
          <a:xfrm>
            <a:off x="6096000" y="987839"/>
            <a:ext cx="5171888" cy="5110923"/>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91744" y="6309321"/>
            <a:ext cx="2664296" cy="530915"/>
          </a:xfrm>
          <a:prstGeom prst="rect">
            <a:avLst/>
          </a:prstGeom>
          <a:noFill/>
        </p:spPr>
        <p:txBody>
          <a:bodyPr wrap="square" rtlCol="0">
            <a:spAutoFit/>
          </a:bodyPr>
          <a:lstStyle/>
          <a:p>
            <a:r>
              <a:rPr lang="en-US" sz="1050" i="1" dirty="0">
                <a:solidFill>
                  <a:schemeClr val="bg1"/>
                </a:solidFill>
              </a:rPr>
              <a:t>Source</a:t>
            </a:r>
            <a:r>
              <a:rPr lang="en-US" sz="1050" dirty="0">
                <a:solidFill>
                  <a:schemeClr val="bg1"/>
                </a:solidFill>
              </a:rPr>
              <a:t>: Based on [SAND94].</a:t>
            </a:r>
          </a:p>
          <a:p>
            <a:endParaRPr lang="en-US" dirty="0"/>
          </a:p>
        </p:txBody>
      </p:sp>
      <p:sp>
        <p:nvSpPr>
          <p:cNvPr id="2" name="Title 21">
            <a:extLst>
              <a:ext uri="{FF2B5EF4-FFF2-40B4-BE49-F238E27FC236}">
                <a16:creationId xmlns:a16="http://schemas.microsoft.com/office/drawing/2014/main" id="{DB080B16-4CE7-6EC0-3ADC-E33D7D4C671D}"/>
              </a:ext>
            </a:extLst>
          </p:cNvPr>
          <p:cNvSpPr txBox="1">
            <a:spLocks/>
          </p:cNvSpPr>
          <p:nvPr/>
        </p:nvSpPr>
        <p:spPr>
          <a:xfrm>
            <a:off x="191385" y="33515"/>
            <a:ext cx="11748977" cy="1600200"/>
          </a:xfrm>
          <a:prstGeom prst="rect">
            <a:avLst/>
          </a:prstGeom>
        </p:spPr>
        <p:txBody>
          <a:bodyPr>
            <a:normAutofit fontScale="9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dirty="0"/>
              <a:t>Key Security Concepts: AAA and Communications Security</a:t>
            </a:r>
            <a:br>
              <a:rPr lang="en-US" dirty="0"/>
            </a:br>
            <a:endParaRPr lang="en-US" dirty="0"/>
          </a:p>
        </p:txBody>
      </p:sp>
      <p:sp>
        <p:nvSpPr>
          <p:cNvPr id="7" name="TextBox 6">
            <a:extLst>
              <a:ext uri="{FF2B5EF4-FFF2-40B4-BE49-F238E27FC236}">
                <a16:creationId xmlns:a16="http://schemas.microsoft.com/office/drawing/2014/main" id="{ED202CC4-6A21-B3D7-3D80-AA54D4FFAB35}"/>
              </a:ext>
            </a:extLst>
          </p:cNvPr>
          <p:cNvSpPr txBox="1"/>
          <p:nvPr/>
        </p:nvSpPr>
        <p:spPr>
          <a:xfrm>
            <a:off x="191385" y="558687"/>
            <a:ext cx="11557591" cy="6001643"/>
          </a:xfrm>
          <a:prstGeom prst="rect">
            <a:avLst/>
          </a:prstGeom>
          <a:noFill/>
        </p:spPr>
        <p:txBody>
          <a:bodyPr wrap="square">
            <a:spAutoFit/>
          </a:bodyPr>
          <a:lstStyle/>
          <a:p>
            <a:pPr marL="342900" indent="-342900" algn="just" eaLnBrk="1" hangingPunct="1">
              <a:buFont typeface="Arial" panose="020B0604020202020204" pitchFamily="34" charset="0"/>
              <a:buChar char="•"/>
            </a:pPr>
            <a:r>
              <a:rPr lang="en-US" sz="2400" b="1" dirty="0"/>
              <a:t>Authentication</a:t>
            </a:r>
            <a:r>
              <a:rPr lang="en-US" sz="2400" b="0" dirty="0"/>
              <a:t>: Verification that the credentials of a user or other system entity are valid.</a:t>
            </a:r>
          </a:p>
          <a:p>
            <a:pPr marL="342900" indent="-342900" algn="just" eaLnBrk="1" hangingPunct="1">
              <a:buFont typeface="Arial" panose="020B0604020202020204" pitchFamily="34" charset="0"/>
              <a:buChar char="•"/>
            </a:pPr>
            <a:endParaRPr lang="en-US" sz="2400" dirty="0"/>
          </a:p>
          <a:p>
            <a:pPr marL="342900" indent="-342900" algn="just" eaLnBrk="1" hangingPunct="1">
              <a:buFont typeface="Arial" panose="020B0604020202020204" pitchFamily="34" charset="0"/>
              <a:buChar char="•"/>
            </a:pPr>
            <a:r>
              <a:rPr lang="en-US" sz="2400" b="1" dirty="0"/>
              <a:t>Authorization:</a:t>
            </a:r>
            <a:r>
              <a:rPr lang="en-US" sz="2400" b="0" dirty="0"/>
              <a:t> The granting of a right or permission to a system entity to access a system resource. This function determines who is trusted for a given purpose.</a:t>
            </a:r>
          </a:p>
          <a:p>
            <a:pPr marL="342900" indent="-342900" algn="just" eaLnBrk="1" hangingPunct="1">
              <a:buFont typeface="Arial" panose="020B0604020202020204" pitchFamily="34" charset="0"/>
              <a:buChar char="•"/>
            </a:pPr>
            <a:endParaRPr lang="en-US" sz="2400" dirty="0"/>
          </a:p>
          <a:p>
            <a:pPr marL="342900" indent="-342900" algn="just" eaLnBrk="1" hangingPunct="1">
              <a:buFont typeface="Arial" panose="020B0604020202020204" pitchFamily="34" charset="0"/>
              <a:buChar char="•"/>
            </a:pPr>
            <a:r>
              <a:rPr lang="en-US" sz="2400" b="1" i="0" dirty="0">
                <a:solidFill>
                  <a:srgbClr val="333333"/>
                </a:solidFill>
                <a:effectLst/>
                <a:latin typeface="Lucida Grande"/>
              </a:rPr>
              <a:t>Accounting:</a:t>
            </a:r>
            <a:r>
              <a:rPr lang="en-US" sz="2400" b="0" i="0" dirty="0">
                <a:solidFill>
                  <a:srgbClr val="333333"/>
                </a:solidFill>
                <a:effectLst/>
                <a:latin typeface="Lucida Grande"/>
              </a:rPr>
              <a:t> Accounting provides a method for collecting information, logging the information for auditing and reporting. </a:t>
            </a:r>
          </a:p>
          <a:p>
            <a:pPr marL="800100" lvl="1" indent="-342900" algn="just">
              <a:buFont typeface="Arial" panose="020B0604020202020204" pitchFamily="34" charset="0"/>
              <a:buChar char="•"/>
            </a:pPr>
            <a:r>
              <a:rPr lang="en-US" sz="2400" b="1" dirty="0"/>
              <a:t>Audit:</a:t>
            </a:r>
            <a:r>
              <a:rPr lang="en-US" sz="2400" b="0" dirty="0"/>
              <a:t> An independent review and examination of system records and activities in order to test for adequacy of system controls, to ensure compliance with established policy and operational procedures, to detect breaches in security, and to recommend any indicated changes in control, policy and procedures.</a:t>
            </a:r>
          </a:p>
          <a:p>
            <a:pPr marL="800100" lvl="1" indent="-342900" algn="just">
              <a:buFont typeface="Arial" panose="020B0604020202020204" pitchFamily="34" charset="0"/>
              <a:buChar char="•"/>
            </a:pPr>
            <a:endParaRPr lang="en-US" sz="2400" b="0" dirty="0"/>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AAA serves as a </a:t>
            </a:r>
            <a:r>
              <a:rPr lang="en-US" sz="2400" b="1" dirty="0">
                <a:highlight>
                  <a:srgbClr val="FFFF00"/>
                </a:highlight>
                <a:latin typeface="Arial" panose="020B0604020202020204" pitchFamily="34" charset="0"/>
                <a:cs typeface="Arial" panose="020B0604020202020204" pitchFamily="34" charset="0"/>
              </a:rPr>
              <a:t>conceptual</a:t>
            </a:r>
            <a:r>
              <a:rPr lang="en-US" sz="2400" dirty="0">
                <a:latin typeface="Arial" panose="020B0604020202020204" pitchFamily="34" charset="0"/>
                <a:cs typeface="Arial" panose="020B0604020202020204" pitchFamily="34" charset="0"/>
              </a:rPr>
              <a:t> foundation for the field. </a:t>
            </a:r>
            <a:endParaRPr lang="en-GB" sz="2400" dirty="0"/>
          </a:p>
          <a:p>
            <a:pPr marL="342900" indent="-342900" algn="just" eaLnBrk="1" hangingPunct="1">
              <a:buFont typeface="Arial" panose="020B0604020202020204" pitchFamily="34" charset="0"/>
              <a:buChar char="•"/>
            </a:pPr>
            <a:endParaRPr lang="en-US" sz="2400" b="0" dirty="0"/>
          </a:p>
          <a:p>
            <a:pPr marL="342900" indent="-342900" algn="just" eaLnBrk="1" hangingPunct="1">
              <a:buFont typeface="Arial" panose="020B0604020202020204" pitchFamily="34" charset="0"/>
              <a:buChar char="•"/>
            </a:pPr>
            <a:endParaRPr lang="en-US" sz="2400" b="0" dirty="0"/>
          </a:p>
        </p:txBody>
      </p:sp>
    </p:spTree>
    <p:extLst>
      <p:ext uri="{BB962C8B-B14F-4D97-AF65-F5344CB8AC3E}">
        <p14:creationId xmlns:p14="http://schemas.microsoft.com/office/powerpoint/2010/main" val="116320214"/>
      </p:ext>
    </p:extLst>
  </p:cSld>
  <p:clrMapOvr>
    <a:masterClrMapping/>
  </p:clrMapOvr>
  <p:transition spd="med">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1775520" y="332657"/>
            <a:ext cx="8445624" cy="1800200"/>
          </a:xfrm>
        </p:spPr>
        <p:txBody>
          <a:bodyPr/>
          <a:lstStyle/>
          <a:p>
            <a:pPr>
              <a:lnSpc>
                <a:spcPct val="100000"/>
              </a:lnSpc>
              <a:defRPr/>
            </a:pPr>
            <a:r>
              <a:rPr lang="en-GB" sz="3200" dirty="0">
                <a:solidFill>
                  <a:schemeClr val="accent6">
                    <a:lumMod val="40000"/>
                    <a:lumOff val="60000"/>
                  </a:schemeClr>
                </a:solidFill>
              </a:rPr>
              <a:t>NIST SP 800-63-3 (</a:t>
            </a:r>
            <a:r>
              <a:rPr lang="en-GB" sz="3200" i="1" dirty="0">
                <a:solidFill>
                  <a:schemeClr val="accent6">
                    <a:lumMod val="40000"/>
                    <a:lumOff val="60000"/>
                  </a:schemeClr>
                </a:solidFill>
              </a:rPr>
              <a:t>Digital Authentication Guideline, </a:t>
            </a:r>
            <a:r>
              <a:rPr lang="en-GB" sz="3200" dirty="0">
                <a:solidFill>
                  <a:schemeClr val="accent6">
                    <a:lumMod val="40000"/>
                    <a:lumOff val="60000"/>
                  </a:schemeClr>
                </a:solidFill>
              </a:rPr>
              <a:t>October 2016) defines digital user authentication as:</a:t>
            </a:r>
            <a:endParaRPr lang="en-AU" sz="3200" dirty="0">
              <a:solidFill>
                <a:schemeClr val="accent6">
                  <a:lumMod val="40000"/>
                  <a:lumOff val="60000"/>
                </a:schemeClr>
              </a:solidFill>
            </a:endParaRPr>
          </a:p>
        </p:txBody>
      </p:sp>
      <p:sp>
        <p:nvSpPr>
          <p:cNvPr id="200707" name="Rectangle 3"/>
          <p:cNvSpPr>
            <a:spLocks noGrp="1" noChangeArrowheads="1"/>
          </p:cNvSpPr>
          <p:nvPr>
            <p:ph idx="1"/>
          </p:nvPr>
        </p:nvSpPr>
        <p:spPr>
          <a:xfrm>
            <a:off x="1991544" y="2492897"/>
            <a:ext cx="8229600" cy="2581747"/>
          </a:xfrm>
        </p:spPr>
        <p:txBody>
          <a:bodyPr/>
          <a:lstStyle/>
          <a:p>
            <a:pPr algn="ctr">
              <a:buNone/>
              <a:defRPr/>
            </a:pPr>
            <a:r>
              <a:rPr lang="en-US" dirty="0">
                <a:effectLst>
                  <a:outerShdw blurRad="38100" dist="38100" dir="2700000" algn="tl">
                    <a:srgbClr val="000000">
                      <a:alpha val="43137"/>
                    </a:srgbClr>
                  </a:outerShdw>
                </a:effectLst>
                <a:ea typeface="+mn-ea"/>
                <a:cs typeface="+mn-cs"/>
              </a:rPr>
              <a:t>	</a:t>
            </a:r>
            <a:r>
              <a:rPr lang="en-US" sz="3600" dirty="0">
                <a:effectLst>
                  <a:outerShdw blurRad="38100" dist="38100" dir="2700000" algn="tl">
                    <a:srgbClr val="000000">
                      <a:alpha val="43137"/>
                    </a:srgbClr>
                  </a:outerShdw>
                </a:effectLst>
              </a:rPr>
              <a:t>“The process of establishing confidence in user identities that are presented electronically to an information system.”</a:t>
            </a:r>
            <a:endParaRPr lang="en-AU" sz="3600" dirty="0">
              <a:effectLst>
                <a:outerShdw blurRad="38100" dist="38100" dir="2700000" algn="tl">
                  <a:srgbClr val="000000">
                    <a:alpha val="43137"/>
                  </a:srgbClr>
                </a:outerShdw>
              </a:effectL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nvPr>
        </p:nvGraphicFramePr>
        <p:xfrm>
          <a:off x="2002985" y="1002851"/>
          <a:ext cx="82296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1524000" y="188640"/>
            <a:ext cx="9144000" cy="1368152"/>
          </a:xfrm>
        </p:spPr>
        <p:txBody>
          <a:bodyPr/>
          <a:lstStyle/>
          <a:p>
            <a:pPr>
              <a:defRPr/>
            </a:pPr>
            <a:r>
              <a:rPr lang="en-GB" dirty="0">
                <a:solidFill>
                  <a:schemeClr val="accent6">
                    <a:lumMod val="40000"/>
                    <a:lumOff val="60000"/>
                  </a:schemeClr>
                </a:solidFill>
              </a:rPr>
              <a:t>Access Control Definitions 1/2</a:t>
            </a:r>
            <a:endParaRPr lang="en-AU" dirty="0">
              <a:solidFill>
                <a:schemeClr val="accent6">
                  <a:lumMod val="40000"/>
                  <a:lumOff val="60000"/>
                </a:schemeClr>
              </a:solidFill>
            </a:endParaRPr>
          </a:p>
        </p:txBody>
      </p:sp>
      <p:sp>
        <p:nvSpPr>
          <p:cNvPr id="200707" name="Rectangle 3"/>
          <p:cNvSpPr>
            <a:spLocks noGrp="1" noChangeArrowheads="1"/>
          </p:cNvSpPr>
          <p:nvPr>
            <p:ph idx="1"/>
          </p:nvPr>
        </p:nvSpPr>
        <p:spPr>
          <a:xfrm>
            <a:off x="115503" y="1916832"/>
            <a:ext cx="11415562" cy="4464496"/>
          </a:xfrm>
        </p:spPr>
        <p:txBody>
          <a:bodyPr/>
          <a:lstStyle/>
          <a:p>
            <a:pPr>
              <a:buNone/>
              <a:defRPr/>
            </a:pPr>
            <a:r>
              <a:rPr lang="en-AU" dirty="0">
                <a:effectLst>
                  <a:outerShdw blurRad="38100" dist="38100" dir="2700000" algn="tl">
                    <a:srgbClr val="000000">
                      <a:alpha val="43137"/>
                    </a:srgbClr>
                  </a:outerShdw>
                </a:effectLst>
              </a:rPr>
              <a:t>NISTIR 7298 defines access control as:</a:t>
            </a:r>
          </a:p>
          <a:p>
            <a:pPr>
              <a:buNone/>
              <a:defRPr/>
            </a:pPr>
            <a:endParaRPr lang="en-AU" dirty="0">
              <a:effectLst>
                <a:outerShdw blurRad="38100" dist="38100" dir="2700000" algn="tl">
                  <a:srgbClr val="000000">
                    <a:alpha val="43137"/>
                  </a:srgbClr>
                </a:outerShdw>
              </a:effectLst>
            </a:endParaRPr>
          </a:p>
          <a:p>
            <a:pPr algn="ctr">
              <a:buNone/>
              <a:defRPr/>
            </a:pPr>
            <a:r>
              <a:rPr lang="en-AU" dirty="0">
                <a:effectLst>
                  <a:outerShdw blurRad="38100" dist="38100" dir="2700000" algn="tl">
                    <a:srgbClr val="000000">
                      <a:alpha val="43137"/>
                    </a:srgbClr>
                  </a:outerShdw>
                </a:effectLst>
              </a:rPr>
              <a:t>		“the process of granting or denying specific requests to: (1) obtain and use information and related information processing services; and (2) enter specific physical facilities”</a:t>
            </a:r>
          </a:p>
          <a:p>
            <a:pPr>
              <a:buNone/>
              <a:defRPr/>
            </a:pPr>
            <a:endParaRPr lang="en-AU"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38822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1524000" y="0"/>
            <a:ext cx="9144000" cy="1700808"/>
          </a:xfrm>
        </p:spPr>
        <p:txBody>
          <a:bodyPr/>
          <a:lstStyle/>
          <a:p>
            <a:pPr>
              <a:defRPr/>
            </a:pPr>
            <a:r>
              <a:rPr lang="en-GB" dirty="0">
                <a:solidFill>
                  <a:schemeClr val="accent6">
                    <a:lumMod val="40000"/>
                    <a:lumOff val="60000"/>
                  </a:schemeClr>
                </a:solidFill>
              </a:rPr>
              <a:t>Access Control Definitions </a:t>
            </a:r>
            <a:r>
              <a:rPr lang="en-GB" sz="4800" dirty="0">
                <a:solidFill>
                  <a:schemeClr val="accent6">
                    <a:lumMod val="40000"/>
                    <a:lumOff val="60000"/>
                  </a:schemeClr>
                </a:solidFill>
              </a:rPr>
              <a:t>2/2</a:t>
            </a:r>
            <a:endParaRPr lang="en-AU" sz="4800" dirty="0">
              <a:solidFill>
                <a:schemeClr val="accent6">
                  <a:lumMod val="40000"/>
                  <a:lumOff val="60000"/>
                </a:schemeClr>
              </a:solidFill>
            </a:endParaRPr>
          </a:p>
        </p:txBody>
      </p:sp>
      <p:sp>
        <p:nvSpPr>
          <p:cNvPr id="200707" name="Rectangle 3"/>
          <p:cNvSpPr>
            <a:spLocks noGrp="1" noChangeArrowheads="1"/>
          </p:cNvSpPr>
          <p:nvPr>
            <p:ph idx="1"/>
          </p:nvPr>
        </p:nvSpPr>
        <p:spPr>
          <a:xfrm>
            <a:off x="527384" y="1271940"/>
            <a:ext cx="11253938" cy="3203807"/>
          </a:xfrm>
        </p:spPr>
        <p:txBody>
          <a:bodyPr/>
          <a:lstStyle/>
          <a:p>
            <a:pPr>
              <a:buNone/>
              <a:defRPr/>
            </a:pPr>
            <a:r>
              <a:rPr lang="en-AU" dirty="0">
                <a:effectLst>
                  <a:outerShdw blurRad="38100" dist="38100" dir="2700000" algn="tl">
                    <a:srgbClr val="000000">
                      <a:alpha val="43137"/>
                    </a:srgbClr>
                  </a:outerShdw>
                </a:effectLst>
              </a:rPr>
              <a:t>RFC 4949 defines access control as:</a:t>
            </a:r>
          </a:p>
          <a:p>
            <a:pPr>
              <a:buNone/>
              <a:defRPr/>
            </a:pPr>
            <a:endParaRPr lang="en-AU" dirty="0">
              <a:effectLst>
                <a:outerShdw blurRad="38100" dist="38100" dir="2700000" algn="tl">
                  <a:srgbClr val="000000">
                    <a:alpha val="43137"/>
                  </a:srgbClr>
                </a:outerShdw>
              </a:effectLst>
            </a:endParaRPr>
          </a:p>
          <a:p>
            <a:pPr>
              <a:buNone/>
              <a:defRPr/>
            </a:pPr>
            <a:r>
              <a:rPr lang="en-AU" dirty="0">
                <a:effectLst>
                  <a:outerShdw blurRad="38100" dist="38100" dir="2700000" algn="tl">
                    <a:srgbClr val="000000">
                      <a:alpha val="43137"/>
                    </a:srgbClr>
                  </a:outerShdw>
                </a:effectLst>
              </a:rPr>
              <a:t>		“a process by which use of system resources is regulated according to a </a:t>
            </a:r>
            <a:r>
              <a:rPr lang="en-AU" b="1" dirty="0">
                <a:solidFill>
                  <a:srgbClr val="FF0000"/>
                </a:solidFill>
                <a:effectLst>
                  <a:outerShdw blurRad="38100" dist="38100" dir="2700000" algn="tl">
                    <a:srgbClr val="000000">
                      <a:alpha val="43137"/>
                    </a:srgbClr>
                  </a:outerShdw>
                </a:effectLst>
              </a:rPr>
              <a:t>security policy </a:t>
            </a:r>
            <a:r>
              <a:rPr lang="en-AU" dirty="0">
                <a:effectLst>
                  <a:outerShdw blurRad="38100" dist="38100" dir="2700000" algn="tl">
                    <a:srgbClr val="000000">
                      <a:alpha val="43137"/>
                    </a:srgbClr>
                  </a:outerShdw>
                </a:effectLst>
              </a:rPr>
              <a:t>and is permitted only by authorized entities (users, programs, processes, or other systems) according to that policy”</a:t>
            </a:r>
          </a:p>
          <a:p>
            <a:pPr>
              <a:buNone/>
              <a:defRPr/>
            </a:pPr>
            <a:endParaRPr lang="en-AU"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55587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GB" dirty="0">
                <a:solidFill>
                  <a:schemeClr val="accent6">
                    <a:lumMod val="40000"/>
                    <a:lumOff val="60000"/>
                  </a:schemeClr>
                </a:solidFill>
              </a:rPr>
              <a:t>Access Control Principles</a:t>
            </a:r>
            <a:endParaRPr lang="en-AU" dirty="0">
              <a:solidFill>
                <a:schemeClr val="accent6">
                  <a:lumMod val="40000"/>
                  <a:lumOff val="60000"/>
                </a:schemeClr>
              </a:solidFill>
            </a:endParaRPr>
          </a:p>
        </p:txBody>
      </p:sp>
      <p:sp>
        <p:nvSpPr>
          <p:cNvPr id="200707" name="Rectangle 3"/>
          <p:cNvSpPr>
            <a:spLocks noGrp="1" noChangeArrowheads="1"/>
          </p:cNvSpPr>
          <p:nvPr>
            <p:ph idx="1"/>
          </p:nvPr>
        </p:nvSpPr>
        <p:spPr>
          <a:xfrm>
            <a:off x="371475" y="1916833"/>
            <a:ext cx="11372850" cy="4525963"/>
          </a:xfrm>
        </p:spPr>
        <p:txBody>
          <a:bodyPr/>
          <a:lstStyle/>
          <a:p>
            <a:pPr>
              <a:defRPr/>
            </a:pPr>
            <a:r>
              <a:rPr lang="en-AU" dirty="0">
                <a:effectLst>
                  <a:outerShdw blurRad="38100" dist="38100" dir="2700000" algn="tl">
                    <a:srgbClr val="000000">
                      <a:alpha val="43137"/>
                    </a:srgbClr>
                  </a:outerShdw>
                </a:effectLst>
              </a:rPr>
              <a:t>In a broad sense, all of computer security is concerned with access control</a:t>
            </a:r>
          </a:p>
          <a:p>
            <a:pPr>
              <a:buNone/>
              <a:defRPr/>
            </a:pPr>
            <a:endParaRPr lang="en-AU" dirty="0">
              <a:effectLst>
                <a:outerShdw blurRad="38100" dist="38100" dir="2700000" algn="tl">
                  <a:srgbClr val="000000">
                    <a:alpha val="43137"/>
                  </a:srgbClr>
                </a:outerShdw>
              </a:effectLst>
            </a:endParaRPr>
          </a:p>
          <a:p>
            <a:pPr>
              <a:defRPr/>
            </a:pPr>
            <a:r>
              <a:rPr lang="en-AU" dirty="0">
                <a:effectLst>
                  <a:outerShdw blurRad="38100" dist="38100" dir="2700000" algn="tl">
                    <a:srgbClr val="000000">
                      <a:alpha val="43137"/>
                    </a:srgbClr>
                  </a:outerShdw>
                </a:effectLst>
              </a:rPr>
              <a:t>RFC 4949 defines computer security as:</a:t>
            </a:r>
            <a:endParaRPr lang="en-AU" sz="1600" dirty="0">
              <a:effectLst>
                <a:outerShdw blurRad="38100" dist="38100" dir="2700000" algn="tl">
                  <a:srgbClr val="000000">
                    <a:alpha val="43137"/>
                  </a:srgbClr>
                </a:outerShdw>
              </a:effectLst>
            </a:endParaRPr>
          </a:p>
          <a:p>
            <a:pPr>
              <a:defRPr/>
            </a:pPr>
            <a:endParaRPr lang="en-AU" sz="1600" dirty="0">
              <a:effectLst>
                <a:outerShdw blurRad="38100" dist="38100" dir="2700000" algn="tl">
                  <a:srgbClr val="000000">
                    <a:alpha val="43137"/>
                  </a:srgbClr>
                </a:outerShdw>
              </a:effectLst>
            </a:endParaRPr>
          </a:p>
          <a:p>
            <a:pPr algn="ctr">
              <a:buNone/>
              <a:defRPr/>
            </a:pPr>
            <a:r>
              <a:rPr lang="en-AU" dirty="0">
                <a:effectLst>
                  <a:outerShdw blurRad="38100" dist="38100" dir="2700000" algn="tl">
                    <a:srgbClr val="000000">
                      <a:alpha val="43137"/>
                    </a:srgbClr>
                  </a:outerShdw>
                </a:effectLst>
              </a:rPr>
              <a:t>		“measures that implement and assure security services in a computer system, particularly those that assure access control service”</a:t>
            </a:r>
          </a:p>
          <a:p>
            <a:pPr>
              <a:buNone/>
              <a:defRPr/>
            </a:pPr>
            <a:endParaRPr lang="en-AU"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15002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4294967295" hasCustomPrompt="1"/>
          </p:nvPr>
        </p:nvSpPr>
        <p:spPr>
          <a:xfrm>
            <a:off x="0" y="0"/>
            <a:ext cx="12192000" cy="365760"/>
          </a:xfrm>
          <a:prstGeom prst="rect">
            <a:avLst/>
          </a:prstGeom>
          <a:noFill/>
          <a:ln/>
        </p:spPr>
        <p:txBody>
          <a:bodyPr wrap="square" rtlCol="0">
            <a:normAutofit lnSpcReduction="10000"/>
          </a:bodyPr>
          <a:lstStyle/>
          <a:p>
            <a:r>
              <a:rPr lang="en-US" dirty="0"/>
              <a:t>Network Security Policies</a:t>
            </a:r>
          </a:p>
        </p:txBody>
      </p:sp>
      <p:sp>
        <p:nvSpPr>
          <p:cNvPr id="3" name="Object2"/>
          <p:cNvSpPr>
            <a:spLocks noGrp="1"/>
          </p:cNvSpPr>
          <p:nvPr>
            <p:ph type="body" idx="100" hasCustomPrompt="1"/>
          </p:nvPr>
        </p:nvSpPr>
        <p:spPr>
          <a:xfrm>
            <a:off x="0" y="365760"/>
            <a:ext cx="12192000" cy="523240"/>
          </a:xfrm>
          <a:prstGeom prst="rect">
            <a:avLst/>
          </a:prstGeom>
          <a:noFill/>
          <a:ln/>
        </p:spPr>
        <p:txBody>
          <a:bodyPr wrap="square" rtlCol="0"/>
          <a:lstStyle/>
          <a:p>
            <a:r>
              <a:rPr lang="en-US" dirty="0"/>
              <a:t>Network Security Domains</a:t>
            </a:r>
          </a:p>
        </p:txBody>
      </p:sp>
      <p:sp>
        <p:nvSpPr>
          <p:cNvPr id="5" name="TextBox 4">
            <a:extLst>
              <a:ext uri="{FF2B5EF4-FFF2-40B4-BE49-F238E27FC236}">
                <a16:creationId xmlns:a16="http://schemas.microsoft.com/office/drawing/2014/main" id="{87B443F9-420C-455E-B509-A5C0264E8C00}"/>
              </a:ext>
            </a:extLst>
          </p:cNvPr>
          <p:cNvSpPr txBox="1"/>
          <p:nvPr/>
        </p:nvSpPr>
        <p:spPr>
          <a:xfrm>
            <a:off x="508001" y="935156"/>
            <a:ext cx="10782300" cy="666977"/>
          </a:xfrm>
          <a:prstGeom prst="rect">
            <a:avLst/>
          </a:prstGeom>
          <a:noFill/>
        </p:spPr>
        <p:txBody>
          <a:bodyPr wrap="square" rtlCol="0">
            <a:spAutoFit/>
          </a:bodyPr>
          <a:lstStyle/>
          <a:p>
            <a:r>
              <a:rPr lang="en-US" sz="1867" dirty="0">
                <a:latin typeface="Arial" panose="020B0604020202020204" pitchFamily="34" charset="0"/>
                <a:cs typeface="Arial" panose="020B0604020202020204" pitchFamily="34" charset="0"/>
              </a:rPr>
              <a:t>There are 14 network security domains specified by the International Organization for Standardization (ISO)/International Electrotechnical Commission (IEC).</a:t>
            </a:r>
          </a:p>
        </p:txBody>
      </p:sp>
      <p:graphicFrame>
        <p:nvGraphicFramePr>
          <p:cNvPr id="15" name="Table 14"/>
          <p:cNvGraphicFramePr>
            <a:graphicFrameLocks noGrp="1"/>
          </p:cNvGraphicFramePr>
          <p:nvPr/>
        </p:nvGraphicFramePr>
        <p:xfrm>
          <a:off x="121920" y="1678940"/>
          <a:ext cx="11948160" cy="4470400"/>
        </p:xfrm>
        <a:graphic>
          <a:graphicData uri="http://schemas.openxmlformats.org/drawingml/2006/table">
            <a:tbl>
              <a:tblPr/>
              <a:tblGrid>
                <a:gridCol w="4551680">
                  <a:extLst>
                    <a:ext uri="{9D8B030D-6E8A-4147-A177-3AD203B41FA5}">
                      <a16:colId xmlns:a16="http://schemas.microsoft.com/office/drawing/2014/main" val="20000"/>
                    </a:ext>
                  </a:extLst>
                </a:gridCol>
                <a:gridCol w="7396480">
                  <a:extLst>
                    <a:ext uri="{9D8B030D-6E8A-4147-A177-3AD203B41FA5}">
                      <a16:colId xmlns:a16="http://schemas.microsoft.com/office/drawing/2014/main" val="20001"/>
                    </a:ext>
                  </a:extLst>
                </a:gridCol>
              </a:tblGrid>
              <a:tr h="345440">
                <a:tc>
                  <a:txBody>
                    <a:bodyPr/>
                    <a:lstStyle/>
                    <a:p>
                      <a:r>
                        <a:rPr lang="en-US" sz="1600" dirty="0">
                          <a:solidFill>
                            <a:srgbClr val="FFFFFF"/>
                          </a:solidFill>
                        </a:rPr>
                        <a:t>Network Security Domain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600" dirty="0">
                          <a:solidFill>
                            <a:srgbClr val="FFFFFF"/>
                          </a:solidFill>
                        </a:rPr>
                        <a:t>Description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589280">
                <a:tc>
                  <a:txBody>
                    <a:bodyPr/>
                    <a:lstStyle/>
                    <a:p>
                      <a:r>
                        <a:rPr lang="en-US" sz="1600" dirty="0">
                          <a:solidFill>
                            <a:srgbClr val="58585B"/>
                          </a:solidFill>
                        </a:rPr>
                        <a:t>Information Security Policies</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600" dirty="0">
                          <a:solidFill>
                            <a:srgbClr val="58585B"/>
                          </a:solidFill>
                        </a:rPr>
                        <a:t>This annex is designed to ensure that security policies are created, reviewed, and maintained.</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589280">
                <a:tc>
                  <a:txBody>
                    <a:bodyPr/>
                    <a:lstStyle/>
                    <a:p>
                      <a:r>
                        <a:rPr lang="en-US" sz="1600" dirty="0">
                          <a:solidFill>
                            <a:srgbClr val="58585B"/>
                          </a:solidFill>
                        </a:rPr>
                        <a:t>Organization of Information Security</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600" dirty="0">
                          <a:solidFill>
                            <a:srgbClr val="58585B"/>
                          </a:solidFill>
                        </a:rPr>
                        <a:t>This is the governance model set out by an organization for information security. It assigns responsibilities for information security tasks within in organization.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589280">
                <a:tc>
                  <a:txBody>
                    <a:bodyPr/>
                    <a:lstStyle/>
                    <a:p>
                      <a:r>
                        <a:rPr lang="en-US" sz="1600" dirty="0">
                          <a:solidFill>
                            <a:srgbClr val="58585B"/>
                          </a:solidFill>
                        </a:rPr>
                        <a:t>Human Resources Security</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600" dirty="0">
                          <a:solidFill>
                            <a:srgbClr val="58585B"/>
                          </a:solidFill>
                        </a:rPr>
                        <a:t>This addresses security responsibilities relating to employees joining, moving within, and leaving an organization.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589280">
                <a:tc>
                  <a:txBody>
                    <a:bodyPr/>
                    <a:lstStyle/>
                    <a:p>
                      <a:r>
                        <a:rPr lang="en-US" sz="1600" dirty="0">
                          <a:solidFill>
                            <a:srgbClr val="58585B"/>
                          </a:solidFill>
                        </a:rPr>
                        <a:t>Asset Management</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600" dirty="0">
                          <a:solidFill>
                            <a:srgbClr val="58585B"/>
                          </a:solidFill>
                        </a:rPr>
                        <a:t>This concerns the way that organizations create an inventory of and classification scheme for information assets.</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589280">
                <a:tc>
                  <a:txBody>
                    <a:bodyPr/>
                    <a:lstStyle/>
                    <a:p>
                      <a:r>
                        <a:rPr lang="en-US" sz="1600" dirty="0">
                          <a:solidFill>
                            <a:srgbClr val="58585B"/>
                          </a:solidFill>
                        </a:rPr>
                        <a:t>Access Control</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600" dirty="0">
                          <a:solidFill>
                            <a:srgbClr val="58585B"/>
                          </a:solidFill>
                        </a:rPr>
                        <a:t>This describes the restriction of access rights to networks, systems, applications, functions, and data.</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589280">
                <a:tc>
                  <a:txBody>
                    <a:bodyPr/>
                    <a:lstStyle/>
                    <a:p>
                      <a:r>
                        <a:rPr lang="en-US" sz="1600" dirty="0">
                          <a:solidFill>
                            <a:srgbClr val="58585B"/>
                          </a:solidFill>
                        </a:rPr>
                        <a:t>Cryptography</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600" dirty="0">
                          <a:solidFill>
                            <a:srgbClr val="58585B"/>
                          </a:solidFill>
                        </a:rPr>
                        <a:t>This concerns data encryption and the management of sensitive information to protect confidentiality, integrity, and availability of data.</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589280">
                <a:tc>
                  <a:txBody>
                    <a:bodyPr/>
                    <a:lstStyle/>
                    <a:p>
                      <a:r>
                        <a:rPr lang="en-US" sz="1600" dirty="0">
                          <a:solidFill>
                            <a:srgbClr val="58585B"/>
                          </a:solidFill>
                        </a:rPr>
                        <a:t>Physical and Environmental Security</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600" dirty="0">
                          <a:solidFill>
                            <a:srgbClr val="58585B"/>
                          </a:solidFill>
                        </a:rPr>
                        <a:t>This describes the protection of the physical computer facilities and equipment within an organization.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9D9D9"/>
                </a:solidFill>
              </a:defRPr>
            </a:lvl1pPr>
          </a:lstStyle>
          <a:p>
            <a:fld id="{F7021451-1387-4CA6-816F-3879F97B5CBC}" type="slidenum">
              <a:rPr lang="en-US"/>
              <a:t>21</a:t>
            </a:fld>
            <a:endParaRPr lang="en-US" dirty="0"/>
          </a:p>
        </p:txBody>
      </p:sp>
    </p:spTree>
    <p:extLst>
      <p:ext uri="{BB962C8B-B14F-4D97-AF65-F5344CB8AC3E}">
        <p14:creationId xmlns:p14="http://schemas.microsoft.com/office/powerpoint/2010/main" val="3391338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4294967295" hasCustomPrompt="1"/>
          </p:nvPr>
        </p:nvSpPr>
        <p:spPr>
          <a:xfrm>
            <a:off x="0" y="0"/>
            <a:ext cx="12192000" cy="365760"/>
          </a:xfrm>
          <a:prstGeom prst="rect">
            <a:avLst/>
          </a:prstGeom>
          <a:noFill/>
          <a:ln/>
        </p:spPr>
        <p:txBody>
          <a:bodyPr wrap="square" rtlCol="0">
            <a:normAutofit lnSpcReduction="10000"/>
          </a:bodyPr>
          <a:lstStyle/>
          <a:p>
            <a:r>
              <a:rPr lang="en-US" dirty="0"/>
              <a:t>Network Security Policies</a:t>
            </a:r>
          </a:p>
        </p:txBody>
      </p:sp>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Network Security Domains (Cont.)</a:t>
            </a:r>
          </a:p>
        </p:txBody>
      </p:sp>
      <p:graphicFrame>
        <p:nvGraphicFramePr>
          <p:cNvPr id="15" name="Table 14"/>
          <p:cNvGraphicFramePr>
            <a:graphicFrameLocks noGrp="1"/>
          </p:cNvGraphicFramePr>
          <p:nvPr/>
        </p:nvGraphicFramePr>
        <p:xfrm>
          <a:off x="121920" y="1178560"/>
          <a:ext cx="11948160" cy="4754880"/>
        </p:xfrm>
        <a:graphic>
          <a:graphicData uri="http://schemas.openxmlformats.org/drawingml/2006/table">
            <a:tbl>
              <a:tblPr/>
              <a:tblGrid>
                <a:gridCol w="5974080">
                  <a:extLst>
                    <a:ext uri="{9D8B030D-6E8A-4147-A177-3AD203B41FA5}">
                      <a16:colId xmlns:a16="http://schemas.microsoft.com/office/drawing/2014/main" val="20000"/>
                    </a:ext>
                  </a:extLst>
                </a:gridCol>
                <a:gridCol w="5974080">
                  <a:extLst>
                    <a:ext uri="{9D8B030D-6E8A-4147-A177-3AD203B41FA5}">
                      <a16:colId xmlns:a16="http://schemas.microsoft.com/office/drawing/2014/main" val="20001"/>
                    </a:ext>
                  </a:extLst>
                </a:gridCol>
              </a:tblGrid>
              <a:tr h="345440">
                <a:tc>
                  <a:txBody>
                    <a:bodyPr/>
                    <a:lstStyle/>
                    <a:p>
                      <a:r>
                        <a:rPr lang="en-US" sz="1600" dirty="0">
                          <a:solidFill>
                            <a:srgbClr val="FFFFFF"/>
                          </a:solidFill>
                        </a:rPr>
                        <a:t>Network Security Domain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600" dirty="0">
                          <a:solidFill>
                            <a:srgbClr val="FFFFFF"/>
                          </a:solidFill>
                        </a:rPr>
                        <a:t>Description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1320800">
                <a:tc>
                  <a:txBody>
                    <a:bodyPr/>
                    <a:lstStyle/>
                    <a:p>
                      <a:r>
                        <a:rPr lang="en-US" sz="1600" dirty="0">
                          <a:solidFill>
                            <a:srgbClr val="58585B"/>
                          </a:solidFill>
                        </a:rPr>
                        <a:t>Operations Security</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600" dirty="0">
                          <a:solidFill>
                            <a:srgbClr val="58585B"/>
                          </a:solidFill>
                        </a:rPr>
                        <a:t>This describes the management of technical security controls in systems and networks including malware defenses, data backup, logging and monitoring, vulnerability management, and audit considerations. This domain is also concerned with the integrity of software that is used in business operations.</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833120">
                <a:tc>
                  <a:txBody>
                    <a:bodyPr/>
                    <a:lstStyle/>
                    <a:p>
                      <a:r>
                        <a:rPr lang="en-US" sz="1600" dirty="0">
                          <a:solidFill>
                            <a:srgbClr val="58585B"/>
                          </a:solidFill>
                        </a:rPr>
                        <a:t>Communications Security</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600" dirty="0">
                          <a:solidFill>
                            <a:srgbClr val="58585B"/>
                          </a:solidFill>
                        </a:rPr>
                        <a:t>This concerns the security of data as it is communicated on networks, both within an organization or between and organization and third parties such as customers or suppliers.</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833120">
                <a:tc>
                  <a:txBody>
                    <a:bodyPr/>
                    <a:lstStyle/>
                    <a:p>
                      <a:r>
                        <a:rPr lang="en-US" sz="1600" dirty="0">
                          <a:solidFill>
                            <a:srgbClr val="58585B"/>
                          </a:solidFill>
                        </a:rPr>
                        <a:t>System Acquisition, Development, and Maintenance</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600" dirty="0">
                          <a:solidFill>
                            <a:srgbClr val="58585B"/>
                          </a:solidFill>
                        </a:rPr>
                        <a:t>This ensures that information security remains a central concern in an organization’s processes across the entire lifecycle, in both private and public networks.</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r h="833120">
                <a:tc>
                  <a:txBody>
                    <a:bodyPr/>
                    <a:lstStyle/>
                    <a:p>
                      <a:r>
                        <a:rPr lang="en-US" sz="1600" dirty="0">
                          <a:solidFill>
                            <a:srgbClr val="58585B"/>
                          </a:solidFill>
                        </a:rPr>
                        <a:t>Supplier Relationships</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600" dirty="0">
                          <a:solidFill>
                            <a:srgbClr val="58585B"/>
                          </a:solidFill>
                        </a:rPr>
                        <a:t>This concerns the specification of contractual agreements that protect an organization’s information and technology assets that are accessible by third parties that provide supplies and services to the organization.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r h="589280">
                <a:tc>
                  <a:txBody>
                    <a:bodyPr/>
                    <a:lstStyle/>
                    <a:p>
                      <a:r>
                        <a:rPr lang="en-US" sz="1600" dirty="0">
                          <a:solidFill>
                            <a:srgbClr val="58585B"/>
                          </a:solidFill>
                        </a:rPr>
                        <a:t>Information Security Incident Management</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600" dirty="0">
                          <a:solidFill>
                            <a:srgbClr val="58585B"/>
                          </a:solidFill>
                        </a:rPr>
                        <a:t>This describes how to anticipate and respond to information security breaches.</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2"/>
                  </a:ext>
                </a:extLst>
              </a:tr>
            </a:tbl>
          </a:graphicData>
        </a:graphic>
      </p:graphicFrame>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9D9D9"/>
                </a:solidFill>
              </a:defRPr>
            </a:lvl1pPr>
          </a:lstStyle>
          <a:p>
            <a:fld id="{F7021451-1387-4CA6-816F-3879F97B5CBC}" type="slidenum">
              <a:rPr lang="en-US"/>
              <a:t>22</a:t>
            </a:fld>
            <a:endParaRPr lang="en-US" dirty="0"/>
          </a:p>
        </p:txBody>
      </p:sp>
    </p:spTree>
    <p:extLst>
      <p:ext uri="{BB962C8B-B14F-4D97-AF65-F5344CB8AC3E}">
        <p14:creationId xmlns:p14="http://schemas.microsoft.com/office/powerpoint/2010/main" val="1416784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4294967295" hasCustomPrompt="1"/>
          </p:nvPr>
        </p:nvSpPr>
        <p:spPr>
          <a:xfrm>
            <a:off x="0" y="0"/>
            <a:ext cx="12192000" cy="365760"/>
          </a:xfrm>
          <a:prstGeom prst="rect">
            <a:avLst/>
          </a:prstGeom>
          <a:noFill/>
          <a:ln/>
        </p:spPr>
        <p:txBody>
          <a:bodyPr wrap="square" rtlCol="0">
            <a:normAutofit lnSpcReduction="10000"/>
          </a:bodyPr>
          <a:lstStyle/>
          <a:p>
            <a:r>
              <a:rPr lang="en-US" dirty="0"/>
              <a:t>Network Security Policies</a:t>
            </a:r>
          </a:p>
        </p:txBody>
      </p:sp>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Network Security Domains (Cont.)</a:t>
            </a:r>
          </a:p>
        </p:txBody>
      </p:sp>
      <p:graphicFrame>
        <p:nvGraphicFramePr>
          <p:cNvPr id="15" name="Table 14"/>
          <p:cNvGraphicFramePr>
            <a:graphicFrameLocks noGrp="1"/>
          </p:cNvGraphicFramePr>
          <p:nvPr/>
        </p:nvGraphicFramePr>
        <p:xfrm>
          <a:off x="121920" y="1188720"/>
          <a:ext cx="11948160" cy="1524000"/>
        </p:xfrm>
        <a:graphic>
          <a:graphicData uri="http://schemas.openxmlformats.org/drawingml/2006/table">
            <a:tbl>
              <a:tblPr/>
              <a:tblGrid>
                <a:gridCol w="5974080">
                  <a:extLst>
                    <a:ext uri="{9D8B030D-6E8A-4147-A177-3AD203B41FA5}">
                      <a16:colId xmlns:a16="http://schemas.microsoft.com/office/drawing/2014/main" val="20000"/>
                    </a:ext>
                  </a:extLst>
                </a:gridCol>
                <a:gridCol w="5974080">
                  <a:extLst>
                    <a:ext uri="{9D8B030D-6E8A-4147-A177-3AD203B41FA5}">
                      <a16:colId xmlns:a16="http://schemas.microsoft.com/office/drawing/2014/main" val="20001"/>
                    </a:ext>
                  </a:extLst>
                </a:gridCol>
              </a:tblGrid>
              <a:tr h="345440">
                <a:tc>
                  <a:txBody>
                    <a:bodyPr/>
                    <a:lstStyle/>
                    <a:p>
                      <a:r>
                        <a:rPr lang="en-US" sz="1600" dirty="0">
                          <a:solidFill>
                            <a:srgbClr val="FFFFFF"/>
                          </a:solidFill>
                        </a:rPr>
                        <a:t>Network Security Domain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600" dirty="0">
                          <a:solidFill>
                            <a:srgbClr val="FFFFFF"/>
                          </a:solidFill>
                        </a:rPr>
                        <a:t>Description</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589280">
                <a:tc>
                  <a:txBody>
                    <a:bodyPr/>
                    <a:lstStyle/>
                    <a:p>
                      <a:r>
                        <a:rPr lang="en-US" sz="1600" dirty="0">
                          <a:solidFill>
                            <a:srgbClr val="58585B"/>
                          </a:solidFill>
                        </a:rPr>
                        <a:t>Business Continuity Management</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600" dirty="0">
                          <a:solidFill>
                            <a:srgbClr val="58585B"/>
                          </a:solidFill>
                        </a:rPr>
                        <a:t>This describes the protection, maintenance, and recovery of business-critical processes and systems.</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3"/>
                  </a:ext>
                </a:extLst>
              </a:tr>
              <a:tr h="589280">
                <a:tc>
                  <a:txBody>
                    <a:bodyPr/>
                    <a:lstStyle/>
                    <a:p>
                      <a:r>
                        <a:rPr lang="en-US" sz="1600" dirty="0">
                          <a:solidFill>
                            <a:srgbClr val="58585B"/>
                          </a:solidFill>
                        </a:rPr>
                        <a:t>Compliance</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600" dirty="0">
                          <a:solidFill>
                            <a:srgbClr val="58585B"/>
                          </a:solidFill>
                        </a:rPr>
                        <a:t>This describes the process of ensuring conformance with information security policies, standards, and regulations.</a:t>
                      </a:r>
                      <a:endParaRPr lang="en-US" sz="1600" dirty="0"/>
                    </a:p>
                  </a:txBody>
                  <a:tcPr marL="50800" marR="50800" marT="50800" marB="508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4"/>
                  </a:ext>
                </a:extLst>
              </a:tr>
            </a:tbl>
          </a:graphicData>
        </a:graphic>
      </p:graphicFrame>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9D9D9"/>
                </a:solidFill>
              </a:defRPr>
            </a:lvl1pPr>
          </a:lstStyle>
          <a:p>
            <a:fld id="{F7021451-1387-4CA6-816F-3879F97B5CBC}" type="slidenum">
              <a:rPr lang="en-US"/>
              <a:t>23</a:t>
            </a:fld>
            <a:endParaRPr lang="en-US" dirty="0"/>
          </a:p>
        </p:txBody>
      </p:sp>
    </p:spTree>
    <p:extLst>
      <p:ext uri="{BB962C8B-B14F-4D97-AF65-F5344CB8AC3E}">
        <p14:creationId xmlns:p14="http://schemas.microsoft.com/office/powerpoint/2010/main" val="1608438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Further definitions: What is network security?</a:t>
            </a:r>
            <a:endParaRPr lang="en-US" sz="4400" dirty="0"/>
          </a:p>
        </p:txBody>
      </p:sp>
      <p:sp>
        <p:nvSpPr>
          <p:cNvPr id="6" name="Slide Number Placeholder 2">
            <a:extLst>
              <a:ext uri="{FF2B5EF4-FFF2-40B4-BE49-F238E27FC236}">
                <a16:creationId xmlns:a16="http://schemas.microsoft.com/office/drawing/2014/main" id="{009DA679-1707-7346-B163-C91B0D75381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24</a:t>
            </a:fld>
            <a:endParaRPr lang="en-US" dirty="0"/>
          </a:p>
        </p:txBody>
      </p:sp>
      <p:sp>
        <p:nvSpPr>
          <p:cNvPr id="11" name="Rectangle 3">
            <a:extLst>
              <a:ext uri="{FF2B5EF4-FFF2-40B4-BE49-F238E27FC236}">
                <a16:creationId xmlns:a16="http://schemas.microsoft.com/office/drawing/2014/main" id="{E708D807-71AD-3B4B-9781-46E36F32C0D1}"/>
              </a:ext>
            </a:extLst>
          </p:cNvPr>
          <p:cNvSpPr txBox="1">
            <a:spLocks noChangeArrowheads="1"/>
          </p:cNvSpPr>
          <p:nvPr/>
        </p:nvSpPr>
        <p:spPr>
          <a:xfrm>
            <a:off x="317634" y="1333500"/>
            <a:ext cx="11012975" cy="4972050"/>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00B050"/>
                </a:solidFill>
              </a:rPr>
              <a:t>Confidentiality: </a:t>
            </a:r>
            <a:r>
              <a:rPr lang="en-US" dirty="0"/>
              <a:t>only sender, intended receiver should “</a:t>
            </a:r>
            <a:r>
              <a:rPr lang="en-US" altLang="ja-JP" dirty="0"/>
              <a:t>understand” message contents</a:t>
            </a:r>
          </a:p>
          <a:p>
            <a:pPr lvl="1"/>
            <a:r>
              <a:rPr lang="en-US" sz="2800" dirty="0"/>
              <a:t>sender </a:t>
            </a:r>
            <a:r>
              <a:rPr lang="en-US" sz="2800" b="1" dirty="0">
                <a:solidFill>
                  <a:srgbClr val="C00000"/>
                </a:solidFill>
              </a:rPr>
              <a:t>encrypts</a:t>
            </a:r>
            <a:r>
              <a:rPr lang="en-US" sz="2800" dirty="0"/>
              <a:t> message</a:t>
            </a:r>
          </a:p>
          <a:p>
            <a:pPr lvl="1"/>
            <a:r>
              <a:rPr lang="en-US" sz="2800" dirty="0"/>
              <a:t>receiver </a:t>
            </a:r>
            <a:r>
              <a:rPr lang="en-US" sz="2800" b="1" dirty="0">
                <a:solidFill>
                  <a:srgbClr val="C00000"/>
                </a:solidFill>
              </a:rPr>
              <a:t>decrypts</a:t>
            </a:r>
            <a:r>
              <a:rPr lang="en-US" sz="2800" dirty="0"/>
              <a:t> message</a:t>
            </a:r>
          </a:p>
          <a:p>
            <a:r>
              <a:rPr lang="en-US" sz="3200" dirty="0">
                <a:solidFill>
                  <a:srgbClr val="00B050"/>
                </a:solidFill>
              </a:rPr>
              <a:t>Authentication: </a:t>
            </a:r>
            <a:r>
              <a:rPr lang="en-US" dirty="0"/>
              <a:t>sender, receiver want to confirm identity of each other </a:t>
            </a:r>
          </a:p>
          <a:p>
            <a:r>
              <a:rPr lang="en-US" sz="3200" dirty="0">
                <a:solidFill>
                  <a:srgbClr val="00B050"/>
                </a:solidFill>
              </a:rPr>
              <a:t>Message integrity: </a:t>
            </a:r>
            <a:r>
              <a:rPr lang="en-US" dirty="0"/>
              <a:t>sender, receiver want to ensure message not altered (in transit, or afterwards) without detection</a:t>
            </a:r>
          </a:p>
          <a:p>
            <a:r>
              <a:rPr lang="en-US" sz="3200" dirty="0">
                <a:solidFill>
                  <a:srgbClr val="00B050"/>
                </a:solidFill>
              </a:rPr>
              <a:t>Access and Availability</a:t>
            </a:r>
            <a:r>
              <a:rPr lang="en-US" dirty="0">
                <a:solidFill>
                  <a:srgbClr val="C00000"/>
                </a:solidFill>
              </a:rPr>
              <a:t>: </a:t>
            </a:r>
            <a:r>
              <a:rPr lang="en-US" dirty="0"/>
              <a:t>services must be accessible and available to users</a:t>
            </a:r>
          </a:p>
          <a:p>
            <a:r>
              <a:rPr lang="en-US" dirty="0">
                <a:solidFill>
                  <a:srgbClr val="00B050"/>
                </a:solidFill>
              </a:rPr>
              <a:t>And? Are we including all concepts in CIA and AAA models?</a:t>
            </a:r>
          </a:p>
        </p:txBody>
      </p:sp>
    </p:spTree>
    <p:extLst>
      <p:ext uri="{BB962C8B-B14F-4D97-AF65-F5344CB8AC3E}">
        <p14:creationId xmlns:p14="http://schemas.microsoft.com/office/powerpoint/2010/main" val="401150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dissolve">
                                      <p:cBhvr>
                                        <p:cTn id="7" dur="500"/>
                                        <p:tgtEl>
                                          <p:spTgt spid="11">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dissolve">
                                      <p:cBhvr>
                                        <p:cTn id="10" dur="500"/>
                                        <p:tgtEl>
                                          <p:spTgt spid="11">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dissolve">
                                      <p:cBhvr>
                                        <p:cTn id="13" dur="500"/>
                                        <p:tgtEl>
                                          <p:spTgt spid="1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1">
                                            <p:txEl>
                                              <p:pRg st="3" end="3"/>
                                            </p:txEl>
                                          </p:spTgt>
                                        </p:tgtEl>
                                        <p:attrNameLst>
                                          <p:attrName>style.visibility</p:attrName>
                                        </p:attrNameLst>
                                      </p:cBhvr>
                                      <p:to>
                                        <p:strVal val="visible"/>
                                      </p:to>
                                    </p:set>
                                    <p:animEffect transition="in" filter="dissolve">
                                      <p:cBhvr>
                                        <p:cTn id="18" dur="500"/>
                                        <p:tgtEl>
                                          <p:spTgt spid="11">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animEffect transition="in" filter="dissolve">
                                      <p:cBhvr>
                                        <p:cTn id="23" dur="500"/>
                                        <p:tgtEl>
                                          <p:spTgt spid="11">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dissolve">
                                      <p:cBhvr>
                                        <p:cTn id="28" dur="500"/>
                                        <p:tgtEl>
                                          <p:spTgt spid="1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Effect transition="in" filter="dissolve">
                                      <p:cBhvr>
                                        <p:cTn id="33"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2E102F-B559-D74C-B1F7-42B1D4330A9B}"/>
              </a:ext>
            </a:extLst>
          </p:cNvPr>
          <p:cNvGrpSpPr/>
          <p:nvPr/>
        </p:nvGrpSpPr>
        <p:grpSpPr>
          <a:xfrm>
            <a:off x="4313903" y="4515085"/>
            <a:ext cx="1909916" cy="306675"/>
            <a:chOff x="1616358" y="2551230"/>
            <a:chExt cx="2141698" cy="218510"/>
          </a:xfrm>
        </p:grpSpPr>
        <p:sp>
          <p:nvSpPr>
            <p:cNvPr id="34" name="Rectangle 33">
              <a:extLst>
                <a:ext uri="{FF2B5EF4-FFF2-40B4-BE49-F238E27FC236}">
                  <a16:creationId xmlns:a16="http://schemas.microsoft.com/office/drawing/2014/main" id="{4F546669-9553-174C-8C04-88D4B8B5E631}"/>
                </a:ext>
              </a:extLst>
            </p:cNvPr>
            <p:cNvSpPr/>
            <p:nvPr/>
          </p:nvSpPr>
          <p:spPr>
            <a:xfrm>
              <a:off x="1673508" y="2551230"/>
              <a:ext cx="2027398" cy="218510"/>
            </a:xfrm>
            <a:prstGeom prst="rect">
              <a:avLst/>
            </a:prstGeom>
            <a:gradFill>
              <a:gsLst>
                <a:gs pos="0">
                  <a:srgbClr val="011199"/>
                </a:gs>
                <a:gs pos="100000">
                  <a:srgbClr val="011199"/>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p>
          </p:txBody>
        </p:sp>
        <p:sp>
          <p:nvSpPr>
            <p:cNvPr id="35" name="Oval 34">
              <a:extLst>
                <a:ext uri="{FF2B5EF4-FFF2-40B4-BE49-F238E27FC236}">
                  <a16:creationId xmlns:a16="http://schemas.microsoft.com/office/drawing/2014/main" id="{D87D9967-A24E-F544-9A59-FD2A48433B92}"/>
                </a:ext>
              </a:extLst>
            </p:cNvPr>
            <p:cNvSpPr/>
            <p:nvPr/>
          </p:nvSpPr>
          <p:spPr>
            <a:xfrm>
              <a:off x="1616358" y="2551231"/>
              <a:ext cx="114299" cy="216734"/>
            </a:xfrm>
            <a:prstGeom prst="ellipse">
              <a:avLst/>
            </a:prstGeom>
            <a:solidFill>
              <a:srgbClr val="7ACCF4"/>
            </a:solidFill>
            <a:ln w="6350">
              <a:solidFill>
                <a:srgbClr val="01119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p>
          </p:txBody>
        </p:sp>
        <p:sp>
          <p:nvSpPr>
            <p:cNvPr id="36" name="Oval 35">
              <a:extLst>
                <a:ext uri="{FF2B5EF4-FFF2-40B4-BE49-F238E27FC236}">
                  <a16:creationId xmlns:a16="http://schemas.microsoft.com/office/drawing/2014/main" id="{5E93D35B-8FAD-964F-98EB-85771990F25E}"/>
                </a:ext>
              </a:extLst>
            </p:cNvPr>
            <p:cNvSpPr/>
            <p:nvPr/>
          </p:nvSpPr>
          <p:spPr>
            <a:xfrm>
              <a:off x="3643756" y="2551230"/>
              <a:ext cx="114300" cy="218510"/>
            </a:xfrm>
            <a:prstGeom prst="ellipse">
              <a:avLst/>
            </a:prstGeom>
            <a:gradFill flip="none" rotWithShape="1">
              <a:gsLst>
                <a:gs pos="0">
                  <a:srgbClr val="011199"/>
                </a:gs>
                <a:gs pos="100000">
                  <a:srgbClr val="011199"/>
                </a:gs>
                <a:gs pos="50000">
                  <a:srgbClr val="7ACCF4"/>
                </a:gs>
              </a:gsLst>
              <a:lin ang="16200000" scaled="0"/>
              <a:tileRect/>
            </a:gradFill>
            <a:ln w="6350">
              <a:solidFill>
                <a:srgbClr val="011199"/>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p>
          </p:txBody>
        </p:sp>
        <p:sp>
          <p:nvSpPr>
            <p:cNvPr id="37" name="Rectangle 36">
              <a:extLst>
                <a:ext uri="{FF2B5EF4-FFF2-40B4-BE49-F238E27FC236}">
                  <a16:creationId xmlns:a16="http://schemas.microsoft.com/office/drawing/2014/main" id="{5FC56D7B-912D-134F-A0C1-5929F034B9E3}"/>
                </a:ext>
              </a:extLst>
            </p:cNvPr>
            <p:cNvSpPr/>
            <p:nvPr/>
          </p:nvSpPr>
          <p:spPr>
            <a:xfrm>
              <a:off x="3491356" y="2551230"/>
              <a:ext cx="209550" cy="218510"/>
            </a:xfrm>
            <a:prstGeom prst="rect">
              <a:avLst/>
            </a:prstGeom>
            <a:gradFill>
              <a:gsLst>
                <a:gs pos="0">
                  <a:srgbClr val="011199"/>
                </a:gs>
                <a:gs pos="100000">
                  <a:srgbClr val="011199"/>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p>
          </p:txBody>
        </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Friends and enemies: Alice, Bob, Trudy</a:t>
            </a:r>
            <a:endParaRPr lang="en-US" sz="4400" dirty="0"/>
          </a:p>
        </p:txBody>
      </p:sp>
      <p:sp>
        <p:nvSpPr>
          <p:cNvPr id="6" name="Slide Number Placeholder 2">
            <a:extLst>
              <a:ext uri="{FF2B5EF4-FFF2-40B4-BE49-F238E27FC236}">
                <a16:creationId xmlns:a16="http://schemas.microsoft.com/office/drawing/2014/main" id="{009DA679-1707-7346-B163-C91B0D75381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25</a:t>
            </a:fld>
            <a:endParaRPr lang="en-US" dirty="0"/>
          </a:p>
        </p:txBody>
      </p:sp>
      <p:sp>
        <p:nvSpPr>
          <p:cNvPr id="5" name="Rectangle 3">
            <a:extLst>
              <a:ext uri="{FF2B5EF4-FFF2-40B4-BE49-F238E27FC236}">
                <a16:creationId xmlns:a16="http://schemas.microsoft.com/office/drawing/2014/main" id="{8981E4A1-C985-AA48-ACBA-A6F1FCF9CA4B}"/>
              </a:ext>
            </a:extLst>
          </p:cNvPr>
          <p:cNvSpPr txBox="1">
            <a:spLocks noChangeArrowheads="1"/>
          </p:cNvSpPr>
          <p:nvPr/>
        </p:nvSpPr>
        <p:spPr>
          <a:xfrm>
            <a:off x="990600" y="1341783"/>
            <a:ext cx="8142288" cy="1617663"/>
          </a:xfrm>
          <a:prstGeom prst="rect">
            <a:avLst/>
          </a:prstGeom>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87338"/>
            <a:r>
              <a:rPr lang="en-US" dirty="0"/>
              <a:t>well-known in network security world</a:t>
            </a:r>
          </a:p>
          <a:p>
            <a:pPr indent="-287338"/>
            <a:r>
              <a:rPr lang="en-US" dirty="0"/>
              <a:t>Bob, Alice (lovers!) want to communicate “</a:t>
            </a:r>
            <a:r>
              <a:rPr lang="en-US" altLang="ja-JP" dirty="0"/>
              <a:t>securely”</a:t>
            </a:r>
          </a:p>
          <a:p>
            <a:pPr indent="-287338"/>
            <a:r>
              <a:rPr lang="en-US" dirty="0"/>
              <a:t>Trudy (intruder) may intercept, delete, add messages</a:t>
            </a:r>
          </a:p>
        </p:txBody>
      </p:sp>
      <p:pic>
        <p:nvPicPr>
          <p:cNvPr id="7" name="Picture 6" descr="Alice">
            <a:extLst>
              <a:ext uri="{FF2B5EF4-FFF2-40B4-BE49-F238E27FC236}">
                <a16:creationId xmlns:a16="http://schemas.microsoft.com/office/drawing/2014/main" id="{D41C01D5-C522-4441-86E3-6D530C05B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0559" y="3421063"/>
            <a:ext cx="698500" cy="862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7" descr="Bob">
            <a:extLst>
              <a:ext uri="{FF2B5EF4-FFF2-40B4-BE49-F238E27FC236}">
                <a16:creationId xmlns:a16="http://schemas.microsoft.com/office/drawing/2014/main" id="{27314ED6-3AD0-5E4A-B3AB-B14814BF06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4434" y="3468688"/>
            <a:ext cx="812800" cy="830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9" descr="Eve">
            <a:extLst>
              <a:ext uri="{FF2B5EF4-FFF2-40B4-BE49-F238E27FC236}">
                <a16:creationId xmlns:a16="http://schemas.microsoft.com/office/drawing/2014/main" id="{C36C7116-CBC3-4246-B029-205ED76E34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5071097" y="5387975"/>
            <a:ext cx="1082675" cy="1295400"/>
          </a:xfrm>
          <a:prstGeom prst="rect">
            <a:avLst/>
          </a:prstGeom>
          <a:noFill/>
        </p:spPr>
      </p:pic>
      <p:sp>
        <p:nvSpPr>
          <p:cNvPr id="10" name="Rectangle 11">
            <a:extLst>
              <a:ext uri="{FF2B5EF4-FFF2-40B4-BE49-F238E27FC236}">
                <a16:creationId xmlns:a16="http://schemas.microsoft.com/office/drawing/2014/main" id="{A92F29AA-F23F-2547-B160-DA6CE2711672}"/>
              </a:ext>
            </a:extLst>
          </p:cNvPr>
          <p:cNvSpPr>
            <a:spLocks noChangeArrowheads="1"/>
          </p:cNvSpPr>
          <p:nvPr/>
        </p:nvSpPr>
        <p:spPr bwMode="auto">
          <a:xfrm>
            <a:off x="2700959" y="4256088"/>
            <a:ext cx="1293813" cy="803275"/>
          </a:xfrm>
          <a:prstGeom prst="rect">
            <a:avLst/>
          </a:prstGeom>
          <a:solidFill>
            <a:srgbClr val="0012A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p>
            <a:endParaRPr lang="en-US" sz="2000" dirty="0">
              <a:cs typeface="Arial" charset="0"/>
            </a:endParaRPr>
          </a:p>
        </p:txBody>
      </p:sp>
      <p:sp>
        <p:nvSpPr>
          <p:cNvPr id="12" name="Text Box 12">
            <a:extLst>
              <a:ext uri="{FF2B5EF4-FFF2-40B4-BE49-F238E27FC236}">
                <a16:creationId xmlns:a16="http://schemas.microsoft.com/office/drawing/2014/main" id="{B6E3E372-2ADE-2A43-9779-A64AB5BA3E7F}"/>
              </a:ext>
            </a:extLst>
          </p:cNvPr>
          <p:cNvSpPr txBox="1">
            <a:spLocks noChangeArrowheads="1"/>
          </p:cNvSpPr>
          <p:nvPr/>
        </p:nvSpPr>
        <p:spPr bwMode="auto">
          <a:xfrm>
            <a:off x="2828511" y="4246492"/>
            <a:ext cx="1043876"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sz="2400" dirty="0">
                <a:solidFill>
                  <a:schemeClr val="bg1"/>
                </a:solidFill>
                <a:latin typeface="+mn-lt"/>
                <a:cs typeface="Arial" charset="0"/>
              </a:rPr>
              <a:t>secure</a:t>
            </a:r>
          </a:p>
          <a:p>
            <a:r>
              <a:rPr lang="en-US" sz="2400" dirty="0">
                <a:solidFill>
                  <a:schemeClr val="bg1"/>
                </a:solidFill>
                <a:latin typeface="+mn-lt"/>
                <a:cs typeface="Arial" charset="0"/>
              </a:rPr>
              <a:t>sender</a:t>
            </a:r>
          </a:p>
        </p:txBody>
      </p:sp>
      <p:grpSp>
        <p:nvGrpSpPr>
          <p:cNvPr id="3" name="Group 2">
            <a:extLst>
              <a:ext uri="{FF2B5EF4-FFF2-40B4-BE49-F238E27FC236}">
                <a16:creationId xmlns:a16="http://schemas.microsoft.com/office/drawing/2014/main" id="{5A317176-141A-5F47-AE82-67DD4D8411A3}"/>
              </a:ext>
            </a:extLst>
          </p:cNvPr>
          <p:cNvGrpSpPr/>
          <p:nvPr/>
        </p:nvGrpSpPr>
        <p:grpSpPr>
          <a:xfrm>
            <a:off x="6455950" y="4272446"/>
            <a:ext cx="1293812" cy="839374"/>
            <a:chOff x="7224576" y="4365211"/>
            <a:chExt cx="1293812" cy="839374"/>
          </a:xfrm>
        </p:grpSpPr>
        <p:sp>
          <p:nvSpPr>
            <p:cNvPr id="13" name="Rectangle 13">
              <a:extLst>
                <a:ext uri="{FF2B5EF4-FFF2-40B4-BE49-F238E27FC236}">
                  <a16:creationId xmlns:a16="http://schemas.microsoft.com/office/drawing/2014/main" id="{5386017F-3A55-9C49-945C-0928FAEDA6BC}"/>
                </a:ext>
              </a:extLst>
            </p:cNvPr>
            <p:cNvSpPr>
              <a:spLocks noChangeArrowheads="1"/>
            </p:cNvSpPr>
            <p:nvPr/>
          </p:nvSpPr>
          <p:spPr bwMode="auto">
            <a:xfrm>
              <a:off x="7224576" y="4401310"/>
              <a:ext cx="1293812" cy="803275"/>
            </a:xfrm>
            <a:prstGeom prst="rect">
              <a:avLst/>
            </a:prstGeom>
            <a:solidFill>
              <a:srgbClr val="0012A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p>
              <a:endParaRPr lang="en-US" sz="2000" dirty="0">
                <a:cs typeface="Arial" charset="0"/>
              </a:endParaRPr>
            </a:p>
          </p:txBody>
        </p:sp>
        <p:sp>
          <p:nvSpPr>
            <p:cNvPr id="14" name="Text Box 14">
              <a:extLst>
                <a:ext uri="{FF2B5EF4-FFF2-40B4-BE49-F238E27FC236}">
                  <a16:creationId xmlns:a16="http://schemas.microsoft.com/office/drawing/2014/main" id="{1F0FE550-BD73-1149-8513-63C825B3BC74}"/>
                </a:ext>
              </a:extLst>
            </p:cNvPr>
            <p:cNvSpPr txBox="1">
              <a:spLocks noChangeArrowheads="1"/>
            </p:cNvSpPr>
            <p:nvPr/>
          </p:nvSpPr>
          <p:spPr bwMode="auto">
            <a:xfrm>
              <a:off x="7311886" y="4365211"/>
              <a:ext cx="1193917"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sz="2400" dirty="0">
                  <a:solidFill>
                    <a:schemeClr val="bg1"/>
                  </a:solidFill>
                  <a:latin typeface="+mn-lt"/>
                  <a:cs typeface="Arial" charset="0"/>
                </a:rPr>
                <a:t>secure</a:t>
              </a:r>
            </a:p>
            <a:p>
              <a:r>
                <a:rPr lang="en-US" sz="2400" dirty="0">
                  <a:solidFill>
                    <a:schemeClr val="bg1"/>
                  </a:solidFill>
                  <a:latin typeface="+mn-lt"/>
                  <a:cs typeface="Arial" charset="0"/>
                </a:rPr>
                <a:t>receiver</a:t>
              </a:r>
            </a:p>
          </p:txBody>
        </p:sp>
      </p:grpSp>
      <p:sp>
        <p:nvSpPr>
          <p:cNvPr id="15" name="Text Box 18">
            <a:extLst>
              <a:ext uri="{FF2B5EF4-FFF2-40B4-BE49-F238E27FC236}">
                <a16:creationId xmlns:a16="http://schemas.microsoft.com/office/drawing/2014/main" id="{2871BD83-FEA5-F04B-9AD0-59A6E9B634A2}"/>
              </a:ext>
            </a:extLst>
          </p:cNvPr>
          <p:cNvSpPr txBox="1">
            <a:spLocks noChangeArrowheads="1"/>
          </p:cNvSpPr>
          <p:nvPr/>
        </p:nvSpPr>
        <p:spPr bwMode="auto">
          <a:xfrm>
            <a:off x="3715372" y="3511550"/>
            <a:ext cx="1172116"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sz="2400" dirty="0">
                <a:latin typeface="+mn-lt"/>
                <a:cs typeface="Arial" charset="0"/>
              </a:rPr>
              <a:t>channel</a:t>
            </a:r>
          </a:p>
        </p:txBody>
      </p:sp>
      <p:sp>
        <p:nvSpPr>
          <p:cNvPr id="16" name="Line 19">
            <a:extLst>
              <a:ext uri="{FF2B5EF4-FFF2-40B4-BE49-F238E27FC236}">
                <a16:creationId xmlns:a16="http://schemas.microsoft.com/office/drawing/2014/main" id="{ED0D5246-4FE6-EB49-A4F4-63EFE600E966}"/>
              </a:ext>
            </a:extLst>
          </p:cNvPr>
          <p:cNvSpPr>
            <a:spLocks noChangeShapeType="1"/>
          </p:cNvSpPr>
          <p:nvPr/>
        </p:nvSpPr>
        <p:spPr bwMode="auto">
          <a:xfrm>
            <a:off x="4431334" y="3933825"/>
            <a:ext cx="238125" cy="44926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sz="2000" dirty="0"/>
          </a:p>
        </p:txBody>
      </p:sp>
      <p:sp>
        <p:nvSpPr>
          <p:cNvPr id="18" name="Line 17">
            <a:extLst>
              <a:ext uri="{FF2B5EF4-FFF2-40B4-BE49-F238E27FC236}">
                <a16:creationId xmlns:a16="http://schemas.microsoft.com/office/drawing/2014/main" id="{FB737BEF-635E-0B4E-9C2B-7E984A418C0D}"/>
              </a:ext>
            </a:extLst>
          </p:cNvPr>
          <p:cNvSpPr>
            <a:spLocks noChangeShapeType="1"/>
          </p:cNvSpPr>
          <p:nvPr/>
        </p:nvSpPr>
        <p:spPr bwMode="auto">
          <a:xfrm flipV="1">
            <a:off x="4037634" y="4667250"/>
            <a:ext cx="2460625" cy="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en-US" sz="2000" dirty="0"/>
          </a:p>
        </p:txBody>
      </p:sp>
      <p:sp>
        <p:nvSpPr>
          <p:cNvPr id="19" name="Text Box 23">
            <a:extLst>
              <a:ext uri="{FF2B5EF4-FFF2-40B4-BE49-F238E27FC236}">
                <a16:creationId xmlns:a16="http://schemas.microsoft.com/office/drawing/2014/main" id="{A088F030-4F36-0E40-BDB5-E25C442EF185}"/>
              </a:ext>
            </a:extLst>
          </p:cNvPr>
          <p:cNvSpPr txBox="1">
            <a:spLocks noChangeArrowheads="1"/>
          </p:cNvSpPr>
          <p:nvPr/>
        </p:nvSpPr>
        <p:spPr bwMode="auto">
          <a:xfrm>
            <a:off x="4863134" y="3468688"/>
            <a:ext cx="1889125"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dirty="0">
                <a:latin typeface="+mn-lt"/>
                <a:cs typeface="Arial" charset="0"/>
              </a:rPr>
              <a:t>data, control messages</a:t>
            </a:r>
          </a:p>
        </p:txBody>
      </p:sp>
      <p:sp>
        <p:nvSpPr>
          <p:cNvPr id="20" name="Line 24">
            <a:extLst>
              <a:ext uri="{FF2B5EF4-FFF2-40B4-BE49-F238E27FC236}">
                <a16:creationId xmlns:a16="http://schemas.microsoft.com/office/drawing/2014/main" id="{CAD963E2-1C4F-3E4B-8B7E-980218B6871C}"/>
              </a:ext>
            </a:extLst>
          </p:cNvPr>
          <p:cNvSpPr>
            <a:spLocks noChangeShapeType="1"/>
          </p:cNvSpPr>
          <p:nvPr/>
        </p:nvSpPr>
        <p:spPr bwMode="auto">
          <a:xfrm>
            <a:off x="5709272" y="4086225"/>
            <a:ext cx="223837" cy="517525"/>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sz="2000" dirty="0"/>
          </a:p>
        </p:txBody>
      </p:sp>
      <p:sp>
        <p:nvSpPr>
          <p:cNvPr id="21" name="Freeform 25">
            <a:extLst>
              <a:ext uri="{FF2B5EF4-FFF2-40B4-BE49-F238E27FC236}">
                <a16:creationId xmlns:a16="http://schemas.microsoft.com/office/drawing/2014/main" id="{AB38AEF3-BCB8-E74B-A27C-43FD3B8F6715}"/>
              </a:ext>
            </a:extLst>
          </p:cNvPr>
          <p:cNvSpPr>
            <a:spLocks/>
          </p:cNvSpPr>
          <p:nvPr/>
        </p:nvSpPr>
        <p:spPr bwMode="auto">
          <a:xfrm>
            <a:off x="4517059" y="4765930"/>
            <a:ext cx="573088" cy="914400"/>
          </a:xfrm>
          <a:custGeom>
            <a:avLst/>
            <a:gdLst>
              <a:gd name="T0" fmla="*/ 0 w 344"/>
              <a:gd name="T1" fmla="*/ 0 h 789"/>
              <a:gd name="T2" fmla="*/ 2147483647 w 344"/>
              <a:gd name="T3" fmla="*/ 2147483647 h 789"/>
              <a:gd name="T4" fmla="*/ 2147483647 w 344"/>
              <a:gd name="T5" fmla="*/ 2147483647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57150">
            <a:solidFill>
              <a:schemeClr val="tx1"/>
            </a:solidFill>
            <a:round/>
            <a:headEnd type="triangle" w="med" len="me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en-US" sz="2000" dirty="0"/>
          </a:p>
        </p:txBody>
      </p:sp>
      <p:sp>
        <p:nvSpPr>
          <p:cNvPr id="22" name="Freeform 26">
            <a:extLst>
              <a:ext uri="{FF2B5EF4-FFF2-40B4-BE49-F238E27FC236}">
                <a16:creationId xmlns:a16="http://schemas.microsoft.com/office/drawing/2014/main" id="{7C6916B8-170A-BB43-A2C3-595906F3DF83}"/>
              </a:ext>
            </a:extLst>
          </p:cNvPr>
          <p:cNvSpPr>
            <a:spLocks/>
          </p:cNvSpPr>
          <p:nvPr/>
        </p:nvSpPr>
        <p:spPr bwMode="auto">
          <a:xfrm flipH="1">
            <a:off x="5191747" y="4779090"/>
            <a:ext cx="573087" cy="914400"/>
          </a:xfrm>
          <a:custGeom>
            <a:avLst/>
            <a:gdLst>
              <a:gd name="T0" fmla="*/ 0 w 344"/>
              <a:gd name="T1" fmla="*/ 0 h 789"/>
              <a:gd name="T2" fmla="*/ 2147483647 w 344"/>
              <a:gd name="T3" fmla="*/ 2147483647 h 789"/>
              <a:gd name="T4" fmla="*/ 2147483647 w 344"/>
              <a:gd name="T5" fmla="*/ 2147483647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57150">
            <a:solidFill>
              <a:schemeClr val="tx1"/>
            </a:solidFill>
            <a:round/>
            <a:headEnd type="triangle" w="med" len="me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en-US" sz="2000" dirty="0"/>
          </a:p>
        </p:txBody>
      </p:sp>
      <p:sp>
        <p:nvSpPr>
          <p:cNvPr id="23" name="Line 27">
            <a:extLst>
              <a:ext uri="{FF2B5EF4-FFF2-40B4-BE49-F238E27FC236}">
                <a16:creationId xmlns:a16="http://schemas.microsoft.com/office/drawing/2014/main" id="{EF78E35C-D23D-F54E-B7D2-D0B863099E6C}"/>
              </a:ext>
            </a:extLst>
          </p:cNvPr>
          <p:cNvSpPr>
            <a:spLocks noChangeShapeType="1"/>
          </p:cNvSpPr>
          <p:nvPr/>
        </p:nvSpPr>
        <p:spPr bwMode="auto">
          <a:xfrm flipV="1">
            <a:off x="1824147" y="4644462"/>
            <a:ext cx="814388" cy="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2000" dirty="0"/>
          </a:p>
        </p:txBody>
      </p:sp>
      <p:sp>
        <p:nvSpPr>
          <p:cNvPr id="24" name="Text Box 28">
            <a:extLst>
              <a:ext uri="{FF2B5EF4-FFF2-40B4-BE49-F238E27FC236}">
                <a16:creationId xmlns:a16="http://schemas.microsoft.com/office/drawing/2014/main" id="{F78D243C-DAD1-2545-8A7F-EFA469532ABC}"/>
              </a:ext>
            </a:extLst>
          </p:cNvPr>
          <p:cNvSpPr txBox="1">
            <a:spLocks noChangeArrowheads="1"/>
          </p:cNvSpPr>
          <p:nvPr/>
        </p:nvSpPr>
        <p:spPr bwMode="auto">
          <a:xfrm>
            <a:off x="1196931" y="4440955"/>
            <a:ext cx="737446"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sz="2400" dirty="0">
                <a:latin typeface="+mn-lt"/>
                <a:cs typeface="Arial" charset="0"/>
              </a:rPr>
              <a:t>data</a:t>
            </a:r>
          </a:p>
        </p:txBody>
      </p:sp>
      <p:sp>
        <p:nvSpPr>
          <p:cNvPr id="25" name="Line 29">
            <a:extLst>
              <a:ext uri="{FF2B5EF4-FFF2-40B4-BE49-F238E27FC236}">
                <a16:creationId xmlns:a16="http://schemas.microsoft.com/office/drawing/2014/main" id="{70EA62CC-094B-3C41-A09D-B3C2234B040E}"/>
              </a:ext>
            </a:extLst>
          </p:cNvPr>
          <p:cNvSpPr>
            <a:spLocks noChangeShapeType="1"/>
          </p:cNvSpPr>
          <p:nvPr/>
        </p:nvSpPr>
        <p:spPr bwMode="auto">
          <a:xfrm flipV="1">
            <a:off x="7852447" y="4673293"/>
            <a:ext cx="814388" cy="0"/>
          </a:xfrm>
          <a:prstGeom prst="line">
            <a:avLst/>
          </a:prstGeom>
          <a:noFill/>
          <a:ln w="2857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2000" dirty="0"/>
          </a:p>
        </p:txBody>
      </p:sp>
      <p:sp>
        <p:nvSpPr>
          <p:cNvPr id="26" name="Text Box 30">
            <a:extLst>
              <a:ext uri="{FF2B5EF4-FFF2-40B4-BE49-F238E27FC236}">
                <a16:creationId xmlns:a16="http://schemas.microsoft.com/office/drawing/2014/main" id="{6801AEE1-C5DF-2E4D-A000-7105881F062C}"/>
              </a:ext>
            </a:extLst>
          </p:cNvPr>
          <p:cNvSpPr txBox="1">
            <a:spLocks noChangeArrowheads="1"/>
          </p:cNvSpPr>
          <p:nvPr/>
        </p:nvSpPr>
        <p:spPr bwMode="auto">
          <a:xfrm>
            <a:off x="8617725" y="4462411"/>
            <a:ext cx="737446"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sz="2400" dirty="0">
                <a:latin typeface="+mn-lt"/>
                <a:cs typeface="Arial" charset="0"/>
              </a:rPr>
              <a:t>data</a:t>
            </a:r>
          </a:p>
        </p:txBody>
      </p:sp>
      <p:sp>
        <p:nvSpPr>
          <p:cNvPr id="27" name="Text Box 31">
            <a:extLst>
              <a:ext uri="{FF2B5EF4-FFF2-40B4-BE49-F238E27FC236}">
                <a16:creationId xmlns:a16="http://schemas.microsoft.com/office/drawing/2014/main" id="{9914A3F1-3112-2F44-A2A9-D16F0B8DE284}"/>
              </a:ext>
            </a:extLst>
          </p:cNvPr>
          <p:cNvSpPr txBox="1">
            <a:spLocks noChangeArrowheads="1"/>
          </p:cNvSpPr>
          <p:nvPr/>
        </p:nvSpPr>
        <p:spPr bwMode="auto">
          <a:xfrm>
            <a:off x="1271519" y="3564145"/>
            <a:ext cx="787395"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sz="2400" dirty="0">
                <a:solidFill>
                  <a:srgbClr val="0012A0"/>
                </a:solidFill>
                <a:latin typeface="+mn-lt"/>
                <a:cs typeface="Arial" charset="0"/>
              </a:rPr>
              <a:t>Alice</a:t>
            </a:r>
          </a:p>
        </p:txBody>
      </p:sp>
      <p:sp>
        <p:nvSpPr>
          <p:cNvPr id="28" name="Text Box 32">
            <a:extLst>
              <a:ext uri="{FF2B5EF4-FFF2-40B4-BE49-F238E27FC236}">
                <a16:creationId xmlns:a16="http://schemas.microsoft.com/office/drawing/2014/main" id="{43A34027-1F74-E84A-8D3E-88B03152D0BD}"/>
              </a:ext>
            </a:extLst>
          </p:cNvPr>
          <p:cNvSpPr txBox="1">
            <a:spLocks noChangeArrowheads="1"/>
          </p:cNvSpPr>
          <p:nvPr/>
        </p:nvSpPr>
        <p:spPr bwMode="auto">
          <a:xfrm>
            <a:off x="8426175" y="3548753"/>
            <a:ext cx="758541"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sz="2800" dirty="0">
                <a:solidFill>
                  <a:srgbClr val="0012A0"/>
                </a:solidFill>
                <a:latin typeface="+mn-lt"/>
                <a:cs typeface="Arial" charset="0"/>
              </a:rPr>
              <a:t>Bob</a:t>
            </a:r>
          </a:p>
        </p:txBody>
      </p:sp>
      <p:sp>
        <p:nvSpPr>
          <p:cNvPr id="29" name="Text Box 33">
            <a:extLst>
              <a:ext uri="{FF2B5EF4-FFF2-40B4-BE49-F238E27FC236}">
                <a16:creationId xmlns:a16="http://schemas.microsoft.com/office/drawing/2014/main" id="{7911D325-AAB9-0840-9130-68C94E244931}"/>
              </a:ext>
            </a:extLst>
          </p:cNvPr>
          <p:cNvSpPr txBox="1">
            <a:spLocks noChangeArrowheads="1"/>
          </p:cNvSpPr>
          <p:nvPr/>
        </p:nvSpPr>
        <p:spPr bwMode="auto">
          <a:xfrm>
            <a:off x="4021759" y="5778500"/>
            <a:ext cx="886909"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sz="2400" dirty="0">
                <a:solidFill>
                  <a:srgbClr val="000099"/>
                </a:solidFill>
                <a:latin typeface="+mn-lt"/>
                <a:cs typeface="Arial" charset="0"/>
              </a:rPr>
              <a:t>Trudy</a:t>
            </a:r>
          </a:p>
        </p:txBody>
      </p:sp>
    </p:spTree>
    <p:extLst>
      <p:ext uri="{BB962C8B-B14F-4D97-AF65-F5344CB8AC3E}">
        <p14:creationId xmlns:p14="http://schemas.microsoft.com/office/powerpoint/2010/main" val="2500984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The language of cryptography</a:t>
            </a:r>
            <a:endParaRPr lang="en-US" sz="4400" dirty="0"/>
          </a:p>
        </p:txBody>
      </p:sp>
      <p:sp>
        <p:nvSpPr>
          <p:cNvPr id="4" name="Rectangle 3">
            <a:extLst>
              <a:ext uri="{FF2B5EF4-FFF2-40B4-BE49-F238E27FC236}">
                <a16:creationId xmlns:a16="http://schemas.microsoft.com/office/drawing/2014/main" id="{3742457F-FF73-744F-B4C8-89563BF1DA4D}"/>
              </a:ext>
            </a:extLst>
          </p:cNvPr>
          <p:cNvSpPr txBox="1">
            <a:spLocks noChangeArrowheads="1"/>
          </p:cNvSpPr>
          <p:nvPr/>
        </p:nvSpPr>
        <p:spPr>
          <a:xfrm>
            <a:off x="1519721" y="4692444"/>
            <a:ext cx="8218488" cy="1589087"/>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0"/>
              <a:buNone/>
            </a:pPr>
            <a:r>
              <a:rPr lang="en-US" dirty="0">
                <a:solidFill>
                  <a:srgbClr val="C00000"/>
                </a:solidFill>
              </a:rPr>
              <a:t>m:</a:t>
            </a:r>
            <a:r>
              <a:rPr lang="en-US" dirty="0">
                <a:solidFill>
                  <a:srgbClr val="FF0000"/>
                </a:solidFill>
              </a:rPr>
              <a:t> </a:t>
            </a:r>
            <a:r>
              <a:rPr lang="en-US" dirty="0"/>
              <a:t>plaintext message</a:t>
            </a:r>
          </a:p>
          <a:p>
            <a:pPr>
              <a:buFont typeface="Wingdings" charset="0"/>
              <a:buNone/>
            </a:pPr>
            <a:r>
              <a:rPr lang="en-US" dirty="0">
                <a:solidFill>
                  <a:srgbClr val="C00000"/>
                </a:solidFill>
              </a:rPr>
              <a:t>K</a:t>
            </a:r>
            <a:r>
              <a:rPr lang="en-US" baseline="-25000" dirty="0">
                <a:solidFill>
                  <a:srgbClr val="C00000"/>
                </a:solidFill>
              </a:rPr>
              <a:t>A</a:t>
            </a:r>
            <a:r>
              <a:rPr lang="en-US" dirty="0">
                <a:solidFill>
                  <a:srgbClr val="C00000"/>
                </a:solidFill>
              </a:rPr>
              <a:t>(m): </a:t>
            </a:r>
            <a:r>
              <a:rPr lang="en-US" dirty="0"/>
              <a:t>ciphertext, encrypted with key K</a:t>
            </a:r>
            <a:r>
              <a:rPr lang="en-US" baseline="-25000" dirty="0"/>
              <a:t>A</a:t>
            </a:r>
            <a:endParaRPr lang="en-US" dirty="0"/>
          </a:p>
          <a:p>
            <a:pPr>
              <a:buFont typeface="Wingdings" charset="0"/>
              <a:buNone/>
            </a:pPr>
            <a:r>
              <a:rPr lang="en-US" dirty="0">
                <a:solidFill>
                  <a:srgbClr val="C00000"/>
                </a:solidFill>
              </a:rPr>
              <a:t>m = K</a:t>
            </a:r>
            <a:r>
              <a:rPr lang="en-US" baseline="-25000" dirty="0">
                <a:solidFill>
                  <a:srgbClr val="C00000"/>
                </a:solidFill>
              </a:rPr>
              <a:t>B</a:t>
            </a:r>
            <a:r>
              <a:rPr lang="en-US" dirty="0">
                <a:solidFill>
                  <a:srgbClr val="C00000"/>
                </a:solidFill>
              </a:rPr>
              <a:t>(K</a:t>
            </a:r>
            <a:r>
              <a:rPr lang="en-US" baseline="-25000" dirty="0">
                <a:solidFill>
                  <a:srgbClr val="C00000"/>
                </a:solidFill>
              </a:rPr>
              <a:t>A</a:t>
            </a:r>
            <a:r>
              <a:rPr lang="en-US" dirty="0">
                <a:solidFill>
                  <a:srgbClr val="C00000"/>
                </a:solidFill>
              </a:rPr>
              <a:t>(m))</a:t>
            </a:r>
            <a:endParaRPr lang="en-US" baseline="-25000" dirty="0">
              <a:solidFill>
                <a:srgbClr val="C00000"/>
              </a:solidFill>
            </a:endParaRPr>
          </a:p>
          <a:p>
            <a:pPr>
              <a:buFont typeface="Wingdings" charset="0"/>
              <a:buNone/>
            </a:pPr>
            <a:endParaRPr lang="en-US" sz="2400" dirty="0"/>
          </a:p>
        </p:txBody>
      </p:sp>
      <p:sp>
        <p:nvSpPr>
          <p:cNvPr id="6" name="Text Box 5">
            <a:extLst>
              <a:ext uri="{FF2B5EF4-FFF2-40B4-BE49-F238E27FC236}">
                <a16:creationId xmlns:a16="http://schemas.microsoft.com/office/drawing/2014/main" id="{D734669E-61CB-D549-AB3B-9FA516F17AB0}"/>
              </a:ext>
            </a:extLst>
          </p:cNvPr>
          <p:cNvSpPr txBox="1">
            <a:spLocks noChangeArrowheads="1"/>
          </p:cNvSpPr>
          <p:nvPr/>
        </p:nvSpPr>
        <p:spPr bwMode="auto">
          <a:xfrm>
            <a:off x="1585013" y="2641910"/>
            <a:ext cx="1279525" cy="461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plaintext</a:t>
            </a:r>
          </a:p>
        </p:txBody>
      </p:sp>
      <p:sp>
        <p:nvSpPr>
          <p:cNvPr id="7" name="Text Box 6">
            <a:extLst>
              <a:ext uri="{FF2B5EF4-FFF2-40B4-BE49-F238E27FC236}">
                <a16:creationId xmlns:a16="http://schemas.microsoft.com/office/drawing/2014/main" id="{4339D451-1A35-EA43-A191-2CBFB5AB1988}"/>
              </a:ext>
            </a:extLst>
          </p:cNvPr>
          <p:cNvSpPr txBox="1">
            <a:spLocks noChangeArrowheads="1"/>
          </p:cNvSpPr>
          <p:nvPr/>
        </p:nvSpPr>
        <p:spPr bwMode="auto">
          <a:xfrm>
            <a:off x="8469521" y="2644056"/>
            <a:ext cx="1279525" cy="461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plaintext</a:t>
            </a:r>
          </a:p>
        </p:txBody>
      </p:sp>
      <p:sp>
        <p:nvSpPr>
          <p:cNvPr id="8" name="Text Box 7">
            <a:extLst>
              <a:ext uri="{FF2B5EF4-FFF2-40B4-BE49-F238E27FC236}">
                <a16:creationId xmlns:a16="http://schemas.microsoft.com/office/drawing/2014/main" id="{F0757022-6774-C94A-BAA4-D350B1EA728A}"/>
              </a:ext>
            </a:extLst>
          </p:cNvPr>
          <p:cNvSpPr txBox="1">
            <a:spLocks noChangeArrowheads="1"/>
          </p:cNvSpPr>
          <p:nvPr/>
        </p:nvSpPr>
        <p:spPr bwMode="auto">
          <a:xfrm>
            <a:off x="4834627" y="2648985"/>
            <a:ext cx="1455738" cy="461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ciphertext</a:t>
            </a:r>
          </a:p>
        </p:txBody>
      </p:sp>
      <p:grpSp>
        <p:nvGrpSpPr>
          <p:cNvPr id="9" name="Group 8">
            <a:extLst>
              <a:ext uri="{FF2B5EF4-FFF2-40B4-BE49-F238E27FC236}">
                <a16:creationId xmlns:a16="http://schemas.microsoft.com/office/drawing/2014/main" id="{27D16B6C-3FBA-664E-8508-1CA0809480B5}"/>
              </a:ext>
            </a:extLst>
          </p:cNvPr>
          <p:cNvGrpSpPr>
            <a:grpSpLocks/>
          </p:cNvGrpSpPr>
          <p:nvPr/>
        </p:nvGrpSpPr>
        <p:grpSpPr bwMode="auto">
          <a:xfrm>
            <a:off x="3193706" y="1762818"/>
            <a:ext cx="509588" cy="582613"/>
            <a:chOff x="203" y="1789"/>
            <a:chExt cx="321" cy="367"/>
          </a:xfrm>
        </p:grpSpPr>
        <p:sp>
          <p:nvSpPr>
            <p:cNvPr id="31" name="Text Box 9">
              <a:extLst>
                <a:ext uri="{FF2B5EF4-FFF2-40B4-BE49-F238E27FC236}">
                  <a16:creationId xmlns:a16="http://schemas.microsoft.com/office/drawing/2014/main" id="{A6D7B9C7-CE2B-2E4F-B690-78DA63F083BD}"/>
                </a:ext>
              </a:extLst>
            </p:cNvPr>
            <p:cNvSpPr txBox="1">
              <a:spLocks noChangeArrowheads="1"/>
            </p:cNvSpPr>
            <p:nvPr/>
          </p:nvSpPr>
          <p:spPr bwMode="auto">
            <a:xfrm>
              <a:off x="203" y="1789"/>
              <a:ext cx="217" cy="29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K</a:t>
              </a:r>
            </a:p>
          </p:txBody>
        </p:sp>
        <p:sp>
          <p:nvSpPr>
            <p:cNvPr id="33" name="Text Box 10">
              <a:extLst>
                <a:ext uri="{FF2B5EF4-FFF2-40B4-BE49-F238E27FC236}">
                  <a16:creationId xmlns:a16="http://schemas.microsoft.com/office/drawing/2014/main" id="{CF36D666-0D47-A340-A5EE-2F56800D40B6}"/>
                </a:ext>
              </a:extLst>
            </p:cNvPr>
            <p:cNvSpPr txBox="1">
              <a:spLocks noChangeArrowheads="1"/>
            </p:cNvSpPr>
            <p:nvPr/>
          </p:nvSpPr>
          <p:spPr bwMode="auto">
            <a:xfrm>
              <a:off x="296" y="1865"/>
              <a:ext cx="228"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A</a:t>
              </a:r>
            </a:p>
          </p:txBody>
        </p:sp>
      </p:grpSp>
      <p:pic>
        <p:nvPicPr>
          <p:cNvPr id="10" name="Picture 11" descr="Alice">
            <a:extLst>
              <a:ext uri="{FF2B5EF4-FFF2-40B4-BE49-F238E27FC236}">
                <a16:creationId xmlns:a16="http://schemas.microsoft.com/office/drawing/2014/main" id="{0452868E-2DCB-044D-8E12-3E12E0509C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0787" y="1706149"/>
            <a:ext cx="698500" cy="8620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12" descr="Eve">
            <a:extLst>
              <a:ext uri="{FF2B5EF4-FFF2-40B4-BE49-F238E27FC236}">
                <a16:creationId xmlns:a16="http://schemas.microsoft.com/office/drawing/2014/main" id="{5FB61849-AF28-B748-AC63-D36BB6A424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7344" y="3555104"/>
            <a:ext cx="1082675" cy="129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Rectangle 13">
            <a:extLst>
              <a:ext uri="{FF2B5EF4-FFF2-40B4-BE49-F238E27FC236}">
                <a16:creationId xmlns:a16="http://schemas.microsoft.com/office/drawing/2014/main" id="{AD1F12B2-FF58-C84A-9FEE-E90ECF217085}"/>
              </a:ext>
            </a:extLst>
          </p:cNvPr>
          <p:cNvSpPr>
            <a:spLocks noChangeArrowheads="1"/>
          </p:cNvSpPr>
          <p:nvPr/>
        </p:nvSpPr>
        <p:spPr bwMode="auto">
          <a:xfrm>
            <a:off x="3033369" y="2691503"/>
            <a:ext cx="1433513" cy="860425"/>
          </a:xfrm>
          <a:prstGeom prst="rect">
            <a:avLst/>
          </a:prstGeom>
          <a:solidFill>
            <a:srgbClr val="0012A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p>
            <a:endParaRPr lang="en-US" sz="2000" dirty="0">
              <a:cs typeface="Arial" charset="0"/>
            </a:endParaRPr>
          </a:p>
        </p:txBody>
      </p:sp>
      <p:sp>
        <p:nvSpPr>
          <p:cNvPr id="13" name="Text Box 14">
            <a:extLst>
              <a:ext uri="{FF2B5EF4-FFF2-40B4-BE49-F238E27FC236}">
                <a16:creationId xmlns:a16="http://schemas.microsoft.com/office/drawing/2014/main" id="{D91A2ABD-8921-C24C-B9A7-FD940B03116B}"/>
              </a:ext>
            </a:extLst>
          </p:cNvPr>
          <p:cNvSpPr txBox="1">
            <a:spLocks noChangeArrowheads="1"/>
          </p:cNvSpPr>
          <p:nvPr/>
        </p:nvSpPr>
        <p:spPr bwMode="auto">
          <a:xfrm>
            <a:off x="2966694" y="2759766"/>
            <a:ext cx="1536700" cy="757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90000"/>
              </a:lnSpc>
            </a:pPr>
            <a:r>
              <a:rPr lang="en-US" sz="2400" dirty="0">
                <a:solidFill>
                  <a:schemeClr val="bg1"/>
                </a:solidFill>
                <a:latin typeface="+mn-lt"/>
                <a:cs typeface="Arial" charset="0"/>
              </a:rPr>
              <a:t>encryption</a:t>
            </a:r>
          </a:p>
          <a:p>
            <a:pPr algn="ctr">
              <a:lnSpc>
                <a:spcPct val="90000"/>
              </a:lnSpc>
            </a:pPr>
            <a:r>
              <a:rPr lang="en-US" sz="2400" dirty="0">
                <a:solidFill>
                  <a:schemeClr val="bg1"/>
                </a:solidFill>
                <a:latin typeface="+mn-lt"/>
                <a:cs typeface="Arial" charset="0"/>
              </a:rPr>
              <a:t>algorithm</a:t>
            </a:r>
          </a:p>
        </p:txBody>
      </p:sp>
      <p:sp>
        <p:nvSpPr>
          <p:cNvPr id="14" name="Rectangle 15">
            <a:extLst>
              <a:ext uri="{FF2B5EF4-FFF2-40B4-BE49-F238E27FC236}">
                <a16:creationId xmlns:a16="http://schemas.microsoft.com/office/drawing/2014/main" id="{330108AB-253A-2F4F-B115-B277A156989D}"/>
              </a:ext>
            </a:extLst>
          </p:cNvPr>
          <p:cNvSpPr>
            <a:spLocks noChangeArrowheads="1"/>
          </p:cNvSpPr>
          <p:nvPr/>
        </p:nvSpPr>
        <p:spPr bwMode="auto">
          <a:xfrm>
            <a:off x="6775106" y="2705791"/>
            <a:ext cx="1460500" cy="854075"/>
          </a:xfrm>
          <a:prstGeom prst="rect">
            <a:avLst/>
          </a:prstGeom>
          <a:solidFill>
            <a:srgbClr val="0012A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p>
            <a:endParaRPr lang="en-US" sz="2000" dirty="0">
              <a:cs typeface="Arial" charset="0"/>
            </a:endParaRPr>
          </a:p>
        </p:txBody>
      </p:sp>
      <p:sp>
        <p:nvSpPr>
          <p:cNvPr id="15" name="Text Box 16">
            <a:extLst>
              <a:ext uri="{FF2B5EF4-FFF2-40B4-BE49-F238E27FC236}">
                <a16:creationId xmlns:a16="http://schemas.microsoft.com/office/drawing/2014/main" id="{38440821-15F2-844A-8721-2FD8A32BBB5F}"/>
              </a:ext>
            </a:extLst>
          </p:cNvPr>
          <p:cNvSpPr txBox="1">
            <a:spLocks noChangeArrowheads="1"/>
          </p:cNvSpPr>
          <p:nvPr/>
        </p:nvSpPr>
        <p:spPr bwMode="auto">
          <a:xfrm>
            <a:off x="6702081" y="2770878"/>
            <a:ext cx="1604963" cy="757238"/>
          </a:xfrm>
          <a:prstGeom prst="rect">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90000"/>
              </a:lnSpc>
            </a:pPr>
            <a:r>
              <a:rPr lang="en-US" sz="2400" dirty="0">
                <a:solidFill>
                  <a:schemeClr val="bg1"/>
                </a:solidFill>
                <a:latin typeface="+mn-lt"/>
                <a:cs typeface="Arial" charset="0"/>
              </a:rPr>
              <a:t>decryption </a:t>
            </a:r>
          </a:p>
          <a:p>
            <a:pPr algn="ctr">
              <a:lnSpc>
                <a:spcPct val="90000"/>
              </a:lnSpc>
            </a:pPr>
            <a:r>
              <a:rPr lang="en-US" sz="2400" dirty="0">
                <a:solidFill>
                  <a:schemeClr val="bg1"/>
                </a:solidFill>
                <a:latin typeface="+mn-lt"/>
                <a:cs typeface="Arial" charset="0"/>
              </a:rPr>
              <a:t>algorithm</a:t>
            </a:r>
          </a:p>
        </p:txBody>
      </p:sp>
      <p:sp>
        <p:nvSpPr>
          <p:cNvPr id="17" name="Freeform 18">
            <a:extLst>
              <a:ext uri="{FF2B5EF4-FFF2-40B4-BE49-F238E27FC236}">
                <a16:creationId xmlns:a16="http://schemas.microsoft.com/office/drawing/2014/main" id="{D7A11F5F-767A-EC4C-B0AA-6D4085AF7666}"/>
              </a:ext>
            </a:extLst>
          </p:cNvPr>
          <p:cNvSpPr>
            <a:spLocks/>
          </p:cNvSpPr>
          <p:nvPr/>
        </p:nvSpPr>
        <p:spPr bwMode="auto">
          <a:xfrm>
            <a:off x="4933606" y="3156641"/>
            <a:ext cx="573088" cy="914400"/>
          </a:xfrm>
          <a:custGeom>
            <a:avLst/>
            <a:gdLst>
              <a:gd name="T0" fmla="*/ 0 w 344"/>
              <a:gd name="T1" fmla="*/ 0 h 789"/>
              <a:gd name="T2" fmla="*/ 458 w 344"/>
              <a:gd name="T3" fmla="*/ 11 h 789"/>
              <a:gd name="T4" fmla="*/ 484 w 344"/>
              <a:gd name="T5" fmla="*/ 64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19050">
            <a:solidFill>
              <a:schemeClr val="tx1"/>
            </a:solidFill>
            <a:round/>
            <a:headEnd type="triangle" w="med" len="me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en-US" sz="2000" dirty="0"/>
          </a:p>
        </p:txBody>
      </p:sp>
      <p:sp>
        <p:nvSpPr>
          <p:cNvPr id="18" name="Freeform 19">
            <a:extLst>
              <a:ext uri="{FF2B5EF4-FFF2-40B4-BE49-F238E27FC236}">
                <a16:creationId xmlns:a16="http://schemas.microsoft.com/office/drawing/2014/main" id="{9570F99C-C488-E54E-B34B-F9DE1A458E77}"/>
              </a:ext>
            </a:extLst>
          </p:cNvPr>
          <p:cNvSpPr>
            <a:spLocks/>
          </p:cNvSpPr>
          <p:nvPr/>
        </p:nvSpPr>
        <p:spPr bwMode="auto">
          <a:xfrm flipH="1">
            <a:off x="5608294" y="3155054"/>
            <a:ext cx="573088" cy="914400"/>
          </a:xfrm>
          <a:custGeom>
            <a:avLst/>
            <a:gdLst>
              <a:gd name="T0" fmla="*/ 0 w 344"/>
              <a:gd name="T1" fmla="*/ 0 h 789"/>
              <a:gd name="T2" fmla="*/ 458 w 344"/>
              <a:gd name="T3" fmla="*/ 11 h 789"/>
              <a:gd name="T4" fmla="*/ 484 w 344"/>
              <a:gd name="T5" fmla="*/ 64 h 789"/>
              <a:gd name="T6" fmla="*/ 0 60000 65536"/>
              <a:gd name="T7" fmla="*/ 0 60000 65536"/>
              <a:gd name="T8" fmla="*/ 0 60000 65536"/>
              <a:gd name="T9" fmla="*/ 0 w 344"/>
              <a:gd name="T10" fmla="*/ 0 h 789"/>
              <a:gd name="T11" fmla="*/ 344 w 344"/>
              <a:gd name="T12" fmla="*/ 789 h 789"/>
            </a:gdLst>
            <a:ahLst/>
            <a:cxnLst>
              <a:cxn ang="T6">
                <a:pos x="T0" y="T1"/>
              </a:cxn>
              <a:cxn ang="T7">
                <a:pos x="T2" y="T3"/>
              </a:cxn>
              <a:cxn ang="T8">
                <a:pos x="T4" y="T5"/>
              </a:cxn>
            </a:cxnLst>
            <a:rect l="T9" t="T10" r="T11" b="T12"/>
            <a:pathLst>
              <a:path w="344" h="789">
                <a:moveTo>
                  <a:pt x="0" y="0"/>
                </a:moveTo>
                <a:cubicBezTo>
                  <a:pt x="52" y="24"/>
                  <a:pt x="255" y="10"/>
                  <a:pt x="310" y="142"/>
                </a:cubicBezTo>
                <a:cubicBezTo>
                  <a:pt x="344" y="248"/>
                  <a:pt x="324" y="654"/>
                  <a:pt x="328" y="789"/>
                </a:cubicBezTo>
              </a:path>
            </a:pathLst>
          </a:custGeom>
          <a:noFill/>
          <a:ln w="19050">
            <a:solidFill>
              <a:schemeClr val="tx1"/>
            </a:solidFill>
            <a:round/>
            <a:headEnd type="triangle" w="med" len="me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en-US" sz="2000" dirty="0"/>
          </a:p>
        </p:txBody>
      </p:sp>
      <p:sp>
        <p:nvSpPr>
          <p:cNvPr id="21" name="Text Box 22">
            <a:extLst>
              <a:ext uri="{FF2B5EF4-FFF2-40B4-BE49-F238E27FC236}">
                <a16:creationId xmlns:a16="http://schemas.microsoft.com/office/drawing/2014/main" id="{C0B23DD9-B76B-B44C-8FA0-D0B4E6E00583}"/>
              </a:ext>
            </a:extLst>
          </p:cNvPr>
          <p:cNvSpPr txBox="1">
            <a:spLocks noChangeArrowheads="1"/>
          </p:cNvSpPr>
          <p:nvPr/>
        </p:nvSpPr>
        <p:spPr bwMode="auto">
          <a:xfrm>
            <a:off x="3674719" y="1529453"/>
            <a:ext cx="1824038" cy="98583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nSpc>
                <a:spcPct val="80000"/>
              </a:lnSpc>
            </a:pPr>
            <a:r>
              <a:rPr lang="en-US" sz="2400" dirty="0">
                <a:latin typeface="+mn-lt"/>
                <a:cs typeface="Arial" charset="0"/>
              </a:rPr>
              <a:t>Alice’</a:t>
            </a:r>
            <a:r>
              <a:rPr lang="en-US" altLang="ja-JP" sz="2400" dirty="0">
                <a:latin typeface="+mn-lt"/>
                <a:cs typeface="Arial" charset="0"/>
              </a:rPr>
              <a:t>s </a:t>
            </a:r>
          </a:p>
          <a:p>
            <a:pPr>
              <a:lnSpc>
                <a:spcPct val="80000"/>
              </a:lnSpc>
            </a:pPr>
            <a:r>
              <a:rPr lang="en-US" sz="2400" dirty="0">
                <a:latin typeface="+mn-lt"/>
                <a:cs typeface="Arial" charset="0"/>
              </a:rPr>
              <a:t>encryption</a:t>
            </a:r>
          </a:p>
          <a:p>
            <a:pPr>
              <a:lnSpc>
                <a:spcPct val="80000"/>
              </a:lnSpc>
            </a:pPr>
            <a:r>
              <a:rPr lang="en-US" sz="2400" dirty="0">
                <a:latin typeface="+mn-lt"/>
                <a:cs typeface="Arial" charset="0"/>
              </a:rPr>
              <a:t>key</a:t>
            </a:r>
          </a:p>
        </p:txBody>
      </p:sp>
      <p:sp>
        <p:nvSpPr>
          <p:cNvPr id="22" name="Text Box 23">
            <a:extLst>
              <a:ext uri="{FF2B5EF4-FFF2-40B4-BE49-F238E27FC236}">
                <a16:creationId xmlns:a16="http://schemas.microsoft.com/office/drawing/2014/main" id="{809532EF-4B73-154F-9DF4-49771781082B}"/>
              </a:ext>
            </a:extLst>
          </p:cNvPr>
          <p:cNvSpPr txBox="1">
            <a:spLocks noChangeArrowheads="1"/>
          </p:cNvSpPr>
          <p:nvPr/>
        </p:nvSpPr>
        <p:spPr bwMode="auto">
          <a:xfrm>
            <a:off x="7327556" y="1597716"/>
            <a:ext cx="1657350" cy="98583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nSpc>
                <a:spcPct val="80000"/>
              </a:lnSpc>
            </a:pPr>
            <a:r>
              <a:rPr lang="en-US" sz="2400" dirty="0">
                <a:latin typeface="+mn-lt"/>
                <a:cs typeface="Arial" charset="0"/>
              </a:rPr>
              <a:t>Bob</a:t>
            </a:r>
            <a:r>
              <a:rPr lang="en-US" altLang="ja-JP" sz="2400" dirty="0">
                <a:latin typeface="+mn-lt"/>
                <a:cs typeface="Arial" charset="0"/>
              </a:rPr>
              <a:t>’s </a:t>
            </a:r>
          </a:p>
          <a:p>
            <a:pPr>
              <a:lnSpc>
                <a:spcPct val="80000"/>
              </a:lnSpc>
            </a:pPr>
            <a:r>
              <a:rPr lang="en-US" sz="2400" dirty="0">
                <a:latin typeface="+mn-lt"/>
                <a:cs typeface="Arial" charset="0"/>
              </a:rPr>
              <a:t>decryption</a:t>
            </a:r>
          </a:p>
          <a:p>
            <a:pPr>
              <a:lnSpc>
                <a:spcPct val="80000"/>
              </a:lnSpc>
            </a:pPr>
            <a:r>
              <a:rPr lang="en-US" sz="2400" dirty="0">
                <a:latin typeface="+mn-lt"/>
                <a:cs typeface="Arial" charset="0"/>
              </a:rPr>
              <a:t>key</a:t>
            </a:r>
          </a:p>
        </p:txBody>
      </p:sp>
      <p:pic>
        <p:nvPicPr>
          <p:cNvPr id="23" name="Picture 24" descr="Bob">
            <a:extLst>
              <a:ext uri="{FF2B5EF4-FFF2-40B4-BE49-F238E27FC236}">
                <a16:creationId xmlns:a16="http://schemas.microsoft.com/office/drawing/2014/main" id="{B7CDFDA3-AD05-5641-9F13-C959774E7E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80583" y="1802434"/>
            <a:ext cx="812800" cy="830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4" name="Group 25">
            <a:extLst>
              <a:ext uri="{FF2B5EF4-FFF2-40B4-BE49-F238E27FC236}">
                <a16:creationId xmlns:a16="http://schemas.microsoft.com/office/drawing/2014/main" id="{06D5526A-A0B2-5B43-ABCA-4D728897DE04}"/>
              </a:ext>
            </a:extLst>
          </p:cNvPr>
          <p:cNvGrpSpPr>
            <a:grpSpLocks/>
          </p:cNvGrpSpPr>
          <p:nvPr/>
        </p:nvGrpSpPr>
        <p:grpSpPr bwMode="auto">
          <a:xfrm>
            <a:off x="6867181" y="1892991"/>
            <a:ext cx="501650" cy="568325"/>
            <a:chOff x="203" y="1789"/>
            <a:chExt cx="316" cy="358"/>
          </a:xfrm>
        </p:grpSpPr>
        <p:sp>
          <p:nvSpPr>
            <p:cNvPr id="29" name="Text Box 26">
              <a:extLst>
                <a:ext uri="{FF2B5EF4-FFF2-40B4-BE49-F238E27FC236}">
                  <a16:creationId xmlns:a16="http://schemas.microsoft.com/office/drawing/2014/main" id="{D458364F-30A7-7344-97AF-28982E1826D1}"/>
                </a:ext>
              </a:extLst>
            </p:cNvPr>
            <p:cNvSpPr txBox="1">
              <a:spLocks noChangeArrowheads="1"/>
            </p:cNvSpPr>
            <p:nvPr/>
          </p:nvSpPr>
          <p:spPr bwMode="auto">
            <a:xfrm>
              <a:off x="203" y="1789"/>
              <a:ext cx="217" cy="29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K</a:t>
              </a:r>
            </a:p>
          </p:txBody>
        </p:sp>
        <p:sp>
          <p:nvSpPr>
            <p:cNvPr id="30" name="Text Box 27">
              <a:extLst>
                <a:ext uri="{FF2B5EF4-FFF2-40B4-BE49-F238E27FC236}">
                  <a16:creationId xmlns:a16="http://schemas.microsoft.com/office/drawing/2014/main" id="{4388AB91-D971-914B-AF4F-86973D7BE759}"/>
                </a:ext>
              </a:extLst>
            </p:cNvPr>
            <p:cNvSpPr txBox="1">
              <a:spLocks noChangeArrowheads="1"/>
            </p:cNvSpPr>
            <p:nvPr/>
          </p:nvSpPr>
          <p:spPr bwMode="auto">
            <a:xfrm>
              <a:off x="298" y="1856"/>
              <a:ext cx="221"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B</a:t>
              </a:r>
            </a:p>
          </p:txBody>
        </p:sp>
      </p:grpSp>
      <p:pic>
        <p:nvPicPr>
          <p:cNvPr id="27" name="Picture 30" descr="BS00768_[1]">
            <a:extLst>
              <a:ext uri="{FF2B5EF4-FFF2-40B4-BE49-F238E27FC236}">
                <a16:creationId xmlns:a16="http://schemas.microsoft.com/office/drawing/2014/main" id="{C0A58FD0-B1BA-6943-8103-EA9945A1A4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flipV="1">
            <a:off x="3227044" y="1540566"/>
            <a:ext cx="465138"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8" name="Picture 31" descr="BS00768_[1]">
            <a:extLst>
              <a:ext uri="{FF2B5EF4-FFF2-40B4-BE49-F238E27FC236}">
                <a16:creationId xmlns:a16="http://schemas.microsoft.com/office/drawing/2014/main" id="{79041123-EFD9-1349-B259-90D4031AD3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flipV="1">
            <a:off x="6805269" y="1634228"/>
            <a:ext cx="465138"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34" name="Straight Arrow Connector 33">
            <a:extLst>
              <a:ext uri="{FF2B5EF4-FFF2-40B4-BE49-F238E27FC236}">
                <a16:creationId xmlns:a16="http://schemas.microsoft.com/office/drawing/2014/main" id="{D857C3A9-AC99-194E-85B8-BD0A22FA2997}"/>
              </a:ext>
            </a:extLst>
          </p:cNvPr>
          <p:cNvCxnSpPr>
            <a:cxnSpLocks/>
          </p:cNvCxnSpPr>
          <p:nvPr/>
        </p:nvCxnSpPr>
        <p:spPr>
          <a:xfrm>
            <a:off x="7027307" y="2279113"/>
            <a:ext cx="0" cy="3180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58AE3B5-3946-E448-9D70-EEE25B9A2AAA}"/>
              </a:ext>
            </a:extLst>
          </p:cNvPr>
          <p:cNvCxnSpPr>
            <a:cxnSpLocks/>
          </p:cNvCxnSpPr>
          <p:nvPr/>
        </p:nvCxnSpPr>
        <p:spPr>
          <a:xfrm>
            <a:off x="3346434" y="2238402"/>
            <a:ext cx="0" cy="3180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3E9D92B-A75B-A241-89FA-02F2039EE03C}"/>
              </a:ext>
            </a:extLst>
          </p:cNvPr>
          <p:cNvCxnSpPr/>
          <p:nvPr/>
        </p:nvCxnSpPr>
        <p:spPr>
          <a:xfrm>
            <a:off x="2081048" y="3144094"/>
            <a:ext cx="851338"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115FF13-B579-1348-9B44-398AED47D510}"/>
              </a:ext>
            </a:extLst>
          </p:cNvPr>
          <p:cNvCxnSpPr/>
          <p:nvPr/>
        </p:nvCxnSpPr>
        <p:spPr>
          <a:xfrm>
            <a:off x="8355952" y="3124216"/>
            <a:ext cx="851338"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FC48485-D587-5C49-BD51-2D1EDE649A05}"/>
              </a:ext>
            </a:extLst>
          </p:cNvPr>
          <p:cNvCxnSpPr>
            <a:cxnSpLocks/>
          </p:cNvCxnSpPr>
          <p:nvPr/>
        </p:nvCxnSpPr>
        <p:spPr>
          <a:xfrm>
            <a:off x="4550646" y="3089705"/>
            <a:ext cx="2172900"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Slide Number Placeholder 2">
            <a:extLst>
              <a:ext uri="{FF2B5EF4-FFF2-40B4-BE49-F238E27FC236}">
                <a16:creationId xmlns:a16="http://schemas.microsoft.com/office/drawing/2014/main" id="{18CDF60A-5D15-834D-BFE1-94FFE10C1D4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26</a:t>
            </a:fld>
            <a:endParaRPr lang="en-US" dirty="0"/>
          </a:p>
        </p:txBody>
      </p:sp>
    </p:spTree>
    <p:extLst>
      <p:ext uri="{BB962C8B-B14F-4D97-AF65-F5344CB8AC3E}">
        <p14:creationId xmlns:p14="http://schemas.microsoft.com/office/powerpoint/2010/main" val="3429546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Breaking an encryption scheme</a:t>
            </a:r>
            <a:endParaRPr lang="en-US" sz="4400" dirty="0"/>
          </a:p>
        </p:txBody>
      </p:sp>
      <p:sp>
        <p:nvSpPr>
          <p:cNvPr id="32" name="Rectangle 3">
            <a:extLst>
              <a:ext uri="{FF2B5EF4-FFF2-40B4-BE49-F238E27FC236}">
                <a16:creationId xmlns:a16="http://schemas.microsoft.com/office/drawing/2014/main" id="{B9FFFFE1-D802-1748-BFAC-D0920ABBEBAF}"/>
              </a:ext>
            </a:extLst>
          </p:cNvPr>
          <p:cNvSpPr txBox="1">
            <a:spLocks noChangeArrowheads="1"/>
          </p:cNvSpPr>
          <p:nvPr/>
        </p:nvSpPr>
        <p:spPr>
          <a:xfrm>
            <a:off x="758686" y="1586949"/>
            <a:ext cx="5006009"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C00000"/>
                </a:solidFill>
              </a:rPr>
              <a:t>cipher-text only attack: </a:t>
            </a:r>
            <a:r>
              <a:rPr lang="en-US" sz="3200" dirty="0"/>
              <a:t>Trudy has ciphertext she can analyze</a:t>
            </a:r>
          </a:p>
          <a:p>
            <a:r>
              <a:rPr lang="en-US" sz="3200" dirty="0">
                <a:solidFill>
                  <a:srgbClr val="C00000"/>
                </a:solidFill>
              </a:rPr>
              <a:t>two approaches:</a:t>
            </a:r>
          </a:p>
          <a:p>
            <a:pPr lvl="1"/>
            <a:r>
              <a:rPr lang="en-US" sz="3200" dirty="0"/>
              <a:t>brute force: search through all </a:t>
            </a:r>
            <a:r>
              <a:rPr lang="en-US" sz="2800" dirty="0"/>
              <a:t>keys </a:t>
            </a:r>
          </a:p>
          <a:p>
            <a:pPr lvl="1"/>
            <a:r>
              <a:rPr lang="en-US" sz="2800" dirty="0"/>
              <a:t>statistical analysis</a:t>
            </a:r>
          </a:p>
        </p:txBody>
      </p:sp>
      <p:sp>
        <p:nvSpPr>
          <p:cNvPr id="35" name="Rectangle 4">
            <a:extLst>
              <a:ext uri="{FF2B5EF4-FFF2-40B4-BE49-F238E27FC236}">
                <a16:creationId xmlns:a16="http://schemas.microsoft.com/office/drawing/2014/main" id="{42A404FF-A272-674C-BE1D-A2017B786F34}"/>
              </a:ext>
            </a:extLst>
          </p:cNvPr>
          <p:cNvSpPr txBox="1">
            <a:spLocks noChangeArrowheads="1"/>
          </p:cNvSpPr>
          <p:nvPr/>
        </p:nvSpPr>
        <p:spPr>
          <a:xfrm>
            <a:off x="6374295" y="1586950"/>
            <a:ext cx="5181601"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solidFill>
                  <a:srgbClr val="C00000"/>
                </a:solidFill>
              </a:rPr>
              <a:t>known-plaintext attack: </a:t>
            </a:r>
            <a:r>
              <a:rPr lang="en-US" sz="3200" dirty="0"/>
              <a:t>Trudy has plaintext corresponding to ciphertext</a:t>
            </a:r>
          </a:p>
          <a:p>
            <a:pPr lvl="1"/>
            <a:r>
              <a:rPr lang="en-US" sz="2800" i="1" dirty="0"/>
              <a:t>e.g., </a:t>
            </a:r>
            <a:r>
              <a:rPr lang="en-US" sz="2800" dirty="0"/>
              <a:t>in monoalphabetic cipher, Trudy determines pairings for a,l,i,c,e,b,o,</a:t>
            </a:r>
          </a:p>
          <a:p>
            <a:r>
              <a:rPr lang="en-US" sz="3200" dirty="0">
                <a:solidFill>
                  <a:srgbClr val="C00000"/>
                </a:solidFill>
              </a:rPr>
              <a:t>chosen-plaintext attack: </a:t>
            </a:r>
            <a:r>
              <a:rPr lang="en-US" sz="3200" dirty="0"/>
              <a:t>Trudy can get ciphertext for chosen plaintext</a:t>
            </a:r>
          </a:p>
          <a:p>
            <a:pPr>
              <a:buFont typeface="Wingdings" charset="0"/>
              <a:buNone/>
            </a:pPr>
            <a:endParaRPr lang="en-US" dirty="0"/>
          </a:p>
        </p:txBody>
      </p:sp>
      <p:sp>
        <p:nvSpPr>
          <p:cNvPr id="37" name="Slide Number Placeholder 2">
            <a:extLst>
              <a:ext uri="{FF2B5EF4-FFF2-40B4-BE49-F238E27FC236}">
                <a16:creationId xmlns:a16="http://schemas.microsoft.com/office/drawing/2014/main" id="{EA96C7A9-2CD0-BA4E-803F-B253CD6DEB00}"/>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27</a:t>
            </a:fld>
            <a:endParaRPr lang="en-US" dirty="0"/>
          </a:p>
        </p:txBody>
      </p:sp>
    </p:spTree>
    <p:extLst>
      <p:ext uri="{BB962C8B-B14F-4D97-AF65-F5344CB8AC3E}">
        <p14:creationId xmlns:p14="http://schemas.microsoft.com/office/powerpoint/2010/main" val="3385524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Symmetric key cryptography</a:t>
            </a:r>
            <a:endParaRPr lang="en-US" sz="4400" dirty="0"/>
          </a:p>
        </p:txBody>
      </p:sp>
      <p:sp>
        <p:nvSpPr>
          <p:cNvPr id="6" name="Text Box 5">
            <a:extLst>
              <a:ext uri="{FF2B5EF4-FFF2-40B4-BE49-F238E27FC236}">
                <a16:creationId xmlns:a16="http://schemas.microsoft.com/office/drawing/2014/main" id="{D734669E-61CB-D549-AB3B-9FA516F17AB0}"/>
              </a:ext>
            </a:extLst>
          </p:cNvPr>
          <p:cNvSpPr txBox="1">
            <a:spLocks noChangeArrowheads="1"/>
          </p:cNvSpPr>
          <p:nvPr/>
        </p:nvSpPr>
        <p:spPr bwMode="auto">
          <a:xfrm>
            <a:off x="1585013" y="2469633"/>
            <a:ext cx="1279525" cy="461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plaintext</a:t>
            </a:r>
          </a:p>
        </p:txBody>
      </p:sp>
      <p:sp>
        <p:nvSpPr>
          <p:cNvPr id="7" name="Text Box 6">
            <a:extLst>
              <a:ext uri="{FF2B5EF4-FFF2-40B4-BE49-F238E27FC236}">
                <a16:creationId xmlns:a16="http://schemas.microsoft.com/office/drawing/2014/main" id="{4339D451-1A35-EA43-A191-2CBFB5AB1988}"/>
              </a:ext>
            </a:extLst>
          </p:cNvPr>
          <p:cNvSpPr txBox="1">
            <a:spLocks noChangeArrowheads="1"/>
          </p:cNvSpPr>
          <p:nvPr/>
        </p:nvSpPr>
        <p:spPr bwMode="auto">
          <a:xfrm>
            <a:off x="8469521" y="2471779"/>
            <a:ext cx="1279525" cy="461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plaintext</a:t>
            </a:r>
          </a:p>
        </p:txBody>
      </p:sp>
      <p:grpSp>
        <p:nvGrpSpPr>
          <p:cNvPr id="9" name="Group 8">
            <a:extLst>
              <a:ext uri="{FF2B5EF4-FFF2-40B4-BE49-F238E27FC236}">
                <a16:creationId xmlns:a16="http://schemas.microsoft.com/office/drawing/2014/main" id="{27D16B6C-3FBA-664E-8508-1CA0809480B5}"/>
              </a:ext>
            </a:extLst>
          </p:cNvPr>
          <p:cNvGrpSpPr>
            <a:grpSpLocks/>
          </p:cNvGrpSpPr>
          <p:nvPr/>
        </p:nvGrpSpPr>
        <p:grpSpPr bwMode="auto">
          <a:xfrm>
            <a:off x="3697289" y="1564035"/>
            <a:ext cx="490538" cy="582613"/>
            <a:chOff x="203" y="1789"/>
            <a:chExt cx="309" cy="367"/>
          </a:xfrm>
        </p:grpSpPr>
        <p:sp>
          <p:nvSpPr>
            <p:cNvPr id="31" name="Text Box 9">
              <a:extLst>
                <a:ext uri="{FF2B5EF4-FFF2-40B4-BE49-F238E27FC236}">
                  <a16:creationId xmlns:a16="http://schemas.microsoft.com/office/drawing/2014/main" id="{A6D7B9C7-CE2B-2E4F-B690-78DA63F083BD}"/>
                </a:ext>
              </a:extLst>
            </p:cNvPr>
            <p:cNvSpPr txBox="1">
              <a:spLocks noChangeArrowheads="1"/>
            </p:cNvSpPr>
            <p:nvPr/>
          </p:nvSpPr>
          <p:spPr bwMode="auto">
            <a:xfrm>
              <a:off x="203" y="1789"/>
              <a:ext cx="217" cy="29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K</a:t>
              </a:r>
            </a:p>
          </p:txBody>
        </p:sp>
        <p:sp>
          <p:nvSpPr>
            <p:cNvPr id="33" name="Text Box 10">
              <a:extLst>
                <a:ext uri="{FF2B5EF4-FFF2-40B4-BE49-F238E27FC236}">
                  <a16:creationId xmlns:a16="http://schemas.microsoft.com/office/drawing/2014/main" id="{CF36D666-0D47-A340-A5EE-2F56800D40B6}"/>
                </a:ext>
              </a:extLst>
            </p:cNvPr>
            <p:cNvSpPr txBox="1">
              <a:spLocks noChangeArrowheads="1"/>
            </p:cNvSpPr>
            <p:nvPr/>
          </p:nvSpPr>
          <p:spPr bwMode="auto">
            <a:xfrm>
              <a:off x="307" y="1865"/>
              <a:ext cx="205"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S</a:t>
              </a:r>
            </a:p>
          </p:txBody>
        </p:sp>
      </p:grpSp>
      <p:pic>
        <p:nvPicPr>
          <p:cNvPr id="10" name="Picture 11" descr="Alice">
            <a:extLst>
              <a:ext uri="{FF2B5EF4-FFF2-40B4-BE49-F238E27FC236}">
                <a16:creationId xmlns:a16="http://schemas.microsoft.com/office/drawing/2014/main" id="{0452868E-2DCB-044D-8E12-3E12E0509C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0787" y="1533872"/>
            <a:ext cx="698500" cy="8620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2" name="Rectangle 13">
            <a:extLst>
              <a:ext uri="{FF2B5EF4-FFF2-40B4-BE49-F238E27FC236}">
                <a16:creationId xmlns:a16="http://schemas.microsoft.com/office/drawing/2014/main" id="{AD1F12B2-FF58-C84A-9FEE-E90ECF217085}"/>
              </a:ext>
            </a:extLst>
          </p:cNvPr>
          <p:cNvSpPr>
            <a:spLocks noChangeArrowheads="1"/>
          </p:cNvSpPr>
          <p:nvPr/>
        </p:nvSpPr>
        <p:spPr bwMode="auto">
          <a:xfrm>
            <a:off x="3033369" y="2519226"/>
            <a:ext cx="1433513" cy="860425"/>
          </a:xfrm>
          <a:prstGeom prst="rect">
            <a:avLst/>
          </a:prstGeom>
          <a:solidFill>
            <a:srgbClr val="0012A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p>
            <a:endParaRPr lang="en-US" sz="2000" dirty="0">
              <a:cs typeface="Arial" charset="0"/>
            </a:endParaRPr>
          </a:p>
        </p:txBody>
      </p:sp>
      <p:sp>
        <p:nvSpPr>
          <p:cNvPr id="13" name="Text Box 14">
            <a:extLst>
              <a:ext uri="{FF2B5EF4-FFF2-40B4-BE49-F238E27FC236}">
                <a16:creationId xmlns:a16="http://schemas.microsoft.com/office/drawing/2014/main" id="{D91A2ABD-8921-C24C-B9A7-FD940B03116B}"/>
              </a:ext>
            </a:extLst>
          </p:cNvPr>
          <p:cNvSpPr txBox="1">
            <a:spLocks noChangeArrowheads="1"/>
          </p:cNvSpPr>
          <p:nvPr/>
        </p:nvSpPr>
        <p:spPr bwMode="auto">
          <a:xfrm>
            <a:off x="2966694" y="2587489"/>
            <a:ext cx="1536700" cy="757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90000"/>
              </a:lnSpc>
            </a:pPr>
            <a:r>
              <a:rPr lang="en-US" sz="2400" dirty="0">
                <a:solidFill>
                  <a:schemeClr val="bg1"/>
                </a:solidFill>
                <a:latin typeface="+mn-lt"/>
                <a:cs typeface="Arial" charset="0"/>
              </a:rPr>
              <a:t>encryption</a:t>
            </a:r>
          </a:p>
          <a:p>
            <a:pPr algn="ctr">
              <a:lnSpc>
                <a:spcPct val="90000"/>
              </a:lnSpc>
            </a:pPr>
            <a:r>
              <a:rPr lang="en-US" sz="2400" dirty="0">
                <a:solidFill>
                  <a:schemeClr val="bg1"/>
                </a:solidFill>
                <a:latin typeface="+mn-lt"/>
                <a:cs typeface="Arial" charset="0"/>
              </a:rPr>
              <a:t>algorithm</a:t>
            </a:r>
          </a:p>
        </p:txBody>
      </p:sp>
      <p:sp>
        <p:nvSpPr>
          <p:cNvPr id="14" name="Rectangle 15">
            <a:extLst>
              <a:ext uri="{FF2B5EF4-FFF2-40B4-BE49-F238E27FC236}">
                <a16:creationId xmlns:a16="http://schemas.microsoft.com/office/drawing/2014/main" id="{330108AB-253A-2F4F-B115-B277A156989D}"/>
              </a:ext>
            </a:extLst>
          </p:cNvPr>
          <p:cNvSpPr>
            <a:spLocks noChangeArrowheads="1"/>
          </p:cNvSpPr>
          <p:nvPr/>
        </p:nvSpPr>
        <p:spPr bwMode="auto">
          <a:xfrm>
            <a:off x="6775106" y="2533514"/>
            <a:ext cx="1460500" cy="854075"/>
          </a:xfrm>
          <a:prstGeom prst="rect">
            <a:avLst/>
          </a:prstGeom>
          <a:solidFill>
            <a:srgbClr val="0012A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p>
            <a:endParaRPr lang="en-US" sz="2000" dirty="0">
              <a:cs typeface="Arial" charset="0"/>
            </a:endParaRPr>
          </a:p>
        </p:txBody>
      </p:sp>
      <p:sp>
        <p:nvSpPr>
          <p:cNvPr id="15" name="Text Box 16">
            <a:extLst>
              <a:ext uri="{FF2B5EF4-FFF2-40B4-BE49-F238E27FC236}">
                <a16:creationId xmlns:a16="http://schemas.microsoft.com/office/drawing/2014/main" id="{38440821-15F2-844A-8721-2FD8A32BBB5F}"/>
              </a:ext>
            </a:extLst>
          </p:cNvPr>
          <p:cNvSpPr txBox="1">
            <a:spLocks noChangeArrowheads="1"/>
          </p:cNvSpPr>
          <p:nvPr/>
        </p:nvSpPr>
        <p:spPr bwMode="auto">
          <a:xfrm>
            <a:off x="6702081" y="2598601"/>
            <a:ext cx="1604963" cy="757238"/>
          </a:xfrm>
          <a:prstGeom prst="rect">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90000"/>
              </a:lnSpc>
            </a:pPr>
            <a:r>
              <a:rPr lang="en-US" sz="2400" dirty="0">
                <a:solidFill>
                  <a:schemeClr val="bg1"/>
                </a:solidFill>
                <a:latin typeface="+mn-lt"/>
                <a:cs typeface="Arial" charset="0"/>
              </a:rPr>
              <a:t>decryption </a:t>
            </a:r>
          </a:p>
          <a:p>
            <a:pPr algn="ctr">
              <a:lnSpc>
                <a:spcPct val="90000"/>
              </a:lnSpc>
            </a:pPr>
            <a:r>
              <a:rPr lang="en-US" sz="2400" dirty="0">
                <a:solidFill>
                  <a:schemeClr val="bg1"/>
                </a:solidFill>
                <a:latin typeface="+mn-lt"/>
                <a:cs typeface="Arial" charset="0"/>
              </a:rPr>
              <a:t>algorithm</a:t>
            </a:r>
          </a:p>
        </p:txBody>
      </p:sp>
      <p:pic>
        <p:nvPicPr>
          <p:cNvPr id="23" name="Picture 24" descr="Bob">
            <a:extLst>
              <a:ext uri="{FF2B5EF4-FFF2-40B4-BE49-F238E27FC236}">
                <a16:creationId xmlns:a16="http://schemas.microsoft.com/office/drawing/2014/main" id="{B7CDFDA3-AD05-5641-9F13-C959774E7E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80583" y="1630157"/>
            <a:ext cx="812800" cy="830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4" name="Group 25">
            <a:extLst>
              <a:ext uri="{FF2B5EF4-FFF2-40B4-BE49-F238E27FC236}">
                <a16:creationId xmlns:a16="http://schemas.microsoft.com/office/drawing/2014/main" id="{06D5526A-A0B2-5B43-ABCA-4D728897DE04}"/>
              </a:ext>
            </a:extLst>
          </p:cNvPr>
          <p:cNvGrpSpPr>
            <a:grpSpLocks/>
          </p:cNvGrpSpPr>
          <p:nvPr/>
        </p:nvGrpSpPr>
        <p:grpSpPr bwMode="auto">
          <a:xfrm>
            <a:off x="7437023" y="1561686"/>
            <a:ext cx="488950" cy="568325"/>
            <a:chOff x="203" y="1789"/>
            <a:chExt cx="308" cy="358"/>
          </a:xfrm>
        </p:grpSpPr>
        <p:sp>
          <p:nvSpPr>
            <p:cNvPr id="29" name="Text Box 26">
              <a:extLst>
                <a:ext uri="{FF2B5EF4-FFF2-40B4-BE49-F238E27FC236}">
                  <a16:creationId xmlns:a16="http://schemas.microsoft.com/office/drawing/2014/main" id="{D458364F-30A7-7344-97AF-28982E1826D1}"/>
                </a:ext>
              </a:extLst>
            </p:cNvPr>
            <p:cNvSpPr txBox="1">
              <a:spLocks noChangeArrowheads="1"/>
            </p:cNvSpPr>
            <p:nvPr/>
          </p:nvSpPr>
          <p:spPr bwMode="auto">
            <a:xfrm>
              <a:off x="203" y="1789"/>
              <a:ext cx="217" cy="29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K</a:t>
              </a:r>
            </a:p>
          </p:txBody>
        </p:sp>
        <p:sp>
          <p:nvSpPr>
            <p:cNvPr id="30" name="Text Box 27">
              <a:extLst>
                <a:ext uri="{FF2B5EF4-FFF2-40B4-BE49-F238E27FC236}">
                  <a16:creationId xmlns:a16="http://schemas.microsoft.com/office/drawing/2014/main" id="{4388AB91-D971-914B-AF4F-86973D7BE759}"/>
                </a:ext>
              </a:extLst>
            </p:cNvPr>
            <p:cNvSpPr txBox="1">
              <a:spLocks noChangeArrowheads="1"/>
            </p:cNvSpPr>
            <p:nvPr/>
          </p:nvSpPr>
          <p:spPr bwMode="auto">
            <a:xfrm>
              <a:off x="306" y="1856"/>
              <a:ext cx="205"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S</a:t>
              </a:r>
            </a:p>
          </p:txBody>
        </p:sp>
      </p:grpSp>
      <p:pic>
        <p:nvPicPr>
          <p:cNvPr id="27" name="Picture 30" descr="BS00768_[1]">
            <a:extLst>
              <a:ext uri="{FF2B5EF4-FFF2-40B4-BE49-F238E27FC236}">
                <a16:creationId xmlns:a16="http://schemas.microsoft.com/office/drawing/2014/main" id="{C0A58FD0-B1BA-6943-8103-EA9945A1A4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3227044" y="1686340"/>
            <a:ext cx="465138"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8" name="Picture 31" descr="BS00768_[1]">
            <a:extLst>
              <a:ext uri="{FF2B5EF4-FFF2-40B4-BE49-F238E27FC236}">
                <a16:creationId xmlns:a16="http://schemas.microsoft.com/office/drawing/2014/main" id="{79041123-EFD9-1349-B259-90D4031AD3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6898033" y="1740245"/>
            <a:ext cx="465138"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34" name="Straight Arrow Connector 33">
            <a:extLst>
              <a:ext uri="{FF2B5EF4-FFF2-40B4-BE49-F238E27FC236}">
                <a16:creationId xmlns:a16="http://schemas.microsoft.com/office/drawing/2014/main" id="{D857C3A9-AC99-194E-85B8-BD0A22FA2997}"/>
              </a:ext>
            </a:extLst>
          </p:cNvPr>
          <p:cNvCxnSpPr>
            <a:cxnSpLocks/>
          </p:cNvCxnSpPr>
          <p:nvPr/>
        </p:nvCxnSpPr>
        <p:spPr>
          <a:xfrm>
            <a:off x="7027307" y="2106836"/>
            <a:ext cx="0" cy="3180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58AE3B5-3946-E448-9D70-EEE25B9A2AAA}"/>
              </a:ext>
            </a:extLst>
          </p:cNvPr>
          <p:cNvCxnSpPr>
            <a:cxnSpLocks/>
          </p:cNvCxnSpPr>
          <p:nvPr/>
        </p:nvCxnSpPr>
        <p:spPr>
          <a:xfrm>
            <a:off x="3346434" y="2066125"/>
            <a:ext cx="0" cy="31805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3E9D92B-A75B-A241-89FA-02F2039EE03C}"/>
              </a:ext>
            </a:extLst>
          </p:cNvPr>
          <p:cNvCxnSpPr/>
          <p:nvPr/>
        </p:nvCxnSpPr>
        <p:spPr>
          <a:xfrm>
            <a:off x="2081048" y="2971817"/>
            <a:ext cx="851338"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115FF13-B579-1348-9B44-398AED47D510}"/>
              </a:ext>
            </a:extLst>
          </p:cNvPr>
          <p:cNvCxnSpPr/>
          <p:nvPr/>
        </p:nvCxnSpPr>
        <p:spPr>
          <a:xfrm>
            <a:off x="8355952" y="2951939"/>
            <a:ext cx="851338"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FC48485-D587-5C49-BD51-2D1EDE649A05}"/>
              </a:ext>
            </a:extLst>
          </p:cNvPr>
          <p:cNvCxnSpPr>
            <a:cxnSpLocks/>
          </p:cNvCxnSpPr>
          <p:nvPr/>
        </p:nvCxnSpPr>
        <p:spPr>
          <a:xfrm>
            <a:off x="4550646" y="2917428"/>
            <a:ext cx="2172900"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 Box 7">
            <a:extLst>
              <a:ext uri="{FF2B5EF4-FFF2-40B4-BE49-F238E27FC236}">
                <a16:creationId xmlns:a16="http://schemas.microsoft.com/office/drawing/2014/main" id="{23D78889-5D58-7B49-852E-A4D7CE204213}"/>
              </a:ext>
            </a:extLst>
          </p:cNvPr>
          <p:cNvSpPr txBox="1">
            <a:spLocks noChangeArrowheads="1"/>
          </p:cNvSpPr>
          <p:nvPr/>
        </p:nvSpPr>
        <p:spPr bwMode="auto">
          <a:xfrm>
            <a:off x="4834627" y="2476708"/>
            <a:ext cx="1455738" cy="461963"/>
          </a:xfrm>
          <a:prstGeom prst="rect">
            <a:avLst/>
          </a:prstGeom>
          <a:no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ciphertext</a:t>
            </a:r>
          </a:p>
        </p:txBody>
      </p:sp>
      <p:sp>
        <p:nvSpPr>
          <p:cNvPr id="37" name="Text Box 27">
            <a:extLst>
              <a:ext uri="{FF2B5EF4-FFF2-40B4-BE49-F238E27FC236}">
                <a16:creationId xmlns:a16="http://schemas.microsoft.com/office/drawing/2014/main" id="{2F4A5A09-FA83-434F-92C3-28E1DB3EE65E}"/>
              </a:ext>
            </a:extLst>
          </p:cNvPr>
          <p:cNvSpPr txBox="1">
            <a:spLocks noChangeArrowheads="1"/>
          </p:cNvSpPr>
          <p:nvPr/>
        </p:nvSpPr>
        <p:spPr bwMode="auto">
          <a:xfrm>
            <a:off x="4942640" y="2924315"/>
            <a:ext cx="1039067"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K  (m)</a:t>
            </a:r>
          </a:p>
        </p:txBody>
      </p:sp>
      <p:sp>
        <p:nvSpPr>
          <p:cNvPr id="41" name="Text Box 28">
            <a:extLst>
              <a:ext uri="{FF2B5EF4-FFF2-40B4-BE49-F238E27FC236}">
                <a16:creationId xmlns:a16="http://schemas.microsoft.com/office/drawing/2014/main" id="{B230A58D-9373-144C-92D9-84B3F53C7B42}"/>
              </a:ext>
            </a:extLst>
          </p:cNvPr>
          <p:cNvSpPr txBox="1">
            <a:spLocks noChangeArrowheads="1"/>
          </p:cNvSpPr>
          <p:nvPr/>
        </p:nvSpPr>
        <p:spPr bwMode="auto">
          <a:xfrm>
            <a:off x="5160333" y="3116403"/>
            <a:ext cx="32573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S</a:t>
            </a:r>
          </a:p>
        </p:txBody>
      </p:sp>
      <p:sp>
        <p:nvSpPr>
          <p:cNvPr id="42" name="Rectangle 3">
            <a:extLst>
              <a:ext uri="{FF2B5EF4-FFF2-40B4-BE49-F238E27FC236}">
                <a16:creationId xmlns:a16="http://schemas.microsoft.com/office/drawing/2014/main" id="{D5E2051B-B645-DE43-BBCC-96C0307D24AE}"/>
              </a:ext>
            </a:extLst>
          </p:cNvPr>
          <p:cNvSpPr txBox="1">
            <a:spLocks noChangeArrowheads="1"/>
          </p:cNvSpPr>
          <p:nvPr/>
        </p:nvSpPr>
        <p:spPr>
          <a:xfrm>
            <a:off x="990600" y="3968128"/>
            <a:ext cx="10538791" cy="243267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buFont typeface="Wingdings" charset="0"/>
              <a:buNone/>
            </a:pPr>
            <a:r>
              <a:rPr lang="en-US" sz="3200" dirty="0">
                <a:solidFill>
                  <a:srgbClr val="C00000"/>
                </a:solidFill>
              </a:rPr>
              <a:t>symmetric key crypto</a:t>
            </a:r>
            <a:r>
              <a:rPr lang="en-US" sz="3200" dirty="0"/>
              <a:t>: Bob and Alice share same (symmetric) key: K</a:t>
            </a:r>
          </a:p>
          <a:p>
            <a:r>
              <a:rPr lang="en-US" i="1" dirty="0"/>
              <a:t>e.g., </a:t>
            </a:r>
            <a:r>
              <a:rPr lang="en-US" dirty="0"/>
              <a:t>key is knowing substitution pattern in mono alphabetic substitution cipher</a:t>
            </a:r>
            <a:endParaRPr lang="en-US" sz="3200" dirty="0"/>
          </a:p>
          <a:p>
            <a:pPr>
              <a:buFont typeface="Wingdings" charset="0"/>
              <a:buNone/>
            </a:pPr>
            <a:r>
              <a:rPr lang="en-US" sz="3200" i="1" u="sng" dirty="0">
                <a:solidFill>
                  <a:srgbClr val="C00000"/>
                </a:solidFill>
              </a:rPr>
              <a:t>Q:</a:t>
            </a:r>
            <a:r>
              <a:rPr lang="en-US" sz="3200" i="1" dirty="0">
                <a:solidFill>
                  <a:srgbClr val="C00000"/>
                </a:solidFill>
              </a:rPr>
              <a:t> </a:t>
            </a:r>
            <a:r>
              <a:rPr lang="en-US" sz="3200" dirty="0"/>
              <a:t>how do Bob and Alice agree on key value?</a:t>
            </a:r>
            <a:endParaRPr lang="en-US" sz="3200" i="1" dirty="0"/>
          </a:p>
        </p:txBody>
      </p:sp>
      <p:sp>
        <p:nvSpPr>
          <p:cNvPr id="43" name="Slide Number Placeholder 2">
            <a:extLst>
              <a:ext uri="{FF2B5EF4-FFF2-40B4-BE49-F238E27FC236}">
                <a16:creationId xmlns:a16="http://schemas.microsoft.com/office/drawing/2014/main" id="{98A2B4F2-C89B-C344-A03B-58164B0C8E9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28</a:t>
            </a:fld>
            <a:endParaRPr lang="en-US" dirty="0"/>
          </a:p>
        </p:txBody>
      </p:sp>
    </p:spTree>
    <p:extLst>
      <p:ext uri="{BB962C8B-B14F-4D97-AF65-F5344CB8AC3E}">
        <p14:creationId xmlns:p14="http://schemas.microsoft.com/office/powerpoint/2010/main" val="295107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4294967295" hasCustomPrompt="1"/>
          </p:nvPr>
        </p:nvSpPr>
        <p:spPr>
          <a:xfrm>
            <a:off x="0" y="0"/>
            <a:ext cx="12192000" cy="365760"/>
          </a:xfrm>
          <a:prstGeom prst="rect">
            <a:avLst/>
          </a:prstGeom>
          <a:noFill/>
          <a:ln/>
        </p:spPr>
        <p:txBody>
          <a:bodyPr wrap="square" rtlCol="0">
            <a:normAutofit lnSpcReduction="10000"/>
          </a:bodyPr>
          <a:lstStyle/>
          <a:p>
            <a:r>
              <a:rPr lang="en-US" dirty="0"/>
              <a:t>Confidentiality</a:t>
            </a:r>
          </a:p>
        </p:txBody>
      </p:sp>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Symmetric Encryption</a:t>
            </a:r>
          </a:p>
        </p:txBody>
      </p:sp>
      <p:sp>
        <p:nvSpPr>
          <p:cNvPr id="7" name="TextBox 6">
            <a:extLst>
              <a:ext uri="{FF2B5EF4-FFF2-40B4-BE49-F238E27FC236}">
                <a16:creationId xmlns:a16="http://schemas.microsoft.com/office/drawing/2014/main" id="{81BC529D-DBC2-426F-90AC-A229F155CD48}"/>
              </a:ext>
            </a:extLst>
          </p:cNvPr>
          <p:cNvSpPr txBox="1"/>
          <p:nvPr/>
        </p:nvSpPr>
        <p:spPr>
          <a:xfrm>
            <a:off x="134318" y="1076832"/>
            <a:ext cx="11799377" cy="2678234"/>
          </a:xfrm>
          <a:prstGeom prst="rect">
            <a:avLst/>
          </a:prstGeom>
          <a:noFill/>
        </p:spPr>
        <p:txBody>
          <a:bodyPr wrap="square">
            <a:spAutoFit/>
          </a:bodyPr>
          <a:lstStyle/>
          <a:p>
            <a:r>
              <a:rPr lang="en-US" sz="1867" dirty="0">
                <a:latin typeface="Arial" panose="020B0604020202020204" pitchFamily="34" charset="0"/>
                <a:cs typeface="Arial" panose="020B0604020202020204" pitchFamily="34" charset="0"/>
              </a:rPr>
              <a:t>Symmetric algorithms use the same pre-shared key to encrypt and decrypt data. A pre-shared key, also called a secret key, is known by the sender and receiver before any encrypted communications can take place.</a:t>
            </a:r>
          </a:p>
          <a:p>
            <a:endParaRPr lang="en-US" sz="1867" dirty="0">
              <a:latin typeface="Arial" panose="020B0604020202020204" pitchFamily="34" charset="0"/>
              <a:cs typeface="Arial" panose="020B0604020202020204" pitchFamily="34" charset="0"/>
            </a:endParaRPr>
          </a:p>
          <a:p>
            <a:r>
              <a:rPr lang="en-US" sz="1867" dirty="0">
                <a:latin typeface="Arial" panose="020B0604020202020204" pitchFamily="34" charset="0"/>
                <a:cs typeface="Arial" panose="020B0604020202020204" pitchFamily="34" charset="0"/>
              </a:rPr>
              <a:t>In the figure, Alice and Bob have identical keys to a single padlock. These keys were exchanged prior to sending any secret messages. </a:t>
            </a:r>
          </a:p>
          <a:p>
            <a:r>
              <a:rPr lang="en-US" sz="1867" dirty="0">
                <a:latin typeface="Arial" panose="020B0604020202020204" pitchFamily="34" charset="0"/>
                <a:cs typeface="Arial" panose="020B0604020202020204" pitchFamily="34" charset="0"/>
              </a:rPr>
              <a:t>Conceptually: Alice writes a secret message and puts it in a small box that she locks using the padlock with her key. She mails the box to Bob. The message is safely locked inside the box as the box makes its way through the post office system. When Bob receives the box, he uses his key to unlock the padlock and retrieve the message. Bob can use the same box and padlock to send a secret reply back to Alice.</a:t>
            </a:r>
          </a:p>
        </p:txBody>
      </p:sp>
      <p:pic>
        <p:nvPicPr>
          <p:cNvPr id="6" name="Picture 5">
            <a:extLst>
              <a:ext uri="{FF2B5EF4-FFF2-40B4-BE49-F238E27FC236}">
                <a16:creationId xmlns:a16="http://schemas.microsoft.com/office/drawing/2014/main" id="{A48AD006-6486-458F-9331-DD96C518CC11}"/>
              </a:ext>
            </a:extLst>
          </p:cNvPr>
          <p:cNvPicPr>
            <a:picLocks noChangeAspect="1"/>
          </p:cNvPicPr>
          <p:nvPr/>
        </p:nvPicPr>
        <p:blipFill>
          <a:blip r:embed="rId3"/>
          <a:stretch>
            <a:fillRect/>
          </a:stretch>
        </p:blipFill>
        <p:spPr>
          <a:xfrm>
            <a:off x="2562386" y="3724974"/>
            <a:ext cx="6643607" cy="2663647"/>
          </a:xfrm>
          <a:prstGeom prst="rect">
            <a:avLst/>
          </a:prstGeom>
        </p:spPr>
      </p:pic>
      <p:sp>
        <p:nvSpPr>
          <p:cNvPr id="4"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Symmetric Encryption (Cont.)</a:t>
            </a:r>
          </a:p>
        </p:txBody>
      </p:sp>
      <p:sp>
        <p:nvSpPr>
          <p:cNvPr id="7" name="TextBox 6">
            <a:extLst>
              <a:ext uri="{FF2B5EF4-FFF2-40B4-BE49-F238E27FC236}">
                <a16:creationId xmlns:a16="http://schemas.microsoft.com/office/drawing/2014/main" id="{81BC529D-DBC2-426F-90AC-A229F155CD48}"/>
              </a:ext>
            </a:extLst>
          </p:cNvPr>
          <p:cNvSpPr txBox="1"/>
          <p:nvPr/>
        </p:nvSpPr>
        <p:spPr>
          <a:xfrm>
            <a:off x="134317" y="1076832"/>
            <a:ext cx="12192000" cy="1241622"/>
          </a:xfrm>
          <a:prstGeom prst="rect">
            <a:avLst/>
          </a:prstGeom>
          <a:noFill/>
        </p:spPr>
        <p:txBody>
          <a:bodyPr wrap="square">
            <a:spAutoFit/>
          </a:bodyPr>
          <a:lstStyle/>
          <a:p>
            <a:r>
              <a:rPr lang="en-US" sz="1867" dirty="0">
                <a:latin typeface="Arial" panose="020B0604020202020204" pitchFamily="34" charset="0"/>
                <a:cs typeface="Arial" panose="020B0604020202020204" pitchFamily="34" charset="0"/>
              </a:rPr>
              <a:t>Symmetric encryption algorithms are sometimes classified as either a block cipher or a stream cipher. </a:t>
            </a:r>
          </a:p>
          <a:p>
            <a:endParaRPr lang="en-US" sz="1867" dirty="0">
              <a:latin typeface="Arial" panose="020B0604020202020204" pitchFamily="34" charset="0"/>
              <a:cs typeface="Arial" panose="020B0604020202020204" pitchFamily="34" charset="0"/>
            </a:endParaRPr>
          </a:p>
          <a:p>
            <a:r>
              <a:rPr lang="en-US" sz="1867" b="1" dirty="0">
                <a:latin typeface="Arial" panose="020B0604020202020204" pitchFamily="34" charset="0"/>
                <a:cs typeface="Arial" panose="020B0604020202020204" pitchFamily="34" charset="0"/>
              </a:rPr>
              <a:t>Block ciphers</a:t>
            </a:r>
            <a:r>
              <a:rPr lang="en-US" sz="1867" dirty="0">
                <a:latin typeface="Arial" panose="020B0604020202020204" pitchFamily="34" charset="0"/>
                <a:cs typeface="Arial" panose="020B0604020202020204" pitchFamily="34" charset="0"/>
              </a:rPr>
              <a:t> transform a fixed-length block of plaintext into a common block of ciphertext of 64 or 128 bits. Common block ciphers include </a:t>
            </a:r>
            <a:r>
              <a:rPr lang="en-US" sz="1867" b="1" dirty="0">
                <a:solidFill>
                  <a:srgbClr val="C00000"/>
                </a:solidFill>
                <a:latin typeface="Arial" panose="020B0604020202020204" pitchFamily="34" charset="0"/>
                <a:cs typeface="Arial" panose="020B0604020202020204" pitchFamily="34" charset="0"/>
              </a:rPr>
              <a:t>DES with a 64-bit block size and AES with a 128-bit block size</a:t>
            </a:r>
            <a:r>
              <a:rPr lang="en-US" sz="1867" dirty="0">
                <a:latin typeface="Arial" panose="020B0604020202020204" pitchFamily="34" charset="0"/>
                <a:cs typeface="Arial" panose="020B0604020202020204" pitchFamily="34" charset="0"/>
              </a:rPr>
              <a:t>.</a:t>
            </a:r>
          </a:p>
        </p:txBody>
      </p:sp>
      <p:pic>
        <p:nvPicPr>
          <p:cNvPr id="5" name="Picture 4">
            <a:extLst>
              <a:ext uri="{FF2B5EF4-FFF2-40B4-BE49-F238E27FC236}">
                <a16:creationId xmlns:a16="http://schemas.microsoft.com/office/drawing/2014/main" id="{C6DFD160-5252-4780-BCEF-B4D5522AB0CC}"/>
              </a:ext>
            </a:extLst>
          </p:cNvPr>
          <p:cNvPicPr>
            <a:picLocks noChangeAspect="1"/>
          </p:cNvPicPr>
          <p:nvPr/>
        </p:nvPicPr>
        <p:blipFill>
          <a:blip r:embed="rId3"/>
          <a:stretch>
            <a:fillRect/>
          </a:stretch>
        </p:blipFill>
        <p:spPr>
          <a:xfrm>
            <a:off x="1849464" y="2244234"/>
            <a:ext cx="6467960" cy="1471452"/>
          </a:xfrm>
          <a:prstGeom prst="rect">
            <a:avLst/>
          </a:prstGeom>
        </p:spPr>
      </p:pic>
      <p:sp>
        <p:nvSpPr>
          <p:cNvPr id="11" name="TextBox 10">
            <a:extLst>
              <a:ext uri="{FF2B5EF4-FFF2-40B4-BE49-F238E27FC236}">
                <a16:creationId xmlns:a16="http://schemas.microsoft.com/office/drawing/2014/main" id="{30C20186-DFB8-41EE-A205-FB25A73A9EA2}"/>
              </a:ext>
            </a:extLst>
          </p:cNvPr>
          <p:cNvSpPr txBox="1"/>
          <p:nvPr/>
        </p:nvSpPr>
        <p:spPr>
          <a:xfrm>
            <a:off x="134318" y="3807747"/>
            <a:ext cx="11799377" cy="954300"/>
          </a:xfrm>
          <a:prstGeom prst="rect">
            <a:avLst/>
          </a:prstGeom>
          <a:noFill/>
        </p:spPr>
        <p:txBody>
          <a:bodyPr wrap="square">
            <a:spAutoFit/>
          </a:bodyPr>
          <a:lstStyle/>
          <a:p>
            <a:r>
              <a:rPr lang="en-US" sz="1867" b="1" dirty="0">
                <a:latin typeface="Arial" panose="020B0604020202020204" pitchFamily="34" charset="0"/>
                <a:cs typeface="Arial" panose="020B0604020202020204" pitchFamily="34" charset="0"/>
              </a:rPr>
              <a:t>Stream ciphers</a:t>
            </a:r>
            <a:r>
              <a:rPr lang="en-US" sz="1867" dirty="0">
                <a:latin typeface="Arial" panose="020B0604020202020204" pitchFamily="34" charset="0"/>
                <a:cs typeface="Arial" panose="020B0604020202020204" pitchFamily="34" charset="0"/>
              </a:rPr>
              <a:t> encrypt plaintext one byte or one bit at a time. Stream ciphers are basically a block cipher with a block size of one byte or bit. Stream ciphers are typically faster than block ciphers because data is continuously encrypted. </a:t>
            </a:r>
          </a:p>
        </p:txBody>
      </p:sp>
      <p:pic>
        <p:nvPicPr>
          <p:cNvPr id="12" name="Picture 11">
            <a:extLst>
              <a:ext uri="{FF2B5EF4-FFF2-40B4-BE49-F238E27FC236}">
                <a16:creationId xmlns:a16="http://schemas.microsoft.com/office/drawing/2014/main" id="{E47AAF32-3AED-4840-856A-D63F7513E14C}"/>
              </a:ext>
            </a:extLst>
          </p:cNvPr>
          <p:cNvPicPr>
            <a:picLocks noChangeAspect="1"/>
          </p:cNvPicPr>
          <p:nvPr/>
        </p:nvPicPr>
        <p:blipFill>
          <a:blip r:embed="rId4"/>
          <a:stretch>
            <a:fillRect/>
          </a:stretch>
        </p:blipFill>
        <p:spPr>
          <a:xfrm>
            <a:off x="2097438" y="4884694"/>
            <a:ext cx="5972015" cy="1308023"/>
          </a:xfrm>
          <a:prstGeom prst="rect">
            <a:avLst/>
          </a:prstGeom>
        </p:spPr>
      </p:pic>
      <p:sp>
        <p:nvSpPr>
          <p:cNvPr id="4"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30</a:t>
            </a:fld>
            <a:endParaRPr lang="en-US" dirty="0"/>
          </a:p>
        </p:txBody>
      </p:sp>
    </p:spTree>
    <p:extLst>
      <p:ext uri="{BB962C8B-B14F-4D97-AF65-F5344CB8AC3E}">
        <p14:creationId xmlns:p14="http://schemas.microsoft.com/office/powerpoint/2010/main" val="970621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Simple encryption scheme</a:t>
            </a:r>
            <a:endParaRPr lang="en-US" sz="4400" dirty="0"/>
          </a:p>
        </p:txBody>
      </p:sp>
      <p:sp>
        <p:nvSpPr>
          <p:cNvPr id="35" name="Rectangle 3">
            <a:extLst>
              <a:ext uri="{FF2B5EF4-FFF2-40B4-BE49-F238E27FC236}">
                <a16:creationId xmlns:a16="http://schemas.microsoft.com/office/drawing/2014/main" id="{38AC6FFB-FD32-C146-AB47-7F7B20F2D6AA}"/>
              </a:ext>
            </a:extLst>
          </p:cNvPr>
          <p:cNvSpPr txBox="1">
            <a:spLocks noChangeArrowheads="1"/>
          </p:cNvSpPr>
          <p:nvPr/>
        </p:nvSpPr>
        <p:spPr>
          <a:xfrm>
            <a:off x="809556" y="1199806"/>
            <a:ext cx="10680078" cy="121443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0"/>
              <a:buNone/>
            </a:pPr>
            <a:r>
              <a:rPr lang="en-US" sz="3200" i="1" dirty="0">
                <a:solidFill>
                  <a:srgbClr val="C00000"/>
                </a:solidFill>
              </a:rPr>
              <a:t>substitution cipher: </a:t>
            </a:r>
            <a:r>
              <a:rPr lang="en-US" dirty="0"/>
              <a:t>substituting one thing for another</a:t>
            </a:r>
          </a:p>
          <a:p>
            <a:pPr lvl="1">
              <a:buFont typeface="Wingdings" charset="2"/>
              <a:buChar char="§"/>
            </a:pPr>
            <a:r>
              <a:rPr lang="en-US" sz="2800" dirty="0"/>
              <a:t>monoalphabetic cipher: substitute one letter for another</a:t>
            </a:r>
            <a:endParaRPr lang="en-US" sz="3200" dirty="0"/>
          </a:p>
        </p:txBody>
      </p:sp>
      <p:sp>
        <p:nvSpPr>
          <p:cNvPr id="43" name="Rectangle 4">
            <a:extLst>
              <a:ext uri="{FF2B5EF4-FFF2-40B4-BE49-F238E27FC236}">
                <a16:creationId xmlns:a16="http://schemas.microsoft.com/office/drawing/2014/main" id="{B3412139-8CBB-DD4E-91B7-450CC2CAAB2C}"/>
              </a:ext>
            </a:extLst>
          </p:cNvPr>
          <p:cNvSpPr>
            <a:spLocks noChangeArrowheads="1"/>
          </p:cNvSpPr>
          <p:nvPr/>
        </p:nvSpPr>
        <p:spPr bwMode="auto">
          <a:xfrm>
            <a:off x="1730304" y="2463180"/>
            <a:ext cx="7203114"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r>
              <a:rPr lang="en-US" sz="2400" b="1" dirty="0">
                <a:latin typeface="Courier New" charset="0"/>
              </a:rPr>
              <a:t>plaintext:  abcdefghijklmnopqrstuvwxyz</a:t>
            </a:r>
          </a:p>
        </p:txBody>
      </p:sp>
      <p:sp>
        <p:nvSpPr>
          <p:cNvPr id="44" name="Rectangle 5">
            <a:extLst>
              <a:ext uri="{FF2B5EF4-FFF2-40B4-BE49-F238E27FC236}">
                <a16:creationId xmlns:a16="http://schemas.microsoft.com/office/drawing/2014/main" id="{F6BD0E9A-C7F8-5F4E-AE93-E336351F1A52}"/>
              </a:ext>
            </a:extLst>
          </p:cNvPr>
          <p:cNvSpPr>
            <a:spLocks noChangeArrowheads="1"/>
          </p:cNvSpPr>
          <p:nvPr/>
        </p:nvSpPr>
        <p:spPr bwMode="auto">
          <a:xfrm>
            <a:off x="1565725" y="3242642"/>
            <a:ext cx="738781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r>
              <a:rPr lang="en-US" sz="2400" b="1" dirty="0">
                <a:latin typeface="Courier New" charset="0"/>
              </a:rPr>
              <a:t>ciphertext:  mnbvcxzasdfghjklpoiuytrewq</a:t>
            </a:r>
          </a:p>
        </p:txBody>
      </p:sp>
      <p:sp>
        <p:nvSpPr>
          <p:cNvPr id="45" name="Line 6">
            <a:extLst>
              <a:ext uri="{FF2B5EF4-FFF2-40B4-BE49-F238E27FC236}">
                <a16:creationId xmlns:a16="http://schemas.microsoft.com/office/drawing/2014/main" id="{4A7E4B0C-B805-8D45-B761-B5546DF09DA0}"/>
              </a:ext>
            </a:extLst>
          </p:cNvPr>
          <p:cNvSpPr>
            <a:spLocks noChangeShapeType="1"/>
          </p:cNvSpPr>
          <p:nvPr/>
        </p:nvSpPr>
        <p:spPr bwMode="auto">
          <a:xfrm>
            <a:off x="4133298" y="2872755"/>
            <a:ext cx="0" cy="493712"/>
          </a:xfrm>
          <a:prstGeom prst="line">
            <a:avLst/>
          </a:prstGeom>
          <a:noFill/>
          <a:ln w="1905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46" name="Line 7">
            <a:extLst>
              <a:ext uri="{FF2B5EF4-FFF2-40B4-BE49-F238E27FC236}">
                <a16:creationId xmlns:a16="http://schemas.microsoft.com/office/drawing/2014/main" id="{15944278-71E1-604D-A12B-C3FC18367DCF}"/>
              </a:ext>
            </a:extLst>
          </p:cNvPr>
          <p:cNvSpPr>
            <a:spLocks noChangeShapeType="1"/>
          </p:cNvSpPr>
          <p:nvPr/>
        </p:nvSpPr>
        <p:spPr bwMode="auto">
          <a:xfrm>
            <a:off x="8706886" y="2836242"/>
            <a:ext cx="0" cy="493713"/>
          </a:xfrm>
          <a:prstGeom prst="line">
            <a:avLst/>
          </a:prstGeom>
          <a:noFill/>
          <a:ln w="19050">
            <a:solidFill>
              <a:srgbClr val="FF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dirty="0"/>
          </a:p>
        </p:txBody>
      </p:sp>
      <p:sp>
        <p:nvSpPr>
          <p:cNvPr id="47" name="Rectangle 8">
            <a:extLst>
              <a:ext uri="{FF2B5EF4-FFF2-40B4-BE49-F238E27FC236}">
                <a16:creationId xmlns:a16="http://schemas.microsoft.com/office/drawing/2014/main" id="{39C5A038-5B82-9445-AEB5-8EB6B0C16304}"/>
              </a:ext>
            </a:extLst>
          </p:cNvPr>
          <p:cNvSpPr>
            <a:spLocks noChangeArrowheads="1"/>
          </p:cNvSpPr>
          <p:nvPr/>
        </p:nvSpPr>
        <p:spPr bwMode="auto">
          <a:xfrm>
            <a:off x="2681788" y="4014167"/>
            <a:ext cx="6279634"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r>
              <a:rPr lang="en-US" sz="2400" b="1" dirty="0">
                <a:latin typeface="Courier New" charset="0"/>
              </a:rPr>
              <a:t>Plaintext: bob. i love you. alice</a:t>
            </a:r>
          </a:p>
        </p:txBody>
      </p:sp>
      <p:sp>
        <p:nvSpPr>
          <p:cNvPr id="48" name="Rectangle 9">
            <a:extLst>
              <a:ext uri="{FF2B5EF4-FFF2-40B4-BE49-F238E27FC236}">
                <a16:creationId xmlns:a16="http://schemas.microsoft.com/office/drawing/2014/main" id="{80D4BCB1-BB8B-1140-8F2A-FE5981733B47}"/>
              </a:ext>
            </a:extLst>
          </p:cNvPr>
          <p:cNvSpPr>
            <a:spLocks noChangeArrowheads="1"/>
          </p:cNvSpPr>
          <p:nvPr/>
        </p:nvSpPr>
        <p:spPr bwMode="auto">
          <a:xfrm>
            <a:off x="2525146" y="4439617"/>
            <a:ext cx="646433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r>
              <a:rPr lang="en-US" sz="2400" b="1" dirty="0">
                <a:latin typeface="Courier New" charset="0"/>
              </a:rPr>
              <a:t>ciphertext: nkn. s gktc wky. mgsbc</a:t>
            </a:r>
          </a:p>
        </p:txBody>
      </p:sp>
      <p:sp>
        <p:nvSpPr>
          <p:cNvPr id="49" name="Text Box 10">
            <a:extLst>
              <a:ext uri="{FF2B5EF4-FFF2-40B4-BE49-F238E27FC236}">
                <a16:creationId xmlns:a16="http://schemas.microsoft.com/office/drawing/2014/main" id="{9653B653-82E5-3F44-AD23-2BB86DB4F5AC}"/>
              </a:ext>
            </a:extLst>
          </p:cNvPr>
          <p:cNvSpPr txBox="1">
            <a:spLocks noChangeArrowheads="1"/>
          </p:cNvSpPr>
          <p:nvPr/>
        </p:nvSpPr>
        <p:spPr bwMode="auto">
          <a:xfrm>
            <a:off x="1780623" y="3949080"/>
            <a:ext cx="782638" cy="460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000099"/>
                </a:solidFill>
                <a:latin typeface="Arial" charset="0"/>
                <a:cs typeface="Arial" charset="0"/>
              </a:rPr>
              <a:t>e.g.:</a:t>
            </a:r>
          </a:p>
        </p:txBody>
      </p:sp>
      <p:sp>
        <p:nvSpPr>
          <p:cNvPr id="50" name="Text Box 12">
            <a:extLst>
              <a:ext uri="{FF2B5EF4-FFF2-40B4-BE49-F238E27FC236}">
                <a16:creationId xmlns:a16="http://schemas.microsoft.com/office/drawing/2014/main" id="{3163F96C-C81B-A24C-BA43-B755712B6DE1}"/>
              </a:ext>
            </a:extLst>
          </p:cNvPr>
          <p:cNvSpPr txBox="1">
            <a:spLocks noChangeArrowheads="1"/>
          </p:cNvSpPr>
          <p:nvPr/>
        </p:nvSpPr>
        <p:spPr bwMode="auto">
          <a:xfrm>
            <a:off x="2142573" y="5279405"/>
            <a:ext cx="9545844" cy="1077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indent="-1554163">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r>
              <a:rPr lang="en-US" sz="3200" i="1" dirty="0">
                <a:solidFill>
                  <a:srgbClr val="C00000"/>
                </a:solidFill>
                <a:latin typeface="+mn-lt"/>
              </a:rPr>
              <a:t>Encryption key: </a:t>
            </a:r>
            <a:r>
              <a:rPr lang="en-US" sz="3200" dirty="0">
                <a:latin typeface="+mn-lt"/>
              </a:rPr>
              <a:t>mapping from set of 26 letters</a:t>
            </a:r>
          </a:p>
          <a:p>
            <a:r>
              <a:rPr lang="en-US" sz="3200" dirty="0">
                <a:latin typeface="+mn-lt"/>
              </a:rPr>
              <a:t>                     to set of 26 letters</a:t>
            </a:r>
          </a:p>
        </p:txBody>
      </p:sp>
      <p:pic>
        <p:nvPicPr>
          <p:cNvPr id="51" name="Picture 25" descr="BS00768_[1]">
            <a:extLst>
              <a:ext uri="{FF2B5EF4-FFF2-40B4-BE49-F238E27FC236}">
                <a16:creationId xmlns:a16="http://schemas.microsoft.com/office/drawing/2014/main" id="{59C2FE99-CEC9-D44D-82A0-374E79D852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flipV="1">
            <a:off x="1623461" y="5422280"/>
            <a:ext cx="465137"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31</a:t>
            </a:fld>
            <a:endParaRPr lang="en-US" dirty="0"/>
          </a:p>
        </p:txBody>
      </p:sp>
    </p:spTree>
    <p:extLst>
      <p:ext uri="{BB962C8B-B14F-4D97-AF65-F5344CB8AC3E}">
        <p14:creationId xmlns:p14="http://schemas.microsoft.com/office/powerpoint/2010/main" val="3011407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A more sophisticated encryption approach</a:t>
            </a:r>
            <a:endParaRPr lang="en-US" sz="4400" dirty="0"/>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32</a:t>
            </a:fld>
            <a:endParaRPr lang="en-US" dirty="0"/>
          </a:p>
        </p:txBody>
      </p:sp>
      <p:sp>
        <p:nvSpPr>
          <p:cNvPr id="14" name="Rectangle 3">
            <a:extLst>
              <a:ext uri="{FF2B5EF4-FFF2-40B4-BE49-F238E27FC236}">
                <a16:creationId xmlns:a16="http://schemas.microsoft.com/office/drawing/2014/main" id="{A107A275-985F-8F45-B664-34A810FD7A1C}"/>
              </a:ext>
            </a:extLst>
          </p:cNvPr>
          <p:cNvSpPr txBox="1">
            <a:spLocks noChangeArrowheads="1"/>
          </p:cNvSpPr>
          <p:nvPr/>
        </p:nvSpPr>
        <p:spPr>
          <a:xfrm>
            <a:off x="890173" y="1203947"/>
            <a:ext cx="10612713"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n substitution ciphers, M</a:t>
            </a:r>
            <a:r>
              <a:rPr lang="en-US" sz="3200" baseline="-25000" dirty="0"/>
              <a:t>1</a:t>
            </a:r>
            <a:r>
              <a:rPr lang="en-US" sz="3200" dirty="0"/>
              <a:t>,M</a:t>
            </a:r>
            <a:r>
              <a:rPr lang="en-US" sz="3200" baseline="-25000" dirty="0"/>
              <a:t>2</a:t>
            </a:r>
            <a:r>
              <a:rPr lang="en-US" sz="3200" dirty="0"/>
              <a:t>,…,M</a:t>
            </a:r>
            <a:r>
              <a:rPr lang="en-US" sz="3200" baseline="-25000" dirty="0"/>
              <a:t>n</a:t>
            </a:r>
          </a:p>
          <a:p>
            <a:r>
              <a:rPr lang="en-US" sz="3200" dirty="0"/>
              <a:t>cycling pattern:</a:t>
            </a:r>
          </a:p>
          <a:p>
            <a:pPr lvl="1"/>
            <a:r>
              <a:rPr lang="en-US" dirty="0">
                <a:solidFill>
                  <a:srgbClr val="008000"/>
                </a:solidFill>
              </a:rPr>
              <a:t>e.g., n=4: M</a:t>
            </a:r>
            <a:r>
              <a:rPr lang="en-US" baseline="-25000" dirty="0">
                <a:solidFill>
                  <a:srgbClr val="008000"/>
                </a:solidFill>
              </a:rPr>
              <a:t>1</a:t>
            </a:r>
            <a:r>
              <a:rPr lang="en-US" dirty="0">
                <a:solidFill>
                  <a:srgbClr val="008000"/>
                </a:solidFill>
              </a:rPr>
              <a:t>,M</a:t>
            </a:r>
            <a:r>
              <a:rPr lang="en-US" baseline="-25000" dirty="0">
                <a:solidFill>
                  <a:srgbClr val="008000"/>
                </a:solidFill>
              </a:rPr>
              <a:t>3</a:t>
            </a:r>
            <a:r>
              <a:rPr lang="en-US" dirty="0">
                <a:solidFill>
                  <a:srgbClr val="008000"/>
                </a:solidFill>
              </a:rPr>
              <a:t>,M</a:t>
            </a:r>
            <a:r>
              <a:rPr lang="en-US" baseline="-25000" dirty="0">
                <a:solidFill>
                  <a:srgbClr val="008000"/>
                </a:solidFill>
              </a:rPr>
              <a:t>4</a:t>
            </a:r>
            <a:r>
              <a:rPr lang="en-US" dirty="0">
                <a:solidFill>
                  <a:srgbClr val="008000"/>
                </a:solidFill>
              </a:rPr>
              <a:t>,M</a:t>
            </a:r>
            <a:r>
              <a:rPr lang="en-US" baseline="-25000" dirty="0">
                <a:solidFill>
                  <a:srgbClr val="008000"/>
                </a:solidFill>
              </a:rPr>
              <a:t>3</a:t>
            </a:r>
            <a:r>
              <a:rPr lang="en-US" dirty="0">
                <a:solidFill>
                  <a:srgbClr val="008000"/>
                </a:solidFill>
              </a:rPr>
              <a:t>,M</a:t>
            </a:r>
            <a:r>
              <a:rPr lang="en-US" baseline="-25000" dirty="0">
                <a:solidFill>
                  <a:srgbClr val="008000"/>
                </a:solidFill>
              </a:rPr>
              <a:t>2</a:t>
            </a:r>
            <a:r>
              <a:rPr lang="en-US" dirty="0">
                <a:solidFill>
                  <a:srgbClr val="008000"/>
                </a:solidFill>
              </a:rPr>
              <a:t>;   M</a:t>
            </a:r>
            <a:r>
              <a:rPr lang="en-US" baseline="-25000" dirty="0">
                <a:solidFill>
                  <a:srgbClr val="008000"/>
                </a:solidFill>
              </a:rPr>
              <a:t>1</a:t>
            </a:r>
            <a:r>
              <a:rPr lang="en-US" dirty="0">
                <a:solidFill>
                  <a:srgbClr val="008000"/>
                </a:solidFill>
              </a:rPr>
              <a:t>,M</a:t>
            </a:r>
            <a:r>
              <a:rPr lang="en-US" baseline="-25000" dirty="0">
                <a:solidFill>
                  <a:srgbClr val="008000"/>
                </a:solidFill>
              </a:rPr>
              <a:t>3</a:t>
            </a:r>
            <a:r>
              <a:rPr lang="en-US" dirty="0">
                <a:solidFill>
                  <a:srgbClr val="008000"/>
                </a:solidFill>
              </a:rPr>
              <a:t>,M</a:t>
            </a:r>
            <a:r>
              <a:rPr lang="en-US" baseline="-25000" dirty="0">
                <a:solidFill>
                  <a:srgbClr val="008000"/>
                </a:solidFill>
              </a:rPr>
              <a:t>4</a:t>
            </a:r>
            <a:r>
              <a:rPr lang="en-US" dirty="0">
                <a:solidFill>
                  <a:srgbClr val="008000"/>
                </a:solidFill>
              </a:rPr>
              <a:t>,M</a:t>
            </a:r>
            <a:r>
              <a:rPr lang="en-US" baseline="-25000" dirty="0">
                <a:solidFill>
                  <a:srgbClr val="008000"/>
                </a:solidFill>
              </a:rPr>
              <a:t>3</a:t>
            </a:r>
            <a:r>
              <a:rPr lang="en-US" dirty="0">
                <a:solidFill>
                  <a:srgbClr val="008000"/>
                </a:solidFill>
              </a:rPr>
              <a:t>,M</a:t>
            </a:r>
            <a:r>
              <a:rPr lang="en-US" baseline="-25000" dirty="0">
                <a:solidFill>
                  <a:srgbClr val="008000"/>
                </a:solidFill>
              </a:rPr>
              <a:t>2</a:t>
            </a:r>
            <a:r>
              <a:rPr lang="en-US" dirty="0">
                <a:solidFill>
                  <a:srgbClr val="008000"/>
                </a:solidFill>
              </a:rPr>
              <a:t>;</a:t>
            </a:r>
            <a:r>
              <a:rPr lang="en-US" dirty="0"/>
              <a:t> ..</a:t>
            </a:r>
          </a:p>
          <a:p>
            <a:r>
              <a:rPr lang="en-US" sz="3200" dirty="0"/>
              <a:t>for each new plaintext symbol, use subsequent substitution pattern in cyclic pattern</a:t>
            </a:r>
          </a:p>
          <a:p>
            <a:pPr lvl="1"/>
            <a:r>
              <a:rPr lang="en-US" dirty="0">
                <a:solidFill>
                  <a:srgbClr val="008000"/>
                </a:solidFill>
              </a:rPr>
              <a:t>dog: d from M</a:t>
            </a:r>
            <a:r>
              <a:rPr lang="en-US" baseline="-25000" dirty="0">
                <a:solidFill>
                  <a:srgbClr val="008000"/>
                </a:solidFill>
              </a:rPr>
              <a:t>1</a:t>
            </a:r>
            <a:r>
              <a:rPr lang="en-US" dirty="0">
                <a:solidFill>
                  <a:srgbClr val="008000"/>
                </a:solidFill>
              </a:rPr>
              <a:t>, o from M</a:t>
            </a:r>
            <a:r>
              <a:rPr lang="en-US" baseline="-25000" dirty="0">
                <a:solidFill>
                  <a:srgbClr val="008000"/>
                </a:solidFill>
              </a:rPr>
              <a:t>3</a:t>
            </a:r>
            <a:r>
              <a:rPr lang="en-US" dirty="0">
                <a:solidFill>
                  <a:srgbClr val="008000"/>
                </a:solidFill>
              </a:rPr>
              <a:t>, g from M</a:t>
            </a:r>
            <a:r>
              <a:rPr lang="en-US" baseline="-25000" dirty="0">
                <a:solidFill>
                  <a:srgbClr val="008000"/>
                </a:solidFill>
              </a:rPr>
              <a:t>4</a:t>
            </a:r>
          </a:p>
          <a:p>
            <a:pPr lvl="1">
              <a:buFont typeface="Wingdings" charset="0"/>
              <a:buNone/>
            </a:pPr>
            <a:endParaRPr lang="en-US" baseline="-25000" dirty="0">
              <a:solidFill>
                <a:srgbClr val="008000"/>
              </a:solidFill>
              <a:latin typeface="Gill Sans MT" charset="0"/>
            </a:endParaRPr>
          </a:p>
          <a:p>
            <a:pPr lvl="1">
              <a:buFont typeface="Wingdings" charset="0"/>
              <a:buNone/>
            </a:pPr>
            <a:r>
              <a:rPr lang="en-US" sz="3200" i="1" dirty="0">
                <a:solidFill>
                  <a:srgbClr val="C00000"/>
                </a:solidFill>
              </a:rPr>
              <a:t>Encryption key: </a:t>
            </a:r>
            <a:r>
              <a:rPr lang="en-US" sz="3200" dirty="0"/>
              <a:t>n substitution ciphers, and cyclic pattern</a:t>
            </a:r>
          </a:p>
          <a:p>
            <a:pPr lvl="1"/>
            <a:r>
              <a:rPr lang="en-US" sz="2800" dirty="0"/>
              <a:t>key need not be just n-bit pattern</a:t>
            </a:r>
          </a:p>
        </p:txBody>
      </p:sp>
      <p:pic>
        <p:nvPicPr>
          <p:cNvPr id="15" name="Picture 25" descr="BS00768_[1]">
            <a:extLst>
              <a:ext uri="{FF2B5EF4-FFF2-40B4-BE49-F238E27FC236}">
                <a16:creationId xmlns:a16="http://schemas.microsoft.com/office/drawing/2014/main" id="{0AEAE18D-B61A-BC45-AE08-B0E69B12A1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flipV="1">
            <a:off x="807624" y="4524997"/>
            <a:ext cx="465137"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8096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Symmetric key crypto: DES</a:t>
            </a:r>
            <a:endParaRPr lang="en-US" sz="4400" dirty="0"/>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33</a:t>
            </a:fld>
            <a:endParaRPr lang="en-US" dirty="0"/>
          </a:p>
        </p:txBody>
      </p:sp>
      <p:sp>
        <p:nvSpPr>
          <p:cNvPr id="6" name="Rectangle 3">
            <a:extLst>
              <a:ext uri="{FF2B5EF4-FFF2-40B4-BE49-F238E27FC236}">
                <a16:creationId xmlns:a16="http://schemas.microsoft.com/office/drawing/2014/main" id="{5937BF43-2D44-0746-9CC6-CB87B013203F}"/>
              </a:ext>
            </a:extLst>
          </p:cNvPr>
          <p:cNvSpPr txBox="1">
            <a:spLocks noChangeArrowheads="1"/>
          </p:cNvSpPr>
          <p:nvPr/>
        </p:nvSpPr>
        <p:spPr>
          <a:xfrm>
            <a:off x="910743" y="1233004"/>
            <a:ext cx="11055970" cy="5008770"/>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0"/>
              <a:buNone/>
            </a:pPr>
            <a:r>
              <a:rPr lang="en-US" sz="3200" dirty="0">
                <a:solidFill>
                  <a:srgbClr val="C00000"/>
                </a:solidFill>
              </a:rPr>
              <a:t>DES: Data Encryption Standard</a:t>
            </a:r>
            <a:endParaRPr lang="en-US" dirty="0">
              <a:solidFill>
                <a:srgbClr val="C00000"/>
              </a:solidFill>
            </a:endParaRPr>
          </a:p>
          <a:p>
            <a:r>
              <a:rPr lang="en-US" dirty="0"/>
              <a:t>US encryption standard [NIST 1993]</a:t>
            </a:r>
          </a:p>
          <a:p>
            <a:r>
              <a:rPr lang="en-US" dirty="0"/>
              <a:t>56-bit symmetric key, 64-bit plaintext input</a:t>
            </a:r>
          </a:p>
          <a:p>
            <a:r>
              <a:rPr lang="en-US" dirty="0"/>
              <a:t>block cipher with cipher block chaining</a:t>
            </a:r>
          </a:p>
          <a:p>
            <a:r>
              <a:rPr lang="en-US" dirty="0"/>
              <a:t>how secure is DES?</a:t>
            </a:r>
          </a:p>
          <a:p>
            <a:pPr lvl="1"/>
            <a:r>
              <a:rPr lang="en-US" sz="2800" dirty="0"/>
              <a:t>DES Challenge: 56-bit-key-encrypted phrase  decrypted (brute force) in less than a day</a:t>
            </a:r>
          </a:p>
          <a:p>
            <a:pPr lvl="1"/>
            <a:r>
              <a:rPr lang="en-US" sz="2800" dirty="0"/>
              <a:t>no known good analytic attack</a:t>
            </a:r>
          </a:p>
          <a:p>
            <a:r>
              <a:rPr lang="en-US" dirty="0"/>
              <a:t>making DES more secure:</a:t>
            </a:r>
          </a:p>
          <a:p>
            <a:pPr lvl="1"/>
            <a:r>
              <a:rPr lang="en-US" sz="4400" b="1" dirty="0">
                <a:solidFill>
                  <a:srgbClr val="FF0000"/>
                </a:solidFill>
              </a:rPr>
              <a:t>3DES: encrypt 3 times with 3 different keys</a:t>
            </a:r>
          </a:p>
        </p:txBody>
      </p:sp>
    </p:spTree>
    <p:extLst>
      <p:ext uri="{BB962C8B-B14F-4D97-AF65-F5344CB8AC3E}">
        <p14:creationId xmlns:p14="http://schemas.microsoft.com/office/powerpoint/2010/main" val="4038952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AES: Advanced Encryption Standard</a:t>
            </a:r>
            <a:endParaRPr lang="en-US" sz="4400" dirty="0"/>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34</a:t>
            </a:fld>
            <a:endParaRPr lang="en-US" dirty="0"/>
          </a:p>
        </p:txBody>
      </p:sp>
      <p:sp>
        <p:nvSpPr>
          <p:cNvPr id="11" name="Rectangle 3">
            <a:extLst>
              <a:ext uri="{FF2B5EF4-FFF2-40B4-BE49-F238E27FC236}">
                <a16:creationId xmlns:a16="http://schemas.microsoft.com/office/drawing/2014/main" id="{7D667AF7-BF48-5243-985F-E9DDCE1AFF39}"/>
              </a:ext>
            </a:extLst>
          </p:cNvPr>
          <p:cNvSpPr txBox="1">
            <a:spLocks noChangeArrowheads="1"/>
          </p:cNvSpPr>
          <p:nvPr/>
        </p:nvSpPr>
        <p:spPr>
          <a:xfrm>
            <a:off x="851452" y="1524000"/>
            <a:ext cx="10677939"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symmetric-key NIST standard, replaced DES (Nov 2001)</a:t>
            </a:r>
          </a:p>
          <a:p>
            <a:r>
              <a:rPr lang="en-US" sz="3200" dirty="0"/>
              <a:t>processes data in 128 bit blocks</a:t>
            </a:r>
          </a:p>
          <a:p>
            <a:r>
              <a:rPr lang="en-US" sz="3200" dirty="0"/>
              <a:t>128, 192, or 256 bit keys</a:t>
            </a:r>
          </a:p>
          <a:p>
            <a:r>
              <a:rPr lang="en-US" sz="3200" dirty="0"/>
              <a:t>brute force decryption (try each key) taking 1 sec on DES, takes 149 trillion years for AES</a:t>
            </a:r>
          </a:p>
        </p:txBody>
      </p:sp>
    </p:spTree>
    <p:extLst>
      <p:ext uri="{BB962C8B-B14F-4D97-AF65-F5344CB8AC3E}">
        <p14:creationId xmlns:p14="http://schemas.microsoft.com/office/powerpoint/2010/main" val="9921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Public Key Cryptography</a:t>
            </a:r>
            <a:endParaRPr lang="en-US" sz="4400" dirty="0"/>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35</a:t>
            </a:fld>
            <a:endParaRPr lang="en-US" dirty="0"/>
          </a:p>
        </p:txBody>
      </p:sp>
      <p:pic>
        <p:nvPicPr>
          <p:cNvPr id="49" name="Picture 5" descr="Alice">
            <a:extLst>
              <a:ext uri="{FF2B5EF4-FFF2-40B4-BE49-F238E27FC236}">
                <a16:creationId xmlns:a16="http://schemas.microsoft.com/office/drawing/2014/main" id="{DA4FFCE3-3AE4-544C-8D5B-C3BA43672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6539" y="2922312"/>
            <a:ext cx="511175" cy="630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7" name="Picture 12" descr="Bob">
            <a:extLst>
              <a:ext uri="{FF2B5EF4-FFF2-40B4-BE49-F238E27FC236}">
                <a16:creationId xmlns:a16="http://schemas.microsoft.com/office/drawing/2014/main" id="{C0216B91-AA56-D447-82C5-145B19963B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3291" y="2939774"/>
            <a:ext cx="665162" cy="677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74" name="Group 29">
            <a:extLst>
              <a:ext uri="{FF2B5EF4-FFF2-40B4-BE49-F238E27FC236}">
                <a16:creationId xmlns:a16="http://schemas.microsoft.com/office/drawing/2014/main" id="{7BD7980D-FCF0-3C4A-93D5-EAE9F1C3020E}"/>
              </a:ext>
            </a:extLst>
          </p:cNvPr>
          <p:cNvGrpSpPr>
            <a:grpSpLocks/>
          </p:cNvGrpSpPr>
          <p:nvPr/>
        </p:nvGrpSpPr>
        <p:grpSpPr bwMode="auto">
          <a:xfrm>
            <a:off x="8642834" y="4080981"/>
            <a:ext cx="1885950" cy="636588"/>
            <a:chOff x="2413" y="3394"/>
            <a:chExt cx="1188" cy="401"/>
          </a:xfrm>
        </p:grpSpPr>
        <p:sp>
          <p:nvSpPr>
            <p:cNvPr id="75" name="Text Box 30">
              <a:extLst>
                <a:ext uri="{FF2B5EF4-FFF2-40B4-BE49-F238E27FC236}">
                  <a16:creationId xmlns:a16="http://schemas.microsoft.com/office/drawing/2014/main" id="{E2514AB3-88CA-4541-9CE9-713B944F4B58}"/>
                </a:ext>
              </a:extLst>
            </p:cNvPr>
            <p:cNvSpPr txBox="1">
              <a:spLocks noChangeArrowheads="1"/>
            </p:cNvSpPr>
            <p:nvPr/>
          </p:nvSpPr>
          <p:spPr bwMode="auto">
            <a:xfrm>
              <a:off x="2413" y="3434"/>
              <a:ext cx="1188"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dirty="0">
                  <a:solidFill>
                    <a:srgbClr val="C00000"/>
                  </a:solidFill>
                  <a:latin typeface="Arial" charset="0"/>
                  <a:cs typeface="Arial" charset="0"/>
                </a:rPr>
                <a:t>m = K  </a:t>
              </a:r>
              <a:r>
                <a:rPr lang="en-US" sz="2400" dirty="0">
                  <a:solidFill>
                    <a:srgbClr val="C00000"/>
                  </a:solidFill>
                  <a:latin typeface="Arial" charset="0"/>
                  <a:cs typeface="Arial" charset="0"/>
                </a:rPr>
                <a:t>(</a:t>
              </a:r>
              <a:r>
                <a:rPr lang="en-US" dirty="0">
                  <a:solidFill>
                    <a:srgbClr val="C00000"/>
                  </a:solidFill>
                  <a:latin typeface="Arial" charset="0"/>
                  <a:cs typeface="Arial" charset="0"/>
                </a:rPr>
                <a:t>K  (m)</a:t>
              </a:r>
              <a:r>
                <a:rPr lang="en-US" sz="2400" dirty="0">
                  <a:solidFill>
                    <a:srgbClr val="C00000"/>
                  </a:solidFill>
                  <a:latin typeface="Arial" charset="0"/>
                  <a:cs typeface="Arial" charset="0"/>
                </a:rPr>
                <a:t>)</a:t>
              </a:r>
            </a:p>
          </p:txBody>
        </p:sp>
        <p:sp>
          <p:nvSpPr>
            <p:cNvPr id="76" name="Text Box 31">
              <a:extLst>
                <a:ext uri="{FF2B5EF4-FFF2-40B4-BE49-F238E27FC236}">
                  <a16:creationId xmlns:a16="http://schemas.microsoft.com/office/drawing/2014/main" id="{4153A745-501E-0545-A470-D433A0EAE7E3}"/>
                </a:ext>
              </a:extLst>
            </p:cNvPr>
            <p:cNvSpPr txBox="1">
              <a:spLocks noChangeArrowheads="1"/>
            </p:cNvSpPr>
            <p:nvPr/>
          </p:nvSpPr>
          <p:spPr bwMode="auto">
            <a:xfrm>
              <a:off x="3090" y="3582"/>
              <a:ext cx="202"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B</a:t>
              </a:r>
            </a:p>
          </p:txBody>
        </p:sp>
        <p:sp>
          <p:nvSpPr>
            <p:cNvPr id="77" name="Text Box 32">
              <a:extLst>
                <a:ext uri="{FF2B5EF4-FFF2-40B4-BE49-F238E27FC236}">
                  <a16:creationId xmlns:a16="http://schemas.microsoft.com/office/drawing/2014/main" id="{5A82004A-529C-F540-B693-8746316239FA}"/>
                </a:ext>
              </a:extLst>
            </p:cNvPr>
            <p:cNvSpPr txBox="1">
              <a:spLocks noChangeArrowheads="1"/>
            </p:cNvSpPr>
            <p:nvPr/>
          </p:nvSpPr>
          <p:spPr bwMode="auto">
            <a:xfrm>
              <a:off x="3092" y="3400"/>
              <a:ext cx="192"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a:t>
              </a:r>
            </a:p>
          </p:txBody>
        </p:sp>
        <p:sp>
          <p:nvSpPr>
            <p:cNvPr id="78" name="Text Box 33">
              <a:extLst>
                <a:ext uri="{FF2B5EF4-FFF2-40B4-BE49-F238E27FC236}">
                  <a16:creationId xmlns:a16="http://schemas.microsoft.com/office/drawing/2014/main" id="{FC50E53E-9F9B-654F-9FA8-ECCEF77A777D}"/>
                </a:ext>
              </a:extLst>
            </p:cNvPr>
            <p:cNvSpPr txBox="1">
              <a:spLocks noChangeArrowheads="1"/>
            </p:cNvSpPr>
            <p:nvPr/>
          </p:nvSpPr>
          <p:spPr bwMode="auto">
            <a:xfrm>
              <a:off x="2829" y="3570"/>
              <a:ext cx="202"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B</a:t>
              </a:r>
            </a:p>
          </p:txBody>
        </p:sp>
        <p:sp>
          <p:nvSpPr>
            <p:cNvPr id="79" name="Text Box 34">
              <a:extLst>
                <a:ext uri="{FF2B5EF4-FFF2-40B4-BE49-F238E27FC236}">
                  <a16:creationId xmlns:a16="http://schemas.microsoft.com/office/drawing/2014/main" id="{EDF2B244-5719-2F45-A42A-402B66223E28}"/>
                </a:ext>
              </a:extLst>
            </p:cNvPr>
            <p:cNvSpPr txBox="1">
              <a:spLocks noChangeArrowheads="1"/>
            </p:cNvSpPr>
            <p:nvPr/>
          </p:nvSpPr>
          <p:spPr bwMode="auto">
            <a:xfrm>
              <a:off x="2856" y="3394"/>
              <a:ext cx="160"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a:t>
              </a:r>
            </a:p>
          </p:txBody>
        </p:sp>
      </p:grpSp>
      <p:sp>
        <p:nvSpPr>
          <p:cNvPr id="83" name="Text Box 6">
            <a:extLst>
              <a:ext uri="{FF2B5EF4-FFF2-40B4-BE49-F238E27FC236}">
                <a16:creationId xmlns:a16="http://schemas.microsoft.com/office/drawing/2014/main" id="{6CC01E21-09EC-DC40-8599-EEA1BC508605}"/>
              </a:ext>
            </a:extLst>
          </p:cNvPr>
          <p:cNvSpPr txBox="1">
            <a:spLocks noChangeArrowheads="1"/>
          </p:cNvSpPr>
          <p:nvPr/>
        </p:nvSpPr>
        <p:spPr bwMode="auto">
          <a:xfrm>
            <a:off x="8602043" y="3584964"/>
            <a:ext cx="1279525" cy="4619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plaintext</a:t>
            </a:r>
          </a:p>
        </p:txBody>
      </p:sp>
      <p:sp>
        <p:nvSpPr>
          <p:cNvPr id="84" name="Rectangle 13">
            <a:extLst>
              <a:ext uri="{FF2B5EF4-FFF2-40B4-BE49-F238E27FC236}">
                <a16:creationId xmlns:a16="http://schemas.microsoft.com/office/drawing/2014/main" id="{889B7A33-37EE-4D46-B817-164D2D6B64D9}"/>
              </a:ext>
            </a:extLst>
          </p:cNvPr>
          <p:cNvSpPr>
            <a:spLocks noChangeArrowheads="1"/>
          </p:cNvSpPr>
          <p:nvPr/>
        </p:nvSpPr>
        <p:spPr bwMode="auto">
          <a:xfrm>
            <a:off x="3165891" y="3632411"/>
            <a:ext cx="1433513" cy="860425"/>
          </a:xfrm>
          <a:prstGeom prst="rect">
            <a:avLst/>
          </a:prstGeom>
          <a:solidFill>
            <a:srgbClr val="0012A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p>
            <a:endParaRPr lang="en-US" sz="2000" dirty="0">
              <a:cs typeface="Arial" charset="0"/>
            </a:endParaRPr>
          </a:p>
        </p:txBody>
      </p:sp>
      <p:sp>
        <p:nvSpPr>
          <p:cNvPr id="85" name="Text Box 14">
            <a:extLst>
              <a:ext uri="{FF2B5EF4-FFF2-40B4-BE49-F238E27FC236}">
                <a16:creationId xmlns:a16="http://schemas.microsoft.com/office/drawing/2014/main" id="{ECBBD5A2-07AE-1344-92CC-97064DC6F33D}"/>
              </a:ext>
            </a:extLst>
          </p:cNvPr>
          <p:cNvSpPr txBox="1">
            <a:spLocks noChangeArrowheads="1"/>
          </p:cNvSpPr>
          <p:nvPr/>
        </p:nvSpPr>
        <p:spPr bwMode="auto">
          <a:xfrm>
            <a:off x="3099216" y="3700674"/>
            <a:ext cx="1536700" cy="757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90000"/>
              </a:lnSpc>
            </a:pPr>
            <a:r>
              <a:rPr lang="en-US" sz="2400" dirty="0">
                <a:solidFill>
                  <a:schemeClr val="bg1"/>
                </a:solidFill>
                <a:latin typeface="+mn-lt"/>
                <a:cs typeface="Arial" charset="0"/>
              </a:rPr>
              <a:t>encryption</a:t>
            </a:r>
          </a:p>
          <a:p>
            <a:pPr algn="ctr">
              <a:lnSpc>
                <a:spcPct val="90000"/>
              </a:lnSpc>
            </a:pPr>
            <a:r>
              <a:rPr lang="en-US" sz="2400" dirty="0">
                <a:solidFill>
                  <a:schemeClr val="bg1"/>
                </a:solidFill>
                <a:latin typeface="+mn-lt"/>
                <a:cs typeface="Arial" charset="0"/>
              </a:rPr>
              <a:t>algorithm</a:t>
            </a:r>
          </a:p>
        </p:txBody>
      </p:sp>
      <p:sp>
        <p:nvSpPr>
          <p:cNvPr id="86" name="Rectangle 15">
            <a:extLst>
              <a:ext uri="{FF2B5EF4-FFF2-40B4-BE49-F238E27FC236}">
                <a16:creationId xmlns:a16="http://schemas.microsoft.com/office/drawing/2014/main" id="{60AEB48B-8CF1-8E42-A0B2-02C05B89BCA7}"/>
              </a:ext>
            </a:extLst>
          </p:cNvPr>
          <p:cNvSpPr>
            <a:spLocks noChangeArrowheads="1"/>
          </p:cNvSpPr>
          <p:nvPr/>
        </p:nvSpPr>
        <p:spPr bwMode="auto">
          <a:xfrm>
            <a:off x="6907628" y="3646699"/>
            <a:ext cx="1460500" cy="854075"/>
          </a:xfrm>
          <a:prstGeom prst="rect">
            <a:avLst/>
          </a:prstGeom>
          <a:solidFill>
            <a:srgbClr val="0012A0"/>
          </a:solidFill>
          <a:ln w="9525">
            <a:solidFill>
              <a:schemeClr val="tx1"/>
            </a:solidFill>
            <a:miter lim="800000"/>
            <a:headEnd/>
            <a:tailEnd/>
          </a:ln>
          <a:effectLst>
            <a:outerShdw blurRad="50800" dist="38100" dir="18900000" algn="bl" rotWithShape="0">
              <a:prstClr val="black">
                <a:alpha val="40000"/>
              </a:prstClr>
            </a:outerShdw>
          </a:effectLst>
        </p:spPr>
        <p:txBody>
          <a:bodyPr wrap="none" anchor="ctr"/>
          <a:lstStyle/>
          <a:p>
            <a:endParaRPr lang="en-US" sz="2000" dirty="0">
              <a:cs typeface="Arial" charset="0"/>
            </a:endParaRPr>
          </a:p>
        </p:txBody>
      </p:sp>
      <p:sp>
        <p:nvSpPr>
          <p:cNvPr id="87" name="Text Box 16">
            <a:extLst>
              <a:ext uri="{FF2B5EF4-FFF2-40B4-BE49-F238E27FC236}">
                <a16:creationId xmlns:a16="http://schemas.microsoft.com/office/drawing/2014/main" id="{638D795E-2C6D-CB48-9019-7A6554CD359D}"/>
              </a:ext>
            </a:extLst>
          </p:cNvPr>
          <p:cNvSpPr txBox="1">
            <a:spLocks noChangeArrowheads="1"/>
          </p:cNvSpPr>
          <p:nvPr/>
        </p:nvSpPr>
        <p:spPr bwMode="auto">
          <a:xfrm>
            <a:off x="6834603" y="3711786"/>
            <a:ext cx="1604963" cy="757238"/>
          </a:xfrm>
          <a:prstGeom prst="rect">
            <a:avLst/>
          </a:prstGeom>
          <a:noFill/>
          <a:ln>
            <a:noFill/>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90000"/>
              </a:lnSpc>
            </a:pPr>
            <a:r>
              <a:rPr lang="en-US" sz="2400" dirty="0">
                <a:solidFill>
                  <a:schemeClr val="bg1"/>
                </a:solidFill>
                <a:latin typeface="+mn-lt"/>
                <a:cs typeface="Arial" charset="0"/>
              </a:rPr>
              <a:t>decryption </a:t>
            </a:r>
          </a:p>
          <a:p>
            <a:pPr algn="ctr">
              <a:lnSpc>
                <a:spcPct val="90000"/>
              </a:lnSpc>
            </a:pPr>
            <a:r>
              <a:rPr lang="en-US" sz="2400" dirty="0">
                <a:solidFill>
                  <a:schemeClr val="bg1"/>
                </a:solidFill>
                <a:latin typeface="+mn-lt"/>
                <a:cs typeface="Arial" charset="0"/>
              </a:rPr>
              <a:t>algorithm</a:t>
            </a:r>
          </a:p>
        </p:txBody>
      </p:sp>
      <p:cxnSp>
        <p:nvCxnSpPr>
          <p:cNvPr id="88" name="Straight Arrow Connector 87">
            <a:extLst>
              <a:ext uri="{FF2B5EF4-FFF2-40B4-BE49-F238E27FC236}">
                <a16:creationId xmlns:a16="http://schemas.microsoft.com/office/drawing/2014/main" id="{9426637B-377D-7B4D-99F1-F721A3FF4606}"/>
              </a:ext>
            </a:extLst>
          </p:cNvPr>
          <p:cNvCxnSpPr/>
          <p:nvPr/>
        </p:nvCxnSpPr>
        <p:spPr>
          <a:xfrm>
            <a:off x="2213570" y="4085002"/>
            <a:ext cx="851338"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9108EBEE-85B2-AD4A-ACE2-254B3FCAB316}"/>
              </a:ext>
            </a:extLst>
          </p:cNvPr>
          <p:cNvCxnSpPr/>
          <p:nvPr/>
        </p:nvCxnSpPr>
        <p:spPr>
          <a:xfrm>
            <a:off x="8488474" y="4065124"/>
            <a:ext cx="851338"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1AA03BC1-BA79-2B42-9CE7-DBF51217C896}"/>
              </a:ext>
            </a:extLst>
          </p:cNvPr>
          <p:cNvCxnSpPr>
            <a:cxnSpLocks/>
          </p:cNvCxnSpPr>
          <p:nvPr/>
        </p:nvCxnSpPr>
        <p:spPr>
          <a:xfrm>
            <a:off x="4683168" y="4030613"/>
            <a:ext cx="2172900"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00A1163E-E166-654E-B7B1-EF42611270BE}"/>
              </a:ext>
            </a:extLst>
          </p:cNvPr>
          <p:cNvGrpSpPr/>
          <p:nvPr/>
        </p:nvGrpSpPr>
        <p:grpSpPr>
          <a:xfrm>
            <a:off x="4967149" y="3589893"/>
            <a:ext cx="1455738" cy="1044298"/>
            <a:chOff x="4967149" y="3589893"/>
            <a:chExt cx="1455738" cy="1044298"/>
          </a:xfrm>
        </p:grpSpPr>
        <p:grpSp>
          <p:nvGrpSpPr>
            <p:cNvPr id="62" name="Group 17">
              <a:extLst>
                <a:ext uri="{FF2B5EF4-FFF2-40B4-BE49-F238E27FC236}">
                  <a16:creationId xmlns:a16="http://schemas.microsoft.com/office/drawing/2014/main" id="{BF5A27BD-7C5D-CD46-AACC-04980CD415EA}"/>
                </a:ext>
              </a:extLst>
            </p:cNvPr>
            <p:cNvGrpSpPr>
              <a:grpSpLocks/>
            </p:cNvGrpSpPr>
            <p:nvPr/>
          </p:nvGrpSpPr>
          <p:grpSpPr bwMode="auto">
            <a:xfrm>
              <a:off x="5266429" y="4016653"/>
              <a:ext cx="876300" cy="617538"/>
              <a:chOff x="2351" y="2077"/>
              <a:chExt cx="552" cy="389"/>
            </a:xfrm>
          </p:grpSpPr>
          <p:sp>
            <p:nvSpPr>
              <p:cNvPr id="63" name="Text Box 18">
                <a:extLst>
                  <a:ext uri="{FF2B5EF4-FFF2-40B4-BE49-F238E27FC236}">
                    <a16:creationId xmlns:a16="http://schemas.microsoft.com/office/drawing/2014/main" id="{6A92BBF9-E8F3-DF4A-ADAE-98CEF3966B61}"/>
                  </a:ext>
                </a:extLst>
              </p:cNvPr>
              <p:cNvSpPr txBox="1">
                <a:spLocks noChangeArrowheads="1"/>
              </p:cNvSpPr>
              <p:nvPr/>
            </p:nvSpPr>
            <p:spPr bwMode="auto">
              <a:xfrm>
                <a:off x="2351" y="2132"/>
                <a:ext cx="55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dirty="0">
                    <a:solidFill>
                      <a:srgbClr val="C00000"/>
                    </a:solidFill>
                    <a:latin typeface="Arial" charset="0"/>
                    <a:cs typeface="Arial" charset="0"/>
                  </a:rPr>
                  <a:t>K  (m)</a:t>
                </a:r>
              </a:p>
            </p:txBody>
          </p:sp>
          <p:sp>
            <p:nvSpPr>
              <p:cNvPr id="64" name="Text Box 19">
                <a:extLst>
                  <a:ext uri="{FF2B5EF4-FFF2-40B4-BE49-F238E27FC236}">
                    <a16:creationId xmlns:a16="http://schemas.microsoft.com/office/drawing/2014/main" id="{3E5AC652-46D8-0349-9928-222C0A8437DF}"/>
                  </a:ext>
                </a:extLst>
              </p:cNvPr>
              <p:cNvSpPr txBox="1">
                <a:spLocks noChangeArrowheads="1"/>
              </p:cNvSpPr>
              <p:nvPr/>
            </p:nvSpPr>
            <p:spPr bwMode="auto">
              <a:xfrm>
                <a:off x="2463" y="2253"/>
                <a:ext cx="202"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B</a:t>
                </a:r>
              </a:p>
            </p:txBody>
          </p:sp>
          <p:sp>
            <p:nvSpPr>
              <p:cNvPr id="65" name="Text Box 20">
                <a:extLst>
                  <a:ext uri="{FF2B5EF4-FFF2-40B4-BE49-F238E27FC236}">
                    <a16:creationId xmlns:a16="http://schemas.microsoft.com/office/drawing/2014/main" id="{D038288E-5776-3D44-97D8-AA1FCEB5AE3A}"/>
                  </a:ext>
                </a:extLst>
              </p:cNvPr>
              <p:cNvSpPr txBox="1">
                <a:spLocks noChangeArrowheads="1"/>
              </p:cNvSpPr>
              <p:nvPr/>
            </p:nvSpPr>
            <p:spPr bwMode="auto">
              <a:xfrm>
                <a:off x="2468" y="2077"/>
                <a:ext cx="192"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a:t>
                </a:r>
              </a:p>
            </p:txBody>
          </p:sp>
        </p:grpSp>
        <p:sp>
          <p:nvSpPr>
            <p:cNvPr id="91" name="Text Box 7">
              <a:extLst>
                <a:ext uri="{FF2B5EF4-FFF2-40B4-BE49-F238E27FC236}">
                  <a16:creationId xmlns:a16="http://schemas.microsoft.com/office/drawing/2014/main" id="{D5A73CC5-A226-834C-9D98-B404C12AFAEF}"/>
                </a:ext>
              </a:extLst>
            </p:cNvPr>
            <p:cNvSpPr txBox="1">
              <a:spLocks noChangeArrowheads="1"/>
            </p:cNvSpPr>
            <p:nvPr/>
          </p:nvSpPr>
          <p:spPr bwMode="auto">
            <a:xfrm>
              <a:off x="4967149" y="3589893"/>
              <a:ext cx="1455738" cy="461963"/>
            </a:xfrm>
            <a:prstGeom prst="rect">
              <a:avLst/>
            </a:prstGeom>
            <a:no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solidFill>
                    <a:srgbClr val="C00000"/>
                  </a:solidFill>
                  <a:latin typeface="+mn-lt"/>
                  <a:cs typeface="Arial" charset="0"/>
                </a:rPr>
                <a:t>ciphertext</a:t>
              </a:r>
            </a:p>
          </p:txBody>
        </p:sp>
      </p:grpSp>
      <p:sp>
        <p:nvSpPr>
          <p:cNvPr id="94" name="Text Box 3">
            <a:extLst>
              <a:ext uri="{FF2B5EF4-FFF2-40B4-BE49-F238E27FC236}">
                <a16:creationId xmlns:a16="http://schemas.microsoft.com/office/drawing/2014/main" id="{A06E7808-C2D2-D044-B709-E24B5275C3C4}"/>
              </a:ext>
            </a:extLst>
          </p:cNvPr>
          <p:cNvSpPr txBox="1">
            <a:spLocks noChangeArrowheads="1"/>
          </p:cNvSpPr>
          <p:nvPr/>
        </p:nvSpPr>
        <p:spPr bwMode="auto">
          <a:xfrm>
            <a:off x="1322224" y="3626817"/>
            <a:ext cx="1661032" cy="830997"/>
          </a:xfrm>
          <a:prstGeom prst="rect">
            <a:avLst/>
          </a:prstGeom>
          <a:no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mn-lt"/>
                <a:ea typeface="ＭＳ Ｐゴシック" charset="0"/>
                <a:cs typeface="Arial" charset="0"/>
              </a:rPr>
              <a:t>plaintext</a:t>
            </a:r>
          </a:p>
          <a:p>
            <a:pPr marL="0" marR="0" lvl="0" indent="0" algn="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mn-lt"/>
                <a:ea typeface="ＭＳ Ｐゴシック" charset="0"/>
                <a:cs typeface="Arial" charset="0"/>
              </a:rPr>
              <a:t>message, m</a:t>
            </a:r>
          </a:p>
        </p:txBody>
      </p:sp>
      <p:grpSp>
        <p:nvGrpSpPr>
          <p:cNvPr id="106" name="Group 105">
            <a:extLst>
              <a:ext uri="{FF2B5EF4-FFF2-40B4-BE49-F238E27FC236}">
                <a16:creationId xmlns:a16="http://schemas.microsoft.com/office/drawing/2014/main" id="{C1E97B71-D008-454C-9F25-22FF4C7E0BB4}"/>
              </a:ext>
            </a:extLst>
          </p:cNvPr>
          <p:cNvGrpSpPr/>
          <p:nvPr/>
        </p:nvGrpSpPr>
        <p:grpSpPr>
          <a:xfrm>
            <a:off x="4104379" y="1485072"/>
            <a:ext cx="6487083" cy="2066511"/>
            <a:chOff x="4104379" y="1485072"/>
            <a:chExt cx="6487083" cy="2066511"/>
          </a:xfrm>
        </p:grpSpPr>
        <p:pic>
          <p:nvPicPr>
            <p:cNvPr id="60" name="Picture 15" descr="BS00768_[1]">
              <a:extLst>
                <a:ext uri="{FF2B5EF4-FFF2-40B4-BE49-F238E27FC236}">
                  <a16:creationId xmlns:a16="http://schemas.microsoft.com/office/drawing/2014/main" id="{2560A757-A38F-AC4E-B091-353015A35D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6934543" y="1680887"/>
              <a:ext cx="458787" cy="236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 name="Text Box 21">
              <a:extLst>
                <a:ext uri="{FF2B5EF4-FFF2-40B4-BE49-F238E27FC236}">
                  <a16:creationId xmlns:a16="http://schemas.microsoft.com/office/drawing/2014/main" id="{50806497-41D8-2E4E-B50D-F7BB60F0F4A9}"/>
                </a:ext>
              </a:extLst>
            </p:cNvPr>
            <p:cNvSpPr txBox="1">
              <a:spLocks noChangeArrowheads="1"/>
            </p:cNvSpPr>
            <p:nvPr/>
          </p:nvSpPr>
          <p:spPr bwMode="auto">
            <a:xfrm>
              <a:off x="7404926" y="1585085"/>
              <a:ext cx="42545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dirty="0">
                  <a:solidFill>
                    <a:srgbClr val="C00000"/>
                  </a:solidFill>
                  <a:latin typeface="Arial" charset="0"/>
                  <a:cs typeface="Arial" charset="0"/>
                </a:rPr>
                <a:t>K </a:t>
              </a:r>
            </a:p>
          </p:txBody>
        </p:sp>
        <p:sp>
          <p:nvSpPr>
            <p:cNvPr id="67" name="Text Box 22">
              <a:extLst>
                <a:ext uri="{FF2B5EF4-FFF2-40B4-BE49-F238E27FC236}">
                  <a16:creationId xmlns:a16="http://schemas.microsoft.com/office/drawing/2014/main" id="{CE859CC3-670B-FC49-A3AF-C82F3C2E734A}"/>
                </a:ext>
              </a:extLst>
            </p:cNvPr>
            <p:cNvSpPr txBox="1">
              <a:spLocks noChangeArrowheads="1"/>
            </p:cNvSpPr>
            <p:nvPr/>
          </p:nvSpPr>
          <p:spPr bwMode="auto">
            <a:xfrm>
              <a:off x="7549389" y="1764472"/>
              <a:ext cx="322262"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B</a:t>
              </a:r>
            </a:p>
          </p:txBody>
        </p:sp>
        <p:sp>
          <p:nvSpPr>
            <p:cNvPr id="68" name="Text Box 23">
              <a:extLst>
                <a:ext uri="{FF2B5EF4-FFF2-40B4-BE49-F238E27FC236}">
                  <a16:creationId xmlns:a16="http://schemas.microsoft.com/office/drawing/2014/main" id="{598ECE34-7F25-8C4E-BDB3-B5BFD35BB96A}"/>
                </a:ext>
              </a:extLst>
            </p:cNvPr>
            <p:cNvSpPr txBox="1">
              <a:spLocks noChangeArrowheads="1"/>
            </p:cNvSpPr>
            <p:nvPr/>
          </p:nvSpPr>
          <p:spPr bwMode="auto">
            <a:xfrm>
              <a:off x="7557326" y="1485072"/>
              <a:ext cx="304800"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a:t>
              </a:r>
            </a:p>
          </p:txBody>
        </p:sp>
        <p:grpSp>
          <p:nvGrpSpPr>
            <p:cNvPr id="104" name="Group 103">
              <a:extLst>
                <a:ext uri="{FF2B5EF4-FFF2-40B4-BE49-F238E27FC236}">
                  <a16:creationId xmlns:a16="http://schemas.microsoft.com/office/drawing/2014/main" id="{45947757-0EAA-384F-AF69-755E3F48343B}"/>
                </a:ext>
              </a:extLst>
            </p:cNvPr>
            <p:cNvGrpSpPr/>
            <p:nvPr/>
          </p:nvGrpSpPr>
          <p:grpSpPr>
            <a:xfrm>
              <a:off x="4104379" y="1524760"/>
              <a:ext cx="6487083" cy="2026823"/>
              <a:chOff x="4104379" y="1524760"/>
              <a:chExt cx="6487083" cy="2026823"/>
            </a:xfrm>
          </p:grpSpPr>
          <p:sp>
            <p:nvSpPr>
              <p:cNvPr id="56" name="Text Box 11">
                <a:extLst>
                  <a:ext uri="{FF2B5EF4-FFF2-40B4-BE49-F238E27FC236}">
                    <a16:creationId xmlns:a16="http://schemas.microsoft.com/office/drawing/2014/main" id="{EC4974E1-78D0-CA46-A1E0-4780A77AB36D}"/>
                  </a:ext>
                </a:extLst>
              </p:cNvPr>
              <p:cNvSpPr txBox="1">
                <a:spLocks noChangeArrowheads="1"/>
              </p:cNvSpPr>
              <p:nvPr/>
            </p:nvSpPr>
            <p:spPr bwMode="auto">
              <a:xfrm>
                <a:off x="7855026" y="1524760"/>
                <a:ext cx="2736436" cy="461665"/>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mn-lt"/>
                    <a:ea typeface="ＭＳ Ｐゴシック" charset="0"/>
                    <a:cs typeface="Arial" charset="0"/>
                  </a:rPr>
                  <a:t>Bob</a:t>
                </a:r>
                <a:r>
                  <a:rPr lang="en-US" sz="2400" kern="0" dirty="0">
                    <a:solidFill>
                      <a:srgbClr val="000000"/>
                    </a:solidFill>
                    <a:latin typeface="+mn-lt"/>
                    <a:cs typeface="Arial" charset="0"/>
                  </a:rPr>
                  <a:t>’</a:t>
                </a:r>
                <a:r>
                  <a:rPr kumimoji="0" lang="en-US" altLang="ja-JP" sz="2400" b="0" i="0" u="none" strike="noStrike" kern="0" cap="none" spc="0" normalizeH="0" baseline="0" noProof="0" dirty="0">
                    <a:ln>
                      <a:noFill/>
                    </a:ln>
                    <a:solidFill>
                      <a:srgbClr val="000000"/>
                    </a:solidFill>
                    <a:effectLst/>
                    <a:uLnTx/>
                    <a:uFillTx/>
                    <a:latin typeface="+mn-lt"/>
                    <a:ea typeface="ＭＳ Ｐゴシック" charset="0"/>
                    <a:cs typeface="Arial" charset="0"/>
                  </a:rPr>
                  <a:t>s </a:t>
                </a:r>
                <a:r>
                  <a:rPr kumimoji="0" lang="en-US" altLang="ja-JP" sz="2400" b="0" i="1" strike="noStrike" kern="0" cap="none" spc="0" normalizeH="0" baseline="0" noProof="0" dirty="0">
                    <a:ln>
                      <a:noFill/>
                    </a:ln>
                    <a:solidFill>
                      <a:srgbClr val="C00000"/>
                    </a:solidFill>
                    <a:effectLst/>
                    <a:uLnTx/>
                    <a:uFillTx/>
                    <a:latin typeface="+mn-lt"/>
                    <a:ea typeface="ＭＳ Ｐゴシック" charset="0"/>
                    <a:cs typeface="Arial" charset="0"/>
                  </a:rPr>
                  <a:t>public</a:t>
                </a:r>
                <a:r>
                  <a:rPr kumimoji="0" lang="en-US" sz="2400" b="0" i="0" u="none" strike="noStrike" kern="0" cap="none" spc="0" normalizeH="0" baseline="0" noProof="0" dirty="0">
                    <a:ln>
                      <a:noFill/>
                    </a:ln>
                    <a:solidFill>
                      <a:srgbClr val="000000"/>
                    </a:solidFill>
                    <a:effectLst/>
                    <a:uLnTx/>
                    <a:uFillTx/>
                    <a:latin typeface="+mn-lt"/>
                    <a:ea typeface="ＭＳ Ｐゴシック" charset="0"/>
                    <a:cs typeface="Arial" charset="0"/>
                  </a:rPr>
                  <a:t> key </a:t>
                </a:r>
              </a:p>
            </p:txBody>
          </p:sp>
          <p:cxnSp>
            <p:nvCxnSpPr>
              <p:cNvPr id="4" name="Straight Arrow Connector 3">
                <a:extLst>
                  <a:ext uri="{FF2B5EF4-FFF2-40B4-BE49-F238E27FC236}">
                    <a16:creationId xmlns:a16="http://schemas.microsoft.com/office/drawing/2014/main" id="{70DAC614-E588-2544-93E7-C7BF64B0D197}"/>
                  </a:ext>
                </a:extLst>
              </p:cNvPr>
              <p:cNvCxnSpPr>
                <a:cxnSpLocks/>
              </p:cNvCxnSpPr>
              <p:nvPr/>
            </p:nvCxnSpPr>
            <p:spPr>
              <a:xfrm>
                <a:off x="4115146" y="1800985"/>
                <a:ext cx="19532" cy="1750598"/>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71B6B11D-ECAA-4143-AB7E-D47E640789E1}"/>
                  </a:ext>
                </a:extLst>
              </p:cNvPr>
              <p:cNvCxnSpPr>
                <a:cxnSpLocks/>
              </p:cNvCxnSpPr>
              <p:nvPr/>
            </p:nvCxnSpPr>
            <p:spPr>
              <a:xfrm flipH="1">
                <a:off x="4104379" y="1804781"/>
                <a:ext cx="2654230" cy="0"/>
              </a:xfrm>
              <a:prstGeom prst="straightConnector1">
                <a:avLst/>
              </a:prstGeom>
              <a:ln w="28575">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grpSp>
      </p:grpSp>
      <p:grpSp>
        <p:nvGrpSpPr>
          <p:cNvPr id="105" name="Group 104">
            <a:extLst>
              <a:ext uri="{FF2B5EF4-FFF2-40B4-BE49-F238E27FC236}">
                <a16:creationId xmlns:a16="http://schemas.microsoft.com/office/drawing/2014/main" id="{A1CBC244-80B9-8045-8AAB-052208AAFCAF}"/>
              </a:ext>
            </a:extLst>
          </p:cNvPr>
          <p:cNvGrpSpPr/>
          <p:nvPr/>
        </p:nvGrpSpPr>
        <p:grpSpPr>
          <a:xfrm>
            <a:off x="6971125" y="2188335"/>
            <a:ext cx="4120946" cy="1363247"/>
            <a:chOff x="6971125" y="2188335"/>
            <a:chExt cx="4120946" cy="1363247"/>
          </a:xfrm>
        </p:grpSpPr>
        <p:sp>
          <p:nvSpPr>
            <p:cNvPr id="69" name="Text Box 24">
              <a:extLst>
                <a:ext uri="{FF2B5EF4-FFF2-40B4-BE49-F238E27FC236}">
                  <a16:creationId xmlns:a16="http://schemas.microsoft.com/office/drawing/2014/main" id="{10A72390-FCE4-7743-B879-430BA64CF0E4}"/>
                </a:ext>
              </a:extLst>
            </p:cNvPr>
            <p:cNvSpPr txBox="1">
              <a:spLocks noChangeArrowheads="1"/>
            </p:cNvSpPr>
            <p:nvPr/>
          </p:nvSpPr>
          <p:spPr bwMode="auto">
            <a:xfrm>
              <a:off x="7928387" y="2202622"/>
              <a:ext cx="3163684" cy="461665"/>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mn-lt"/>
                  <a:ea typeface="ＭＳ Ｐゴシック" charset="0"/>
                  <a:cs typeface="Arial" charset="0"/>
                </a:rPr>
                <a:t>Bob</a:t>
              </a:r>
              <a:r>
                <a:rPr kumimoji="0" lang="en-US" altLang="ja-JP" sz="2400" b="0" i="0" u="none" strike="noStrike" kern="0" cap="none" spc="0" normalizeH="0" baseline="0" noProof="0" dirty="0">
                  <a:ln>
                    <a:noFill/>
                  </a:ln>
                  <a:solidFill>
                    <a:srgbClr val="000000"/>
                  </a:solidFill>
                  <a:effectLst/>
                  <a:uLnTx/>
                  <a:uFillTx/>
                  <a:latin typeface="+mn-lt"/>
                  <a:ea typeface="ＭＳ Ｐゴシック" charset="0"/>
                  <a:cs typeface="Arial" charset="0"/>
                </a:rPr>
                <a:t>’s </a:t>
              </a:r>
              <a:r>
                <a:rPr kumimoji="0" lang="en-US" altLang="ja-JP" sz="2400" b="0" i="1" strike="noStrike" kern="0" cap="none" spc="0" normalizeH="0" baseline="0" noProof="0" dirty="0">
                  <a:ln>
                    <a:noFill/>
                  </a:ln>
                  <a:solidFill>
                    <a:srgbClr val="C00000"/>
                  </a:solidFill>
                  <a:effectLst/>
                  <a:uLnTx/>
                  <a:uFillTx/>
                  <a:latin typeface="+mn-lt"/>
                  <a:ea typeface="ＭＳ Ｐゴシック" charset="0"/>
                  <a:cs typeface="Arial" charset="0"/>
                </a:rPr>
                <a:t>private</a:t>
              </a:r>
              <a:r>
                <a:rPr kumimoji="0" lang="en-US" sz="2400" b="0" i="0" u="none" strike="noStrike" kern="0" cap="none" spc="0" normalizeH="0" baseline="0" noProof="0" dirty="0">
                  <a:ln>
                    <a:noFill/>
                  </a:ln>
                  <a:solidFill>
                    <a:srgbClr val="000000"/>
                  </a:solidFill>
                  <a:effectLst/>
                  <a:uLnTx/>
                  <a:uFillTx/>
                  <a:latin typeface="+mn-lt"/>
                  <a:ea typeface="ＭＳ Ｐゴシック" charset="0"/>
                  <a:cs typeface="Arial" charset="0"/>
                </a:rPr>
                <a:t> key </a:t>
              </a:r>
            </a:p>
          </p:txBody>
        </p:sp>
        <p:pic>
          <p:nvPicPr>
            <p:cNvPr id="70" name="Picture 25" descr="BS00768_[1]">
              <a:extLst>
                <a:ext uri="{FF2B5EF4-FFF2-40B4-BE49-F238E27FC236}">
                  <a16:creationId xmlns:a16="http://schemas.microsoft.com/office/drawing/2014/main" id="{E5AF231D-A446-4C40-90CA-324AE831D6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6971125" y="2340735"/>
              <a:ext cx="542925" cy="279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1" name="Text Box 26">
              <a:extLst>
                <a:ext uri="{FF2B5EF4-FFF2-40B4-BE49-F238E27FC236}">
                  <a16:creationId xmlns:a16="http://schemas.microsoft.com/office/drawing/2014/main" id="{1FAC5085-46DD-834E-AC5E-9F54BBD89B96}"/>
                </a:ext>
              </a:extLst>
            </p:cNvPr>
            <p:cNvSpPr txBox="1">
              <a:spLocks noChangeArrowheads="1"/>
            </p:cNvSpPr>
            <p:nvPr/>
          </p:nvSpPr>
          <p:spPr bwMode="auto">
            <a:xfrm>
              <a:off x="7480712" y="2275647"/>
              <a:ext cx="42545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dirty="0">
                  <a:solidFill>
                    <a:srgbClr val="C00000"/>
                  </a:solidFill>
                  <a:latin typeface="Arial" charset="0"/>
                  <a:cs typeface="Arial" charset="0"/>
                </a:rPr>
                <a:t>K </a:t>
              </a:r>
            </a:p>
          </p:txBody>
        </p:sp>
        <p:sp>
          <p:nvSpPr>
            <p:cNvPr id="72" name="Text Box 27">
              <a:extLst>
                <a:ext uri="{FF2B5EF4-FFF2-40B4-BE49-F238E27FC236}">
                  <a16:creationId xmlns:a16="http://schemas.microsoft.com/office/drawing/2014/main" id="{B741F65D-D85A-BA44-A0EC-45B50137B17B}"/>
                </a:ext>
              </a:extLst>
            </p:cNvPr>
            <p:cNvSpPr txBox="1">
              <a:spLocks noChangeArrowheads="1"/>
            </p:cNvSpPr>
            <p:nvPr/>
          </p:nvSpPr>
          <p:spPr bwMode="auto">
            <a:xfrm>
              <a:off x="7768187" y="2467735"/>
              <a:ext cx="322262"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B</a:t>
              </a:r>
            </a:p>
          </p:txBody>
        </p:sp>
        <p:sp>
          <p:nvSpPr>
            <p:cNvPr id="73" name="Text Box 28">
              <a:extLst>
                <a:ext uri="{FF2B5EF4-FFF2-40B4-BE49-F238E27FC236}">
                  <a16:creationId xmlns:a16="http://schemas.microsoft.com/office/drawing/2014/main" id="{B9C2DED2-A012-704E-B1B5-9CEE4CCC6AEA}"/>
                </a:ext>
              </a:extLst>
            </p:cNvPr>
            <p:cNvSpPr txBox="1">
              <a:spLocks noChangeArrowheads="1"/>
            </p:cNvSpPr>
            <p:nvPr/>
          </p:nvSpPr>
          <p:spPr bwMode="auto">
            <a:xfrm>
              <a:off x="7722012" y="2188335"/>
              <a:ext cx="252413"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pPr>
              <a:r>
                <a:rPr lang="en-US" sz="1600" dirty="0">
                  <a:solidFill>
                    <a:srgbClr val="C00000"/>
                  </a:solidFill>
                  <a:latin typeface="Arial" charset="0"/>
                  <a:cs typeface="Arial" charset="0"/>
                </a:rPr>
                <a:t>-</a:t>
              </a:r>
            </a:p>
          </p:txBody>
        </p:sp>
        <p:cxnSp>
          <p:nvCxnSpPr>
            <p:cNvPr id="100" name="Straight Arrow Connector 99">
              <a:extLst>
                <a:ext uri="{FF2B5EF4-FFF2-40B4-BE49-F238E27FC236}">
                  <a16:creationId xmlns:a16="http://schemas.microsoft.com/office/drawing/2014/main" id="{6633644F-66D9-7E4F-AA09-88F31F1C5629}"/>
                </a:ext>
              </a:extLst>
            </p:cNvPr>
            <p:cNvCxnSpPr>
              <a:cxnSpLocks/>
            </p:cNvCxnSpPr>
            <p:nvPr/>
          </p:nvCxnSpPr>
          <p:spPr>
            <a:xfrm>
              <a:off x="7075344" y="2729947"/>
              <a:ext cx="0" cy="821635"/>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6426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dissolve">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7"/>
                                        </p:tgtEl>
                                        <p:attrNameLst>
                                          <p:attrName>style.visibility</p:attrName>
                                        </p:attrNameLst>
                                      </p:cBhvr>
                                      <p:to>
                                        <p:strVal val="visible"/>
                                      </p:to>
                                    </p:set>
                                    <p:animEffect transition="in" filter="dissolve">
                                      <p:cBhvr>
                                        <p:cTn id="12" dur="500"/>
                                        <p:tgtEl>
                                          <p:spTgt spid="10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5"/>
                                        </p:tgtEl>
                                        <p:attrNameLst>
                                          <p:attrName>style.visibility</p:attrName>
                                        </p:attrNameLst>
                                      </p:cBhvr>
                                      <p:to>
                                        <p:strVal val="visible"/>
                                      </p:to>
                                    </p:set>
                                    <p:animEffect transition="in" filter="dissolve">
                                      <p:cBhvr>
                                        <p:cTn id="17" dur="500"/>
                                        <p:tgtEl>
                                          <p:spTgt spid="10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dissolve">
                                      <p:cBhvr>
                                        <p:cTn id="2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Public key encryption algorithms</a:t>
            </a:r>
            <a:endParaRPr lang="en-US" sz="4400" dirty="0"/>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36</a:t>
            </a:fld>
            <a:endParaRPr lang="en-US" dirty="0"/>
          </a:p>
        </p:txBody>
      </p:sp>
      <p:sp>
        <p:nvSpPr>
          <p:cNvPr id="54" name="Text Box 11">
            <a:extLst>
              <a:ext uri="{FF2B5EF4-FFF2-40B4-BE49-F238E27FC236}">
                <a16:creationId xmlns:a16="http://schemas.microsoft.com/office/drawing/2014/main" id="{68E03A47-9B3A-794E-BFF5-44DDE4859D40}"/>
              </a:ext>
            </a:extLst>
          </p:cNvPr>
          <p:cNvSpPr txBox="1">
            <a:spLocks noChangeArrowheads="1"/>
          </p:cNvSpPr>
          <p:nvPr/>
        </p:nvSpPr>
        <p:spPr bwMode="auto">
          <a:xfrm>
            <a:off x="1589892" y="1419225"/>
            <a:ext cx="2547365"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3200" dirty="0">
                <a:latin typeface="+mn-lt"/>
                <a:cs typeface="Arial" charset="0"/>
              </a:rPr>
              <a:t>requirements:</a:t>
            </a:r>
            <a:endParaRPr lang="en-US" sz="2800" dirty="0">
              <a:latin typeface="+mn-lt"/>
              <a:cs typeface="Arial" charset="0"/>
            </a:endParaRPr>
          </a:p>
        </p:txBody>
      </p:sp>
      <p:sp>
        <p:nvSpPr>
          <p:cNvPr id="81" name="Text Box 18">
            <a:extLst>
              <a:ext uri="{FF2B5EF4-FFF2-40B4-BE49-F238E27FC236}">
                <a16:creationId xmlns:a16="http://schemas.microsoft.com/office/drawing/2014/main" id="{16426DFD-7F5D-9146-B5B8-6BE82E3AC606}"/>
              </a:ext>
            </a:extLst>
          </p:cNvPr>
          <p:cNvSpPr txBox="1">
            <a:spLocks noChangeArrowheads="1"/>
          </p:cNvSpPr>
          <p:nvPr/>
        </p:nvSpPr>
        <p:spPr bwMode="auto">
          <a:xfrm>
            <a:off x="2401267" y="5138599"/>
            <a:ext cx="671036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3600" dirty="0">
                <a:solidFill>
                  <a:srgbClr val="C00000"/>
                </a:solidFill>
                <a:latin typeface="+mn-lt"/>
              </a:rPr>
              <a:t>RSA: </a:t>
            </a:r>
            <a:r>
              <a:rPr lang="en-US" sz="3200" dirty="0">
                <a:latin typeface="+mn-lt"/>
              </a:rPr>
              <a:t>Rivest, Shamir, Adelson algorithm</a:t>
            </a:r>
            <a:endParaRPr lang="en-US" sz="2800" dirty="0">
              <a:latin typeface="+mn-lt"/>
            </a:endParaRPr>
          </a:p>
        </p:txBody>
      </p:sp>
      <p:grpSp>
        <p:nvGrpSpPr>
          <p:cNvPr id="5" name="Group 4">
            <a:extLst>
              <a:ext uri="{FF2B5EF4-FFF2-40B4-BE49-F238E27FC236}">
                <a16:creationId xmlns:a16="http://schemas.microsoft.com/office/drawing/2014/main" id="{871C51F8-6912-1D42-B41F-94408FFBF31D}"/>
              </a:ext>
            </a:extLst>
          </p:cNvPr>
          <p:cNvGrpSpPr/>
          <p:nvPr/>
        </p:nvGrpSpPr>
        <p:grpSpPr>
          <a:xfrm>
            <a:off x="2577341" y="1856339"/>
            <a:ext cx="6131823" cy="1761575"/>
            <a:chOff x="2577341" y="1856339"/>
            <a:chExt cx="6131823" cy="1761575"/>
          </a:xfrm>
        </p:grpSpPr>
        <p:sp>
          <p:nvSpPr>
            <p:cNvPr id="55" name="Oval 13">
              <a:extLst>
                <a:ext uri="{FF2B5EF4-FFF2-40B4-BE49-F238E27FC236}">
                  <a16:creationId xmlns:a16="http://schemas.microsoft.com/office/drawing/2014/main" id="{8759335D-10E6-8E46-9BB4-AB2699D2E5F3}"/>
                </a:ext>
              </a:extLst>
            </p:cNvPr>
            <p:cNvSpPr>
              <a:spLocks noChangeArrowheads="1"/>
            </p:cNvSpPr>
            <p:nvPr/>
          </p:nvSpPr>
          <p:spPr bwMode="auto">
            <a:xfrm>
              <a:off x="2577341" y="2179085"/>
              <a:ext cx="552450" cy="517525"/>
            </a:xfrm>
            <a:prstGeom prst="ellipse">
              <a:avLst/>
            </a:prstGeom>
            <a:solidFill>
              <a:srgbClr val="FFFFFF"/>
            </a:solidFill>
            <a:ln w="34925">
              <a:solidFill>
                <a:srgbClr val="0012A0"/>
              </a:solidFill>
              <a:round/>
              <a:headEnd/>
              <a:tailEnd/>
            </a:ln>
          </p:spPr>
          <p:txBody>
            <a:bodyPr wrap="none" anchor="ctr"/>
            <a:lstStyle/>
            <a:p>
              <a:endParaRPr lang="en-US" dirty="0">
                <a:solidFill>
                  <a:srgbClr val="000099"/>
                </a:solidFill>
                <a:cs typeface="Arial" charset="0"/>
              </a:endParaRPr>
            </a:p>
          </p:txBody>
        </p:sp>
        <p:sp>
          <p:nvSpPr>
            <p:cNvPr id="58" name="Text Box 14">
              <a:extLst>
                <a:ext uri="{FF2B5EF4-FFF2-40B4-BE49-F238E27FC236}">
                  <a16:creationId xmlns:a16="http://schemas.microsoft.com/office/drawing/2014/main" id="{C92F4D5F-E3F2-414D-9260-894C3CB63397}"/>
                </a:ext>
              </a:extLst>
            </p:cNvPr>
            <p:cNvSpPr txBox="1">
              <a:spLocks noChangeArrowheads="1"/>
            </p:cNvSpPr>
            <p:nvPr/>
          </p:nvSpPr>
          <p:spPr bwMode="auto">
            <a:xfrm>
              <a:off x="2671449" y="2179085"/>
              <a:ext cx="367408"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99"/>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0012A0"/>
                  </a:solidFill>
                  <a:latin typeface="+mn-lt"/>
                  <a:cs typeface="Arial" charset="0"/>
                </a:rPr>
                <a:t>1</a:t>
              </a:r>
              <a:endParaRPr lang="en-US" sz="2400" dirty="0">
                <a:solidFill>
                  <a:srgbClr val="0012A0"/>
                </a:solidFill>
                <a:latin typeface="+mn-lt"/>
                <a:cs typeface="Arial" charset="0"/>
              </a:endParaRPr>
            </a:p>
          </p:txBody>
        </p:sp>
        <p:grpSp>
          <p:nvGrpSpPr>
            <p:cNvPr id="3" name="Group 2">
              <a:extLst>
                <a:ext uri="{FF2B5EF4-FFF2-40B4-BE49-F238E27FC236}">
                  <a16:creationId xmlns:a16="http://schemas.microsoft.com/office/drawing/2014/main" id="{B47C5FB7-A5B2-B344-AFD6-9E724B658B39}"/>
                </a:ext>
              </a:extLst>
            </p:cNvPr>
            <p:cNvGrpSpPr/>
            <p:nvPr/>
          </p:nvGrpSpPr>
          <p:grpSpPr>
            <a:xfrm>
              <a:off x="3089414" y="1856339"/>
              <a:ext cx="5619750" cy="1761575"/>
              <a:chOff x="3155674" y="1856339"/>
              <a:chExt cx="5619750" cy="1761575"/>
            </a:xfrm>
          </p:grpSpPr>
          <p:sp>
            <p:nvSpPr>
              <p:cNvPr id="44" name="Rectangle 3">
                <a:extLst>
                  <a:ext uri="{FF2B5EF4-FFF2-40B4-BE49-F238E27FC236}">
                    <a16:creationId xmlns:a16="http://schemas.microsoft.com/office/drawing/2014/main" id="{CA2DA16D-E37C-234A-A7B1-3797CF3FF0BC}"/>
                  </a:ext>
                </a:extLst>
              </p:cNvPr>
              <p:cNvSpPr txBox="1">
                <a:spLocks noChangeArrowheads="1"/>
              </p:cNvSpPr>
              <p:nvPr/>
            </p:nvSpPr>
            <p:spPr>
              <a:xfrm>
                <a:off x="3155674" y="2182812"/>
                <a:ext cx="5619750" cy="6254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0"/>
                  <a:buNone/>
                </a:pPr>
                <a:r>
                  <a:rPr lang="en-US" sz="3200" dirty="0">
                    <a:cs typeface="Arial" charset="0"/>
                  </a:rPr>
                  <a:t>need K  ( ) and K  ( ) such that</a:t>
                </a:r>
              </a:p>
            </p:txBody>
          </p:sp>
          <p:sp>
            <p:nvSpPr>
              <p:cNvPr id="45" name="Text Box 4">
                <a:extLst>
                  <a:ext uri="{FF2B5EF4-FFF2-40B4-BE49-F238E27FC236}">
                    <a16:creationId xmlns:a16="http://schemas.microsoft.com/office/drawing/2014/main" id="{95278E0E-E4B9-CE4C-B839-ED5B84E6F5AC}"/>
                  </a:ext>
                </a:extLst>
              </p:cNvPr>
              <p:cNvSpPr txBox="1">
                <a:spLocks noChangeArrowheads="1"/>
              </p:cNvSpPr>
              <p:nvPr/>
            </p:nvSpPr>
            <p:spPr bwMode="auto">
              <a:xfrm>
                <a:off x="4287291" y="2406650"/>
                <a:ext cx="351378"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latin typeface="+mn-lt"/>
                    <a:cs typeface="Arial" charset="0"/>
                  </a:rPr>
                  <a:t>B</a:t>
                </a:r>
              </a:p>
            </p:txBody>
          </p:sp>
          <p:sp>
            <p:nvSpPr>
              <p:cNvPr id="46" name="Text Box 5">
                <a:extLst>
                  <a:ext uri="{FF2B5EF4-FFF2-40B4-BE49-F238E27FC236}">
                    <a16:creationId xmlns:a16="http://schemas.microsoft.com/office/drawing/2014/main" id="{107916C1-001A-F244-A971-628BF84CD7C8}"/>
                  </a:ext>
                </a:extLst>
              </p:cNvPr>
              <p:cNvSpPr txBox="1">
                <a:spLocks noChangeArrowheads="1"/>
              </p:cNvSpPr>
              <p:nvPr/>
            </p:nvSpPr>
            <p:spPr bwMode="auto">
              <a:xfrm>
                <a:off x="5889079" y="2444750"/>
                <a:ext cx="351378"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latin typeface="+mn-lt"/>
                    <a:cs typeface="Arial" charset="0"/>
                  </a:rPr>
                  <a:t>B</a:t>
                </a:r>
              </a:p>
            </p:txBody>
          </p:sp>
          <p:sp>
            <p:nvSpPr>
              <p:cNvPr id="47" name="Text Box 6">
                <a:extLst>
                  <a:ext uri="{FF2B5EF4-FFF2-40B4-BE49-F238E27FC236}">
                    <a16:creationId xmlns:a16="http://schemas.microsoft.com/office/drawing/2014/main" id="{F9C7534C-C712-0C4D-826C-FA84E56AAFEE}"/>
                  </a:ext>
                </a:extLst>
              </p:cNvPr>
              <p:cNvSpPr txBox="1">
                <a:spLocks noChangeArrowheads="1"/>
              </p:cNvSpPr>
              <p:nvPr/>
            </p:nvSpPr>
            <p:spPr bwMode="auto">
              <a:xfrm>
                <a:off x="4693401" y="1856339"/>
                <a:ext cx="340157"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4800" dirty="0">
                    <a:latin typeface="+mn-lt"/>
                    <a:cs typeface="Arial" charset="0"/>
                  </a:rPr>
                  <a:t>.</a:t>
                </a:r>
                <a:endParaRPr lang="en-US" sz="2400" dirty="0">
                  <a:latin typeface="+mn-lt"/>
                  <a:cs typeface="Arial" charset="0"/>
                </a:endParaRPr>
              </a:p>
            </p:txBody>
          </p:sp>
          <p:sp>
            <p:nvSpPr>
              <p:cNvPr id="48" name="Text Box 7">
                <a:extLst>
                  <a:ext uri="{FF2B5EF4-FFF2-40B4-BE49-F238E27FC236}">
                    <a16:creationId xmlns:a16="http://schemas.microsoft.com/office/drawing/2014/main" id="{130DAE2D-652A-D64A-A8CF-1577E0BDD244}"/>
                  </a:ext>
                </a:extLst>
              </p:cNvPr>
              <p:cNvSpPr txBox="1">
                <a:spLocks noChangeArrowheads="1"/>
              </p:cNvSpPr>
              <p:nvPr/>
            </p:nvSpPr>
            <p:spPr bwMode="auto">
              <a:xfrm>
                <a:off x="6237968" y="1881187"/>
                <a:ext cx="340157"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4800" dirty="0">
                    <a:latin typeface="+mn-lt"/>
                    <a:cs typeface="Arial" charset="0"/>
                  </a:rPr>
                  <a:t>.</a:t>
                </a:r>
                <a:endParaRPr lang="en-US" sz="2400" dirty="0">
                  <a:latin typeface="+mn-lt"/>
                  <a:cs typeface="Arial" charset="0"/>
                </a:endParaRPr>
              </a:p>
            </p:txBody>
          </p:sp>
          <p:sp>
            <p:nvSpPr>
              <p:cNvPr id="82" name="Text Box 19">
                <a:extLst>
                  <a:ext uri="{FF2B5EF4-FFF2-40B4-BE49-F238E27FC236}">
                    <a16:creationId xmlns:a16="http://schemas.microsoft.com/office/drawing/2014/main" id="{7113FF55-E386-0E45-AEE7-2E3FA7DA34FD}"/>
                  </a:ext>
                </a:extLst>
              </p:cNvPr>
              <p:cNvSpPr txBox="1">
                <a:spLocks noChangeArrowheads="1"/>
              </p:cNvSpPr>
              <p:nvPr/>
            </p:nvSpPr>
            <p:spPr bwMode="auto">
              <a:xfrm>
                <a:off x="4472089" y="1943100"/>
                <a:ext cx="338554"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latin typeface="+mn-lt"/>
                    <a:cs typeface="Arial" charset="0"/>
                  </a:rPr>
                  <a:t>+</a:t>
                </a:r>
              </a:p>
            </p:txBody>
          </p:sp>
          <p:sp>
            <p:nvSpPr>
              <p:cNvPr id="92" name="Text Box 20">
                <a:extLst>
                  <a:ext uri="{FF2B5EF4-FFF2-40B4-BE49-F238E27FC236}">
                    <a16:creationId xmlns:a16="http://schemas.microsoft.com/office/drawing/2014/main" id="{F00B9A6A-EC0B-3346-8BFB-801B41933E76}"/>
                  </a:ext>
                </a:extLst>
              </p:cNvPr>
              <p:cNvSpPr txBox="1">
                <a:spLocks noChangeArrowheads="1"/>
              </p:cNvSpPr>
              <p:nvPr/>
            </p:nvSpPr>
            <p:spPr bwMode="auto">
              <a:xfrm>
                <a:off x="6000129" y="1943100"/>
                <a:ext cx="295274"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latin typeface="+mn-lt"/>
                    <a:cs typeface="Arial" charset="0"/>
                  </a:rPr>
                  <a:t>-</a:t>
                </a:r>
              </a:p>
            </p:txBody>
          </p:sp>
          <p:grpSp>
            <p:nvGrpSpPr>
              <p:cNvPr id="93" name="Group 21">
                <a:extLst>
                  <a:ext uri="{FF2B5EF4-FFF2-40B4-BE49-F238E27FC236}">
                    <a16:creationId xmlns:a16="http://schemas.microsoft.com/office/drawing/2014/main" id="{575E144C-05EB-1D4D-B765-49E6255B1C7F}"/>
                  </a:ext>
                </a:extLst>
              </p:cNvPr>
              <p:cNvGrpSpPr>
                <a:grpSpLocks/>
              </p:cNvGrpSpPr>
              <p:nvPr/>
            </p:nvGrpSpPr>
            <p:grpSpPr bwMode="auto">
              <a:xfrm>
                <a:off x="4262162" y="2605088"/>
                <a:ext cx="2903539" cy="1012826"/>
                <a:chOff x="1317" y="1706"/>
                <a:chExt cx="1829" cy="638"/>
              </a:xfrm>
            </p:grpSpPr>
            <p:grpSp>
              <p:nvGrpSpPr>
                <p:cNvPr id="95" name="Group 22">
                  <a:extLst>
                    <a:ext uri="{FF2B5EF4-FFF2-40B4-BE49-F238E27FC236}">
                      <a16:creationId xmlns:a16="http://schemas.microsoft.com/office/drawing/2014/main" id="{DD517EF7-D86B-F54D-A42C-9E0AB21DAA51}"/>
                    </a:ext>
                  </a:extLst>
                </p:cNvPr>
                <p:cNvGrpSpPr>
                  <a:grpSpLocks/>
                </p:cNvGrpSpPr>
                <p:nvPr/>
              </p:nvGrpSpPr>
              <p:grpSpPr bwMode="auto">
                <a:xfrm>
                  <a:off x="1317" y="1841"/>
                  <a:ext cx="1829" cy="503"/>
                  <a:chOff x="1688" y="1463"/>
                  <a:chExt cx="1829" cy="503"/>
                </a:xfrm>
              </p:grpSpPr>
              <p:sp>
                <p:nvSpPr>
                  <p:cNvPr id="99" name="Text Box 23">
                    <a:extLst>
                      <a:ext uri="{FF2B5EF4-FFF2-40B4-BE49-F238E27FC236}">
                        <a16:creationId xmlns:a16="http://schemas.microsoft.com/office/drawing/2014/main" id="{9C8D92BF-6B25-834E-B350-8B4E945BA405}"/>
                      </a:ext>
                    </a:extLst>
                  </p:cNvPr>
                  <p:cNvSpPr txBox="1">
                    <a:spLocks noChangeArrowheads="1"/>
                  </p:cNvSpPr>
                  <p:nvPr/>
                </p:nvSpPr>
                <p:spPr bwMode="auto">
                  <a:xfrm>
                    <a:off x="1688" y="1463"/>
                    <a:ext cx="1829" cy="3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3200" dirty="0">
                        <a:solidFill>
                          <a:srgbClr val="C00000"/>
                        </a:solidFill>
                        <a:latin typeface="+mn-lt"/>
                        <a:cs typeface="Arial" charset="0"/>
                      </a:rPr>
                      <a:t>K  (K   (m))  =  m </a:t>
                    </a:r>
                  </a:p>
                </p:txBody>
              </p:sp>
              <p:sp>
                <p:nvSpPr>
                  <p:cNvPr id="101" name="Text Box 24">
                    <a:extLst>
                      <a:ext uri="{FF2B5EF4-FFF2-40B4-BE49-F238E27FC236}">
                        <a16:creationId xmlns:a16="http://schemas.microsoft.com/office/drawing/2014/main" id="{9882DCB3-D7A7-F041-A7C4-765BE0D36173}"/>
                      </a:ext>
                    </a:extLst>
                  </p:cNvPr>
                  <p:cNvSpPr txBox="1">
                    <a:spLocks noChangeArrowheads="1"/>
                  </p:cNvSpPr>
                  <p:nvPr/>
                </p:nvSpPr>
                <p:spPr bwMode="auto">
                  <a:xfrm>
                    <a:off x="2181" y="1634"/>
                    <a:ext cx="240"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B</a:t>
                    </a:r>
                    <a:endParaRPr lang="en-US" sz="3200" dirty="0">
                      <a:solidFill>
                        <a:srgbClr val="C00000"/>
                      </a:solidFill>
                      <a:latin typeface="+mn-lt"/>
                      <a:cs typeface="Arial" charset="0"/>
                    </a:endParaRPr>
                  </a:p>
                </p:txBody>
              </p:sp>
              <p:sp>
                <p:nvSpPr>
                  <p:cNvPr id="102" name="Text Box 25">
                    <a:extLst>
                      <a:ext uri="{FF2B5EF4-FFF2-40B4-BE49-F238E27FC236}">
                        <a16:creationId xmlns:a16="http://schemas.microsoft.com/office/drawing/2014/main" id="{53A078BB-04F6-AD4C-8010-FB1C4E866300}"/>
                      </a:ext>
                    </a:extLst>
                  </p:cNvPr>
                  <p:cNvSpPr txBox="1">
                    <a:spLocks noChangeArrowheads="1"/>
                  </p:cNvSpPr>
                  <p:nvPr/>
                </p:nvSpPr>
                <p:spPr bwMode="auto">
                  <a:xfrm>
                    <a:off x="1839" y="1636"/>
                    <a:ext cx="240"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B</a:t>
                    </a:r>
                    <a:endParaRPr lang="en-US" sz="3200" dirty="0">
                      <a:solidFill>
                        <a:srgbClr val="C00000"/>
                      </a:solidFill>
                      <a:latin typeface="+mn-lt"/>
                      <a:cs typeface="Arial" charset="0"/>
                    </a:endParaRPr>
                  </a:p>
                </p:txBody>
              </p:sp>
            </p:grpSp>
            <p:sp>
              <p:nvSpPr>
                <p:cNvPr id="97" name="Text Box 26">
                  <a:extLst>
                    <a:ext uri="{FF2B5EF4-FFF2-40B4-BE49-F238E27FC236}">
                      <a16:creationId xmlns:a16="http://schemas.microsoft.com/office/drawing/2014/main" id="{81B0E173-437B-944D-AFC7-1191728D2CCE}"/>
                    </a:ext>
                  </a:extLst>
                </p:cNvPr>
                <p:cNvSpPr txBox="1">
                  <a:spLocks noChangeArrowheads="1"/>
                </p:cNvSpPr>
                <p:nvPr/>
              </p:nvSpPr>
              <p:spPr bwMode="auto">
                <a:xfrm>
                  <a:off x="1519" y="1706"/>
                  <a:ext cx="186"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a:t>
                  </a:r>
                </a:p>
              </p:txBody>
            </p:sp>
            <p:sp>
              <p:nvSpPr>
                <p:cNvPr id="98" name="Text Box 27">
                  <a:extLst>
                    <a:ext uri="{FF2B5EF4-FFF2-40B4-BE49-F238E27FC236}">
                      <a16:creationId xmlns:a16="http://schemas.microsoft.com/office/drawing/2014/main" id="{873C3E9B-7D7E-0F45-825C-CB01E679ED88}"/>
                    </a:ext>
                  </a:extLst>
                </p:cNvPr>
                <p:cNvSpPr txBox="1">
                  <a:spLocks noChangeArrowheads="1"/>
                </p:cNvSpPr>
                <p:nvPr/>
              </p:nvSpPr>
              <p:spPr bwMode="auto">
                <a:xfrm>
                  <a:off x="1828" y="1722"/>
                  <a:ext cx="229"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a:t>
                  </a:r>
                </a:p>
              </p:txBody>
            </p:sp>
          </p:grpSp>
        </p:grpSp>
      </p:grpSp>
      <p:grpSp>
        <p:nvGrpSpPr>
          <p:cNvPr id="6" name="Group 5">
            <a:extLst>
              <a:ext uri="{FF2B5EF4-FFF2-40B4-BE49-F238E27FC236}">
                <a16:creationId xmlns:a16="http://schemas.microsoft.com/office/drawing/2014/main" id="{8AB37BF4-ADC0-7C4A-B2EE-07083244021D}"/>
              </a:ext>
            </a:extLst>
          </p:cNvPr>
          <p:cNvGrpSpPr/>
          <p:nvPr/>
        </p:nvGrpSpPr>
        <p:grpSpPr>
          <a:xfrm>
            <a:off x="2571474" y="3605764"/>
            <a:ext cx="8414577" cy="1331477"/>
            <a:chOff x="2571474" y="3605764"/>
            <a:chExt cx="8414577" cy="1331477"/>
          </a:xfrm>
        </p:grpSpPr>
        <p:sp>
          <p:nvSpPr>
            <p:cNvPr id="50" name="Rectangle 8">
              <a:extLst>
                <a:ext uri="{FF2B5EF4-FFF2-40B4-BE49-F238E27FC236}">
                  <a16:creationId xmlns:a16="http://schemas.microsoft.com/office/drawing/2014/main" id="{58F91EC6-E6B4-924D-9AB5-CE96A06FA3F7}"/>
                </a:ext>
              </a:extLst>
            </p:cNvPr>
            <p:cNvSpPr>
              <a:spLocks noChangeArrowheads="1"/>
            </p:cNvSpPr>
            <p:nvPr/>
          </p:nvSpPr>
          <p:spPr bwMode="auto">
            <a:xfrm>
              <a:off x="3177898" y="3741737"/>
              <a:ext cx="7808153" cy="625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spcBef>
                  <a:spcPct val="20000"/>
                </a:spcBef>
                <a:buClr>
                  <a:schemeClr val="accent2"/>
                </a:buClr>
                <a:buSzPct val="85000"/>
                <a:buFont typeface="ZapfDingbats" charset="0"/>
                <a:buNone/>
              </a:pPr>
              <a:r>
                <a:rPr lang="en-US" sz="3200" dirty="0">
                  <a:cs typeface="Arial" charset="0"/>
                </a:rPr>
                <a:t>given public key K  , it should be impossible to compute private key K  </a:t>
              </a:r>
            </a:p>
          </p:txBody>
        </p:sp>
        <p:sp>
          <p:nvSpPr>
            <p:cNvPr id="51" name="Text Box 9">
              <a:extLst>
                <a:ext uri="{FF2B5EF4-FFF2-40B4-BE49-F238E27FC236}">
                  <a16:creationId xmlns:a16="http://schemas.microsoft.com/office/drawing/2014/main" id="{9C99D718-344C-E14D-8E0F-802BD4E0DC17}"/>
                </a:ext>
              </a:extLst>
            </p:cNvPr>
            <p:cNvSpPr txBox="1">
              <a:spLocks noChangeArrowheads="1"/>
            </p:cNvSpPr>
            <p:nvPr/>
          </p:nvSpPr>
          <p:spPr bwMode="auto">
            <a:xfrm>
              <a:off x="7206392" y="4475576"/>
              <a:ext cx="351378"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latin typeface="+mn-lt"/>
                  <a:cs typeface="Arial" charset="0"/>
                </a:rPr>
                <a:t>B</a:t>
              </a:r>
            </a:p>
          </p:txBody>
        </p:sp>
        <p:sp>
          <p:nvSpPr>
            <p:cNvPr id="53" name="Text Box 10">
              <a:extLst>
                <a:ext uri="{FF2B5EF4-FFF2-40B4-BE49-F238E27FC236}">
                  <a16:creationId xmlns:a16="http://schemas.microsoft.com/office/drawing/2014/main" id="{0896A106-22CD-5A42-9112-99A6540B9EFD}"/>
                </a:ext>
              </a:extLst>
            </p:cNvPr>
            <p:cNvSpPr txBox="1">
              <a:spLocks noChangeArrowheads="1"/>
            </p:cNvSpPr>
            <p:nvPr/>
          </p:nvSpPr>
          <p:spPr bwMode="auto">
            <a:xfrm>
              <a:off x="6056037" y="3965092"/>
              <a:ext cx="433387"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latin typeface="+mn-lt"/>
                  <a:cs typeface="Arial" charset="0"/>
                </a:rPr>
                <a:t>B</a:t>
              </a:r>
            </a:p>
          </p:txBody>
        </p:sp>
        <p:grpSp>
          <p:nvGrpSpPr>
            <p:cNvPr id="59" name="Group 15">
              <a:extLst>
                <a:ext uri="{FF2B5EF4-FFF2-40B4-BE49-F238E27FC236}">
                  <a16:creationId xmlns:a16="http://schemas.microsoft.com/office/drawing/2014/main" id="{755F3E15-FB06-3341-8DFF-070377E83654}"/>
                </a:ext>
              </a:extLst>
            </p:cNvPr>
            <p:cNvGrpSpPr>
              <a:grpSpLocks/>
            </p:cNvGrpSpPr>
            <p:nvPr/>
          </p:nvGrpSpPr>
          <p:grpSpPr bwMode="auto">
            <a:xfrm>
              <a:off x="2571474" y="3773624"/>
              <a:ext cx="552450" cy="523875"/>
              <a:chOff x="481" y="1776"/>
              <a:chExt cx="348" cy="330"/>
            </a:xfrm>
          </p:grpSpPr>
          <p:sp>
            <p:nvSpPr>
              <p:cNvPr id="61" name="Oval 16">
                <a:extLst>
                  <a:ext uri="{FF2B5EF4-FFF2-40B4-BE49-F238E27FC236}">
                    <a16:creationId xmlns:a16="http://schemas.microsoft.com/office/drawing/2014/main" id="{BB89F9D0-3AC7-ED46-8A4A-CD7D6525741E}"/>
                  </a:ext>
                </a:extLst>
              </p:cNvPr>
              <p:cNvSpPr>
                <a:spLocks noChangeArrowheads="1"/>
              </p:cNvSpPr>
              <p:nvPr/>
            </p:nvSpPr>
            <p:spPr bwMode="auto">
              <a:xfrm>
                <a:off x="481" y="1778"/>
                <a:ext cx="348" cy="326"/>
              </a:xfrm>
              <a:prstGeom prst="ellipse">
                <a:avLst/>
              </a:prstGeom>
              <a:solidFill>
                <a:srgbClr val="FFFFFF"/>
              </a:solidFill>
              <a:ln w="34925">
                <a:solidFill>
                  <a:srgbClr val="000099"/>
                </a:solidFill>
                <a:round/>
                <a:headEnd/>
                <a:tailEnd/>
              </a:ln>
            </p:spPr>
            <p:txBody>
              <a:bodyPr wrap="none" anchor="ctr"/>
              <a:lstStyle/>
              <a:p>
                <a:endParaRPr lang="en-US" dirty="0">
                  <a:solidFill>
                    <a:srgbClr val="000099"/>
                  </a:solidFill>
                  <a:cs typeface="Arial" charset="0"/>
                </a:endParaRPr>
              </a:p>
            </p:txBody>
          </p:sp>
          <p:sp>
            <p:nvSpPr>
              <p:cNvPr id="80" name="Text Box 17">
                <a:extLst>
                  <a:ext uri="{FF2B5EF4-FFF2-40B4-BE49-F238E27FC236}">
                    <a16:creationId xmlns:a16="http://schemas.microsoft.com/office/drawing/2014/main" id="{3BA80475-B13A-DF44-A883-CCF63CDF220F}"/>
                  </a:ext>
                </a:extLst>
              </p:cNvPr>
              <p:cNvSpPr txBox="1">
                <a:spLocks noChangeArrowheads="1"/>
              </p:cNvSpPr>
              <p:nvPr/>
            </p:nvSpPr>
            <p:spPr bwMode="auto">
              <a:xfrm>
                <a:off x="552" y="1776"/>
                <a:ext cx="231"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99"/>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0012A0"/>
                    </a:solidFill>
                    <a:latin typeface="+mn-lt"/>
                    <a:cs typeface="Arial" charset="0"/>
                  </a:rPr>
                  <a:t>2</a:t>
                </a:r>
                <a:endParaRPr lang="en-US" sz="2400" dirty="0">
                  <a:solidFill>
                    <a:srgbClr val="0012A0"/>
                  </a:solidFill>
                  <a:latin typeface="+mn-lt"/>
                  <a:cs typeface="Arial" charset="0"/>
                </a:endParaRPr>
              </a:p>
            </p:txBody>
          </p:sp>
        </p:grpSp>
        <p:sp>
          <p:nvSpPr>
            <p:cNvPr id="103" name="Text Box 28">
              <a:extLst>
                <a:ext uri="{FF2B5EF4-FFF2-40B4-BE49-F238E27FC236}">
                  <a16:creationId xmlns:a16="http://schemas.microsoft.com/office/drawing/2014/main" id="{FDDA8894-CCE9-4F4F-B6BC-4038E8E7F64D}"/>
                </a:ext>
              </a:extLst>
            </p:cNvPr>
            <p:cNvSpPr txBox="1">
              <a:spLocks noChangeArrowheads="1"/>
            </p:cNvSpPr>
            <p:nvPr/>
          </p:nvSpPr>
          <p:spPr bwMode="auto">
            <a:xfrm>
              <a:off x="6086715" y="3605764"/>
              <a:ext cx="338554"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latin typeface="+mn-lt"/>
                  <a:cs typeface="Arial" charset="0"/>
                </a:rPr>
                <a:t>+</a:t>
              </a:r>
            </a:p>
          </p:txBody>
        </p:sp>
        <p:sp>
          <p:nvSpPr>
            <p:cNvPr id="109" name="Text Box 29">
              <a:extLst>
                <a:ext uri="{FF2B5EF4-FFF2-40B4-BE49-F238E27FC236}">
                  <a16:creationId xmlns:a16="http://schemas.microsoft.com/office/drawing/2014/main" id="{1C616302-4F70-464A-984D-28E0A0946A29}"/>
                </a:ext>
              </a:extLst>
            </p:cNvPr>
            <p:cNvSpPr txBox="1">
              <a:spLocks noChangeArrowheads="1"/>
            </p:cNvSpPr>
            <p:nvPr/>
          </p:nvSpPr>
          <p:spPr bwMode="auto">
            <a:xfrm>
              <a:off x="7185232" y="4070764"/>
              <a:ext cx="285750" cy="460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400" dirty="0">
                  <a:latin typeface="+mn-lt"/>
                  <a:cs typeface="Arial" charset="0"/>
                </a:rPr>
                <a:t>-</a:t>
              </a:r>
            </a:p>
          </p:txBody>
        </p:sp>
      </p:grpSp>
    </p:spTree>
    <p:extLst>
      <p:ext uri="{BB962C8B-B14F-4D97-AF65-F5344CB8AC3E}">
        <p14:creationId xmlns:p14="http://schemas.microsoft.com/office/powerpoint/2010/main" val="1631734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dissolv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Asymmetric Encryption</a:t>
            </a:r>
          </a:p>
        </p:txBody>
      </p:sp>
      <p:sp>
        <p:nvSpPr>
          <p:cNvPr id="7" name="TextBox 6">
            <a:extLst>
              <a:ext uri="{FF2B5EF4-FFF2-40B4-BE49-F238E27FC236}">
                <a16:creationId xmlns:a16="http://schemas.microsoft.com/office/drawing/2014/main" id="{FE7B08AB-55FB-4C12-AD97-C452D4C9128F}"/>
              </a:ext>
            </a:extLst>
          </p:cNvPr>
          <p:cNvSpPr txBox="1"/>
          <p:nvPr/>
        </p:nvSpPr>
        <p:spPr>
          <a:xfrm>
            <a:off x="0" y="1041251"/>
            <a:ext cx="12192000" cy="3909532"/>
          </a:xfrm>
          <a:prstGeom prst="rect">
            <a:avLst/>
          </a:prstGeom>
          <a:noFill/>
        </p:spPr>
        <p:txBody>
          <a:bodyPr wrap="square">
            <a:spAutoFit/>
          </a:bodyPr>
          <a:lstStyle/>
          <a:p>
            <a:r>
              <a:rPr lang="en-US" sz="1867" dirty="0">
                <a:latin typeface="Arial" panose="020B0604020202020204" pitchFamily="34" charset="0"/>
                <a:cs typeface="Arial" panose="020B0604020202020204" pitchFamily="34" charset="0"/>
              </a:rPr>
              <a:t>Asymmetric algorithms, also called public-key algorithms, are designed so that the key that is used for encryption is different from the key that is used for decryption, as shown in the figure. The decryption key cannot, in any reasonable amount of time, be calculated from the encryption key and vice versa.</a:t>
            </a:r>
          </a:p>
          <a:p>
            <a:endParaRPr lang="en-US" sz="1867" dirty="0">
              <a:latin typeface="Arial" panose="020B0604020202020204" pitchFamily="34" charset="0"/>
              <a:cs typeface="Arial" panose="020B0604020202020204" pitchFamily="34" charset="0"/>
            </a:endParaRPr>
          </a:p>
          <a:p>
            <a:r>
              <a:rPr lang="en-US" sz="1867" dirty="0">
                <a:latin typeface="Arial" panose="020B0604020202020204" pitchFamily="34" charset="0"/>
                <a:cs typeface="Arial" panose="020B0604020202020204" pitchFamily="34" charset="0"/>
              </a:rPr>
              <a:t>Examples of protocols that use asymmetric key algorithms include:</a:t>
            </a:r>
          </a:p>
          <a:p>
            <a:endParaRPr lang="en-US" sz="1867" dirty="0">
              <a:latin typeface="Arial" panose="020B0604020202020204" pitchFamily="34" charset="0"/>
              <a:cs typeface="Arial" panose="020B0604020202020204" pitchFamily="34" charset="0"/>
            </a:endParaRPr>
          </a:p>
          <a:p>
            <a:pPr marL="990575" lvl="1" indent="-380990">
              <a:buFont typeface="Arial" panose="020B0604020202020204" pitchFamily="34" charset="0"/>
              <a:buChar char="•"/>
            </a:pPr>
            <a:r>
              <a:rPr lang="en-US" sz="1867" b="1" dirty="0">
                <a:latin typeface="Arial" panose="020B0604020202020204" pitchFamily="34" charset="0"/>
                <a:cs typeface="Arial" panose="020B0604020202020204" pitchFamily="34" charset="0"/>
              </a:rPr>
              <a:t>Internet Key Exchange (IKE) -</a:t>
            </a:r>
            <a:r>
              <a:rPr lang="en-US" sz="1867" dirty="0">
                <a:latin typeface="Arial" panose="020B0604020202020204" pitchFamily="34" charset="0"/>
                <a:cs typeface="Arial" panose="020B0604020202020204" pitchFamily="34" charset="0"/>
              </a:rPr>
              <a:t> This is a fundamental component of IPsec VPNs.</a:t>
            </a:r>
          </a:p>
          <a:p>
            <a:pPr marL="990575" lvl="1" indent="-380990">
              <a:buFont typeface="Arial" panose="020B0604020202020204" pitchFamily="34" charset="0"/>
              <a:buChar char="•"/>
            </a:pPr>
            <a:r>
              <a:rPr lang="en-US" sz="1867" b="1" dirty="0">
                <a:latin typeface="Arial" panose="020B0604020202020204" pitchFamily="34" charset="0"/>
                <a:cs typeface="Arial" panose="020B0604020202020204" pitchFamily="34" charset="0"/>
              </a:rPr>
              <a:t>Secure Socket Layer (SSL) -</a:t>
            </a:r>
            <a:r>
              <a:rPr lang="en-US" sz="1867" dirty="0">
                <a:latin typeface="Arial" panose="020B0604020202020204" pitchFamily="34" charset="0"/>
                <a:cs typeface="Arial" panose="020B0604020202020204" pitchFamily="34" charset="0"/>
              </a:rPr>
              <a:t> This is now implemented as IETF standard Transport Layer Security (TLS).</a:t>
            </a:r>
          </a:p>
          <a:p>
            <a:pPr marL="990575" lvl="1" indent="-380990">
              <a:buFont typeface="Arial" panose="020B0604020202020204" pitchFamily="34" charset="0"/>
              <a:buChar char="•"/>
            </a:pPr>
            <a:r>
              <a:rPr lang="en-US" sz="1867" b="1" dirty="0">
                <a:latin typeface="Arial" panose="020B0604020202020204" pitchFamily="34" charset="0"/>
                <a:cs typeface="Arial" panose="020B0604020202020204" pitchFamily="34" charset="0"/>
              </a:rPr>
              <a:t>Secure Shell (SSH) -</a:t>
            </a:r>
            <a:r>
              <a:rPr lang="en-US" sz="1867" dirty="0">
                <a:latin typeface="Arial" panose="020B0604020202020204" pitchFamily="34" charset="0"/>
                <a:cs typeface="Arial" panose="020B0604020202020204" pitchFamily="34" charset="0"/>
              </a:rPr>
              <a:t> This protocol provides a secure remote access connection to network devices.</a:t>
            </a:r>
          </a:p>
          <a:p>
            <a:pPr marL="990575" lvl="1" indent="-380990">
              <a:buFont typeface="Arial" panose="020B0604020202020204" pitchFamily="34" charset="0"/>
              <a:buChar char="•"/>
            </a:pPr>
            <a:r>
              <a:rPr lang="en-US" sz="1867" b="1" dirty="0">
                <a:latin typeface="Arial" panose="020B0604020202020204" pitchFamily="34" charset="0"/>
                <a:cs typeface="Arial" panose="020B0604020202020204" pitchFamily="34" charset="0"/>
              </a:rPr>
              <a:t>Pretty Good Privacy (PGP) -</a:t>
            </a:r>
            <a:r>
              <a:rPr lang="en-US" sz="1867" dirty="0">
                <a:latin typeface="Arial" panose="020B0604020202020204" pitchFamily="34" charset="0"/>
                <a:cs typeface="Arial" panose="020B0604020202020204" pitchFamily="34" charset="0"/>
              </a:rPr>
              <a:t> This computer program provides cryptographic privacy and authentication. It is often used to increase the security of email communications.</a:t>
            </a:r>
          </a:p>
          <a:p>
            <a:endParaRPr lang="en-US" sz="2400" dirty="0"/>
          </a:p>
        </p:txBody>
      </p:sp>
      <p:pic>
        <p:nvPicPr>
          <p:cNvPr id="5" name="Picture 4">
            <a:extLst>
              <a:ext uri="{FF2B5EF4-FFF2-40B4-BE49-F238E27FC236}">
                <a16:creationId xmlns:a16="http://schemas.microsoft.com/office/drawing/2014/main" id="{DB06C572-529D-4207-AD2F-30AAD8CBA4B0}"/>
              </a:ext>
            </a:extLst>
          </p:cNvPr>
          <p:cNvPicPr>
            <a:picLocks noChangeAspect="1"/>
          </p:cNvPicPr>
          <p:nvPr/>
        </p:nvPicPr>
        <p:blipFill>
          <a:blip r:embed="rId3"/>
          <a:stretch>
            <a:fillRect/>
          </a:stretch>
        </p:blipFill>
        <p:spPr>
          <a:xfrm>
            <a:off x="2158916" y="4542296"/>
            <a:ext cx="6375483" cy="1629905"/>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Asymmetric Encryption - Confidentiality</a:t>
            </a:r>
          </a:p>
        </p:txBody>
      </p:sp>
      <p:sp>
        <p:nvSpPr>
          <p:cNvPr id="5" name="Object4"/>
          <p:cNvSpPr/>
          <p:nvPr/>
        </p:nvSpPr>
        <p:spPr>
          <a:xfrm>
            <a:off x="0" y="947987"/>
            <a:ext cx="12047349" cy="1859796"/>
          </a:xfrm>
          <a:prstGeom prst="rect">
            <a:avLst/>
          </a:prstGeom>
          <a:noFill/>
          <a:ln/>
        </p:spPr>
        <p:txBody>
          <a:bodyPr wrap="square" rtlCol="0" anchor="t"/>
          <a:lstStyle/>
          <a:p>
            <a:r>
              <a:rPr lang="en-US" sz="2133" dirty="0">
                <a:latin typeface="Arial" panose="020B0604020202020204" pitchFamily="34" charset="0"/>
                <a:cs typeface="Arial" panose="020B0604020202020204" pitchFamily="34" charset="0"/>
              </a:rPr>
              <a:t>The process can be summarized using the formula:</a:t>
            </a:r>
          </a:p>
          <a:p>
            <a:endParaRPr lang="en-US" sz="2133" dirty="0">
              <a:latin typeface="Arial" panose="020B0604020202020204" pitchFamily="34" charset="0"/>
              <a:cs typeface="Arial" panose="020B0604020202020204" pitchFamily="34" charset="0"/>
            </a:endParaRPr>
          </a:p>
          <a:p>
            <a:r>
              <a:rPr lang="en-US" sz="2133" b="1" dirty="0">
                <a:latin typeface="Arial" panose="020B0604020202020204" pitchFamily="34" charset="0"/>
                <a:cs typeface="Arial" panose="020B0604020202020204" pitchFamily="34" charset="0"/>
              </a:rPr>
              <a:t>Public Key (Encrypt) + Private Key (Decrypt) = Confidentiality</a:t>
            </a:r>
          </a:p>
          <a:p>
            <a:endParaRPr lang="en-US" sz="2133" dirty="0">
              <a:latin typeface="Arial" panose="020B0604020202020204" pitchFamily="34" charset="0"/>
              <a:cs typeface="Arial" panose="020B0604020202020204" pitchFamily="34" charset="0"/>
            </a:endParaRPr>
          </a:p>
          <a:p>
            <a:r>
              <a:rPr lang="en-US" sz="2133" dirty="0">
                <a:latin typeface="Arial" panose="020B0604020202020204" pitchFamily="34" charset="0"/>
                <a:cs typeface="Arial" panose="020B0604020202020204" pitchFamily="34" charset="0"/>
              </a:rPr>
              <a:t>When the public key is used to encrypt the data, the private key must be used to decrypt the data. Only one host has the private key; therefore, confidentiality is achieved.</a:t>
            </a:r>
          </a:p>
        </p:txBody>
      </p:sp>
      <p:sp>
        <p:nvSpPr>
          <p:cNvPr id="7" name="TextBox 6">
            <a:extLst>
              <a:ext uri="{FF2B5EF4-FFF2-40B4-BE49-F238E27FC236}">
                <a16:creationId xmlns:a16="http://schemas.microsoft.com/office/drawing/2014/main" id="{9E1FFF9D-88BF-48EC-A976-8E751D40CC3A}"/>
              </a:ext>
            </a:extLst>
          </p:cNvPr>
          <p:cNvSpPr txBox="1"/>
          <p:nvPr/>
        </p:nvSpPr>
        <p:spPr>
          <a:xfrm>
            <a:off x="0" y="3160559"/>
            <a:ext cx="4411851" cy="318100"/>
          </a:xfrm>
          <a:prstGeom prst="rect">
            <a:avLst/>
          </a:prstGeom>
          <a:noFill/>
        </p:spPr>
        <p:txBody>
          <a:bodyPr wrap="square">
            <a:spAutoFit/>
          </a:bodyPr>
          <a:lstStyle/>
          <a:p>
            <a:r>
              <a:rPr lang="en-US" sz="1467" dirty="0">
                <a:latin typeface="Arial" panose="020B0604020202020204" pitchFamily="34" charset="0"/>
                <a:cs typeface="Arial" panose="020B0604020202020204" pitchFamily="34" charset="0"/>
              </a:rPr>
              <a:t>Alice requests and obtains Bob’s public key.</a:t>
            </a:r>
          </a:p>
        </p:txBody>
      </p:sp>
      <p:pic>
        <p:nvPicPr>
          <p:cNvPr id="6" name="Picture 5">
            <a:extLst>
              <a:ext uri="{FF2B5EF4-FFF2-40B4-BE49-F238E27FC236}">
                <a16:creationId xmlns:a16="http://schemas.microsoft.com/office/drawing/2014/main" id="{1990E923-6BC1-4B88-AA24-AB7A98960667}"/>
              </a:ext>
            </a:extLst>
          </p:cNvPr>
          <p:cNvPicPr>
            <a:picLocks noChangeAspect="1"/>
          </p:cNvPicPr>
          <p:nvPr/>
        </p:nvPicPr>
        <p:blipFill>
          <a:blip r:embed="rId3"/>
          <a:stretch>
            <a:fillRect/>
          </a:stretch>
        </p:blipFill>
        <p:spPr>
          <a:xfrm>
            <a:off x="382291" y="4277964"/>
            <a:ext cx="3585277" cy="1443265"/>
          </a:xfrm>
          <a:prstGeom prst="rect">
            <a:avLst/>
          </a:prstGeom>
        </p:spPr>
      </p:pic>
      <p:sp>
        <p:nvSpPr>
          <p:cNvPr id="10" name="TextBox 9">
            <a:extLst>
              <a:ext uri="{FF2B5EF4-FFF2-40B4-BE49-F238E27FC236}">
                <a16:creationId xmlns:a16="http://schemas.microsoft.com/office/drawing/2014/main" id="{B9F36B28-E7F1-43D8-B18A-26500A19FA11}"/>
              </a:ext>
            </a:extLst>
          </p:cNvPr>
          <p:cNvSpPr txBox="1"/>
          <p:nvPr/>
        </p:nvSpPr>
        <p:spPr>
          <a:xfrm>
            <a:off x="4096717" y="3165859"/>
            <a:ext cx="4282699" cy="707694"/>
          </a:xfrm>
          <a:prstGeom prst="rect">
            <a:avLst/>
          </a:prstGeom>
          <a:noFill/>
        </p:spPr>
        <p:txBody>
          <a:bodyPr wrap="square">
            <a:spAutoFit/>
          </a:bodyPr>
          <a:lstStyle/>
          <a:p>
            <a:r>
              <a:rPr lang="en-US" sz="1333" dirty="0">
                <a:latin typeface="Arial" panose="020B0604020202020204" pitchFamily="34" charset="0"/>
                <a:cs typeface="Arial" panose="020B0604020202020204" pitchFamily="34" charset="0"/>
              </a:rPr>
              <a:t>Alice uses Bob’s public key to encrypt a message using an agreed-upon algorithm. Alice sends the encrypted message to Bob.</a:t>
            </a:r>
          </a:p>
        </p:txBody>
      </p:sp>
      <p:pic>
        <p:nvPicPr>
          <p:cNvPr id="9" name="Picture 8">
            <a:extLst>
              <a:ext uri="{FF2B5EF4-FFF2-40B4-BE49-F238E27FC236}">
                <a16:creationId xmlns:a16="http://schemas.microsoft.com/office/drawing/2014/main" id="{E64177D3-FB1D-47AB-B008-73263BD1832F}"/>
              </a:ext>
            </a:extLst>
          </p:cNvPr>
          <p:cNvPicPr>
            <a:picLocks noChangeAspect="1"/>
          </p:cNvPicPr>
          <p:nvPr/>
        </p:nvPicPr>
        <p:blipFill>
          <a:blip r:embed="rId4"/>
          <a:stretch>
            <a:fillRect/>
          </a:stretch>
        </p:blipFill>
        <p:spPr>
          <a:xfrm>
            <a:off x="4541001" y="4148338"/>
            <a:ext cx="2313647" cy="2258849"/>
          </a:xfrm>
          <a:prstGeom prst="rect">
            <a:avLst/>
          </a:prstGeom>
        </p:spPr>
      </p:pic>
      <p:sp>
        <p:nvSpPr>
          <p:cNvPr id="13" name="TextBox 12">
            <a:extLst>
              <a:ext uri="{FF2B5EF4-FFF2-40B4-BE49-F238E27FC236}">
                <a16:creationId xmlns:a16="http://schemas.microsoft.com/office/drawing/2014/main" id="{871479CB-4EF0-4D49-B89E-912787D94E50}"/>
              </a:ext>
            </a:extLst>
          </p:cNvPr>
          <p:cNvSpPr txBox="1"/>
          <p:nvPr/>
        </p:nvSpPr>
        <p:spPr>
          <a:xfrm>
            <a:off x="8162442" y="3128931"/>
            <a:ext cx="3884908" cy="1117935"/>
          </a:xfrm>
          <a:prstGeom prst="rect">
            <a:avLst/>
          </a:prstGeom>
          <a:noFill/>
        </p:spPr>
        <p:txBody>
          <a:bodyPr wrap="square">
            <a:spAutoFit/>
          </a:bodyPr>
          <a:lstStyle/>
          <a:p>
            <a:r>
              <a:rPr lang="en-US" sz="1333" dirty="0">
                <a:latin typeface="Arial" panose="020B0604020202020204" pitchFamily="34" charset="0"/>
                <a:cs typeface="Arial" panose="020B0604020202020204" pitchFamily="34" charset="0"/>
              </a:rPr>
              <a:t>Bob then uses his private key to decrypt the message. Since Bob is the only one with the private key, Alice's message can only be decrypted by Bob and thus confidentiality is achieved. </a:t>
            </a:r>
          </a:p>
        </p:txBody>
      </p:sp>
      <p:pic>
        <p:nvPicPr>
          <p:cNvPr id="12" name="Picture 11">
            <a:extLst>
              <a:ext uri="{FF2B5EF4-FFF2-40B4-BE49-F238E27FC236}">
                <a16:creationId xmlns:a16="http://schemas.microsoft.com/office/drawing/2014/main" id="{60E43549-BBA2-406B-9054-6552BCC363BB}"/>
              </a:ext>
            </a:extLst>
          </p:cNvPr>
          <p:cNvPicPr>
            <a:picLocks noChangeAspect="1"/>
          </p:cNvPicPr>
          <p:nvPr/>
        </p:nvPicPr>
        <p:blipFill>
          <a:blip r:embed="rId5"/>
          <a:stretch>
            <a:fillRect/>
          </a:stretch>
        </p:blipFill>
        <p:spPr>
          <a:xfrm>
            <a:off x="9341776" y="4148337"/>
            <a:ext cx="2131363" cy="2083211"/>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Asymmetric Encryption - Authentication</a:t>
            </a:r>
          </a:p>
        </p:txBody>
      </p:sp>
      <p:sp>
        <p:nvSpPr>
          <p:cNvPr id="5" name="Object4"/>
          <p:cNvSpPr/>
          <p:nvPr/>
        </p:nvSpPr>
        <p:spPr>
          <a:xfrm>
            <a:off x="0" y="1219201"/>
            <a:ext cx="10972800" cy="1694481"/>
          </a:xfrm>
          <a:prstGeom prst="rect">
            <a:avLst/>
          </a:prstGeom>
          <a:noFill/>
          <a:ln/>
        </p:spPr>
        <p:txBody>
          <a:bodyPr wrap="square" rtlCol="0" anchor="t"/>
          <a:lstStyle/>
          <a:p>
            <a:r>
              <a:rPr lang="en-US" sz="1867" dirty="0">
                <a:latin typeface="Arial" panose="020B0604020202020204" pitchFamily="34" charset="0"/>
                <a:cs typeface="Arial" panose="020B0604020202020204" pitchFamily="34" charset="0"/>
              </a:rPr>
              <a:t>The authentication objective of asymmetric algorithms is initiated when the encryption process is started with the private key.</a:t>
            </a:r>
          </a:p>
          <a:p>
            <a:endParaRPr lang="en-US" sz="1867" dirty="0"/>
          </a:p>
          <a:p>
            <a:r>
              <a:rPr lang="en-US" sz="1867" dirty="0">
                <a:latin typeface="Arial" panose="020B0604020202020204" pitchFamily="34" charset="0"/>
                <a:cs typeface="Arial" panose="020B0604020202020204" pitchFamily="34" charset="0"/>
              </a:rPr>
              <a:t>The process can be summarized using the formula:</a:t>
            </a:r>
          </a:p>
          <a:p>
            <a:r>
              <a:rPr lang="en-US" sz="1867" b="1" dirty="0"/>
              <a:t>Private Key (Encrypt) + Public Key (Decrypt) = Authentication</a:t>
            </a:r>
            <a:endParaRPr lang="en-US" sz="1867" dirty="0"/>
          </a:p>
        </p:txBody>
      </p:sp>
      <p:sp>
        <p:nvSpPr>
          <p:cNvPr id="7" name="TextBox 6">
            <a:extLst>
              <a:ext uri="{FF2B5EF4-FFF2-40B4-BE49-F238E27FC236}">
                <a16:creationId xmlns:a16="http://schemas.microsoft.com/office/drawing/2014/main" id="{61794AB4-77D2-4CD2-8BEA-9F548B543BDA}"/>
              </a:ext>
            </a:extLst>
          </p:cNvPr>
          <p:cNvSpPr txBox="1"/>
          <p:nvPr/>
        </p:nvSpPr>
        <p:spPr>
          <a:xfrm>
            <a:off x="1" y="3078360"/>
            <a:ext cx="4721817" cy="707694"/>
          </a:xfrm>
          <a:prstGeom prst="rect">
            <a:avLst/>
          </a:prstGeom>
          <a:noFill/>
        </p:spPr>
        <p:txBody>
          <a:bodyPr wrap="square">
            <a:spAutoFit/>
          </a:bodyPr>
          <a:lstStyle/>
          <a:p>
            <a:r>
              <a:rPr lang="en-US" sz="1333" dirty="0">
                <a:latin typeface="Arial" panose="020B0604020202020204" pitchFamily="34" charset="0"/>
                <a:cs typeface="Arial" panose="020B0604020202020204" pitchFamily="34" charset="0"/>
              </a:rPr>
              <a:t>Alice encrypts a message using her private key. Alice sends the encrypted message to Bob. Bob needs to authenticate that the message did indeed come from Alice.</a:t>
            </a:r>
          </a:p>
        </p:txBody>
      </p:sp>
      <p:pic>
        <p:nvPicPr>
          <p:cNvPr id="6" name="Picture 5">
            <a:extLst>
              <a:ext uri="{FF2B5EF4-FFF2-40B4-BE49-F238E27FC236}">
                <a16:creationId xmlns:a16="http://schemas.microsoft.com/office/drawing/2014/main" id="{B2B4C55F-E007-4A72-BBF0-061152755B70}"/>
              </a:ext>
            </a:extLst>
          </p:cNvPr>
          <p:cNvPicPr>
            <a:picLocks noChangeAspect="1"/>
          </p:cNvPicPr>
          <p:nvPr/>
        </p:nvPicPr>
        <p:blipFill>
          <a:blip r:embed="rId3"/>
          <a:stretch>
            <a:fillRect/>
          </a:stretch>
        </p:blipFill>
        <p:spPr>
          <a:xfrm>
            <a:off x="798689" y="3903731"/>
            <a:ext cx="2435292" cy="2167323"/>
          </a:xfrm>
          <a:prstGeom prst="rect">
            <a:avLst/>
          </a:prstGeom>
        </p:spPr>
      </p:pic>
      <p:sp>
        <p:nvSpPr>
          <p:cNvPr id="10" name="TextBox 9">
            <a:extLst>
              <a:ext uri="{FF2B5EF4-FFF2-40B4-BE49-F238E27FC236}">
                <a16:creationId xmlns:a16="http://schemas.microsoft.com/office/drawing/2014/main" id="{7951F5FC-12A6-46E3-8007-0613F211C415}"/>
              </a:ext>
            </a:extLst>
          </p:cNvPr>
          <p:cNvSpPr txBox="1"/>
          <p:nvPr/>
        </p:nvSpPr>
        <p:spPr>
          <a:xfrm>
            <a:off x="4821892" y="3119850"/>
            <a:ext cx="3278555" cy="912814"/>
          </a:xfrm>
          <a:prstGeom prst="rect">
            <a:avLst/>
          </a:prstGeom>
          <a:noFill/>
        </p:spPr>
        <p:txBody>
          <a:bodyPr wrap="square">
            <a:spAutoFit/>
          </a:bodyPr>
          <a:lstStyle/>
          <a:p>
            <a:r>
              <a:rPr lang="en-US" sz="1333" dirty="0">
                <a:latin typeface="Arial" panose="020B0604020202020204" pitchFamily="34" charset="0"/>
                <a:cs typeface="Arial" panose="020B0604020202020204" pitchFamily="34" charset="0"/>
              </a:rPr>
              <a:t>In order to authenticate the message, Bob requests Alice’s public key.</a:t>
            </a:r>
          </a:p>
          <a:p>
            <a:endParaRPr lang="en-US" sz="1333" dirty="0"/>
          </a:p>
          <a:p>
            <a:endParaRPr lang="en-US" sz="1333" dirty="0"/>
          </a:p>
        </p:txBody>
      </p:sp>
      <p:pic>
        <p:nvPicPr>
          <p:cNvPr id="9" name="Picture 8">
            <a:extLst>
              <a:ext uri="{FF2B5EF4-FFF2-40B4-BE49-F238E27FC236}">
                <a16:creationId xmlns:a16="http://schemas.microsoft.com/office/drawing/2014/main" id="{01170A93-95BD-48C2-8D8D-ED7925A6A75B}"/>
              </a:ext>
            </a:extLst>
          </p:cNvPr>
          <p:cNvPicPr>
            <a:picLocks noChangeAspect="1"/>
          </p:cNvPicPr>
          <p:nvPr/>
        </p:nvPicPr>
        <p:blipFill>
          <a:blip r:embed="rId4"/>
          <a:stretch>
            <a:fillRect/>
          </a:stretch>
        </p:blipFill>
        <p:spPr>
          <a:xfrm>
            <a:off x="4411851" y="4217492"/>
            <a:ext cx="4256868" cy="1750961"/>
          </a:xfrm>
          <a:prstGeom prst="rect">
            <a:avLst/>
          </a:prstGeom>
        </p:spPr>
      </p:pic>
      <p:sp>
        <p:nvSpPr>
          <p:cNvPr id="13" name="TextBox 12">
            <a:extLst>
              <a:ext uri="{FF2B5EF4-FFF2-40B4-BE49-F238E27FC236}">
                <a16:creationId xmlns:a16="http://schemas.microsoft.com/office/drawing/2014/main" id="{B08EF5C2-1CA3-4D46-9D68-B7A2AD100A6C}"/>
              </a:ext>
            </a:extLst>
          </p:cNvPr>
          <p:cNvSpPr txBox="1"/>
          <p:nvPr/>
        </p:nvSpPr>
        <p:spPr>
          <a:xfrm>
            <a:off x="8234766" y="3188744"/>
            <a:ext cx="6147661" cy="297454"/>
          </a:xfrm>
          <a:prstGeom prst="rect">
            <a:avLst/>
          </a:prstGeom>
          <a:noFill/>
        </p:spPr>
        <p:txBody>
          <a:bodyPr wrap="square">
            <a:spAutoFit/>
          </a:bodyPr>
          <a:lstStyle/>
          <a:p>
            <a:r>
              <a:rPr lang="en-US" sz="1333" dirty="0">
                <a:latin typeface="Arial" panose="020B0604020202020204" pitchFamily="34" charset="0"/>
                <a:cs typeface="Arial" panose="020B0604020202020204" pitchFamily="34" charset="0"/>
              </a:rPr>
              <a:t>Bob uses Alice’s public key to decrypt the message.</a:t>
            </a:r>
          </a:p>
        </p:txBody>
      </p:sp>
      <p:pic>
        <p:nvPicPr>
          <p:cNvPr id="12" name="Picture 11">
            <a:extLst>
              <a:ext uri="{FF2B5EF4-FFF2-40B4-BE49-F238E27FC236}">
                <a16:creationId xmlns:a16="http://schemas.microsoft.com/office/drawing/2014/main" id="{78B37AFA-C21C-4125-AEED-43D590F96765}"/>
              </a:ext>
            </a:extLst>
          </p:cNvPr>
          <p:cNvPicPr>
            <a:picLocks noChangeAspect="1"/>
          </p:cNvPicPr>
          <p:nvPr/>
        </p:nvPicPr>
        <p:blipFill>
          <a:blip r:embed="rId5"/>
          <a:stretch>
            <a:fillRect/>
          </a:stretch>
        </p:blipFill>
        <p:spPr>
          <a:xfrm>
            <a:off x="8768794" y="3981294"/>
            <a:ext cx="3044161" cy="2012196"/>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b="0" dirty="0">
                <a:latin typeface="+mn-lt"/>
              </a:rPr>
              <a:t>RSA: another important property</a:t>
            </a:r>
            <a:endParaRPr lang="en-US" sz="4400" b="0" dirty="0">
              <a:latin typeface="+mn-lt"/>
            </a:endParaRPr>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40</a:t>
            </a:fld>
            <a:endParaRPr lang="en-US" dirty="0"/>
          </a:p>
        </p:txBody>
      </p:sp>
      <p:sp>
        <p:nvSpPr>
          <p:cNvPr id="8" name="Text Box 3">
            <a:extLst>
              <a:ext uri="{FF2B5EF4-FFF2-40B4-BE49-F238E27FC236}">
                <a16:creationId xmlns:a16="http://schemas.microsoft.com/office/drawing/2014/main" id="{A0E1F4A0-78B0-BD4D-A91E-EC5C08916BD1}"/>
              </a:ext>
            </a:extLst>
          </p:cNvPr>
          <p:cNvSpPr txBox="1">
            <a:spLocks noChangeArrowheads="1"/>
          </p:cNvSpPr>
          <p:nvPr/>
        </p:nvSpPr>
        <p:spPr bwMode="auto">
          <a:xfrm>
            <a:off x="1581180" y="1358325"/>
            <a:ext cx="8040214" cy="584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3200" dirty="0">
                <a:latin typeface="+mn-lt"/>
              </a:rPr>
              <a:t>The following property will be </a:t>
            </a:r>
            <a:r>
              <a:rPr lang="en-US" sz="3200" i="1" dirty="0">
                <a:solidFill>
                  <a:srgbClr val="0012A0"/>
                </a:solidFill>
                <a:latin typeface="+mn-lt"/>
              </a:rPr>
              <a:t>very</a:t>
            </a:r>
            <a:r>
              <a:rPr lang="en-US" sz="3200" dirty="0">
                <a:solidFill>
                  <a:srgbClr val="C00000"/>
                </a:solidFill>
                <a:latin typeface="+mn-lt"/>
              </a:rPr>
              <a:t> </a:t>
            </a:r>
            <a:r>
              <a:rPr lang="en-US" sz="3200" dirty="0">
                <a:latin typeface="+mn-lt"/>
              </a:rPr>
              <a:t>useful later:</a:t>
            </a:r>
            <a:endParaRPr lang="en-US" sz="2800" dirty="0">
              <a:latin typeface="+mn-lt"/>
            </a:endParaRPr>
          </a:p>
        </p:txBody>
      </p:sp>
      <p:grpSp>
        <p:nvGrpSpPr>
          <p:cNvPr id="9" name="Group 4">
            <a:extLst>
              <a:ext uri="{FF2B5EF4-FFF2-40B4-BE49-F238E27FC236}">
                <a16:creationId xmlns:a16="http://schemas.microsoft.com/office/drawing/2014/main" id="{8016FCB0-4AEE-864B-90F8-703500D61B3D}"/>
              </a:ext>
            </a:extLst>
          </p:cNvPr>
          <p:cNvGrpSpPr>
            <a:grpSpLocks/>
          </p:cNvGrpSpPr>
          <p:nvPr/>
        </p:nvGrpSpPr>
        <p:grpSpPr bwMode="auto">
          <a:xfrm>
            <a:off x="2754104" y="2193351"/>
            <a:ext cx="5206997" cy="1008063"/>
            <a:chOff x="512" y="1586"/>
            <a:chExt cx="3280" cy="635"/>
          </a:xfrm>
        </p:grpSpPr>
        <p:grpSp>
          <p:nvGrpSpPr>
            <p:cNvPr id="10" name="Group 5">
              <a:extLst>
                <a:ext uri="{FF2B5EF4-FFF2-40B4-BE49-F238E27FC236}">
                  <a16:creationId xmlns:a16="http://schemas.microsoft.com/office/drawing/2014/main" id="{B4185EBA-7292-654A-9C55-3FD6DFE33D1E}"/>
                </a:ext>
              </a:extLst>
            </p:cNvPr>
            <p:cNvGrpSpPr>
              <a:grpSpLocks/>
            </p:cNvGrpSpPr>
            <p:nvPr/>
          </p:nvGrpSpPr>
          <p:grpSpPr bwMode="auto">
            <a:xfrm>
              <a:off x="512" y="1586"/>
              <a:ext cx="1788" cy="633"/>
              <a:chOff x="1339" y="1706"/>
              <a:chExt cx="1788" cy="633"/>
            </a:xfrm>
          </p:grpSpPr>
          <p:grpSp>
            <p:nvGrpSpPr>
              <p:cNvPr id="17" name="Group 6">
                <a:extLst>
                  <a:ext uri="{FF2B5EF4-FFF2-40B4-BE49-F238E27FC236}">
                    <a16:creationId xmlns:a16="http://schemas.microsoft.com/office/drawing/2014/main" id="{4DEA9E7F-3063-C44A-8BA6-2D10AAC9CAF3}"/>
                  </a:ext>
                </a:extLst>
              </p:cNvPr>
              <p:cNvGrpSpPr>
                <a:grpSpLocks/>
              </p:cNvGrpSpPr>
              <p:nvPr/>
            </p:nvGrpSpPr>
            <p:grpSpPr bwMode="auto">
              <a:xfrm>
                <a:off x="1339" y="1811"/>
                <a:ext cx="1788" cy="528"/>
                <a:chOff x="1710" y="1433"/>
                <a:chExt cx="1788" cy="528"/>
              </a:xfrm>
            </p:grpSpPr>
            <p:sp>
              <p:nvSpPr>
                <p:cNvPr id="20" name="Text Box 7">
                  <a:extLst>
                    <a:ext uri="{FF2B5EF4-FFF2-40B4-BE49-F238E27FC236}">
                      <a16:creationId xmlns:a16="http://schemas.microsoft.com/office/drawing/2014/main" id="{7CA309C3-F398-7342-B829-761DD9380ED8}"/>
                    </a:ext>
                  </a:extLst>
                </p:cNvPr>
                <p:cNvSpPr txBox="1">
                  <a:spLocks noChangeArrowheads="1"/>
                </p:cNvSpPr>
                <p:nvPr/>
              </p:nvSpPr>
              <p:spPr bwMode="auto">
                <a:xfrm>
                  <a:off x="1710" y="1433"/>
                  <a:ext cx="1788"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3200" dirty="0">
                      <a:solidFill>
                        <a:srgbClr val="C00000"/>
                      </a:solidFill>
                      <a:latin typeface="+mn-lt"/>
                      <a:cs typeface="Arial" charset="0"/>
                    </a:rPr>
                    <a:t>K  </a:t>
                  </a:r>
                  <a:r>
                    <a:rPr lang="en-US" sz="3600" dirty="0">
                      <a:solidFill>
                        <a:srgbClr val="C00000"/>
                      </a:solidFill>
                      <a:latin typeface="+mn-lt"/>
                      <a:cs typeface="Arial" charset="0"/>
                    </a:rPr>
                    <a:t>(</a:t>
                  </a:r>
                  <a:r>
                    <a:rPr lang="en-US" sz="3200" dirty="0">
                      <a:solidFill>
                        <a:srgbClr val="C00000"/>
                      </a:solidFill>
                      <a:latin typeface="+mn-lt"/>
                      <a:cs typeface="Arial" charset="0"/>
                    </a:rPr>
                    <a:t>K  (m)</a:t>
                  </a:r>
                  <a:r>
                    <a:rPr lang="en-US" sz="3600" dirty="0">
                      <a:solidFill>
                        <a:srgbClr val="C00000"/>
                      </a:solidFill>
                      <a:latin typeface="+mn-lt"/>
                      <a:cs typeface="Arial" charset="0"/>
                    </a:rPr>
                    <a:t>)</a:t>
                  </a:r>
                  <a:r>
                    <a:rPr lang="en-US" sz="3200" dirty="0">
                      <a:solidFill>
                        <a:srgbClr val="C00000"/>
                      </a:solidFill>
                      <a:latin typeface="+mn-lt"/>
                      <a:cs typeface="Arial" charset="0"/>
                    </a:rPr>
                    <a:t>  =  m </a:t>
                  </a:r>
                </a:p>
              </p:txBody>
            </p:sp>
            <p:sp>
              <p:nvSpPr>
                <p:cNvPr id="21" name="Text Box 8">
                  <a:extLst>
                    <a:ext uri="{FF2B5EF4-FFF2-40B4-BE49-F238E27FC236}">
                      <a16:creationId xmlns:a16="http://schemas.microsoft.com/office/drawing/2014/main" id="{4BE4A247-397C-4B49-A0FE-B01CAD55C6FD}"/>
                    </a:ext>
                  </a:extLst>
                </p:cNvPr>
                <p:cNvSpPr txBox="1">
                  <a:spLocks noChangeArrowheads="1"/>
                </p:cNvSpPr>
                <p:nvPr/>
              </p:nvSpPr>
              <p:spPr bwMode="auto">
                <a:xfrm>
                  <a:off x="2184" y="1631"/>
                  <a:ext cx="240"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B</a:t>
                  </a:r>
                  <a:endParaRPr lang="en-US" sz="3200" dirty="0">
                    <a:solidFill>
                      <a:srgbClr val="C00000"/>
                    </a:solidFill>
                    <a:latin typeface="+mn-lt"/>
                    <a:cs typeface="Arial" charset="0"/>
                  </a:endParaRPr>
                </a:p>
              </p:txBody>
            </p:sp>
            <p:sp>
              <p:nvSpPr>
                <p:cNvPr id="22" name="Text Box 9">
                  <a:extLst>
                    <a:ext uri="{FF2B5EF4-FFF2-40B4-BE49-F238E27FC236}">
                      <a16:creationId xmlns:a16="http://schemas.microsoft.com/office/drawing/2014/main" id="{AE701ACD-F994-B443-8676-C896D17D9C71}"/>
                    </a:ext>
                  </a:extLst>
                </p:cNvPr>
                <p:cNvSpPr txBox="1">
                  <a:spLocks noChangeArrowheads="1"/>
                </p:cNvSpPr>
                <p:nvPr/>
              </p:nvSpPr>
              <p:spPr bwMode="auto">
                <a:xfrm>
                  <a:off x="1854" y="1620"/>
                  <a:ext cx="240"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B</a:t>
                  </a:r>
                  <a:endParaRPr lang="en-US" sz="3200" dirty="0">
                    <a:solidFill>
                      <a:srgbClr val="C00000"/>
                    </a:solidFill>
                    <a:latin typeface="+mn-lt"/>
                    <a:cs typeface="Arial" charset="0"/>
                  </a:endParaRPr>
                </a:p>
              </p:txBody>
            </p:sp>
          </p:grpSp>
          <p:sp>
            <p:nvSpPr>
              <p:cNvPr id="18" name="Text Box 10">
                <a:extLst>
                  <a:ext uri="{FF2B5EF4-FFF2-40B4-BE49-F238E27FC236}">
                    <a16:creationId xmlns:a16="http://schemas.microsoft.com/office/drawing/2014/main" id="{E794409D-DEC5-A249-803E-48D183B57B20}"/>
                  </a:ext>
                </a:extLst>
              </p:cNvPr>
              <p:cNvSpPr txBox="1">
                <a:spLocks noChangeArrowheads="1"/>
              </p:cNvSpPr>
              <p:nvPr/>
            </p:nvSpPr>
            <p:spPr bwMode="auto">
              <a:xfrm>
                <a:off x="1494" y="1706"/>
                <a:ext cx="186"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a:t>
                </a:r>
              </a:p>
            </p:txBody>
          </p:sp>
          <p:sp>
            <p:nvSpPr>
              <p:cNvPr id="19" name="Text Box 11">
                <a:extLst>
                  <a:ext uri="{FF2B5EF4-FFF2-40B4-BE49-F238E27FC236}">
                    <a16:creationId xmlns:a16="http://schemas.microsoft.com/office/drawing/2014/main" id="{CC2E8FA6-62C9-B64C-B493-1F6F047233F4}"/>
                  </a:ext>
                </a:extLst>
              </p:cNvPr>
              <p:cNvSpPr txBox="1">
                <a:spLocks noChangeArrowheads="1"/>
              </p:cNvSpPr>
              <p:nvPr/>
            </p:nvSpPr>
            <p:spPr bwMode="auto">
              <a:xfrm>
                <a:off x="1812" y="1722"/>
                <a:ext cx="229"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a:t>
                </a:r>
              </a:p>
            </p:txBody>
          </p:sp>
        </p:grpSp>
        <p:sp>
          <p:nvSpPr>
            <p:cNvPr id="11" name="Text Box 12">
              <a:extLst>
                <a:ext uri="{FF2B5EF4-FFF2-40B4-BE49-F238E27FC236}">
                  <a16:creationId xmlns:a16="http://schemas.microsoft.com/office/drawing/2014/main" id="{3FD29B7F-090A-A44F-9DB5-BC9E17EDE593}"/>
                </a:ext>
              </a:extLst>
            </p:cNvPr>
            <p:cNvSpPr txBox="1">
              <a:spLocks noChangeArrowheads="1"/>
            </p:cNvSpPr>
            <p:nvPr/>
          </p:nvSpPr>
          <p:spPr bwMode="auto">
            <a:xfrm>
              <a:off x="2515" y="1704"/>
              <a:ext cx="1277" cy="4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3200" dirty="0">
                  <a:solidFill>
                    <a:srgbClr val="C00000"/>
                  </a:solidFill>
                  <a:latin typeface="+mn-lt"/>
                  <a:cs typeface="Arial" charset="0"/>
                </a:rPr>
                <a:t>K  </a:t>
              </a:r>
              <a:r>
                <a:rPr lang="en-US" sz="3600" dirty="0">
                  <a:solidFill>
                    <a:srgbClr val="C00000"/>
                  </a:solidFill>
                  <a:latin typeface="+mn-lt"/>
                  <a:cs typeface="Arial" charset="0"/>
                </a:rPr>
                <a:t>(</a:t>
              </a:r>
              <a:r>
                <a:rPr lang="en-US" sz="3200" dirty="0">
                  <a:solidFill>
                    <a:srgbClr val="C00000"/>
                  </a:solidFill>
                  <a:latin typeface="+mn-lt"/>
                  <a:cs typeface="Arial" charset="0"/>
                </a:rPr>
                <a:t>K  (m)</a:t>
              </a:r>
              <a:r>
                <a:rPr lang="en-US" sz="3600" dirty="0">
                  <a:solidFill>
                    <a:srgbClr val="C00000"/>
                  </a:solidFill>
                  <a:latin typeface="+mn-lt"/>
                  <a:cs typeface="Arial" charset="0"/>
                </a:rPr>
                <a:t>)</a:t>
              </a:r>
              <a:r>
                <a:rPr lang="en-US" sz="3200" dirty="0">
                  <a:solidFill>
                    <a:srgbClr val="C00000"/>
                  </a:solidFill>
                  <a:latin typeface="+mn-lt"/>
                  <a:cs typeface="Arial" charset="0"/>
                </a:rPr>
                <a:t>  </a:t>
              </a:r>
            </a:p>
          </p:txBody>
        </p:sp>
        <p:sp>
          <p:nvSpPr>
            <p:cNvPr id="12" name="Text Box 13">
              <a:extLst>
                <a:ext uri="{FF2B5EF4-FFF2-40B4-BE49-F238E27FC236}">
                  <a16:creationId xmlns:a16="http://schemas.microsoft.com/office/drawing/2014/main" id="{23894D50-3F7E-414D-9D50-733406DA17D3}"/>
                </a:ext>
              </a:extLst>
            </p:cNvPr>
            <p:cNvSpPr txBox="1">
              <a:spLocks noChangeArrowheads="1"/>
            </p:cNvSpPr>
            <p:nvPr/>
          </p:nvSpPr>
          <p:spPr bwMode="auto">
            <a:xfrm>
              <a:off x="2990" y="1890"/>
              <a:ext cx="240"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B</a:t>
              </a:r>
              <a:endParaRPr lang="en-US" sz="3200" dirty="0">
                <a:solidFill>
                  <a:srgbClr val="C00000"/>
                </a:solidFill>
                <a:latin typeface="+mn-lt"/>
                <a:cs typeface="Arial" charset="0"/>
              </a:endParaRPr>
            </a:p>
          </p:txBody>
        </p:sp>
        <p:sp>
          <p:nvSpPr>
            <p:cNvPr id="13" name="Text Box 14">
              <a:extLst>
                <a:ext uri="{FF2B5EF4-FFF2-40B4-BE49-F238E27FC236}">
                  <a16:creationId xmlns:a16="http://schemas.microsoft.com/office/drawing/2014/main" id="{D89D2D53-9991-9F4F-ACA1-CE73046CA7A1}"/>
                </a:ext>
              </a:extLst>
            </p:cNvPr>
            <p:cNvSpPr txBox="1">
              <a:spLocks noChangeArrowheads="1"/>
            </p:cNvSpPr>
            <p:nvPr/>
          </p:nvSpPr>
          <p:spPr bwMode="auto">
            <a:xfrm>
              <a:off x="2653" y="1891"/>
              <a:ext cx="240"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B</a:t>
              </a:r>
              <a:endParaRPr lang="en-US" sz="3200" dirty="0">
                <a:solidFill>
                  <a:srgbClr val="C00000"/>
                </a:solidFill>
                <a:latin typeface="+mn-lt"/>
                <a:cs typeface="Arial" charset="0"/>
              </a:endParaRPr>
            </a:p>
          </p:txBody>
        </p:sp>
        <p:sp>
          <p:nvSpPr>
            <p:cNvPr id="14" name="Text Box 15">
              <a:extLst>
                <a:ext uri="{FF2B5EF4-FFF2-40B4-BE49-F238E27FC236}">
                  <a16:creationId xmlns:a16="http://schemas.microsoft.com/office/drawing/2014/main" id="{30F1D5B7-EC19-7B4D-95C1-F2494D51F7EF}"/>
                </a:ext>
              </a:extLst>
            </p:cNvPr>
            <p:cNvSpPr txBox="1">
              <a:spLocks noChangeArrowheads="1"/>
            </p:cNvSpPr>
            <p:nvPr/>
          </p:nvSpPr>
          <p:spPr bwMode="auto">
            <a:xfrm>
              <a:off x="2655" y="1636"/>
              <a:ext cx="229"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a:t>
              </a:r>
            </a:p>
          </p:txBody>
        </p:sp>
        <p:sp>
          <p:nvSpPr>
            <p:cNvPr id="15" name="Text Box 16">
              <a:extLst>
                <a:ext uri="{FF2B5EF4-FFF2-40B4-BE49-F238E27FC236}">
                  <a16:creationId xmlns:a16="http://schemas.microsoft.com/office/drawing/2014/main" id="{84D77053-58F4-9548-BA15-30800CD9FC0C}"/>
                </a:ext>
              </a:extLst>
            </p:cNvPr>
            <p:cNvSpPr txBox="1">
              <a:spLocks noChangeArrowheads="1"/>
            </p:cNvSpPr>
            <p:nvPr/>
          </p:nvSpPr>
          <p:spPr bwMode="auto">
            <a:xfrm>
              <a:off x="3017" y="1615"/>
              <a:ext cx="186"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a:t>
              </a:r>
            </a:p>
          </p:txBody>
        </p:sp>
        <p:sp>
          <p:nvSpPr>
            <p:cNvPr id="16" name="Text Box 17">
              <a:extLst>
                <a:ext uri="{FF2B5EF4-FFF2-40B4-BE49-F238E27FC236}">
                  <a16:creationId xmlns:a16="http://schemas.microsoft.com/office/drawing/2014/main" id="{D8FA4809-100F-6F42-B949-08EFA64CE5E5}"/>
                </a:ext>
              </a:extLst>
            </p:cNvPr>
            <p:cNvSpPr txBox="1">
              <a:spLocks noChangeArrowheads="1"/>
            </p:cNvSpPr>
            <p:nvPr/>
          </p:nvSpPr>
          <p:spPr bwMode="auto">
            <a:xfrm>
              <a:off x="2253" y="1755"/>
              <a:ext cx="229" cy="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2800" dirty="0">
                  <a:solidFill>
                    <a:srgbClr val="C00000"/>
                  </a:solidFill>
                  <a:latin typeface="+mn-lt"/>
                  <a:cs typeface="Arial" charset="0"/>
                </a:rPr>
                <a:t>=</a:t>
              </a:r>
            </a:p>
          </p:txBody>
        </p:sp>
      </p:grpSp>
      <p:sp>
        <p:nvSpPr>
          <p:cNvPr id="23" name="Text Box 18">
            <a:extLst>
              <a:ext uri="{FF2B5EF4-FFF2-40B4-BE49-F238E27FC236}">
                <a16:creationId xmlns:a16="http://schemas.microsoft.com/office/drawing/2014/main" id="{340CC0E8-B62C-504E-AEB1-6848700A4E1C}"/>
              </a:ext>
            </a:extLst>
          </p:cNvPr>
          <p:cNvSpPr txBox="1">
            <a:spLocks noChangeArrowheads="1"/>
          </p:cNvSpPr>
          <p:nvPr/>
        </p:nvSpPr>
        <p:spPr bwMode="auto">
          <a:xfrm>
            <a:off x="2263568" y="3423663"/>
            <a:ext cx="2917825"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3200" dirty="0">
                <a:latin typeface="+mn-lt"/>
              </a:rPr>
              <a:t>use public key first, followed by private key </a:t>
            </a:r>
            <a:endParaRPr lang="en-US" sz="2800" dirty="0">
              <a:latin typeface="+mn-lt"/>
            </a:endParaRPr>
          </a:p>
        </p:txBody>
      </p:sp>
      <p:sp>
        <p:nvSpPr>
          <p:cNvPr id="24" name="Text Box 19">
            <a:extLst>
              <a:ext uri="{FF2B5EF4-FFF2-40B4-BE49-F238E27FC236}">
                <a16:creationId xmlns:a16="http://schemas.microsoft.com/office/drawing/2014/main" id="{E3A42832-F508-B343-8C8C-BEF9E3FFA5B5}"/>
              </a:ext>
            </a:extLst>
          </p:cNvPr>
          <p:cNvSpPr txBox="1">
            <a:spLocks noChangeArrowheads="1"/>
          </p:cNvSpPr>
          <p:nvPr/>
        </p:nvSpPr>
        <p:spPr bwMode="auto">
          <a:xfrm>
            <a:off x="5594143" y="3415725"/>
            <a:ext cx="2917825"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3200" dirty="0">
                <a:latin typeface="+mn-lt"/>
              </a:rPr>
              <a:t>use private key first, followed by public key </a:t>
            </a:r>
            <a:endParaRPr lang="en-US" sz="2800" dirty="0">
              <a:latin typeface="+mn-lt"/>
            </a:endParaRPr>
          </a:p>
        </p:txBody>
      </p:sp>
      <p:sp>
        <p:nvSpPr>
          <p:cNvPr id="25" name="AutoShape 20">
            <a:extLst>
              <a:ext uri="{FF2B5EF4-FFF2-40B4-BE49-F238E27FC236}">
                <a16:creationId xmlns:a16="http://schemas.microsoft.com/office/drawing/2014/main" id="{02AA67A9-2B3D-0D41-9805-A055EFEABF26}"/>
              </a:ext>
            </a:extLst>
          </p:cNvPr>
          <p:cNvSpPr>
            <a:spLocks/>
          </p:cNvSpPr>
          <p:nvPr/>
        </p:nvSpPr>
        <p:spPr bwMode="auto">
          <a:xfrm rot="5400000">
            <a:off x="3581193" y="2445763"/>
            <a:ext cx="138112" cy="1509712"/>
          </a:xfrm>
          <a:prstGeom prst="rightBrace">
            <a:avLst>
              <a:gd name="adj1" fmla="val 91092"/>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2000" dirty="0">
              <a:solidFill>
                <a:srgbClr val="C00000"/>
              </a:solidFill>
              <a:cs typeface="Arial" charset="0"/>
            </a:endParaRPr>
          </a:p>
        </p:txBody>
      </p:sp>
      <p:sp>
        <p:nvSpPr>
          <p:cNvPr id="26" name="AutoShape 21">
            <a:extLst>
              <a:ext uri="{FF2B5EF4-FFF2-40B4-BE49-F238E27FC236}">
                <a16:creationId xmlns:a16="http://schemas.microsoft.com/office/drawing/2014/main" id="{635B218B-7A80-474D-B6FE-1FEED4F297EF}"/>
              </a:ext>
            </a:extLst>
          </p:cNvPr>
          <p:cNvSpPr>
            <a:spLocks/>
          </p:cNvSpPr>
          <p:nvPr/>
        </p:nvSpPr>
        <p:spPr bwMode="auto">
          <a:xfrm rot="5400000">
            <a:off x="6853030" y="2437825"/>
            <a:ext cx="138113" cy="1509713"/>
          </a:xfrm>
          <a:prstGeom prst="rightBrace">
            <a:avLst>
              <a:gd name="adj1" fmla="val 91092"/>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2000" dirty="0">
              <a:solidFill>
                <a:srgbClr val="C00000"/>
              </a:solidFill>
              <a:cs typeface="Arial" charset="0"/>
            </a:endParaRPr>
          </a:p>
        </p:txBody>
      </p:sp>
      <p:sp>
        <p:nvSpPr>
          <p:cNvPr id="27" name="Text Box 22">
            <a:extLst>
              <a:ext uri="{FF2B5EF4-FFF2-40B4-BE49-F238E27FC236}">
                <a16:creationId xmlns:a16="http://schemas.microsoft.com/office/drawing/2014/main" id="{133B9DA1-4813-804A-BDEB-BC6F62E808E0}"/>
              </a:ext>
            </a:extLst>
          </p:cNvPr>
          <p:cNvSpPr txBox="1">
            <a:spLocks noChangeArrowheads="1"/>
          </p:cNvSpPr>
          <p:nvPr/>
        </p:nvSpPr>
        <p:spPr bwMode="auto">
          <a:xfrm>
            <a:off x="3314700" y="5255845"/>
            <a:ext cx="469969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r>
              <a:rPr lang="en-US" sz="3600" i="1" dirty="0">
                <a:solidFill>
                  <a:srgbClr val="C00000"/>
                </a:solidFill>
                <a:latin typeface="+mn-lt"/>
              </a:rPr>
              <a:t>result is the same!</a:t>
            </a:r>
            <a:r>
              <a:rPr lang="en-US" sz="3600" dirty="0">
                <a:solidFill>
                  <a:srgbClr val="C00000"/>
                </a:solidFill>
                <a:latin typeface="+mn-lt"/>
              </a:rPr>
              <a:t> </a:t>
            </a:r>
          </a:p>
        </p:txBody>
      </p:sp>
    </p:spTree>
    <p:extLst>
      <p:ext uri="{BB962C8B-B14F-4D97-AF65-F5344CB8AC3E}">
        <p14:creationId xmlns:p14="http://schemas.microsoft.com/office/powerpoint/2010/main" val="260700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b="0" dirty="0">
                <a:latin typeface="+mn-lt"/>
              </a:rPr>
              <a:t>RSA in practice: session keys</a:t>
            </a:r>
            <a:endParaRPr lang="en-US" sz="4400" b="0" dirty="0">
              <a:latin typeface="+mn-lt"/>
            </a:endParaRPr>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41</a:t>
            </a:fld>
            <a:endParaRPr lang="en-US" dirty="0"/>
          </a:p>
        </p:txBody>
      </p:sp>
      <p:sp>
        <p:nvSpPr>
          <p:cNvPr id="5" name="Rectangle 3">
            <a:extLst>
              <a:ext uri="{FF2B5EF4-FFF2-40B4-BE49-F238E27FC236}">
                <a16:creationId xmlns:a16="http://schemas.microsoft.com/office/drawing/2014/main" id="{DB9CF750-12CC-3F42-84BE-176B87ACB504}"/>
              </a:ext>
            </a:extLst>
          </p:cNvPr>
          <p:cNvSpPr txBox="1">
            <a:spLocks noChangeArrowheads="1"/>
          </p:cNvSpPr>
          <p:nvPr/>
        </p:nvSpPr>
        <p:spPr>
          <a:xfrm>
            <a:off x="959608" y="1354068"/>
            <a:ext cx="10424009"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39725"/>
            <a:r>
              <a:rPr lang="en-US" sz="3200" dirty="0"/>
              <a:t>exponentiation in RSA is computationally intensive</a:t>
            </a:r>
          </a:p>
          <a:p>
            <a:pPr indent="-339725"/>
            <a:r>
              <a:rPr lang="en-US" sz="3200" dirty="0"/>
              <a:t>DES is at least 100 times faster than RSA</a:t>
            </a:r>
          </a:p>
          <a:p>
            <a:pPr indent="-339725"/>
            <a:r>
              <a:rPr lang="en-US" sz="3200" dirty="0"/>
              <a:t>use public key crypto to establish secure connection, then establish second key – symmetric session key – for encrypting data</a:t>
            </a:r>
          </a:p>
          <a:p>
            <a:pPr>
              <a:spcBef>
                <a:spcPct val="60000"/>
              </a:spcBef>
              <a:buFont typeface="Wingdings" charset="0"/>
              <a:buNone/>
            </a:pPr>
            <a:r>
              <a:rPr lang="en-US" sz="3200" dirty="0">
                <a:solidFill>
                  <a:srgbClr val="0012A0"/>
                </a:solidFill>
              </a:rPr>
              <a:t>session key, K</a:t>
            </a:r>
            <a:r>
              <a:rPr lang="en-US" sz="3200" baseline="-25000" dirty="0">
                <a:solidFill>
                  <a:srgbClr val="0012A0"/>
                </a:solidFill>
              </a:rPr>
              <a:t>S</a:t>
            </a:r>
          </a:p>
          <a:p>
            <a:pPr marL="457200"/>
            <a:r>
              <a:rPr lang="en-US" dirty="0"/>
              <a:t>Bob and Alice use RSA to exchange a symmetric session key K</a:t>
            </a:r>
            <a:r>
              <a:rPr lang="en-US" baseline="-25000" dirty="0"/>
              <a:t>S</a:t>
            </a:r>
          </a:p>
          <a:p>
            <a:pPr marL="457200"/>
            <a:r>
              <a:rPr lang="en-US" dirty="0"/>
              <a:t>once both have K</a:t>
            </a:r>
            <a:r>
              <a:rPr lang="en-US" baseline="-25000" dirty="0"/>
              <a:t>S</a:t>
            </a:r>
            <a:r>
              <a:rPr lang="en-US" dirty="0"/>
              <a:t>, they use symmetric key cryptography</a:t>
            </a:r>
          </a:p>
          <a:p>
            <a:endParaRPr lang="en-US" dirty="0">
              <a:latin typeface="Gill Sans MT" charset="0"/>
            </a:endParaRPr>
          </a:p>
        </p:txBody>
      </p:sp>
    </p:spTree>
    <p:extLst>
      <p:ext uri="{BB962C8B-B14F-4D97-AF65-F5344CB8AC3E}">
        <p14:creationId xmlns:p14="http://schemas.microsoft.com/office/powerpoint/2010/main" val="1684520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b="0" dirty="0">
                <a:latin typeface="+mn-lt"/>
              </a:rPr>
              <a:t>Digital signatures </a:t>
            </a:r>
            <a:endParaRPr lang="en-US" sz="4400" b="0" dirty="0">
              <a:latin typeface="+mn-lt"/>
            </a:endParaRPr>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42</a:t>
            </a:fld>
            <a:endParaRPr lang="en-US" dirty="0"/>
          </a:p>
        </p:txBody>
      </p:sp>
      <p:sp>
        <p:nvSpPr>
          <p:cNvPr id="6" name="Rectangle 3">
            <a:extLst>
              <a:ext uri="{FF2B5EF4-FFF2-40B4-BE49-F238E27FC236}">
                <a16:creationId xmlns:a16="http://schemas.microsoft.com/office/drawing/2014/main" id="{76247566-7DA7-1B43-9739-70BD8636B3D5}"/>
              </a:ext>
            </a:extLst>
          </p:cNvPr>
          <p:cNvSpPr txBox="1">
            <a:spLocks noChangeArrowheads="1"/>
          </p:cNvSpPr>
          <p:nvPr/>
        </p:nvSpPr>
        <p:spPr>
          <a:xfrm>
            <a:off x="671444" y="1174405"/>
            <a:ext cx="11215756" cy="337109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0"/>
              <a:buNone/>
            </a:pPr>
            <a:r>
              <a:rPr lang="en-US" sz="3200" dirty="0">
                <a:solidFill>
                  <a:srgbClr val="C00000"/>
                </a:solidFill>
              </a:rPr>
              <a:t>cryptographic technique analogous to hand-written signatures:</a:t>
            </a:r>
          </a:p>
          <a:p>
            <a:r>
              <a:rPr lang="en-US" dirty="0"/>
              <a:t>sender (Bob) digitally signs document: he is document owner/creator. </a:t>
            </a:r>
          </a:p>
          <a:p>
            <a:r>
              <a:rPr lang="en-US" i="1" dirty="0">
                <a:solidFill>
                  <a:srgbClr val="000099"/>
                </a:solidFill>
              </a:rPr>
              <a:t>verifiable, nonforgeable:</a:t>
            </a:r>
            <a:r>
              <a:rPr lang="en-US" i="1" dirty="0"/>
              <a:t> </a:t>
            </a:r>
            <a:r>
              <a:rPr lang="en-US" dirty="0"/>
              <a:t>recipient (Alice) can prove to someone that Bob, and no one else (including Alice), must have signed document </a:t>
            </a:r>
          </a:p>
          <a:p>
            <a:r>
              <a:rPr lang="en-US" dirty="0">
                <a:solidFill>
                  <a:srgbClr val="C00000"/>
                </a:solidFill>
              </a:rPr>
              <a:t>simple digital signature for message m:</a:t>
            </a:r>
          </a:p>
          <a:p>
            <a:pPr lvl="1"/>
            <a:r>
              <a:rPr lang="en-US" dirty="0"/>
              <a:t>Bob signs m by encrypting with his private key K</a:t>
            </a:r>
            <a:r>
              <a:rPr lang="en-US" baseline="-25000" dirty="0"/>
              <a:t>B</a:t>
            </a:r>
            <a:r>
              <a:rPr lang="en-US" dirty="0"/>
              <a:t>, creating “</a:t>
            </a:r>
            <a:r>
              <a:rPr lang="en-US" altLang="ja-JP" dirty="0"/>
              <a:t>signed” message, K</a:t>
            </a:r>
            <a:r>
              <a:rPr lang="en-US" altLang="ja-JP" baseline="-25000" dirty="0"/>
              <a:t>B</a:t>
            </a:r>
            <a:r>
              <a:rPr lang="en-US" altLang="ja-JP" baseline="30000" dirty="0"/>
              <a:t>-</a:t>
            </a:r>
            <a:r>
              <a:rPr lang="en-US" altLang="ja-JP" dirty="0"/>
              <a:t>(m)</a:t>
            </a:r>
            <a:endParaRPr lang="en-US" dirty="0"/>
          </a:p>
          <a:p>
            <a:endParaRPr lang="en-US" dirty="0"/>
          </a:p>
        </p:txBody>
      </p:sp>
      <p:sp>
        <p:nvSpPr>
          <p:cNvPr id="31" name="Text Box 9">
            <a:extLst>
              <a:ext uri="{FF2B5EF4-FFF2-40B4-BE49-F238E27FC236}">
                <a16:creationId xmlns:a16="http://schemas.microsoft.com/office/drawing/2014/main" id="{16595CF5-7C18-5646-8CF5-290FD73438AC}"/>
              </a:ext>
            </a:extLst>
          </p:cNvPr>
          <p:cNvSpPr txBox="1">
            <a:spLocks noChangeArrowheads="1"/>
          </p:cNvSpPr>
          <p:nvPr/>
        </p:nvSpPr>
        <p:spPr bwMode="auto">
          <a:xfrm>
            <a:off x="1593367" y="4292739"/>
            <a:ext cx="2735262" cy="3968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C00000"/>
                </a:solidFill>
                <a:effectLst/>
                <a:uLnTx/>
                <a:uFillTx/>
                <a:latin typeface="Arial" charset="0"/>
                <a:ea typeface="ＭＳ Ｐゴシック" charset="0"/>
                <a:cs typeface="Arial" charset="0"/>
              </a:rPr>
              <a:t>Bob</a:t>
            </a:r>
            <a:r>
              <a:rPr kumimoji="0" lang="en-US" altLang="ja-JP" sz="2000" b="0" i="0" u="none" strike="noStrike" kern="0" cap="none" spc="0" normalizeH="0" baseline="0" noProof="0" dirty="0">
                <a:ln>
                  <a:noFill/>
                </a:ln>
                <a:solidFill>
                  <a:srgbClr val="C00000"/>
                </a:solidFill>
                <a:effectLst/>
                <a:uLnTx/>
                <a:uFillTx/>
                <a:latin typeface="Arial" charset="0"/>
                <a:ea typeface="ＭＳ Ｐゴシック" charset="0"/>
                <a:cs typeface="Arial" charset="0"/>
              </a:rPr>
              <a:t>’</a:t>
            </a:r>
            <a:r>
              <a:rPr kumimoji="0" lang="en-US" sz="2000" b="0" i="0" u="none" strike="noStrike" kern="0" cap="none" spc="0" normalizeH="0" baseline="0" noProof="0" dirty="0">
                <a:ln>
                  <a:noFill/>
                </a:ln>
                <a:solidFill>
                  <a:srgbClr val="C00000"/>
                </a:solidFill>
                <a:effectLst/>
                <a:uLnTx/>
                <a:uFillTx/>
                <a:latin typeface="Arial" charset="0"/>
                <a:ea typeface="ＭＳ Ｐゴシック" charset="0"/>
                <a:cs typeface="Arial" charset="0"/>
              </a:rPr>
              <a:t>s message, m</a:t>
            </a:r>
          </a:p>
        </p:txBody>
      </p:sp>
      <p:sp>
        <p:nvSpPr>
          <p:cNvPr id="32" name="Rectangle 10">
            <a:extLst>
              <a:ext uri="{FF2B5EF4-FFF2-40B4-BE49-F238E27FC236}">
                <a16:creationId xmlns:a16="http://schemas.microsoft.com/office/drawing/2014/main" id="{999B2F42-1C49-3242-9F33-AABB02BA69A4}"/>
              </a:ext>
            </a:extLst>
          </p:cNvPr>
          <p:cNvSpPr>
            <a:spLocks noChangeArrowheads="1"/>
          </p:cNvSpPr>
          <p:nvPr/>
        </p:nvSpPr>
        <p:spPr bwMode="auto">
          <a:xfrm>
            <a:off x="5082692" y="5054739"/>
            <a:ext cx="1516891" cy="1147279"/>
          </a:xfrm>
          <a:prstGeom prst="rect">
            <a:avLst/>
          </a:prstGeom>
          <a:solidFill>
            <a:srgbClr val="0012A0"/>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33" name="Text Box 11">
            <a:extLst>
              <a:ext uri="{FF2B5EF4-FFF2-40B4-BE49-F238E27FC236}">
                <a16:creationId xmlns:a16="http://schemas.microsoft.com/office/drawing/2014/main" id="{D59055E0-0F4A-D44C-9AF9-3829B5D57627}"/>
              </a:ext>
            </a:extLst>
          </p:cNvPr>
          <p:cNvSpPr txBox="1">
            <a:spLocks noChangeArrowheads="1"/>
          </p:cNvSpPr>
          <p:nvPr/>
        </p:nvSpPr>
        <p:spPr bwMode="auto">
          <a:xfrm>
            <a:off x="5162134" y="5102916"/>
            <a:ext cx="1368425" cy="10160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dirty="0">
                <a:solidFill>
                  <a:srgbClr val="FFFFFF"/>
                </a:solidFill>
                <a:latin typeface="Arial" charset="0"/>
                <a:cs typeface="Arial" charset="0"/>
              </a:rPr>
              <a:t>Public key</a:t>
            </a:r>
          </a:p>
          <a:p>
            <a:pPr algn="ctr" eaLnBrk="0" fontAlgn="base" hangingPunct="0">
              <a:spcBef>
                <a:spcPct val="0"/>
              </a:spcBef>
              <a:spcAft>
                <a:spcPct val="0"/>
              </a:spcAft>
              <a:defRPr/>
            </a:pPr>
            <a:r>
              <a:rPr lang="en-US" dirty="0">
                <a:solidFill>
                  <a:srgbClr val="FFFFFF"/>
                </a:solidFill>
                <a:latin typeface="Arial" charset="0"/>
                <a:cs typeface="Arial" charset="0"/>
              </a:rPr>
              <a:t>encryption</a:t>
            </a:r>
          </a:p>
          <a:p>
            <a:pPr algn="ctr" eaLnBrk="0" fontAlgn="base" hangingPunct="0">
              <a:spcBef>
                <a:spcPct val="0"/>
              </a:spcBef>
              <a:spcAft>
                <a:spcPct val="0"/>
              </a:spcAft>
              <a:defRPr/>
            </a:pPr>
            <a:r>
              <a:rPr lang="en-US" dirty="0">
                <a:solidFill>
                  <a:srgbClr val="FFFFFF"/>
                </a:solidFill>
                <a:latin typeface="Arial" charset="0"/>
                <a:cs typeface="Arial" charset="0"/>
              </a:rPr>
              <a:t>algorithm</a:t>
            </a:r>
          </a:p>
        </p:txBody>
      </p:sp>
      <p:sp>
        <p:nvSpPr>
          <p:cNvPr id="34" name="Line 12">
            <a:extLst>
              <a:ext uri="{FF2B5EF4-FFF2-40B4-BE49-F238E27FC236}">
                <a16:creationId xmlns:a16="http://schemas.microsoft.com/office/drawing/2014/main" id="{42BF7666-AEBA-894D-81D3-7072838002DA}"/>
              </a:ext>
            </a:extLst>
          </p:cNvPr>
          <p:cNvSpPr>
            <a:spLocks noChangeShapeType="1"/>
          </p:cNvSpPr>
          <p:nvPr/>
        </p:nvSpPr>
        <p:spPr bwMode="auto">
          <a:xfrm>
            <a:off x="4205080" y="5531541"/>
            <a:ext cx="674688"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 name="Text Box 13">
            <a:extLst>
              <a:ext uri="{FF2B5EF4-FFF2-40B4-BE49-F238E27FC236}">
                <a16:creationId xmlns:a16="http://schemas.microsoft.com/office/drawing/2014/main" id="{DCB23176-B5BF-834E-BAE0-A1D3AA7AD5BD}"/>
              </a:ext>
            </a:extLst>
          </p:cNvPr>
          <p:cNvSpPr txBox="1">
            <a:spLocks noChangeArrowheads="1"/>
          </p:cNvSpPr>
          <p:nvPr/>
        </p:nvSpPr>
        <p:spPr bwMode="auto">
          <a:xfrm>
            <a:off x="5849454" y="4245114"/>
            <a:ext cx="1762125" cy="6413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800" dirty="0">
                <a:solidFill>
                  <a:srgbClr val="000000"/>
                </a:solidFill>
                <a:latin typeface="Arial" charset="0"/>
                <a:cs typeface="Arial" charset="0"/>
              </a:rPr>
              <a:t>Bob’s private</a:t>
            </a:r>
          </a:p>
          <a:p>
            <a:pPr eaLnBrk="0" fontAlgn="base" hangingPunct="0">
              <a:spcBef>
                <a:spcPct val="0"/>
              </a:spcBef>
              <a:spcAft>
                <a:spcPct val="0"/>
              </a:spcAft>
              <a:defRPr/>
            </a:pPr>
            <a:r>
              <a:rPr lang="en-US" sz="1800" dirty="0">
                <a:solidFill>
                  <a:srgbClr val="000000"/>
                </a:solidFill>
                <a:latin typeface="Arial" charset="0"/>
                <a:cs typeface="Arial" charset="0"/>
              </a:rPr>
              <a:t>key </a:t>
            </a:r>
          </a:p>
        </p:txBody>
      </p:sp>
      <p:pic>
        <p:nvPicPr>
          <p:cNvPr id="36" name="Picture 14" descr="BS00768_[1]">
            <a:extLst>
              <a:ext uri="{FF2B5EF4-FFF2-40B4-BE49-F238E27FC236}">
                <a16:creationId xmlns:a16="http://schemas.microsoft.com/office/drawing/2014/main" id="{9DA5D995-915C-1E4A-94EE-8940D5B20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flipV="1">
            <a:off x="4955692" y="4426089"/>
            <a:ext cx="458787" cy="236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37" name="Group 15">
            <a:extLst>
              <a:ext uri="{FF2B5EF4-FFF2-40B4-BE49-F238E27FC236}">
                <a16:creationId xmlns:a16="http://schemas.microsoft.com/office/drawing/2014/main" id="{954129EF-8C19-B449-B2B5-A62BC61F213F}"/>
              </a:ext>
            </a:extLst>
          </p:cNvPr>
          <p:cNvGrpSpPr>
            <a:grpSpLocks/>
          </p:cNvGrpSpPr>
          <p:nvPr/>
        </p:nvGrpSpPr>
        <p:grpSpPr bwMode="auto">
          <a:xfrm>
            <a:off x="5427179" y="4194314"/>
            <a:ext cx="533400" cy="628650"/>
            <a:chOff x="2994" y="2058"/>
            <a:chExt cx="336" cy="396"/>
          </a:xfrm>
        </p:grpSpPr>
        <p:grpSp>
          <p:nvGrpSpPr>
            <p:cNvPr id="38" name="Group 16">
              <a:extLst>
                <a:ext uri="{FF2B5EF4-FFF2-40B4-BE49-F238E27FC236}">
                  <a16:creationId xmlns:a16="http://schemas.microsoft.com/office/drawing/2014/main" id="{AEC95C76-7D3F-F94E-99AA-691126FDE998}"/>
                </a:ext>
              </a:extLst>
            </p:cNvPr>
            <p:cNvGrpSpPr>
              <a:grpSpLocks/>
            </p:cNvGrpSpPr>
            <p:nvPr/>
          </p:nvGrpSpPr>
          <p:grpSpPr bwMode="auto">
            <a:xfrm>
              <a:off x="2994" y="2144"/>
              <a:ext cx="336" cy="310"/>
              <a:chOff x="2994" y="2144"/>
              <a:chExt cx="336" cy="310"/>
            </a:xfrm>
          </p:grpSpPr>
          <p:sp>
            <p:nvSpPr>
              <p:cNvPr id="40" name="Text Box 17">
                <a:extLst>
                  <a:ext uri="{FF2B5EF4-FFF2-40B4-BE49-F238E27FC236}">
                    <a16:creationId xmlns:a16="http://schemas.microsoft.com/office/drawing/2014/main" id="{9F552C79-49EC-5C4C-B858-52FE65A4EF69}"/>
                  </a:ext>
                </a:extLst>
              </p:cNvPr>
              <p:cNvSpPr txBox="1">
                <a:spLocks noChangeArrowheads="1"/>
              </p:cNvSpPr>
              <p:nvPr/>
            </p:nvSpPr>
            <p:spPr bwMode="auto">
              <a:xfrm>
                <a:off x="2994" y="2144"/>
                <a:ext cx="269" cy="25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dirty="0">
                    <a:solidFill>
                      <a:srgbClr val="C00000"/>
                    </a:solidFill>
                    <a:latin typeface="Arial" charset="0"/>
                    <a:cs typeface="Arial" charset="0"/>
                  </a:rPr>
                  <a:t>K </a:t>
                </a:r>
              </a:p>
            </p:txBody>
          </p:sp>
          <p:sp>
            <p:nvSpPr>
              <p:cNvPr id="41" name="Text Box 18">
                <a:extLst>
                  <a:ext uri="{FF2B5EF4-FFF2-40B4-BE49-F238E27FC236}">
                    <a16:creationId xmlns:a16="http://schemas.microsoft.com/office/drawing/2014/main" id="{56339FF9-7A5C-A049-BF66-D38AA279363F}"/>
                  </a:ext>
                </a:extLst>
              </p:cNvPr>
              <p:cNvSpPr txBox="1">
                <a:spLocks noChangeArrowheads="1"/>
              </p:cNvSpPr>
              <p:nvPr/>
            </p:nvSpPr>
            <p:spPr bwMode="auto">
              <a:xfrm>
                <a:off x="3128" y="2241"/>
                <a:ext cx="202" cy="21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B</a:t>
                </a:r>
              </a:p>
            </p:txBody>
          </p:sp>
        </p:grpSp>
        <p:sp>
          <p:nvSpPr>
            <p:cNvPr id="39" name="Text Box 19">
              <a:extLst>
                <a:ext uri="{FF2B5EF4-FFF2-40B4-BE49-F238E27FC236}">
                  <a16:creationId xmlns:a16="http://schemas.microsoft.com/office/drawing/2014/main" id="{ED944B1D-3083-2A49-B687-9F8D79D0BAFA}"/>
                </a:ext>
              </a:extLst>
            </p:cNvPr>
            <p:cNvSpPr txBox="1">
              <a:spLocks noChangeArrowheads="1"/>
            </p:cNvSpPr>
            <p:nvPr/>
          </p:nvSpPr>
          <p:spPr bwMode="auto">
            <a:xfrm>
              <a:off x="3140" y="2058"/>
              <a:ext cx="160" cy="21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a:t>
              </a:r>
            </a:p>
          </p:txBody>
        </p:sp>
      </p:grpSp>
      <p:sp>
        <p:nvSpPr>
          <p:cNvPr id="42" name="Line 20">
            <a:extLst>
              <a:ext uri="{FF2B5EF4-FFF2-40B4-BE49-F238E27FC236}">
                <a16:creationId xmlns:a16="http://schemas.microsoft.com/office/drawing/2014/main" id="{38C448CC-0BC5-6A41-917E-B897438AC175}"/>
              </a:ext>
            </a:extLst>
          </p:cNvPr>
          <p:cNvSpPr>
            <a:spLocks noChangeShapeType="1"/>
          </p:cNvSpPr>
          <p:nvPr/>
        </p:nvSpPr>
        <p:spPr bwMode="auto">
          <a:xfrm>
            <a:off x="5430354" y="4578489"/>
            <a:ext cx="1588" cy="469900"/>
          </a:xfrm>
          <a:prstGeom prst="line">
            <a:avLst/>
          </a:prstGeom>
          <a:noFill/>
          <a:ln w="38100">
            <a:solidFill>
              <a:srgbClr val="000000"/>
            </a:solidFill>
            <a:prstDash val="sysDot"/>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 name="Line 21">
            <a:extLst>
              <a:ext uri="{FF2B5EF4-FFF2-40B4-BE49-F238E27FC236}">
                <a16:creationId xmlns:a16="http://schemas.microsoft.com/office/drawing/2014/main" id="{553D03E9-7542-F443-A643-1F22BEEF7D76}"/>
              </a:ext>
            </a:extLst>
          </p:cNvPr>
          <p:cNvSpPr>
            <a:spLocks noChangeShapeType="1"/>
          </p:cNvSpPr>
          <p:nvPr/>
        </p:nvSpPr>
        <p:spPr bwMode="auto">
          <a:xfrm>
            <a:off x="6720784" y="5518289"/>
            <a:ext cx="674688"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60" name="Group 59">
            <a:extLst>
              <a:ext uri="{FF2B5EF4-FFF2-40B4-BE49-F238E27FC236}">
                <a16:creationId xmlns:a16="http://schemas.microsoft.com/office/drawing/2014/main" id="{F9865779-4372-244B-AC15-D7C762A8A14C}"/>
              </a:ext>
            </a:extLst>
          </p:cNvPr>
          <p:cNvGrpSpPr/>
          <p:nvPr/>
        </p:nvGrpSpPr>
        <p:grpSpPr>
          <a:xfrm>
            <a:off x="7968289" y="4143377"/>
            <a:ext cx="1164873" cy="638175"/>
            <a:chOff x="8750169" y="4275897"/>
            <a:chExt cx="1164873" cy="638175"/>
          </a:xfrm>
        </p:grpSpPr>
        <p:sp>
          <p:nvSpPr>
            <p:cNvPr id="45" name="Text Box 25">
              <a:extLst>
                <a:ext uri="{FF2B5EF4-FFF2-40B4-BE49-F238E27FC236}">
                  <a16:creationId xmlns:a16="http://schemas.microsoft.com/office/drawing/2014/main" id="{AE8BE604-17AC-3A49-8448-5944CE37F557}"/>
                </a:ext>
              </a:extLst>
            </p:cNvPr>
            <p:cNvSpPr txBox="1">
              <a:spLocks noChangeArrowheads="1"/>
            </p:cNvSpPr>
            <p:nvPr/>
          </p:nvSpPr>
          <p:spPr bwMode="auto">
            <a:xfrm>
              <a:off x="8750169" y="4421947"/>
              <a:ext cx="640645" cy="40011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dirty="0">
                  <a:solidFill>
                    <a:srgbClr val="C00000"/>
                  </a:solidFill>
                  <a:latin typeface="Arial" charset="0"/>
                  <a:cs typeface="Arial" charset="0"/>
                </a:rPr>
                <a:t>m,K </a:t>
              </a:r>
            </a:p>
          </p:txBody>
        </p:sp>
        <p:grpSp>
          <p:nvGrpSpPr>
            <p:cNvPr id="51" name="Group 50">
              <a:extLst>
                <a:ext uri="{FF2B5EF4-FFF2-40B4-BE49-F238E27FC236}">
                  <a16:creationId xmlns:a16="http://schemas.microsoft.com/office/drawing/2014/main" id="{E8DB8BE5-9950-C849-BB63-EABFBCCE07AF}"/>
                </a:ext>
              </a:extLst>
            </p:cNvPr>
            <p:cNvGrpSpPr/>
            <p:nvPr/>
          </p:nvGrpSpPr>
          <p:grpSpPr>
            <a:xfrm>
              <a:off x="9211779" y="4275897"/>
              <a:ext cx="703263" cy="638175"/>
              <a:chOff x="9211779" y="4275897"/>
              <a:chExt cx="703263" cy="638175"/>
            </a:xfrm>
          </p:grpSpPr>
          <p:sp>
            <p:nvSpPr>
              <p:cNvPr id="46" name="Text Box 26">
                <a:extLst>
                  <a:ext uri="{FF2B5EF4-FFF2-40B4-BE49-F238E27FC236}">
                    <a16:creationId xmlns:a16="http://schemas.microsoft.com/office/drawing/2014/main" id="{6CBE6BCA-4044-F741-9C69-F056784B3E1C}"/>
                  </a:ext>
                </a:extLst>
              </p:cNvPr>
              <p:cNvSpPr txBox="1">
                <a:spLocks noChangeArrowheads="1"/>
              </p:cNvSpPr>
              <p:nvPr/>
            </p:nvSpPr>
            <p:spPr bwMode="auto">
              <a:xfrm>
                <a:off x="9211779" y="4575935"/>
                <a:ext cx="320675" cy="33813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B</a:t>
                </a:r>
              </a:p>
            </p:txBody>
          </p:sp>
          <p:sp>
            <p:nvSpPr>
              <p:cNvPr id="47" name="Text Box 27">
                <a:extLst>
                  <a:ext uri="{FF2B5EF4-FFF2-40B4-BE49-F238E27FC236}">
                    <a16:creationId xmlns:a16="http://schemas.microsoft.com/office/drawing/2014/main" id="{20A71881-8E33-EF48-B5B1-0594382BD80B}"/>
                  </a:ext>
                </a:extLst>
              </p:cNvPr>
              <p:cNvSpPr txBox="1">
                <a:spLocks noChangeArrowheads="1"/>
              </p:cNvSpPr>
              <p:nvPr/>
            </p:nvSpPr>
            <p:spPr bwMode="auto">
              <a:xfrm>
                <a:off x="9218129" y="4275897"/>
                <a:ext cx="254000" cy="33813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a:t>
                </a:r>
              </a:p>
            </p:txBody>
          </p:sp>
          <p:sp>
            <p:nvSpPr>
              <p:cNvPr id="48" name="Text Box 28">
                <a:extLst>
                  <a:ext uri="{FF2B5EF4-FFF2-40B4-BE49-F238E27FC236}">
                    <a16:creationId xmlns:a16="http://schemas.microsoft.com/office/drawing/2014/main" id="{31057607-073D-AA4E-A320-B65BF92EF2C3}"/>
                  </a:ext>
                </a:extLst>
              </p:cNvPr>
              <p:cNvSpPr txBox="1">
                <a:spLocks noChangeArrowheads="1"/>
              </p:cNvSpPr>
              <p:nvPr/>
            </p:nvSpPr>
            <p:spPr bwMode="auto">
              <a:xfrm>
                <a:off x="9237179" y="4391785"/>
                <a:ext cx="677863" cy="3968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dirty="0">
                    <a:solidFill>
                      <a:srgbClr val="C00000"/>
                    </a:solidFill>
                    <a:latin typeface="Arial" charset="0"/>
                    <a:cs typeface="Arial" charset="0"/>
                  </a:rPr>
                  <a:t> (m)</a:t>
                </a:r>
              </a:p>
            </p:txBody>
          </p:sp>
        </p:grpSp>
      </p:grpSp>
      <p:grpSp>
        <p:nvGrpSpPr>
          <p:cNvPr id="50" name="Group 49">
            <a:extLst>
              <a:ext uri="{FF2B5EF4-FFF2-40B4-BE49-F238E27FC236}">
                <a16:creationId xmlns:a16="http://schemas.microsoft.com/office/drawing/2014/main" id="{82478CAE-5B04-A34F-8C28-C2A810B84E28}"/>
              </a:ext>
            </a:extLst>
          </p:cNvPr>
          <p:cNvGrpSpPr/>
          <p:nvPr/>
        </p:nvGrpSpPr>
        <p:grpSpPr>
          <a:xfrm>
            <a:off x="1918529" y="4679033"/>
            <a:ext cx="2217806" cy="1630659"/>
            <a:chOff x="1096894" y="4771797"/>
            <a:chExt cx="2217806" cy="1630659"/>
          </a:xfrm>
        </p:grpSpPr>
        <p:pic>
          <p:nvPicPr>
            <p:cNvPr id="49" name="Picture 48">
              <a:extLst>
                <a:ext uri="{FF2B5EF4-FFF2-40B4-BE49-F238E27FC236}">
                  <a16:creationId xmlns:a16="http://schemas.microsoft.com/office/drawing/2014/main" id="{A0305A02-B8E0-3346-A22A-2F64FC1E428D}"/>
                </a:ext>
              </a:extLst>
            </p:cNvPr>
            <p:cNvPicPr>
              <a:picLocks noChangeAspect="1"/>
            </p:cNvPicPr>
            <p:nvPr/>
          </p:nvPicPr>
          <p:blipFill>
            <a:blip r:embed="rId4"/>
            <a:stretch>
              <a:fillRect/>
            </a:stretch>
          </p:blipFill>
          <p:spPr>
            <a:xfrm>
              <a:off x="1096894" y="4771797"/>
              <a:ext cx="2217806" cy="1630659"/>
            </a:xfrm>
            <a:prstGeom prst="rect">
              <a:avLst/>
            </a:prstGeom>
          </p:spPr>
        </p:pic>
        <p:sp>
          <p:nvSpPr>
            <p:cNvPr id="30" name="Text Box 8">
              <a:extLst>
                <a:ext uri="{FF2B5EF4-FFF2-40B4-BE49-F238E27FC236}">
                  <a16:creationId xmlns:a16="http://schemas.microsoft.com/office/drawing/2014/main" id="{5F1CFD14-B851-C04A-89E6-CDCFCF528323}"/>
                </a:ext>
              </a:extLst>
            </p:cNvPr>
            <p:cNvSpPr txBox="1">
              <a:spLocks noChangeArrowheads="1"/>
            </p:cNvSpPr>
            <p:nvPr/>
          </p:nvSpPr>
          <p:spPr bwMode="auto">
            <a:xfrm>
              <a:off x="1260614" y="4804604"/>
              <a:ext cx="2054086" cy="152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eaLnBrk="0" fontAlgn="base" hangingPunct="0">
                <a:spcBef>
                  <a:spcPct val="50000"/>
                </a:spcBef>
                <a:spcAft>
                  <a:spcPct val="0"/>
                </a:spcAft>
                <a:defRPr/>
              </a:pPr>
              <a:r>
                <a:rPr lang="en-US" sz="1800" dirty="0">
                  <a:solidFill>
                    <a:srgbClr val="000000"/>
                  </a:solidFill>
                  <a:latin typeface="+mn-lt"/>
                  <a:ea typeface="Arial Unicode MS" charset="0"/>
                  <a:cs typeface="Arial" charset="0"/>
                </a:rPr>
                <a:t>Dear Alice</a:t>
              </a:r>
            </a:p>
            <a:p>
              <a:pPr eaLnBrk="0" fontAlgn="base" hangingPunct="0">
                <a:spcBef>
                  <a:spcPct val="50000"/>
                </a:spcBef>
                <a:spcAft>
                  <a:spcPct val="0"/>
                </a:spcAft>
                <a:defRPr/>
              </a:pPr>
              <a:r>
                <a:rPr lang="en-US" sz="1400" dirty="0">
                  <a:solidFill>
                    <a:srgbClr val="000000"/>
                  </a:solidFill>
                  <a:latin typeface="+mn-lt"/>
                  <a:ea typeface="Arial Unicode MS" charset="0"/>
                  <a:cs typeface="Arial" charset="0"/>
                </a:rPr>
                <a:t>Oh, how I have missed you. I think of you all the time! …(blah blah blah)</a:t>
              </a:r>
            </a:p>
            <a:p>
              <a:pPr eaLnBrk="0" fontAlgn="base" hangingPunct="0">
                <a:spcBef>
                  <a:spcPct val="50000"/>
                </a:spcBef>
                <a:spcAft>
                  <a:spcPct val="0"/>
                </a:spcAft>
                <a:defRPr/>
              </a:pPr>
              <a:r>
                <a:rPr lang="en-US" sz="1800" dirty="0">
                  <a:solidFill>
                    <a:srgbClr val="000000"/>
                  </a:solidFill>
                  <a:latin typeface="+mn-lt"/>
                  <a:ea typeface="Arial Unicode MS" charset="0"/>
                  <a:cs typeface="Arial" charset="0"/>
                </a:rPr>
                <a:t>Bob</a:t>
              </a:r>
            </a:p>
          </p:txBody>
        </p:sp>
      </p:grpSp>
      <p:grpSp>
        <p:nvGrpSpPr>
          <p:cNvPr id="53" name="Group 52">
            <a:extLst>
              <a:ext uri="{FF2B5EF4-FFF2-40B4-BE49-F238E27FC236}">
                <a16:creationId xmlns:a16="http://schemas.microsoft.com/office/drawing/2014/main" id="{50CDB89D-9227-A14E-80AF-B6C57E3CEDD2}"/>
              </a:ext>
            </a:extLst>
          </p:cNvPr>
          <p:cNvGrpSpPr/>
          <p:nvPr/>
        </p:nvGrpSpPr>
        <p:grpSpPr>
          <a:xfrm>
            <a:off x="7451311" y="4685661"/>
            <a:ext cx="2217806" cy="1630659"/>
            <a:chOff x="1096894" y="4771797"/>
            <a:chExt cx="2217806" cy="1630659"/>
          </a:xfrm>
        </p:grpSpPr>
        <p:pic>
          <p:nvPicPr>
            <p:cNvPr id="54" name="Picture 53">
              <a:extLst>
                <a:ext uri="{FF2B5EF4-FFF2-40B4-BE49-F238E27FC236}">
                  <a16:creationId xmlns:a16="http://schemas.microsoft.com/office/drawing/2014/main" id="{E361D2D9-6A81-6349-AADE-8311053081AE}"/>
                </a:ext>
              </a:extLst>
            </p:cNvPr>
            <p:cNvPicPr>
              <a:picLocks noChangeAspect="1"/>
            </p:cNvPicPr>
            <p:nvPr/>
          </p:nvPicPr>
          <p:blipFill>
            <a:blip r:embed="rId4"/>
            <a:stretch>
              <a:fillRect/>
            </a:stretch>
          </p:blipFill>
          <p:spPr>
            <a:xfrm>
              <a:off x="1096894" y="4771797"/>
              <a:ext cx="2217806" cy="1630659"/>
            </a:xfrm>
            <a:prstGeom prst="rect">
              <a:avLst/>
            </a:prstGeom>
          </p:spPr>
        </p:pic>
        <p:sp>
          <p:nvSpPr>
            <p:cNvPr id="55" name="Text Box 8">
              <a:extLst>
                <a:ext uri="{FF2B5EF4-FFF2-40B4-BE49-F238E27FC236}">
                  <a16:creationId xmlns:a16="http://schemas.microsoft.com/office/drawing/2014/main" id="{CD849CC5-702A-8144-BED4-A4DAF7980424}"/>
                </a:ext>
              </a:extLst>
            </p:cNvPr>
            <p:cNvSpPr txBox="1">
              <a:spLocks noChangeArrowheads="1"/>
            </p:cNvSpPr>
            <p:nvPr/>
          </p:nvSpPr>
          <p:spPr bwMode="auto">
            <a:xfrm>
              <a:off x="1260614" y="4804604"/>
              <a:ext cx="2054086" cy="152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eaLnBrk="0" fontAlgn="base" hangingPunct="0">
                <a:spcBef>
                  <a:spcPct val="50000"/>
                </a:spcBef>
                <a:spcAft>
                  <a:spcPct val="0"/>
                </a:spcAft>
                <a:defRPr/>
              </a:pPr>
              <a:r>
                <a:rPr lang="en-US" sz="1800" dirty="0">
                  <a:solidFill>
                    <a:srgbClr val="000000"/>
                  </a:solidFill>
                  <a:latin typeface="+mn-lt"/>
                  <a:ea typeface="Arial Unicode MS" charset="0"/>
                  <a:cs typeface="Arial" charset="0"/>
                </a:rPr>
                <a:t>Dear Alice</a:t>
              </a:r>
            </a:p>
            <a:p>
              <a:pPr eaLnBrk="0" fontAlgn="base" hangingPunct="0">
                <a:spcBef>
                  <a:spcPct val="50000"/>
                </a:spcBef>
                <a:spcAft>
                  <a:spcPct val="0"/>
                </a:spcAft>
                <a:defRPr/>
              </a:pPr>
              <a:r>
                <a:rPr lang="en-US" sz="1400" dirty="0">
                  <a:solidFill>
                    <a:srgbClr val="000000"/>
                  </a:solidFill>
                  <a:latin typeface="+mn-lt"/>
                  <a:ea typeface="Arial Unicode MS" charset="0"/>
                  <a:cs typeface="Arial" charset="0"/>
                </a:rPr>
                <a:t>Oh, how I have missed you. I think of you all the time! …(blah blah blah)</a:t>
              </a:r>
            </a:p>
            <a:p>
              <a:pPr eaLnBrk="0" fontAlgn="base" hangingPunct="0">
                <a:spcBef>
                  <a:spcPct val="50000"/>
                </a:spcBef>
                <a:spcAft>
                  <a:spcPct val="0"/>
                </a:spcAft>
                <a:defRPr/>
              </a:pPr>
              <a:r>
                <a:rPr lang="en-US" sz="1800" dirty="0">
                  <a:solidFill>
                    <a:srgbClr val="000000"/>
                  </a:solidFill>
                  <a:latin typeface="+mn-lt"/>
                  <a:ea typeface="Arial Unicode MS" charset="0"/>
                  <a:cs typeface="Arial" charset="0"/>
                </a:rPr>
                <a:t>Bob</a:t>
              </a:r>
            </a:p>
          </p:txBody>
        </p:sp>
      </p:grpSp>
      <p:grpSp>
        <p:nvGrpSpPr>
          <p:cNvPr id="61" name="Group 60">
            <a:extLst>
              <a:ext uri="{FF2B5EF4-FFF2-40B4-BE49-F238E27FC236}">
                <a16:creationId xmlns:a16="http://schemas.microsoft.com/office/drawing/2014/main" id="{03A31556-A1E4-394E-A667-BE16E2A81C1A}"/>
              </a:ext>
            </a:extLst>
          </p:cNvPr>
          <p:cNvGrpSpPr/>
          <p:nvPr/>
        </p:nvGrpSpPr>
        <p:grpSpPr>
          <a:xfrm>
            <a:off x="8720518" y="5674301"/>
            <a:ext cx="893521" cy="638175"/>
            <a:chOff x="9021521" y="4275897"/>
            <a:chExt cx="893521" cy="638175"/>
          </a:xfrm>
        </p:grpSpPr>
        <p:sp>
          <p:nvSpPr>
            <p:cNvPr id="62" name="Text Box 25">
              <a:extLst>
                <a:ext uri="{FF2B5EF4-FFF2-40B4-BE49-F238E27FC236}">
                  <a16:creationId xmlns:a16="http://schemas.microsoft.com/office/drawing/2014/main" id="{60E20416-5EA0-7543-AEAC-9857362CEEB6}"/>
                </a:ext>
              </a:extLst>
            </p:cNvPr>
            <p:cNvSpPr txBox="1">
              <a:spLocks noChangeArrowheads="1"/>
            </p:cNvSpPr>
            <p:nvPr/>
          </p:nvSpPr>
          <p:spPr bwMode="auto">
            <a:xfrm>
              <a:off x="9021521" y="4421947"/>
              <a:ext cx="426720" cy="40011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dirty="0">
                  <a:solidFill>
                    <a:srgbClr val="C00000"/>
                  </a:solidFill>
                  <a:latin typeface="Arial" charset="0"/>
                  <a:cs typeface="Arial" charset="0"/>
                </a:rPr>
                <a:t>K </a:t>
              </a:r>
            </a:p>
          </p:txBody>
        </p:sp>
        <p:grpSp>
          <p:nvGrpSpPr>
            <p:cNvPr id="63" name="Group 62">
              <a:extLst>
                <a:ext uri="{FF2B5EF4-FFF2-40B4-BE49-F238E27FC236}">
                  <a16:creationId xmlns:a16="http://schemas.microsoft.com/office/drawing/2014/main" id="{6AA3E933-BCD9-CF44-97BC-401ADFE6D39B}"/>
                </a:ext>
              </a:extLst>
            </p:cNvPr>
            <p:cNvGrpSpPr/>
            <p:nvPr/>
          </p:nvGrpSpPr>
          <p:grpSpPr>
            <a:xfrm>
              <a:off x="9211779" y="4275897"/>
              <a:ext cx="703263" cy="638175"/>
              <a:chOff x="9211779" y="4275897"/>
              <a:chExt cx="703263" cy="638175"/>
            </a:xfrm>
          </p:grpSpPr>
          <p:sp>
            <p:nvSpPr>
              <p:cNvPr id="64" name="Text Box 26">
                <a:extLst>
                  <a:ext uri="{FF2B5EF4-FFF2-40B4-BE49-F238E27FC236}">
                    <a16:creationId xmlns:a16="http://schemas.microsoft.com/office/drawing/2014/main" id="{11AB5857-3B67-DC42-A125-978DBBA95080}"/>
                  </a:ext>
                </a:extLst>
              </p:cNvPr>
              <p:cNvSpPr txBox="1">
                <a:spLocks noChangeArrowheads="1"/>
              </p:cNvSpPr>
              <p:nvPr/>
            </p:nvSpPr>
            <p:spPr bwMode="auto">
              <a:xfrm>
                <a:off x="9211779" y="4575935"/>
                <a:ext cx="320675" cy="33813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B</a:t>
                </a:r>
              </a:p>
            </p:txBody>
          </p:sp>
          <p:sp>
            <p:nvSpPr>
              <p:cNvPr id="65" name="Text Box 27">
                <a:extLst>
                  <a:ext uri="{FF2B5EF4-FFF2-40B4-BE49-F238E27FC236}">
                    <a16:creationId xmlns:a16="http://schemas.microsoft.com/office/drawing/2014/main" id="{C46E62AB-3611-114F-AA86-E18C2ED70BEF}"/>
                  </a:ext>
                </a:extLst>
              </p:cNvPr>
              <p:cNvSpPr txBox="1">
                <a:spLocks noChangeArrowheads="1"/>
              </p:cNvSpPr>
              <p:nvPr/>
            </p:nvSpPr>
            <p:spPr bwMode="auto">
              <a:xfrm>
                <a:off x="9218129" y="4275897"/>
                <a:ext cx="254000" cy="33813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a:t>
                </a:r>
              </a:p>
            </p:txBody>
          </p:sp>
          <p:sp>
            <p:nvSpPr>
              <p:cNvPr id="66" name="Text Box 28">
                <a:extLst>
                  <a:ext uri="{FF2B5EF4-FFF2-40B4-BE49-F238E27FC236}">
                    <a16:creationId xmlns:a16="http://schemas.microsoft.com/office/drawing/2014/main" id="{9AD6C1D1-4C86-BA42-8F13-7D865186012E}"/>
                  </a:ext>
                </a:extLst>
              </p:cNvPr>
              <p:cNvSpPr txBox="1">
                <a:spLocks noChangeArrowheads="1"/>
              </p:cNvSpPr>
              <p:nvPr/>
            </p:nvSpPr>
            <p:spPr bwMode="auto">
              <a:xfrm>
                <a:off x="9237179" y="4391785"/>
                <a:ext cx="677863" cy="3968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dirty="0">
                    <a:solidFill>
                      <a:srgbClr val="C00000"/>
                    </a:solidFill>
                    <a:latin typeface="Arial" charset="0"/>
                    <a:cs typeface="Arial" charset="0"/>
                  </a:rPr>
                  <a:t> (m)</a:t>
                </a:r>
              </a:p>
            </p:txBody>
          </p:sp>
        </p:grpSp>
      </p:grpSp>
    </p:spTree>
    <p:extLst>
      <p:ext uri="{BB962C8B-B14F-4D97-AF65-F5344CB8AC3E}">
        <p14:creationId xmlns:p14="http://schemas.microsoft.com/office/powerpoint/2010/main" val="210365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4396161" cy="894622"/>
          </a:xfrm>
        </p:spPr>
        <p:txBody>
          <a:bodyPr>
            <a:normAutofit/>
          </a:bodyPr>
          <a:lstStyle/>
          <a:p>
            <a:r>
              <a:rPr lang="en-US" b="0" dirty="0">
                <a:latin typeface="+mn-lt"/>
              </a:rPr>
              <a:t>Digital signatures </a:t>
            </a:r>
            <a:endParaRPr lang="en-US" sz="4400" b="0" dirty="0">
              <a:latin typeface="+mn-lt"/>
            </a:endParaRPr>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43</a:t>
            </a:fld>
            <a:endParaRPr lang="en-US" dirty="0"/>
          </a:p>
        </p:txBody>
      </p:sp>
      <p:sp>
        <p:nvSpPr>
          <p:cNvPr id="44" name="Text Box 7">
            <a:extLst>
              <a:ext uri="{FF2B5EF4-FFF2-40B4-BE49-F238E27FC236}">
                <a16:creationId xmlns:a16="http://schemas.microsoft.com/office/drawing/2014/main" id="{CE86042F-3271-1D4E-B8DA-ABF933504E99}"/>
              </a:ext>
            </a:extLst>
          </p:cNvPr>
          <p:cNvSpPr txBox="1">
            <a:spLocks noChangeArrowheads="1"/>
          </p:cNvSpPr>
          <p:nvPr/>
        </p:nvSpPr>
        <p:spPr bwMode="auto">
          <a:xfrm>
            <a:off x="8134143" y="1129265"/>
            <a:ext cx="736600"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a:latin typeface="Arial Unicode MS" charset="0"/>
                <a:cs typeface="Arial Unicode MS" charset="0"/>
              </a:rPr>
              <a:t>-</a:t>
            </a:r>
          </a:p>
        </p:txBody>
      </p:sp>
      <p:grpSp>
        <p:nvGrpSpPr>
          <p:cNvPr id="3" name="Group 2">
            <a:extLst>
              <a:ext uri="{FF2B5EF4-FFF2-40B4-BE49-F238E27FC236}">
                <a16:creationId xmlns:a16="http://schemas.microsoft.com/office/drawing/2014/main" id="{83AB8D43-8150-1B49-AF72-A5318307076B}"/>
              </a:ext>
            </a:extLst>
          </p:cNvPr>
          <p:cNvGrpSpPr/>
          <p:nvPr/>
        </p:nvGrpSpPr>
        <p:grpSpPr>
          <a:xfrm>
            <a:off x="911086" y="3648075"/>
            <a:ext cx="10976113" cy="2792482"/>
            <a:chOff x="911086" y="3648075"/>
            <a:chExt cx="10976113" cy="2792482"/>
          </a:xfrm>
        </p:grpSpPr>
        <p:sp>
          <p:nvSpPr>
            <p:cNvPr id="56" name="Rectangle 11">
              <a:extLst>
                <a:ext uri="{FF2B5EF4-FFF2-40B4-BE49-F238E27FC236}">
                  <a16:creationId xmlns:a16="http://schemas.microsoft.com/office/drawing/2014/main" id="{02B7BF4C-C3E8-E34C-B98E-4BD63E5307C8}"/>
                </a:ext>
              </a:extLst>
            </p:cNvPr>
            <p:cNvSpPr txBox="1">
              <a:spLocks noChangeArrowheads="1"/>
            </p:cNvSpPr>
            <p:nvPr/>
          </p:nvSpPr>
          <p:spPr>
            <a:xfrm>
              <a:off x="911086" y="3648075"/>
              <a:ext cx="10976113" cy="2792482"/>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1000" indent="-381000">
                <a:buFont typeface="Wingdings" charset="0"/>
                <a:buNone/>
              </a:pPr>
              <a:r>
                <a:rPr lang="en-US" sz="3000" dirty="0">
                  <a:solidFill>
                    <a:srgbClr val="C00000"/>
                  </a:solidFill>
                </a:rPr>
                <a:t>Alice thus verifies that:</a:t>
              </a:r>
            </a:p>
            <a:p>
              <a:pPr marL="522288" lvl="1" indent="-287338">
                <a:buClr>
                  <a:srgbClr val="0012A0"/>
                </a:buClr>
                <a:buFont typeface="Wingdings" charset="2"/>
                <a:buChar char="§"/>
              </a:pPr>
              <a:r>
                <a:rPr lang="en-US" sz="3000" dirty="0"/>
                <a:t>Bob signed m</a:t>
              </a:r>
            </a:p>
            <a:p>
              <a:pPr marL="522288" lvl="1" indent="-287338">
                <a:buClr>
                  <a:srgbClr val="0012A0"/>
                </a:buClr>
                <a:buFont typeface="Wingdings" charset="2"/>
                <a:buChar char="§"/>
              </a:pPr>
              <a:r>
                <a:rPr lang="en-US" sz="3000" dirty="0"/>
                <a:t>no one else signed m</a:t>
              </a:r>
            </a:p>
            <a:p>
              <a:pPr marL="522288" lvl="1" indent="-287338">
                <a:buClr>
                  <a:srgbClr val="0012A0"/>
                </a:buClr>
                <a:buFont typeface="Wingdings" charset="2"/>
                <a:buChar char="§"/>
              </a:pPr>
              <a:r>
                <a:rPr lang="en-US" sz="3000" dirty="0"/>
                <a:t>Bob signed m and not m’</a:t>
              </a:r>
              <a:endParaRPr lang="en-US" altLang="ja-JP" sz="3000" dirty="0"/>
            </a:p>
            <a:p>
              <a:pPr marL="381000" indent="-381000">
                <a:buFont typeface="Wingdings" charset="0"/>
                <a:buNone/>
              </a:pPr>
              <a:r>
                <a:rPr lang="en-US" sz="3000" dirty="0">
                  <a:solidFill>
                    <a:srgbClr val="C00000"/>
                  </a:solidFill>
                </a:rPr>
                <a:t>non-repudiation:</a:t>
              </a:r>
            </a:p>
            <a:p>
              <a:pPr marL="800100" lvl="1" indent="-342900">
                <a:buFont typeface="Wingdings" charset="0"/>
                <a:buChar char="ü"/>
              </a:pPr>
              <a:r>
                <a:rPr lang="en-US" sz="3000" dirty="0"/>
                <a:t>Alice can take m, and signature K</a:t>
              </a:r>
              <a:r>
                <a:rPr lang="en-US" sz="3000" baseline="-25000" dirty="0"/>
                <a:t>B</a:t>
              </a:r>
              <a:r>
                <a:rPr lang="en-US" sz="3000" dirty="0"/>
                <a:t>(m) to court and prove that Bob signed m</a:t>
              </a:r>
            </a:p>
            <a:p>
              <a:pPr marL="381000" indent="-381000">
                <a:buFont typeface="Wingdings" charset="0"/>
                <a:buChar char="ü"/>
              </a:pPr>
              <a:endParaRPr lang="en-US" sz="2400" dirty="0">
                <a:latin typeface="Gill Sans MT" charset="0"/>
              </a:endParaRPr>
            </a:p>
          </p:txBody>
        </p:sp>
        <p:sp>
          <p:nvSpPr>
            <p:cNvPr id="57" name="Text Box 12">
              <a:extLst>
                <a:ext uri="{FF2B5EF4-FFF2-40B4-BE49-F238E27FC236}">
                  <a16:creationId xmlns:a16="http://schemas.microsoft.com/office/drawing/2014/main" id="{C773B6DE-E51B-254E-B064-733EB2A7F138}"/>
                </a:ext>
              </a:extLst>
            </p:cNvPr>
            <p:cNvSpPr txBox="1">
              <a:spLocks noChangeArrowheads="1"/>
            </p:cNvSpPr>
            <p:nvPr/>
          </p:nvSpPr>
          <p:spPr bwMode="auto">
            <a:xfrm>
              <a:off x="6230316" y="5250071"/>
              <a:ext cx="736600" cy="422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a:latin typeface="Arial Unicode MS" charset="0"/>
                  <a:cs typeface="Arial Unicode MS" charset="0"/>
                </a:rPr>
                <a:t>-</a:t>
              </a:r>
            </a:p>
          </p:txBody>
        </p:sp>
      </p:grpSp>
      <p:sp>
        <p:nvSpPr>
          <p:cNvPr id="58" name="Rectangle 3">
            <a:extLst>
              <a:ext uri="{FF2B5EF4-FFF2-40B4-BE49-F238E27FC236}">
                <a16:creationId xmlns:a16="http://schemas.microsoft.com/office/drawing/2014/main" id="{5E59394B-2781-2E4C-8768-154AB5B6D7E0}"/>
              </a:ext>
            </a:extLst>
          </p:cNvPr>
          <p:cNvSpPr txBox="1">
            <a:spLocks noChangeArrowheads="1"/>
          </p:cNvSpPr>
          <p:nvPr/>
        </p:nvSpPr>
        <p:spPr bwMode="auto">
          <a:xfrm>
            <a:off x="982525" y="1239838"/>
            <a:ext cx="11209475" cy="2438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lvl1pPr marL="342900" indent="-342900">
              <a:defRPr sz="2000">
                <a:solidFill>
                  <a:schemeClr val="tx1"/>
                </a:solidFill>
                <a:latin typeface="Comic Sans MS" charset="0"/>
                <a:ea typeface="ＭＳ Ｐゴシック" charset="0"/>
                <a:cs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277813" indent="-277813">
              <a:lnSpc>
                <a:spcPct val="110000"/>
              </a:lnSpc>
              <a:spcBef>
                <a:spcPct val="20000"/>
              </a:spcBef>
              <a:buClr>
                <a:srgbClr val="0012A0"/>
              </a:buClr>
              <a:buSzPct val="100000"/>
              <a:buFont typeface="Wingdings" charset="2"/>
              <a:buChar char="§"/>
            </a:pPr>
            <a:r>
              <a:rPr lang="en-US" sz="2800" dirty="0">
                <a:latin typeface="+mn-lt"/>
              </a:rPr>
              <a:t>suppose Alice receives msg m, with signature: m, K</a:t>
            </a:r>
            <a:r>
              <a:rPr lang="en-US" sz="2800" baseline="-25000" dirty="0">
                <a:latin typeface="+mn-lt"/>
              </a:rPr>
              <a:t>B</a:t>
            </a:r>
            <a:r>
              <a:rPr lang="en-US" sz="2800" dirty="0">
                <a:latin typeface="+mn-lt"/>
              </a:rPr>
              <a:t>(m)</a:t>
            </a:r>
          </a:p>
          <a:p>
            <a:pPr marL="277813" indent="-277813">
              <a:lnSpc>
                <a:spcPct val="110000"/>
              </a:lnSpc>
              <a:spcBef>
                <a:spcPct val="20000"/>
              </a:spcBef>
              <a:buClr>
                <a:srgbClr val="0012A0"/>
              </a:buClr>
              <a:buSzPct val="100000"/>
              <a:buFont typeface="Wingdings" charset="2"/>
              <a:buChar char="§"/>
            </a:pPr>
            <a:r>
              <a:rPr lang="en-US" sz="2800" dirty="0">
                <a:latin typeface="+mn-lt"/>
              </a:rPr>
              <a:t>Alice verifies m signed by Bob by applying Bob’</a:t>
            </a:r>
            <a:r>
              <a:rPr lang="en-US" altLang="ja-JP" sz="2800" dirty="0">
                <a:latin typeface="+mn-lt"/>
              </a:rPr>
              <a:t>s public key K</a:t>
            </a:r>
            <a:r>
              <a:rPr lang="en-US" altLang="ja-JP" sz="2800" baseline="-25000" dirty="0">
                <a:latin typeface="+mn-lt"/>
              </a:rPr>
              <a:t>B</a:t>
            </a:r>
            <a:r>
              <a:rPr lang="en-US" altLang="ja-JP" sz="2800" dirty="0">
                <a:latin typeface="+mn-lt"/>
              </a:rPr>
              <a:t> to K</a:t>
            </a:r>
            <a:r>
              <a:rPr lang="en-US" altLang="ja-JP" sz="2800" baseline="-25000" dirty="0">
                <a:latin typeface="+mn-lt"/>
              </a:rPr>
              <a:t>B</a:t>
            </a:r>
            <a:r>
              <a:rPr lang="en-US" altLang="ja-JP" sz="2800" dirty="0">
                <a:latin typeface="+mn-lt"/>
              </a:rPr>
              <a:t>(m) then checks K</a:t>
            </a:r>
            <a:r>
              <a:rPr lang="en-US" altLang="ja-JP" sz="2800" baseline="-25000" dirty="0">
                <a:latin typeface="+mn-lt"/>
              </a:rPr>
              <a:t>B</a:t>
            </a:r>
            <a:r>
              <a:rPr lang="en-US" altLang="ja-JP" sz="2800" dirty="0">
                <a:latin typeface="+mn-lt"/>
              </a:rPr>
              <a:t>(K</a:t>
            </a:r>
            <a:r>
              <a:rPr lang="en-US" altLang="ja-JP" sz="2800" baseline="-25000" dirty="0">
                <a:latin typeface="+mn-lt"/>
              </a:rPr>
              <a:t>B</a:t>
            </a:r>
            <a:r>
              <a:rPr lang="en-US" altLang="ja-JP" sz="2800" dirty="0">
                <a:latin typeface="+mn-lt"/>
              </a:rPr>
              <a:t>(m) ) = m.</a:t>
            </a:r>
          </a:p>
          <a:p>
            <a:pPr marL="277813" indent="-277813">
              <a:lnSpc>
                <a:spcPct val="110000"/>
              </a:lnSpc>
              <a:spcBef>
                <a:spcPct val="20000"/>
              </a:spcBef>
              <a:buClr>
                <a:srgbClr val="0012A0"/>
              </a:buClr>
              <a:buSzPct val="100000"/>
              <a:buFont typeface="Wingdings" charset="2"/>
              <a:buChar char="§"/>
            </a:pPr>
            <a:r>
              <a:rPr lang="en-US" sz="2800" dirty="0">
                <a:latin typeface="+mn-lt"/>
              </a:rPr>
              <a:t>If K</a:t>
            </a:r>
            <a:r>
              <a:rPr lang="en-US" sz="2800" baseline="-25000" dirty="0">
                <a:latin typeface="+mn-lt"/>
              </a:rPr>
              <a:t>B</a:t>
            </a:r>
            <a:r>
              <a:rPr lang="en-US" sz="2800" dirty="0">
                <a:latin typeface="+mn-lt"/>
              </a:rPr>
              <a:t>(K</a:t>
            </a:r>
            <a:r>
              <a:rPr lang="en-US" sz="2800" baseline="-25000" dirty="0">
                <a:latin typeface="+mn-lt"/>
              </a:rPr>
              <a:t>B</a:t>
            </a:r>
            <a:r>
              <a:rPr lang="en-US" sz="2800" dirty="0">
                <a:latin typeface="+mn-lt"/>
              </a:rPr>
              <a:t>(m) ) = m, whoever signed m must have used Bob’</a:t>
            </a:r>
            <a:r>
              <a:rPr lang="en-US" altLang="ja-JP" sz="2800" dirty="0">
                <a:latin typeface="+mn-lt"/>
              </a:rPr>
              <a:t>s private key</a:t>
            </a:r>
          </a:p>
        </p:txBody>
      </p:sp>
      <p:sp>
        <p:nvSpPr>
          <p:cNvPr id="59" name="Text Box 7">
            <a:extLst>
              <a:ext uri="{FF2B5EF4-FFF2-40B4-BE49-F238E27FC236}">
                <a16:creationId xmlns:a16="http://schemas.microsoft.com/office/drawing/2014/main" id="{047B424C-87AE-D342-8A27-BAEB832E00E5}"/>
              </a:ext>
            </a:extLst>
          </p:cNvPr>
          <p:cNvSpPr txBox="1">
            <a:spLocks noChangeArrowheads="1"/>
          </p:cNvSpPr>
          <p:nvPr/>
        </p:nvSpPr>
        <p:spPr bwMode="auto">
          <a:xfrm>
            <a:off x="1703388" y="2433638"/>
            <a:ext cx="736600"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a:latin typeface="Arial Unicode MS" charset="0"/>
                <a:cs typeface="Arial Unicode MS" charset="0"/>
              </a:rPr>
              <a:t>-</a:t>
            </a:r>
          </a:p>
        </p:txBody>
      </p:sp>
      <p:sp>
        <p:nvSpPr>
          <p:cNvPr id="67" name="Text Box 7">
            <a:extLst>
              <a:ext uri="{FF2B5EF4-FFF2-40B4-BE49-F238E27FC236}">
                <a16:creationId xmlns:a16="http://schemas.microsoft.com/office/drawing/2014/main" id="{956480F6-18F7-0C41-A084-D1D19E4881D1}"/>
              </a:ext>
            </a:extLst>
          </p:cNvPr>
          <p:cNvSpPr txBox="1">
            <a:spLocks noChangeArrowheads="1"/>
          </p:cNvSpPr>
          <p:nvPr/>
        </p:nvSpPr>
        <p:spPr bwMode="auto">
          <a:xfrm>
            <a:off x="3201642" y="2148164"/>
            <a:ext cx="736600"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a:latin typeface="Arial Unicode MS" charset="0"/>
                <a:cs typeface="Arial Unicode MS" charset="0"/>
              </a:rPr>
              <a:t>-</a:t>
            </a:r>
          </a:p>
        </p:txBody>
      </p:sp>
      <p:sp>
        <p:nvSpPr>
          <p:cNvPr id="68" name="Text Box 7">
            <a:extLst>
              <a:ext uri="{FF2B5EF4-FFF2-40B4-BE49-F238E27FC236}">
                <a16:creationId xmlns:a16="http://schemas.microsoft.com/office/drawing/2014/main" id="{6726CCD4-8193-2F40-8804-69A46F7E82E8}"/>
              </a:ext>
            </a:extLst>
          </p:cNvPr>
          <p:cNvSpPr txBox="1">
            <a:spLocks noChangeArrowheads="1"/>
          </p:cNvSpPr>
          <p:nvPr/>
        </p:nvSpPr>
        <p:spPr bwMode="auto">
          <a:xfrm>
            <a:off x="10242895" y="1671638"/>
            <a:ext cx="736600"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a:latin typeface="Arial Unicode MS" charset="0"/>
                <a:cs typeface="Arial Unicode MS" charset="0"/>
              </a:rPr>
              <a:t>-</a:t>
            </a:r>
          </a:p>
        </p:txBody>
      </p:sp>
      <p:sp>
        <p:nvSpPr>
          <p:cNvPr id="69" name="Text Box 7">
            <a:extLst>
              <a:ext uri="{FF2B5EF4-FFF2-40B4-BE49-F238E27FC236}">
                <a16:creationId xmlns:a16="http://schemas.microsoft.com/office/drawing/2014/main" id="{B813668F-F8DE-834D-BFAE-B0EF33363C15}"/>
              </a:ext>
            </a:extLst>
          </p:cNvPr>
          <p:cNvSpPr txBox="1">
            <a:spLocks noChangeArrowheads="1"/>
          </p:cNvSpPr>
          <p:nvPr/>
        </p:nvSpPr>
        <p:spPr bwMode="auto">
          <a:xfrm>
            <a:off x="1295400" y="2466975"/>
            <a:ext cx="736600" cy="415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a:latin typeface="Arial Unicode MS" charset="0"/>
                <a:cs typeface="Arial Unicode MS" charset="0"/>
              </a:rPr>
              <a:t>+</a:t>
            </a:r>
          </a:p>
        </p:txBody>
      </p:sp>
      <p:sp>
        <p:nvSpPr>
          <p:cNvPr id="70" name="Text Box 7">
            <a:extLst>
              <a:ext uri="{FF2B5EF4-FFF2-40B4-BE49-F238E27FC236}">
                <a16:creationId xmlns:a16="http://schemas.microsoft.com/office/drawing/2014/main" id="{546520CC-303A-8840-BFA6-458DDF08C03B}"/>
              </a:ext>
            </a:extLst>
          </p:cNvPr>
          <p:cNvSpPr txBox="1">
            <a:spLocks noChangeArrowheads="1"/>
          </p:cNvSpPr>
          <p:nvPr/>
        </p:nvSpPr>
        <p:spPr bwMode="auto">
          <a:xfrm>
            <a:off x="9487245" y="1687513"/>
            <a:ext cx="736600" cy="414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a:latin typeface="Arial Unicode MS" charset="0"/>
                <a:cs typeface="Arial Unicode MS" charset="0"/>
              </a:rPr>
              <a:t>+</a:t>
            </a:r>
          </a:p>
        </p:txBody>
      </p:sp>
      <p:sp>
        <p:nvSpPr>
          <p:cNvPr id="71" name="Text Box 7">
            <a:extLst>
              <a:ext uri="{FF2B5EF4-FFF2-40B4-BE49-F238E27FC236}">
                <a16:creationId xmlns:a16="http://schemas.microsoft.com/office/drawing/2014/main" id="{7EE7C6A5-3E58-3B4D-A409-4A9F3B4DE478}"/>
              </a:ext>
            </a:extLst>
          </p:cNvPr>
          <p:cNvSpPr txBox="1">
            <a:spLocks noChangeArrowheads="1"/>
          </p:cNvSpPr>
          <p:nvPr/>
        </p:nvSpPr>
        <p:spPr bwMode="auto">
          <a:xfrm>
            <a:off x="2779367" y="2165626"/>
            <a:ext cx="736600" cy="415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120000"/>
              </a:lnSpc>
              <a:spcBef>
                <a:spcPct val="50000"/>
              </a:spcBef>
              <a:defRPr/>
            </a:pPr>
            <a:r>
              <a:rPr lang="en-US" sz="1800" dirty="0">
                <a:latin typeface="Arial Unicode MS" charset="0"/>
                <a:cs typeface="Arial Unicode MS" charset="0"/>
              </a:rPr>
              <a:t>+</a:t>
            </a:r>
          </a:p>
        </p:txBody>
      </p:sp>
    </p:spTree>
    <p:extLst>
      <p:ext uri="{BB962C8B-B14F-4D97-AF65-F5344CB8AC3E}">
        <p14:creationId xmlns:p14="http://schemas.microsoft.com/office/powerpoint/2010/main" val="2205224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4396161" cy="894622"/>
          </a:xfrm>
        </p:spPr>
        <p:txBody>
          <a:bodyPr>
            <a:normAutofit/>
          </a:bodyPr>
          <a:lstStyle/>
          <a:p>
            <a:r>
              <a:rPr lang="en-US" b="0" dirty="0">
                <a:latin typeface="+mn-lt"/>
              </a:rPr>
              <a:t>Message digests</a:t>
            </a:r>
            <a:endParaRPr lang="en-US" sz="4400" b="0" dirty="0">
              <a:latin typeface="+mn-lt"/>
            </a:endParaRPr>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44</a:t>
            </a:fld>
            <a:endParaRPr lang="en-US" dirty="0"/>
          </a:p>
        </p:txBody>
      </p:sp>
      <p:sp>
        <p:nvSpPr>
          <p:cNvPr id="18" name="Rectangle 4">
            <a:extLst>
              <a:ext uri="{FF2B5EF4-FFF2-40B4-BE49-F238E27FC236}">
                <a16:creationId xmlns:a16="http://schemas.microsoft.com/office/drawing/2014/main" id="{5609ECB0-3A94-1341-9EBB-C98248A1F3FF}"/>
              </a:ext>
            </a:extLst>
          </p:cNvPr>
          <p:cNvSpPr txBox="1">
            <a:spLocks noChangeArrowheads="1"/>
          </p:cNvSpPr>
          <p:nvPr/>
        </p:nvSpPr>
        <p:spPr>
          <a:xfrm>
            <a:off x="715618" y="4531897"/>
            <a:ext cx="10853530" cy="2097503"/>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0"/>
              <a:buNone/>
            </a:pPr>
            <a:r>
              <a:rPr lang="en-US" sz="3500" dirty="0">
                <a:solidFill>
                  <a:srgbClr val="C00000"/>
                </a:solidFill>
              </a:rPr>
              <a:t>Hash function properties:</a:t>
            </a:r>
          </a:p>
          <a:p>
            <a:pPr marL="574675" indent="-274638">
              <a:spcBef>
                <a:spcPts val="600"/>
              </a:spcBef>
            </a:pPr>
            <a:r>
              <a:rPr lang="en-US" dirty="0"/>
              <a:t>many-to-1</a:t>
            </a:r>
          </a:p>
          <a:p>
            <a:pPr marL="574675" indent="-274638">
              <a:spcBef>
                <a:spcPts val="600"/>
              </a:spcBef>
            </a:pPr>
            <a:r>
              <a:rPr lang="en-US" dirty="0"/>
              <a:t>produces fixed-size msg digest (fingerprint)</a:t>
            </a:r>
          </a:p>
          <a:p>
            <a:pPr marL="574675" indent="-274638">
              <a:spcBef>
                <a:spcPts val="600"/>
              </a:spcBef>
            </a:pPr>
            <a:r>
              <a:rPr lang="en-US" dirty="0"/>
              <a:t>given message digest </a:t>
            </a:r>
            <a:r>
              <a:rPr lang="en-US" i="1" dirty="0"/>
              <a:t>x</a:t>
            </a:r>
            <a:r>
              <a:rPr lang="en-US" dirty="0"/>
              <a:t>, computationally infeasible to find </a:t>
            </a:r>
            <a:r>
              <a:rPr lang="en-US" i="1" dirty="0"/>
              <a:t>m</a:t>
            </a:r>
            <a:r>
              <a:rPr lang="en-US" dirty="0"/>
              <a:t> such that </a:t>
            </a:r>
            <a:r>
              <a:rPr lang="en-US" i="1" dirty="0"/>
              <a:t>x = H(m)</a:t>
            </a:r>
          </a:p>
          <a:p>
            <a:pPr>
              <a:buFont typeface="Wingdings" charset="0"/>
              <a:buNone/>
            </a:pPr>
            <a:endParaRPr lang="en-US" dirty="0"/>
          </a:p>
          <a:p>
            <a:pPr>
              <a:buFont typeface="Wingdings" charset="0"/>
              <a:buNone/>
            </a:pPr>
            <a:endParaRPr lang="en-US" sz="2000" dirty="0">
              <a:latin typeface="Gill Sans MT" charset="0"/>
            </a:endParaRPr>
          </a:p>
        </p:txBody>
      </p:sp>
      <p:grpSp>
        <p:nvGrpSpPr>
          <p:cNvPr id="5" name="Group 4">
            <a:extLst>
              <a:ext uri="{FF2B5EF4-FFF2-40B4-BE49-F238E27FC236}">
                <a16:creationId xmlns:a16="http://schemas.microsoft.com/office/drawing/2014/main" id="{D76711DE-5BCA-8145-BDA5-E821E6B7FBF9}"/>
              </a:ext>
            </a:extLst>
          </p:cNvPr>
          <p:cNvGrpSpPr/>
          <p:nvPr/>
        </p:nvGrpSpPr>
        <p:grpSpPr>
          <a:xfrm>
            <a:off x="3588165" y="3273286"/>
            <a:ext cx="4575174" cy="1008822"/>
            <a:chOff x="6463887" y="636104"/>
            <a:chExt cx="4575174" cy="1008822"/>
          </a:xfrm>
        </p:grpSpPr>
        <p:grpSp>
          <p:nvGrpSpPr>
            <p:cNvPr id="4" name="Group 3">
              <a:extLst>
                <a:ext uri="{FF2B5EF4-FFF2-40B4-BE49-F238E27FC236}">
                  <a16:creationId xmlns:a16="http://schemas.microsoft.com/office/drawing/2014/main" id="{8EDFE7CF-2327-6543-8885-7E6CEA2AE74D}"/>
                </a:ext>
              </a:extLst>
            </p:cNvPr>
            <p:cNvGrpSpPr/>
            <p:nvPr/>
          </p:nvGrpSpPr>
          <p:grpSpPr>
            <a:xfrm>
              <a:off x="6463887" y="636104"/>
              <a:ext cx="1384938" cy="1008822"/>
              <a:chOff x="434147" y="4121426"/>
              <a:chExt cx="1384938" cy="1008822"/>
            </a:xfrm>
          </p:grpSpPr>
          <p:pic>
            <p:nvPicPr>
              <p:cNvPr id="16" name="Picture 15">
                <a:extLst>
                  <a:ext uri="{FF2B5EF4-FFF2-40B4-BE49-F238E27FC236}">
                    <a16:creationId xmlns:a16="http://schemas.microsoft.com/office/drawing/2014/main" id="{8F172699-9F33-624E-8D39-A7D9A08A61D7}"/>
                  </a:ext>
                </a:extLst>
              </p:cNvPr>
              <p:cNvPicPr>
                <a:picLocks noChangeAspect="1"/>
              </p:cNvPicPr>
              <p:nvPr/>
            </p:nvPicPr>
            <p:blipFill>
              <a:blip r:embed="rId3"/>
              <a:stretch>
                <a:fillRect/>
              </a:stretch>
            </p:blipFill>
            <p:spPr>
              <a:xfrm>
                <a:off x="447019" y="4121426"/>
                <a:ext cx="1372066" cy="1008822"/>
              </a:xfrm>
              <a:prstGeom prst="rect">
                <a:avLst/>
              </a:prstGeom>
            </p:spPr>
          </p:pic>
          <p:sp>
            <p:nvSpPr>
              <p:cNvPr id="21" name="Text Box 7">
                <a:extLst>
                  <a:ext uri="{FF2B5EF4-FFF2-40B4-BE49-F238E27FC236}">
                    <a16:creationId xmlns:a16="http://schemas.microsoft.com/office/drawing/2014/main" id="{486B9566-CED3-D045-B265-EC988F3660A5}"/>
                  </a:ext>
                </a:extLst>
              </p:cNvPr>
              <p:cNvSpPr txBox="1">
                <a:spLocks noChangeArrowheads="1"/>
              </p:cNvSpPr>
              <p:nvPr/>
            </p:nvSpPr>
            <p:spPr bwMode="auto">
              <a:xfrm>
                <a:off x="434147" y="4139580"/>
                <a:ext cx="1343025" cy="98610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80000"/>
                  </a:lnSpc>
                  <a:defRPr/>
                </a:pPr>
                <a:r>
                  <a:rPr lang="en-US" sz="2400" dirty="0">
                    <a:solidFill>
                      <a:srgbClr val="C00000"/>
                    </a:solidFill>
                    <a:latin typeface="+mn-lt"/>
                    <a:cs typeface="Arial" charset="0"/>
                  </a:rPr>
                  <a:t>large </a:t>
                </a:r>
              </a:p>
              <a:p>
                <a:pPr algn="ctr">
                  <a:lnSpc>
                    <a:spcPct val="80000"/>
                  </a:lnSpc>
                  <a:defRPr/>
                </a:pPr>
                <a:r>
                  <a:rPr lang="en-US" sz="2400" dirty="0">
                    <a:solidFill>
                      <a:srgbClr val="C00000"/>
                    </a:solidFill>
                    <a:latin typeface="+mn-lt"/>
                    <a:cs typeface="Arial" charset="0"/>
                  </a:rPr>
                  <a:t>message</a:t>
                </a:r>
              </a:p>
              <a:p>
                <a:pPr algn="ctr">
                  <a:lnSpc>
                    <a:spcPct val="80000"/>
                  </a:lnSpc>
                  <a:defRPr/>
                </a:pPr>
                <a:r>
                  <a:rPr lang="en-US" sz="2400" dirty="0">
                    <a:solidFill>
                      <a:srgbClr val="C00000"/>
                    </a:solidFill>
                    <a:latin typeface="+mn-lt"/>
                    <a:cs typeface="Arial" charset="0"/>
                  </a:rPr>
                  <a:t>m</a:t>
                </a:r>
              </a:p>
            </p:txBody>
          </p:sp>
        </p:grpSp>
        <p:sp>
          <p:nvSpPr>
            <p:cNvPr id="22" name="Rectangle 8">
              <a:extLst>
                <a:ext uri="{FF2B5EF4-FFF2-40B4-BE49-F238E27FC236}">
                  <a16:creationId xmlns:a16="http://schemas.microsoft.com/office/drawing/2014/main" id="{5199ACEC-B6E5-AA4B-809E-E39426DE3BA8}"/>
                </a:ext>
              </a:extLst>
            </p:cNvPr>
            <p:cNvSpPr>
              <a:spLocks noChangeArrowheads="1"/>
            </p:cNvSpPr>
            <p:nvPr/>
          </p:nvSpPr>
          <p:spPr bwMode="auto">
            <a:xfrm>
              <a:off x="8362607" y="781257"/>
              <a:ext cx="1108075" cy="758825"/>
            </a:xfrm>
            <a:prstGeom prst="rect">
              <a:avLst/>
            </a:prstGeom>
            <a:solidFill>
              <a:srgbClr val="0012A0"/>
            </a:solidFill>
            <a:ln w="9525">
              <a:solidFill>
                <a:schemeClr val="tx1"/>
              </a:solidFill>
              <a:miter lim="800000"/>
              <a:headEnd/>
              <a:tailEnd/>
            </a:ln>
          </p:spPr>
          <p:txBody>
            <a:bodyPr wrap="none" anchor="ctr"/>
            <a:lstStyle/>
            <a:p>
              <a:endParaRPr lang="en-US" dirty="0">
                <a:latin typeface="Arial" charset="0"/>
                <a:cs typeface="Arial" charset="0"/>
              </a:endParaRPr>
            </a:p>
          </p:txBody>
        </p:sp>
        <p:sp>
          <p:nvSpPr>
            <p:cNvPr id="23" name="Text Box 9">
              <a:extLst>
                <a:ext uri="{FF2B5EF4-FFF2-40B4-BE49-F238E27FC236}">
                  <a16:creationId xmlns:a16="http://schemas.microsoft.com/office/drawing/2014/main" id="{0D215AFC-9F10-E34D-9606-16C9F04FD853}"/>
                </a:ext>
              </a:extLst>
            </p:cNvPr>
            <p:cNvSpPr txBox="1">
              <a:spLocks noChangeArrowheads="1"/>
            </p:cNvSpPr>
            <p:nvPr/>
          </p:nvSpPr>
          <p:spPr bwMode="auto">
            <a:xfrm>
              <a:off x="8349423" y="802999"/>
              <a:ext cx="1190625" cy="7016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a:solidFill>
                    <a:schemeClr val="bg1"/>
                  </a:solidFill>
                  <a:latin typeface="Arial" charset="0"/>
                  <a:cs typeface="Arial" charset="0"/>
                </a:rPr>
                <a:t>H: Hash</a:t>
              </a:r>
            </a:p>
            <a:p>
              <a:pPr algn="ctr">
                <a:defRPr/>
              </a:pPr>
              <a:r>
                <a:rPr lang="en-US" dirty="0">
                  <a:solidFill>
                    <a:schemeClr val="bg1"/>
                  </a:solidFill>
                  <a:latin typeface="Arial" charset="0"/>
                  <a:cs typeface="Arial" charset="0"/>
                </a:rPr>
                <a:t>Function</a:t>
              </a:r>
            </a:p>
          </p:txBody>
        </p:sp>
        <p:sp>
          <p:nvSpPr>
            <p:cNvPr id="24" name="Line 10">
              <a:extLst>
                <a:ext uri="{FF2B5EF4-FFF2-40B4-BE49-F238E27FC236}">
                  <a16:creationId xmlns:a16="http://schemas.microsoft.com/office/drawing/2014/main" id="{4352C06B-013A-3C40-A71C-475F92FB7612}"/>
                </a:ext>
              </a:extLst>
            </p:cNvPr>
            <p:cNvSpPr>
              <a:spLocks noChangeShapeType="1"/>
            </p:cNvSpPr>
            <p:nvPr/>
          </p:nvSpPr>
          <p:spPr bwMode="auto">
            <a:xfrm>
              <a:off x="7842390" y="1161774"/>
              <a:ext cx="5064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25" name="Text Box 11">
              <a:extLst>
                <a:ext uri="{FF2B5EF4-FFF2-40B4-BE49-F238E27FC236}">
                  <a16:creationId xmlns:a16="http://schemas.microsoft.com/office/drawing/2014/main" id="{40C2249D-AF39-5D43-890D-EB0748821E8D}"/>
                </a:ext>
              </a:extLst>
            </p:cNvPr>
            <p:cNvSpPr txBox="1">
              <a:spLocks noChangeArrowheads="1"/>
            </p:cNvSpPr>
            <p:nvPr/>
          </p:nvSpPr>
          <p:spPr bwMode="auto">
            <a:xfrm>
              <a:off x="9872180" y="924133"/>
              <a:ext cx="1166881" cy="52322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800" dirty="0">
                  <a:solidFill>
                    <a:srgbClr val="C00000"/>
                  </a:solidFill>
                  <a:latin typeface="+mn-lt"/>
                  <a:cs typeface="Arial" charset="0"/>
                </a:rPr>
                <a:t>H(m)</a:t>
              </a:r>
            </a:p>
          </p:txBody>
        </p:sp>
        <p:sp>
          <p:nvSpPr>
            <p:cNvPr id="28" name="Line 10">
              <a:extLst>
                <a:ext uri="{FF2B5EF4-FFF2-40B4-BE49-F238E27FC236}">
                  <a16:creationId xmlns:a16="http://schemas.microsoft.com/office/drawing/2014/main" id="{9AD0E0FC-0316-CA4F-8777-C03580EC38E3}"/>
                </a:ext>
              </a:extLst>
            </p:cNvPr>
            <p:cNvSpPr>
              <a:spLocks noChangeShapeType="1"/>
            </p:cNvSpPr>
            <p:nvPr/>
          </p:nvSpPr>
          <p:spPr bwMode="auto">
            <a:xfrm>
              <a:off x="9518790" y="1194904"/>
              <a:ext cx="506413"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sp>
        <p:nvSpPr>
          <p:cNvPr id="29" name="Rectangle 3">
            <a:extLst>
              <a:ext uri="{FF2B5EF4-FFF2-40B4-BE49-F238E27FC236}">
                <a16:creationId xmlns:a16="http://schemas.microsoft.com/office/drawing/2014/main" id="{FDC35326-ED1E-FE4D-9A93-19CE679A25DE}"/>
              </a:ext>
            </a:extLst>
          </p:cNvPr>
          <p:cNvSpPr txBox="1">
            <a:spLocks noChangeArrowheads="1"/>
          </p:cNvSpPr>
          <p:nvPr/>
        </p:nvSpPr>
        <p:spPr>
          <a:xfrm>
            <a:off x="862977" y="1368840"/>
            <a:ext cx="11050726" cy="16129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charset="0"/>
              <a:buNone/>
            </a:pPr>
            <a:r>
              <a:rPr lang="en-US" sz="3200" dirty="0"/>
              <a:t>computationally expensive to public-key-encrypt long messages </a:t>
            </a:r>
          </a:p>
          <a:p>
            <a:pPr marL="0" indent="0">
              <a:buFont typeface="Wingdings" charset="0"/>
              <a:buNone/>
            </a:pPr>
            <a:r>
              <a:rPr lang="en-US" sz="3600" dirty="0">
                <a:solidFill>
                  <a:srgbClr val="C00000"/>
                </a:solidFill>
              </a:rPr>
              <a:t>goal: </a:t>
            </a:r>
            <a:r>
              <a:rPr lang="en-US" sz="3200" dirty="0"/>
              <a:t>fixed-length, easy- to-compute digital “</a:t>
            </a:r>
            <a:r>
              <a:rPr lang="en-US" altLang="ja-JP" sz="3200" dirty="0"/>
              <a:t>fingerprint”</a:t>
            </a:r>
          </a:p>
          <a:p>
            <a:pPr>
              <a:spcBef>
                <a:spcPts val="400"/>
              </a:spcBef>
            </a:pPr>
            <a:r>
              <a:rPr lang="en-US" dirty="0"/>
              <a:t>apply hash function H to </a:t>
            </a:r>
            <a:r>
              <a:rPr lang="en-US" i="1" dirty="0"/>
              <a:t>m</a:t>
            </a:r>
            <a:r>
              <a:rPr lang="en-US" dirty="0"/>
              <a:t>, get fixed size message digest, </a:t>
            </a:r>
            <a:r>
              <a:rPr lang="en-US" i="1" dirty="0"/>
              <a:t>H(m)</a:t>
            </a:r>
            <a:endParaRPr lang="en-US" sz="2400" dirty="0"/>
          </a:p>
        </p:txBody>
      </p:sp>
    </p:spTree>
    <p:extLst>
      <p:ext uri="{BB962C8B-B14F-4D97-AF65-F5344CB8AC3E}">
        <p14:creationId xmlns:p14="http://schemas.microsoft.com/office/powerpoint/2010/main" val="3583096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45170" cy="894622"/>
          </a:xfrm>
        </p:spPr>
        <p:txBody>
          <a:bodyPr>
            <a:normAutofit/>
          </a:bodyPr>
          <a:lstStyle/>
          <a:p>
            <a:r>
              <a:rPr lang="en-US" b="0" dirty="0">
                <a:latin typeface="+mn-lt"/>
              </a:rPr>
              <a:t>Digital signature = signed message digest</a:t>
            </a:r>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45</a:t>
            </a:fld>
            <a:endParaRPr lang="en-US" dirty="0"/>
          </a:p>
        </p:txBody>
      </p:sp>
      <p:grpSp>
        <p:nvGrpSpPr>
          <p:cNvPr id="189" name="Group 188">
            <a:extLst>
              <a:ext uri="{FF2B5EF4-FFF2-40B4-BE49-F238E27FC236}">
                <a16:creationId xmlns:a16="http://schemas.microsoft.com/office/drawing/2014/main" id="{DEF39249-C525-1044-B18E-5DF6B1F9C731}"/>
              </a:ext>
            </a:extLst>
          </p:cNvPr>
          <p:cNvGrpSpPr/>
          <p:nvPr/>
        </p:nvGrpSpPr>
        <p:grpSpPr>
          <a:xfrm>
            <a:off x="4296054" y="3224833"/>
            <a:ext cx="1196163" cy="955675"/>
            <a:chOff x="4296054" y="3224833"/>
            <a:chExt cx="1196163" cy="955675"/>
          </a:xfrm>
        </p:grpSpPr>
        <p:sp>
          <p:nvSpPr>
            <p:cNvPr id="84" name="Rectangle 14">
              <a:extLst>
                <a:ext uri="{FF2B5EF4-FFF2-40B4-BE49-F238E27FC236}">
                  <a16:creationId xmlns:a16="http://schemas.microsoft.com/office/drawing/2014/main" id="{CCD41351-883C-8B49-B15E-99ECE2D4EFD9}"/>
                </a:ext>
              </a:extLst>
            </p:cNvPr>
            <p:cNvSpPr>
              <a:spLocks noChangeArrowheads="1"/>
            </p:cNvSpPr>
            <p:nvPr/>
          </p:nvSpPr>
          <p:spPr bwMode="auto">
            <a:xfrm>
              <a:off x="4296054" y="3224833"/>
              <a:ext cx="1192213" cy="955675"/>
            </a:xfrm>
            <a:prstGeom prst="rect">
              <a:avLst/>
            </a:prstGeom>
            <a:solidFill>
              <a:srgbClr val="0012A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85" name="Text Box 15">
              <a:extLst>
                <a:ext uri="{FF2B5EF4-FFF2-40B4-BE49-F238E27FC236}">
                  <a16:creationId xmlns:a16="http://schemas.microsoft.com/office/drawing/2014/main" id="{F444D081-AA34-024E-8458-B708CC89377A}"/>
                </a:ext>
              </a:extLst>
            </p:cNvPr>
            <p:cNvSpPr txBox="1">
              <a:spLocks noChangeArrowheads="1"/>
            </p:cNvSpPr>
            <p:nvPr/>
          </p:nvSpPr>
          <p:spPr bwMode="auto">
            <a:xfrm>
              <a:off x="4329719" y="3295856"/>
              <a:ext cx="1162498" cy="837152"/>
            </a:xfrm>
            <a:prstGeom prst="rect">
              <a:avLst/>
            </a:prstGeom>
            <a:no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mn-lt"/>
                  <a:ea typeface="ＭＳ Ｐゴシック" charset="0"/>
                  <a:cs typeface="Arial" charset="0"/>
                </a:rPr>
                <a:t>digital</a:t>
              </a:r>
            </a:p>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mn-lt"/>
                  <a:ea typeface="ＭＳ Ｐゴシック" charset="0"/>
                  <a:cs typeface="Arial" charset="0"/>
                </a:rPr>
                <a:t>signature</a:t>
              </a:r>
            </a:p>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mn-lt"/>
                  <a:ea typeface="ＭＳ Ｐゴシック" charset="0"/>
                  <a:cs typeface="Arial" charset="0"/>
                </a:rPr>
                <a:t>(encrypt)</a:t>
              </a:r>
            </a:p>
          </p:txBody>
        </p:sp>
      </p:grpSp>
      <p:grpSp>
        <p:nvGrpSpPr>
          <p:cNvPr id="95" name="Group 25">
            <a:extLst>
              <a:ext uri="{FF2B5EF4-FFF2-40B4-BE49-F238E27FC236}">
                <a16:creationId xmlns:a16="http://schemas.microsoft.com/office/drawing/2014/main" id="{F24A5ECF-CB3B-9542-8A84-EB2D480B9C98}"/>
              </a:ext>
            </a:extLst>
          </p:cNvPr>
          <p:cNvGrpSpPr>
            <a:grpSpLocks/>
          </p:cNvGrpSpPr>
          <p:nvPr/>
        </p:nvGrpSpPr>
        <p:grpSpPr bwMode="auto">
          <a:xfrm>
            <a:off x="1199737" y="4905030"/>
            <a:ext cx="846138" cy="519112"/>
            <a:chOff x="984" y="2831"/>
            <a:chExt cx="533" cy="327"/>
          </a:xfrm>
        </p:grpSpPr>
        <p:sp>
          <p:nvSpPr>
            <p:cNvPr id="96" name="Text Box 26">
              <a:extLst>
                <a:ext uri="{FF2B5EF4-FFF2-40B4-BE49-F238E27FC236}">
                  <a16:creationId xmlns:a16="http://schemas.microsoft.com/office/drawing/2014/main" id="{43036DA1-DAA5-E64D-BD4A-16183B595102}"/>
                </a:ext>
              </a:extLst>
            </p:cNvPr>
            <p:cNvSpPr txBox="1">
              <a:spLocks noChangeArrowheads="1"/>
            </p:cNvSpPr>
            <p:nvPr/>
          </p:nvSpPr>
          <p:spPr bwMode="auto">
            <a:xfrm>
              <a:off x="984" y="2831"/>
              <a:ext cx="533" cy="32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Arial" charset="0"/>
                  <a:ea typeface="ＭＳ Ｐゴシック" charset="0"/>
                  <a:cs typeface="Arial" charset="0"/>
                </a:rPr>
                <a:t>+</a:t>
              </a:r>
            </a:p>
          </p:txBody>
        </p:sp>
        <p:sp>
          <p:nvSpPr>
            <p:cNvPr id="97" name="Oval 27">
              <a:extLst>
                <a:ext uri="{FF2B5EF4-FFF2-40B4-BE49-F238E27FC236}">
                  <a16:creationId xmlns:a16="http://schemas.microsoft.com/office/drawing/2014/main" id="{D0190EA0-B1F1-BB41-8527-B7DE7B3CB548}"/>
                </a:ext>
              </a:extLst>
            </p:cNvPr>
            <p:cNvSpPr>
              <a:spLocks noChangeArrowheads="1"/>
            </p:cNvSpPr>
            <p:nvPr/>
          </p:nvSpPr>
          <p:spPr bwMode="auto">
            <a:xfrm>
              <a:off x="1152" y="2924"/>
              <a:ext cx="195" cy="160"/>
            </a:xfrm>
            <a:prstGeom prst="ellipse">
              <a:avLst/>
            </a:prstGeom>
            <a:noFill/>
            <a:ln w="9525">
              <a:solidFill>
                <a:srgbClr val="00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98" name="Line 28">
            <a:extLst>
              <a:ext uri="{FF2B5EF4-FFF2-40B4-BE49-F238E27FC236}">
                <a16:creationId xmlns:a16="http://schemas.microsoft.com/office/drawing/2014/main" id="{F58C3779-4B81-0744-9C3C-6395CFBCD803}"/>
              </a:ext>
            </a:extLst>
          </p:cNvPr>
          <p:cNvSpPr>
            <a:spLocks noChangeShapeType="1"/>
          </p:cNvSpPr>
          <p:nvPr/>
        </p:nvSpPr>
        <p:spPr bwMode="auto">
          <a:xfrm>
            <a:off x="1647412" y="3034955"/>
            <a:ext cx="0" cy="19812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9" name="Line 29">
            <a:extLst>
              <a:ext uri="{FF2B5EF4-FFF2-40B4-BE49-F238E27FC236}">
                <a16:creationId xmlns:a16="http://schemas.microsoft.com/office/drawing/2014/main" id="{074B9069-12AF-DC46-BFF3-3DD97A29C3A0}"/>
              </a:ext>
            </a:extLst>
          </p:cNvPr>
          <p:cNvSpPr>
            <a:spLocks noChangeShapeType="1"/>
          </p:cNvSpPr>
          <p:nvPr/>
        </p:nvSpPr>
        <p:spPr bwMode="auto">
          <a:xfrm>
            <a:off x="1620425" y="5328892"/>
            <a:ext cx="3175" cy="3048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pic>
        <p:nvPicPr>
          <p:cNvPr id="100" name="Picture 30" descr="BS00592_[1]">
            <a:extLst>
              <a:ext uri="{FF2B5EF4-FFF2-40B4-BE49-F238E27FC236}">
                <a16:creationId xmlns:a16="http://schemas.microsoft.com/office/drawing/2014/main" id="{A353C0C9-83AB-CB4A-B367-C0C0237B10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4837" y="5657505"/>
            <a:ext cx="627063" cy="768350"/>
          </a:xfrm>
          <a:prstGeom prst="rect">
            <a:avLst/>
          </a:prstGeom>
          <a:noFill/>
          <a:ln>
            <a:noFill/>
          </a:ln>
          <a:extLst>
            <a:ext uri="{AF507438-7753-43e0-B8FC-AC1667EBCBE1}">
              <a14:hiddenEffects xmlns:a14="http://schemas.microsoft.com/office/drawing/2010/main" xmlns="">
                <a:effectLst>
                  <a:outerShdw dist="35921" dir="2700000" algn="ctr" rotWithShape="0">
                    <a:srgbClr val="808080"/>
                  </a:outerShdw>
                </a:effectLst>
              </a14:hiddenEffects>
            </a:ext>
          </a:extLst>
        </p:spPr>
      </p:pic>
      <p:sp>
        <p:nvSpPr>
          <p:cNvPr id="101" name="Rectangle 31">
            <a:extLst>
              <a:ext uri="{FF2B5EF4-FFF2-40B4-BE49-F238E27FC236}">
                <a16:creationId xmlns:a16="http://schemas.microsoft.com/office/drawing/2014/main" id="{B1BDC4E1-DD74-DE4C-8F80-855E91E8D88B}"/>
              </a:ext>
            </a:extLst>
          </p:cNvPr>
          <p:cNvSpPr>
            <a:spLocks noChangeArrowheads="1"/>
          </p:cNvSpPr>
          <p:nvPr/>
        </p:nvSpPr>
        <p:spPr bwMode="auto">
          <a:xfrm>
            <a:off x="796788" y="1348754"/>
            <a:ext cx="5389769" cy="546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spcBef>
                <a:spcPct val="20000"/>
              </a:spcBef>
              <a:spcAft>
                <a:spcPct val="0"/>
              </a:spcAft>
              <a:buClr>
                <a:srgbClr val="000099"/>
              </a:buClr>
              <a:buSzPct val="75000"/>
              <a:buFont typeface="Wingdings" charset="0"/>
              <a:buNone/>
              <a:defRPr/>
            </a:pPr>
            <a:r>
              <a:rPr lang="en-US" sz="2800" dirty="0">
                <a:solidFill>
                  <a:srgbClr val="000000"/>
                </a:solidFill>
                <a:ea typeface="ＭＳ Ｐゴシック" charset="0"/>
              </a:rPr>
              <a:t>Bob sends digitally signed message:</a:t>
            </a:r>
          </a:p>
        </p:txBody>
      </p:sp>
      <p:grpSp>
        <p:nvGrpSpPr>
          <p:cNvPr id="110" name="Group 109">
            <a:extLst>
              <a:ext uri="{FF2B5EF4-FFF2-40B4-BE49-F238E27FC236}">
                <a16:creationId xmlns:a16="http://schemas.microsoft.com/office/drawing/2014/main" id="{6BAC604B-FEED-1542-8940-C030E497366C}"/>
              </a:ext>
            </a:extLst>
          </p:cNvPr>
          <p:cNvGrpSpPr/>
          <p:nvPr/>
        </p:nvGrpSpPr>
        <p:grpSpPr>
          <a:xfrm>
            <a:off x="1123264" y="2107094"/>
            <a:ext cx="1343025" cy="855306"/>
            <a:chOff x="434147" y="4121426"/>
            <a:chExt cx="1343025" cy="855306"/>
          </a:xfrm>
        </p:grpSpPr>
        <p:pic>
          <p:nvPicPr>
            <p:cNvPr id="116" name="Picture 115">
              <a:extLst>
                <a:ext uri="{FF2B5EF4-FFF2-40B4-BE49-F238E27FC236}">
                  <a16:creationId xmlns:a16="http://schemas.microsoft.com/office/drawing/2014/main" id="{5BB42433-5DF6-C44F-BDD6-65779EEAEC84}"/>
                </a:ext>
              </a:extLst>
            </p:cNvPr>
            <p:cNvPicPr>
              <a:picLocks noChangeAspect="1"/>
            </p:cNvPicPr>
            <p:nvPr/>
          </p:nvPicPr>
          <p:blipFill>
            <a:blip r:embed="rId4"/>
            <a:stretch>
              <a:fillRect/>
            </a:stretch>
          </p:blipFill>
          <p:spPr>
            <a:xfrm>
              <a:off x="533035" y="4121426"/>
              <a:ext cx="1153528" cy="848140"/>
            </a:xfrm>
            <a:prstGeom prst="rect">
              <a:avLst/>
            </a:prstGeom>
          </p:spPr>
        </p:pic>
        <p:sp>
          <p:nvSpPr>
            <p:cNvPr id="117" name="Text Box 7">
              <a:extLst>
                <a:ext uri="{FF2B5EF4-FFF2-40B4-BE49-F238E27FC236}">
                  <a16:creationId xmlns:a16="http://schemas.microsoft.com/office/drawing/2014/main" id="{66B66418-0805-9348-B4DF-667D4778D445}"/>
                </a:ext>
              </a:extLst>
            </p:cNvPr>
            <p:cNvSpPr txBox="1">
              <a:spLocks noChangeArrowheads="1"/>
            </p:cNvSpPr>
            <p:nvPr/>
          </p:nvSpPr>
          <p:spPr bwMode="auto">
            <a:xfrm>
              <a:off x="434147" y="4139580"/>
              <a:ext cx="1343025" cy="83715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80000"/>
                </a:lnSpc>
                <a:defRPr/>
              </a:pPr>
              <a:r>
                <a:rPr lang="en-US" dirty="0">
                  <a:solidFill>
                    <a:srgbClr val="C00000"/>
                  </a:solidFill>
                  <a:latin typeface="+mn-lt"/>
                  <a:cs typeface="Arial" charset="0"/>
                </a:rPr>
                <a:t>large </a:t>
              </a:r>
            </a:p>
            <a:p>
              <a:pPr algn="ctr">
                <a:lnSpc>
                  <a:spcPct val="80000"/>
                </a:lnSpc>
                <a:defRPr/>
              </a:pPr>
              <a:r>
                <a:rPr lang="en-US" dirty="0">
                  <a:solidFill>
                    <a:srgbClr val="C00000"/>
                  </a:solidFill>
                  <a:latin typeface="+mn-lt"/>
                  <a:cs typeface="Arial" charset="0"/>
                </a:rPr>
                <a:t>message</a:t>
              </a:r>
            </a:p>
            <a:p>
              <a:pPr algn="ctr">
                <a:lnSpc>
                  <a:spcPct val="80000"/>
                </a:lnSpc>
                <a:defRPr/>
              </a:pPr>
              <a:r>
                <a:rPr lang="en-US" dirty="0">
                  <a:solidFill>
                    <a:srgbClr val="C00000"/>
                  </a:solidFill>
                  <a:latin typeface="+mn-lt"/>
                  <a:cs typeface="Arial" charset="0"/>
                </a:rPr>
                <a:t>m</a:t>
              </a:r>
              <a:endParaRPr lang="en-US" sz="2400" dirty="0">
                <a:solidFill>
                  <a:srgbClr val="C00000"/>
                </a:solidFill>
                <a:latin typeface="+mn-lt"/>
                <a:cs typeface="Arial" charset="0"/>
              </a:endParaRPr>
            </a:p>
          </p:txBody>
        </p:sp>
      </p:grpSp>
      <p:sp>
        <p:nvSpPr>
          <p:cNvPr id="111" name="Rectangle 8">
            <a:extLst>
              <a:ext uri="{FF2B5EF4-FFF2-40B4-BE49-F238E27FC236}">
                <a16:creationId xmlns:a16="http://schemas.microsoft.com/office/drawing/2014/main" id="{CA3DAA77-64B7-1042-8DCB-7AF45A2F0327}"/>
              </a:ext>
            </a:extLst>
          </p:cNvPr>
          <p:cNvSpPr>
            <a:spLocks noChangeArrowheads="1"/>
          </p:cNvSpPr>
          <p:nvPr/>
        </p:nvSpPr>
        <p:spPr bwMode="auto">
          <a:xfrm>
            <a:off x="2889461" y="2185987"/>
            <a:ext cx="1108075" cy="758825"/>
          </a:xfrm>
          <a:prstGeom prst="rect">
            <a:avLst/>
          </a:prstGeom>
          <a:solidFill>
            <a:srgbClr val="0012A0"/>
          </a:solidFill>
          <a:ln w="9525">
            <a:solidFill>
              <a:schemeClr val="tx1"/>
            </a:solidFill>
            <a:miter lim="800000"/>
            <a:headEnd/>
            <a:tailEnd/>
          </a:ln>
        </p:spPr>
        <p:txBody>
          <a:bodyPr wrap="none" anchor="ctr"/>
          <a:lstStyle/>
          <a:p>
            <a:endParaRPr lang="en-US" dirty="0">
              <a:latin typeface="Arial" charset="0"/>
              <a:cs typeface="Arial" charset="0"/>
            </a:endParaRPr>
          </a:p>
        </p:txBody>
      </p:sp>
      <p:sp>
        <p:nvSpPr>
          <p:cNvPr id="112" name="Text Box 9">
            <a:extLst>
              <a:ext uri="{FF2B5EF4-FFF2-40B4-BE49-F238E27FC236}">
                <a16:creationId xmlns:a16="http://schemas.microsoft.com/office/drawing/2014/main" id="{77F65553-DFEE-A044-B301-608E86F75723}"/>
              </a:ext>
            </a:extLst>
          </p:cNvPr>
          <p:cNvSpPr txBox="1">
            <a:spLocks noChangeArrowheads="1"/>
          </p:cNvSpPr>
          <p:nvPr/>
        </p:nvSpPr>
        <p:spPr bwMode="auto">
          <a:xfrm>
            <a:off x="2876277" y="2207729"/>
            <a:ext cx="1190625" cy="7016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a:solidFill>
                  <a:schemeClr val="bg1"/>
                </a:solidFill>
                <a:latin typeface="Arial" charset="0"/>
                <a:cs typeface="Arial" charset="0"/>
              </a:rPr>
              <a:t>H: Hash</a:t>
            </a:r>
          </a:p>
          <a:p>
            <a:pPr algn="ctr">
              <a:defRPr/>
            </a:pPr>
            <a:r>
              <a:rPr lang="en-US" dirty="0">
                <a:solidFill>
                  <a:schemeClr val="bg1"/>
                </a:solidFill>
                <a:latin typeface="Arial" charset="0"/>
                <a:cs typeface="Arial" charset="0"/>
              </a:rPr>
              <a:t>Function</a:t>
            </a:r>
          </a:p>
        </p:txBody>
      </p:sp>
      <p:sp>
        <p:nvSpPr>
          <p:cNvPr id="113" name="Line 10">
            <a:extLst>
              <a:ext uri="{FF2B5EF4-FFF2-40B4-BE49-F238E27FC236}">
                <a16:creationId xmlns:a16="http://schemas.microsoft.com/office/drawing/2014/main" id="{5E5DB4D6-107F-2548-A010-967052CB7DDF}"/>
              </a:ext>
            </a:extLst>
          </p:cNvPr>
          <p:cNvSpPr>
            <a:spLocks noChangeShapeType="1"/>
          </p:cNvSpPr>
          <p:nvPr/>
        </p:nvSpPr>
        <p:spPr bwMode="auto">
          <a:xfrm>
            <a:off x="2425148" y="2553252"/>
            <a:ext cx="371061"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14" name="Text Box 11">
            <a:extLst>
              <a:ext uri="{FF2B5EF4-FFF2-40B4-BE49-F238E27FC236}">
                <a16:creationId xmlns:a16="http://schemas.microsoft.com/office/drawing/2014/main" id="{CCE58BB5-B800-3541-BEAF-15DF6A072C6C}"/>
              </a:ext>
            </a:extLst>
          </p:cNvPr>
          <p:cNvSpPr txBox="1">
            <a:spLocks noChangeArrowheads="1"/>
          </p:cNvSpPr>
          <p:nvPr/>
        </p:nvSpPr>
        <p:spPr bwMode="auto">
          <a:xfrm>
            <a:off x="4399034" y="2328863"/>
            <a:ext cx="1166881" cy="52322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2800" dirty="0">
                <a:solidFill>
                  <a:srgbClr val="C00000"/>
                </a:solidFill>
                <a:latin typeface="+mn-lt"/>
                <a:cs typeface="Arial" charset="0"/>
              </a:rPr>
              <a:t>H(m)</a:t>
            </a:r>
          </a:p>
        </p:txBody>
      </p:sp>
      <p:sp>
        <p:nvSpPr>
          <p:cNvPr id="115" name="Line 10">
            <a:extLst>
              <a:ext uri="{FF2B5EF4-FFF2-40B4-BE49-F238E27FC236}">
                <a16:creationId xmlns:a16="http://schemas.microsoft.com/office/drawing/2014/main" id="{E853EA3C-9A61-EF49-AA07-C25D3B9A43FA}"/>
              </a:ext>
            </a:extLst>
          </p:cNvPr>
          <p:cNvSpPr>
            <a:spLocks noChangeShapeType="1"/>
          </p:cNvSpPr>
          <p:nvPr/>
        </p:nvSpPr>
        <p:spPr bwMode="auto">
          <a:xfrm>
            <a:off x="4072149" y="2599634"/>
            <a:ext cx="38058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cxnSp>
        <p:nvCxnSpPr>
          <p:cNvPr id="4" name="Straight Arrow Connector 3">
            <a:extLst>
              <a:ext uri="{FF2B5EF4-FFF2-40B4-BE49-F238E27FC236}">
                <a16:creationId xmlns:a16="http://schemas.microsoft.com/office/drawing/2014/main" id="{D6FE9FE0-FA56-1246-BBC9-6609138EAE40}"/>
              </a:ext>
            </a:extLst>
          </p:cNvPr>
          <p:cNvCxnSpPr>
            <a:cxnSpLocks/>
          </p:cNvCxnSpPr>
          <p:nvPr/>
        </p:nvCxnSpPr>
        <p:spPr>
          <a:xfrm flipH="1">
            <a:off x="1815550" y="5155096"/>
            <a:ext cx="20275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8BB38349-24AF-A040-AE21-18FF1706C30D}"/>
              </a:ext>
            </a:extLst>
          </p:cNvPr>
          <p:cNvCxnSpPr>
            <a:cxnSpLocks/>
          </p:cNvCxnSpPr>
          <p:nvPr/>
        </p:nvCxnSpPr>
        <p:spPr>
          <a:xfrm>
            <a:off x="4896678" y="2763079"/>
            <a:ext cx="0" cy="4041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58AB17B7-C101-3B4C-8B67-952A3ECA45AB}"/>
              </a:ext>
            </a:extLst>
          </p:cNvPr>
          <p:cNvCxnSpPr>
            <a:cxnSpLocks/>
          </p:cNvCxnSpPr>
          <p:nvPr/>
        </p:nvCxnSpPr>
        <p:spPr>
          <a:xfrm>
            <a:off x="4890054" y="4227444"/>
            <a:ext cx="0" cy="4041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Rectangle 32">
            <a:extLst>
              <a:ext uri="{FF2B5EF4-FFF2-40B4-BE49-F238E27FC236}">
                <a16:creationId xmlns:a16="http://schemas.microsoft.com/office/drawing/2014/main" id="{2B56B630-D20C-0E48-AAD7-E33AEE101543}"/>
              </a:ext>
            </a:extLst>
          </p:cNvPr>
          <p:cNvSpPr txBox="1">
            <a:spLocks noChangeArrowheads="1"/>
          </p:cNvSpPr>
          <p:nvPr/>
        </p:nvSpPr>
        <p:spPr>
          <a:xfrm>
            <a:off x="6599583" y="1436272"/>
            <a:ext cx="5088834" cy="1057275"/>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Wingdings" charset="0"/>
              <a:buNone/>
            </a:pPr>
            <a:r>
              <a:rPr lang="en-US" dirty="0"/>
              <a:t>Alice verifies signature, integrity of digitally signed message:</a:t>
            </a:r>
          </a:p>
        </p:txBody>
      </p:sp>
      <p:pic>
        <p:nvPicPr>
          <p:cNvPr id="130" name="Picture 40" descr="BS00592_[1]">
            <a:extLst>
              <a:ext uri="{FF2B5EF4-FFF2-40B4-BE49-F238E27FC236}">
                <a16:creationId xmlns:a16="http://schemas.microsoft.com/office/drawing/2014/main" id="{F490BD09-6CB3-B246-B4D6-6CD3F15CA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5074" y="2413071"/>
            <a:ext cx="627062" cy="768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3" name="Text Box 53">
            <a:extLst>
              <a:ext uri="{FF2B5EF4-FFF2-40B4-BE49-F238E27FC236}">
                <a16:creationId xmlns:a16="http://schemas.microsoft.com/office/drawing/2014/main" id="{A1C55E3A-B8B7-9549-95DA-6B2B3FCA14A3}"/>
              </a:ext>
            </a:extLst>
          </p:cNvPr>
          <p:cNvSpPr txBox="1">
            <a:spLocks noChangeArrowheads="1"/>
          </p:cNvSpPr>
          <p:nvPr/>
        </p:nvSpPr>
        <p:spPr bwMode="auto">
          <a:xfrm>
            <a:off x="7335079" y="4651511"/>
            <a:ext cx="1017588" cy="646113"/>
          </a:xfrm>
          <a:prstGeom prst="rect">
            <a:avLst/>
          </a:prstGeom>
          <a:solidFill>
            <a:srgbClr val="0012A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sz="1800" dirty="0">
                <a:solidFill>
                  <a:schemeClr val="bg1"/>
                </a:solidFill>
                <a:latin typeface="Arial" charset="0"/>
                <a:cs typeface="Arial" charset="0"/>
              </a:rPr>
              <a:t>H: Hash</a:t>
            </a:r>
          </a:p>
          <a:p>
            <a:pPr algn="ctr">
              <a:defRPr/>
            </a:pPr>
            <a:r>
              <a:rPr lang="en-US" sz="1800" dirty="0">
                <a:solidFill>
                  <a:schemeClr val="bg1"/>
                </a:solidFill>
                <a:latin typeface="Arial" charset="0"/>
                <a:cs typeface="Arial" charset="0"/>
              </a:rPr>
              <a:t>function</a:t>
            </a:r>
          </a:p>
        </p:txBody>
      </p:sp>
      <p:sp>
        <p:nvSpPr>
          <p:cNvPr id="146" name="Text Box 56">
            <a:extLst>
              <a:ext uri="{FF2B5EF4-FFF2-40B4-BE49-F238E27FC236}">
                <a16:creationId xmlns:a16="http://schemas.microsoft.com/office/drawing/2014/main" id="{C0071582-0553-9D4C-A577-8ED0337856AC}"/>
              </a:ext>
            </a:extLst>
          </p:cNvPr>
          <p:cNvSpPr txBox="1">
            <a:spLocks noChangeArrowheads="1"/>
          </p:cNvSpPr>
          <p:nvPr/>
        </p:nvSpPr>
        <p:spPr bwMode="auto">
          <a:xfrm>
            <a:off x="7346691" y="5467929"/>
            <a:ext cx="873125" cy="3968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a:solidFill>
                  <a:srgbClr val="C00000"/>
                </a:solidFill>
                <a:latin typeface="Arial" charset="0"/>
                <a:cs typeface="Arial" charset="0"/>
              </a:rPr>
              <a:t>H(m)</a:t>
            </a:r>
          </a:p>
        </p:txBody>
      </p:sp>
      <p:sp>
        <p:nvSpPr>
          <p:cNvPr id="153" name="Text Box 63">
            <a:extLst>
              <a:ext uri="{FF2B5EF4-FFF2-40B4-BE49-F238E27FC236}">
                <a16:creationId xmlns:a16="http://schemas.microsoft.com/office/drawing/2014/main" id="{9E337D23-C848-8145-B079-D4D6C7C11384}"/>
              </a:ext>
            </a:extLst>
          </p:cNvPr>
          <p:cNvSpPr txBox="1">
            <a:spLocks noChangeArrowheads="1"/>
          </p:cNvSpPr>
          <p:nvPr/>
        </p:nvSpPr>
        <p:spPr bwMode="auto">
          <a:xfrm>
            <a:off x="10294041" y="5444295"/>
            <a:ext cx="784778" cy="3968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defRPr/>
            </a:pPr>
            <a:r>
              <a:rPr lang="en-US" dirty="0">
                <a:solidFill>
                  <a:srgbClr val="C00000"/>
                </a:solidFill>
                <a:latin typeface="Arial" charset="0"/>
                <a:cs typeface="Arial" charset="0"/>
              </a:rPr>
              <a:t>H(m)</a:t>
            </a:r>
          </a:p>
        </p:txBody>
      </p:sp>
      <p:sp>
        <p:nvSpPr>
          <p:cNvPr id="154" name="Line 64">
            <a:extLst>
              <a:ext uri="{FF2B5EF4-FFF2-40B4-BE49-F238E27FC236}">
                <a16:creationId xmlns:a16="http://schemas.microsoft.com/office/drawing/2014/main" id="{C9E8F389-B8AB-5043-9CC6-A9A006D5E185}"/>
              </a:ext>
            </a:extLst>
          </p:cNvPr>
          <p:cNvSpPr>
            <a:spLocks noChangeShapeType="1"/>
          </p:cNvSpPr>
          <p:nvPr/>
        </p:nvSpPr>
        <p:spPr bwMode="auto">
          <a:xfrm flipH="1">
            <a:off x="8190534" y="2863020"/>
            <a:ext cx="1449388"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66" name="Line 76">
            <a:extLst>
              <a:ext uri="{FF2B5EF4-FFF2-40B4-BE49-F238E27FC236}">
                <a16:creationId xmlns:a16="http://schemas.microsoft.com/office/drawing/2014/main" id="{E136B6C7-FA1F-EA4C-8639-CE1F2D4A9B39}"/>
              </a:ext>
            </a:extLst>
          </p:cNvPr>
          <p:cNvSpPr>
            <a:spLocks noChangeShapeType="1"/>
          </p:cNvSpPr>
          <p:nvPr/>
        </p:nvSpPr>
        <p:spPr bwMode="auto">
          <a:xfrm>
            <a:off x="7868272" y="5872920"/>
            <a:ext cx="873125" cy="2111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sp>
        <p:nvSpPr>
          <p:cNvPr id="167" name="Line 77">
            <a:extLst>
              <a:ext uri="{FF2B5EF4-FFF2-40B4-BE49-F238E27FC236}">
                <a16:creationId xmlns:a16="http://schemas.microsoft.com/office/drawing/2014/main" id="{928DBF80-B664-AF47-AAD2-41EAC21640A1}"/>
              </a:ext>
            </a:extLst>
          </p:cNvPr>
          <p:cNvSpPr>
            <a:spLocks noChangeShapeType="1"/>
          </p:cNvSpPr>
          <p:nvPr/>
        </p:nvSpPr>
        <p:spPr bwMode="auto">
          <a:xfrm flipH="1">
            <a:off x="9485934" y="5866570"/>
            <a:ext cx="873125" cy="21113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cs typeface="+mn-cs"/>
            </a:endParaRPr>
          </a:p>
        </p:txBody>
      </p:sp>
      <p:grpSp>
        <p:nvGrpSpPr>
          <p:cNvPr id="169" name="Group 168">
            <a:extLst>
              <a:ext uri="{FF2B5EF4-FFF2-40B4-BE49-F238E27FC236}">
                <a16:creationId xmlns:a16="http://schemas.microsoft.com/office/drawing/2014/main" id="{4835AEB4-A61F-0E40-BCF8-A126D96A9C7C}"/>
              </a:ext>
            </a:extLst>
          </p:cNvPr>
          <p:cNvGrpSpPr/>
          <p:nvPr/>
        </p:nvGrpSpPr>
        <p:grpSpPr>
          <a:xfrm>
            <a:off x="7225890" y="3491944"/>
            <a:ext cx="1343025" cy="855306"/>
            <a:chOff x="434147" y="4121426"/>
            <a:chExt cx="1343025" cy="855306"/>
          </a:xfrm>
        </p:grpSpPr>
        <p:pic>
          <p:nvPicPr>
            <p:cNvPr id="170" name="Picture 169">
              <a:extLst>
                <a:ext uri="{FF2B5EF4-FFF2-40B4-BE49-F238E27FC236}">
                  <a16:creationId xmlns:a16="http://schemas.microsoft.com/office/drawing/2014/main" id="{90AA764F-C6F5-F143-BF93-01B3B95A0D64}"/>
                </a:ext>
              </a:extLst>
            </p:cNvPr>
            <p:cNvPicPr>
              <a:picLocks noChangeAspect="1"/>
            </p:cNvPicPr>
            <p:nvPr/>
          </p:nvPicPr>
          <p:blipFill>
            <a:blip r:embed="rId4"/>
            <a:stretch>
              <a:fillRect/>
            </a:stretch>
          </p:blipFill>
          <p:spPr>
            <a:xfrm>
              <a:off x="533035" y="4121426"/>
              <a:ext cx="1153528" cy="848140"/>
            </a:xfrm>
            <a:prstGeom prst="rect">
              <a:avLst/>
            </a:prstGeom>
          </p:spPr>
        </p:pic>
        <p:sp>
          <p:nvSpPr>
            <p:cNvPr id="171" name="Text Box 7">
              <a:extLst>
                <a:ext uri="{FF2B5EF4-FFF2-40B4-BE49-F238E27FC236}">
                  <a16:creationId xmlns:a16="http://schemas.microsoft.com/office/drawing/2014/main" id="{ECF19F4D-E8AE-F54C-A6AD-6FA62D5ED601}"/>
                </a:ext>
              </a:extLst>
            </p:cNvPr>
            <p:cNvSpPr txBox="1">
              <a:spLocks noChangeArrowheads="1"/>
            </p:cNvSpPr>
            <p:nvPr/>
          </p:nvSpPr>
          <p:spPr bwMode="auto">
            <a:xfrm>
              <a:off x="434147" y="4139580"/>
              <a:ext cx="1343025" cy="83715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a:lnSpc>
                  <a:spcPct val="80000"/>
                </a:lnSpc>
                <a:defRPr/>
              </a:pPr>
              <a:r>
                <a:rPr lang="en-US" dirty="0">
                  <a:solidFill>
                    <a:srgbClr val="C00000"/>
                  </a:solidFill>
                  <a:latin typeface="+mn-lt"/>
                  <a:cs typeface="Arial" charset="0"/>
                </a:rPr>
                <a:t>large </a:t>
              </a:r>
            </a:p>
            <a:p>
              <a:pPr algn="ctr">
                <a:lnSpc>
                  <a:spcPct val="80000"/>
                </a:lnSpc>
                <a:defRPr/>
              </a:pPr>
              <a:r>
                <a:rPr lang="en-US" dirty="0">
                  <a:solidFill>
                    <a:srgbClr val="C00000"/>
                  </a:solidFill>
                  <a:latin typeface="+mn-lt"/>
                  <a:cs typeface="Arial" charset="0"/>
                </a:rPr>
                <a:t>message</a:t>
              </a:r>
            </a:p>
            <a:p>
              <a:pPr algn="ctr">
                <a:lnSpc>
                  <a:spcPct val="80000"/>
                </a:lnSpc>
                <a:defRPr/>
              </a:pPr>
              <a:r>
                <a:rPr lang="en-US" dirty="0">
                  <a:solidFill>
                    <a:srgbClr val="C00000"/>
                  </a:solidFill>
                  <a:latin typeface="+mn-lt"/>
                  <a:cs typeface="Arial" charset="0"/>
                </a:rPr>
                <a:t>m</a:t>
              </a:r>
              <a:endParaRPr lang="en-US" sz="2400" dirty="0">
                <a:solidFill>
                  <a:srgbClr val="C00000"/>
                </a:solidFill>
                <a:latin typeface="+mn-lt"/>
                <a:cs typeface="Arial" charset="0"/>
              </a:endParaRPr>
            </a:p>
          </p:txBody>
        </p:sp>
      </p:grpSp>
      <p:grpSp>
        <p:nvGrpSpPr>
          <p:cNvPr id="9" name="Group 8">
            <a:extLst>
              <a:ext uri="{FF2B5EF4-FFF2-40B4-BE49-F238E27FC236}">
                <a16:creationId xmlns:a16="http://schemas.microsoft.com/office/drawing/2014/main" id="{84E33964-896C-AF4C-92FD-F359907E3C57}"/>
              </a:ext>
            </a:extLst>
          </p:cNvPr>
          <p:cNvGrpSpPr/>
          <p:nvPr/>
        </p:nvGrpSpPr>
        <p:grpSpPr>
          <a:xfrm>
            <a:off x="2762875" y="3478075"/>
            <a:ext cx="1491075" cy="812454"/>
            <a:chOff x="1914734" y="3557588"/>
            <a:chExt cx="1491075" cy="812454"/>
          </a:xfrm>
        </p:grpSpPr>
        <p:sp>
          <p:nvSpPr>
            <p:cNvPr id="86" name="Text Box 16">
              <a:extLst>
                <a:ext uri="{FF2B5EF4-FFF2-40B4-BE49-F238E27FC236}">
                  <a16:creationId xmlns:a16="http://schemas.microsoft.com/office/drawing/2014/main" id="{19E2C28C-9A5F-914E-97E0-D15A78E18720}"/>
                </a:ext>
              </a:extLst>
            </p:cNvPr>
            <p:cNvSpPr txBox="1">
              <a:spLocks noChangeArrowheads="1"/>
            </p:cNvSpPr>
            <p:nvPr/>
          </p:nvSpPr>
          <p:spPr bwMode="auto">
            <a:xfrm>
              <a:off x="1914734" y="3557588"/>
              <a:ext cx="960437" cy="688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r" eaLnBrk="0" fontAlgn="base" hangingPunct="0">
                <a:lnSpc>
                  <a:spcPct val="80000"/>
                </a:lnSpc>
                <a:spcBef>
                  <a:spcPct val="0"/>
                </a:spcBef>
                <a:spcAft>
                  <a:spcPct val="0"/>
                </a:spcAft>
                <a:defRPr/>
              </a:pPr>
              <a:r>
                <a:rPr lang="en-US" sz="1600" dirty="0">
                  <a:solidFill>
                    <a:srgbClr val="000000"/>
                  </a:solidFill>
                  <a:latin typeface="+mn-lt"/>
                  <a:cs typeface="Arial" charset="0"/>
                </a:rPr>
                <a:t>Bob’s </a:t>
              </a:r>
            </a:p>
            <a:p>
              <a:pPr algn="r" eaLnBrk="0" fontAlgn="base" hangingPunct="0">
                <a:lnSpc>
                  <a:spcPct val="80000"/>
                </a:lnSpc>
                <a:spcBef>
                  <a:spcPct val="0"/>
                </a:spcBef>
                <a:spcAft>
                  <a:spcPct val="0"/>
                </a:spcAft>
                <a:defRPr/>
              </a:pPr>
              <a:r>
                <a:rPr lang="en-US" sz="1600" dirty="0">
                  <a:solidFill>
                    <a:srgbClr val="000000"/>
                  </a:solidFill>
                  <a:latin typeface="+mn-lt"/>
                  <a:cs typeface="Arial" charset="0"/>
                </a:rPr>
                <a:t>private</a:t>
              </a:r>
            </a:p>
            <a:p>
              <a:pPr algn="r" eaLnBrk="0" fontAlgn="base" hangingPunct="0">
                <a:lnSpc>
                  <a:spcPct val="80000"/>
                </a:lnSpc>
                <a:spcBef>
                  <a:spcPct val="0"/>
                </a:spcBef>
                <a:spcAft>
                  <a:spcPct val="0"/>
                </a:spcAft>
                <a:defRPr/>
              </a:pPr>
              <a:r>
                <a:rPr lang="en-US" sz="1600" dirty="0">
                  <a:solidFill>
                    <a:srgbClr val="000000"/>
                  </a:solidFill>
                  <a:latin typeface="+mn-lt"/>
                  <a:cs typeface="Arial" charset="0"/>
                </a:rPr>
                <a:t>key </a:t>
              </a:r>
            </a:p>
          </p:txBody>
        </p:sp>
        <p:pic>
          <p:nvPicPr>
            <p:cNvPr id="87" name="Picture 17" descr="BS00768_[1]">
              <a:extLst>
                <a:ext uri="{FF2B5EF4-FFF2-40B4-BE49-F238E27FC236}">
                  <a16:creationId xmlns:a16="http://schemas.microsoft.com/office/drawing/2014/main" id="{A3A39AD6-434F-0348-B359-E805575CB2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2866129" y="3559038"/>
              <a:ext cx="458787" cy="236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88" name="Group 18">
              <a:extLst>
                <a:ext uri="{FF2B5EF4-FFF2-40B4-BE49-F238E27FC236}">
                  <a16:creationId xmlns:a16="http://schemas.microsoft.com/office/drawing/2014/main" id="{9C9D4178-7FEF-594F-8CCF-1AFD1E30A824}"/>
                </a:ext>
              </a:extLst>
            </p:cNvPr>
            <p:cNvGrpSpPr>
              <a:grpSpLocks/>
            </p:cNvGrpSpPr>
            <p:nvPr/>
          </p:nvGrpSpPr>
          <p:grpSpPr bwMode="auto">
            <a:xfrm>
              <a:off x="2777712" y="3765205"/>
              <a:ext cx="490538" cy="604837"/>
              <a:chOff x="2994" y="2073"/>
              <a:chExt cx="309" cy="381"/>
            </a:xfrm>
          </p:grpSpPr>
          <p:grpSp>
            <p:nvGrpSpPr>
              <p:cNvPr id="89" name="Group 19">
                <a:extLst>
                  <a:ext uri="{FF2B5EF4-FFF2-40B4-BE49-F238E27FC236}">
                    <a16:creationId xmlns:a16="http://schemas.microsoft.com/office/drawing/2014/main" id="{A60DC2D3-52D9-8744-8609-C10E299AAB4D}"/>
                  </a:ext>
                </a:extLst>
              </p:cNvPr>
              <p:cNvGrpSpPr>
                <a:grpSpLocks/>
              </p:cNvGrpSpPr>
              <p:nvPr/>
            </p:nvGrpSpPr>
            <p:grpSpPr bwMode="auto">
              <a:xfrm>
                <a:off x="2994" y="2144"/>
                <a:ext cx="309" cy="310"/>
                <a:chOff x="2994" y="2144"/>
                <a:chExt cx="309" cy="310"/>
              </a:xfrm>
            </p:grpSpPr>
            <p:sp>
              <p:nvSpPr>
                <p:cNvPr id="91" name="Text Box 20">
                  <a:extLst>
                    <a:ext uri="{FF2B5EF4-FFF2-40B4-BE49-F238E27FC236}">
                      <a16:creationId xmlns:a16="http://schemas.microsoft.com/office/drawing/2014/main" id="{F3BED591-BCCB-2246-A254-61335DF2D6BA}"/>
                    </a:ext>
                  </a:extLst>
                </p:cNvPr>
                <p:cNvSpPr txBox="1">
                  <a:spLocks noChangeArrowheads="1"/>
                </p:cNvSpPr>
                <p:nvPr/>
              </p:nvSpPr>
              <p:spPr bwMode="auto">
                <a:xfrm>
                  <a:off x="2994" y="2144"/>
                  <a:ext cx="269" cy="25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dirty="0">
                      <a:solidFill>
                        <a:srgbClr val="C00000"/>
                      </a:solidFill>
                      <a:latin typeface="Arial" charset="0"/>
                      <a:cs typeface="Arial" charset="0"/>
                    </a:rPr>
                    <a:t>K </a:t>
                  </a:r>
                </a:p>
              </p:txBody>
            </p:sp>
            <p:sp>
              <p:nvSpPr>
                <p:cNvPr id="92" name="Text Box 21">
                  <a:extLst>
                    <a:ext uri="{FF2B5EF4-FFF2-40B4-BE49-F238E27FC236}">
                      <a16:creationId xmlns:a16="http://schemas.microsoft.com/office/drawing/2014/main" id="{17AB0DA2-1167-2D46-8632-CC1190C16D7B}"/>
                    </a:ext>
                  </a:extLst>
                </p:cNvPr>
                <p:cNvSpPr txBox="1">
                  <a:spLocks noChangeArrowheads="1"/>
                </p:cNvSpPr>
                <p:nvPr/>
              </p:nvSpPr>
              <p:spPr bwMode="auto">
                <a:xfrm>
                  <a:off x="3101" y="2241"/>
                  <a:ext cx="202" cy="21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B</a:t>
                  </a:r>
                </a:p>
              </p:txBody>
            </p:sp>
          </p:grpSp>
          <p:sp>
            <p:nvSpPr>
              <p:cNvPr id="90" name="Text Box 22">
                <a:extLst>
                  <a:ext uri="{FF2B5EF4-FFF2-40B4-BE49-F238E27FC236}">
                    <a16:creationId xmlns:a16="http://schemas.microsoft.com/office/drawing/2014/main" id="{7587A174-D942-3D43-89B9-A23BF65DE11D}"/>
                  </a:ext>
                </a:extLst>
              </p:cNvPr>
              <p:cNvSpPr txBox="1">
                <a:spLocks noChangeArrowheads="1"/>
              </p:cNvSpPr>
              <p:nvPr/>
            </p:nvSpPr>
            <p:spPr bwMode="auto">
              <a:xfrm>
                <a:off x="3122" y="2073"/>
                <a:ext cx="160" cy="21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a:t>
                </a:r>
              </a:p>
            </p:txBody>
          </p:sp>
        </p:grpSp>
        <p:cxnSp>
          <p:nvCxnSpPr>
            <p:cNvPr id="7" name="Straight Arrow Connector 6">
              <a:extLst>
                <a:ext uri="{FF2B5EF4-FFF2-40B4-BE49-F238E27FC236}">
                  <a16:creationId xmlns:a16="http://schemas.microsoft.com/office/drawing/2014/main" id="{8219823C-0FB1-8645-8287-EB4C5AA12B57}"/>
                </a:ext>
              </a:extLst>
            </p:cNvPr>
            <p:cNvCxnSpPr>
              <a:cxnSpLocks/>
            </p:cNvCxnSpPr>
            <p:nvPr/>
          </p:nvCxnSpPr>
          <p:spPr>
            <a:xfrm>
              <a:off x="2809461" y="3869635"/>
              <a:ext cx="5963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DE649D0B-607E-EE43-B217-A547BE617F99}"/>
              </a:ext>
            </a:extLst>
          </p:cNvPr>
          <p:cNvGrpSpPr/>
          <p:nvPr/>
        </p:nvGrpSpPr>
        <p:grpSpPr>
          <a:xfrm>
            <a:off x="3922645" y="4683817"/>
            <a:ext cx="1855305" cy="908600"/>
            <a:chOff x="3922645" y="4683817"/>
            <a:chExt cx="1855305" cy="908600"/>
          </a:xfrm>
        </p:grpSpPr>
        <p:grpSp>
          <p:nvGrpSpPr>
            <p:cNvPr id="12" name="Group 11">
              <a:extLst>
                <a:ext uri="{FF2B5EF4-FFF2-40B4-BE49-F238E27FC236}">
                  <a16:creationId xmlns:a16="http://schemas.microsoft.com/office/drawing/2014/main" id="{F6748C72-BC5C-0D43-9291-EF04370297D3}"/>
                </a:ext>
              </a:extLst>
            </p:cNvPr>
            <p:cNvGrpSpPr/>
            <p:nvPr/>
          </p:nvGrpSpPr>
          <p:grpSpPr>
            <a:xfrm>
              <a:off x="3940106" y="4683817"/>
              <a:ext cx="1811339" cy="869051"/>
              <a:chOff x="4006366" y="4604305"/>
              <a:chExt cx="1811339" cy="869051"/>
            </a:xfrm>
          </p:grpSpPr>
          <p:grpSp>
            <p:nvGrpSpPr>
              <p:cNvPr id="103" name="Group 34">
                <a:extLst>
                  <a:ext uri="{FF2B5EF4-FFF2-40B4-BE49-F238E27FC236}">
                    <a16:creationId xmlns:a16="http://schemas.microsoft.com/office/drawing/2014/main" id="{C9466280-BB4D-9548-9D44-4E595E9791A8}"/>
                  </a:ext>
                </a:extLst>
              </p:cNvPr>
              <p:cNvGrpSpPr>
                <a:grpSpLocks/>
              </p:cNvGrpSpPr>
              <p:nvPr/>
            </p:nvGrpSpPr>
            <p:grpSpPr bwMode="auto">
              <a:xfrm>
                <a:off x="4142479" y="4924081"/>
                <a:ext cx="1465263" cy="549275"/>
                <a:chOff x="2594" y="3062"/>
                <a:chExt cx="923" cy="346"/>
              </a:xfrm>
            </p:grpSpPr>
            <p:sp>
              <p:nvSpPr>
                <p:cNvPr id="106" name="Text Box 35">
                  <a:extLst>
                    <a:ext uri="{FF2B5EF4-FFF2-40B4-BE49-F238E27FC236}">
                      <a16:creationId xmlns:a16="http://schemas.microsoft.com/office/drawing/2014/main" id="{30C1FFBF-8C5A-3145-A216-83DF674976E5}"/>
                    </a:ext>
                  </a:extLst>
                </p:cNvPr>
                <p:cNvSpPr txBox="1">
                  <a:spLocks noChangeArrowheads="1"/>
                </p:cNvSpPr>
                <p:nvPr/>
              </p:nvSpPr>
              <p:spPr bwMode="auto">
                <a:xfrm>
                  <a:off x="2594" y="3158"/>
                  <a:ext cx="923" cy="2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C00000"/>
                      </a:solidFill>
                      <a:effectLst/>
                      <a:uLnTx/>
                      <a:uFillTx/>
                      <a:latin typeface="Arial" charset="0"/>
                      <a:ea typeface="ＭＳ Ｐゴシック" charset="0"/>
                      <a:cs typeface="Arial" charset="0"/>
                    </a:rPr>
                    <a:t>K</a:t>
                  </a:r>
                  <a:r>
                    <a:rPr kumimoji="0" lang="en-US" sz="2400" b="0" i="0" u="none" strike="noStrike" kern="0" cap="none" spc="0" normalizeH="0" baseline="-25000" noProof="0" dirty="0">
                      <a:ln>
                        <a:noFill/>
                      </a:ln>
                      <a:solidFill>
                        <a:srgbClr val="C00000"/>
                      </a:solidFill>
                      <a:effectLst/>
                      <a:uLnTx/>
                      <a:uFillTx/>
                      <a:latin typeface="Arial" charset="0"/>
                      <a:ea typeface="ＭＳ Ｐゴシック" charset="0"/>
                      <a:cs typeface="Arial" charset="0"/>
                    </a:rPr>
                    <a:t>B</a:t>
                  </a:r>
                  <a:r>
                    <a:rPr kumimoji="0" lang="en-US" sz="2000" b="0" i="0" u="none" strike="noStrike" kern="0" cap="none" spc="0" normalizeH="0" baseline="0" noProof="0" dirty="0">
                      <a:ln>
                        <a:noFill/>
                      </a:ln>
                      <a:solidFill>
                        <a:srgbClr val="C00000"/>
                      </a:solidFill>
                      <a:effectLst/>
                      <a:uLnTx/>
                      <a:uFillTx/>
                      <a:latin typeface="Arial" charset="0"/>
                      <a:ea typeface="ＭＳ Ｐゴシック" charset="0"/>
                      <a:cs typeface="Arial" charset="0"/>
                    </a:rPr>
                    <a:t>(H(m))</a:t>
                  </a:r>
                </a:p>
              </p:txBody>
            </p:sp>
            <p:sp>
              <p:nvSpPr>
                <p:cNvPr id="107" name="Text Box 36">
                  <a:extLst>
                    <a:ext uri="{FF2B5EF4-FFF2-40B4-BE49-F238E27FC236}">
                      <a16:creationId xmlns:a16="http://schemas.microsoft.com/office/drawing/2014/main" id="{12076172-D4A5-3847-ADDD-7C31F8E94086}"/>
                    </a:ext>
                  </a:extLst>
                </p:cNvPr>
                <p:cNvSpPr txBox="1">
                  <a:spLocks noChangeArrowheads="1"/>
                </p:cNvSpPr>
                <p:nvPr/>
              </p:nvSpPr>
              <p:spPr bwMode="auto">
                <a:xfrm>
                  <a:off x="2604" y="3062"/>
                  <a:ext cx="533" cy="2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C00000"/>
                      </a:solidFill>
                      <a:effectLst/>
                      <a:uLnTx/>
                      <a:uFillTx/>
                      <a:latin typeface="Arial" charset="0"/>
                      <a:ea typeface="ＭＳ Ｐゴシック" charset="0"/>
                      <a:cs typeface="Arial" charset="0"/>
                    </a:rPr>
                    <a:t>-</a:t>
                  </a:r>
                </a:p>
              </p:txBody>
            </p:sp>
          </p:grpSp>
          <p:sp>
            <p:nvSpPr>
              <p:cNvPr id="105" name="Text Box 38">
                <a:extLst>
                  <a:ext uri="{FF2B5EF4-FFF2-40B4-BE49-F238E27FC236}">
                    <a16:creationId xmlns:a16="http://schemas.microsoft.com/office/drawing/2014/main" id="{58FF323C-65B7-E746-A44B-832C06C63903}"/>
                  </a:ext>
                </a:extLst>
              </p:cNvPr>
              <p:cNvSpPr txBox="1">
                <a:spLocks noChangeArrowheads="1"/>
              </p:cNvSpPr>
              <p:nvPr/>
            </p:nvSpPr>
            <p:spPr bwMode="auto">
              <a:xfrm>
                <a:off x="4006366" y="4604305"/>
                <a:ext cx="1811339" cy="590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effectLst/>
                    <a:uLnTx/>
                    <a:uFillTx/>
                    <a:latin typeface="+mn-lt"/>
                    <a:ea typeface="ＭＳ Ｐゴシック" charset="0"/>
                    <a:cs typeface="Arial" charset="0"/>
                  </a:rPr>
                  <a:t>encrypted </a:t>
                </a:r>
              </a:p>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effectLst/>
                    <a:uLnTx/>
                    <a:uFillTx/>
                    <a:latin typeface="+mn-lt"/>
                    <a:ea typeface="ＭＳ Ｐゴシック" charset="0"/>
                    <a:cs typeface="Arial" charset="0"/>
                  </a:rPr>
                  <a:t>message digest</a:t>
                </a:r>
                <a:endParaRPr kumimoji="0" lang="en-US" sz="1800" b="0" i="0" u="none" strike="noStrike" kern="0" cap="none" spc="0" normalizeH="0" baseline="0" noProof="0" dirty="0">
                  <a:ln>
                    <a:noFill/>
                  </a:ln>
                  <a:effectLst/>
                  <a:uLnTx/>
                  <a:uFillTx/>
                  <a:latin typeface="+mn-lt"/>
                  <a:ea typeface="ＭＳ Ｐゴシック" charset="0"/>
                  <a:cs typeface="Arial" charset="0"/>
                </a:endParaRPr>
              </a:p>
            </p:txBody>
          </p:sp>
        </p:grpSp>
        <p:sp>
          <p:nvSpPr>
            <p:cNvPr id="13" name="Rectangle 12">
              <a:extLst>
                <a:ext uri="{FF2B5EF4-FFF2-40B4-BE49-F238E27FC236}">
                  <a16:creationId xmlns:a16="http://schemas.microsoft.com/office/drawing/2014/main" id="{C7469F7B-FDF8-594E-84C7-B40FE8CE7EBF}"/>
                </a:ext>
              </a:extLst>
            </p:cNvPr>
            <p:cNvSpPr/>
            <p:nvPr/>
          </p:nvSpPr>
          <p:spPr>
            <a:xfrm>
              <a:off x="3922645" y="4691269"/>
              <a:ext cx="1855305" cy="90114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7" name="Group 176">
            <a:extLst>
              <a:ext uri="{FF2B5EF4-FFF2-40B4-BE49-F238E27FC236}">
                <a16:creationId xmlns:a16="http://schemas.microsoft.com/office/drawing/2014/main" id="{3272639B-DF97-714E-8070-A7C8696F2BD7}"/>
              </a:ext>
            </a:extLst>
          </p:cNvPr>
          <p:cNvGrpSpPr/>
          <p:nvPr/>
        </p:nvGrpSpPr>
        <p:grpSpPr>
          <a:xfrm>
            <a:off x="9680714" y="2543589"/>
            <a:ext cx="1855305" cy="908600"/>
            <a:chOff x="3922645" y="4683817"/>
            <a:chExt cx="1855305" cy="908600"/>
          </a:xfrm>
        </p:grpSpPr>
        <p:grpSp>
          <p:nvGrpSpPr>
            <p:cNvPr id="178" name="Group 177">
              <a:extLst>
                <a:ext uri="{FF2B5EF4-FFF2-40B4-BE49-F238E27FC236}">
                  <a16:creationId xmlns:a16="http://schemas.microsoft.com/office/drawing/2014/main" id="{EE4BB737-59C1-474D-94B9-031695A0036A}"/>
                </a:ext>
              </a:extLst>
            </p:cNvPr>
            <p:cNvGrpSpPr/>
            <p:nvPr/>
          </p:nvGrpSpPr>
          <p:grpSpPr>
            <a:xfrm>
              <a:off x="3940106" y="4683817"/>
              <a:ext cx="1811339" cy="869051"/>
              <a:chOff x="4006366" y="4604305"/>
              <a:chExt cx="1811339" cy="869051"/>
            </a:xfrm>
          </p:grpSpPr>
          <p:grpSp>
            <p:nvGrpSpPr>
              <p:cNvPr id="180" name="Group 34">
                <a:extLst>
                  <a:ext uri="{FF2B5EF4-FFF2-40B4-BE49-F238E27FC236}">
                    <a16:creationId xmlns:a16="http://schemas.microsoft.com/office/drawing/2014/main" id="{3A474D83-98EA-0945-BE7F-EF0F3D1861AC}"/>
                  </a:ext>
                </a:extLst>
              </p:cNvPr>
              <p:cNvGrpSpPr>
                <a:grpSpLocks/>
              </p:cNvGrpSpPr>
              <p:nvPr/>
            </p:nvGrpSpPr>
            <p:grpSpPr bwMode="auto">
              <a:xfrm>
                <a:off x="4142479" y="4924081"/>
                <a:ext cx="1465263" cy="549275"/>
                <a:chOff x="2594" y="3062"/>
                <a:chExt cx="923" cy="346"/>
              </a:xfrm>
            </p:grpSpPr>
            <p:sp>
              <p:nvSpPr>
                <p:cNvPr id="182" name="Text Box 35">
                  <a:extLst>
                    <a:ext uri="{FF2B5EF4-FFF2-40B4-BE49-F238E27FC236}">
                      <a16:creationId xmlns:a16="http://schemas.microsoft.com/office/drawing/2014/main" id="{B4BFDBE1-B0AE-C944-923B-0FB222D93684}"/>
                    </a:ext>
                  </a:extLst>
                </p:cNvPr>
                <p:cNvSpPr txBox="1">
                  <a:spLocks noChangeArrowheads="1"/>
                </p:cNvSpPr>
                <p:nvPr/>
              </p:nvSpPr>
              <p:spPr bwMode="auto">
                <a:xfrm>
                  <a:off x="2594" y="3158"/>
                  <a:ext cx="923" cy="2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C00000"/>
                      </a:solidFill>
                      <a:effectLst/>
                      <a:uLnTx/>
                      <a:uFillTx/>
                      <a:latin typeface="Arial" charset="0"/>
                      <a:ea typeface="ＭＳ Ｐゴシック" charset="0"/>
                      <a:cs typeface="Arial" charset="0"/>
                    </a:rPr>
                    <a:t>K</a:t>
                  </a:r>
                  <a:r>
                    <a:rPr kumimoji="0" lang="en-US" sz="2400" b="0" i="0" u="none" strike="noStrike" kern="0" cap="none" spc="0" normalizeH="0" baseline="-25000" noProof="0" dirty="0">
                      <a:ln>
                        <a:noFill/>
                      </a:ln>
                      <a:solidFill>
                        <a:srgbClr val="C00000"/>
                      </a:solidFill>
                      <a:effectLst/>
                      <a:uLnTx/>
                      <a:uFillTx/>
                      <a:latin typeface="Arial" charset="0"/>
                      <a:ea typeface="ＭＳ Ｐゴシック" charset="0"/>
                      <a:cs typeface="Arial" charset="0"/>
                    </a:rPr>
                    <a:t>B</a:t>
                  </a:r>
                  <a:r>
                    <a:rPr kumimoji="0" lang="en-US" sz="2000" b="0" i="0" u="none" strike="noStrike" kern="0" cap="none" spc="0" normalizeH="0" baseline="0" noProof="0" dirty="0">
                      <a:ln>
                        <a:noFill/>
                      </a:ln>
                      <a:solidFill>
                        <a:srgbClr val="C00000"/>
                      </a:solidFill>
                      <a:effectLst/>
                      <a:uLnTx/>
                      <a:uFillTx/>
                      <a:latin typeface="Arial" charset="0"/>
                      <a:ea typeface="ＭＳ Ｐゴシック" charset="0"/>
                      <a:cs typeface="Arial" charset="0"/>
                    </a:rPr>
                    <a:t>(H(m))</a:t>
                  </a:r>
                </a:p>
              </p:txBody>
            </p:sp>
            <p:sp>
              <p:nvSpPr>
                <p:cNvPr id="183" name="Text Box 36">
                  <a:extLst>
                    <a:ext uri="{FF2B5EF4-FFF2-40B4-BE49-F238E27FC236}">
                      <a16:creationId xmlns:a16="http://schemas.microsoft.com/office/drawing/2014/main" id="{72BF8384-456B-A944-BDC5-136549DED38A}"/>
                    </a:ext>
                  </a:extLst>
                </p:cNvPr>
                <p:cNvSpPr txBox="1">
                  <a:spLocks noChangeArrowheads="1"/>
                </p:cNvSpPr>
                <p:nvPr/>
              </p:nvSpPr>
              <p:spPr bwMode="auto">
                <a:xfrm>
                  <a:off x="2604" y="3062"/>
                  <a:ext cx="533" cy="2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C00000"/>
                      </a:solidFill>
                      <a:effectLst/>
                      <a:uLnTx/>
                      <a:uFillTx/>
                      <a:latin typeface="Arial" charset="0"/>
                      <a:ea typeface="ＭＳ Ｐゴシック" charset="0"/>
                      <a:cs typeface="Arial" charset="0"/>
                    </a:rPr>
                    <a:t>-</a:t>
                  </a:r>
                </a:p>
              </p:txBody>
            </p:sp>
          </p:grpSp>
          <p:sp>
            <p:nvSpPr>
              <p:cNvPr id="181" name="Text Box 38">
                <a:extLst>
                  <a:ext uri="{FF2B5EF4-FFF2-40B4-BE49-F238E27FC236}">
                    <a16:creationId xmlns:a16="http://schemas.microsoft.com/office/drawing/2014/main" id="{5C4C32ED-C92A-D34E-83F0-5A60D46E1B4A}"/>
                  </a:ext>
                </a:extLst>
              </p:cNvPr>
              <p:cNvSpPr txBox="1">
                <a:spLocks noChangeArrowheads="1"/>
              </p:cNvSpPr>
              <p:nvPr/>
            </p:nvSpPr>
            <p:spPr bwMode="auto">
              <a:xfrm>
                <a:off x="4006366" y="4604305"/>
                <a:ext cx="1811339" cy="590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effectLst/>
                    <a:uLnTx/>
                    <a:uFillTx/>
                    <a:latin typeface="+mn-lt"/>
                    <a:ea typeface="ＭＳ Ｐゴシック" charset="0"/>
                    <a:cs typeface="Arial" charset="0"/>
                  </a:rPr>
                  <a:t>encrypted </a:t>
                </a:r>
              </a:p>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effectLst/>
                    <a:uLnTx/>
                    <a:uFillTx/>
                    <a:latin typeface="+mn-lt"/>
                    <a:ea typeface="ＭＳ Ｐゴシック" charset="0"/>
                    <a:cs typeface="Arial" charset="0"/>
                  </a:rPr>
                  <a:t>message digest</a:t>
                </a:r>
                <a:endParaRPr kumimoji="0" lang="en-US" sz="1800" b="0" i="0" u="none" strike="noStrike" kern="0" cap="none" spc="0" normalizeH="0" baseline="0" noProof="0" dirty="0">
                  <a:ln>
                    <a:noFill/>
                  </a:ln>
                  <a:effectLst/>
                  <a:uLnTx/>
                  <a:uFillTx/>
                  <a:latin typeface="+mn-lt"/>
                  <a:ea typeface="ＭＳ Ｐゴシック" charset="0"/>
                  <a:cs typeface="Arial" charset="0"/>
                </a:endParaRPr>
              </a:p>
            </p:txBody>
          </p:sp>
        </p:grpSp>
        <p:sp>
          <p:nvSpPr>
            <p:cNvPr id="179" name="Rectangle 178">
              <a:extLst>
                <a:ext uri="{FF2B5EF4-FFF2-40B4-BE49-F238E27FC236}">
                  <a16:creationId xmlns:a16="http://schemas.microsoft.com/office/drawing/2014/main" id="{827611C3-F7BF-504D-BDE0-60EB822045DF}"/>
                </a:ext>
              </a:extLst>
            </p:cNvPr>
            <p:cNvSpPr/>
            <p:nvPr/>
          </p:nvSpPr>
          <p:spPr>
            <a:xfrm>
              <a:off x="3922645" y="4691269"/>
              <a:ext cx="1855305" cy="90114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84" name="Straight Arrow Connector 183">
            <a:extLst>
              <a:ext uri="{FF2B5EF4-FFF2-40B4-BE49-F238E27FC236}">
                <a16:creationId xmlns:a16="http://schemas.microsoft.com/office/drawing/2014/main" id="{834FC27D-E26C-7D45-8F7D-8D201F9D1327}"/>
              </a:ext>
            </a:extLst>
          </p:cNvPr>
          <p:cNvCxnSpPr>
            <a:cxnSpLocks/>
          </p:cNvCxnSpPr>
          <p:nvPr/>
        </p:nvCxnSpPr>
        <p:spPr>
          <a:xfrm>
            <a:off x="7848600" y="3225466"/>
            <a:ext cx="0" cy="25563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C20EAE69-54A8-5647-A90F-1B7B2600C816}"/>
              </a:ext>
            </a:extLst>
          </p:cNvPr>
          <p:cNvCxnSpPr>
            <a:cxnSpLocks/>
          </p:cNvCxnSpPr>
          <p:nvPr/>
        </p:nvCxnSpPr>
        <p:spPr>
          <a:xfrm>
            <a:off x="7848600" y="4372328"/>
            <a:ext cx="0" cy="25563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4A7A7AA8-3031-8E48-8587-B178226D9C5B}"/>
              </a:ext>
            </a:extLst>
          </p:cNvPr>
          <p:cNvCxnSpPr>
            <a:cxnSpLocks/>
          </p:cNvCxnSpPr>
          <p:nvPr/>
        </p:nvCxnSpPr>
        <p:spPr>
          <a:xfrm>
            <a:off x="7848600" y="5321141"/>
            <a:ext cx="0" cy="25563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57AE4029-112C-CF40-B41E-A26EECCD4A51}"/>
              </a:ext>
            </a:extLst>
          </p:cNvPr>
          <p:cNvGrpSpPr/>
          <p:nvPr/>
        </p:nvGrpSpPr>
        <p:grpSpPr>
          <a:xfrm>
            <a:off x="10040871" y="3980758"/>
            <a:ext cx="1196163" cy="955675"/>
            <a:chOff x="4296054" y="3224833"/>
            <a:chExt cx="1196163" cy="955675"/>
          </a:xfrm>
        </p:grpSpPr>
        <p:sp>
          <p:nvSpPr>
            <p:cNvPr id="191" name="Rectangle 14">
              <a:extLst>
                <a:ext uri="{FF2B5EF4-FFF2-40B4-BE49-F238E27FC236}">
                  <a16:creationId xmlns:a16="http://schemas.microsoft.com/office/drawing/2014/main" id="{2C63D620-97A5-5F45-85C2-D4A6B4ADEBE9}"/>
                </a:ext>
              </a:extLst>
            </p:cNvPr>
            <p:cNvSpPr>
              <a:spLocks noChangeArrowheads="1"/>
            </p:cNvSpPr>
            <p:nvPr/>
          </p:nvSpPr>
          <p:spPr bwMode="auto">
            <a:xfrm>
              <a:off x="4296054" y="3224833"/>
              <a:ext cx="1192213" cy="955675"/>
            </a:xfrm>
            <a:prstGeom prst="rect">
              <a:avLst/>
            </a:prstGeom>
            <a:solidFill>
              <a:srgbClr val="0012A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192" name="Text Box 15">
              <a:extLst>
                <a:ext uri="{FF2B5EF4-FFF2-40B4-BE49-F238E27FC236}">
                  <a16:creationId xmlns:a16="http://schemas.microsoft.com/office/drawing/2014/main" id="{0B18E250-70E3-444A-8ACC-CD29158E9394}"/>
                </a:ext>
              </a:extLst>
            </p:cNvPr>
            <p:cNvSpPr txBox="1">
              <a:spLocks noChangeArrowheads="1"/>
            </p:cNvSpPr>
            <p:nvPr/>
          </p:nvSpPr>
          <p:spPr bwMode="auto">
            <a:xfrm>
              <a:off x="4329719" y="3295856"/>
              <a:ext cx="1162498" cy="837152"/>
            </a:xfrm>
            <a:prstGeom prst="rect">
              <a:avLst/>
            </a:prstGeom>
            <a:no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mn-lt"/>
                  <a:ea typeface="ＭＳ Ｐゴシック" charset="0"/>
                  <a:cs typeface="Arial" charset="0"/>
                </a:rPr>
                <a:t>digital</a:t>
              </a:r>
            </a:p>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mn-lt"/>
                  <a:ea typeface="ＭＳ Ｐゴシック" charset="0"/>
                  <a:cs typeface="Arial" charset="0"/>
                </a:rPr>
                <a:t>signature</a:t>
              </a:r>
            </a:p>
            <a:p>
              <a:pPr marL="0" marR="0" lvl="0" indent="0" algn="ctr" defTabSz="914400" eaLnBrk="0" fontAlgn="base" latinLnBrk="0" hangingPunct="0">
                <a:lnSpc>
                  <a:spcPct val="80000"/>
                </a:lnSpc>
                <a:spcBef>
                  <a:spcPct val="0"/>
                </a:spcBef>
                <a:spcAft>
                  <a:spcPct val="0"/>
                </a:spcAft>
                <a:buClrTx/>
                <a:buSzTx/>
                <a:buFontTx/>
                <a:buNone/>
                <a:tabLst/>
                <a:defRPr/>
              </a:pPr>
              <a:r>
                <a:rPr kumimoji="0" lang="en-US" b="0" i="0" u="none" strike="noStrike" kern="0" cap="none" spc="0" normalizeH="0" baseline="0" noProof="0" dirty="0">
                  <a:ln>
                    <a:noFill/>
                  </a:ln>
                  <a:solidFill>
                    <a:srgbClr val="FFFFFF"/>
                  </a:solidFill>
                  <a:effectLst/>
                  <a:uLnTx/>
                  <a:uFillTx/>
                  <a:latin typeface="+mn-lt"/>
                  <a:ea typeface="ＭＳ Ｐゴシック" charset="0"/>
                  <a:cs typeface="Arial" charset="0"/>
                </a:rPr>
                <a:t>(decrypt)</a:t>
              </a:r>
            </a:p>
          </p:txBody>
        </p:sp>
      </p:grpSp>
      <p:cxnSp>
        <p:nvCxnSpPr>
          <p:cNvPr id="193" name="Straight Arrow Connector 192">
            <a:extLst>
              <a:ext uri="{FF2B5EF4-FFF2-40B4-BE49-F238E27FC236}">
                <a16:creationId xmlns:a16="http://schemas.microsoft.com/office/drawing/2014/main" id="{898EB7A9-23BB-5343-B2B1-EC1055BBBBC6}"/>
              </a:ext>
            </a:extLst>
          </p:cNvPr>
          <p:cNvCxnSpPr>
            <a:cxnSpLocks/>
          </p:cNvCxnSpPr>
          <p:nvPr/>
        </p:nvCxnSpPr>
        <p:spPr>
          <a:xfrm>
            <a:off x="10641495" y="3519004"/>
            <a:ext cx="0" cy="4041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BB2E8B7A-0FF0-AD49-8BCC-0F3FA0572B12}"/>
              </a:ext>
            </a:extLst>
          </p:cNvPr>
          <p:cNvCxnSpPr>
            <a:cxnSpLocks/>
          </p:cNvCxnSpPr>
          <p:nvPr/>
        </p:nvCxnSpPr>
        <p:spPr>
          <a:xfrm>
            <a:off x="10634871" y="4983369"/>
            <a:ext cx="0" cy="4041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5" name="Group 194">
            <a:extLst>
              <a:ext uri="{FF2B5EF4-FFF2-40B4-BE49-F238E27FC236}">
                <a16:creationId xmlns:a16="http://schemas.microsoft.com/office/drawing/2014/main" id="{171B8A9C-6EB6-FD43-8531-A67FEE184BB2}"/>
              </a:ext>
            </a:extLst>
          </p:cNvPr>
          <p:cNvGrpSpPr/>
          <p:nvPr/>
        </p:nvGrpSpPr>
        <p:grpSpPr>
          <a:xfrm>
            <a:off x="8507692" y="4234000"/>
            <a:ext cx="1491075" cy="812454"/>
            <a:chOff x="1914734" y="3557588"/>
            <a:chExt cx="1491075" cy="812454"/>
          </a:xfrm>
        </p:grpSpPr>
        <p:sp>
          <p:nvSpPr>
            <p:cNvPr id="196" name="Text Box 16">
              <a:extLst>
                <a:ext uri="{FF2B5EF4-FFF2-40B4-BE49-F238E27FC236}">
                  <a16:creationId xmlns:a16="http://schemas.microsoft.com/office/drawing/2014/main" id="{27560837-1C52-4C48-94FE-2E10581CC75D}"/>
                </a:ext>
              </a:extLst>
            </p:cNvPr>
            <p:cNvSpPr txBox="1">
              <a:spLocks noChangeArrowheads="1"/>
            </p:cNvSpPr>
            <p:nvPr/>
          </p:nvSpPr>
          <p:spPr bwMode="auto">
            <a:xfrm>
              <a:off x="1914734" y="3557588"/>
              <a:ext cx="960437" cy="688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r" eaLnBrk="0" fontAlgn="base" hangingPunct="0">
                <a:lnSpc>
                  <a:spcPct val="80000"/>
                </a:lnSpc>
                <a:spcBef>
                  <a:spcPct val="0"/>
                </a:spcBef>
                <a:spcAft>
                  <a:spcPct val="0"/>
                </a:spcAft>
                <a:defRPr/>
              </a:pPr>
              <a:r>
                <a:rPr lang="en-US" sz="1600" dirty="0">
                  <a:solidFill>
                    <a:srgbClr val="000000"/>
                  </a:solidFill>
                  <a:latin typeface="+mn-lt"/>
                  <a:cs typeface="Arial" charset="0"/>
                </a:rPr>
                <a:t>Bob’s </a:t>
              </a:r>
            </a:p>
            <a:p>
              <a:pPr algn="r" eaLnBrk="0" fontAlgn="base" hangingPunct="0">
                <a:lnSpc>
                  <a:spcPct val="80000"/>
                </a:lnSpc>
                <a:spcBef>
                  <a:spcPct val="0"/>
                </a:spcBef>
                <a:spcAft>
                  <a:spcPct val="0"/>
                </a:spcAft>
                <a:defRPr/>
              </a:pPr>
              <a:r>
                <a:rPr lang="en-US" sz="1600" dirty="0">
                  <a:solidFill>
                    <a:srgbClr val="000000"/>
                  </a:solidFill>
                  <a:latin typeface="+mn-lt"/>
                  <a:cs typeface="Arial" charset="0"/>
                </a:rPr>
                <a:t>public</a:t>
              </a:r>
            </a:p>
            <a:p>
              <a:pPr algn="r" eaLnBrk="0" fontAlgn="base" hangingPunct="0">
                <a:lnSpc>
                  <a:spcPct val="80000"/>
                </a:lnSpc>
                <a:spcBef>
                  <a:spcPct val="0"/>
                </a:spcBef>
                <a:spcAft>
                  <a:spcPct val="0"/>
                </a:spcAft>
                <a:defRPr/>
              </a:pPr>
              <a:r>
                <a:rPr lang="en-US" sz="1600" dirty="0">
                  <a:solidFill>
                    <a:srgbClr val="000000"/>
                  </a:solidFill>
                  <a:latin typeface="+mn-lt"/>
                  <a:cs typeface="Arial" charset="0"/>
                </a:rPr>
                <a:t>key </a:t>
              </a:r>
            </a:p>
          </p:txBody>
        </p:sp>
        <p:pic>
          <p:nvPicPr>
            <p:cNvPr id="197" name="Picture 17" descr="BS00768_[1]">
              <a:extLst>
                <a:ext uri="{FF2B5EF4-FFF2-40B4-BE49-F238E27FC236}">
                  <a16:creationId xmlns:a16="http://schemas.microsoft.com/office/drawing/2014/main" id="{53D412DD-734D-634A-BE12-66848A93BC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2866129" y="3559038"/>
              <a:ext cx="458787" cy="236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98" name="Group 18">
              <a:extLst>
                <a:ext uri="{FF2B5EF4-FFF2-40B4-BE49-F238E27FC236}">
                  <a16:creationId xmlns:a16="http://schemas.microsoft.com/office/drawing/2014/main" id="{0B4DDFE1-EDF2-5B45-B8E0-30A2652C5E47}"/>
                </a:ext>
              </a:extLst>
            </p:cNvPr>
            <p:cNvGrpSpPr>
              <a:grpSpLocks/>
            </p:cNvGrpSpPr>
            <p:nvPr/>
          </p:nvGrpSpPr>
          <p:grpSpPr bwMode="auto">
            <a:xfrm>
              <a:off x="2777712" y="3765205"/>
              <a:ext cx="490538" cy="604837"/>
              <a:chOff x="2994" y="2073"/>
              <a:chExt cx="309" cy="381"/>
            </a:xfrm>
          </p:grpSpPr>
          <p:grpSp>
            <p:nvGrpSpPr>
              <p:cNvPr id="200" name="Group 19">
                <a:extLst>
                  <a:ext uri="{FF2B5EF4-FFF2-40B4-BE49-F238E27FC236}">
                    <a16:creationId xmlns:a16="http://schemas.microsoft.com/office/drawing/2014/main" id="{5383C6D8-058F-4A41-B601-80BE0F38EBA0}"/>
                  </a:ext>
                </a:extLst>
              </p:cNvPr>
              <p:cNvGrpSpPr>
                <a:grpSpLocks/>
              </p:cNvGrpSpPr>
              <p:nvPr/>
            </p:nvGrpSpPr>
            <p:grpSpPr bwMode="auto">
              <a:xfrm>
                <a:off x="2994" y="2144"/>
                <a:ext cx="309" cy="310"/>
                <a:chOff x="2994" y="2144"/>
                <a:chExt cx="309" cy="310"/>
              </a:xfrm>
            </p:grpSpPr>
            <p:sp>
              <p:nvSpPr>
                <p:cNvPr id="202" name="Text Box 20">
                  <a:extLst>
                    <a:ext uri="{FF2B5EF4-FFF2-40B4-BE49-F238E27FC236}">
                      <a16:creationId xmlns:a16="http://schemas.microsoft.com/office/drawing/2014/main" id="{8DDFD6D6-CFB2-A543-803B-E0D225340E8A}"/>
                    </a:ext>
                  </a:extLst>
                </p:cNvPr>
                <p:cNvSpPr txBox="1">
                  <a:spLocks noChangeArrowheads="1"/>
                </p:cNvSpPr>
                <p:nvPr/>
              </p:nvSpPr>
              <p:spPr bwMode="auto">
                <a:xfrm>
                  <a:off x="2994" y="2144"/>
                  <a:ext cx="269" cy="25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dirty="0">
                      <a:solidFill>
                        <a:srgbClr val="C00000"/>
                      </a:solidFill>
                      <a:latin typeface="Arial" charset="0"/>
                      <a:cs typeface="Arial" charset="0"/>
                    </a:rPr>
                    <a:t>K </a:t>
                  </a:r>
                </a:p>
              </p:txBody>
            </p:sp>
            <p:sp>
              <p:nvSpPr>
                <p:cNvPr id="203" name="Text Box 21">
                  <a:extLst>
                    <a:ext uri="{FF2B5EF4-FFF2-40B4-BE49-F238E27FC236}">
                      <a16:creationId xmlns:a16="http://schemas.microsoft.com/office/drawing/2014/main" id="{04FCED81-808C-4B40-8559-2FE4E66FE04A}"/>
                    </a:ext>
                  </a:extLst>
                </p:cNvPr>
                <p:cNvSpPr txBox="1">
                  <a:spLocks noChangeArrowheads="1"/>
                </p:cNvSpPr>
                <p:nvPr/>
              </p:nvSpPr>
              <p:spPr bwMode="auto">
                <a:xfrm>
                  <a:off x="3101" y="2241"/>
                  <a:ext cx="202" cy="21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B</a:t>
                  </a:r>
                </a:p>
              </p:txBody>
            </p:sp>
          </p:grpSp>
          <p:sp>
            <p:nvSpPr>
              <p:cNvPr id="201" name="Text Box 22">
                <a:extLst>
                  <a:ext uri="{FF2B5EF4-FFF2-40B4-BE49-F238E27FC236}">
                    <a16:creationId xmlns:a16="http://schemas.microsoft.com/office/drawing/2014/main" id="{22667D2E-474F-C04F-9EF1-65999F53AB5F}"/>
                  </a:ext>
                </a:extLst>
              </p:cNvPr>
              <p:cNvSpPr txBox="1">
                <a:spLocks noChangeArrowheads="1"/>
              </p:cNvSpPr>
              <p:nvPr/>
            </p:nvSpPr>
            <p:spPr bwMode="auto">
              <a:xfrm>
                <a:off x="3106" y="2073"/>
                <a:ext cx="192" cy="21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000">
                    <a:solidFill>
                      <a:schemeClr val="tx1"/>
                    </a:solidFill>
                    <a:latin typeface="Comic Sans MS" charset="0"/>
                    <a:ea typeface="ＭＳ Ｐゴシック" charset="0"/>
                  </a:defRPr>
                </a:lvl1pPr>
                <a:lvl2pPr marL="742950" indent="-285750">
                  <a:defRPr sz="2000">
                    <a:solidFill>
                      <a:schemeClr val="tx1"/>
                    </a:solidFill>
                    <a:latin typeface="Comic Sans MS" charset="0"/>
                    <a:ea typeface="ＭＳ Ｐゴシック" charset="0"/>
                  </a:defRPr>
                </a:lvl2pPr>
                <a:lvl3pPr marL="1143000" indent="-228600">
                  <a:defRPr sz="2000">
                    <a:solidFill>
                      <a:schemeClr val="tx1"/>
                    </a:solidFill>
                    <a:latin typeface="Comic Sans MS" charset="0"/>
                    <a:ea typeface="ＭＳ Ｐゴシック" charset="0"/>
                  </a:defRPr>
                </a:lvl3pPr>
                <a:lvl4pPr marL="1600200" indent="-228600">
                  <a:defRPr sz="2000">
                    <a:solidFill>
                      <a:schemeClr val="tx1"/>
                    </a:solidFill>
                    <a:latin typeface="Comic Sans MS" charset="0"/>
                    <a:ea typeface="ＭＳ Ｐゴシック" charset="0"/>
                  </a:defRPr>
                </a:lvl4pPr>
                <a:lvl5pPr marL="2057400" indent="-228600">
                  <a:defRPr sz="2000">
                    <a:solidFill>
                      <a:schemeClr val="tx1"/>
                    </a:solidFill>
                    <a:latin typeface="Comic Sans MS" charset="0"/>
                    <a:ea typeface="ＭＳ Ｐゴシック" charset="0"/>
                  </a:defRPr>
                </a:lvl5pPr>
                <a:lvl6pPr marL="2514600" indent="-228600" eaLnBrk="0" fontAlgn="base" hangingPunct="0">
                  <a:spcBef>
                    <a:spcPct val="0"/>
                  </a:spcBef>
                  <a:spcAft>
                    <a:spcPct val="0"/>
                  </a:spcAft>
                  <a:defRPr sz="2000">
                    <a:solidFill>
                      <a:schemeClr val="tx1"/>
                    </a:solidFill>
                    <a:latin typeface="Comic Sans MS" charset="0"/>
                    <a:ea typeface="ＭＳ Ｐゴシック" charset="0"/>
                  </a:defRPr>
                </a:lvl6pPr>
                <a:lvl7pPr marL="2971800" indent="-228600" eaLnBrk="0" fontAlgn="base" hangingPunct="0">
                  <a:spcBef>
                    <a:spcPct val="0"/>
                  </a:spcBef>
                  <a:spcAft>
                    <a:spcPct val="0"/>
                  </a:spcAft>
                  <a:defRPr sz="2000">
                    <a:solidFill>
                      <a:schemeClr val="tx1"/>
                    </a:solidFill>
                    <a:latin typeface="Comic Sans MS" charset="0"/>
                    <a:ea typeface="ＭＳ Ｐゴシック" charset="0"/>
                  </a:defRPr>
                </a:lvl7pPr>
                <a:lvl8pPr marL="3429000" indent="-228600" eaLnBrk="0" fontAlgn="base" hangingPunct="0">
                  <a:spcBef>
                    <a:spcPct val="0"/>
                  </a:spcBef>
                  <a:spcAft>
                    <a:spcPct val="0"/>
                  </a:spcAft>
                  <a:defRPr sz="2000">
                    <a:solidFill>
                      <a:schemeClr val="tx1"/>
                    </a:solidFill>
                    <a:latin typeface="Comic Sans MS" charset="0"/>
                    <a:ea typeface="ＭＳ Ｐゴシック" charset="0"/>
                  </a:defRPr>
                </a:lvl8pPr>
                <a:lvl9pPr marL="3886200" indent="-228600" eaLnBrk="0" fontAlgn="base" hangingPunct="0">
                  <a:spcBef>
                    <a:spcPct val="0"/>
                  </a:spcBef>
                  <a:spcAft>
                    <a:spcPct val="0"/>
                  </a:spcAft>
                  <a:defRPr sz="2000">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1600" dirty="0">
                    <a:solidFill>
                      <a:srgbClr val="C00000"/>
                    </a:solidFill>
                    <a:latin typeface="Arial" charset="0"/>
                    <a:cs typeface="Arial" charset="0"/>
                  </a:rPr>
                  <a:t>+</a:t>
                </a:r>
              </a:p>
            </p:txBody>
          </p:sp>
        </p:grpSp>
        <p:cxnSp>
          <p:nvCxnSpPr>
            <p:cNvPr id="199" name="Straight Arrow Connector 198">
              <a:extLst>
                <a:ext uri="{FF2B5EF4-FFF2-40B4-BE49-F238E27FC236}">
                  <a16:creationId xmlns:a16="http://schemas.microsoft.com/office/drawing/2014/main" id="{C58EDE71-07B3-4841-A2B5-5F1C258FE2F2}"/>
                </a:ext>
              </a:extLst>
            </p:cNvPr>
            <p:cNvCxnSpPr>
              <a:cxnSpLocks/>
            </p:cNvCxnSpPr>
            <p:nvPr/>
          </p:nvCxnSpPr>
          <p:spPr>
            <a:xfrm>
              <a:off x="2809461" y="3869635"/>
              <a:ext cx="5963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4" name="Group 203">
            <a:extLst>
              <a:ext uri="{FF2B5EF4-FFF2-40B4-BE49-F238E27FC236}">
                <a16:creationId xmlns:a16="http://schemas.microsoft.com/office/drawing/2014/main" id="{A75C74AE-98C7-C245-9222-8EB21BF49F29}"/>
              </a:ext>
            </a:extLst>
          </p:cNvPr>
          <p:cNvGrpSpPr/>
          <p:nvPr/>
        </p:nvGrpSpPr>
        <p:grpSpPr>
          <a:xfrm>
            <a:off x="8203097" y="5653926"/>
            <a:ext cx="1789043" cy="1107996"/>
            <a:chOff x="10084905" y="1590261"/>
            <a:chExt cx="1789043" cy="1107996"/>
          </a:xfrm>
        </p:grpSpPr>
        <p:sp>
          <p:nvSpPr>
            <p:cNvPr id="205" name="TextBox 204">
              <a:extLst>
                <a:ext uri="{FF2B5EF4-FFF2-40B4-BE49-F238E27FC236}">
                  <a16:creationId xmlns:a16="http://schemas.microsoft.com/office/drawing/2014/main" id="{16C7D723-D7D8-E949-B946-5AC1C0648A21}"/>
                </a:ext>
              </a:extLst>
            </p:cNvPr>
            <p:cNvSpPr txBox="1"/>
            <p:nvPr/>
          </p:nvSpPr>
          <p:spPr>
            <a:xfrm>
              <a:off x="10707757" y="1590261"/>
              <a:ext cx="577402" cy="1107996"/>
            </a:xfrm>
            <a:prstGeom prst="rect">
              <a:avLst/>
            </a:prstGeom>
            <a:noFill/>
          </p:spPr>
          <p:txBody>
            <a:bodyPr wrap="none" rtlCol="0">
              <a:spAutoFit/>
            </a:bodyPr>
            <a:lstStyle/>
            <a:p>
              <a:r>
                <a:rPr lang="en-US" sz="6600" dirty="0">
                  <a:solidFill>
                    <a:srgbClr val="C00000"/>
                  </a:solidFill>
                </a:rPr>
                <a:t>?</a:t>
              </a:r>
            </a:p>
          </p:txBody>
        </p:sp>
        <p:sp>
          <p:nvSpPr>
            <p:cNvPr id="206" name="TextBox 205">
              <a:extLst>
                <a:ext uri="{FF2B5EF4-FFF2-40B4-BE49-F238E27FC236}">
                  <a16:creationId xmlns:a16="http://schemas.microsoft.com/office/drawing/2014/main" id="{0BCCA618-927B-9C45-B38A-F3EA61772599}"/>
                </a:ext>
              </a:extLst>
            </p:cNvPr>
            <p:cNvSpPr txBox="1"/>
            <p:nvPr/>
          </p:nvSpPr>
          <p:spPr>
            <a:xfrm>
              <a:off x="10084905" y="1881807"/>
              <a:ext cx="1789043" cy="395173"/>
            </a:xfrm>
            <a:prstGeom prst="rect">
              <a:avLst/>
            </a:prstGeom>
            <a:noFill/>
          </p:spPr>
          <p:txBody>
            <a:bodyPr wrap="square" rtlCol="0">
              <a:spAutoFit/>
            </a:bodyPr>
            <a:lstStyle/>
            <a:p>
              <a:pPr algn="ctr">
                <a:lnSpc>
                  <a:spcPct val="80000"/>
                </a:lnSpc>
              </a:pPr>
              <a:r>
                <a:rPr lang="en-US" sz="2400" i="1" dirty="0">
                  <a:solidFill>
                    <a:srgbClr val="0012A0"/>
                  </a:solidFill>
                </a:rPr>
                <a:t>equal</a:t>
              </a:r>
            </a:p>
          </p:txBody>
        </p:sp>
      </p:grpSp>
    </p:spTree>
    <p:extLst>
      <p:ext uri="{BB962C8B-B14F-4D97-AF65-F5344CB8AC3E}">
        <p14:creationId xmlns:p14="http://schemas.microsoft.com/office/powerpoint/2010/main" val="286134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animEffect transition="in" filter="dissolve">
                                      <p:cBhvr>
                                        <p:cTn id="7"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45170" cy="894622"/>
          </a:xfrm>
        </p:spPr>
        <p:txBody>
          <a:bodyPr>
            <a:normAutofit/>
          </a:bodyPr>
          <a:lstStyle/>
          <a:p>
            <a:r>
              <a:rPr lang="en-US" b="0" dirty="0">
                <a:latin typeface="+mn-lt"/>
              </a:rPr>
              <a:t>Hash function algorithms</a:t>
            </a:r>
          </a:p>
        </p:txBody>
      </p:sp>
      <p:sp>
        <p:nvSpPr>
          <p:cNvPr id="52" name="Slide Number Placeholder 2">
            <a:extLst>
              <a:ext uri="{FF2B5EF4-FFF2-40B4-BE49-F238E27FC236}">
                <a16:creationId xmlns:a16="http://schemas.microsoft.com/office/drawing/2014/main" id="{B3B502CE-5FFD-D64A-A1E9-1DA03623793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Security: 8- </a:t>
            </a:r>
            <a:fld id="{C4204591-24BD-A542-B9D5-F8D8A88D2FEE}" type="slidenum">
              <a:rPr lang="en-US" smtClean="0"/>
              <a:pPr/>
              <a:t>46</a:t>
            </a:fld>
            <a:endParaRPr lang="en-US" dirty="0"/>
          </a:p>
        </p:txBody>
      </p:sp>
      <p:sp>
        <p:nvSpPr>
          <p:cNvPr id="79" name="Rectangle 3">
            <a:extLst>
              <a:ext uri="{FF2B5EF4-FFF2-40B4-BE49-F238E27FC236}">
                <a16:creationId xmlns:a16="http://schemas.microsoft.com/office/drawing/2014/main" id="{BF9FAD4A-FE78-7446-845F-6232B124B138}"/>
              </a:ext>
            </a:extLst>
          </p:cNvPr>
          <p:cNvSpPr txBox="1">
            <a:spLocks noChangeArrowheads="1"/>
          </p:cNvSpPr>
          <p:nvPr/>
        </p:nvSpPr>
        <p:spPr>
          <a:xfrm>
            <a:off x="871400" y="1396310"/>
            <a:ext cx="10949539"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39725"/>
            <a:r>
              <a:rPr lang="en-US" sz="3200" dirty="0">
                <a:solidFill>
                  <a:srgbClr val="C00000"/>
                </a:solidFill>
              </a:rPr>
              <a:t>MD5 hash function widely used (RFC 1321) </a:t>
            </a:r>
          </a:p>
          <a:p>
            <a:pPr lvl="1"/>
            <a:r>
              <a:rPr lang="en-US" sz="2800" dirty="0"/>
              <a:t>computes 128-bit message digest in 4-step process. </a:t>
            </a:r>
          </a:p>
          <a:p>
            <a:pPr lvl="1"/>
            <a:r>
              <a:rPr lang="en-US" sz="2800" dirty="0"/>
              <a:t>arbitrary 128-bit string x, appears difficult to construct msg m whose MD5 hash is equal to x</a:t>
            </a:r>
          </a:p>
          <a:p>
            <a:pPr indent="-287338"/>
            <a:r>
              <a:rPr lang="en-US" sz="3200" dirty="0">
                <a:solidFill>
                  <a:srgbClr val="C00000"/>
                </a:solidFill>
              </a:rPr>
              <a:t>SHA-1 is also used</a:t>
            </a:r>
          </a:p>
          <a:p>
            <a:pPr lvl="1"/>
            <a:r>
              <a:rPr lang="en-US" sz="2800" dirty="0"/>
              <a:t>US standard [</a:t>
            </a:r>
            <a:r>
              <a:rPr lang="en-US" dirty="0"/>
              <a:t>NIST, FIPS PUB 180-1]</a:t>
            </a:r>
            <a:endParaRPr lang="en-US" sz="2800" dirty="0"/>
          </a:p>
          <a:p>
            <a:pPr lvl="1"/>
            <a:r>
              <a:rPr lang="en-US" sz="2800" dirty="0"/>
              <a:t>160-bit message digest</a:t>
            </a:r>
          </a:p>
        </p:txBody>
      </p:sp>
    </p:spTree>
    <p:extLst>
      <p:ext uri="{BB962C8B-B14F-4D97-AF65-F5344CB8AC3E}">
        <p14:creationId xmlns:p14="http://schemas.microsoft.com/office/powerpoint/2010/main" val="4092789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Origin Authentication</a:t>
            </a:r>
          </a:p>
        </p:txBody>
      </p:sp>
      <p:sp>
        <p:nvSpPr>
          <p:cNvPr id="5" name="Object4"/>
          <p:cNvSpPr/>
          <p:nvPr/>
        </p:nvSpPr>
        <p:spPr>
          <a:xfrm>
            <a:off x="1" y="975360"/>
            <a:ext cx="5854459" cy="3429000"/>
          </a:xfrm>
          <a:prstGeom prst="rect">
            <a:avLst/>
          </a:prstGeom>
          <a:noFill/>
          <a:ln/>
        </p:spPr>
        <p:txBody>
          <a:bodyPr wrap="square" rtlCol="0" anchor="t"/>
          <a:lstStyle/>
          <a:p>
            <a:pPr>
              <a:lnSpc>
                <a:spcPts val="2667"/>
              </a:lnSpc>
            </a:pPr>
            <a:r>
              <a:rPr lang="en-US" sz="1867" dirty="0">
                <a:latin typeface="Arial" panose="020B0604020202020204" pitchFamily="34" charset="0"/>
                <a:cs typeface="Arial" panose="020B0604020202020204" pitchFamily="34" charset="0"/>
              </a:rPr>
              <a:t>To add origin authentication and integrity assurance, use a keyed-hash message authentication code (HMAC). HMAC uses an additional secret key as input to the hash function.</a:t>
            </a:r>
          </a:p>
          <a:p>
            <a:pPr>
              <a:lnSpc>
                <a:spcPts val="2667"/>
              </a:lnSpc>
            </a:pPr>
            <a:endParaRPr lang="en-US" sz="1867" dirty="0">
              <a:latin typeface="Arial" panose="020B0604020202020204" pitchFamily="34" charset="0"/>
              <a:cs typeface="Arial" panose="020B0604020202020204" pitchFamily="34" charset="0"/>
            </a:endParaRPr>
          </a:p>
          <a:p>
            <a:r>
              <a:rPr lang="en-US" sz="1867" dirty="0">
                <a:latin typeface="Arial" panose="020B0604020202020204" pitchFamily="34" charset="0"/>
                <a:cs typeface="Arial" panose="020B0604020202020204" pitchFamily="34" charset="0"/>
              </a:rPr>
              <a:t>As shown in the figure, an HMAC is calculated using any cryptographic algorithm that combines a cryptographic hash function with a secret key. Hash functions are the basis of the protection mechanism of HMACs.</a:t>
            </a:r>
          </a:p>
          <a:p>
            <a:r>
              <a:rPr lang="en-US" sz="1867" dirty="0">
                <a:latin typeface="Arial" panose="020B0604020202020204" pitchFamily="34" charset="0"/>
                <a:cs typeface="Arial" panose="020B0604020202020204" pitchFamily="34" charset="0"/>
              </a:rPr>
              <a:t>Only the sender and the receiver know the secret key, and the output of the hash function now depends on the input data and the secret key. Only parties who have access to that secret key can compute the digest of an HMAC function. This defeats man-in-the-middle attacks and provides authentication of the data origin.</a:t>
            </a:r>
          </a:p>
          <a:p>
            <a:pPr>
              <a:lnSpc>
                <a:spcPts val="2667"/>
              </a:lnSpc>
            </a:pPr>
            <a:endParaRPr lang="en-US" sz="1867" dirty="0"/>
          </a:p>
        </p:txBody>
      </p:sp>
      <p:pic>
        <p:nvPicPr>
          <p:cNvPr id="4" name="Picture 3">
            <a:extLst>
              <a:ext uri="{FF2B5EF4-FFF2-40B4-BE49-F238E27FC236}">
                <a16:creationId xmlns:a16="http://schemas.microsoft.com/office/drawing/2014/main" id="{AB82C4A4-2B03-4D9F-98AC-CA6397042A06}"/>
              </a:ext>
            </a:extLst>
          </p:cNvPr>
          <p:cNvPicPr>
            <a:picLocks noChangeAspect="1"/>
          </p:cNvPicPr>
          <p:nvPr/>
        </p:nvPicPr>
        <p:blipFill>
          <a:blip r:embed="rId3"/>
          <a:stretch>
            <a:fillRect/>
          </a:stretch>
        </p:blipFill>
        <p:spPr>
          <a:xfrm>
            <a:off x="6494739" y="1253058"/>
            <a:ext cx="4722412" cy="3681647"/>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4294967295" hasCustomPrompt="1"/>
          </p:nvPr>
        </p:nvSpPr>
        <p:spPr>
          <a:xfrm>
            <a:off x="0" y="0"/>
            <a:ext cx="12192000" cy="365760"/>
          </a:xfrm>
          <a:prstGeom prst="rect">
            <a:avLst/>
          </a:prstGeom>
          <a:noFill/>
          <a:ln/>
        </p:spPr>
        <p:txBody>
          <a:bodyPr wrap="square" rtlCol="0">
            <a:normAutofit lnSpcReduction="10000"/>
          </a:bodyPr>
          <a:lstStyle/>
          <a:p>
            <a:r>
              <a:rPr lang="en-US" dirty="0"/>
              <a:t>Integrity and Authenticity</a:t>
            </a:r>
          </a:p>
        </p:txBody>
      </p:sp>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Origin Authentication (Cont.)</a:t>
            </a:r>
          </a:p>
        </p:txBody>
      </p:sp>
      <p:sp>
        <p:nvSpPr>
          <p:cNvPr id="5" name="Object4"/>
          <p:cNvSpPr/>
          <p:nvPr/>
        </p:nvSpPr>
        <p:spPr>
          <a:xfrm>
            <a:off x="1" y="1219200"/>
            <a:ext cx="5037827" cy="3429000"/>
          </a:xfrm>
          <a:prstGeom prst="rect">
            <a:avLst/>
          </a:prstGeom>
          <a:noFill/>
          <a:ln/>
        </p:spPr>
        <p:txBody>
          <a:bodyPr wrap="square" rtlCol="0" anchor="t"/>
          <a:lstStyle/>
          <a:p>
            <a:pPr>
              <a:lnSpc>
                <a:spcPts val="2667"/>
              </a:lnSpc>
            </a:pPr>
            <a:r>
              <a:rPr lang="en-US" sz="2133" dirty="0">
                <a:latin typeface="Arial" panose="020B0604020202020204" pitchFamily="34" charset="0"/>
                <a:cs typeface="Arial" panose="020B0604020202020204" pitchFamily="34" charset="0"/>
              </a:rPr>
              <a:t>As shown in the figure, the sending device inputs data (such as Terry Smith’s pay of $100 and the secret key) into the hashing algorithm and calculates the fixed-length HMAC digest. This authenticated digest is then attached to the message and sent to the receiver.</a:t>
            </a:r>
          </a:p>
        </p:txBody>
      </p:sp>
      <p:pic>
        <p:nvPicPr>
          <p:cNvPr id="6" name="Picture 5">
            <a:extLst>
              <a:ext uri="{FF2B5EF4-FFF2-40B4-BE49-F238E27FC236}">
                <a16:creationId xmlns:a16="http://schemas.microsoft.com/office/drawing/2014/main" id="{E9A6627A-68C8-4BC7-8653-D9EC6D848D83}"/>
              </a:ext>
            </a:extLst>
          </p:cNvPr>
          <p:cNvPicPr>
            <a:picLocks noChangeAspect="1"/>
          </p:cNvPicPr>
          <p:nvPr/>
        </p:nvPicPr>
        <p:blipFill>
          <a:blip r:embed="rId3"/>
          <a:stretch>
            <a:fillRect/>
          </a:stretch>
        </p:blipFill>
        <p:spPr>
          <a:xfrm>
            <a:off x="5985152" y="975360"/>
            <a:ext cx="4749619" cy="4309437"/>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48</a:t>
            </a:fld>
            <a:endParaRPr lang="en-US" dirty="0"/>
          </a:p>
        </p:txBody>
      </p:sp>
    </p:spTree>
    <p:extLst>
      <p:ext uri="{BB962C8B-B14F-4D97-AF65-F5344CB8AC3E}">
        <p14:creationId xmlns:p14="http://schemas.microsoft.com/office/powerpoint/2010/main" val="4778491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4294967295" hasCustomPrompt="1"/>
          </p:nvPr>
        </p:nvSpPr>
        <p:spPr>
          <a:xfrm>
            <a:off x="0" y="0"/>
            <a:ext cx="12192000" cy="365760"/>
          </a:xfrm>
          <a:prstGeom prst="rect">
            <a:avLst/>
          </a:prstGeom>
          <a:noFill/>
          <a:ln/>
        </p:spPr>
        <p:txBody>
          <a:bodyPr wrap="square" rtlCol="0">
            <a:normAutofit lnSpcReduction="10000"/>
          </a:bodyPr>
          <a:lstStyle/>
          <a:p>
            <a:r>
              <a:rPr lang="en-US" dirty="0"/>
              <a:t>Integrity and Authenticity</a:t>
            </a:r>
          </a:p>
        </p:txBody>
      </p:sp>
      <p:sp>
        <p:nvSpPr>
          <p:cNvPr id="3" name="Object2"/>
          <p:cNvSpPr>
            <a:spLocks noGrp="1"/>
          </p:cNvSpPr>
          <p:nvPr>
            <p:ph type="body" idx="100" hasCustomPrompt="1"/>
          </p:nvPr>
        </p:nvSpPr>
        <p:spPr>
          <a:xfrm>
            <a:off x="0" y="365760"/>
            <a:ext cx="12192000" cy="1219200"/>
          </a:xfrm>
          <a:prstGeom prst="rect">
            <a:avLst/>
          </a:prstGeom>
          <a:noFill/>
          <a:ln/>
        </p:spPr>
        <p:txBody>
          <a:bodyPr wrap="square" rtlCol="0"/>
          <a:lstStyle/>
          <a:p>
            <a:r>
              <a:rPr lang="en-US" dirty="0"/>
              <a:t>Origin Authentication (Cont.)</a:t>
            </a:r>
          </a:p>
        </p:txBody>
      </p:sp>
      <p:sp>
        <p:nvSpPr>
          <p:cNvPr id="9" name="TextBox 8">
            <a:extLst>
              <a:ext uri="{FF2B5EF4-FFF2-40B4-BE49-F238E27FC236}">
                <a16:creationId xmlns:a16="http://schemas.microsoft.com/office/drawing/2014/main" id="{CF507F20-B2A6-46CA-8617-9A75F0C67423}"/>
              </a:ext>
            </a:extLst>
          </p:cNvPr>
          <p:cNvSpPr txBox="1"/>
          <p:nvPr/>
        </p:nvSpPr>
        <p:spPr>
          <a:xfrm>
            <a:off x="92990" y="1243927"/>
            <a:ext cx="5083444" cy="4359335"/>
          </a:xfrm>
          <a:prstGeom prst="rect">
            <a:avLst/>
          </a:prstGeom>
          <a:noFill/>
        </p:spPr>
        <p:txBody>
          <a:bodyPr wrap="square">
            <a:spAutoFit/>
          </a:bodyPr>
          <a:lstStyle/>
          <a:p>
            <a:r>
              <a:rPr lang="en-US" sz="2133" dirty="0">
                <a:latin typeface="Arial" panose="020B0604020202020204" pitchFamily="34" charset="0"/>
                <a:cs typeface="Arial" panose="020B0604020202020204" pitchFamily="34" charset="0"/>
              </a:rPr>
              <a:t>In the figure, the receiving device removes the digest from the message and uses the plaintext message with its secret key as input into the same hashing function. If the digest that is calculated by the receiving device is equal to the digest that was sent, the message has not been altered. Additionally, the origin of the message is authenticated because only the sender possesses a copy of the shared secret key. The HMAC function has ensured the authenticity of the message.</a:t>
            </a:r>
          </a:p>
        </p:txBody>
      </p:sp>
      <p:pic>
        <p:nvPicPr>
          <p:cNvPr id="8" name="Picture 7">
            <a:extLst>
              <a:ext uri="{FF2B5EF4-FFF2-40B4-BE49-F238E27FC236}">
                <a16:creationId xmlns:a16="http://schemas.microsoft.com/office/drawing/2014/main" id="{DF4A676A-BDF0-4D94-8865-6195F0AF9393}"/>
              </a:ext>
            </a:extLst>
          </p:cNvPr>
          <p:cNvPicPr>
            <a:picLocks noChangeAspect="1"/>
          </p:cNvPicPr>
          <p:nvPr/>
        </p:nvPicPr>
        <p:blipFill>
          <a:blip r:embed="rId3"/>
          <a:stretch>
            <a:fillRect/>
          </a:stretch>
        </p:blipFill>
        <p:spPr>
          <a:xfrm>
            <a:off x="5601695" y="1157207"/>
            <a:ext cx="5412435" cy="4683724"/>
          </a:xfrm>
          <a:prstGeom prst="rect">
            <a:avLst/>
          </a:prstGeom>
        </p:spPr>
      </p:pic>
      <p:sp>
        <p:nvSpPr>
          <p:cNvPr id="25" name="Slide Number Placeholder 24"/>
          <p:cNvSpPr>
            <a:spLocks noGrp="1"/>
          </p:cNvSpPr>
          <p:nvPr>
            <p:ph type="sldNum" sz="quarter" idx="4294967295"/>
          </p:nvPr>
        </p:nvSpPr>
        <p:spPr>
          <a:xfrm>
            <a:off x="11582400" y="6172200"/>
            <a:ext cx="609600" cy="304800"/>
          </a:xfrm>
          <a:prstGeom prst="rect">
            <a:avLst/>
          </a:prstGeom>
          <a:extLst>
            <a:ext uri="{C572A759-6A51-4108-AA02-DFA0A04FC94B}">
              <ma14:wrappingTextBoxFlag xmlns="" xmlns:ma14="http://schemas.microsoft.com/office/mac/drawingml/2011/main" val="0"/>
            </a:ext>
          </a:extLst>
        </p:spPr>
        <p:txBody>
          <a:bodyPr/>
          <a:lstStyle>
            <a:lvl1pPr>
              <a:defRPr sz="800">
                <a:solidFill>
                  <a:srgbClr val="D9D9D9"/>
                </a:solidFill>
              </a:defRPr>
            </a:lvl1pPr>
          </a:lstStyle>
          <a:p>
            <a:fld id="{F7021451-1387-4CA6-816F-3879F97B5CBC}" type="slidenum">
              <a:rPr lang="en-US"/>
              <a:t>49</a:t>
            </a:fld>
            <a:endParaRPr lang="en-US" dirty="0"/>
          </a:p>
        </p:txBody>
      </p:sp>
    </p:spTree>
    <p:extLst>
      <p:ext uri="{BB962C8B-B14F-4D97-AF65-F5344CB8AC3E}">
        <p14:creationId xmlns:p14="http://schemas.microsoft.com/office/powerpoint/2010/main" val="30285105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5233" y="1220546"/>
            <a:ext cx="10130723" cy="2403188"/>
          </a:xfrm>
        </p:spPr>
        <p:txBody>
          <a:bodyPr/>
          <a:lstStyle/>
          <a:p>
            <a:r>
              <a:rPr lang="en-US" sz="5333" dirty="0"/>
              <a:t>Switch Security</a:t>
            </a:r>
          </a:p>
        </p:txBody>
      </p:sp>
    </p:spTree>
    <p:extLst>
      <p:ext uri="{BB962C8B-B14F-4D97-AF65-F5344CB8AC3E}">
        <p14:creationId xmlns:p14="http://schemas.microsoft.com/office/powerpoint/2010/main" val="3551905410"/>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a:xfrm>
            <a:off x="192087" y="1065260"/>
            <a:ext cx="10915032" cy="5540425"/>
          </a:xfrm>
        </p:spPr>
        <p:txBody>
          <a:bodyPr/>
          <a:lstStyle/>
          <a:p>
            <a:r>
              <a:rPr lang="en-US" altLang="en-US" dirty="0">
                <a:solidFill>
                  <a:srgbClr val="000000"/>
                </a:solidFill>
              </a:rPr>
              <a:t>Secure Shell (SSH) </a:t>
            </a:r>
          </a:p>
          <a:p>
            <a:pPr lvl="1"/>
            <a:r>
              <a:rPr lang="en-US" altLang="en-US" dirty="0">
                <a:solidFill>
                  <a:srgbClr val="000000"/>
                </a:solidFill>
              </a:rPr>
              <a:t>An alternative protocol to Telnet. Telnet uses unsecure plaintext of the username and password as well as the data transmitted.</a:t>
            </a:r>
          </a:p>
          <a:p>
            <a:pPr lvl="1"/>
            <a:r>
              <a:rPr lang="en-US" altLang="en-US" dirty="0">
                <a:solidFill>
                  <a:srgbClr val="000000"/>
                </a:solidFill>
              </a:rPr>
              <a:t>SSH is more secure because it provides an encrypted management connection.</a:t>
            </a:r>
          </a:p>
        </p:txBody>
      </p:sp>
      <p:sp>
        <p:nvSpPr>
          <p:cNvPr id="54275" name="Rectangle 2"/>
          <p:cNvSpPr>
            <a:spLocks noGrp="1" noChangeArrowheads="1"/>
          </p:cNvSpPr>
          <p:nvPr>
            <p:ph type="title"/>
          </p:nvPr>
        </p:nvSpPr>
        <p:spPr>
          <a:xfrm>
            <a:off x="308008" y="91954"/>
            <a:ext cx="11045792" cy="894622"/>
          </a:xfrm>
        </p:spPr>
        <p:txBody>
          <a:bodyPr>
            <a:normAutofit fontScale="90000"/>
          </a:bodyPr>
          <a:lstStyle/>
          <a:p>
            <a:r>
              <a:rPr lang="en-US" altLang="en-US" sz="2133" dirty="0"/>
              <a:t>Secure Remote Access</a:t>
            </a:r>
            <a:br>
              <a:rPr lang="en-US" altLang="en-US" dirty="0"/>
            </a:br>
            <a:r>
              <a:rPr lang="en-US" altLang="en-US" dirty="0"/>
              <a:t>SSH Operation</a:t>
            </a:r>
          </a:p>
        </p:txBody>
      </p:sp>
      <p:pic>
        <p:nvPicPr>
          <p:cNvPr id="8" name="Picture 7"/>
          <p:cNvPicPr>
            <a:picLocks noChangeAspect="1"/>
          </p:cNvPicPr>
          <p:nvPr/>
        </p:nvPicPr>
        <p:blipFill>
          <a:blip r:embed="rId3"/>
          <a:stretch>
            <a:fillRect/>
          </a:stretch>
        </p:blipFill>
        <p:spPr>
          <a:xfrm>
            <a:off x="6891579" y="3091669"/>
            <a:ext cx="4690820" cy="3218831"/>
          </a:xfrm>
          <a:prstGeom prst="rect">
            <a:avLst/>
          </a:prstGeom>
        </p:spPr>
      </p:pic>
      <p:sp>
        <p:nvSpPr>
          <p:cNvPr id="12" name="TextBox 11"/>
          <p:cNvSpPr txBox="1"/>
          <p:nvPr/>
        </p:nvSpPr>
        <p:spPr>
          <a:xfrm>
            <a:off x="1544504" y="2674431"/>
            <a:ext cx="2567754" cy="338554"/>
          </a:xfrm>
          <a:prstGeom prst="rect">
            <a:avLst/>
          </a:prstGeom>
          <a:noFill/>
        </p:spPr>
        <p:txBody>
          <a:bodyPr wrap="none" rtlCol="0">
            <a:spAutoFit/>
          </a:bodyPr>
          <a:lstStyle/>
          <a:p>
            <a:r>
              <a:rPr lang="en-US" sz="1600" b="1" dirty="0">
                <a:solidFill>
                  <a:schemeClr val="accent1"/>
                </a:solidFill>
              </a:rPr>
              <a:t>Wireshark Capture of Telnet</a:t>
            </a:r>
          </a:p>
        </p:txBody>
      </p:sp>
      <p:sp>
        <p:nvSpPr>
          <p:cNvPr id="13" name="TextBox 12"/>
          <p:cNvSpPr txBox="1"/>
          <p:nvPr/>
        </p:nvSpPr>
        <p:spPr>
          <a:xfrm>
            <a:off x="7523405" y="2674431"/>
            <a:ext cx="2375330" cy="338554"/>
          </a:xfrm>
          <a:prstGeom prst="rect">
            <a:avLst/>
          </a:prstGeom>
          <a:noFill/>
        </p:spPr>
        <p:txBody>
          <a:bodyPr wrap="none" rtlCol="0">
            <a:spAutoFit/>
          </a:bodyPr>
          <a:lstStyle/>
          <a:p>
            <a:r>
              <a:rPr lang="en-US" sz="1600" b="1" dirty="0">
                <a:solidFill>
                  <a:schemeClr val="accent1"/>
                </a:solidFill>
              </a:rPr>
              <a:t>Wireshark Capture of SSH</a:t>
            </a:r>
          </a:p>
        </p:txBody>
      </p:sp>
      <p:pic>
        <p:nvPicPr>
          <p:cNvPr id="2" name="Picture 1"/>
          <p:cNvPicPr>
            <a:picLocks noChangeAspect="1"/>
          </p:cNvPicPr>
          <p:nvPr/>
        </p:nvPicPr>
        <p:blipFill>
          <a:blip r:embed="rId4"/>
          <a:stretch>
            <a:fillRect/>
          </a:stretch>
        </p:blipFill>
        <p:spPr>
          <a:xfrm>
            <a:off x="670160" y="3043763"/>
            <a:ext cx="5541769" cy="2988367"/>
          </a:xfrm>
          <a:prstGeom prst="rect">
            <a:avLst/>
          </a:prstGeom>
        </p:spPr>
      </p:pic>
    </p:spTree>
    <p:extLst>
      <p:ext uri="{BB962C8B-B14F-4D97-AF65-F5344CB8AC3E}">
        <p14:creationId xmlns:p14="http://schemas.microsoft.com/office/powerpoint/2010/main" val="1300077134"/>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a:xfrm>
            <a:off x="183461" y="1591473"/>
            <a:ext cx="10915032" cy="2048876"/>
          </a:xfrm>
        </p:spPr>
        <p:txBody>
          <a:bodyPr/>
          <a:lstStyle/>
          <a:p>
            <a:r>
              <a:rPr lang="en-US" altLang="en-US" dirty="0"/>
              <a:t>A switch must have an IOS version (k9 at the end of the IOS file name) that includes cryptographic capabilities in order to configure and use SSH. </a:t>
            </a:r>
          </a:p>
          <a:p>
            <a:pPr lvl="1"/>
            <a:r>
              <a:rPr lang="en-US" altLang="en-US" dirty="0"/>
              <a:t>Use the </a:t>
            </a:r>
            <a:r>
              <a:rPr lang="en-US" altLang="en-US" b="1" dirty="0"/>
              <a:t>show version </a:t>
            </a:r>
            <a:r>
              <a:rPr lang="en-US" altLang="en-US" dirty="0"/>
              <a:t>command to see the IOS version.</a:t>
            </a:r>
            <a:endParaRPr lang="en-CA" altLang="en-US" dirty="0">
              <a:solidFill>
                <a:srgbClr val="000000"/>
              </a:solidFill>
            </a:endParaRPr>
          </a:p>
        </p:txBody>
      </p:sp>
      <p:sp>
        <p:nvSpPr>
          <p:cNvPr id="54275" name="Rectangle 2"/>
          <p:cNvSpPr>
            <a:spLocks noGrp="1" noChangeArrowheads="1"/>
          </p:cNvSpPr>
          <p:nvPr>
            <p:ph type="title"/>
          </p:nvPr>
        </p:nvSpPr>
        <p:spPr/>
        <p:txBody>
          <a:bodyPr>
            <a:normAutofit/>
          </a:bodyPr>
          <a:lstStyle/>
          <a:p>
            <a:r>
              <a:rPr lang="en-US" altLang="en-US" sz="2133" dirty="0"/>
              <a:t>Secure Remote Access</a:t>
            </a:r>
            <a:br>
              <a:rPr lang="en-US" altLang="en-US" dirty="0"/>
            </a:br>
            <a:r>
              <a:rPr lang="en-US" altLang="en-US" dirty="0"/>
              <a:t>SSH Operation (Cont.)</a:t>
            </a:r>
          </a:p>
        </p:txBody>
      </p:sp>
      <p:pic>
        <p:nvPicPr>
          <p:cNvPr id="3" name="Picture 2"/>
          <p:cNvPicPr>
            <a:picLocks noChangeAspect="1"/>
          </p:cNvPicPr>
          <p:nvPr/>
        </p:nvPicPr>
        <p:blipFill rotWithShape="1">
          <a:blip r:embed="rId3"/>
          <a:srcRect l="1070"/>
          <a:stretch/>
        </p:blipFill>
        <p:spPr>
          <a:xfrm>
            <a:off x="2129555" y="3951722"/>
            <a:ext cx="5732865" cy="1187639"/>
          </a:xfrm>
          <a:prstGeom prst="rect">
            <a:avLst/>
          </a:prstGeom>
        </p:spPr>
      </p:pic>
    </p:spTree>
    <p:extLst>
      <p:ext uri="{BB962C8B-B14F-4D97-AF65-F5344CB8AC3E}">
        <p14:creationId xmlns:p14="http://schemas.microsoft.com/office/powerpoint/2010/main" val="169658948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a:xfrm>
            <a:off x="284672" y="1825625"/>
            <a:ext cx="4087141" cy="4351338"/>
          </a:xfrm>
        </p:spPr>
        <p:txBody>
          <a:bodyPr>
            <a:normAutofit/>
          </a:bodyPr>
          <a:lstStyle/>
          <a:p>
            <a:pPr marL="457189" indent="-457189">
              <a:buFont typeface="+mj-lt"/>
              <a:buAutoNum type="arabicPeriod"/>
            </a:pPr>
            <a:r>
              <a:rPr lang="en-US" altLang="en-US" dirty="0"/>
              <a:t>Verify SSH support.</a:t>
            </a:r>
          </a:p>
          <a:p>
            <a:pPr marL="457189" indent="-457189">
              <a:buFont typeface="+mj-lt"/>
              <a:buAutoNum type="arabicPeriod"/>
            </a:pPr>
            <a:r>
              <a:rPr lang="en-US" altLang="en-US" dirty="0">
                <a:solidFill>
                  <a:srgbClr val="000000"/>
                </a:solidFill>
              </a:rPr>
              <a:t>Configure the IP domain name.</a:t>
            </a:r>
          </a:p>
          <a:p>
            <a:pPr marL="457189" indent="-457189">
              <a:buFont typeface="+mj-lt"/>
              <a:buAutoNum type="arabicPeriod"/>
            </a:pPr>
            <a:r>
              <a:rPr lang="en-US" altLang="en-US" dirty="0"/>
              <a:t>Generate RSA key pairs</a:t>
            </a:r>
            <a:r>
              <a:rPr lang="en-CA" altLang="en-US" dirty="0"/>
              <a:t>.</a:t>
            </a:r>
          </a:p>
          <a:p>
            <a:pPr marL="457189" indent="-457189">
              <a:buFont typeface="+mj-lt"/>
              <a:buAutoNum type="arabicPeriod"/>
            </a:pPr>
            <a:r>
              <a:rPr lang="en-CA" altLang="en-US" dirty="0"/>
              <a:t>Configure user authentication.</a:t>
            </a:r>
          </a:p>
          <a:p>
            <a:pPr marL="457189" indent="-457189">
              <a:buFont typeface="+mj-lt"/>
              <a:buAutoNum type="arabicPeriod"/>
            </a:pPr>
            <a:r>
              <a:rPr lang="en-CA" altLang="en-US" dirty="0"/>
              <a:t>Configure the </a:t>
            </a:r>
            <a:r>
              <a:rPr lang="en-CA" altLang="en-US" dirty="0" err="1"/>
              <a:t>vty</a:t>
            </a:r>
            <a:r>
              <a:rPr lang="en-CA" altLang="en-US" dirty="0"/>
              <a:t> lines.</a:t>
            </a:r>
          </a:p>
          <a:p>
            <a:pPr marL="457189" indent="-457189">
              <a:buFont typeface="+mj-lt"/>
              <a:buAutoNum type="arabicPeriod"/>
            </a:pPr>
            <a:r>
              <a:rPr lang="en-CA" altLang="en-US" dirty="0"/>
              <a:t>Enable SSH version 2.</a:t>
            </a:r>
            <a:endParaRPr lang="en-US" altLang="en-US" dirty="0"/>
          </a:p>
        </p:txBody>
      </p:sp>
      <p:sp>
        <p:nvSpPr>
          <p:cNvPr id="54275" name="Rectangle 2"/>
          <p:cNvSpPr>
            <a:spLocks noGrp="1" noChangeArrowheads="1"/>
          </p:cNvSpPr>
          <p:nvPr>
            <p:ph type="title"/>
          </p:nvPr>
        </p:nvSpPr>
        <p:spPr/>
        <p:txBody>
          <a:bodyPr>
            <a:normAutofit/>
          </a:bodyPr>
          <a:lstStyle/>
          <a:p>
            <a:r>
              <a:rPr lang="en-US" altLang="en-US" sz="2133" dirty="0"/>
              <a:t>Secure Remote Access</a:t>
            </a:r>
            <a:br>
              <a:rPr lang="en-US" altLang="en-US" dirty="0"/>
            </a:br>
            <a:r>
              <a:rPr lang="en-US" altLang="en-US" dirty="0"/>
              <a:t>Configuring SSH</a:t>
            </a:r>
          </a:p>
        </p:txBody>
      </p:sp>
      <p:pic>
        <p:nvPicPr>
          <p:cNvPr id="3" name="Picture 2"/>
          <p:cNvPicPr>
            <a:picLocks noChangeAspect="1"/>
          </p:cNvPicPr>
          <p:nvPr/>
        </p:nvPicPr>
        <p:blipFill>
          <a:blip r:embed="rId3"/>
          <a:stretch>
            <a:fillRect/>
          </a:stretch>
        </p:blipFill>
        <p:spPr>
          <a:xfrm>
            <a:off x="4655624" y="1981939"/>
            <a:ext cx="5753100" cy="4216400"/>
          </a:xfrm>
          <a:prstGeom prst="rect">
            <a:avLst/>
          </a:prstGeom>
        </p:spPr>
      </p:pic>
      <p:sp>
        <p:nvSpPr>
          <p:cNvPr id="4" name="Oval Callout 3"/>
          <p:cNvSpPr/>
          <p:nvPr/>
        </p:nvSpPr>
        <p:spPr>
          <a:xfrm>
            <a:off x="7532174" y="73874"/>
            <a:ext cx="4401519" cy="1363851"/>
          </a:xfrm>
          <a:prstGeom prst="wedgeEllipseCallout">
            <a:avLst>
              <a:gd name="adj1" fmla="val -19223"/>
              <a:gd name="adj2" fmla="val 118392"/>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67" dirty="0">
                <a:solidFill>
                  <a:schemeClr val="bg1"/>
                </a:solidFill>
              </a:rPr>
              <a:t>Commonly forgotten command that is used in key generation</a:t>
            </a:r>
          </a:p>
        </p:txBody>
      </p:sp>
      <p:sp>
        <p:nvSpPr>
          <p:cNvPr id="9" name="Striped Right Arrow 8"/>
          <p:cNvSpPr/>
          <p:nvPr/>
        </p:nvSpPr>
        <p:spPr>
          <a:xfrm flipH="1">
            <a:off x="9262818" y="4363699"/>
            <a:ext cx="2862021" cy="805911"/>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Default is to accept both Telnet and SSH (transport input all)</a:t>
            </a:r>
          </a:p>
        </p:txBody>
      </p:sp>
      <p:sp>
        <p:nvSpPr>
          <p:cNvPr id="5" name="Curved Right Arrow 4"/>
          <p:cNvSpPr/>
          <p:nvPr/>
        </p:nvSpPr>
        <p:spPr>
          <a:xfrm flipV="1">
            <a:off x="3843581" y="4143214"/>
            <a:ext cx="475281" cy="857573"/>
          </a:xfrm>
          <a:prstGeom prst="curv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6" name="TextBox 5"/>
          <p:cNvSpPr txBox="1"/>
          <p:nvPr/>
        </p:nvSpPr>
        <p:spPr>
          <a:xfrm>
            <a:off x="561435" y="5577528"/>
            <a:ext cx="3533613" cy="1241622"/>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1867" dirty="0">
                <a:solidFill>
                  <a:srgbClr val="000000"/>
                </a:solidFill>
              </a:rPr>
              <a:t>The </a:t>
            </a:r>
            <a:r>
              <a:rPr lang="en-US" sz="1867" dirty="0">
                <a:solidFill>
                  <a:srgbClr val="000000"/>
                </a:solidFill>
                <a:latin typeface="Courier New" panose="02070309020205020404" pitchFamily="49" charset="0"/>
                <a:cs typeface="Courier New" panose="02070309020205020404" pitchFamily="49" charset="0"/>
              </a:rPr>
              <a:t>login local </a:t>
            </a:r>
            <a:r>
              <a:rPr lang="en-US" sz="1867" dirty="0">
                <a:solidFill>
                  <a:srgbClr val="000000"/>
                </a:solidFill>
              </a:rPr>
              <a:t>command forces the use of the local database for username/</a:t>
            </a:r>
            <a:br>
              <a:rPr lang="en-US" sz="1867" dirty="0">
                <a:solidFill>
                  <a:srgbClr val="000000"/>
                </a:solidFill>
              </a:rPr>
            </a:br>
            <a:r>
              <a:rPr lang="en-US" sz="1867" dirty="0">
                <a:solidFill>
                  <a:srgbClr val="000000"/>
                </a:solidFill>
              </a:rPr>
              <a:t>password.</a:t>
            </a:r>
          </a:p>
        </p:txBody>
      </p:sp>
    </p:spTree>
    <p:extLst>
      <p:ext uri="{BB962C8B-B14F-4D97-AF65-F5344CB8AC3E}">
        <p14:creationId xmlns:p14="http://schemas.microsoft.com/office/powerpoint/2010/main" val="180593135"/>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p:txBody>
          <a:bodyPr/>
          <a:lstStyle/>
          <a:p>
            <a:r>
              <a:rPr lang="en-US" altLang="en-US" dirty="0"/>
              <a:t>On the PC, connect to the switch using SSH.</a:t>
            </a:r>
            <a:endParaRPr lang="en-CA" altLang="en-US" dirty="0">
              <a:solidFill>
                <a:srgbClr val="000000"/>
              </a:solidFill>
            </a:endParaRPr>
          </a:p>
        </p:txBody>
      </p:sp>
      <p:sp>
        <p:nvSpPr>
          <p:cNvPr id="54275" name="Rectangle 2"/>
          <p:cNvSpPr>
            <a:spLocks noGrp="1" noChangeArrowheads="1"/>
          </p:cNvSpPr>
          <p:nvPr>
            <p:ph type="title"/>
          </p:nvPr>
        </p:nvSpPr>
        <p:spPr/>
        <p:txBody>
          <a:bodyPr>
            <a:normAutofit/>
          </a:bodyPr>
          <a:lstStyle/>
          <a:p>
            <a:r>
              <a:rPr lang="en-US" altLang="en-US" sz="2133" dirty="0"/>
              <a:t>Secure Remote Access</a:t>
            </a:r>
            <a:br>
              <a:rPr lang="en-US" altLang="en-US" dirty="0"/>
            </a:br>
            <a:r>
              <a:rPr lang="en-US" altLang="en-US" dirty="0"/>
              <a:t>Verifying SSH</a:t>
            </a:r>
          </a:p>
        </p:txBody>
      </p:sp>
      <p:pic>
        <p:nvPicPr>
          <p:cNvPr id="3" name="Picture 2"/>
          <p:cNvPicPr>
            <a:picLocks noChangeAspect="1"/>
          </p:cNvPicPr>
          <p:nvPr/>
        </p:nvPicPr>
        <p:blipFill>
          <a:blip r:embed="rId3"/>
          <a:stretch>
            <a:fillRect/>
          </a:stretch>
        </p:blipFill>
        <p:spPr>
          <a:xfrm>
            <a:off x="237640" y="1611741"/>
            <a:ext cx="4072307" cy="4275028"/>
          </a:xfrm>
          <a:prstGeom prst="rect">
            <a:avLst/>
          </a:prstGeom>
        </p:spPr>
      </p:pic>
      <p:pic>
        <p:nvPicPr>
          <p:cNvPr id="4" name="Picture 3"/>
          <p:cNvPicPr>
            <a:picLocks noChangeAspect="1"/>
          </p:cNvPicPr>
          <p:nvPr/>
        </p:nvPicPr>
        <p:blipFill>
          <a:blip r:embed="rId4"/>
          <a:stretch>
            <a:fillRect/>
          </a:stretch>
        </p:blipFill>
        <p:spPr>
          <a:xfrm>
            <a:off x="1776379" y="5031782"/>
            <a:ext cx="2227565" cy="1588037"/>
          </a:xfrm>
          <a:prstGeom prst="rect">
            <a:avLst/>
          </a:prstGeom>
        </p:spPr>
      </p:pic>
      <p:pic>
        <p:nvPicPr>
          <p:cNvPr id="5" name="Picture 4"/>
          <p:cNvPicPr>
            <a:picLocks noChangeAspect="1"/>
          </p:cNvPicPr>
          <p:nvPr/>
        </p:nvPicPr>
        <p:blipFill>
          <a:blip r:embed="rId5"/>
          <a:stretch>
            <a:fillRect/>
          </a:stretch>
        </p:blipFill>
        <p:spPr>
          <a:xfrm>
            <a:off x="5817035" y="1613299"/>
            <a:ext cx="5713708" cy="3829187"/>
          </a:xfrm>
          <a:prstGeom prst="rect">
            <a:avLst/>
          </a:prstGeom>
        </p:spPr>
      </p:pic>
      <p:sp>
        <p:nvSpPr>
          <p:cNvPr id="6" name="Oval 5"/>
          <p:cNvSpPr/>
          <p:nvPr/>
        </p:nvSpPr>
        <p:spPr>
          <a:xfrm>
            <a:off x="2831024" y="3698926"/>
            <a:ext cx="433952" cy="289301"/>
          </a:xfrm>
          <a:prstGeom prst="ellipse">
            <a:avLst/>
          </a:prstGeom>
          <a:no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1" name="Oval 10"/>
          <p:cNvSpPr/>
          <p:nvPr/>
        </p:nvSpPr>
        <p:spPr>
          <a:xfrm>
            <a:off x="1711702" y="3416512"/>
            <a:ext cx="850684" cy="292745"/>
          </a:xfrm>
          <a:prstGeom prst="ellipse">
            <a:avLst/>
          </a:prstGeom>
          <a:no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2" name="Striped Right Arrow 11"/>
          <p:cNvSpPr/>
          <p:nvPr/>
        </p:nvSpPr>
        <p:spPr>
          <a:xfrm rot="20820809" flipH="1">
            <a:off x="2565729" y="2758503"/>
            <a:ext cx="2369751" cy="710060"/>
          </a:xfrm>
          <a:prstGeom prst="stripedRight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Switch IP address</a:t>
            </a:r>
          </a:p>
        </p:txBody>
      </p:sp>
      <p:sp>
        <p:nvSpPr>
          <p:cNvPr id="13" name="Rectangle 34"/>
          <p:cNvSpPr txBox="1">
            <a:spLocks noChangeArrowheads="1"/>
          </p:cNvSpPr>
          <p:nvPr/>
        </p:nvSpPr>
        <p:spPr bwMode="auto">
          <a:xfrm>
            <a:off x="6240655" y="5535339"/>
            <a:ext cx="5104109" cy="663980"/>
          </a:xfrm>
          <a:prstGeom prst="rect">
            <a:avLst/>
          </a:prstGeom>
          <a:ln/>
          <a:extLst>
            <a:ext uri="{FAA26D3D-D897-4be2-8F04-BA451C77F1D7}">
              <ma14:placeholderFlag xmlns="" xmlns:ma14="http://schemas.microsoft.com/office/mac/drawingml/2011/main" val="1"/>
            </a:ext>
          </a:extLst>
        </p:spPr>
        <p:style>
          <a:lnRef idx="0">
            <a:schemeClr val="accent5"/>
          </a:lnRef>
          <a:fillRef idx="3">
            <a:schemeClr val="accent5"/>
          </a:fillRef>
          <a:effectRef idx="3">
            <a:schemeClr val="accent5"/>
          </a:effectRef>
          <a:fontRef idx="minor">
            <a:schemeClr val="lt1"/>
          </a:fontRef>
        </p:style>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charset="0"/>
              <a:buChar char="§"/>
              <a:defRPr sz="2400">
                <a:solidFill>
                  <a:schemeClr val="tx1"/>
                </a:solidFill>
                <a:latin typeface="+mn-lt"/>
                <a:ea typeface="ＭＳ Ｐゴシック" charset="0"/>
                <a:cs typeface="ＭＳ Ｐゴシック" charset="0"/>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ea typeface="ＭＳ Ｐゴシック" charset="0"/>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algn="ctr" eaLnBrk="1" hangingPunct="1">
              <a:spcBef>
                <a:spcPct val="30000"/>
              </a:spcBef>
              <a:buNone/>
            </a:pPr>
            <a:r>
              <a:rPr lang="en-US" sz="1600" kern="0" dirty="0">
                <a:solidFill>
                  <a:srgbClr val="000000"/>
                </a:solidFill>
              </a:rPr>
              <a:t>The PC is using SSH to communicate and issue commands on the switch.</a:t>
            </a:r>
            <a:endParaRPr lang="en-US" sz="2000" kern="0" dirty="0">
              <a:solidFill>
                <a:srgbClr val="000000"/>
              </a:solidFill>
            </a:endParaRPr>
          </a:p>
          <a:p>
            <a:pPr marL="119060" indent="0" algn="ctr" eaLnBrk="1" hangingPunct="1">
              <a:spcBef>
                <a:spcPct val="30000"/>
              </a:spcBef>
              <a:buNone/>
            </a:pPr>
            <a:endParaRPr lang="en-US" sz="2000" kern="0" dirty="0">
              <a:solidFill>
                <a:srgbClr val="000000"/>
              </a:solidFill>
            </a:endParaRPr>
          </a:p>
          <a:p>
            <a:pPr marL="0" indent="0" algn="ctr" eaLnBrk="1" hangingPunct="1">
              <a:spcBef>
                <a:spcPct val="30000"/>
              </a:spcBef>
              <a:buNone/>
            </a:pPr>
            <a:endParaRPr lang="en-US" sz="2000" kern="0" dirty="0">
              <a:solidFill>
                <a:srgbClr val="000000"/>
              </a:solidFill>
            </a:endParaRPr>
          </a:p>
          <a:p>
            <a:pPr marL="0" indent="0" algn="ctr" eaLnBrk="1" hangingPunct="1">
              <a:spcBef>
                <a:spcPct val="30000"/>
              </a:spcBef>
              <a:buNone/>
            </a:pPr>
            <a:endParaRPr lang="en-US" sz="2000" kern="0" dirty="0">
              <a:solidFill>
                <a:srgbClr val="000000"/>
              </a:solidFill>
            </a:endParaRPr>
          </a:p>
        </p:txBody>
      </p:sp>
    </p:spTree>
    <p:extLst>
      <p:ext uri="{BB962C8B-B14F-4D97-AF65-F5344CB8AC3E}">
        <p14:creationId xmlns:p14="http://schemas.microsoft.com/office/powerpoint/2010/main" val="2277070249"/>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normAutofit/>
          </a:bodyPr>
          <a:lstStyle/>
          <a:p>
            <a:r>
              <a:rPr lang="en-US" altLang="en-US" sz="2133" dirty="0"/>
              <a:t>Switch Port Security</a:t>
            </a:r>
            <a:br>
              <a:rPr lang="en-US" altLang="en-US" dirty="0"/>
            </a:br>
            <a:r>
              <a:rPr lang="en-US" altLang="en-US" dirty="0"/>
              <a:t>Secure Unused Ports</a:t>
            </a:r>
          </a:p>
        </p:txBody>
      </p:sp>
      <p:sp>
        <p:nvSpPr>
          <p:cNvPr id="2" name="Right Arrow 1"/>
          <p:cNvSpPr/>
          <p:nvPr/>
        </p:nvSpPr>
        <p:spPr>
          <a:xfrm>
            <a:off x="361628" y="2831629"/>
            <a:ext cx="4107689" cy="2408739"/>
          </a:xfrm>
          <a:prstGeom prst="rightArrow">
            <a:avLst>
              <a:gd name="adj1" fmla="val 50000"/>
              <a:gd name="adj2" fmla="val 49665"/>
            </a:avLst>
          </a:prstGeom>
          <a:solidFill>
            <a:schemeClr val="accent5">
              <a:lumMod val="50000"/>
            </a:schemeClr>
          </a:solidFill>
          <a:ln/>
        </p:spPr>
        <p:style>
          <a:lnRef idx="0">
            <a:schemeClr val="accent6"/>
          </a:lnRef>
          <a:fillRef idx="3">
            <a:schemeClr val="accent6"/>
          </a:fillRef>
          <a:effectRef idx="3">
            <a:schemeClr val="accent6"/>
          </a:effectRef>
          <a:fontRef idx="minor">
            <a:schemeClr val="lt1"/>
          </a:fontRef>
        </p:style>
        <p:txBody>
          <a:bodyPr rtlCol="0" anchor="ctr"/>
          <a:lstStyle/>
          <a:p>
            <a:r>
              <a:rPr lang="en-US" sz="1600" dirty="0">
                <a:solidFill>
                  <a:schemeClr val="bg1"/>
                </a:solidFill>
              </a:rPr>
              <a:t>The </a:t>
            </a:r>
            <a:r>
              <a:rPr lang="en-US" sz="1600" b="1" dirty="0">
                <a:solidFill>
                  <a:schemeClr val="bg1"/>
                </a:solidFill>
                <a:latin typeface="Courier New" panose="02070309020205020404" pitchFamily="49" charset="0"/>
                <a:cs typeface="Courier New" panose="02070309020205020404" pitchFamily="49" charset="0"/>
              </a:rPr>
              <a:t>interface range </a:t>
            </a:r>
            <a:r>
              <a:rPr lang="en-US" sz="1600" dirty="0">
                <a:solidFill>
                  <a:schemeClr val="bg1"/>
                </a:solidFill>
              </a:rPr>
              <a:t>command can be used to apply a configuration to several switch ports at one time.</a:t>
            </a:r>
          </a:p>
        </p:txBody>
      </p:sp>
      <p:pic>
        <p:nvPicPr>
          <p:cNvPr id="4" name="Picture 3"/>
          <p:cNvPicPr>
            <a:picLocks noChangeAspect="1"/>
          </p:cNvPicPr>
          <p:nvPr/>
        </p:nvPicPr>
        <p:blipFill>
          <a:blip r:embed="rId3"/>
          <a:stretch>
            <a:fillRect/>
          </a:stretch>
        </p:blipFill>
        <p:spPr>
          <a:xfrm>
            <a:off x="4943701" y="1690688"/>
            <a:ext cx="6886671" cy="4920111"/>
          </a:xfrm>
          <a:prstGeom prst="rect">
            <a:avLst/>
          </a:prstGeom>
        </p:spPr>
      </p:pic>
    </p:spTree>
    <p:extLst>
      <p:ext uri="{BB962C8B-B14F-4D97-AF65-F5344CB8AC3E}">
        <p14:creationId xmlns:p14="http://schemas.microsoft.com/office/powerpoint/2010/main" val="2018229869"/>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p:txBody>
          <a:bodyPr>
            <a:normAutofit fontScale="85000" lnSpcReduction="10000"/>
          </a:bodyPr>
          <a:lstStyle/>
          <a:p>
            <a:r>
              <a:rPr lang="en-US" altLang="en-US" dirty="0">
                <a:solidFill>
                  <a:srgbClr val="000000"/>
                </a:solidFill>
              </a:rPr>
              <a:t>Port security limits the number of valid MAC addresses allowed to transmit data through a switch port.</a:t>
            </a:r>
          </a:p>
          <a:p>
            <a:pPr lvl="1"/>
            <a:r>
              <a:rPr lang="en-US" altLang="en-US" dirty="0"/>
              <a:t>If a port has port security enabled and an unknown MAC address sends data, the switch presents a security violation.</a:t>
            </a:r>
          </a:p>
          <a:p>
            <a:pPr lvl="1"/>
            <a:r>
              <a:rPr lang="en-US" altLang="en-US" dirty="0"/>
              <a:t>Default number of secure MAC addresses allowed is 1.</a:t>
            </a:r>
          </a:p>
          <a:p>
            <a:r>
              <a:rPr lang="en-US" altLang="en-US" dirty="0">
                <a:solidFill>
                  <a:srgbClr val="000000"/>
                </a:solidFill>
              </a:rPr>
              <a:t>Methods use to configure MAC addresses within port security:</a:t>
            </a:r>
          </a:p>
          <a:p>
            <a:pPr lvl="1"/>
            <a:r>
              <a:rPr lang="en-US" altLang="en-US" dirty="0"/>
              <a:t>Static secure MAC addresses – manually configure</a:t>
            </a:r>
          </a:p>
          <a:p>
            <a:pPr marL="190495" lvl="1" indent="0">
              <a:buNone/>
            </a:pPr>
            <a:r>
              <a:rPr lang="en-US" altLang="en-US" dirty="0">
                <a:latin typeface="Courier New" panose="02070309020205020404" pitchFamily="49" charset="0"/>
                <a:cs typeface="Courier New" panose="02070309020205020404" pitchFamily="49" charset="0"/>
              </a:rPr>
              <a:t>     </a:t>
            </a:r>
            <a:r>
              <a:rPr lang="en-US" altLang="en-US" b="1" dirty="0" err="1">
                <a:latin typeface="+mj-lt"/>
                <a:cs typeface="Courier New" panose="02070309020205020404" pitchFamily="49" charset="0"/>
              </a:rPr>
              <a:t>s</a:t>
            </a:r>
            <a:r>
              <a:rPr lang="en-US" altLang="en-US" b="1" dirty="0" err="1">
                <a:solidFill>
                  <a:srgbClr val="000000"/>
                </a:solidFill>
                <a:latin typeface="+mj-lt"/>
                <a:cs typeface="Courier New" panose="02070309020205020404" pitchFamily="49" charset="0"/>
              </a:rPr>
              <a:t>witchport</a:t>
            </a:r>
            <a:r>
              <a:rPr lang="en-US" altLang="en-US" b="1" dirty="0">
                <a:solidFill>
                  <a:srgbClr val="000000"/>
                </a:solidFill>
                <a:latin typeface="+mj-lt"/>
                <a:cs typeface="Courier New" panose="02070309020205020404" pitchFamily="49" charset="0"/>
              </a:rPr>
              <a:t> port-security mac-address </a:t>
            </a:r>
            <a:r>
              <a:rPr lang="en-US" altLang="en-US" b="1" i="1" dirty="0" err="1">
                <a:solidFill>
                  <a:srgbClr val="000000"/>
                </a:solidFill>
                <a:latin typeface="+mj-lt"/>
                <a:cs typeface="Courier New" panose="02070309020205020404" pitchFamily="49" charset="0"/>
              </a:rPr>
              <a:t>mac-address</a:t>
            </a:r>
            <a:r>
              <a:rPr lang="en-US" altLang="en-US" i="1" dirty="0">
                <a:solidFill>
                  <a:srgbClr val="000000"/>
                </a:solidFill>
                <a:latin typeface="Courier New" panose="02070309020205020404" pitchFamily="49" charset="0"/>
                <a:cs typeface="Courier New" panose="02070309020205020404" pitchFamily="49" charset="0"/>
              </a:rPr>
              <a:t> </a:t>
            </a:r>
            <a:endParaRPr lang="en-US" altLang="en-US" dirty="0">
              <a:latin typeface="Courier New" panose="02070309020205020404" pitchFamily="49" charset="0"/>
              <a:cs typeface="Courier New" panose="02070309020205020404" pitchFamily="49" charset="0"/>
            </a:endParaRPr>
          </a:p>
          <a:p>
            <a:pPr lvl="1"/>
            <a:r>
              <a:rPr lang="en-US" altLang="en-US" dirty="0">
                <a:solidFill>
                  <a:srgbClr val="000000"/>
                </a:solidFill>
              </a:rPr>
              <a:t>Dynamic secure MAC addresses – dynamically learned and removed if the switch restarts</a:t>
            </a:r>
          </a:p>
          <a:p>
            <a:pPr lvl="1"/>
            <a:r>
              <a:rPr lang="en-US" altLang="en-US" dirty="0"/>
              <a:t>Sticky secure MAC addresses – dynamically learned and added to the running configuration (which can later be saved to the startup-</a:t>
            </a:r>
            <a:r>
              <a:rPr lang="en-US" altLang="en-US" dirty="0" err="1"/>
              <a:t>config</a:t>
            </a:r>
            <a:r>
              <a:rPr lang="en-US" altLang="en-US" dirty="0"/>
              <a:t> to permanently retain the MAC addresses)</a:t>
            </a:r>
          </a:p>
          <a:p>
            <a:pPr marL="190495" lvl="1" indent="0">
              <a:buNone/>
            </a:pPr>
            <a:r>
              <a:rPr lang="en-US" altLang="en-US" dirty="0">
                <a:latin typeface="Courier New" panose="02070309020205020404" pitchFamily="49" charset="0"/>
                <a:cs typeface="Courier New" panose="02070309020205020404" pitchFamily="49" charset="0"/>
              </a:rPr>
              <a:t>     </a:t>
            </a:r>
            <a:r>
              <a:rPr lang="en-US" altLang="en-US" b="1" dirty="0" err="1">
                <a:cs typeface="Courier New" panose="02070309020205020404" pitchFamily="49" charset="0"/>
              </a:rPr>
              <a:t>switchport</a:t>
            </a:r>
            <a:r>
              <a:rPr lang="en-US" altLang="en-US" b="1" dirty="0">
                <a:cs typeface="Courier New" panose="02070309020205020404" pitchFamily="49" charset="0"/>
              </a:rPr>
              <a:t> port-security mac-address sticky </a:t>
            </a:r>
            <a:r>
              <a:rPr lang="en-US" altLang="en-US" b="1" i="1" dirty="0">
                <a:cs typeface="Courier New" panose="02070309020205020404" pitchFamily="49" charset="0"/>
              </a:rPr>
              <a:t>mac-address</a:t>
            </a:r>
          </a:p>
          <a:p>
            <a:pPr marL="190495" lvl="1" indent="0">
              <a:buNone/>
            </a:pPr>
            <a:r>
              <a:rPr lang="en-CA" altLang="en-US" b="1" dirty="0"/>
              <a:t>Note</a:t>
            </a:r>
            <a:r>
              <a:rPr lang="en-CA" altLang="en-US" dirty="0"/>
              <a:t>: Disabling sticky learning converts sticky MAC addresses to dynamic secure addresses and removes them from the running-</a:t>
            </a:r>
            <a:r>
              <a:rPr lang="en-CA" altLang="en-US" dirty="0" err="1"/>
              <a:t>config</a:t>
            </a:r>
            <a:r>
              <a:rPr lang="en-CA" altLang="en-US" dirty="0"/>
              <a:t>.</a:t>
            </a:r>
          </a:p>
          <a:p>
            <a:pPr marL="190495" lvl="1" indent="0">
              <a:buNone/>
            </a:pPr>
            <a:endParaRPr lang="en-US" altLang="en-US" dirty="0">
              <a:solidFill>
                <a:srgbClr val="000000"/>
              </a:solidFill>
              <a:latin typeface="Courier New" panose="02070309020205020404" pitchFamily="49" charset="0"/>
              <a:cs typeface="Courier New" panose="02070309020205020404" pitchFamily="49" charset="0"/>
            </a:endParaRPr>
          </a:p>
          <a:p>
            <a:pPr lvl="1"/>
            <a:endParaRPr lang="en-US" altLang="en-US" dirty="0">
              <a:solidFill>
                <a:srgbClr val="000000"/>
              </a:solidFill>
            </a:endParaRPr>
          </a:p>
          <a:p>
            <a:pPr marL="190495" lvl="1" indent="0">
              <a:buNone/>
            </a:pPr>
            <a:endParaRPr lang="en-CA" altLang="en-US" dirty="0">
              <a:solidFill>
                <a:srgbClr val="000000"/>
              </a:solidFill>
            </a:endParaRPr>
          </a:p>
        </p:txBody>
      </p:sp>
      <p:sp>
        <p:nvSpPr>
          <p:cNvPr id="54275" name="Rectangle 2"/>
          <p:cNvSpPr>
            <a:spLocks noGrp="1" noChangeArrowheads="1"/>
          </p:cNvSpPr>
          <p:nvPr>
            <p:ph type="title"/>
          </p:nvPr>
        </p:nvSpPr>
        <p:spPr/>
        <p:txBody>
          <a:bodyPr>
            <a:normAutofit/>
          </a:bodyPr>
          <a:lstStyle/>
          <a:p>
            <a:r>
              <a:rPr lang="en-US" altLang="en-US" sz="2133" dirty="0"/>
              <a:t>Switch Port Security</a:t>
            </a:r>
            <a:br>
              <a:rPr lang="en-US" altLang="en-US" dirty="0"/>
            </a:br>
            <a:r>
              <a:rPr lang="en-US" altLang="en-US" dirty="0"/>
              <a:t>Port Security: Operation</a:t>
            </a:r>
          </a:p>
        </p:txBody>
      </p:sp>
    </p:spTree>
    <p:extLst>
      <p:ext uri="{BB962C8B-B14F-4D97-AF65-F5344CB8AC3E}">
        <p14:creationId xmlns:p14="http://schemas.microsoft.com/office/powerpoint/2010/main" val="1146798937"/>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p:txBody>
          <a:bodyPr/>
          <a:lstStyle/>
          <a:p>
            <a:r>
              <a:rPr lang="en-US" altLang="en-US" sz="1867" dirty="0"/>
              <a:t>Protect – data from unknown source MAC addresses are dropped; a security notification </a:t>
            </a:r>
            <a:r>
              <a:rPr lang="en-US" altLang="en-US" sz="1867" b="1" dirty="0">
                <a:solidFill>
                  <a:schemeClr val="accent4"/>
                </a:solidFill>
              </a:rPr>
              <a:t>IS NOT </a:t>
            </a:r>
            <a:r>
              <a:rPr lang="en-US" altLang="en-US" sz="1867" dirty="0"/>
              <a:t>presented by the switch</a:t>
            </a:r>
          </a:p>
          <a:p>
            <a:r>
              <a:rPr lang="en-US" altLang="en-US" sz="1867" dirty="0">
                <a:solidFill>
                  <a:srgbClr val="000000"/>
                </a:solidFill>
              </a:rPr>
              <a:t>Restrict - </a:t>
            </a:r>
            <a:r>
              <a:rPr lang="en-US" altLang="en-US" sz="1867" dirty="0"/>
              <a:t>data from unknown source MAC addresses are dropped; a security notification </a:t>
            </a:r>
            <a:r>
              <a:rPr lang="en-US" altLang="en-US" sz="1867" b="1" dirty="0">
                <a:solidFill>
                  <a:schemeClr val="accent4"/>
                </a:solidFill>
              </a:rPr>
              <a:t>IS</a:t>
            </a:r>
            <a:r>
              <a:rPr lang="en-US" altLang="en-US" sz="1867" dirty="0"/>
              <a:t> presented by the switch and the violation counter increments.</a:t>
            </a:r>
          </a:p>
          <a:p>
            <a:r>
              <a:rPr lang="en-US" altLang="en-US" sz="1867" dirty="0"/>
              <a:t>Shutdown – (default mode) interface becomes error-disabled and port LED turns off. The violation counter increments. Issues the shutdown and then the no shutdown command on the interface to bring it out of the error-disabled </a:t>
            </a:r>
            <a:r>
              <a:rPr lang="en-US" altLang="en-US" dirty="0"/>
              <a:t>state.</a:t>
            </a:r>
          </a:p>
          <a:p>
            <a:pPr lvl="1"/>
            <a:endParaRPr lang="en-CA" altLang="en-US" dirty="0">
              <a:solidFill>
                <a:srgbClr val="000000"/>
              </a:solidFill>
            </a:endParaRPr>
          </a:p>
        </p:txBody>
      </p:sp>
      <p:sp>
        <p:nvSpPr>
          <p:cNvPr id="54275" name="Rectangle 2"/>
          <p:cNvSpPr>
            <a:spLocks noGrp="1" noChangeArrowheads="1"/>
          </p:cNvSpPr>
          <p:nvPr>
            <p:ph type="title"/>
          </p:nvPr>
        </p:nvSpPr>
        <p:spPr/>
        <p:txBody>
          <a:bodyPr>
            <a:normAutofit/>
          </a:bodyPr>
          <a:lstStyle/>
          <a:p>
            <a:r>
              <a:rPr lang="en-US" altLang="en-US" sz="2133" dirty="0"/>
              <a:t>Switch Port Security</a:t>
            </a:r>
            <a:br>
              <a:rPr lang="en-US" altLang="en-US" dirty="0"/>
            </a:br>
            <a:r>
              <a:rPr lang="en-US" altLang="en-US" dirty="0"/>
              <a:t>Port Security: Violation Modes</a:t>
            </a:r>
          </a:p>
        </p:txBody>
      </p:sp>
      <p:pic>
        <p:nvPicPr>
          <p:cNvPr id="3" name="Picture 2"/>
          <p:cNvPicPr>
            <a:picLocks noChangeAspect="1"/>
          </p:cNvPicPr>
          <p:nvPr/>
        </p:nvPicPr>
        <p:blipFill rotWithShape="1">
          <a:blip r:embed="rId3"/>
          <a:srcRect l="406" t="23175"/>
          <a:stretch/>
        </p:blipFill>
        <p:spPr>
          <a:xfrm>
            <a:off x="1537755" y="4001294"/>
            <a:ext cx="8734585" cy="1592125"/>
          </a:xfrm>
          <a:prstGeom prst="rect">
            <a:avLst/>
          </a:prstGeom>
        </p:spPr>
      </p:pic>
      <p:pic>
        <p:nvPicPr>
          <p:cNvPr id="4" name="Picture 3"/>
          <p:cNvPicPr>
            <a:picLocks noChangeAspect="1"/>
          </p:cNvPicPr>
          <p:nvPr/>
        </p:nvPicPr>
        <p:blipFill>
          <a:blip r:embed="rId4"/>
          <a:stretch>
            <a:fillRect/>
          </a:stretch>
        </p:blipFill>
        <p:spPr>
          <a:xfrm>
            <a:off x="1919660" y="5593152"/>
            <a:ext cx="6989951" cy="1167621"/>
          </a:xfrm>
          <a:prstGeom prst="rect">
            <a:avLst/>
          </a:prstGeom>
        </p:spPr>
      </p:pic>
    </p:spTree>
    <p:extLst>
      <p:ext uri="{BB962C8B-B14F-4D97-AF65-F5344CB8AC3E}">
        <p14:creationId xmlns:p14="http://schemas.microsoft.com/office/powerpoint/2010/main" val="486363054"/>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normAutofit/>
          </a:bodyPr>
          <a:lstStyle/>
          <a:p>
            <a:r>
              <a:rPr lang="en-US" altLang="en-US" sz="2133" dirty="0"/>
              <a:t>Switch Port Security</a:t>
            </a:r>
            <a:br>
              <a:rPr lang="en-US" altLang="en-US" dirty="0"/>
            </a:br>
            <a:r>
              <a:rPr lang="en-US" altLang="en-US" dirty="0"/>
              <a:t>Port Security: Configuring</a:t>
            </a:r>
          </a:p>
        </p:txBody>
      </p:sp>
      <p:pic>
        <p:nvPicPr>
          <p:cNvPr id="3" name="Picture 2"/>
          <p:cNvPicPr>
            <a:picLocks noChangeAspect="1"/>
          </p:cNvPicPr>
          <p:nvPr/>
        </p:nvPicPr>
        <p:blipFill rotWithShape="1">
          <a:blip r:embed="rId3"/>
          <a:srcRect t="2483"/>
          <a:stretch/>
        </p:blipFill>
        <p:spPr>
          <a:xfrm>
            <a:off x="898901" y="1577350"/>
            <a:ext cx="10348024" cy="1976605"/>
          </a:xfrm>
          <a:prstGeom prst="rect">
            <a:avLst/>
          </a:prstGeom>
        </p:spPr>
      </p:pic>
    </p:spTree>
    <p:extLst>
      <p:ext uri="{BB962C8B-B14F-4D97-AF65-F5344CB8AC3E}">
        <p14:creationId xmlns:p14="http://schemas.microsoft.com/office/powerpoint/2010/main" val="4102167424"/>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a:xfrm>
            <a:off x="797691" y="1402931"/>
            <a:ext cx="10515600" cy="4351338"/>
          </a:xfrm>
        </p:spPr>
        <p:txBody>
          <a:bodyPr/>
          <a:lstStyle/>
          <a:p>
            <a:r>
              <a:rPr lang="en-US" altLang="en-US" dirty="0">
                <a:solidFill>
                  <a:srgbClr val="000000"/>
                </a:solidFill>
              </a:rPr>
              <a:t>Before configuring port-security features, place the port in access mode and use the </a:t>
            </a:r>
            <a:r>
              <a:rPr lang="en-US" altLang="en-US" b="1" dirty="0" err="1"/>
              <a:t>switchport</a:t>
            </a:r>
            <a:r>
              <a:rPr lang="en-US" altLang="en-US" b="1" dirty="0"/>
              <a:t> port-security </a:t>
            </a:r>
            <a:r>
              <a:rPr lang="en-US" altLang="en-US" dirty="0"/>
              <a:t>interface configuration command to enable port security on an interface.</a:t>
            </a:r>
          </a:p>
        </p:txBody>
      </p:sp>
      <p:sp>
        <p:nvSpPr>
          <p:cNvPr id="54275" name="Rectangle 2"/>
          <p:cNvSpPr>
            <a:spLocks noGrp="1" noChangeArrowheads="1"/>
          </p:cNvSpPr>
          <p:nvPr>
            <p:ph type="title"/>
          </p:nvPr>
        </p:nvSpPr>
        <p:spPr/>
        <p:txBody>
          <a:bodyPr>
            <a:normAutofit/>
          </a:bodyPr>
          <a:lstStyle/>
          <a:p>
            <a:r>
              <a:rPr lang="en-US" altLang="en-US" sz="2133" dirty="0"/>
              <a:t>Switch Port Security</a:t>
            </a:r>
            <a:br>
              <a:rPr lang="en-US" altLang="en-US" dirty="0"/>
            </a:br>
            <a:r>
              <a:rPr lang="en-US" altLang="en-US" dirty="0"/>
              <a:t>Port Security: Configuring (Cont.)</a:t>
            </a:r>
          </a:p>
        </p:txBody>
      </p:sp>
      <p:pic>
        <p:nvPicPr>
          <p:cNvPr id="2" name="Picture 1"/>
          <p:cNvPicPr>
            <a:picLocks noChangeAspect="1"/>
          </p:cNvPicPr>
          <p:nvPr/>
        </p:nvPicPr>
        <p:blipFill>
          <a:blip r:embed="rId3"/>
          <a:stretch>
            <a:fillRect/>
          </a:stretch>
        </p:blipFill>
        <p:spPr>
          <a:xfrm>
            <a:off x="1471941" y="2691516"/>
            <a:ext cx="5975173" cy="4077703"/>
          </a:xfrm>
          <a:prstGeom prst="rect">
            <a:avLst/>
          </a:prstGeom>
        </p:spPr>
      </p:pic>
    </p:spTree>
    <p:extLst>
      <p:ext uri="{BB962C8B-B14F-4D97-AF65-F5344CB8AC3E}">
        <p14:creationId xmlns:p14="http://schemas.microsoft.com/office/powerpoint/2010/main" val="277764721"/>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normAutofit/>
          </a:bodyPr>
          <a:lstStyle/>
          <a:p>
            <a:r>
              <a:rPr lang="en-US" altLang="en-US" sz="2133" dirty="0"/>
              <a:t>Switch Port Security</a:t>
            </a:r>
            <a:br>
              <a:rPr lang="en-US" altLang="en-US" dirty="0"/>
            </a:br>
            <a:r>
              <a:rPr lang="en-US" altLang="en-US" dirty="0"/>
              <a:t>Port Security: Configuring (Cont.)</a:t>
            </a:r>
          </a:p>
        </p:txBody>
      </p:sp>
      <p:pic>
        <p:nvPicPr>
          <p:cNvPr id="4" name="Picture 3"/>
          <p:cNvPicPr>
            <a:picLocks noChangeAspect="1"/>
          </p:cNvPicPr>
          <p:nvPr/>
        </p:nvPicPr>
        <p:blipFill>
          <a:blip r:embed="rId3"/>
          <a:stretch>
            <a:fillRect/>
          </a:stretch>
        </p:blipFill>
        <p:spPr>
          <a:xfrm>
            <a:off x="294274" y="1512963"/>
            <a:ext cx="7825848" cy="5242396"/>
          </a:xfrm>
          <a:prstGeom prst="rect">
            <a:avLst/>
          </a:prstGeom>
        </p:spPr>
      </p:pic>
    </p:spTree>
    <p:extLst>
      <p:ext uri="{BB962C8B-B14F-4D97-AF65-F5344CB8AC3E}">
        <p14:creationId xmlns:p14="http://schemas.microsoft.com/office/powerpoint/2010/main" val="1684865395"/>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p:txBody>
          <a:bodyPr/>
          <a:lstStyle/>
          <a:p>
            <a:r>
              <a:rPr lang="en-US" altLang="en-US" dirty="0">
                <a:solidFill>
                  <a:srgbClr val="000000"/>
                </a:solidFill>
              </a:rPr>
              <a:t>Use the </a:t>
            </a:r>
            <a:r>
              <a:rPr lang="en-US" altLang="en-US" b="1" dirty="0">
                <a:solidFill>
                  <a:srgbClr val="000000"/>
                </a:solidFill>
                <a:cs typeface="Courier New" panose="02070309020205020404" pitchFamily="49" charset="0"/>
              </a:rPr>
              <a:t>show port-security interface</a:t>
            </a:r>
            <a:r>
              <a:rPr lang="en-US" altLang="en-US" b="1" dirty="0">
                <a:solidFill>
                  <a:srgbClr val="000000"/>
                </a:solidFill>
                <a:latin typeface="Courier New" panose="02070309020205020404" pitchFamily="49" charset="0"/>
                <a:cs typeface="Courier New" panose="02070309020205020404" pitchFamily="49" charset="0"/>
              </a:rPr>
              <a:t> </a:t>
            </a:r>
            <a:r>
              <a:rPr lang="en-US" altLang="en-US" dirty="0">
                <a:solidFill>
                  <a:srgbClr val="000000"/>
                </a:solidFill>
              </a:rPr>
              <a:t>command to verify the maximum number of MAC addresses allowed on a particular port and how many of those addresses were learned dynamically using sticky.</a:t>
            </a:r>
            <a:endParaRPr lang="en-CA" altLang="en-US" dirty="0">
              <a:solidFill>
                <a:srgbClr val="000000"/>
              </a:solidFill>
            </a:endParaRPr>
          </a:p>
        </p:txBody>
      </p:sp>
      <p:sp>
        <p:nvSpPr>
          <p:cNvPr id="54275" name="Rectangle 2"/>
          <p:cNvSpPr>
            <a:spLocks noGrp="1" noChangeArrowheads="1"/>
          </p:cNvSpPr>
          <p:nvPr>
            <p:ph type="title"/>
          </p:nvPr>
        </p:nvSpPr>
        <p:spPr/>
        <p:txBody>
          <a:bodyPr>
            <a:normAutofit/>
          </a:bodyPr>
          <a:lstStyle/>
          <a:p>
            <a:r>
              <a:rPr lang="en-US" altLang="en-US" sz="2133" dirty="0"/>
              <a:t>Switch Port Security</a:t>
            </a:r>
            <a:br>
              <a:rPr lang="en-US" altLang="en-US" dirty="0"/>
            </a:br>
            <a:r>
              <a:rPr lang="en-US" altLang="en-US" dirty="0"/>
              <a:t>Port Security: Verifying</a:t>
            </a:r>
          </a:p>
        </p:txBody>
      </p:sp>
      <p:pic>
        <p:nvPicPr>
          <p:cNvPr id="3" name="Picture 2"/>
          <p:cNvPicPr>
            <a:picLocks noChangeAspect="1"/>
          </p:cNvPicPr>
          <p:nvPr/>
        </p:nvPicPr>
        <p:blipFill>
          <a:blip r:embed="rId3"/>
          <a:stretch>
            <a:fillRect/>
          </a:stretch>
        </p:blipFill>
        <p:spPr>
          <a:xfrm>
            <a:off x="971228" y="2610014"/>
            <a:ext cx="4907473" cy="2713767"/>
          </a:xfrm>
          <a:prstGeom prst="rect">
            <a:avLst/>
          </a:prstGeom>
        </p:spPr>
      </p:pic>
      <p:pic>
        <p:nvPicPr>
          <p:cNvPr id="4" name="Picture 3"/>
          <p:cNvPicPr>
            <a:picLocks noChangeAspect="1"/>
          </p:cNvPicPr>
          <p:nvPr/>
        </p:nvPicPr>
        <p:blipFill>
          <a:blip r:embed="rId4"/>
          <a:stretch>
            <a:fillRect/>
          </a:stretch>
        </p:blipFill>
        <p:spPr>
          <a:xfrm>
            <a:off x="6054671" y="2660666"/>
            <a:ext cx="4886917" cy="2665591"/>
          </a:xfrm>
          <a:prstGeom prst="rect">
            <a:avLst/>
          </a:prstGeom>
        </p:spPr>
      </p:pic>
      <p:sp>
        <p:nvSpPr>
          <p:cNvPr id="2" name="TextBox 1"/>
          <p:cNvSpPr txBox="1"/>
          <p:nvPr/>
        </p:nvSpPr>
        <p:spPr>
          <a:xfrm>
            <a:off x="2624584" y="2199644"/>
            <a:ext cx="1051891" cy="379656"/>
          </a:xfrm>
          <a:prstGeom prst="rect">
            <a:avLst/>
          </a:prstGeom>
          <a:noFill/>
        </p:spPr>
        <p:txBody>
          <a:bodyPr wrap="none" rtlCol="0">
            <a:spAutoFit/>
          </a:bodyPr>
          <a:lstStyle/>
          <a:p>
            <a:r>
              <a:rPr lang="en-US" sz="1867" b="1" dirty="0"/>
              <a:t>Dynamic</a:t>
            </a:r>
          </a:p>
        </p:txBody>
      </p:sp>
      <p:sp>
        <p:nvSpPr>
          <p:cNvPr id="7" name="TextBox 6"/>
          <p:cNvSpPr txBox="1"/>
          <p:nvPr/>
        </p:nvSpPr>
        <p:spPr>
          <a:xfrm>
            <a:off x="7877019" y="2199643"/>
            <a:ext cx="771365" cy="379656"/>
          </a:xfrm>
          <a:prstGeom prst="rect">
            <a:avLst/>
          </a:prstGeom>
          <a:noFill/>
        </p:spPr>
        <p:txBody>
          <a:bodyPr wrap="none" rtlCol="0">
            <a:spAutoFit/>
          </a:bodyPr>
          <a:lstStyle/>
          <a:p>
            <a:r>
              <a:rPr lang="en-US" sz="1867" b="1" dirty="0"/>
              <a:t>Sticky</a:t>
            </a:r>
          </a:p>
        </p:txBody>
      </p:sp>
    </p:spTree>
    <p:extLst>
      <p:ext uri="{BB962C8B-B14F-4D97-AF65-F5344CB8AC3E}">
        <p14:creationId xmlns:p14="http://schemas.microsoft.com/office/powerpoint/2010/main" val="1711488486"/>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a:xfrm>
            <a:off x="665672" y="1253331"/>
            <a:ext cx="10515600" cy="4351338"/>
          </a:xfrm>
        </p:spPr>
        <p:txBody>
          <a:bodyPr/>
          <a:lstStyle/>
          <a:p>
            <a:r>
              <a:rPr lang="en-US" altLang="en-US" dirty="0">
                <a:solidFill>
                  <a:srgbClr val="000000"/>
                </a:solidFill>
              </a:rPr>
              <a:t>Use the </a:t>
            </a:r>
            <a:r>
              <a:rPr lang="en-US" altLang="en-US" b="1" dirty="0">
                <a:solidFill>
                  <a:srgbClr val="000000"/>
                </a:solidFill>
                <a:cs typeface="Courier New" panose="02070309020205020404" pitchFamily="49" charset="0"/>
              </a:rPr>
              <a:t>show running-config</a:t>
            </a:r>
            <a:r>
              <a:rPr lang="en-US" altLang="en-US" b="1" dirty="0">
                <a:solidFill>
                  <a:srgbClr val="000000"/>
                </a:solidFill>
                <a:latin typeface="Courier New" panose="02070309020205020404" pitchFamily="49" charset="0"/>
                <a:cs typeface="Courier New" panose="02070309020205020404" pitchFamily="49" charset="0"/>
              </a:rPr>
              <a:t> </a:t>
            </a:r>
            <a:r>
              <a:rPr lang="en-US" altLang="en-US" dirty="0">
                <a:solidFill>
                  <a:srgbClr val="000000"/>
                </a:solidFill>
              </a:rPr>
              <a:t>command to see learned MAC addresses added to the configuration.</a:t>
            </a:r>
            <a:br>
              <a:rPr lang="en-US" altLang="en-US" dirty="0">
                <a:solidFill>
                  <a:srgbClr val="000000"/>
                </a:solidFill>
              </a:rPr>
            </a:br>
            <a:br>
              <a:rPr lang="en-US" altLang="en-US" dirty="0">
                <a:solidFill>
                  <a:srgbClr val="000000"/>
                </a:solidFill>
              </a:rPr>
            </a:br>
            <a:br>
              <a:rPr lang="en-US" altLang="en-US" dirty="0">
                <a:solidFill>
                  <a:srgbClr val="000000"/>
                </a:solidFill>
              </a:rPr>
            </a:br>
            <a:br>
              <a:rPr lang="en-US" altLang="en-US" dirty="0">
                <a:solidFill>
                  <a:srgbClr val="000000"/>
                </a:solidFill>
              </a:rPr>
            </a:br>
            <a:br>
              <a:rPr lang="en-US" altLang="en-US" dirty="0">
                <a:solidFill>
                  <a:srgbClr val="000000"/>
                </a:solidFill>
              </a:rPr>
            </a:br>
            <a:r>
              <a:rPr lang="en-US" altLang="en-US" dirty="0"/>
              <a:t>The </a:t>
            </a:r>
            <a:r>
              <a:rPr lang="en-US" altLang="en-US" b="1" dirty="0">
                <a:cs typeface="Courier New" panose="02070309020205020404" pitchFamily="49" charset="0"/>
              </a:rPr>
              <a:t>show port-security address</a:t>
            </a:r>
            <a:r>
              <a:rPr lang="en-US" altLang="en-US" b="1" dirty="0">
                <a:latin typeface="Courier New" panose="02070309020205020404" pitchFamily="49" charset="0"/>
                <a:cs typeface="Courier New" panose="02070309020205020404" pitchFamily="49" charset="0"/>
              </a:rPr>
              <a:t> </a:t>
            </a:r>
            <a:r>
              <a:rPr lang="en-US" altLang="en-US" dirty="0"/>
              <a:t>command shows how MAC addresses were learned on a particular port.</a:t>
            </a:r>
            <a:endParaRPr lang="en-CA" altLang="en-US" dirty="0">
              <a:solidFill>
                <a:srgbClr val="000000"/>
              </a:solidFill>
            </a:endParaRPr>
          </a:p>
        </p:txBody>
      </p:sp>
      <p:sp>
        <p:nvSpPr>
          <p:cNvPr id="54275" name="Rectangle 2"/>
          <p:cNvSpPr>
            <a:spLocks noGrp="1" noChangeArrowheads="1"/>
          </p:cNvSpPr>
          <p:nvPr>
            <p:ph type="title"/>
          </p:nvPr>
        </p:nvSpPr>
        <p:spPr>
          <a:xfrm>
            <a:off x="838200" y="166618"/>
            <a:ext cx="10515600" cy="1325563"/>
          </a:xfrm>
        </p:spPr>
        <p:txBody>
          <a:bodyPr>
            <a:normAutofit/>
          </a:bodyPr>
          <a:lstStyle/>
          <a:p>
            <a:r>
              <a:rPr lang="en-US" altLang="en-US" sz="2133" dirty="0"/>
              <a:t>Switch Port Security</a:t>
            </a:r>
            <a:br>
              <a:rPr lang="en-US" altLang="en-US" dirty="0"/>
            </a:br>
            <a:r>
              <a:rPr lang="en-US" altLang="en-US" dirty="0"/>
              <a:t>Port Security: Verifying (Cont.)</a:t>
            </a:r>
          </a:p>
        </p:txBody>
      </p:sp>
      <p:pic>
        <p:nvPicPr>
          <p:cNvPr id="2" name="Picture 1"/>
          <p:cNvPicPr>
            <a:picLocks noChangeAspect="1"/>
          </p:cNvPicPr>
          <p:nvPr/>
        </p:nvPicPr>
        <p:blipFill>
          <a:blip r:embed="rId3"/>
          <a:stretch>
            <a:fillRect/>
          </a:stretch>
        </p:blipFill>
        <p:spPr>
          <a:xfrm>
            <a:off x="4469117" y="2018472"/>
            <a:ext cx="6194372" cy="1626281"/>
          </a:xfrm>
          <a:prstGeom prst="rect">
            <a:avLst/>
          </a:prstGeom>
        </p:spPr>
      </p:pic>
      <p:pic>
        <p:nvPicPr>
          <p:cNvPr id="5" name="Picture 4"/>
          <p:cNvPicPr>
            <a:picLocks noChangeAspect="1"/>
          </p:cNvPicPr>
          <p:nvPr/>
        </p:nvPicPr>
        <p:blipFill>
          <a:blip r:embed="rId4"/>
          <a:stretch>
            <a:fillRect/>
          </a:stretch>
        </p:blipFill>
        <p:spPr>
          <a:xfrm>
            <a:off x="4348347" y="4526883"/>
            <a:ext cx="6202627" cy="2057744"/>
          </a:xfrm>
          <a:prstGeom prst="rect">
            <a:avLst/>
          </a:prstGeom>
        </p:spPr>
      </p:pic>
    </p:spTree>
    <p:extLst>
      <p:ext uri="{BB962C8B-B14F-4D97-AF65-F5344CB8AC3E}">
        <p14:creationId xmlns:p14="http://schemas.microsoft.com/office/powerpoint/2010/main" val="3038461992"/>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p:txBody>
          <a:bodyPr/>
          <a:lstStyle/>
          <a:p>
            <a:r>
              <a:rPr lang="en-US" altLang="en-US" dirty="0">
                <a:solidFill>
                  <a:srgbClr val="000000"/>
                </a:solidFill>
              </a:rPr>
              <a:t>Switch console messages display when a port security violation occurs. Notice the port link status changes to down.</a:t>
            </a:r>
            <a:endParaRPr lang="en-CA" altLang="en-US" dirty="0">
              <a:solidFill>
                <a:srgbClr val="000000"/>
              </a:solidFill>
            </a:endParaRPr>
          </a:p>
        </p:txBody>
      </p:sp>
      <p:sp>
        <p:nvSpPr>
          <p:cNvPr id="54275" name="Rectangle 2"/>
          <p:cNvSpPr>
            <a:spLocks noGrp="1" noChangeArrowheads="1"/>
          </p:cNvSpPr>
          <p:nvPr>
            <p:ph type="title"/>
          </p:nvPr>
        </p:nvSpPr>
        <p:spPr/>
        <p:txBody>
          <a:bodyPr>
            <a:normAutofit/>
          </a:bodyPr>
          <a:lstStyle/>
          <a:p>
            <a:r>
              <a:rPr lang="en-US" altLang="en-US" sz="2133" dirty="0"/>
              <a:t>Switch Port Security</a:t>
            </a:r>
            <a:br>
              <a:rPr lang="en-US" altLang="en-US" dirty="0"/>
            </a:br>
            <a:r>
              <a:rPr lang="en-US" altLang="en-US" dirty="0"/>
              <a:t>Ports in Error Disabled State</a:t>
            </a:r>
          </a:p>
        </p:txBody>
      </p:sp>
      <p:pic>
        <p:nvPicPr>
          <p:cNvPr id="3" name="Picture 2"/>
          <p:cNvPicPr>
            <a:picLocks noChangeAspect="1"/>
          </p:cNvPicPr>
          <p:nvPr/>
        </p:nvPicPr>
        <p:blipFill>
          <a:blip r:embed="rId3"/>
          <a:stretch>
            <a:fillRect/>
          </a:stretch>
        </p:blipFill>
        <p:spPr>
          <a:xfrm>
            <a:off x="838200" y="3020082"/>
            <a:ext cx="9899757" cy="1812312"/>
          </a:xfrm>
          <a:prstGeom prst="rect">
            <a:avLst/>
          </a:prstGeom>
        </p:spPr>
      </p:pic>
      <p:sp>
        <p:nvSpPr>
          <p:cNvPr id="4" name="Oval 3"/>
          <p:cNvSpPr/>
          <p:nvPr/>
        </p:nvSpPr>
        <p:spPr>
          <a:xfrm>
            <a:off x="4887136" y="3233981"/>
            <a:ext cx="6147661" cy="692257"/>
          </a:xfrm>
          <a:prstGeom prst="ellipse">
            <a:avLst/>
          </a:prstGeom>
          <a:noFill/>
          <a:ln>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Tree>
    <p:extLst>
      <p:ext uri="{BB962C8B-B14F-4D97-AF65-F5344CB8AC3E}">
        <p14:creationId xmlns:p14="http://schemas.microsoft.com/office/powerpoint/2010/main" val="3640700174"/>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idx="1"/>
          </p:nvPr>
        </p:nvSpPr>
        <p:spPr>
          <a:xfrm>
            <a:off x="192087" y="1457876"/>
            <a:ext cx="5614612" cy="5540425"/>
          </a:xfrm>
        </p:spPr>
        <p:txBody>
          <a:bodyPr/>
          <a:lstStyle/>
          <a:p>
            <a:r>
              <a:rPr lang="en-US" altLang="en-US" dirty="0">
                <a:solidFill>
                  <a:srgbClr val="000000"/>
                </a:solidFill>
              </a:rPr>
              <a:t>Check the port status and the port security settings.</a:t>
            </a:r>
            <a:endParaRPr lang="en-CA" altLang="en-US" dirty="0">
              <a:solidFill>
                <a:srgbClr val="000000"/>
              </a:solidFill>
            </a:endParaRPr>
          </a:p>
        </p:txBody>
      </p:sp>
      <p:sp>
        <p:nvSpPr>
          <p:cNvPr id="54275" name="Rectangle 2"/>
          <p:cNvSpPr>
            <a:spLocks noGrp="1" noChangeArrowheads="1"/>
          </p:cNvSpPr>
          <p:nvPr>
            <p:ph type="title"/>
          </p:nvPr>
        </p:nvSpPr>
        <p:spPr/>
        <p:txBody>
          <a:bodyPr>
            <a:normAutofit/>
          </a:bodyPr>
          <a:lstStyle/>
          <a:p>
            <a:r>
              <a:rPr lang="en-US" altLang="en-US" sz="2133" dirty="0"/>
              <a:t>Switch Port Security</a:t>
            </a:r>
            <a:br>
              <a:rPr lang="en-US" altLang="en-US" dirty="0"/>
            </a:br>
            <a:r>
              <a:rPr lang="en-US" altLang="en-US" dirty="0"/>
              <a:t>Ports in Error Disabled State (Cont.)</a:t>
            </a:r>
          </a:p>
        </p:txBody>
      </p:sp>
      <p:pic>
        <p:nvPicPr>
          <p:cNvPr id="2" name="Picture 1"/>
          <p:cNvPicPr>
            <a:picLocks noChangeAspect="1"/>
          </p:cNvPicPr>
          <p:nvPr/>
        </p:nvPicPr>
        <p:blipFill>
          <a:blip r:embed="rId3"/>
          <a:stretch>
            <a:fillRect/>
          </a:stretch>
        </p:blipFill>
        <p:spPr>
          <a:xfrm>
            <a:off x="677892" y="2314406"/>
            <a:ext cx="4396616" cy="2671733"/>
          </a:xfrm>
          <a:prstGeom prst="rect">
            <a:avLst/>
          </a:prstGeom>
        </p:spPr>
      </p:pic>
      <p:sp>
        <p:nvSpPr>
          <p:cNvPr id="7" name="Rectangle 6"/>
          <p:cNvSpPr txBox="1">
            <a:spLocks noChangeArrowheads="1"/>
          </p:cNvSpPr>
          <p:nvPr/>
        </p:nvSpPr>
        <p:spPr bwMode="auto">
          <a:xfrm>
            <a:off x="6047002" y="1402772"/>
            <a:ext cx="5614612" cy="55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121920" tIns="60960" rIns="243840" bIns="6096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altLang="en-US" sz="2000" dirty="0"/>
              <a:t>Do not re-enable a port until the security threat is investigated and eliminated. </a:t>
            </a:r>
          </a:p>
          <a:p>
            <a:r>
              <a:rPr lang="en-US" altLang="en-US" sz="2000" dirty="0"/>
              <a:t>Notice that you must first shut the port down and then issue the </a:t>
            </a:r>
            <a:r>
              <a:rPr lang="en-US" altLang="en-US" sz="2000" b="1" dirty="0">
                <a:cs typeface="Courier New" panose="02070309020205020404" pitchFamily="49" charset="0"/>
              </a:rPr>
              <a:t>no shutdown</a:t>
            </a:r>
            <a:r>
              <a:rPr lang="en-US" altLang="en-US" sz="2000" b="1" dirty="0">
                <a:latin typeface="Courier New" panose="02070309020205020404" pitchFamily="49" charset="0"/>
                <a:cs typeface="Courier New" panose="02070309020205020404" pitchFamily="49" charset="0"/>
              </a:rPr>
              <a:t> </a:t>
            </a:r>
            <a:r>
              <a:rPr lang="en-US" altLang="en-US" sz="2000" dirty="0"/>
              <a:t>command in order to use the particular port again after a security violation has occurred.</a:t>
            </a:r>
          </a:p>
        </p:txBody>
      </p:sp>
      <p:pic>
        <p:nvPicPr>
          <p:cNvPr id="5" name="Picture 4"/>
          <p:cNvPicPr>
            <a:picLocks noChangeAspect="1"/>
          </p:cNvPicPr>
          <p:nvPr/>
        </p:nvPicPr>
        <p:blipFill>
          <a:blip r:embed="rId4"/>
          <a:stretch>
            <a:fillRect/>
          </a:stretch>
        </p:blipFill>
        <p:spPr>
          <a:xfrm>
            <a:off x="5906793" y="3752266"/>
            <a:ext cx="6119891" cy="1291025"/>
          </a:xfrm>
          <a:prstGeom prst="rect">
            <a:avLst/>
          </a:prstGeom>
        </p:spPr>
      </p:pic>
    </p:spTree>
    <p:extLst>
      <p:ext uri="{BB962C8B-B14F-4D97-AF65-F5344CB8AC3E}">
        <p14:creationId xmlns:p14="http://schemas.microsoft.com/office/powerpoint/2010/main" val="869981292"/>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7142</Words>
  <Application>Microsoft Office PowerPoint</Application>
  <PresentationFormat>Widescreen</PresentationFormat>
  <Paragraphs>807</Paragraphs>
  <Slides>64</Slides>
  <Notes>62</Notes>
  <HiddenSlides>0</HiddenSlides>
  <MMClips>1</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64</vt:i4>
      </vt:variant>
    </vt:vector>
  </HeadingPairs>
  <TitlesOfParts>
    <vt:vector size="79" baseType="lpstr">
      <vt:lpstr>Arial</vt:lpstr>
      <vt:lpstr>Arial Unicode MS</vt:lpstr>
      <vt:lpstr>Calibri</vt:lpstr>
      <vt:lpstr>Calibri Light</vt:lpstr>
      <vt:lpstr>CiscoSans</vt:lpstr>
      <vt:lpstr>Courier New</vt:lpstr>
      <vt:lpstr>Gill Sans MT</vt:lpstr>
      <vt:lpstr>inherit</vt:lpstr>
      <vt:lpstr>Lucida Grande</vt:lpstr>
      <vt:lpstr>Symbol</vt:lpstr>
      <vt:lpstr>Times</vt:lpstr>
      <vt:lpstr>Times New Roman</vt:lpstr>
      <vt:lpstr>Wingdings</vt:lpstr>
      <vt:lpstr>ZapfDingbats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NIST Internal/Interagency Report NISTIR 7298 (Glossary of Key Information Security Terms , May 2013) defines the term computer security as follows:</vt:lpstr>
      <vt:lpstr>Key Security Concepts: CIA and Communications Security </vt:lpstr>
      <vt:lpstr>PowerPoint Presentation</vt:lpstr>
      <vt:lpstr>PowerPoint Presentation</vt:lpstr>
      <vt:lpstr>NIST SP 800-63-3 (Digital Authentication Guideline, October 2016) defines digital user authentication as:</vt:lpstr>
      <vt:lpstr>PowerPoint Presentation</vt:lpstr>
      <vt:lpstr>Access Control Definitions 1/2</vt:lpstr>
      <vt:lpstr>Access Control Definitions 2/2</vt:lpstr>
      <vt:lpstr>Access Control Principles</vt:lpstr>
      <vt:lpstr>PowerPoint Presentation</vt:lpstr>
      <vt:lpstr>PowerPoint Presentation</vt:lpstr>
      <vt:lpstr>PowerPoint Presentation</vt:lpstr>
      <vt:lpstr>Further definitions: What is network security?</vt:lpstr>
      <vt:lpstr>Friends and enemies: Alice, Bob, Trudy</vt:lpstr>
      <vt:lpstr>The language of cryptography</vt:lpstr>
      <vt:lpstr>Breaking an encryption scheme</vt:lpstr>
      <vt:lpstr>Symmetric key cryptography</vt:lpstr>
      <vt:lpstr>PowerPoint Presentation</vt:lpstr>
      <vt:lpstr>PowerPoint Presentation</vt:lpstr>
      <vt:lpstr>Simple encryption scheme</vt:lpstr>
      <vt:lpstr>A more sophisticated encryption approach</vt:lpstr>
      <vt:lpstr>Symmetric key crypto: DES</vt:lpstr>
      <vt:lpstr>AES: Advanced Encryption Standard</vt:lpstr>
      <vt:lpstr>Public Key Cryptography</vt:lpstr>
      <vt:lpstr>Public key encryption algorithms</vt:lpstr>
      <vt:lpstr>PowerPoint Presentation</vt:lpstr>
      <vt:lpstr>PowerPoint Presentation</vt:lpstr>
      <vt:lpstr>PowerPoint Presentation</vt:lpstr>
      <vt:lpstr>RSA: another important property</vt:lpstr>
      <vt:lpstr>RSA in practice: session keys</vt:lpstr>
      <vt:lpstr>Digital signatures </vt:lpstr>
      <vt:lpstr>Digital signatures </vt:lpstr>
      <vt:lpstr>Message digests</vt:lpstr>
      <vt:lpstr>Digital signature = signed message digest</vt:lpstr>
      <vt:lpstr>Hash function algorithms</vt:lpstr>
      <vt:lpstr>PowerPoint Presentation</vt:lpstr>
      <vt:lpstr>PowerPoint Presentation</vt:lpstr>
      <vt:lpstr>PowerPoint Presentation</vt:lpstr>
      <vt:lpstr>Switch Security</vt:lpstr>
      <vt:lpstr>Secure Remote Access SSH Operation</vt:lpstr>
      <vt:lpstr>Secure Remote Access SSH Operation (Cont.)</vt:lpstr>
      <vt:lpstr>Secure Remote Access Configuring SSH</vt:lpstr>
      <vt:lpstr>Secure Remote Access Verifying SSH</vt:lpstr>
      <vt:lpstr>Switch Port Security Secure Unused Ports</vt:lpstr>
      <vt:lpstr>Switch Port Security Port Security: Operation</vt:lpstr>
      <vt:lpstr>Switch Port Security Port Security: Violation Modes</vt:lpstr>
      <vt:lpstr>Switch Port Security Port Security: Configuring</vt:lpstr>
      <vt:lpstr>Switch Port Security Port Security: Configuring (Cont.)</vt:lpstr>
      <vt:lpstr>Switch Port Security Port Security: Configuring (Cont.)</vt:lpstr>
      <vt:lpstr>Switch Port Security Port Security: Verifying</vt:lpstr>
      <vt:lpstr>Switch Port Security Port Security: Verifying (Cont.)</vt:lpstr>
      <vt:lpstr>Switch Port Security Ports in Error Disabled State</vt:lpstr>
      <vt:lpstr>Switch Port Security Ports in Error Disabled State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Nibouche, Omar</dc:creator>
  <cp:lastModifiedBy>Nibouche, Omar</cp:lastModifiedBy>
  <cp:revision>2</cp:revision>
  <dcterms:created xsi:type="dcterms:W3CDTF">2023-11-04T18:31:40Z</dcterms:created>
  <dcterms:modified xsi:type="dcterms:W3CDTF">2023-11-04T19:04:27Z</dcterms:modified>
</cp:coreProperties>
</file>