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7" r:id="rId1"/>
  </p:sldMasterIdLst>
  <p:notesMasterIdLst>
    <p:notesMasterId r:id="rId50"/>
  </p:notesMasterIdLst>
  <p:sldIdLst>
    <p:sldId id="1045" r:id="rId2"/>
    <p:sldId id="956" r:id="rId3"/>
    <p:sldId id="318" r:id="rId4"/>
    <p:sldId id="1047" r:id="rId5"/>
    <p:sldId id="443" r:id="rId6"/>
    <p:sldId id="560" r:id="rId7"/>
    <p:sldId id="561" r:id="rId8"/>
    <p:sldId id="562" r:id="rId9"/>
    <p:sldId id="321" r:id="rId10"/>
    <p:sldId id="574" r:id="rId11"/>
    <p:sldId id="564" r:id="rId12"/>
    <p:sldId id="320" r:id="rId13"/>
    <p:sldId id="567" r:id="rId14"/>
    <p:sldId id="568" r:id="rId15"/>
    <p:sldId id="1050" r:id="rId16"/>
    <p:sldId id="1052" r:id="rId17"/>
    <p:sldId id="1053" r:id="rId18"/>
    <p:sldId id="1055" r:id="rId19"/>
    <p:sldId id="1082" r:id="rId20"/>
    <p:sldId id="1207" r:id="rId21"/>
    <p:sldId id="1087" r:id="rId22"/>
    <p:sldId id="1090" r:id="rId23"/>
    <p:sldId id="1097" r:id="rId24"/>
    <p:sldId id="1210" r:id="rId25"/>
    <p:sldId id="495" r:id="rId26"/>
    <p:sldId id="1211" r:id="rId27"/>
    <p:sldId id="573" r:id="rId28"/>
    <p:sldId id="403" r:id="rId29"/>
    <p:sldId id="404" r:id="rId30"/>
    <p:sldId id="576" r:id="rId31"/>
    <p:sldId id="577" r:id="rId32"/>
    <p:sldId id="592" r:id="rId33"/>
    <p:sldId id="558" r:id="rId34"/>
    <p:sldId id="593" r:id="rId35"/>
    <p:sldId id="594" r:id="rId36"/>
    <p:sldId id="537" r:id="rId37"/>
    <p:sldId id="565" r:id="rId38"/>
    <p:sldId id="566" r:id="rId39"/>
    <p:sldId id="585" r:id="rId40"/>
    <p:sldId id="581" r:id="rId41"/>
    <p:sldId id="582" r:id="rId42"/>
    <p:sldId id="583" r:id="rId43"/>
    <p:sldId id="584" r:id="rId44"/>
    <p:sldId id="595" r:id="rId45"/>
    <p:sldId id="596" r:id="rId46"/>
    <p:sldId id="549" r:id="rId47"/>
    <p:sldId id="590" r:id="rId48"/>
    <p:sldId id="409" r:id="rId49"/>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76B9CC-ABCF-45CA-A8D8-6970B222354C}">
          <p14:sldIdLst>
            <p14:sldId id="1045"/>
            <p14:sldId id="956"/>
            <p14:sldId id="318"/>
            <p14:sldId id="1047"/>
            <p14:sldId id="443"/>
            <p14:sldId id="560"/>
            <p14:sldId id="561"/>
            <p14:sldId id="562"/>
            <p14:sldId id="321"/>
            <p14:sldId id="574"/>
            <p14:sldId id="564"/>
            <p14:sldId id="320"/>
            <p14:sldId id="567"/>
          </p14:sldIdLst>
        </p14:section>
        <p14:section name="Untitled Section" id="{20D5F3E9-633D-4196-A33B-C391C22DC579}">
          <p14:sldIdLst>
            <p14:sldId id="568"/>
            <p14:sldId id="1050"/>
            <p14:sldId id="1052"/>
            <p14:sldId id="1053"/>
            <p14:sldId id="1055"/>
            <p14:sldId id="1082"/>
            <p14:sldId id="1207"/>
            <p14:sldId id="1087"/>
            <p14:sldId id="1090"/>
            <p14:sldId id="1097"/>
            <p14:sldId id="1210"/>
            <p14:sldId id="495"/>
            <p14:sldId id="1211"/>
            <p14:sldId id="573"/>
            <p14:sldId id="403"/>
            <p14:sldId id="404"/>
            <p14:sldId id="576"/>
            <p14:sldId id="577"/>
            <p14:sldId id="592"/>
            <p14:sldId id="558"/>
            <p14:sldId id="593"/>
            <p14:sldId id="594"/>
            <p14:sldId id="537"/>
            <p14:sldId id="565"/>
            <p14:sldId id="566"/>
            <p14:sldId id="585"/>
            <p14:sldId id="581"/>
            <p14:sldId id="582"/>
            <p14:sldId id="583"/>
            <p14:sldId id="584"/>
            <p14:sldId id="595"/>
            <p14:sldId id="596"/>
            <p14:sldId id="549"/>
            <p14:sldId id="590"/>
            <p14:sldId id="40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5153"/>
    <a:srgbClr val="8A8A8A"/>
    <a:srgbClr val="6B6B6B"/>
    <a:srgbClr val="264DAE"/>
    <a:srgbClr val="4ADAD7"/>
    <a:srgbClr val="90A3A6"/>
    <a:srgbClr val="EDDFF5"/>
    <a:srgbClr val="493B93"/>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80" autoAdjust="0"/>
    <p:restoredTop sz="95097" autoAdjust="0"/>
  </p:normalViewPr>
  <p:slideViewPr>
    <p:cSldViewPr snapToGrid="0">
      <p:cViewPr varScale="1">
        <p:scale>
          <a:sx n="78" d="100"/>
          <a:sy n="78" d="100"/>
        </p:scale>
        <p:origin x="1862"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5138"/>
          </a:xfrm>
          <a:prstGeom prst="rect">
            <a:avLst/>
          </a:prstGeom>
        </p:spPr>
        <p:txBody>
          <a:bodyPr vert="horz" lIns="91440" tIns="45720" rIns="91440" bIns="45720" rtlCol="0"/>
          <a:lstStyle>
            <a:lvl1pPr algn="r">
              <a:defRPr sz="1200"/>
            </a:lvl1pPr>
          </a:lstStyle>
          <a:p>
            <a:fld id="{0AD33006-993C-46CE-BE81-A42F2D8A6269}" type="datetimeFigureOut">
              <a:rPr lang="en-US" smtClean="0"/>
              <a:t>6/29/2025</a:t>
            </a:fld>
            <a:endParaRPr lang="en-US"/>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16425"/>
            <a:ext cx="548640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71800"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675"/>
            <a:ext cx="2971800" cy="465138"/>
          </a:xfrm>
          <a:prstGeom prst="rect">
            <a:avLst/>
          </a:prstGeom>
        </p:spPr>
        <p:txBody>
          <a:bodyPr vert="horz" lIns="91440" tIns="45720" rIns="91440" bIns="45720" rtlCol="0" anchor="b"/>
          <a:lstStyle>
            <a:lvl1pPr algn="r">
              <a:defRPr sz="1200"/>
            </a:lvl1pPr>
          </a:lstStyle>
          <a:p>
            <a:fld id="{AC72CD79-D36A-4E01-AE1C-064887FE954D}" type="slidenum">
              <a:rPr lang="en-US" smtClean="0"/>
              <a:t>‹#›</a:t>
            </a:fld>
            <a:endParaRPr lang="en-US"/>
          </a:p>
        </p:txBody>
      </p:sp>
    </p:spTree>
    <p:extLst>
      <p:ext uri="{BB962C8B-B14F-4D97-AF65-F5344CB8AC3E}">
        <p14:creationId xmlns:p14="http://schemas.microsoft.com/office/powerpoint/2010/main" val="2104272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2616235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214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10</a:t>
            </a:fld>
            <a:endParaRPr lang="en-US"/>
          </a:p>
        </p:txBody>
      </p:sp>
    </p:spTree>
    <p:extLst>
      <p:ext uri="{BB962C8B-B14F-4D97-AF65-F5344CB8AC3E}">
        <p14:creationId xmlns:p14="http://schemas.microsoft.com/office/powerpoint/2010/main" val="3086920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12</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13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AC72CD79-D36A-4E01-AE1C-064887FE954D}" type="slidenum">
              <a:rPr lang="en-US" smtClean="0"/>
              <a:t>14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282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1462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1434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8794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2799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1228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4140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3865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38948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270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26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 means finish flag for TCP connection</a:t>
            </a:r>
          </a:p>
        </p:txBody>
      </p:sp>
      <p:sp>
        <p:nvSpPr>
          <p:cNvPr id="4" name="Slide Number Placeholder 3"/>
          <p:cNvSpPr>
            <a:spLocks noGrp="1"/>
          </p:cNvSpPr>
          <p:nvPr>
            <p:ph type="sldNum" sz="quarter" idx="10"/>
          </p:nvPr>
        </p:nvSpPr>
        <p:spPr/>
        <p:txBody>
          <a:bodyPr/>
          <a:lstStyle/>
          <a:p>
            <a:fld id="{AC72CD79-D36A-4E01-AE1C-064887FE954D}" type="slidenum">
              <a:rPr lang="en-US" smtClean="0"/>
              <a:t>27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28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RST flag stands for reset of the transmission</a:t>
            </a:r>
          </a:p>
        </p:txBody>
      </p:sp>
      <p:sp>
        <p:nvSpPr>
          <p:cNvPr id="4" name="Slide Number Placeholder 3"/>
          <p:cNvSpPr>
            <a:spLocks noGrp="1"/>
          </p:cNvSpPr>
          <p:nvPr>
            <p:ph type="sldNum" sz="quarter" idx="10"/>
          </p:nvPr>
        </p:nvSpPr>
        <p:spPr/>
        <p:txBody>
          <a:bodyPr/>
          <a:lstStyle/>
          <a:p>
            <a:fld id="{AC72CD79-D36A-4E01-AE1C-064887FE954D}" type="slidenum">
              <a:rPr lang="en-US" smtClean="0"/>
              <a:t>29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31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32</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33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AC72CD79-D36A-4E01-AE1C-064887FE954D}" type="slidenum">
              <a:rPr lang="en-US" smtClean="0"/>
              <a:t>36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37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38</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AC72CD79-D36A-4E01-AE1C-064887FE954D}" type="slidenum">
              <a:rPr lang="en-US" smtClean="0"/>
              <a:t>39</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40</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41</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10"/>
          </p:nvPr>
        </p:nvSpPr>
        <p:spPr/>
        <p:txBody>
          <a:bodyPr/>
          <a:lstStyle/>
          <a:p>
            <a:fld id="{AC72CD79-D36A-4E01-AE1C-064887FE954D}" type="slidenum">
              <a:rPr lang="en-US" smtClean="0"/>
              <a:t>42</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43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44</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C72CD79-D36A-4E01-AE1C-064887FE954D}" type="slidenum">
              <a:rPr lang="en-US" smtClean="0"/>
              <a:t>45</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46</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aseline="0" dirty="0"/>
          </a:p>
        </p:txBody>
      </p:sp>
      <p:sp>
        <p:nvSpPr>
          <p:cNvPr id="4" name="Slide Number Placeholder 3"/>
          <p:cNvSpPr>
            <a:spLocks noGrp="1"/>
          </p:cNvSpPr>
          <p:nvPr>
            <p:ph type="sldNum" sz="quarter" idx="10"/>
          </p:nvPr>
        </p:nvSpPr>
        <p:spPr/>
        <p:txBody>
          <a:bodyPr/>
          <a:lstStyle/>
          <a:p>
            <a:fld id="{AC72CD79-D36A-4E01-AE1C-064887FE954D}" type="slidenum">
              <a:rPr lang="en-US" smtClean="0"/>
              <a:t>47</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48</a:t>
            </a:fld>
            <a:endParaRPr lang="en-US"/>
          </a:p>
        </p:txBody>
      </p:sp>
    </p:spTree>
    <p:extLst>
      <p:ext uri="{BB962C8B-B14F-4D97-AF65-F5344CB8AC3E}">
        <p14:creationId xmlns:p14="http://schemas.microsoft.com/office/powerpoint/2010/main" val="37341452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8" name="Subtitle 2"/>
          <p:cNvSpPr>
            <a:spLocks noGrp="1"/>
          </p:cNvSpPr>
          <p:nvPr>
            <p:ph type="subTitle" idx="1" hasCustomPrompt="1"/>
          </p:nvPr>
        </p:nvSpPr>
        <p:spPr>
          <a:xfrm>
            <a:off x="236383" y="4464066"/>
            <a:ext cx="3657600" cy="384721"/>
          </a:xfrm>
        </p:spPr>
        <p:txBody>
          <a:bodyPr wrap="square">
            <a:spAutoFit/>
          </a:bodyPr>
          <a:lstStyle>
            <a:lvl1pPr marL="0" marR="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lang="en-US" sz="2000" kern="1200" dirty="0">
                <a:solidFill>
                  <a:schemeClr val="bg1"/>
                </a:solidFill>
                <a:latin typeface="+mj-lt"/>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a:pPr>
            <a:r>
              <a:rPr lang="en-US" dirty="0"/>
              <a:t>Speaker Name</a:t>
            </a:r>
          </a:p>
        </p:txBody>
      </p:sp>
      <p:sp>
        <p:nvSpPr>
          <p:cNvPr id="50" name="Title 1"/>
          <p:cNvSpPr>
            <a:spLocks noGrp="1"/>
          </p:cNvSpPr>
          <p:nvPr>
            <p:ph type="ctrTitle" hasCustomPrompt="1"/>
          </p:nvPr>
        </p:nvSpPr>
        <p:spPr>
          <a:xfrm>
            <a:off x="221393" y="1248229"/>
            <a:ext cx="8112125" cy="2907239"/>
          </a:xfrm>
        </p:spPr>
        <p:txBody>
          <a:bodyPr/>
          <a:lstStyle>
            <a:lvl1pPr algn="l" defTabSz="914400" rtl="0" eaLnBrk="1" latinLnBrk="0" hangingPunct="1">
              <a:lnSpc>
                <a:spcPts val="6200"/>
              </a:lnSpc>
              <a:spcBef>
                <a:spcPct val="0"/>
              </a:spcBef>
              <a:buNone/>
              <a:defRPr lang="en-US" sz="5400" b="0" kern="1200" dirty="0">
                <a:solidFill>
                  <a:schemeClr val="bg1"/>
                </a:solidFill>
                <a:latin typeface="+mj-lt"/>
                <a:ea typeface="+mj-ea"/>
                <a:cs typeface="Arial" pitchFamily="34" charset="0"/>
              </a:defRPr>
            </a:lvl1pPr>
          </a:lstStyle>
          <a:p>
            <a:r>
              <a:rPr lang="en-US" dirty="0"/>
              <a:t>Presentation Title Goes Here</a:t>
            </a:r>
          </a:p>
        </p:txBody>
      </p:sp>
      <p:pic>
        <p:nvPicPr>
          <p:cNvPr id="44"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5912068" y="330200"/>
            <a:ext cx="2889136" cy="480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Placeholder 3"/>
          <p:cNvSpPr>
            <a:spLocks noGrp="1"/>
          </p:cNvSpPr>
          <p:nvPr>
            <p:ph type="body" sz="quarter" idx="10" hasCustomPrompt="1"/>
          </p:nvPr>
        </p:nvSpPr>
        <p:spPr>
          <a:xfrm>
            <a:off x="236383" y="4862154"/>
            <a:ext cx="3657600" cy="355482"/>
          </a:xfrm>
        </p:spPr>
        <p:txBody>
          <a:bodyPr wrap="square">
            <a:spAutoFit/>
          </a:bodyPr>
          <a:lstStyle>
            <a:lvl1pPr marL="0" indent="0">
              <a:buFontTx/>
              <a:buNone/>
              <a:defRPr sz="1800">
                <a:solidFill>
                  <a:schemeClr val="bg1"/>
                </a:solidFill>
              </a:defRPr>
            </a:lvl1pPr>
          </a:lstStyle>
          <a:p>
            <a:pPr lvl="0"/>
            <a:r>
              <a:rPr lang="en-US" dirty="0"/>
              <a:t>Speaker Title</a:t>
            </a:r>
          </a:p>
        </p:txBody>
      </p:sp>
      <p:sp>
        <p:nvSpPr>
          <p:cNvPr id="6" name="Text Placeholder 5"/>
          <p:cNvSpPr>
            <a:spLocks noGrp="1"/>
          </p:cNvSpPr>
          <p:nvPr>
            <p:ph type="body" sz="quarter" idx="11" hasCustomPrompt="1"/>
          </p:nvPr>
        </p:nvSpPr>
        <p:spPr>
          <a:xfrm>
            <a:off x="236382" y="5231003"/>
            <a:ext cx="3657600" cy="297004"/>
          </a:xfrm>
        </p:spPr>
        <p:txBody>
          <a:bodyPr>
            <a:spAutoFit/>
          </a:bodyPr>
          <a:lstStyle>
            <a:lvl1pPr marL="0" indent="0">
              <a:buFontTx/>
              <a:buNone/>
              <a:defRPr sz="1400">
                <a:solidFill>
                  <a:schemeClr val="bg1"/>
                </a:solidFill>
              </a:defRPr>
            </a:lvl1pPr>
          </a:lstStyle>
          <a:p>
            <a:pPr lvl="0"/>
            <a:r>
              <a:rPr lang="en-US" dirty="0"/>
              <a:t>Date</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8" name="Subtitle 2"/>
          <p:cNvSpPr>
            <a:spLocks noGrp="1"/>
          </p:cNvSpPr>
          <p:nvPr>
            <p:ph type="subTitle" idx="1" hasCustomPrompt="1"/>
          </p:nvPr>
        </p:nvSpPr>
        <p:spPr>
          <a:xfrm>
            <a:off x="236382" y="4464066"/>
            <a:ext cx="3657600" cy="384721"/>
          </a:xfrm>
        </p:spPr>
        <p:txBody>
          <a:bodyPr>
            <a:spAutoFit/>
          </a:bodyPr>
          <a:lstStyle>
            <a:lvl1pPr marL="0" marR="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lang="en-US" sz="2000" kern="1200" dirty="0">
                <a:solidFill>
                  <a:schemeClr val="bg1"/>
                </a:solidFill>
                <a:latin typeface="+mj-lt"/>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95000"/>
              </a:lnSpc>
              <a:spcBef>
                <a:spcPct val="20000"/>
              </a:spcBef>
              <a:spcAft>
                <a:spcPts val="0"/>
              </a:spcAft>
              <a:buClr>
                <a:srgbClr val="92D050"/>
              </a:buClr>
              <a:buSzPct val="90000"/>
              <a:buFont typeface="Arial" pitchFamily="34" charset="0"/>
              <a:buNone/>
              <a:tabLst/>
              <a:defRPr/>
            </a:pPr>
            <a:r>
              <a:rPr lang="en-US" dirty="0"/>
              <a:t>Speaker Name</a:t>
            </a:r>
          </a:p>
        </p:txBody>
      </p:sp>
      <p:sp>
        <p:nvSpPr>
          <p:cNvPr id="50" name="Title 1"/>
          <p:cNvSpPr>
            <a:spLocks noGrp="1"/>
          </p:cNvSpPr>
          <p:nvPr>
            <p:ph type="ctrTitle" hasCustomPrompt="1"/>
          </p:nvPr>
        </p:nvSpPr>
        <p:spPr>
          <a:xfrm>
            <a:off x="221393" y="1248229"/>
            <a:ext cx="8112125" cy="2907239"/>
          </a:xfrm>
        </p:spPr>
        <p:txBody>
          <a:bodyPr/>
          <a:lstStyle>
            <a:lvl1pPr algn="l" defTabSz="914400" rtl="0" eaLnBrk="1" latinLnBrk="0" hangingPunct="1">
              <a:lnSpc>
                <a:spcPts val="6200"/>
              </a:lnSpc>
              <a:spcBef>
                <a:spcPct val="0"/>
              </a:spcBef>
              <a:buNone/>
              <a:defRPr lang="en-US" sz="5400" b="0" kern="1200" dirty="0">
                <a:solidFill>
                  <a:schemeClr val="bg1"/>
                </a:solidFill>
                <a:latin typeface="+mj-lt"/>
                <a:ea typeface="+mj-ea"/>
                <a:cs typeface="Arial" pitchFamily="34" charset="0"/>
              </a:defRPr>
            </a:lvl1pPr>
          </a:lstStyle>
          <a:p>
            <a:r>
              <a:rPr lang="en-US" dirty="0"/>
              <a:t>Presentation Title Goes Here</a:t>
            </a:r>
          </a:p>
        </p:txBody>
      </p:sp>
      <p:pic>
        <p:nvPicPr>
          <p:cNvPr id="44"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5912068" y="330200"/>
            <a:ext cx="2889136" cy="480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Placeholder 3"/>
          <p:cNvSpPr>
            <a:spLocks noGrp="1"/>
          </p:cNvSpPr>
          <p:nvPr>
            <p:ph type="body" sz="quarter" idx="10" hasCustomPrompt="1"/>
          </p:nvPr>
        </p:nvSpPr>
        <p:spPr>
          <a:xfrm>
            <a:off x="236383" y="4862154"/>
            <a:ext cx="3657600" cy="355482"/>
          </a:xfrm>
        </p:spPr>
        <p:txBody>
          <a:bodyPr wrap="square">
            <a:spAutoFit/>
          </a:bodyPr>
          <a:lstStyle>
            <a:lvl1pPr marL="0" indent="0">
              <a:buFontTx/>
              <a:buNone/>
              <a:defRPr sz="1800">
                <a:solidFill>
                  <a:schemeClr val="bg1"/>
                </a:solidFill>
              </a:defRPr>
            </a:lvl1pPr>
          </a:lstStyle>
          <a:p>
            <a:pPr lvl="0"/>
            <a:r>
              <a:rPr lang="en-US" dirty="0"/>
              <a:t>Speaker Title</a:t>
            </a:r>
          </a:p>
        </p:txBody>
      </p:sp>
      <p:sp>
        <p:nvSpPr>
          <p:cNvPr id="8" name="Text Placeholder 5"/>
          <p:cNvSpPr>
            <a:spLocks noGrp="1"/>
          </p:cNvSpPr>
          <p:nvPr>
            <p:ph type="body" sz="quarter" idx="11" hasCustomPrompt="1"/>
          </p:nvPr>
        </p:nvSpPr>
        <p:spPr>
          <a:xfrm>
            <a:off x="236382" y="5231003"/>
            <a:ext cx="3657600" cy="297004"/>
          </a:xfrm>
        </p:spPr>
        <p:txBody>
          <a:bodyPr>
            <a:spAutoFit/>
          </a:bodyPr>
          <a:lstStyle>
            <a:lvl1pPr marL="0" indent="0">
              <a:buFontTx/>
              <a:buNone/>
              <a:defRPr sz="1400">
                <a:solidFill>
                  <a:schemeClr val="bg1"/>
                </a:solidFill>
              </a:defRPr>
            </a:lvl1pPr>
          </a:lstStyle>
          <a:p>
            <a:pPr lvl="0"/>
            <a:r>
              <a:rPr lang="en-US" dirty="0"/>
              <a:t>Date</a:t>
            </a:r>
          </a:p>
        </p:txBody>
      </p:sp>
    </p:spTree>
    <p:extLst>
      <p:ext uri="{BB962C8B-B14F-4D97-AF65-F5344CB8AC3E}">
        <p14:creationId xmlns:p14="http://schemas.microsoft.com/office/powerpoint/2010/main" val="1570477232"/>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48" name="Subtitle 2"/>
          <p:cNvSpPr>
            <a:spLocks noGrp="1"/>
          </p:cNvSpPr>
          <p:nvPr>
            <p:ph type="subTitle" idx="1" hasCustomPrompt="1"/>
          </p:nvPr>
        </p:nvSpPr>
        <p:spPr>
          <a:xfrm>
            <a:off x="236383" y="4464066"/>
            <a:ext cx="8110728" cy="384175"/>
          </a:xfrm>
          <a:noFill/>
          <a:ln w="9525">
            <a:noFill/>
            <a:miter lim="800000"/>
            <a:headEnd/>
            <a:tailEnd/>
          </a:ln>
          <a:effectLst/>
          <a:extLst>
            <a:ext uri="{909E8E84-426E-40DD-AFC4-6F175D3DCCD1}">
              <a14:hiddenFill xmlns:a14="http://schemas.microsoft.com/office/drawing/2010/main">
                <a:solidFill>
                  <a:schemeClr val="accent1"/>
                </a:solidFill>
              </a14:hiddenFill>
            </a:ext>
          </a:extLst>
        </p:spPr>
        <p:txBody>
          <a:bodyPr>
            <a:normAutofit/>
          </a:bodyPr>
          <a:lstStyle>
            <a:lvl1pPr marL="0" indent="0" algn="l">
              <a:buNone/>
              <a:defRPr lang="en-US" sz="2000" kern="1200" dirty="0">
                <a:solidFill>
                  <a:srgbClr val="493B93"/>
                </a:solidFill>
                <a:latin typeface="+mj-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lvl="0" indent="0" algn="l" defTabSz="914400" rtl="0" eaLnBrk="1" latinLnBrk="0" hangingPunct="1">
              <a:lnSpc>
                <a:spcPct val="95000"/>
              </a:lnSpc>
              <a:spcBef>
                <a:spcPts val="1440"/>
              </a:spcBef>
              <a:buClr>
                <a:srgbClr val="92D050"/>
              </a:buClr>
              <a:buSzPct val="90000"/>
              <a:buFont typeface="Arial" pitchFamily="34" charset="0"/>
              <a:buNone/>
              <a:tabLst/>
            </a:pPr>
            <a:r>
              <a:rPr lang="en-US" dirty="0"/>
              <a:t>Presenter Name</a:t>
            </a:r>
          </a:p>
        </p:txBody>
      </p:sp>
      <p:sp>
        <p:nvSpPr>
          <p:cNvPr id="50" name="Title 1"/>
          <p:cNvSpPr>
            <a:spLocks noGrp="1"/>
          </p:cNvSpPr>
          <p:nvPr>
            <p:ph type="ctrTitle" hasCustomPrompt="1"/>
          </p:nvPr>
        </p:nvSpPr>
        <p:spPr>
          <a:xfrm>
            <a:off x="221393" y="1248229"/>
            <a:ext cx="8112125" cy="2907239"/>
          </a:xfrm>
        </p:spPr>
        <p:txBody>
          <a:bodyPr/>
          <a:lstStyle>
            <a:lvl1pPr marL="0" indent="0" algn="l" defTabSz="914400" rtl="0" eaLnBrk="1" latinLnBrk="0" hangingPunct="1">
              <a:lnSpc>
                <a:spcPct val="85000"/>
              </a:lnSpc>
              <a:spcBef>
                <a:spcPct val="0"/>
              </a:spcBef>
              <a:buClr>
                <a:schemeClr val="tx1"/>
              </a:buClr>
              <a:buFont typeface="Ciscolight" pitchFamily="2" charset="0"/>
              <a:buNone/>
              <a:defRPr lang="en-US" sz="60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r>
              <a:rPr lang="en-US" dirty="0"/>
              <a:t>Presentation </a:t>
            </a:r>
            <a:br>
              <a:rPr lang="en-US" dirty="0"/>
            </a:br>
            <a:r>
              <a:rPr lang="en-US" dirty="0"/>
              <a:t>Title Goes Here</a:t>
            </a:r>
          </a:p>
        </p:txBody>
      </p:sp>
      <p:pic>
        <p:nvPicPr>
          <p:cNvPr id="51" name="Picture 4"/>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303053" y="325971"/>
            <a:ext cx="2920207" cy="485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Placeholder 3"/>
          <p:cNvSpPr>
            <a:spLocks noGrp="1"/>
          </p:cNvSpPr>
          <p:nvPr>
            <p:ph type="body" sz="quarter" idx="10" hasCustomPrompt="1"/>
          </p:nvPr>
        </p:nvSpPr>
        <p:spPr>
          <a:xfrm>
            <a:off x="236382" y="4862154"/>
            <a:ext cx="8110728" cy="355482"/>
          </a:xfrm>
        </p:spPr>
        <p:txBody>
          <a:bodyPr wrap="square">
            <a:spAutoFit/>
          </a:bodyPr>
          <a:lstStyle>
            <a:lvl1pPr marL="0" indent="0">
              <a:buFontTx/>
              <a:buNone/>
              <a:defRPr sz="1800">
                <a:solidFill>
                  <a:srgbClr val="493B93"/>
                </a:solidFill>
              </a:defRPr>
            </a:lvl1pPr>
          </a:lstStyle>
          <a:p>
            <a:pPr lvl="0"/>
            <a:r>
              <a:rPr lang="en-US" dirty="0"/>
              <a:t>Speaker Title</a:t>
            </a:r>
          </a:p>
        </p:txBody>
      </p:sp>
      <p:sp>
        <p:nvSpPr>
          <p:cNvPr id="6" name="Text Placeholder 5"/>
          <p:cNvSpPr>
            <a:spLocks noGrp="1"/>
          </p:cNvSpPr>
          <p:nvPr>
            <p:ph type="body" sz="quarter" idx="11" hasCustomPrompt="1"/>
          </p:nvPr>
        </p:nvSpPr>
        <p:spPr>
          <a:xfrm>
            <a:off x="236381" y="5231003"/>
            <a:ext cx="8110728" cy="297004"/>
          </a:xfrm>
        </p:spPr>
        <p:txBody>
          <a:bodyPr wrap="square">
            <a:spAutoFit/>
          </a:bodyPr>
          <a:lstStyle>
            <a:lvl1pPr marL="0" indent="0">
              <a:buFontTx/>
              <a:buNone/>
              <a:defRPr sz="1400">
                <a:solidFill>
                  <a:srgbClr val="493B93"/>
                </a:solidFill>
              </a:defRPr>
            </a:lvl1pPr>
          </a:lstStyle>
          <a:p>
            <a:pPr lvl="0"/>
            <a:r>
              <a:rPr lang="en-US" dirty="0"/>
              <a:t>Date</a:t>
            </a: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ternate Title Slide">
    <p:spTree>
      <p:nvGrpSpPr>
        <p:cNvPr id="1" name=""/>
        <p:cNvGrpSpPr/>
        <p:nvPr/>
      </p:nvGrpSpPr>
      <p:grpSpPr>
        <a:xfrm>
          <a:off x="0" y="0"/>
          <a:ext cx="0" cy="0"/>
          <a:chOff x="0" y="0"/>
          <a:chExt cx="0" cy="0"/>
        </a:xfrm>
      </p:grpSpPr>
      <p:sp>
        <p:nvSpPr>
          <p:cNvPr id="50" name="Title 1"/>
          <p:cNvSpPr>
            <a:spLocks noGrp="1"/>
          </p:cNvSpPr>
          <p:nvPr>
            <p:ph type="ctrTitle" hasCustomPrompt="1"/>
          </p:nvPr>
        </p:nvSpPr>
        <p:spPr>
          <a:xfrm>
            <a:off x="221393" y="1248229"/>
            <a:ext cx="8112125" cy="2907239"/>
          </a:xfrm>
        </p:spPr>
        <p:txBody>
          <a:bodyPr/>
          <a:lstStyle>
            <a:lvl1pPr marL="0" indent="0" algn="l" defTabSz="914400" rtl="0" eaLnBrk="1" latinLnBrk="0" hangingPunct="1">
              <a:lnSpc>
                <a:spcPct val="85000"/>
              </a:lnSpc>
              <a:spcBef>
                <a:spcPct val="0"/>
              </a:spcBef>
              <a:buClr>
                <a:schemeClr val="tx1"/>
              </a:buClr>
              <a:buFont typeface="Ciscolight" pitchFamily="2" charset="0"/>
              <a:buNone/>
              <a:defRPr lang="en-US" sz="60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r>
              <a:rPr lang="en-US" dirty="0"/>
              <a:t>Presentation </a:t>
            </a:r>
            <a:br>
              <a:rPr lang="en-US" dirty="0"/>
            </a:br>
            <a:r>
              <a:rPr lang="en-US" dirty="0"/>
              <a:t>Title Goes Here</a:t>
            </a:r>
          </a:p>
        </p:txBody>
      </p:sp>
    </p:spTree>
    <p:extLst>
      <p:ext uri="{BB962C8B-B14F-4D97-AF65-F5344CB8AC3E}">
        <p14:creationId xmlns:p14="http://schemas.microsoft.com/office/powerpoint/2010/main" val="477931373"/>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gue">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33376" y="4712451"/>
            <a:ext cx="8477250" cy="1828800"/>
          </a:xfrm>
          <a:prstGeom prst="rect">
            <a:avLst/>
          </a:prstGeom>
        </p:spPr>
      </p:pic>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21393" y="399142"/>
            <a:ext cx="8548802" cy="4134758"/>
          </a:xfrm>
        </p:spPr>
        <p:txBody>
          <a:bodyPr/>
          <a:lstStyle>
            <a:lvl1pPr algn="l" defTabSz="914400" rtl="0" eaLnBrk="1" latinLnBrk="0" hangingPunct="1">
              <a:lnSpc>
                <a:spcPct val="85000"/>
              </a:lnSpc>
              <a:spcBef>
                <a:spcPct val="0"/>
              </a:spcBef>
              <a:buNone/>
              <a:defRPr lang="en-US" sz="54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a:t>Segue Title Here</a:t>
            </a:r>
          </a:p>
        </p:txBody>
      </p:sp>
      <p:sp>
        <p:nvSpPr>
          <p:cNvPr id="47"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24" name="Rectangle 5"/>
          <p:cNvSpPr>
            <a:spLocks noChangeArrowheads="1"/>
          </p:cNvSpPr>
          <p:nvPr userDrawn="1"/>
        </p:nvSpPr>
        <p:spPr bwMode="ltGray">
          <a:xfrm>
            <a:off x="7763787" y="6584512"/>
            <a:ext cx="592251" cy="175257"/>
          </a:xfrm>
          <a:prstGeom prst="rect">
            <a:avLst/>
          </a:prstGeom>
          <a:noFill/>
          <a:ln w="9525">
            <a:noFill/>
            <a:miter lim="800000"/>
            <a:headEnd/>
            <a:tailEnd/>
          </a:ln>
          <a:effectLst/>
        </p:spPr>
        <p:txBody>
          <a:bodyPr wrap="none" lIns="82124" tIns="41061" rIns="82124" bIns="41061" anchor="b">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Cisco Public</a:t>
            </a: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 2013 Cisco and/or its affiliates. All rights reserved.</a:t>
            </a:r>
          </a:p>
        </p:txBody>
      </p:sp>
      <p:sp>
        <p:nvSpPr>
          <p:cNvPr id="9"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gue 2">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33376" y="4696378"/>
            <a:ext cx="8477250" cy="1844873"/>
          </a:xfrm>
          <a:prstGeom prst="rect">
            <a:avLst/>
          </a:prstGeom>
        </p:spPr>
      </p:pic>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21393" y="399142"/>
            <a:ext cx="8548802" cy="4134758"/>
          </a:xfrm>
        </p:spPr>
        <p:txBody>
          <a:bodyPr/>
          <a:lstStyle>
            <a:lvl1pPr algn="l" defTabSz="914400" rtl="0" eaLnBrk="1" latinLnBrk="0" hangingPunct="1">
              <a:lnSpc>
                <a:spcPct val="85000"/>
              </a:lnSpc>
              <a:spcBef>
                <a:spcPct val="0"/>
              </a:spcBef>
              <a:buNone/>
              <a:defRPr lang="en-US" sz="54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a:t>Segue Title Here</a:t>
            </a:r>
          </a:p>
        </p:txBody>
      </p:sp>
      <p:sp>
        <p:nvSpPr>
          <p:cNvPr id="47"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24" name="Rectangle 5"/>
          <p:cNvSpPr>
            <a:spLocks noChangeArrowheads="1"/>
          </p:cNvSpPr>
          <p:nvPr userDrawn="1"/>
        </p:nvSpPr>
        <p:spPr bwMode="ltGray">
          <a:xfrm>
            <a:off x="7763787" y="6584512"/>
            <a:ext cx="592251" cy="175257"/>
          </a:xfrm>
          <a:prstGeom prst="rect">
            <a:avLst/>
          </a:prstGeom>
        </p:spPr>
        <p:txBody>
          <a:bodyPr wrap="none" lIns="82124" tIns="41061" rIns="82124" bIns="41061" anchor="b">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Cisco Public</a:t>
            </a:r>
          </a:p>
        </p:txBody>
      </p:sp>
      <p:sp>
        <p:nvSpPr>
          <p:cNvPr id="10" name="Rectangle 4"/>
          <p:cNvSpPr>
            <a:spLocks noChangeArrowheads="1"/>
          </p:cNvSpPr>
          <p:nvPr userDrawn="1"/>
        </p:nvSpPr>
        <p:spPr bwMode="ltGray">
          <a:xfrm>
            <a:off x="251373" y="6586246"/>
            <a:ext cx="3420515" cy="175257"/>
          </a:xfrm>
          <a:prstGeom prst="rect">
            <a:avLst/>
          </a:prstGeom>
        </p:spPr>
        <p:txBody>
          <a:bodyPr wrap="square" lIns="82124" tIns="41061" rIns="82124" bIns="41061" anchor="b" anchorCtr="0">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 2013 Cisco and/or its affiliates. All rights reserved.</a:t>
            </a:r>
          </a:p>
        </p:txBody>
      </p:sp>
      <p:sp>
        <p:nvSpPr>
          <p:cNvPr id="12"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extLst>
      <p:ext uri="{BB962C8B-B14F-4D97-AF65-F5344CB8AC3E}">
        <p14:creationId xmlns:p14="http://schemas.microsoft.com/office/powerpoint/2010/main" val="1665715276"/>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 Segue 3">
    <p:spTree>
      <p:nvGrpSpPr>
        <p:cNvPr id="1" name=""/>
        <p:cNvGrpSpPr/>
        <p:nvPr/>
      </p:nvGrpSpPr>
      <p:grpSpPr>
        <a:xfrm>
          <a:off x="0" y="0"/>
          <a:ext cx="0" cy="0"/>
          <a:chOff x="0" y="0"/>
          <a:chExt cx="0" cy="0"/>
        </a:xfrm>
      </p:grpSpPr>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21393" y="399142"/>
            <a:ext cx="8548802" cy="4134758"/>
          </a:xfrm>
        </p:spPr>
        <p:txBody>
          <a:bodyPr/>
          <a:lstStyle>
            <a:lvl1pPr algn="l" defTabSz="914400" rtl="0" eaLnBrk="1" latinLnBrk="0" hangingPunct="1">
              <a:lnSpc>
                <a:spcPct val="85000"/>
              </a:lnSpc>
              <a:spcBef>
                <a:spcPct val="0"/>
              </a:spcBef>
              <a:buNone/>
              <a:defRPr lang="en-US" sz="54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a:t>Segue Title Here</a:t>
            </a:r>
          </a:p>
        </p:txBody>
      </p:sp>
      <p:sp>
        <p:nvSpPr>
          <p:cNvPr id="47"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24" name="Rectangle 5"/>
          <p:cNvSpPr>
            <a:spLocks noChangeArrowheads="1"/>
          </p:cNvSpPr>
          <p:nvPr userDrawn="1"/>
        </p:nvSpPr>
        <p:spPr bwMode="ltGray">
          <a:xfrm>
            <a:off x="7763787" y="6584512"/>
            <a:ext cx="592251" cy="175257"/>
          </a:xfrm>
          <a:prstGeom prst="rect">
            <a:avLst/>
          </a:prstGeom>
          <a:noFill/>
          <a:ln w="9525">
            <a:noFill/>
            <a:miter lim="800000"/>
            <a:headEnd/>
            <a:tailEnd/>
          </a:ln>
          <a:effectLst/>
        </p:spPr>
        <p:txBody>
          <a:bodyPr wrap="none" lIns="82124" tIns="41061" rIns="82124" bIns="41061" anchor="b">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Cisco Public</a:t>
            </a: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marL="0" algn="l" defTabSz="814388" rtl="0" eaLnBrk="1" latinLnBrk="0" hangingPunct="1">
              <a:lnSpc>
                <a:spcPct val="100000"/>
              </a:lnSpc>
            </a:pPr>
            <a:r>
              <a:rPr lang="en-US" sz="600" kern="1200" dirty="0">
                <a:solidFill>
                  <a:srgbClr val="808080"/>
                </a:solidFill>
                <a:latin typeface="+mj-lt"/>
                <a:ea typeface="+mn-ea"/>
                <a:cs typeface="+mn-cs"/>
              </a:rPr>
              <a:t>© 2013 Cisco and/or its affiliates. All rights reserved.</a:t>
            </a:r>
          </a:p>
        </p:txBody>
      </p:sp>
      <p:pic>
        <p:nvPicPr>
          <p:cNvPr id="12" name="Picture 1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33375" y="6380780"/>
            <a:ext cx="8477250" cy="160471"/>
          </a:xfrm>
          <a:prstGeom prst="rect">
            <a:avLst/>
          </a:prstGeom>
          <a:noFill/>
        </p:spPr>
      </p:pic>
      <p:sp>
        <p:nvSpPr>
          <p:cNvPr id="9"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extLst>
      <p:ext uri="{BB962C8B-B14F-4D97-AF65-F5344CB8AC3E}">
        <p14:creationId xmlns:p14="http://schemas.microsoft.com/office/powerpoint/2010/main" val="2987243975"/>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432215"/>
            <a:ext cx="8588861" cy="838200"/>
          </a:xfrm>
        </p:spPr>
        <p:txBody>
          <a:bodyPr/>
          <a:lstStyle>
            <a:lvl1pPr>
              <a:defRPr/>
            </a:lvl1pPr>
          </a:lstStyle>
          <a:p>
            <a:r>
              <a:rPr lang="en-US" dirty="0"/>
              <a:t>Slide Title Goes Here</a:t>
            </a:r>
          </a:p>
        </p:txBody>
      </p:sp>
      <p:sp>
        <p:nvSpPr>
          <p:cNvPr id="4" name="Text Placeholder 3"/>
          <p:cNvSpPr>
            <a:spLocks noGrp="1"/>
          </p:cNvSpPr>
          <p:nvPr>
            <p:ph type="body" sz="quarter" idx="10" hasCustomPrompt="1"/>
          </p:nvPr>
        </p:nvSpPr>
        <p:spPr>
          <a:xfrm>
            <a:off x="228600" y="1344168"/>
            <a:ext cx="8577072" cy="4965192"/>
          </a:xfrm>
        </p:spPr>
        <p:txBody>
          <a:bodyPr vert="horz" lIns="91440" tIns="45720" rIns="91440" bIns="45720" rtlCol="0">
            <a:noAutofit/>
          </a:bodyPr>
          <a:lstStyle>
            <a:lvl1pPr>
              <a:defRPr lang="en-US" sz="2000" dirty="0" smtClean="0"/>
            </a:lvl1pPr>
            <a:lvl2pPr>
              <a:defRPr lang="en-US" dirty="0" smtClean="0"/>
            </a:lvl2pPr>
            <a:lvl3pPr>
              <a:defRPr lang="en-US" dirty="0" smtClean="0"/>
            </a:lvl3pPr>
            <a:lvl4pPr>
              <a:defRPr lang="en-US" dirty="0" smtClean="0"/>
            </a:lvl4pPr>
            <a:lvl5pPr>
              <a:defRPr lang="en-US" dirty="0"/>
            </a:lvl5p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5548096"/>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_Heavy Text">
    <p:spTree>
      <p:nvGrpSpPr>
        <p:cNvPr id="1" name=""/>
        <p:cNvGrpSpPr/>
        <p:nvPr/>
      </p:nvGrpSpPr>
      <p:grpSpPr>
        <a:xfrm>
          <a:off x="0" y="0"/>
          <a:ext cx="0" cy="0"/>
          <a:chOff x="0" y="0"/>
          <a:chExt cx="0" cy="0"/>
        </a:xfrm>
      </p:grpSpPr>
      <p:sp>
        <p:nvSpPr>
          <p:cNvPr id="5" name="Text Placeholder 3"/>
          <p:cNvSpPr>
            <a:spLocks noGrp="1"/>
          </p:cNvSpPr>
          <p:nvPr>
            <p:ph type="body" sz="quarter" idx="11"/>
          </p:nvPr>
        </p:nvSpPr>
        <p:spPr>
          <a:xfrm>
            <a:off x="4706781" y="1339745"/>
            <a:ext cx="4122425" cy="4965700"/>
          </a:xfrm>
        </p:spPr>
        <p:txBody>
          <a:bodyPr>
            <a:normAutofit/>
          </a:bodyPr>
          <a:lstStyle>
            <a:lvl1pPr algn="l" defTabSz="914400" rtl="0" eaLnBrk="1" latinLnBrk="0" hangingPunct="1">
              <a:lnSpc>
                <a:spcPct val="95000"/>
              </a:lnSpc>
              <a:spcBef>
                <a:spcPts val="1480"/>
              </a:spcBef>
              <a:defRPr lang="en-US" sz="1800" kern="1200" dirty="0" smtClean="0">
                <a:solidFill>
                  <a:srgbClr val="435153"/>
                </a:solidFill>
                <a:latin typeface="+mj-lt"/>
                <a:ea typeface="+mn-ea"/>
                <a:cs typeface="+mn-cs"/>
              </a:defRPr>
            </a:lvl1pPr>
            <a:lvl2pPr algn="l" defTabSz="914400" rtl="0" eaLnBrk="1" latinLnBrk="0" hangingPunct="1">
              <a:lnSpc>
                <a:spcPct val="95000"/>
              </a:lnSpc>
              <a:spcBef>
                <a:spcPts val="600"/>
              </a:spcBef>
              <a:defRPr lang="en-US" sz="1400" kern="1200" dirty="0" smtClean="0">
                <a:solidFill>
                  <a:srgbClr val="435153"/>
                </a:solidFill>
                <a:latin typeface="+mj-lt"/>
                <a:ea typeface="+mn-ea"/>
                <a:cs typeface="+mn-cs"/>
              </a:defRPr>
            </a:lvl2pPr>
            <a:lvl3pPr marL="569912" indent="0" algn="l" defTabSz="914400" rtl="0" eaLnBrk="1" latinLnBrk="0" hangingPunct="1">
              <a:lnSpc>
                <a:spcPct val="95000"/>
              </a:lnSpc>
              <a:defRPr lang="en-US" sz="1400" kern="1200" dirty="0" smtClean="0">
                <a:solidFill>
                  <a:srgbClr val="435153"/>
                </a:solidFill>
                <a:latin typeface="+mj-lt"/>
                <a:ea typeface="+mn-ea"/>
                <a:cs typeface="+mn-cs"/>
              </a:defRPr>
            </a:lvl3pPr>
            <a:lvl4pPr algn="l" defTabSz="914400" rtl="0" eaLnBrk="1" latinLnBrk="0" hangingPunct="1">
              <a:lnSpc>
                <a:spcPct val="95000"/>
              </a:lnSpc>
              <a:defRPr lang="en-US" sz="1400" kern="1200" dirty="0" smtClean="0">
                <a:solidFill>
                  <a:srgbClr val="435153"/>
                </a:solidFill>
                <a:latin typeface="+mj-lt"/>
                <a:ea typeface="+mn-ea"/>
                <a:cs typeface="+mn-cs"/>
              </a:defRPr>
            </a:lvl4pPr>
            <a:lvl5pPr algn="l" defTabSz="914400" rtl="0" eaLnBrk="1" latinLnBrk="0" hangingPunct="1">
              <a:lnSpc>
                <a:spcPct val="95000"/>
              </a:lnSpc>
              <a:defRPr lang="en-US" sz="1400" kern="1200" dirty="0">
                <a:solidFill>
                  <a:srgbClr val="435153"/>
                </a:solidFill>
                <a:latin typeface="+mj-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1"/>
          <p:cNvSpPr>
            <a:spLocks noGrp="1"/>
          </p:cNvSpPr>
          <p:nvPr>
            <p:ph type="title"/>
          </p:nvPr>
        </p:nvSpPr>
        <p:spPr>
          <a:xfrm>
            <a:off x="229702" y="432215"/>
            <a:ext cx="8588861" cy="838200"/>
          </a:xfrm>
          <a:prstGeom prst="rect">
            <a:avLst/>
          </a:prstGeom>
        </p:spPr>
        <p:txBody>
          <a:bodyPr vert="horz" lIns="82296" tIns="45720" rIns="82296" bIns="45720" rtlCol="0" anchor="b" anchorCtr="0">
            <a:noAutofit/>
          </a:bodyPr>
          <a:lstStyle/>
          <a:p>
            <a:pPr lvl="0" algn="l" defTabSz="914400" rtl="0" eaLnBrk="1" latinLnBrk="0" hangingPunct="1">
              <a:lnSpc>
                <a:spcPct val="80000"/>
              </a:lnSpc>
              <a:spcBef>
                <a:spcPct val="0"/>
              </a:spcBef>
              <a:buNone/>
            </a:pPr>
            <a:r>
              <a:rPr lang="en-US" dirty="0"/>
              <a:t>Click to edit Master title style</a:t>
            </a:r>
          </a:p>
        </p:txBody>
      </p:sp>
      <p:sp>
        <p:nvSpPr>
          <p:cNvPr id="8" name="Text Placeholder 3"/>
          <p:cNvSpPr>
            <a:spLocks noGrp="1"/>
          </p:cNvSpPr>
          <p:nvPr>
            <p:ph type="body" sz="quarter" idx="12"/>
          </p:nvPr>
        </p:nvSpPr>
        <p:spPr>
          <a:xfrm>
            <a:off x="229702" y="1339745"/>
            <a:ext cx="4122425" cy="4965700"/>
          </a:xfrm>
        </p:spPr>
        <p:txBody>
          <a:bodyPr>
            <a:normAutofit/>
          </a:bodyPr>
          <a:lstStyle>
            <a:lvl1pPr algn="l" defTabSz="914400" rtl="0" eaLnBrk="1" latinLnBrk="0" hangingPunct="1">
              <a:lnSpc>
                <a:spcPct val="95000"/>
              </a:lnSpc>
              <a:spcBef>
                <a:spcPts val="1480"/>
              </a:spcBef>
              <a:defRPr lang="en-US" sz="1800" kern="1200" dirty="0" smtClean="0">
                <a:solidFill>
                  <a:srgbClr val="435153"/>
                </a:solidFill>
                <a:latin typeface="+mj-lt"/>
                <a:ea typeface="+mn-ea"/>
                <a:cs typeface="+mn-cs"/>
              </a:defRPr>
            </a:lvl1pPr>
            <a:lvl2pPr algn="l" defTabSz="914400" rtl="0" eaLnBrk="1" latinLnBrk="0" hangingPunct="1">
              <a:lnSpc>
                <a:spcPct val="95000"/>
              </a:lnSpc>
              <a:spcBef>
                <a:spcPts val="600"/>
              </a:spcBef>
              <a:defRPr lang="en-US" sz="1400" kern="1200" dirty="0" smtClean="0">
                <a:solidFill>
                  <a:srgbClr val="435153"/>
                </a:solidFill>
                <a:latin typeface="+mj-lt"/>
                <a:ea typeface="+mn-ea"/>
                <a:cs typeface="+mn-cs"/>
              </a:defRPr>
            </a:lvl2pPr>
            <a:lvl3pPr marL="569912" indent="0" algn="l" defTabSz="914400" rtl="0" eaLnBrk="1" latinLnBrk="0" hangingPunct="1">
              <a:lnSpc>
                <a:spcPct val="95000"/>
              </a:lnSpc>
              <a:defRPr lang="en-US" sz="1400" kern="1200" dirty="0" smtClean="0">
                <a:solidFill>
                  <a:srgbClr val="435153"/>
                </a:solidFill>
                <a:latin typeface="+mj-lt"/>
                <a:ea typeface="+mn-ea"/>
                <a:cs typeface="+mn-cs"/>
              </a:defRPr>
            </a:lvl3pPr>
            <a:lvl4pPr algn="l" defTabSz="914400" rtl="0" eaLnBrk="1" latinLnBrk="0" hangingPunct="1">
              <a:lnSpc>
                <a:spcPct val="95000"/>
              </a:lnSpc>
              <a:defRPr lang="en-US" sz="1400" kern="1200" dirty="0" smtClean="0">
                <a:solidFill>
                  <a:srgbClr val="435153"/>
                </a:solidFill>
                <a:latin typeface="+mj-lt"/>
                <a:ea typeface="+mn-ea"/>
                <a:cs typeface="+mn-cs"/>
              </a:defRPr>
            </a:lvl4pPr>
            <a:lvl5pPr algn="l" defTabSz="914400" rtl="0" eaLnBrk="1" latinLnBrk="0" hangingPunct="1">
              <a:lnSpc>
                <a:spcPct val="95000"/>
              </a:lnSpc>
              <a:defRPr lang="en-US" sz="1400" kern="1200" dirty="0">
                <a:solidFill>
                  <a:srgbClr val="435153"/>
                </a:solidFill>
                <a:latin typeface="+mj-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 with pull quot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39713" y="1339745"/>
            <a:ext cx="4103687" cy="4965700"/>
          </a:xfrm>
        </p:spPr>
        <p:txBody>
          <a:bodyPr/>
          <a:lstStyle>
            <a:lvl1pPr>
              <a:lnSpc>
                <a:spcPct val="95000"/>
              </a:lnSpc>
              <a:spcBef>
                <a:spcPts val="1480"/>
              </a:spcBef>
              <a:defRPr sz="2200">
                <a:solidFill>
                  <a:srgbClr val="435153"/>
                </a:solidFill>
                <a:latin typeface="+mj-lt"/>
              </a:defRPr>
            </a:lvl1pPr>
            <a:lvl2pPr>
              <a:lnSpc>
                <a:spcPct val="95000"/>
              </a:lnSpc>
              <a:spcBef>
                <a:spcPts val="600"/>
              </a:spcBef>
              <a:defRPr>
                <a:solidFill>
                  <a:srgbClr val="435153"/>
                </a:solidFill>
                <a:latin typeface="+mj-lt"/>
              </a:defRPr>
            </a:lvl2pPr>
            <a:lvl3pPr>
              <a:defRPr>
                <a:solidFill>
                  <a:srgbClr val="435153"/>
                </a:solidFill>
                <a:latin typeface="+mj-lt"/>
              </a:defRPr>
            </a:lvl3pPr>
            <a:lvl4pPr>
              <a:defRPr>
                <a:solidFill>
                  <a:srgbClr val="435153"/>
                </a:solidFill>
                <a:latin typeface="+mj-lt"/>
              </a:defRPr>
            </a:lvl4pPr>
            <a:lvl5pPr>
              <a:defRPr>
                <a:solidFill>
                  <a:srgbClr val="435153"/>
                </a:solidFill>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5"/>
          <p:cNvSpPr>
            <a:spLocks noGrp="1"/>
          </p:cNvSpPr>
          <p:nvPr>
            <p:ph type="title"/>
          </p:nvPr>
        </p:nvSpPr>
        <p:spPr>
          <a:xfrm>
            <a:off x="229702" y="432215"/>
            <a:ext cx="8588861" cy="838200"/>
          </a:xfrm>
        </p:spPr>
        <p:txBody>
          <a:bodyPr/>
          <a:lstStyle/>
          <a:p>
            <a:r>
              <a:rPr lang="en-US" dirty="0"/>
              <a:t>Click to edit Master title style</a:t>
            </a:r>
          </a:p>
        </p:txBody>
      </p:sp>
      <p:sp>
        <p:nvSpPr>
          <p:cNvPr id="10" name="Rounded Rectangle 9"/>
          <p:cNvSpPr/>
          <p:nvPr userDrawn="1"/>
        </p:nvSpPr>
        <p:spPr>
          <a:xfrm>
            <a:off x="4984231" y="1416140"/>
            <a:ext cx="3759720" cy="4599033"/>
          </a:xfrm>
          <a:prstGeom prst="roundRect">
            <a:avLst>
              <a:gd name="adj" fmla="val 0"/>
            </a:avLst>
          </a:prstGeom>
          <a:gradFill flip="none" rotWithShape="1">
            <a:gsLst>
              <a:gs pos="0">
                <a:schemeClr val="tx1">
                  <a:lumMod val="20000"/>
                  <a:lumOff val="80000"/>
                </a:schemeClr>
              </a:gs>
              <a:gs pos="47000">
                <a:schemeClr val="bg1"/>
              </a:gs>
              <a:gs pos="100000">
                <a:srgbClr val="EDDFF5"/>
              </a:gs>
            </a:gsLst>
            <a:lin ang="2700000" scaled="1"/>
            <a:tileRect/>
          </a:gradFill>
          <a:ln>
            <a:noFill/>
          </a:ln>
          <a:effectLst>
            <a:outerShdw blurRad="1143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sp>
        <p:nvSpPr>
          <p:cNvPr id="15" name="Text Placeholder 3"/>
          <p:cNvSpPr>
            <a:spLocks noGrp="1"/>
          </p:cNvSpPr>
          <p:nvPr>
            <p:ph type="body" sz="quarter" idx="15"/>
          </p:nvPr>
        </p:nvSpPr>
        <p:spPr>
          <a:xfrm>
            <a:off x="5221224" y="1747683"/>
            <a:ext cx="3236976" cy="1900292"/>
          </a:xfrm>
        </p:spPr>
        <p:txBody>
          <a:bodyPr/>
          <a:lstStyle>
            <a:lvl1pPr marL="114300" indent="-114300">
              <a:buFontTx/>
              <a:buNone/>
              <a:defRPr sz="2000"/>
            </a:lvl1pPr>
          </a:lstStyle>
          <a:p>
            <a:pPr lvl="0"/>
            <a:r>
              <a:rPr lang="en-US" dirty="0"/>
              <a:t>Click to edit Master text styles</a:t>
            </a:r>
          </a:p>
        </p:txBody>
      </p:sp>
      <p:sp>
        <p:nvSpPr>
          <p:cNvPr id="17" name="Text Placeholder 21"/>
          <p:cNvSpPr>
            <a:spLocks noGrp="1"/>
          </p:cNvSpPr>
          <p:nvPr>
            <p:ph type="body" sz="quarter" idx="16"/>
          </p:nvPr>
        </p:nvSpPr>
        <p:spPr>
          <a:xfrm>
            <a:off x="5310124" y="4876800"/>
            <a:ext cx="3044497" cy="326243"/>
          </a:xfrm>
        </p:spPr>
        <p:txBody>
          <a:bodyPr wrap="square">
            <a:spAutoFit/>
          </a:bodyPr>
          <a:lstStyle>
            <a:lvl1pPr marL="0" indent="0">
              <a:buFontTx/>
              <a:buNone/>
              <a:defRPr sz="1600"/>
            </a:lvl1pPr>
          </a:lstStyle>
          <a:p>
            <a:pPr lvl="0"/>
            <a:r>
              <a:rPr lang="en-US"/>
              <a:t>Click to edit Master text styles</a:t>
            </a:r>
          </a:p>
        </p:txBody>
      </p:sp>
      <p:cxnSp>
        <p:nvCxnSpPr>
          <p:cNvPr id="19" name="Straight Connector 18"/>
          <p:cNvCxnSpPr/>
          <p:nvPr userDrawn="1"/>
        </p:nvCxnSpPr>
        <p:spPr>
          <a:xfrm flipH="1">
            <a:off x="4990141" y="1335313"/>
            <a:ext cx="1" cy="4760687"/>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87332592"/>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ullet_2-Column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301752"/>
            <a:ext cx="4123944" cy="838200"/>
          </a:xfrm>
        </p:spPr>
        <p:txBody>
          <a:bodyPr vert="horz" lIns="82296" tIns="45720" rIns="82296" bIns="45720" rtlCol="0" anchor="t"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a:t>Two Column</a:t>
            </a:r>
            <a:br>
              <a:rPr lang="en-US" dirty="0"/>
            </a:br>
            <a:r>
              <a:rPr lang="en-US" dirty="0"/>
              <a:t>Title Left</a:t>
            </a:r>
          </a:p>
        </p:txBody>
      </p:sp>
      <p:sp>
        <p:nvSpPr>
          <p:cNvPr id="9" name="Text Placeholder 8"/>
          <p:cNvSpPr>
            <a:spLocks noGrp="1"/>
          </p:cNvSpPr>
          <p:nvPr>
            <p:ph type="body" sz="quarter" idx="11" hasCustomPrompt="1"/>
          </p:nvPr>
        </p:nvSpPr>
        <p:spPr>
          <a:xfrm>
            <a:off x="219455" y="1600200"/>
            <a:ext cx="4142232" cy="4526280"/>
          </a:xfrm>
        </p:spPr>
        <p:txBody>
          <a:bodyPr/>
          <a:lstStyle>
            <a:lvl1pPr marL="0" indent="0">
              <a:buNone/>
              <a:defRPr>
                <a:solidFill>
                  <a:schemeClr val="tx2"/>
                </a:solidFill>
                <a:latin typeface="+mj-lt"/>
              </a:defRPr>
            </a:lvl1pPr>
            <a:lvl2pPr marL="406400" indent="0">
              <a:buClr>
                <a:schemeClr val="accent5"/>
              </a:buClr>
              <a:buFontTx/>
              <a:buNone/>
              <a:tabLst/>
              <a:defRPr>
                <a:solidFill>
                  <a:schemeClr val="tx2"/>
                </a:solidFill>
                <a:latin typeface="+mj-lt"/>
              </a:defRPr>
            </a:lvl2pPr>
          </a:lstStyle>
          <a:p>
            <a:pPr lvl="0"/>
            <a:r>
              <a:rPr lang="en-US" dirty="0"/>
              <a:t>Body copy uses sentence capital letters only, size 20, left aligned</a:t>
            </a:r>
          </a:p>
          <a:p>
            <a:pPr lvl="1"/>
            <a:r>
              <a:rPr lang="en-US" dirty="0"/>
              <a:t>Sub-bullets are size 18 </a:t>
            </a:r>
            <a:br>
              <a:rPr lang="en-US" dirty="0"/>
            </a:br>
            <a:r>
              <a:rPr lang="en-US" dirty="0"/>
              <a:t>and indented</a:t>
            </a:r>
          </a:p>
          <a:p>
            <a:pPr lvl="1"/>
            <a:r>
              <a:rPr lang="en-US" dirty="0"/>
              <a:t>Hyperlink: www.cisco.com </a:t>
            </a:r>
          </a:p>
          <a:p>
            <a:pPr lvl="0"/>
            <a:r>
              <a:rPr lang="en-US" dirty="0"/>
              <a:t>Use Cisco highlight color, bold, or both when emphasizing words, </a:t>
            </a:r>
            <a:br>
              <a:rPr lang="en-US" dirty="0"/>
            </a:br>
            <a:r>
              <a:rPr lang="en-US" dirty="0"/>
              <a:t>do not italicize; use yellow on the </a:t>
            </a:r>
            <a:br>
              <a:rPr lang="en-US" dirty="0"/>
            </a:br>
            <a:r>
              <a:rPr lang="en-US" dirty="0"/>
              <a:t>black template and red for the white template</a:t>
            </a:r>
          </a:p>
        </p:txBody>
      </p:sp>
      <p:sp>
        <p:nvSpPr>
          <p:cNvPr id="12" name="Text Placeholder 11"/>
          <p:cNvSpPr>
            <a:spLocks noGrp="1"/>
          </p:cNvSpPr>
          <p:nvPr>
            <p:ph type="body" sz="quarter" idx="12" hasCustomPrompt="1"/>
          </p:nvPr>
        </p:nvSpPr>
        <p:spPr>
          <a:xfrm>
            <a:off x="4818888" y="1600200"/>
            <a:ext cx="4005072" cy="4526280"/>
          </a:xfrm>
        </p:spPr>
        <p:txBody>
          <a:bodyPr/>
          <a:lstStyle>
            <a:lvl1pPr marL="0" indent="0">
              <a:buFontTx/>
              <a:buNone/>
              <a:defRPr>
                <a:solidFill>
                  <a:schemeClr val="tx1"/>
                </a:solidFill>
                <a:latin typeface="+mj-lt"/>
              </a:defRPr>
            </a:lvl1pPr>
            <a:lvl2pPr marL="406400" indent="0">
              <a:buClr>
                <a:schemeClr val="accent1">
                  <a:lumMod val="40000"/>
                  <a:lumOff val="60000"/>
                </a:schemeClr>
              </a:buClr>
              <a:buFont typeface="Arial" pitchFamily="34" charset="0"/>
              <a:buNone/>
              <a:defRPr>
                <a:solidFill>
                  <a:schemeClr val="tx1"/>
                </a:solidFill>
                <a:latin typeface="+mj-lt"/>
              </a:defRPr>
            </a:lvl2pPr>
          </a:lstStyle>
          <a:p>
            <a:pPr lvl="0"/>
            <a:r>
              <a:rPr lang="en-US" dirty="0"/>
              <a:t>Body copy uses sentence capital letters only, size 20, left aligned</a:t>
            </a:r>
          </a:p>
          <a:p>
            <a:pPr lvl="1"/>
            <a:r>
              <a:rPr lang="en-US" dirty="0"/>
              <a:t>Sub-bullets are size 18 </a:t>
            </a:r>
            <a:br>
              <a:rPr lang="en-US" dirty="0"/>
            </a:br>
            <a:r>
              <a:rPr lang="en-US" dirty="0"/>
              <a:t>and indented</a:t>
            </a:r>
          </a:p>
          <a:p>
            <a:pPr lvl="1"/>
            <a:r>
              <a:rPr lang="en-US" dirty="0"/>
              <a:t>Hyperlink: www.cisco.com </a:t>
            </a:r>
          </a:p>
          <a:p>
            <a:pPr lvl="0"/>
            <a:r>
              <a:rPr lang="en-US" dirty="0"/>
              <a:t>Use Cisco highlight color, bold, or both when emphasizing words, do not italicize; use yellow on the black template and red for the white template</a:t>
            </a:r>
          </a:p>
        </p:txBody>
      </p:sp>
      <p:sp>
        <p:nvSpPr>
          <p:cNvPr id="4" name="Text Placeholder 3"/>
          <p:cNvSpPr>
            <a:spLocks noGrp="1"/>
          </p:cNvSpPr>
          <p:nvPr>
            <p:ph type="body" sz="quarter" idx="13" hasCustomPrompt="1"/>
          </p:nvPr>
        </p:nvSpPr>
        <p:spPr>
          <a:xfrm>
            <a:off x="4818887" y="301752"/>
            <a:ext cx="3951308" cy="838200"/>
          </a:xfrm>
        </p:spPr>
        <p:txBody>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600" b="0" i="0" u="none" strike="noStrike" kern="1200" cap="none" spc="0" normalizeH="0" baseline="0" noProof="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sz="3600" b="0" i="0" u="none" strike="noStrike" kern="1200" cap="none" spc="0" normalizeH="0" baseline="0" noProof="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rPr>
              <a:t>Two Column</a:t>
            </a:r>
            <a:br>
              <a:rPr kumimoji="0" lang="en-US" sz="3600" b="0" i="0" u="none" strike="noStrike" kern="1200" cap="none" spc="0" normalizeH="0" baseline="0" noProof="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rPr>
            </a:br>
            <a:r>
              <a:rPr kumimoji="0" lang="en-US" sz="3600" b="0" i="0" u="none" strike="noStrike" kern="1200" cap="none" spc="0" normalizeH="0" baseline="0" noProof="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rPr>
              <a:t>Title Right</a:t>
            </a:r>
          </a:p>
        </p:txBody>
      </p:sp>
      <p:cxnSp>
        <p:nvCxnSpPr>
          <p:cNvPr id="14" name="Straight Connector 13"/>
          <p:cNvCxnSpPr/>
          <p:nvPr userDrawn="1"/>
        </p:nvCxnSpPr>
        <p:spPr>
          <a:xfrm>
            <a:off x="4486587" y="777667"/>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_3-Column Layout No Bottom Bar">
    <p:spTree>
      <p:nvGrpSpPr>
        <p:cNvPr id="1" name=""/>
        <p:cNvGrpSpPr/>
        <p:nvPr/>
      </p:nvGrpSpPr>
      <p:grpSpPr>
        <a:xfrm>
          <a:off x="0" y="0"/>
          <a:ext cx="0" cy="0"/>
          <a:chOff x="0" y="0"/>
          <a:chExt cx="0" cy="0"/>
        </a:xfrm>
      </p:grpSpPr>
      <p:sp>
        <p:nvSpPr>
          <p:cNvPr id="13" name="Text Placeholder 12"/>
          <p:cNvSpPr>
            <a:spLocks noGrp="1"/>
          </p:cNvSpPr>
          <p:nvPr>
            <p:ph type="body" sz="quarter" idx="14"/>
          </p:nvPr>
        </p:nvSpPr>
        <p:spPr>
          <a:xfrm>
            <a:off x="244475" y="1866900"/>
            <a:ext cx="2622550" cy="4391025"/>
          </a:xfrm>
        </p:spPr>
        <p:txBody>
          <a:bodyPr/>
          <a:lstStyle>
            <a:lvl1pPr algn="l" defTabSz="914400" rtl="0" eaLnBrk="1" latinLnBrk="0" hangingPunct="1">
              <a:lnSpc>
                <a:spcPct val="95000"/>
              </a:lnSpc>
              <a:defRPr lang="en-US" sz="2000" kern="1200" dirty="0" smtClean="0">
                <a:solidFill>
                  <a:srgbClr val="435153"/>
                </a:solidFill>
                <a:latin typeface="+mj-lt"/>
                <a:ea typeface="+mn-ea"/>
                <a:cs typeface="+mn-cs"/>
              </a:defRPr>
            </a:lvl1pPr>
            <a:lvl2pPr algn="l" defTabSz="914400" rtl="0" eaLnBrk="1" latinLnBrk="0" hangingPunct="1">
              <a:lnSpc>
                <a:spcPct val="95000"/>
              </a:lnSpc>
              <a:defRPr lang="en-US" sz="1600" kern="1200" dirty="0" smtClean="0">
                <a:solidFill>
                  <a:srgbClr val="435153"/>
                </a:solidFill>
                <a:latin typeface="+mj-lt"/>
                <a:ea typeface="+mn-ea"/>
                <a:cs typeface="Arial" pitchFamily="34" charset="0"/>
              </a:defRPr>
            </a:lvl2pPr>
            <a:lvl3pPr marL="569912" indent="0" algn="l" defTabSz="914400" rtl="0" eaLnBrk="1" latinLnBrk="0" hangingPunct="1">
              <a:lnSpc>
                <a:spcPct val="95000"/>
              </a:lnSpc>
              <a:defRPr lang="en-US" sz="1400" kern="1200" dirty="0" smtClean="0">
                <a:solidFill>
                  <a:srgbClr val="435153"/>
                </a:solidFill>
                <a:latin typeface="+mj-lt"/>
                <a:ea typeface="+mn-ea"/>
                <a:cs typeface="Arial" pitchFamily="34" charset="0"/>
              </a:defRPr>
            </a:lvl3pPr>
            <a:lvl4pPr algn="l" defTabSz="914400" rtl="0" eaLnBrk="1" latinLnBrk="0" hangingPunct="1">
              <a:lnSpc>
                <a:spcPct val="95000"/>
              </a:lnSpc>
              <a:defRPr lang="en-US" sz="1200" kern="1200" dirty="0" smtClean="0">
                <a:solidFill>
                  <a:srgbClr val="435153"/>
                </a:solidFill>
                <a:latin typeface="+mj-lt"/>
                <a:ea typeface="+mn-ea"/>
                <a:cs typeface="Arial" pitchFamily="34" charset="0"/>
              </a:defRPr>
            </a:lvl4pPr>
            <a:lvl5pPr algn="l" defTabSz="914400" rtl="0" eaLnBrk="1" latinLnBrk="0" hangingPunct="1">
              <a:lnSpc>
                <a:spcPct val="95000"/>
              </a:lnSpc>
              <a:defRPr lang="en-US" sz="1200" kern="1200" dirty="0">
                <a:solidFill>
                  <a:srgbClr val="435153"/>
                </a:solidFill>
                <a:latin typeface="+mj-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2"/>
          <p:cNvSpPr>
            <a:spLocks noGrp="1"/>
          </p:cNvSpPr>
          <p:nvPr>
            <p:ph type="body" sz="quarter" idx="15"/>
          </p:nvPr>
        </p:nvSpPr>
        <p:spPr>
          <a:xfrm>
            <a:off x="3292474" y="1866900"/>
            <a:ext cx="2593975" cy="4362450"/>
          </a:xfrm>
        </p:spPr>
        <p:txBody>
          <a:bodyPr/>
          <a:lstStyle>
            <a:lvl1pPr algn="l" defTabSz="914400" rtl="0" eaLnBrk="1" latinLnBrk="0" hangingPunct="1">
              <a:lnSpc>
                <a:spcPct val="95000"/>
              </a:lnSpc>
              <a:defRPr lang="en-US" sz="2000" kern="1200" dirty="0" smtClean="0">
                <a:solidFill>
                  <a:srgbClr val="435153"/>
                </a:solidFill>
                <a:latin typeface="+mj-lt"/>
                <a:ea typeface="+mn-ea"/>
                <a:cs typeface="+mn-cs"/>
              </a:defRPr>
            </a:lvl1pPr>
            <a:lvl2pPr algn="l" defTabSz="914400" rtl="0" eaLnBrk="1" latinLnBrk="0" hangingPunct="1">
              <a:lnSpc>
                <a:spcPct val="95000"/>
              </a:lnSpc>
              <a:defRPr lang="en-US" sz="1600" kern="1200" dirty="0" smtClean="0">
                <a:solidFill>
                  <a:srgbClr val="435153"/>
                </a:solidFill>
                <a:latin typeface="+mj-lt"/>
                <a:ea typeface="+mn-ea"/>
                <a:cs typeface="Arial" pitchFamily="34" charset="0"/>
              </a:defRPr>
            </a:lvl2pPr>
            <a:lvl3pPr marL="569912" indent="0" algn="l" defTabSz="914400" rtl="0" eaLnBrk="1" latinLnBrk="0" hangingPunct="1">
              <a:lnSpc>
                <a:spcPct val="95000"/>
              </a:lnSpc>
              <a:defRPr lang="en-US" sz="1400" kern="1200" dirty="0" smtClean="0">
                <a:solidFill>
                  <a:srgbClr val="435153"/>
                </a:solidFill>
                <a:latin typeface="+mj-lt"/>
                <a:ea typeface="+mn-ea"/>
                <a:cs typeface="Arial" pitchFamily="34" charset="0"/>
              </a:defRPr>
            </a:lvl3pPr>
            <a:lvl4pPr algn="l" defTabSz="914400" rtl="0" eaLnBrk="1" latinLnBrk="0" hangingPunct="1">
              <a:lnSpc>
                <a:spcPct val="95000"/>
              </a:lnSpc>
              <a:defRPr lang="en-US" sz="1200" kern="1200" dirty="0" smtClean="0">
                <a:solidFill>
                  <a:srgbClr val="435153"/>
                </a:solidFill>
                <a:latin typeface="+mj-lt"/>
                <a:ea typeface="+mn-ea"/>
                <a:cs typeface="Arial" pitchFamily="34" charset="0"/>
              </a:defRPr>
            </a:lvl4pPr>
            <a:lvl5pPr algn="l" defTabSz="914400" rtl="0" eaLnBrk="1" latinLnBrk="0" hangingPunct="1">
              <a:lnSpc>
                <a:spcPct val="95000"/>
              </a:lnSpc>
              <a:defRPr lang="en-US" sz="1200" kern="1200" dirty="0">
                <a:solidFill>
                  <a:srgbClr val="435153"/>
                </a:solidFill>
                <a:latin typeface="+mj-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2"/>
          <p:cNvSpPr>
            <a:spLocks noGrp="1"/>
          </p:cNvSpPr>
          <p:nvPr>
            <p:ph type="body" sz="quarter" idx="16"/>
          </p:nvPr>
        </p:nvSpPr>
        <p:spPr>
          <a:xfrm>
            <a:off x="6275388" y="1866900"/>
            <a:ext cx="2633662" cy="4333875"/>
          </a:xfrm>
        </p:spPr>
        <p:txBody>
          <a:bodyPr/>
          <a:lstStyle>
            <a:lvl1pPr algn="l" defTabSz="914400" rtl="0" eaLnBrk="1" latinLnBrk="0" hangingPunct="1">
              <a:lnSpc>
                <a:spcPct val="95000"/>
              </a:lnSpc>
              <a:defRPr lang="en-US" sz="2000" kern="1200" dirty="0" smtClean="0">
                <a:solidFill>
                  <a:srgbClr val="435153"/>
                </a:solidFill>
                <a:latin typeface="+mj-lt"/>
                <a:ea typeface="+mn-ea"/>
                <a:cs typeface="+mn-cs"/>
              </a:defRPr>
            </a:lvl1pPr>
            <a:lvl2pPr algn="l" defTabSz="914400" rtl="0" eaLnBrk="1" latinLnBrk="0" hangingPunct="1">
              <a:lnSpc>
                <a:spcPct val="95000"/>
              </a:lnSpc>
              <a:defRPr lang="en-US" sz="1600" kern="1200" dirty="0" smtClean="0">
                <a:solidFill>
                  <a:srgbClr val="435153"/>
                </a:solidFill>
                <a:latin typeface="+mj-lt"/>
                <a:ea typeface="+mn-ea"/>
                <a:cs typeface="Arial" pitchFamily="34" charset="0"/>
              </a:defRPr>
            </a:lvl2pPr>
            <a:lvl3pPr marL="569912" indent="0" algn="l" defTabSz="914400" rtl="0" eaLnBrk="1" latinLnBrk="0" hangingPunct="1">
              <a:lnSpc>
                <a:spcPct val="95000"/>
              </a:lnSpc>
              <a:defRPr lang="en-US" sz="1400" kern="1200" dirty="0" smtClean="0">
                <a:solidFill>
                  <a:srgbClr val="435153"/>
                </a:solidFill>
                <a:latin typeface="+mj-lt"/>
                <a:ea typeface="+mn-ea"/>
                <a:cs typeface="Arial" pitchFamily="34" charset="0"/>
              </a:defRPr>
            </a:lvl3pPr>
            <a:lvl4pPr algn="l" defTabSz="914400" rtl="0" eaLnBrk="1" latinLnBrk="0" hangingPunct="1">
              <a:lnSpc>
                <a:spcPct val="95000"/>
              </a:lnSpc>
              <a:defRPr lang="en-US" sz="1200" kern="1200" dirty="0" smtClean="0">
                <a:solidFill>
                  <a:srgbClr val="435153"/>
                </a:solidFill>
                <a:latin typeface="+mj-lt"/>
                <a:ea typeface="+mn-ea"/>
                <a:cs typeface="Arial" pitchFamily="34" charset="0"/>
              </a:defRPr>
            </a:lvl4pPr>
            <a:lvl5pPr algn="l" defTabSz="914400" rtl="0" eaLnBrk="1" latinLnBrk="0" hangingPunct="1">
              <a:lnSpc>
                <a:spcPct val="95000"/>
              </a:lnSpc>
              <a:defRPr lang="en-US" sz="1200" kern="1200" dirty="0">
                <a:solidFill>
                  <a:srgbClr val="435153"/>
                </a:solidFill>
                <a:latin typeface="+mj-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p:cNvSpPr>
            <a:spLocks noGrp="1" noChangeAspect="1"/>
          </p:cNvSpPr>
          <p:nvPr>
            <p:ph type="body" sz="quarter" idx="17"/>
          </p:nvPr>
        </p:nvSpPr>
        <p:spPr>
          <a:xfrm>
            <a:off x="219456" y="319099"/>
            <a:ext cx="2670048" cy="1200329"/>
          </a:xfrm>
        </p:spPr>
        <p:txBody>
          <a:bodyPr anchor="b" anchorCtr="0">
            <a:sp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000" b="0" i="0" u="none" strike="noStrike" kern="1200" cap="none" spc="0" normalizeH="0" baseline="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a:t>Click to edit Master text styles</a:t>
            </a:r>
          </a:p>
        </p:txBody>
      </p:sp>
      <p:sp>
        <p:nvSpPr>
          <p:cNvPr id="22" name="Text Placeholder 20"/>
          <p:cNvSpPr>
            <a:spLocks noGrp="1"/>
          </p:cNvSpPr>
          <p:nvPr>
            <p:ph type="body" sz="quarter" idx="18"/>
          </p:nvPr>
        </p:nvSpPr>
        <p:spPr>
          <a:xfrm>
            <a:off x="3255264" y="319099"/>
            <a:ext cx="2670048" cy="1200329"/>
          </a:xfrm>
        </p:spPr>
        <p:txBody>
          <a:bodyPr anchor="b" anchorCtr="0">
            <a:sp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000" b="0" i="0" u="none" strike="noStrike" kern="1200" cap="none" spc="0" normalizeH="0" baseline="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dirty="0"/>
              <a:t>Click to edit Master text styles</a:t>
            </a:r>
          </a:p>
        </p:txBody>
      </p:sp>
      <p:sp>
        <p:nvSpPr>
          <p:cNvPr id="24" name="Text Placeholder 20"/>
          <p:cNvSpPr>
            <a:spLocks noGrp="1" noChangeAspect="1"/>
          </p:cNvSpPr>
          <p:nvPr>
            <p:ph type="body" sz="quarter" idx="19"/>
          </p:nvPr>
        </p:nvSpPr>
        <p:spPr>
          <a:xfrm>
            <a:off x="6247902" y="319099"/>
            <a:ext cx="2670048" cy="1200329"/>
          </a:xfrm>
        </p:spPr>
        <p:txBody>
          <a:bodyPr anchor="b" anchorCtr="0">
            <a:sp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3000" b="0" i="0" u="none" strike="noStrike" kern="1200" cap="none" spc="0" normalizeH="0" baseline="0" dirty="0" smtClean="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lang="en-US" dirty="0"/>
              <a:t>Click to edit Master text styles</a:t>
            </a:r>
          </a:p>
        </p:txBody>
      </p:sp>
      <p:cxnSp>
        <p:nvCxnSpPr>
          <p:cNvPr id="11" name="Straight Connector 10"/>
          <p:cNvCxnSpPr/>
          <p:nvPr userDrawn="1"/>
        </p:nvCxnSpPr>
        <p:spPr>
          <a:xfrm>
            <a:off x="3082817" y="869003"/>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6083084" y="869003"/>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hart">
    <p:spTree>
      <p:nvGrpSpPr>
        <p:cNvPr id="1" name=""/>
        <p:cNvGrpSpPr/>
        <p:nvPr/>
      </p:nvGrpSpPr>
      <p:grpSpPr>
        <a:xfrm>
          <a:off x="0" y="0"/>
          <a:ext cx="0" cy="0"/>
          <a:chOff x="0" y="0"/>
          <a:chExt cx="0" cy="0"/>
        </a:xfrm>
      </p:grpSpPr>
      <p:sp>
        <p:nvSpPr>
          <p:cNvPr id="39" name="Title 1"/>
          <p:cNvSpPr>
            <a:spLocks noGrp="1"/>
          </p:cNvSpPr>
          <p:nvPr>
            <p:ph type="title" hasCustomPrompt="1"/>
          </p:nvPr>
        </p:nvSpPr>
        <p:spPr>
          <a:xfrm>
            <a:off x="246972" y="439710"/>
            <a:ext cx="8567244" cy="838200"/>
          </a:xfrm>
        </p:spPr>
        <p:txBody>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a:t>Slide Title Goes Here</a:t>
            </a:r>
          </a:p>
        </p:txBody>
      </p:sp>
      <p:sp>
        <p:nvSpPr>
          <p:cNvPr id="36" name="Chart Placeholder 35"/>
          <p:cNvSpPr>
            <a:spLocks noGrp="1"/>
          </p:cNvSpPr>
          <p:nvPr>
            <p:ph type="chart" sz="quarter" idx="10"/>
          </p:nvPr>
        </p:nvSpPr>
        <p:spPr>
          <a:xfrm>
            <a:off x="359764" y="1476375"/>
            <a:ext cx="8439461" cy="4305300"/>
          </a:xfrm>
        </p:spPr>
        <p:txBody>
          <a:bodyPr anchor="ctr" anchorCtr="1"/>
          <a:lstStyle>
            <a:lvl1pPr>
              <a:buNone/>
              <a:defRPr>
                <a:latin typeface="+mj-lt"/>
              </a:defRPr>
            </a:lvl1pPr>
          </a:lstStyle>
          <a:p>
            <a:r>
              <a:rPr lang="en-US" dirty="0"/>
              <a:t>Click icon to add chart</a:t>
            </a:r>
          </a:p>
        </p:txBody>
      </p:sp>
      <p:sp>
        <p:nvSpPr>
          <p:cNvPr id="4" name="Text Placeholder 9"/>
          <p:cNvSpPr>
            <a:spLocks noGrp="1"/>
          </p:cNvSpPr>
          <p:nvPr>
            <p:ph type="body" sz="quarter" idx="11" hasCustomPrompt="1"/>
          </p:nvPr>
        </p:nvSpPr>
        <p:spPr>
          <a:xfrm>
            <a:off x="249466" y="6062114"/>
            <a:ext cx="7461250" cy="276999"/>
          </a:xfrm>
        </p:spPr>
        <p:txBody>
          <a:bodyPr wrap="square" anchor="b" anchorCtr="0">
            <a:spAutoFit/>
          </a:bodyPr>
          <a:lstStyle>
            <a:lvl1pPr algn="l" defTabSz="804863">
              <a:lnSpc>
                <a:spcPct val="100000"/>
              </a:lnSpc>
              <a:spcBef>
                <a:spcPct val="50000"/>
              </a:spcBef>
              <a:buNone/>
              <a:defRPr sz="1200">
                <a:solidFill>
                  <a:srgbClr val="435153"/>
                </a:solidFill>
                <a:latin typeface="+mj-lt"/>
              </a:defRPr>
            </a:lvl1pPr>
            <a:lvl2pPr>
              <a:buFont typeface="Arial" pitchFamily="34" charset="0"/>
              <a:buNone/>
              <a:defRPr sz="1400"/>
            </a:lvl2pPr>
            <a:lvl3pPr>
              <a:buFont typeface="Arial" pitchFamily="34" charset="0"/>
              <a:buNone/>
              <a:defRPr sz="1400"/>
            </a:lvl3pPr>
            <a:lvl4pPr>
              <a:buFont typeface="Arial" pitchFamily="34" charset="0"/>
              <a:buNone/>
              <a:defRPr sz="1400"/>
            </a:lvl4pPr>
            <a:lvl5pPr>
              <a:buFont typeface="Arial" pitchFamily="34" charset="0"/>
              <a:buNone/>
              <a:defRPr sz="1400"/>
            </a:lvl5pPr>
          </a:lstStyle>
          <a:p>
            <a:pPr lvl="0"/>
            <a:r>
              <a:rPr lang="en-US" dirty="0"/>
              <a:t>Source: Placeholder for Notes Is 12 Points</a:t>
            </a:r>
          </a:p>
        </p:txBody>
      </p:sp>
    </p:spTree>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ottom title_photo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5430244"/>
            <a:ext cx="8558698" cy="838200"/>
          </a:xfr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a:t>Slide Title Goes Here</a:t>
            </a:r>
          </a:p>
        </p:txBody>
      </p:sp>
      <p:sp>
        <p:nvSpPr>
          <p:cNvPr id="4" name="Text Placeholder 3"/>
          <p:cNvSpPr>
            <a:spLocks noGrp="1"/>
          </p:cNvSpPr>
          <p:nvPr>
            <p:ph type="body" sz="quarter" idx="10" hasCustomPrompt="1"/>
          </p:nvPr>
        </p:nvSpPr>
        <p:spPr>
          <a:xfrm>
            <a:off x="246888" y="1600200"/>
            <a:ext cx="4005072" cy="3749040"/>
          </a:xfrm>
        </p:spPr>
        <p:txBody>
          <a:bodyPr anchor="ctr" anchorCtr="0">
            <a:normAutofit/>
          </a:bodyPr>
          <a:lstStyle>
            <a:lvl1pPr marL="0" indent="0">
              <a:buFontTx/>
              <a:buNone/>
              <a:defRPr sz="2400" baseline="0">
                <a:solidFill>
                  <a:schemeClr val="tx1">
                    <a:lumMod val="75000"/>
                  </a:schemeClr>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Simple text goes here and can wrap to accommodate more lines of information</a:t>
            </a:r>
          </a:p>
        </p:txBody>
      </p:sp>
      <p:sp>
        <p:nvSpPr>
          <p:cNvPr id="6" name="Picture Placeholder 5"/>
          <p:cNvSpPr>
            <a:spLocks noGrp="1"/>
          </p:cNvSpPr>
          <p:nvPr>
            <p:ph type="pic" sz="quarter" idx="11" hasCustomPrompt="1"/>
          </p:nvPr>
        </p:nvSpPr>
        <p:spPr>
          <a:xfrm>
            <a:off x="4873752" y="1947672"/>
            <a:ext cx="3429000" cy="2990088"/>
          </a:xfrm>
        </p:spPr>
        <p:txBody>
          <a:bodyPr anchor="ctr" anchorCtr="1"/>
          <a:lstStyle>
            <a:lvl1pPr algn="ctr">
              <a:buFontTx/>
              <a:buNone/>
              <a:defRPr>
                <a:latin typeface="+mj-lt"/>
              </a:defRPr>
            </a:lvl1pPr>
          </a:lstStyle>
          <a:p>
            <a:r>
              <a:rPr lang="en-US" dirty="0"/>
              <a:t>Insert photo here</a:t>
            </a:r>
          </a:p>
        </p:txBody>
      </p:sp>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ottom 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2" y="5430244"/>
            <a:ext cx="8558698" cy="838200"/>
          </a:xfr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US" dirty="0"/>
              <a:t>Slide Title Goes Here</a:t>
            </a:r>
          </a:p>
        </p:txBody>
      </p:sp>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93776" y="5852160"/>
            <a:ext cx="8112126" cy="384175"/>
          </a:xfrm>
        </p:spPr>
        <p:txBody>
          <a:bodyPr>
            <a:normAutofit/>
          </a:bodyPr>
          <a:lstStyle>
            <a:lvl1pPr marL="0" indent="0" algn="l"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rgbClr val="493B93"/>
                </a:solidFill>
                <a:latin typeface="+mj-lt"/>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lvl="0" indent="0" algn="l" defTabSz="914400" rtl="0" eaLnBrk="1" latinLnBrk="0" hangingPunct="1">
              <a:spcBef>
                <a:spcPct val="20000"/>
              </a:spcBef>
              <a:buFont typeface="Arial" pitchFamily="34" charset="0"/>
              <a:buNone/>
            </a:pPr>
            <a:r>
              <a:rPr lang="en-US" dirty="0"/>
              <a:t>Presenter Name and Title Go Here</a:t>
            </a:r>
          </a:p>
        </p:txBody>
      </p:sp>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19456" y="649224"/>
            <a:ext cx="8112125" cy="4480560"/>
          </a:xfrm>
        </p:spPr>
        <p:txBody>
          <a:bodyPr/>
          <a:lstStyle>
            <a:lvl1pPr marL="236538" indent="-236538" algn="l" defTabSz="914400" rtl="0" eaLnBrk="1" latinLnBrk="0" hangingPunct="1">
              <a:lnSpc>
                <a:spcPts val="5200"/>
              </a:lnSpc>
              <a:spcBef>
                <a:spcPct val="20000"/>
              </a:spcBef>
              <a:buClr>
                <a:schemeClr val="tx1"/>
              </a:buClr>
              <a:buFont typeface="Arial" pitchFamily="34" charset="0"/>
              <a:buNone/>
              <a:defRPr kumimoji="0" lang="en-US" sz="5400" b="0" i="0" u="none" strike="noStrike" kern="1200" cap="none" spc="0" normalizeH="0" baseline="0" dirty="0">
                <a:ln>
                  <a:noFill/>
                </a:ln>
                <a:gradFill flip="none" rotWithShape="1">
                  <a:gsLst>
                    <a:gs pos="16000">
                      <a:srgbClr val="6B308D">
                        <a:lumMod val="80000"/>
                        <a:lumOff val="20000"/>
                      </a:srgbClr>
                    </a:gs>
                    <a:gs pos="100000">
                      <a:srgbClr val="28A7DF"/>
                    </a:gs>
                  </a:gsLst>
                  <a:lin ang="1800000" scaled="0"/>
                  <a:tileRect/>
                </a:gradFill>
                <a:effectLst/>
                <a:uLnTx/>
                <a:uFillTx/>
                <a:latin typeface="+mj-lt"/>
                <a:ea typeface="+mj-ea"/>
                <a:cs typeface="Arial" pitchFamily="34" charset="0"/>
              </a:defRPr>
            </a:lvl1pPr>
          </a:lstStyle>
          <a:p>
            <a:r>
              <a:rPr lang="en-US" dirty="0"/>
              <a:t>“Format large quotes using this slide layout. Be sure to cite your source below.”</a:t>
            </a:r>
          </a:p>
        </p:txBody>
      </p:sp>
      <p:sp>
        <p:nvSpPr>
          <p:cNvPr id="49"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Tree>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ig Statement">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 name="Title 1"/>
          <p:cNvSpPr>
            <a:spLocks noGrp="1"/>
          </p:cNvSpPr>
          <p:nvPr>
            <p:ph type="title" hasCustomPrompt="1"/>
          </p:nvPr>
        </p:nvSpPr>
        <p:spPr>
          <a:xfrm>
            <a:off x="237744" y="484632"/>
            <a:ext cx="8755128" cy="4372131"/>
          </a:xfrm>
        </p:spPr>
        <p:txBody>
          <a:bodyPr anchor="b" anchorCtr="0"/>
          <a:lstStyle>
            <a:lvl1pPr marL="228600" indent="-228600">
              <a:buFont typeface="Arial" pitchFamily="34" charset="0"/>
              <a:buChar char="“"/>
              <a:defRPr sz="6000" spc="-200" baseline="0">
                <a:solidFill>
                  <a:schemeClr val="bg1"/>
                </a:solidFill>
                <a:latin typeface="+mj-lt"/>
              </a:defRPr>
            </a:lvl1pPr>
          </a:lstStyle>
          <a:p>
            <a:r>
              <a:rPr lang="en-US" dirty="0"/>
              <a:t>Format large quotes using this slide layout. Be sure to cite your source below.”</a:t>
            </a:r>
          </a:p>
        </p:txBody>
      </p:sp>
      <p:sp>
        <p:nvSpPr>
          <p:cNvPr id="28" name="Rectangle 5"/>
          <p:cNvSpPr>
            <a:spLocks noChangeArrowheads="1"/>
          </p:cNvSpPr>
          <p:nvPr/>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Public</a:t>
            </a:r>
          </a:p>
        </p:txBody>
      </p:sp>
      <p:sp>
        <p:nvSpPr>
          <p:cNvPr id="7" name="Text Placeholder 4"/>
          <p:cNvSpPr>
            <a:spLocks noGrp="1"/>
          </p:cNvSpPr>
          <p:nvPr>
            <p:ph type="body" sz="quarter" idx="11" hasCustomPrompt="1"/>
          </p:nvPr>
        </p:nvSpPr>
        <p:spPr>
          <a:xfrm>
            <a:off x="460248" y="5358903"/>
            <a:ext cx="8574685" cy="614362"/>
          </a:xfrm>
        </p:spPr>
        <p:txBody>
          <a:bodyPr vert="horz" lIns="91440" tIns="45720" rIns="91440" bIns="45720" rtlCol="0">
            <a:normAutofit/>
          </a:bodyPr>
          <a:lstStyle>
            <a:lvl1pPr marL="0" indent="0">
              <a:buNone/>
              <a:defRPr lang="en-US" sz="2400" kern="1200" dirty="0" smtClean="0">
                <a:solidFill>
                  <a:schemeClr val="bg1"/>
                </a:solidFill>
                <a:latin typeface="+mj-lt"/>
                <a:ea typeface="+mn-ea"/>
                <a:cs typeface="+mn-cs"/>
              </a:defRPr>
            </a:lvl1pPr>
          </a:lstStyle>
          <a:p>
            <a:pPr marL="0" lvl="0" indent="0" algn="l" defTabSz="914400" rtl="0" eaLnBrk="1" latinLnBrk="0" hangingPunct="1">
              <a:lnSpc>
                <a:spcPct val="95000"/>
              </a:lnSpc>
              <a:spcBef>
                <a:spcPts val="1440"/>
              </a:spcBef>
              <a:buClr>
                <a:srgbClr val="92D050"/>
              </a:buClr>
              <a:buSzPct val="90000"/>
              <a:buFont typeface="Arial" pitchFamily="34" charset="0"/>
              <a:buNone/>
              <a:tabLst/>
            </a:pPr>
            <a:r>
              <a:rPr lang="en-US" dirty="0"/>
              <a:t>Source</a:t>
            </a:r>
          </a:p>
        </p:txBody>
      </p:sp>
      <p:sp>
        <p:nvSpPr>
          <p:cNvPr id="21"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a:solidFill>
                  <a:srgbClr val="FFFFFF"/>
                </a:solidFill>
                <a:latin typeface="+mj-lt"/>
              </a:rPr>
              <a:t>© 2013 Cisco and/or its affiliates. All rights reserved.</a:t>
            </a:r>
          </a:p>
        </p:txBody>
      </p:sp>
      <p:sp>
        <p:nvSpPr>
          <p:cNvPr id="22"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torytellin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29702" y="1918741"/>
            <a:ext cx="4117446" cy="3020518"/>
          </a:xfrm>
        </p:spPr>
        <p:txBody>
          <a:bodyPr vert="horz" lIns="82296" tIns="45720" rIns="82296" bIns="45720" rtlCol="0" anchor="ctr" anchorCtr="0">
            <a:noAutofit/>
          </a:bodyPr>
          <a:lstStyle>
            <a:lvl1pPr marL="0" indent="0" algn="l" defTabSz="914400" rtl="0" eaLnBrk="1" latinLnBrk="0" hangingPunct="1">
              <a:lnSpc>
                <a:spcPct val="80000"/>
              </a:lnSpc>
              <a:spcBef>
                <a:spcPct val="0"/>
              </a:spcBef>
              <a:buClr>
                <a:schemeClr val="tx1"/>
              </a:buClr>
              <a:buFont typeface="Ciscolight" pitchFamily="2" charset="0"/>
              <a:buNone/>
              <a:defRPr kumimoji="0" lang="en-US" sz="5400" b="0" i="0" u="none" strike="noStrike" kern="1200" cap="none" spc="0" normalizeH="0" baseline="0" dirty="0">
                <a:ln>
                  <a:noFill/>
                </a:ln>
                <a:gradFill flip="none" rotWithShape="1">
                  <a:gsLst>
                    <a:gs pos="16000">
                      <a:srgbClr val="6B308D">
                        <a:lumMod val="80000"/>
                        <a:lumOff val="20000"/>
                      </a:srgbClr>
                    </a:gs>
                    <a:gs pos="100000">
                      <a:srgbClr val="28A7DF"/>
                    </a:gs>
                  </a:gsLst>
                  <a:lin ang="1800000" scaled="0"/>
                  <a:tileRect/>
                </a:gradFill>
                <a:effectLst/>
                <a:uLnTx/>
                <a:uFillTx/>
                <a:latin typeface="+mj-lt"/>
                <a:ea typeface="+mj-ea"/>
                <a:cs typeface="Arial" pitchFamily="34" charset="0"/>
              </a:defRPr>
            </a:lvl1pPr>
          </a:lstStyle>
          <a:p>
            <a:r>
              <a:rPr lang="en-US" dirty="0"/>
              <a:t>Telling Shared Experiences</a:t>
            </a:r>
          </a:p>
        </p:txBody>
      </p:sp>
      <p:sp>
        <p:nvSpPr>
          <p:cNvPr id="9" name="Text Placeholder 3"/>
          <p:cNvSpPr>
            <a:spLocks noGrp="1"/>
          </p:cNvSpPr>
          <p:nvPr>
            <p:ph type="body" sz="quarter" idx="11" hasCustomPrompt="1"/>
          </p:nvPr>
        </p:nvSpPr>
        <p:spPr>
          <a:xfrm>
            <a:off x="4922519" y="777667"/>
            <a:ext cx="3895344" cy="5287676"/>
          </a:xfrm>
        </p:spPr>
        <p:txBody>
          <a:bodyPr anchor="ctr" anchorCtr="0">
            <a:normAutofit/>
          </a:bodyPr>
          <a:lstStyle>
            <a:lvl1pPr marL="0" indent="0">
              <a:buFontTx/>
              <a:buNone/>
              <a:defRPr lang="en-US" sz="2000" kern="1200" dirty="0">
                <a:solidFill>
                  <a:srgbClr val="493B93"/>
                </a:solidFill>
                <a:latin typeface="+mj-lt"/>
                <a:ea typeface="+mn-ea"/>
                <a:cs typeface="+mn-cs"/>
              </a:defRPr>
            </a:lvl1pPr>
            <a:lvl2pPr>
              <a:defRPr sz="2000"/>
            </a:lvl2pPr>
            <a:lvl3pPr>
              <a:defRPr sz="2000"/>
            </a:lvl3pPr>
            <a:lvl4pPr>
              <a:defRPr sz="2000"/>
            </a:lvl4pPr>
            <a:lvl5pPr>
              <a:defRPr sz="2000"/>
            </a:lvl5pPr>
          </a:lstStyle>
          <a:p>
            <a:pPr marL="0" lvl="0" indent="0" algn="l" defTabSz="914400" rtl="0" eaLnBrk="1" latinLnBrk="0" hangingPunct="1">
              <a:lnSpc>
                <a:spcPts val="2400"/>
              </a:lnSpc>
              <a:spcBef>
                <a:spcPts val="0"/>
              </a:spcBef>
              <a:buClr>
                <a:srgbClr val="435153"/>
              </a:buClr>
              <a:buFont typeface="Arial" pitchFamily="34" charset="0"/>
              <a:buNone/>
            </a:pPr>
            <a:r>
              <a:rPr lang="en-US" dirty="0"/>
              <a:t>Tell your story here</a:t>
            </a:r>
          </a:p>
        </p:txBody>
      </p:sp>
      <p:cxnSp>
        <p:nvCxnSpPr>
          <p:cNvPr id="5" name="Straight Connector 4"/>
          <p:cNvCxnSpPr/>
          <p:nvPr userDrawn="1"/>
        </p:nvCxnSpPr>
        <p:spPr>
          <a:xfrm>
            <a:off x="4486587" y="777667"/>
            <a:ext cx="0" cy="5287676"/>
          </a:xfrm>
          <a:prstGeom prst="line">
            <a:avLst/>
          </a:prstGeom>
          <a:ln w="76200" cap="rnd">
            <a:gradFill>
              <a:gsLst>
                <a:gs pos="0">
                  <a:schemeClr val="tx1"/>
                </a:gs>
                <a:gs pos="50000">
                  <a:schemeClr val="accent4"/>
                </a:gs>
                <a:gs pos="100000">
                  <a:schemeClr val="tx2"/>
                </a:gs>
              </a:gsLst>
              <a:lin ang="12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700"/>
                                        <p:tgtEl>
                                          <p:spTgt spid="4"/>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11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build="p">
        <p:tmplLst>
          <p:tmpl lvl="1">
            <p:tnLst>
              <p:par>
                <p:cTn presetID="10" presetClass="entr" presetSubtype="0" fill="hold" nodeType="withEffect">
                  <p:stCondLst>
                    <p:cond delay="400"/>
                  </p:stCondLst>
                  <p:childTnLst>
                    <p:set>
                      <p:cBhvr>
                        <p:cTn dur="1" fill="hold">
                          <p:stCondLst>
                            <p:cond delay="0"/>
                          </p:stCondLst>
                        </p:cTn>
                        <p:tgtEl>
                          <p:spTgt spid="9"/>
                        </p:tgtEl>
                        <p:attrNameLst>
                          <p:attrName>style.visibility</p:attrName>
                        </p:attrNameLst>
                      </p:cBhvr>
                      <p:to>
                        <p:strVal val="visible"/>
                      </p:to>
                    </p:set>
                    <p:animEffect transition="in" filter="fade">
                      <p:cBhvr>
                        <p:cTn dur="1100"/>
                        <p:tgtEl>
                          <p:spTgt spid="9"/>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36383" y="4279392"/>
            <a:ext cx="4684867" cy="384175"/>
          </a:xfrm>
        </p:spPr>
        <p:txBody>
          <a:bodyPr vert="horz" lIns="91440" tIns="45720" rIns="91440" bIns="45720" rtlCol="0">
            <a:normAutofit/>
          </a:bodyPr>
          <a:lstStyle>
            <a:lvl1pPr marL="0" indent="0" algn="l" defTabSz="914400" rtl="0" eaLnBrk="1" latinLnBrk="0" hangingPunct="1">
              <a:lnSpc>
                <a:spcPct val="95000"/>
              </a:lnSpc>
              <a:spcBef>
                <a:spcPct val="20000"/>
              </a:spcBef>
              <a:buClr>
                <a:srgbClr val="92D050"/>
              </a:buClr>
              <a:buSzPct val="90000"/>
              <a:buFont typeface="Arial" pitchFamily="34" charset="0"/>
              <a:buNone/>
              <a:tabLst/>
              <a:defRPr kumimoji="0" lang="en-US" sz="2000" b="0" i="0" u="none" strike="noStrike" kern="1200" cap="none" spc="0" normalizeH="0" baseline="0" dirty="0">
                <a:ln>
                  <a:noFill/>
                </a:ln>
                <a:solidFill>
                  <a:srgbClr val="493B93"/>
                </a:solidFill>
                <a:effectLst/>
                <a:uLnTx/>
                <a:uFillTx/>
                <a:latin typeface="+mj-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lvl="0" indent="0" algn="l" defTabSz="914400" rtl="0" eaLnBrk="1" latinLnBrk="0" hangingPunct="1">
              <a:lnSpc>
                <a:spcPct val="95000"/>
              </a:lnSpc>
              <a:spcBef>
                <a:spcPts val="1440"/>
              </a:spcBef>
              <a:buClr>
                <a:srgbClr val="92D050"/>
              </a:buClr>
              <a:buSzPct val="90000"/>
              <a:buFont typeface="Arial" pitchFamily="34" charset="0"/>
              <a:buNone/>
              <a:tabLst/>
            </a:pPr>
            <a:r>
              <a:rPr lang="en-US" dirty="0"/>
              <a:t>Presenter Name and Title Go Here</a:t>
            </a:r>
          </a:p>
        </p:txBody>
      </p:sp>
      <p:sp>
        <p:nvSpPr>
          <p:cNvPr id="27" name="Rectangle 3"/>
          <p:cNvSpPr>
            <a:spLocks noChangeArrowheads="1"/>
          </p:cNvSpPr>
          <p:nvPr/>
        </p:nvSpPr>
        <p:spPr bwMode="white">
          <a:xfrm>
            <a:off x="0" y="0"/>
            <a:ext cx="9144000" cy="177800"/>
          </a:xfrm>
          <a:prstGeom prst="rect">
            <a:avLst/>
          </a:prstGeom>
          <a:solidFill>
            <a:schemeClr val="bg2"/>
          </a:solidFill>
          <a:ln w="25400" algn="ctr">
            <a:noFill/>
            <a:miter lim="800000"/>
            <a:headEnd/>
            <a:tailEnd/>
          </a:ln>
          <a:effectLst/>
        </p:spPr>
        <p:txBody>
          <a:bodyPr wrap="none" anchor="ctr"/>
          <a:lstStyle/>
          <a:p>
            <a:endParaRPr lang="en-US">
              <a:latin typeface="+mj-lt"/>
            </a:endParaRPr>
          </a:p>
        </p:txBody>
      </p:sp>
      <p:sp>
        <p:nvSpPr>
          <p:cNvPr id="2" name="Title 1"/>
          <p:cNvSpPr>
            <a:spLocks noGrp="1"/>
          </p:cNvSpPr>
          <p:nvPr>
            <p:ph type="ctrTitle" hasCustomPrompt="1"/>
          </p:nvPr>
        </p:nvSpPr>
        <p:spPr>
          <a:xfrm>
            <a:off x="208693" y="3282696"/>
            <a:ext cx="4712557" cy="1022350"/>
          </a:xfrm>
        </p:spPr>
        <p:txBody>
          <a:bodyPr vert="horz" lIns="82296" tIns="45720" rIns="82296" bIns="45720" rtlCol="0" anchor="b" anchorCtr="0">
            <a:noAutofit/>
          </a:bodyPr>
          <a:lstStyle>
            <a:lvl1pPr marL="0" indent="0" algn="l" defTabSz="914400" rtl="0" eaLnBrk="1" latinLnBrk="0" hangingPunct="1">
              <a:lnSpc>
                <a:spcPct val="80000"/>
              </a:lnSpc>
              <a:spcBef>
                <a:spcPct val="0"/>
              </a:spcBef>
              <a:buClr>
                <a:schemeClr val="tx1"/>
              </a:buClr>
              <a:buFont typeface="Ciscolight" pitchFamily="2" charset="0"/>
              <a:buNone/>
              <a:defRPr lang="en-US" sz="6000" b="0" kern="1200" spc="0" dirty="0">
                <a:gradFill flip="none" rotWithShape="1">
                  <a:gsLst>
                    <a:gs pos="16000">
                      <a:srgbClr val="6B308D">
                        <a:lumMod val="80000"/>
                        <a:lumOff val="20000"/>
                      </a:srgbClr>
                    </a:gs>
                    <a:gs pos="100000">
                      <a:srgbClr val="28A7DF"/>
                    </a:gs>
                  </a:gsLst>
                  <a:lin ang="1800000" scaled="0"/>
                  <a:tileRect/>
                </a:gradFill>
                <a:latin typeface="+mj-lt"/>
                <a:ea typeface="+mj-ea"/>
                <a:cs typeface="Arial" pitchFamily="34" charset="0"/>
              </a:defRPr>
            </a:lvl1pPr>
          </a:lstStyle>
          <a:p>
            <a:pPr marL="0" lvl="0" indent="0" algn="l" defTabSz="914400" rtl="0" eaLnBrk="1" latinLnBrk="0" hangingPunct="1">
              <a:lnSpc>
                <a:spcPct val="85000"/>
              </a:lnSpc>
              <a:spcBef>
                <a:spcPct val="0"/>
              </a:spcBef>
              <a:buClr>
                <a:schemeClr val="tx1"/>
              </a:buClr>
              <a:buFont typeface="Ciscolight" pitchFamily="2" charset="0"/>
              <a:buNone/>
            </a:pPr>
            <a:r>
              <a:rPr lang="en-US" dirty="0"/>
              <a:t>Demo Title</a:t>
            </a:r>
          </a:p>
        </p:txBody>
      </p:sp>
      <p:sp>
        <p:nvSpPr>
          <p:cNvPr id="49" name="Rectangle 3"/>
          <p:cNvSpPr>
            <a:spLocks noChangeArrowheads="1"/>
          </p:cNvSpPr>
          <p:nvPr/>
        </p:nvSpPr>
        <p:spPr bwMode="hidden">
          <a:xfrm>
            <a:off x="0" y="0"/>
            <a:ext cx="9144000" cy="177800"/>
          </a:xfrm>
          <a:prstGeom prst="rect">
            <a:avLst/>
          </a:prstGeom>
          <a:solidFill>
            <a:srgbClr val="FFFFFF"/>
          </a:solidFill>
          <a:ln w="25400" algn="ctr">
            <a:noFill/>
            <a:miter lim="800000"/>
            <a:headEnd/>
            <a:tailEnd/>
          </a:ln>
          <a:effectLst/>
        </p:spPr>
        <p:txBody>
          <a:bodyPr wrap="none" anchor="ctr"/>
          <a:lstStyle/>
          <a:p>
            <a:endParaRPr lang="en-US">
              <a:latin typeface="+mj-lt"/>
            </a:endParaRPr>
          </a:p>
        </p:txBody>
      </p:sp>
      <p:sp>
        <p:nvSpPr>
          <p:cNvPr id="31" name="Picture Placeholder 30"/>
          <p:cNvSpPr>
            <a:spLocks noGrp="1"/>
          </p:cNvSpPr>
          <p:nvPr>
            <p:ph type="pic" sz="quarter" idx="10" hasCustomPrompt="1"/>
          </p:nvPr>
        </p:nvSpPr>
        <p:spPr>
          <a:xfrm>
            <a:off x="5540375" y="1917700"/>
            <a:ext cx="2676525" cy="2889250"/>
          </a:xfrm>
        </p:spPr>
        <p:txBody>
          <a:bodyPr anchor="ctr" anchorCtr="1"/>
          <a:lstStyle>
            <a:lvl1pPr algn="ctr">
              <a:buFontTx/>
              <a:buNone/>
              <a:defRPr>
                <a:latin typeface="+mj-lt"/>
              </a:defRPr>
            </a:lvl1pPr>
          </a:lstStyle>
          <a:p>
            <a:r>
              <a:rPr lang="en-US" dirty="0"/>
              <a:t>Insert photo here</a:t>
            </a:r>
          </a:p>
        </p:txBody>
      </p:sp>
    </p:spTree>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single photo with caption">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9" name="Rectangle 28"/>
          <p:cNvSpPr/>
          <p:nvPr/>
        </p:nvSpPr>
        <p:spPr>
          <a:xfrm>
            <a:off x="1891875" y="795528"/>
            <a:ext cx="5349240" cy="4005072"/>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3" name="Rectangle 22"/>
          <p:cNvSpPr/>
          <p:nvPr userDrawn="1"/>
        </p:nvSpPr>
        <p:spPr>
          <a:xfrm>
            <a:off x="1891874" y="4794352"/>
            <a:ext cx="5347552" cy="996372"/>
          </a:xfrm>
          <a:prstGeom prst="rect">
            <a:avLst/>
          </a:prstGeom>
          <a:solidFill>
            <a:schemeClr val="bg1"/>
          </a:solidFill>
          <a:ln>
            <a:noFill/>
          </a:ln>
          <a:effectLst>
            <a:outerShdw blurRad="1143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1900238" y="795528"/>
            <a:ext cx="5329238" cy="4005072"/>
          </a:xfrm>
          <a:solidFill>
            <a:schemeClr val="bg1">
              <a:alpha val="30000"/>
            </a:schemeClr>
          </a:solidFill>
          <a:ln>
            <a:solidFill>
              <a:srgbClr val="FFFFFF"/>
            </a:solidFill>
          </a:ln>
        </p:spPr>
        <p:txBody>
          <a:bodyPr anchor="ctr" anchorCtr="0"/>
          <a:lstStyle>
            <a:lvl1pPr algn="ctr">
              <a:buFontTx/>
              <a:buNone/>
              <a:defRPr>
                <a:solidFill>
                  <a:schemeClr val="bg1"/>
                </a:solidFill>
                <a:latin typeface="+mj-lt"/>
              </a:defRPr>
            </a:lvl1pPr>
          </a:lstStyle>
          <a:p>
            <a:r>
              <a:rPr lang="en-US" dirty="0"/>
              <a:t>Insert photo here</a:t>
            </a:r>
          </a:p>
        </p:txBody>
      </p:sp>
      <p:sp>
        <p:nvSpPr>
          <p:cNvPr id="11" name="Title 10"/>
          <p:cNvSpPr>
            <a:spLocks noGrp="1"/>
          </p:cNvSpPr>
          <p:nvPr>
            <p:ph type="title"/>
          </p:nvPr>
        </p:nvSpPr>
        <p:spPr>
          <a:xfrm>
            <a:off x="2065871" y="4873438"/>
            <a:ext cx="5074070" cy="838200"/>
          </a:xfrm>
        </p:spPr>
        <p:txBody>
          <a:bodyPr anchor="ctr"/>
          <a:lstStyle>
            <a:lvl1pPr>
              <a:defRPr sz="2600">
                <a:latin typeface="+mj-lt"/>
              </a:defRPr>
            </a:lvl1pPr>
          </a:lstStyle>
          <a:p>
            <a:r>
              <a:rPr lang="en-US"/>
              <a:t>Click to edit Master title style</a:t>
            </a:r>
            <a:endParaRPr lang="en-US" dirty="0"/>
          </a:p>
        </p:txBody>
      </p:sp>
      <p:sp>
        <p:nvSpPr>
          <p:cNvPr id="8"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Public</a:t>
            </a: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a:solidFill>
                  <a:srgbClr val="FFFFFF"/>
                </a:solidFill>
                <a:latin typeface="+mj-lt"/>
              </a:rPr>
              <a:t>© 2013 Cisco and/or its affiliates. All rights reserved.</a:t>
            </a:r>
          </a:p>
        </p:txBody>
      </p:sp>
      <p:sp>
        <p:nvSpPr>
          <p:cNvPr id="12"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Small photo_top lef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32" name="Rectangle 31"/>
          <p:cNvSpPr/>
          <p:nvPr/>
        </p:nvSpPr>
        <p:spPr>
          <a:xfrm>
            <a:off x="338328" y="310896"/>
            <a:ext cx="3273552" cy="2459736"/>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338328" y="310896"/>
            <a:ext cx="3273552" cy="2459736"/>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9" name="Title 8"/>
          <p:cNvSpPr>
            <a:spLocks noGrp="1"/>
          </p:cNvSpPr>
          <p:nvPr>
            <p:ph type="title" hasCustomPrompt="1"/>
          </p:nvPr>
        </p:nvSpPr>
        <p:spPr>
          <a:xfrm>
            <a:off x="229703" y="3429000"/>
            <a:ext cx="7009298" cy="1421928"/>
          </a:xfrm>
        </p:spPr>
        <p:txBody>
          <a:bodyPr anchor="t">
            <a:spAutoFit/>
          </a:bodyPr>
          <a:lstStyle>
            <a:lvl1pPr marL="0" marR="0" indent="0" algn="l" defTabSz="914400" rtl="0" eaLnBrk="1" fontAlgn="auto" latinLnBrk="0" hangingPunct="1">
              <a:lnSpc>
                <a:spcPct val="80000"/>
              </a:lnSpc>
              <a:spcBef>
                <a:spcPct val="0"/>
              </a:spcBef>
              <a:spcAft>
                <a:spcPts val="0"/>
              </a:spcAft>
              <a:buClrTx/>
              <a:buSzTx/>
              <a:buFontTx/>
              <a:buNone/>
              <a:tabLst/>
              <a:defRPr sz="5400">
                <a:solidFill>
                  <a:schemeClr val="bg1"/>
                </a:solidFill>
                <a:latin typeface="+mj-lt"/>
              </a:defRPr>
            </a:lvl1pPr>
          </a:lstStyle>
          <a:p>
            <a:r>
              <a:rPr lang="en-US" dirty="0"/>
              <a:t>Large photo </a:t>
            </a:r>
            <a:br>
              <a:rPr lang="en-US" dirty="0"/>
            </a:br>
            <a:r>
              <a:rPr lang="en-US" dirty="0"/>
              <a:t>caption here.</a:t>
            </a:r>
          </a:p>
        </p:txBody>
      </p:sp>
      <p:sp>
        <p:nvSpPr>
          <p:cNvPr id="7"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Public</a:t>
            </a: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a:solidFill>
                  <a:srgbClr val="FFFFFF"/>
                </a:solidFill>
                <a:latin typeface="+mj-lt"/>
              </a:rPr>
              <a:t>© 2013 Cisco and/or its affiliates. All rights reserved.</a:t>
            </a:r>
          </a:p>
        </p:txBody>
      </p:sp>
      <p:sp>
        <p:nvSpPr>
          <p:cNvPr id="11"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Portrait photo_right s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0" name="Rectangle 39"/>
          <p:cNvSpPr/>
          <p:nvPr/>
        </p:nvSpPr>
        <p:spPr>
          <a:xfrm>
            <a:off x="4992624" y="859536"/>
            <a:ext cx="3630168" cy="50292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4992624" y="859536"/>
            <a:ext cx="3630168" cy="5029200"/>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anchor="ctr" anchorCtr="0"/>
          <a:lstStyle>
            <a:lvl1pPr algn="ctr">
              <a:buFontTx/>
              <a:buNone/>
              <a:defRPr>
                <a:solidFill>
                  <a:schemeClr val="bg1"/>
                </a:solidFill>
                <a:latin typeface="+mj-lt"/>
              </a:defRPr>
            </a:lvl1pPr>
          </a:lstStyle>
          <a:p>
            <a:r>
              <a:rPr lang="en-US" dirty="0"/>
              <a:t>Insert photo here</a:t>
            </a:r>
          </a:p>
        </p:txBody>
      </p:sp>
      <p:sp>
        <p:nvSpPr>
          <p:cNvPr id="9" name="Title 8"/>
          <p:cNvSpPr>
            <a:spLocks noGrp="1"/>
          </p:cNvSpPr>
          <p:nvPr>
            <p:ph type="title"/>
          </p:nvPr>
        </p:nvSpPr>
        <p:spPr>
          <a:xfrm>
            <a:off x="229703" y="728972"/>
            <a:ext cx="4349918" cy="1089529"/>
          </a:xfrm>
        </p:spPr>
        <p:txBody>
          <a:bodyPr anchor="t">
            <a:spAutoFit/>
          </a:bodyPr>
          <a:lstStyle>
            <a:lvl1pPr>
              <a:lnSpc>
                <a:spcPct val="90000"/>
              </a:lnSpc>
              <a:defRPr>
                <a:solidFill>
                  <a:schemeClr val="bg1"/>
                </a:solidFill>
                <a:latin typeface="+mj-lt"/>
              </a:defRPr>
            </a:lvl1pPr>
          </a:lstStyle>
          <a:p>
            <a:r>
              <a:rPr lang="en-US"/>
              <a:t>Click to edit Master title style</a:t>
            </a:r>
            <a:endParaRPr lang="en-US" dirty="0"/>
          </a:p>
        </p:txBody>
      </p:sp>
      <p:sp>
        <p:nvSpPr>
          <p:cNvPr id="7"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Public</a:t>
            </a:r>
          </a:p>
        </p:txBody>
      </p:sp>
      <p:sp>
        <p:nvSpPr>
          <p:cNvPr id="1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a:solidFill>
                  <a:srgbClr val="FFFFFF"/>
                </a:solidFill>
                <a:latin typeface="+mj-lt"/>
              </a:rPr>
              <a:t>© 2013 Cisco and/or its affiliates. All rights reserved.</a:t>
            </a:r>
          </a:p>
        </p:txBody>
      </p:sp>
      <p:sp>
        <p:nvSpPr>
          <p:cNvPr id="11"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Multiple photo">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8" name="Rectangle 47"/>
          <p:cNvSpPr/>
          <p:nvPr/>
        </p:nvSpPr>
        <p:spPr>
          <a:xfrm>
            <a:off x="3668713" y="311149"/>
            <a:ext cx="3268136" cy="2660652"/>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49" name="Picture Placeholder 25"/>
          <p:cNvSpPr>
            <a:spLocks noGrp="1"/>
          </p:cNvSpPr>
          <p:nvPr>
            <p:ph type="pic" sz="quarter" idx="11" hasCustomPrompt="1"/>
          </p:nvPr>
        </p:nvSpPr>
        <p:spPr>
          <a:xfrm>
            <a:off x="3668989" y="311149"/>
            <a:ext cx="3267861" cy="2660652"/>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29" name="Rectangle 28"/>
          <p:cNvSpPr/>
          <p:nvPr/>
        </p:nvSpPr>
        <p:spPr>
          <a:xfrm>
            <a:off x="334963" y="311149"/>
            <a:ext cx="3258612" cy="2660652"/>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6" name="Picture Placeholder 25"/>
          <p:cNvSpPr>
            <a:spLocks noGrp="1"/>
          </p:cNvSpPr>
          <p:nvPr>
            <p:ph type="pic" sz="quarter" idx="10" hasCustomPrompt="1"/>
          </p:nvPr>
        </p:nvSpPr>
        <p:spPr>
          <a:xfrm>
            <a:off x="320824" y="311149"/>
            <a:ext cx="3272751" cy="2660652"/>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50" name="Rectangle 49"/>
          <p:cNvSpPr/>
          <p:nvPr/>
        </p:nvSpPr>
        <p:spPr>
          <a:xfrm>
            <a:off x="7011988" y="311149"/>
            <a:ext cx="1806574" cy="1308101"/>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1" name="Picture Placeholder 25"/>
          <p:cNvSpPr>
            <a:spLocks noGrp="1"/>
          </p:cNvSpPr>
          <p:nvPr>
            <p:ph type="pic" sz="quarter" idx="12" hasCustomPrompt="1"/>
          </p:nvPr>
        </p:nvSpPr>
        <p:spPr>
          <a:xfrm>
            <a:off x="7011988" y="311149"/>
            <a:ext cx="1806573" cy="1308101"/>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52" name="Rectangle 51"/>
          <p:cNvSpPr/>
          <p:nvPr/>
        </p:nvSpPr>
        <p:spPr>
          <a:xfrm>
            <a:off x="334963" y="3028951"/>
            <a:ext cx="2501965" cy="345893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3" name="Picture Placeholder 25"/>
          <p:cNvSpPr>
            <a:spLocks noGrp="1"/>
          </p:cNvSpPr>
          <p:nvPr>
            <p:ph type="pic" sz="quarter" idx="13" hasCustomPrompt="1"/>
          </p:nvPr>
        </p:nvSpPr>
        <p:spPr>
          <a:xfrm>
            <a:off x="320824" y="3028951"/>
            <a:ext cx="2516104" cy="3458934"/>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54" name="Rectangle 53"/>
          <p:cNvSpPr/>
          <p:nvPr/>
        </p:nvSpPr>
        <p:spPr>
          <a:xfrm>
            <a:off x="2911476" y="3028951"/>
            <a:ext cx="4025374" cy="3458934"/>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5" name="Picture Placeholder 25"/>
          <p:cNvSpPr>
            <a:spLocks noGrp="1"/>
          </p:cNvSpPr>
          <p:nvPr>
            <p:ph type="pic" sz="quarter" idx="14" hasCustomPrompt="1"/>
          </p:nvPr>
        </p:nvSpPr>
        <p:spPr>
          <a:xfrm>
            <a:off x="2908334" y="3028951"/>
            <a:ext cx="4028516" cy="3458934"/>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56" name="Rectangle 55"/>
          <p:cNvSpPr/>
          <p:nvPr/>
        </p:nvSpPr>
        <p:spPr>
          <a:xfrm>
            <a:off x="7011988" y="1683657"/>
            <a:ext cx="1806574" cy="3442153"/>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7" name="Picture Placeholder 25"/>
          <p:cNvSpPr>
            <a:spLocks noGrp="1"/>
          </p:cNvSpPr>
          <p:nvPr>
            <p:ph type="pic" sz="quarter" idx="15" hasCustomPrompt="1"/>
          </p:nvPr>
        </p:nvSpPr>
        <p:spPr>
          <a:xfrm>
            <a:off x="7011988" y="1676400"/>
            <a:ext cx="1806573" cy="3449410"/>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58" name="Rectangle 57"/>
          <p:cNvSpPr/>
          <p:nvPr/>
        </p:nvSpPr>
        <p:spPr>
          <a:xfrm>
            <a:off x="7011988" y="5182960"/>
            <a:ext cx="1806574" cy="130492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9" name="Picture Placeholder 25"/>
          <p:cNvSpPr>
            <a:spLocks noGrp="1"/>
          </p:cNvSpPr>
          <p:nvPr>
            <p:ph type="pic" sz="quarter" idx="16" hasCustomPrompt="1"/>
          </p:nvPr>
        </p:nvSpPr>
        <p:spPr>
          <a:xfrm>
            <a:off x="7011988" y="5182960"/>
            <a:ext cx="1806573" cy="1304925"/>
          </a:xfrm>
          <a:solidFill>
            <a:schemeClr val="bg1">
              <a:alpha val="30000"/>
            </a:schemeClr>
          </a:solidFill>
          <a:ln>
            <a:solidFill>
              <a:srgbClr val="FFFFFF"/>
            </a:solidFill>
          </a:ln>
          <a:effectLst>
            <a:outerShdw blurRad="114300" dist="38100" dir="5400000" algn="ctr" rotWithShape="0">
              <a:srgbClr val="000000">
                <a:alpha val="80000"/>
              </a:srgbClr>
            </a:outerShdw>
          </a:effectLst>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dirty="0">
                <a:solidFill>
                  <a:schemeClr val="bg1"/>
                </a:solidFill>
                <a:latin typeface="+mj-lt"/>
                <a:ea typeface="+mn-ea"/>
                <a:cs typeface="+mn-cs"/>
              </a:defRPr>
            </a:lvl1pPr>
          </a:lstStyle>
          <a:p>
            <a:r>
              <a:rPr lang="en-US" dirty="0"/>
              <a:t>Insert photo here</a:t>
            </a:r>
          </a:p>
        </p:txBody>
      </p:sp>
      <p:sp>
        <p:nvSpPr>
          <p:cNvPr id="18" name="Rectangle 5"/>
          <p:cNvSpPr>
            <a:spLocks noChangeArrowheads="1"/>
          </p:cNvSpPr>
          <p:nvPr userDrawn="1"/>
        </p:nvSpPr>
        <p:spPr bwMode="ltGray">
          <a:xfrm>
            <a:off x="7762659" y="6584513"/>
            <a:ext cx="812991" cy="175257"/>
          </a:xfrm>
          <a:prstGeom prst="rect">
            <a:avLst/>
          </a:prstGeom>
          <a:noFill/>
          <a:ln w="9525">
            <a:noFill/>
            <a:miter lim="800000"/>
            <a:headEnd/>
            <a:tailEnd/>
          </a:ln>
          <a:effectLst/>
        </p:spPr>
        <p:txBody>
          <a:bodyPr wrap="square" lIns="82124" tIns="41061" rIns="82124" bIns="41061" anchor="b">
            <a:spAutoFit/>
          </a:bodyPr>
          <a:lstStyle/>
          <a:p>
            <a:pPr algn="r" defTabSz="814388">
              <a:lnSpc>
                <a:spcPct val="100000"/>
              </a:lnSpc>
            </a:pPr>
            <a:r>
              <a:rPr lang="en-US" sz="600" dirty="0">
                <a:solidFill>
                  <a:schemeClr val="bg1"/>
                </a:solidFill>
                <a:latin typeface="+mj-lt"/>
              </a:rPr>
              <a:t>Cisco Public</a:t>
            </a:r>
          </a:p>
        </p:txBody>
      </p:sp>
      <p:sp>
        <p:nvSpPr>
          <p:cNvPr id="20"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a:solidFill>
                  <a:srgbClr val="FFFFFF"/>
                </a:solidFill>
                <a:latin typeface="+mj-lt"/>
              </a:rPr>
              <a:t>© 2013 Cisco and/or its affiliates. All rights reserved.</a:t>
            </a:r>
          </a:p>
        </p:txBody>
      </p:sp>
      <p:sp>
        <p:nvSpPr>
          <p:cNvPr id="21"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chemeClr val="bg1"/>
                </a:solidFill>
                <a:latin typeface="+mj-lt"/>
              </a:rPr>
              <a:pPr algn="r" defTabSz="814388">
                <a:lnSpc>
                  <a:spcPct val="100000"/>
                </a:lnSpc>
              </a:pPr>
              <a:t>‹#›</a:t>
            </a:fld>
            <a:endParaRPr lang="en-US" sz="600" dirty="0">
              <a:solidFill>
                <a:schemeClr val="bg1"/>
              </a:solidFill>
              <a:latin typeface="+mj-lt"/>
            </a:endParaRPr>
          </a:p>
        </p:txBody>
      </p:sp>
    </p:spTree>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Large photo with bottom bar">
    <p:spTree>
      <p:nvGrpSpPr>
        <p:cNvPr id="1" name=""/>
        <p:cNvGrpSpPr/>
        <p:nvPr/>
      </p:nvGrpSpPr>
      <p:grpSpPr>
        <a:xfrm>
          <a:off x="0" y="0"/>
          <a:ext cx="0" cy="0"/>
          <a:chOff x="0" y="0"/>
          <a:chExt cx="0" cy="0"/>
        </a:xfrm>
      </p:grpSpPr>
      <p:sp>
        <p:nvSpPr>
          <p:cNvPr id="7" name="Rectangle 6"/>
          <p:cNvSpPr/>
          <p:nvPr/>
        </p:nvSpPr>
        <p:spPr>
          <a:xfrm>
            <a:off x="338328" y="310896"/>
            <a:ext cx="8476488" cy="607539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n-lt"/>
            </a:endParaRPr>
          </a:p>
        </p:txBody>
      </p:sp>
      <p:sp>
        <p:nvSpPr>
          <p:cNvPr id="5" name="Picture Placeholder 4"/>
          <p:cNvSpPr>
            <a:spLocks noGrp="1"/>
          </p:cNvSpPr>
          <p:nvPr>
            <p:ph type="pic" sz="quarter" idx="10" hasCustomPrompt="1"/>
          </p:nvPr>
        </p:nvSpPr>
        <p:spPr>
          <a:xfrm>
            <a:off x="333375" y="339924"/>
            <a:ext cx="8474869" cy="6054185"/>
          </a:xfrm>
          <a:ln>
            <a:solidFill>
              <a:srgbClr val="FFFFFF"/>
            </a:solidFill>
          </a:ln>
        </p:spPr>
        <p:txBody>
          <a:bodyPr vert="horz" lIns="91440" tIns="45720" rIns="91440" bIns="45720" rtlCol="0" anchor="ctr" anchorCtr="0">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2000" kern="1200" baseline="0" dirty="0">
                <a:solidFill>
                  <a:srgbClr val="546568"/>
                </a:solidFill>
                <a:latin typeface="+mn-lt"/>
                <a:ea typeface="+mn-ea"/>
                <a:cs typeface="+mn-cs"/>
              </a:defRPr>
            </a:lvl1pPr>
          </a:lstStyle>
          <a:p>
            <a:r>
              <a:rPr lang="en-US" dirty="0"/>
              <a:t>Photo placeholder</a:t>
            </a:r>
          </a:p>
        </p:txBody>
      </p:sp>
      <p:sp>
        <p:nvSpPr>
          <p:cNvPr id="11" name="Rectangle 5"/>
          <p:cNvSpPr>
            <a:spLocks noChangeArrowheads="1"/>
          </p:cNvSpPr>
          <p:nvPr userDrawn="1"/>
        </p:nvSpPr>
        <p:spPr bwMode="ltGray">
          <a:xfrm>
            <a:off x="7983399" y="6584512"/>
            <a:ext cx="592251" cy="175257"/>
          </a:xfrm>
          <a:prstGeom prst="rect">
            <a:avLst/>
          </a:prstGeom>
          <a:noFill/>
          <a:ln w="9525">
            <a:noFill/>
            <a:miter lim="800000"/>
            <a:headEnd/>
            <a:tailEnd/>
          </a:ln>
          <a:effectLst/>
        </p:spPr>
        <p:txBody>
          <a:bodyPr wrap="none" lIns="82124" tIns="41061" rIns="82124" bIns="41061" anchor="b">
            <a:spAutoFit/>
          </a:bodyPr>
          <a:lstStyle/>
          <a:p>
            <a:pPr marL="0" algn="r" defTabSz="814388" rtl="0" eaLnBrk="1" latinLnBrk="0" hangingPunct="1">
              <a:lnSpc>
                <a:spcPct val="100000"/>
              </a:lnSpc>
            </a:pPr>
            <a:r>
              <a:rPr lang="en-US" sz="600" kern="1200" dirty="0">
                <a:solidFill>
                  <a:srgbClr val="808080"/>
                </a:solidFill>
                <a:latin typeface="+mj-lt"/>
                <a:ea typeface="+mn-ea"/>
                <a:cs typeface="+mn-cs"/>
              </a:rPr>
              <a:t>Cisco Public</a:t>
            </a:r>
          </a:p>
        </p:txBody>
      </p:sp>
      <p:sp>
        <p:nvSpPr>
          <p:cNvPr id="8"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a:solidFill>
                  <a:srgbClr val="808080"/>
                </a:solidFill>
                <a:latin typeface="+mj-lt"/>
              </a:rPr>
              <a:t>© 2013 Cisco and/or its affiliates. All rights reserved.</a:t>
            </a:r>
          </a:p>
        </p:txBody>
      </p:sp>
      <p:sp>
        <p:nvSpPr>
          <p:cNvPr id="10"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33375" y="6380780"/>
            <a:ext cx="8477250" cy="160471"/>
          </a:xfrm>
          <a:prstGeom prst="rect">
            <a:avLst/>
          </a:prstGeom>
          <a:noFill/>
        </p:spPr>
      </p:pic>
    </p:spTree>
  </p:cSld>
  <p:clrMapOvr>
    <a:masterClrMapping/>
  </p:clrMapOvr>
  <p:transition>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Full bleed photo">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91440" y="-91440"/>
            <a:ext cx="9326880" cy="7040880"/>
          </a:xfrm>
        </p:spPr>
        <p:txBody>
          <a:bodyPr anchor="ctr" anchorCtr="1">
            <a:noAutofit/>
          </a:bodyPr>
          <a:lstStyle>
            <a:lvl1pPr algn="ctr">
              <a:buNone/>
              <a:defRPr>
                <a:latin typeface="+mj-lt"/>
              </a:defRPr>
            </a:lvl1pPr>
          </a:lstStyle>
          <a:p>
            <a:r>
              <a:rPr lang="en-US" dirty="0"/>
              <a:t>Full bleed image placeholder</a:t>
            </a:r>
          </a:p>
        </p:txBody>
      </p:sp>
    </p:spTree>
  </p:cSld>
  <p:clrMapOvr>
    <a:masterClrMapping/>
  </p:clrMapOvr>
  <p:transition>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Standard video">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21" name="Media Placeholder 20"/>
          <p:cNvSpPr>
            <a:spLocks noGrp="1"/>
          </p:cNvSpPr>
          <p:nvPr>
            <p:ph type="media" sz="quarter" idx="10" hasCustomPrompt="1"/>
          </p:nvPr>
        </p:nvSpPr>
        <p:spPr>
          <a:xfrm>
            <a:off x="2642616" y="777240"/>
            <a:ext cx="5897880" cy="4425696"/>
          </a:xfrm>
          <a:solidFill>
            <a:srgbClr val="000000"/>
          </a:solidFill>
          <a:ln>
            <a:noFill/>
          </a:ln>
          <a:effectLst>
            <a:innerShdw blurRad="419100">
              <a:prstClr val="black">
                <a:alpha val="47000"/>
              </a:prstClr>
            </a:inn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marL="0" indent="0" algn="ctr" defTabSz="914400" rtl="0" eaLnBrk="1" latinLnBrk="0" hangingPunct="1">
              <a:lnSpc>
                <a:spcPct val="95000"/>
              </a:lnSpc>
              <a:spcBef>
                <a:spcPts val="1440"/>
              </a:spcBef>
              <a:buClr>
                <a:srgbClr val="92D050"/>
              </a:buClr>
              <a:buSzPct val="90000"/>
              <a:buFont typeface="Arial" pitchFamily="34" charset="0"/>
              <a:buNone/>
              <a:tabLst/>
              <a:defRPr lang="en-US" sz="1800" kern="1200">
                <a:solidFill>
                  <a:schemeClr val="lt1"/>
                </a:solidFill>
                <a:latin typeface="+mj-lt"/>
                <a:ea typeface="+mn-ea"/>
                <a:cs typeface="+mn-cs"/>
              </a:defRPr>
            </a:lvl1pPr>
          </a:lstStyle>
          <a:p>
            <a:r>
              <a:rPr lang="en-US" dirty="0"/>
              <a:t>Click icon to add video</a:t>
            </a:r>
          </a:p>
        </p:txBody>
      </p:sp>
      <p:pic>
        <p:nvPicPr>
          <p:cNvPr id="23"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326148" y="6042098"/>
            <a:ext cx="2889136" cy="480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_gradient only">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 y="-1587"/>
            <a:ext cx="9144000" cy="6858000"/>
          </a:xfrm>
          <a:prstGeom prst="rect">
            <a:avLst/>
          </a:prstGeom>
        </p:spPr>
      </p:pic>
    </p:spTree>
  </p:cSld>
  <p:clrMapOvr>
    <a:masterClrMapping/>
  </p:clrMapOvr>
  <p:transition>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8022361"/>
      </p:ext>
    </p:extLst>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3" name="Rectangle 5"/>
          <p:cNvSpPr>
            <a:spLocks noChangeArrowheads="1"/>
          </p:cNvSpPr>
          <p:nvPr userDrawn="1"/>
        </p:nvSpPr>
        <p:spPr bwMode="ltGray">
          <a:xfrm>
            <a:off x="7983399" y="6584512"/>
            <a:ext cx="592251" cy="175257"/>
          </a:xfrm>
          <a:prstGeom prst="rect">
            <a:avLst/>
          </a:prstGeom>
          <a:noFill/>
          <a:ln w="9525">
            <a:noFill/>
            <a:miter lim="800000"/>
            <a:headEnd/>
            <a:tailEnd/>
          </a:ln>
          <a:effectLst/>
        </p:spPr>
        <p:txBody>
          <a:bodyPr wrap="none" lIns="82124" tIns="41061" rIns="82124" bIns="41061" anchor="b">
            <a:spAutoFit/>
          </a:bodyPr>
          <a:lstStyle/>
          <a:p>
            <a:pPr marL="0" algn="r" defTabSz="814388" rtl="0" eaLnBrk="1" latinLnBrk="0" hangingPunct="1">
              <a:lnSpc>
                <a:spcPct val="100000"/>
              </a:lnSpc>
            </a:pPr>
            <a:r>
              <a:rPr lang="en-US" sz="600" kern="1200" dirty="0">
                <a:solidFill>
                  <a:srgbClr val="808080"/>
                </a:solidFill>
                <a:latin typeface="+mj-lt"/>
                <a:ea typeface="+mn-ea"/>
                <a:cs typeface="+mn-cs"/>
              </a:rPr>
              <a:t>Cisco Public</a:t>
            </a:r>
          </a:p>
        </p:txBody>
      </p:sp>
      <p:sp>
        <p:nvSpPr>
          <p:cNvPr id="5" name="Rectangle 4"/>
          <p:cNvSpPr>
            <a:spLocks noChangeArrowheads="1"/>
          </p:cNvSpPr>
          <p:nvPr userDrawn="1"/>
        </p:nvSpPr>
        <p:spPr bwMode="ltGray">
          <a:xfrm>
            <a:off x="251373" y="6586246"/>
            <a:ext cx="3420515" cy="175257"/>
          </a:xfrm>
          <a:prstGeom prst="rect">
            <a:avLst/>
          </a:prstGeom>
          <a:noFill/>
          <a:ln w="9525">
            <a:noFill/>
            <a:miter lim="800000"/>
            <a:headEnd/>
            <a:tailEnd/>
          </a:ln>
          <a:effectLst/>
        </p:spPr>
        <p:txBody>
          <a:bodyPr wrap="square" lIns="82124" tIns="41061" rIns="82124" bIns="41061" anchor="b" anchorCtr="0">
            <a:spAutoFit/>
          </a:bodyPr>
          <a:lstStyle/>
          <a:p>
            <a:pPr algn="l" defTabSz="814388">
              <a:lnSpc>
                <a:spcPct val="100000"/>
              </a:lnSpc>
            </a:pPr>
            <a:r>
              <a:rPr lang="en-US" sz="600" dirty="0">
                <a:solidFill>
                  <a:srgbClr val="808080"/>
                </a:solidFill>
                <a:latin typeface="+mj-lt"/>
              </a:rPr>
              <a:t>© 2013 Cisco and/or its affiliates. All rights reserved.</a:t>
            </a:r>
          </a:p>
        </p:txBody>
      </p:sp>
      <p:sp>
        <p:nvSpPr>
          <p:cNvPr id="6" name="Rectangle 7"/>
          <p:cNvSpPr>
            <a:spLocks noChangeArrowheads="1"/>
          </p:cNvSpPr>
          <p:nvPr userDrawn="1"/>
        </p:nvSpPr>
        <p:spPr bwMode="ltGray">
          <a:xfrm>
            <a:off x="8639981" y="6580408"/>
            <a:ext cx="260429" cy="175257"/>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FCF27A5-1A5B-48D3-A060-2758FFBB1ADD}" type="slidenum">
              <a:rPr lang="en-US" sz="600">
                <a:solidFill>
                  <a:srgbClr val="808080"/>
                </a:solidFill>
                <a:latin typeface="+mj-lt"/>
              </a:rPr>
              <a:pPr algn="r" defTabSz="814388">
                <a:lnSpc>
                  <a:spcPct val="100000"/>
                </a:lnSpc>
              </a:pPr>
              <a:t>‹#›</a:t>
            </a:fld>
            <a:endParaRPr lang="en-US" sz="600" dirty="0">
              <a:solidFill>
                <a:srgbClr val="808080"/>
              </a:solidFill>
              <a:latin typeface="+mj-lt"/>
            </a:endParaRPr>
          </a:p>
        </p:txBody>
      </p:sp>
    </p:spTree>
  </p:cSld>
  <p:clrMapOvr>
    <a:masterClrMapping/>
  </p:clrMapOvr>
  <p:transition>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losing Slide_blue">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 y="-1587"/>
            <a:ext cx="9144000" cy="6858000"/>
          </a:xfrm>
          <a:prstGeom prst="rect">
            <a:avLst/>
          </a:prstGeom>
        </p:spPr>
      </p:pic>
      <p:sp>
        <p:nvSpPr>
          <p:cNvPr id="20" name="Rectangle 19"/>
          <p:cNvSpPr>
            <a:spLocks noChangeArrowheads="1"/>
          </p:cNvSpPr>
          <p:nvPr/>
        </p:nvSpPr>
        <p:spPr bwMode="black">
          <a:xfrm>
            <a:off x="4373702" y="5844550"/>
            <a:ext cx="41443" cy="157016"/>
          </a:xfrm>
          <a:prstGeom prst="rect">
            <a:avLst/>
          </a:prstGeom>
          <a:solidFill>
            <a:schemeClr val="bg1"/>
          </a:solidFill>
          <a:ln w="9525">
            <a:noFill/>
            <a:miter lim="800000"/>
            <a:headEnd/>
            <a:tailEnd/>
          </a:ln>
        </p:spPr>
        <p:txBody>
          <a:bodyPr/>
          <a:lstStyle/>
          <a:p>
            <a:endParaRPr lang="en-US">
              <a:solidFill>
                <a:srgbClr val="0096D6"/>
              </a:solidFill>
              <a:latin typeface="+mj-lt"/>
            </a:endParaRPr>
          </a:p>
        </p:txBody>
      </p:sp>
      <p:sp>
        <p:nvSpPr>
          <p:cNvPr id="21" name="Freeform 20"/>
          <p:cNvSpPr>
            <a:spLocks/>
          </p:cNvSpPr>
          <p:nvPr/>
        </p:nvSpPr>
        <p:spPr bwMode="black">
          <a:xfrm>
            <a:off x="4615130" y="5840202"/>
            <a:ext cx="119991" cy="165712"/>
          </a:xfrm>
          <a:custGeom>
            <a:avLst/>
            <a:gdLst/>
            <a:ahLst/>
            <a:cxnLst>
              <a:cxn ang="0">
                <a:pos x="58" y="24"/>
              </a:cxn>
              <a:cxn ang="0">
                <a:pos x="42" y="20"/>
              </a:cxn>
              <a:cxn ang="0">
                <a:pos x="21" y="40"/>
              </a:cxn>
              <a:cxn ang="0">
                <a:pos x="42" y="60"/>
              </a:cxn>
              <a:cxn ang="0">
                <a:pos x="58" y="56"/>
              </a:cxn>
              <a:cxn ang="0">
                <a:pos x="58" y="77"/>
              </a:cxn>
              <a:cxn ang="0">
                <a:pos x="41" y="80"/>
              </a:cxn>
              <a:cxn ang="0">
                <a:pos x="0" y="40"/>
              </a:cxn>
              <a:cxn ang="0">
                <a:pos x="41" y="0"/>
              </a:cxn>
              <a:cxn ang="0">
                <a:pos x="58" y="3"/>
              </a:cxn>
              <a:cxn ang="0">
                <a:pos x="58" y="24"/>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2" name="Freeform 21"/>
          <p:cNvSpPr>
            <a:spLocks/>
          </p:cNvSpPr>
          <p:nvPr/>
        </p:nvSpPr>
        <p:spPr bwMode="black">
          <a:xfrm>
            <a:off x="4200221" y="5840202"/>
            <a:ext cx="119991" cy="165712"/>
          </a:xfrm>
          <a:custGeom>
            <a:avLst/>
            <a:gdLst/>
            <a:ahLst/>
            <a:cxnLst>
              <a:cxn ang="0">
                <a:pos x="58" y="24"/>
              </a:cxn>
              <a:cxn ang="0">
                <a:pos x="42" y="20"/>
              </a:cxn>
              <a:cxn ang="0">
                <a:pos x="21" y="40"/>
              </a:cxn>
              <a:cxn ang="0">
                <a:pos x="42" y="60"/>
              </a:cxn>
              <a:cxn ang="0">
                <a:pos x="58" y="56"/>
              </a:cxn>
              <a:cxn ang="0">
                <a:pos x="58" y="77"/>
              </a:cxn>
              <a:cxn ang="0">
                <a:pos x="40" y="80"/>
              </a:cxn>
              <a:cxn ang="0">
                <a:pos x="0" y="40"/>
              </a:cxn>
              <a:cxn ang="0">
                <a:pos x="40" y="0"/>
              </a:cxn>
              <a:cxn ang="0">
                <a:pos x="58" y="3"/>
              </a:cxn>
              <a:cxn ang="0">
                <a:pos x="58" y="24"/>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3" name="Freeform 22"/>
          <p:cNvSpPr>
            <a:spLocks noEditPoints="1"/>
          </p:cNvSpPr>
          <p:nvPr userDrawn="1"/>
        </p:nvSpPr>
        <p:spPr bwMode="black">
          <a:xfrm>
            <a:off x="4778491" y="5840202"/>
            <a:ext cx="164807" cy="165712"/>
          </a:xfrm>
          <a:custGeom>
            <a:avLst/>
            <a:gdLst/>
            <a:ahLst/>
            <a:cxnLst>
              <a:cxn ang="0">
                <a:pos x="80" y="40"/>
              </a:cxn>
              <a:cxn ang="0">
                <a:pos x="40" y="80"/>
              </a:cxn>
              <a:cxn ang="0">
                <a:pos x="0" y="40"/>
              </a:cxn>
              <a:cxn ang="0">
                <a:pos x="40" y="0"/>
              </a:cxn>
              <a:cxn ang="0">
                <a:pos x="80" y="40"/>
              </a:cxn>
              <a:cxn ang="0">
                <a:pos x="40" y="20"/>
              </a:cxn>
              <a:cxn ang="0">
                <a:pos x="20" y="40"/>
              </a:cxn>
              <a:cxn ang="0">
                <a:pos x="40" y="60"/>
              </a:cxn>
              <a:cxn ang="0">
                <a:pos x="60" y="40"/>
              </a:cxn>
              <a:cxn ang="0">
                <a:pos x="40" y="20"/>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chemeClr val="bg1"/>
          </a:solidFill>
          <a:ln w="9525">
            <a:noFill/>
            <a:round/>
            <a:headEnd/>
            <a:tailEnd/>
          </a:ln>
        </p:spPr>
        <p:txBody>
          <a:bodyPr/>
          <a:lstStyle/>
          <a:p>
            <a:endParaRPr lang="en-US">
              <a:solidFill>
                <a:srgbClr val="0096D6"/>
              </a:solidFill>
              <a:latin typeface="+mj-lt"/>
            </a:endParaRPr>
          </a:p>
        </p:txBody>
      </p:sp>
      <p:sp>
        <p:nvSpPr>
          <p:cNvPr id="24" name="Freeform 23"/>
          <p:cNvSpPr>
            <a:spLocks/>
          </p:cNvSpPr>
          <p:nvPr/>
        </p:nvSpPr>
        <p:spPr bwMode="black">
          <a:xfrm>
            <a:off x="4468634" y="5840202"/>
            <a:ext cx="107462" cy="165712"/>
          </a:xfrm>
          <a:custGeom>
            <a:avLst/>
            <a:gdLst/>
            <a:ahLst/>
            <a:cxnLst>
              <a:cxn ang="0">
                <a:pos x="47" y="19"/>
              </a:cxn>
              <a:cxn ang="0">
                <a:pos x="32" y="17"/>
              </a:cxn>
              <a:cxn ang="0">
                <a:pos x="20" y="23"/>
              </a:cxn>
              <a:cxn ang="0">
                <a:pos x="29" y="30"/>
              </a:cxn>
              <a:cxn ang="0">
                <a:pos x="34" y="32"/>
              </a:cxn>
              <a:cxn ang="0">
                <a:pos x="52" y="54"/>
              </a:cxn>
              <a:cxn ang="0">
                <a:pos x="21" y="80"/>
              </a:cxn>
              <a:cxn ang="0">
                <a:pos x="0" y="77"/>
              </a:cxn>
              <a:cxn ang="0">
                <a:pos x="0" y="60"/>
              </a:cxn>
              <a:cxn ang="0">
                <a:pos x="18" y="63"/>
              </a:cxn>
              <a:cxn ang="0">
                <a:pos x="32" y="56"/>
              </a:cxn>
              <a:cxn ang="0">
                <a:pos x="23" y="48"/>
              </a:cxn>
              <a:cxn ang="0">
                <a:pos x="19" y="47"/>
              </a:cxn>
              <a:cxn ang="0">
                <a:pos x="0" y="24"/>
              </a:cxn>
              <a:cxn ang="0">
                <a:pos x="28" y="0"/>
              </a:cxn>
              <a:cxn ang="0">
                <a:pos x="47" y="3"/>
              </a:cxn>
              <a:cxn ang="0">
                <a:pos x="47" y="19"/>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5" name="Freeform 24"/>
          <p:cNvSpPr>
            <a:spLocks/>
          </p:cNvSpPr>
          <p:nvPr/>
        </p:nvSpPr>
        <p:spPr bwMode="black">
          <a:xfrm>
            <a:off x="4117817" y="5654198"/>
            <a:ext cx="39033" cy="80682"/>
          </a:xfrm>
          <a:custGeom>
            <a:avLst/>
            <a:gdLst/>
            <a:ahLst/>
            <a:cxnLst>
              <a:cxn ang="0">
                <a:pos x="19" y="10"/>
              </a:cxn>
              <a:cxn ang="0">
                <a:pos x="10" y="0"/>
              </a:cxn>
              <a:cxn ang="0">
                <a:pos x="0" y="10"/>
              </a:cxn>
              <a:cxn ang="0">
                <a:pos x="0" y="30"/>
              </a:cxn>
              <a:cxn ang="0">
                <a:pos x="10" y="39"/>
              </a:cxn>
              <a:cxn ang="0">
                <a:pos x="19" y="30"/>
              </a:cxn>
              <a:cxn ang="0">
                <a:pos x="19" y="10"/>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6" name="Freeform 25"/>
          <p:cNvSpPr>
            <a:spLocks/>
          </p:cNvSpPr>
          <p:nvPr/>
        </p:nvSpPr>
        <p:spPr bwMode="black">
          <a:xfrm>
            <a:off x="4227206"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7" name="Freeform 26"/>
          <p:cNvSpPr>
            <a:spLocks/>
          </p:cNvSpPr>
          <p:nvPr/>
        </p:nvSpPr>
        <p:spPr bwMode="black">
          <a:xfrm>
            <a:off x="4334669" y="5525687"/>
            <a:ext cx="39033" cy="248327"/>
          </a:xfrm>
          <a:custGeom>
            <a:avLst/>
            <a:gdLst/>
            <a:ahLst/>
            <a:cxnLst>
              <a:cxn ang="0">
                <a:pos x="19" y="9"/>
              </a:cxn>
              <a:cxn ang="0">
                <a:pos x="10" y="0"/>
              </a:cxn>
              <a:cxn ang="0">
                <a:pos x="0" y="9"/>
              </a:cxn>
              <a:cxn ang="0">
                <a:pos x="0" y="111"/>
              </a:cxn>
              <a:cxn ang="0">
                <a:pos x="10" y="120"/>
              </a:cxn>
              <a:cxn ang="0">
                <a:pos x="19" y="111"/>
              </a:cxn>
              <a:cxn ang="0">
                <a:pos x="19" y="9"/>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8" name="Freeform 27"/>
          <p:cNvSpPr>
            <a:spLocks/>
          </p:cNvSpPr>
          <p:nvPr/>
        </p:nvSpPr>
        <p:spPr bwMode="black">
          <a:xfrm>
            <a:off x="4444058"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29" name="Freeform 28"/>
          <p:cNvSpPr>
            <a:spLocks/>
          </p:cNvSpPr>
          <p:nvPr/>
        </p:nvSpPr>
        <p:spPr bwMode="black">
          <a:xfrm>
            <a:off x="4551038" y="5654198"/>
            <a:ext cx="41443" cy="80682"/>
          </a:xfrm>
          <a:custGeom>
            <a:avLst/>
            <a:gdLst/>
            <a:ahLst/>
            <a:cxnLst>
              <a:cxn ang="0">
                <a:pos x="20" y="10"/>
              </a:cxn>
              <a:cxn ang="0">
                <a:pos x="10" y="0"/>
              </a:cxn>
              <a:cxn ang="0">
                <a:pos x="0" y="10"/>
              </a:cxn>
              <a:cxn ang="0">
                <a:pos x="0" y="30"/>
              </a:cxn>
              <a:cxn ang="0">
                <a:pos x="10" y="39"/>
              </a:cxn>
              <a:cxn ang="0">
                <a:pos x="20" y="30"/>
              </a:cxn>
              <a:cxn ang="0">
                <a:pos x="20" y="10"/>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0" name="Freeform 29"/>
          <p:cNvSpPr>
            <a:spLocks/>
          </p:cNvSpPr>
          <p:nvPr/>
        </p:nvSpPr>
        <p:spPr bwMode="black">
          <a:xfrm>
            <a:off x="4660428"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1" name="Freeform 30"/>
          <p:cNvSpPr>
            <a:spLocks/>
          </p:cNvSpPr>
          <p:nvPr/>
        </p:nvSpPr>
        <p:spPr bwMode="black">
          <a:xfrm>
            <a:off x="4769818" y="5525687"/>
            <a:ext cx="39515" cy="248327"/>
          </a:xfrm>
          <a:custGeom>
            <a:avLst/>
            <a:gdLst/>
            <a:ahLst/>
            <a:cxnLst>
              <a:cxn ang="0">
                <a:pos x="19" y="9"/>
              </a:cxn>
              <a:cxn ang="0">
                <a:pos x="9" y="0"/>
              </a:cxn>
              <a:cxn ang="0">
                <a:pos x="0" y="9"/>
              </a:cxn>
              <a:cxn ang="0">
                <a:pos x="0" y="111"/>
              </a:cxn>
              <a:cxn ang="0">
                <a:pos x="9" y="120"/>
              </a:cxn>
              <a:cxn ang="0">
                <a:pos x="19" y="111"/>
              </a:cxn>
              <a:cxn ang="0">
                <a:pos x="19" y="9"/>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2" name="Freeform 31"/>
          <p:cNvSpPr>
            <a:spLocks/>
          </p:cNvSpPr>
          <p:nvPr/>
        </p:nvSpPr>
        <p:spPr bwMode="black">
          <a:xfrm>
            <a:off x="4877279"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33" name="Freeform 32"/>
          <p:cNvSpPr>
            <a:spLocks/>
          </p:cNvSpPr>
          <p:nvPr/>
        </p:nvSpPr>
        <p:spPr bwMode="black">
          <a:xfrm>
            <a:off x="4986669" y="5654198"/>
            <a:ext cx="39515" cy="80682"/>
          </a:xfrm>
          <a:custGeom>
            <a:avLst/>
            <a:gdLst/>
            <a:ahLst/>
            <a:cxnLst>
              <a:cxn ang="0">
                <a:pos x="19" y="10"/>
              </a:cxn>
              <a:cxn ang="0">
                <a:pos x="9" y="0"/>
              </a:cxn>
              <a:cxn ang="0">
                <a:pos x="0" y="10"/>
              </a:cxn>
              <a:cxn ang="0">
                <a:pos x="0" y="30"/>
              </a:cxn>
              <a:cxn ang="0">
                <a:pos x="9" y="39"/>
              </a:cxn>
              <a:cxn ang="0">
                <a:pos x="19" y="30"/>
              </a:cxn>
              <a:cxn ang="0">
                <a:pos x="19" y="10"/>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700"/>
                                        <p:tgtEl>
                                          <p:spTgt spid="25"/>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700"/>
                                        <p:tgtEl>
                                          <p:spTgt spid="27"/>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700"/>
                                        <p:tgtEl>
                                          <p:spTgt spid="29"/>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700"/>
                                        <p:tgtEl>
                                          <p:spTgt spid="31"/>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700"/>
                                        <p:tgtEl>
                                          <p:spTgt spid="33"/>
                                        </p:tgtEl>
                                      </p:cBhvr>
                                    </p:animEffect>
                                  </p:childTnLst>
                                </p:cTn>
                              </p:par>
                              <p:par>
                                <p:cTn id="20" presetID="10" presetClass="entr" presetSubtype="0" fill="hold" grpId="1"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700"/>
                                        <p:tgtEl>
                                          <p:spTgt spid="26"/>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700"/>
                                        <p:tgtEl>
                                          <p:spTgt spid="28"/>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700"/>
                                        <p:tgtEl>
                                          <p:spTgt spid="30"/>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700"/>
                                        <p:tgtEl>
                                          <p:spTgt spid="32"/>
                                        </p:tgtEl>
                                      </p:cBhvr>
                                    </p:animEffect>
                                  </p:childTnLst>
                                </p:cTn>
                              </p:par>
                              <p:par>
                                <p:cTn id="32" presetID="42" presetClass="path" presetSubtype="0" accel="50000" decel="50000" fill="hold" grpId="0" nodeType="withEffect">
                                  <p:stCondLst>
                                    <p:cond delay="0"/>
                                  </p:stCondLst>
                                  <p:childTnLst>
                                    <p:animMotion origin="layout" path="M -5.55556E-7 -1.91391E-6 L -5.55556E-7 0.02314 " pathEditMode="relative" rAng="0" ptsTypes="AA">
                                      <p:cBhvr>
                                        <p:cTn id="33" dur="700" spd="-100000" fill="hold"/>
                                        <p:tgtEl>
                                          <p:spTgt spid="25"/>
                                        </p:tgtEl>
                                        <p:attrNameLst>
                                          <p:attrName>ppt_x</p:attrName>
                                          <p:attrName>ppt_y</p:attrName>
                                        </p:attrNameLst>
                                      </p:cBhvr>
                                      <p:rCtr x="0" y="12"/>
                                    </p:animMotion>
                                  </p:childTnLst>
                                </p:cTn>
                              </p:par>
                              <p:par>
                                <p:cTn id="34" presetID="42" presetClass="path" presetSubtype="0" accel="50000" decel="50000" fill="hold" grpId="0" nodeType="withEffect">
                                  <p:stCondLst>
                                    <p:cond delay="0"/>
                                  </p:stCondLst>
                                  <p:childTnLst>
                                    <p:animMotion origin="layout" path="M 4.72222E-6 -1.93242E-6 L 4.72222E-6 0.02962 " pathEditMode="relative" rAng="0" ptsTypes="AA">
                                      <p:cBhvr>
                                        <p:cTn id="35" dur="700" spd="-100000" fill="hold"/>
                                        <p:tgtEl>
                                          <p:spTgt spid="27"/>
                                        </p:tgtEl>
                                        <p:attrNameLst>
                                          <p:attrName>ppt_x</p:attrName>
                                          <p:attrName>ppt_y</p:attrName>
                                        </p:attrNameLst>
                                      </p:cBhvr>
                                      <p:rCtr x="0" y="15"/>
                                    </p:animMotion>
                                  </p:childTnLst>
                                </p:cTn>
                              </p:par>
                              <p:par>
                                <p:cTn id="36" presetID="42" presetClass="path" presetSubtype="0" accel="50000" decel="50000" fill="hold" grpId="0" nodeType="withEffect">
                                  <p:stCondLst>
                                    <p:cond delay="0"/>
                                  </p:stCondLst>
                                  <p:childTnLst>
                                    <p:animMotion origin="layout" path="M 0 -1.91391E-6 L 0 0.02314 " pathEditMode="relative" rAng="0" ptsTypes="AA">
                                      <p:cBhvr>
                                        <p:cTn id="37" dur="700" spd="-100000" fill="hold"/>
                                        <p:tgtEl>
                                          <p:spTgt spid="29"/>
                                        </p:tgtEl>
                                        <p:attrNameLst>
                                          <p:attrName>ppt_x</p:attrName>
                                          <p:attrName>ppt_y</p:attrName>
                                        </p:attrNameLst>
                                      </p:cBhvr>
                                      <p:rCtr x="0" y="12"/>
                                    </p:animMotion>
                                  </p:childTnLst>
                                </p:cTn>
                              </p:par>
                              <p:par>
                                <p:cTn id="38" presetID="42" presetClass="path" presetSubtype="0" accel="50000" decel="50000" fill="hold" grpId="0" nodeType="withEffect">
                                  <p:stCondLst>
                                    <p:cond delay="0"/>
                                  </p:stCondLst>
                                  <p:childTnLst>
                                    <p:animMotion origin="layout" path="M -4.72222E-6 -1.93242E-6 L -4.72222E-6 0.02962 " pathEditMode="relative" rAng="0" ptsTypes="AA">
                                      <p:cBhvr>
                                        <p:cTn id="39" dur="700" spd="-100000" fill="hold"/>
                                        <p:tgtEl>
                                          <p:spTgt spid="31"/>
                                        </p:tgtEl>
                                        <p:attrNameLst>
                                          <p:attrName>ppt_x</p:attrName>
                                          <p:attrName>ppt_y</p:attrName>
                                        </p:attrNameLst>
                                      </p:cBhvr>
                                      <p:rCtr x="0" y="15"/>
                                    </p:animMotion>
                                  </p:childTnLst>
                                </p:cTn>
                              </p:par>
                              <p:par>
                                <p:cTn id="40" presetID="42" presetClass="path" presetSubtype="0" accel="50000" decel="50000" fill="hold" grpId="0" nodeType="withEffect">
                                  <p:stCondLst>
                                    <p:cond delay="0"/>
                                  </p:stCondLst>
                                  <p:childTnLst>
                                    <p:animMotion origin="layout" path="M 4.16667E-6 -1.91391E-6 L 4.16667E-6 0.02314 " pathEditMode="relative" rAng="0" ptsTypes="AA">
                                      <p:cBhvr>
                                        <p:cTn id="41" dur="700" spd="-100000" fill="hold"/>
                                        <p:tgtEl>
                                          <p:spTgt spid="33"/>
                                        </p:tgtEl>
                                        <p:attrNameLst>
                                          <p:attrName>ppt_x</p:attrName>
                                          <p:attrName>ppt_y</p:attrName>
                                        </p:attrNameLst>
                                      </p:cBhvr>
                                      <p:rCtr x="0" y="12"/>
                                    </p:animMotion>
                                  </p:childTnLst>
                                </p:cTn>
                              </p:par>
                              <p:par>
                                <p:cTn id="42" presetID="64" presetClass="path" presetSubtype="0" accel="50000" decel="50000" fill="hold" grpId="0" nodeType="withEffect">
                                  <p:stCondLst>
                                    <p:cond delay="0"/>
                                  </p:stCondLst>
                                  <p:childTnLst>
                                    <p:animMotion origin="layout" path="M 2.77778E-7 2.36056E-6 L 2.77778E-7 -0.02338 " pathEditMode="relative" rAng="0" ptsTypes="AA">
                                      <p:cBhvr>
                                        <p:cTn id="43" dur="700" spd="-100000" fill="hold"/>
                                        <p:tgtEl>
                                          <p:spTgt spid="26"/>
                                        </p:tgtEl>
                                        <p:attrNameLst>
                                          <p:attrName>ppt_x</p:attrName>
                                          <p:attrName>ppt_y</p:attrName>
                                        </p:attrNameLst>
                                      </p:cBhvr>
                                      <p:rCtr x="0" y="-12"/>
                                    </p:animMotion>
                                  </p:childTnLst>
                                </p:cTn>
                              </p:par>
                              <p:par>
                                <p:cTn id="44" presetID="64" presetClass="path" presetSubtype="0" accel="50000" decel="50000" fill="hold" grpId="0" nodeType="withEffect">
                                  <p:stCondLst>
                                    <p:cond delay="0"/>
                                  </p:stCondLst>
                                  <p:childTnLst>
                                    <p:animMotion origin="layout" path="M -8.33333E-7 2.36056E-6 L -8.33333E-7 -0.02338 " pathEditMode="relative" rAng="0" ptsTypes="AA">
                                      <p:cBhvr>
                                        <p:cTn id="45" dur="700" spd="-100000" fill="hold"/>
                                        <p:tgtEl>
                                          <p:spTgt spid="28"/>
                                        </p:tgtEl>
                                        <p:attrNameLst>
                                          <p:attrName>ppt_x</p:attrName>
                                          <p:attrName>ppt_y</p:attrName>
                                        </p:attrNameLst>
                                      </p:cBhvr>
                                      <p:rCtr x="0" y="-12"/>
                                    </p:animMotion>
                                  </p:childTnLst>
                                </p:cTn>
                              </p:par>
                              <p:par>
                                <p:cTn id="46" presetID="64" presetClass="path" presetSubtype="0" accel="50000" decel="50000" fill="hold" grpId="0" nodeType="withEffect">
                                  <p:stCondLst>
                                    <p:cond delay="0"/>
                                  </p:stCondLst>
                                  <p:childTnLst>
                                    <p:animMotion origin="layout" path="M 4.44444E-6 2.36056E-6 L 4.44444E-6 -0.02338 " pathEditMode="relative" rAng="0" ptsTypes="AA">
                                      <p:cBhvr>
                                        <p:cTn id="47" dur="700" spd="-100000" fill="hold"/>
                                        <p:tgtEl>
                                          <p:spTgt spid="30"/>
                                        </p:tgtEl>
                                        <p:attrNameLst>
                                          <p:attrName>ppt_x</p:attrName>
                                          <p:attrName>ppt_y</p:attrName>
                                        </p:attrNameLst>
                                      </p:cBhvr>
                                      <p:rCtr x="0" y="-12"/>
                                    </p:animMotion>
                                  </p:childTnLst>
                                </p:cTn>
                              </p:par>
                              <p:par>
                                <p:cTn id="48" presetID="64" presetClass="path" presetSubtype="0" accel="50000" decel="50000" fill="hold" grpId="0" nodeType="withEffect">
                                  <p:stCondLst>
                                    <p:cond delay="0"/>
                                  </p:stCondLst>
                                  <p:childTnLst>
                                    <p:animMotion origin="layout" path="M 3.33333E-6 2.36056E-6 L 3.33333E-6 -0.02338 " pathEditMode="relative" rAng="0" ptsTypes="AA">
                                      <p:cBhvr>
                                        <p:cTn id="49" dur="700" spd="-100000" fill="hold"/>
                                        <p:tgtEl>
                                          <p:spTgt spid="32"/>
                                        </p:tgtEl>
                                        <p:attrNameLst>
                                          <p:attrName>ppt_x</p:attrName>
                                          <p:attrName>ppt_y</p:attrName>
                                        </p:attrNameLst>
                                      </p:cBhvr>
                                      <p:rCtr x="0" y="-12"/>
                                    </p:animMotion>
                                  </p:childTnLst>
                                </p:cTn>
                              </p:par>
                            </p:childTnLst>
                          </p:cTn>
                        </p:par>
                        <p:par>
                          <p:cTn id="50" fill="hold">
                            <p:stCondLst>
                              <p:cond delay="700"/>
                            </p:stCondLst>
                            <p:childTnLst>
                              <p:par>
                                <p:cTn id="51" presetID="10" presetClass="entr" presetSubtype="0"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700"/>
                                        <p:tgtEl>
                                          <p:spTgt spid="22"/>
                                        </p:tgtEl>
                                      </p:cBhvr>
                                    </p:animEffect>
                                  </p:childTnLst>
                                </p:cTn>
                              </p:par>
                              <p:par>
                                <p:cTn id="54" presetID="10" presetClass="entr" presetSubtype="0" fill="hold" grpId="0" nodeType="withEffect">
                                  <p:stCondLst>
                                    <p:cond delay="10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700"/>
                                        <p:tgtEl>
                                          <p:spTgt spid="20"/>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700"/>
                                        <p:tgtEl>
                                          <p:spTgt spid="24"/>
                                        </p:tgtEl>
                                      </p:cBhvr>
                                    </p:animEffect>
                                  </p:childTnLst>
                                </p:cTn>
                              </p:par>
                              <p:par>
                                <p:cTn id="60" presetID="10" presetClass="entr" presetSubtype="0" fill="hold" grpId="0" nodeType="withEffect">
                                  <p:stCondLst>
                                    <p:cond delay="3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700"/>
                                        <p:tgtEl>
                                          <p:spTgt spid="21"/>
                                        </p:tgtEl>
                                      </p:cBhvr>
                                    </p:animEffect>
                                  </p:childTnLst>
                                </p:cTn>
                              </p:par>
                              <p:par>
                                <p:cTn id="63" presetID="10" presetClass="entr" presetSubtype="0" fill="hold" grpId="0" nodeType="withEffect">
                                  <p:stCondLst>
                                    <p:cond delay="40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losing Slide-blue thank you">
    <p:spTree>
      <p:nvGrpSpPr>
        <p:cNvPr id="1" name=""/>
        <p:cNvGrpSpPr/>
        <p:nvPr/>
      </p:nvGrpSpPr>
      <p:grpSpPr>
        <a:xfrm>
          <a:off x="0" y="0"/>
          <a:ext cx="0" cy="0"/>
          <a:chOff x="0" y="0"/>
          <a:chExt cx="0" cy="0"/>
        </a:xfrm>
      </p:grpSpPr>
      <p:pic>
        <p:nvPicPr>
          <p:cNvPr id="35" name="Picture 3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 y="-1587"/>
            <a:ext cx="9144000" cy="6858000"/>
          </a:xfrm>
          <a:prstGeom prst="rect">
            <a:avLst/>
          </a:prstGeom>
        </p:spPr>
      </p:pic>
      <p:sp>
        <p:nvSpPr>
          <p:cNvPr id="34" name="TextBox 33"/>
          <p:cNvSpPr txBox="1"/>
          <p:nvPr userDrawn="1"/>
        </p:nvSpPr>
        <p:spPr>
          <a:xfrm>
            <a:off x="644691" y="3060488"/>
            <a:ext cx="2437270" cy="646331"/>
          </a:xfrm>
          <a:prstGeom prst="rect">
            <a:avLst/>
          </a:prstGeom>
          <a:noFill/>
        </p:spPr>
        <p:txBody>
          <a:bodyPr wrap="none" rtlCol="0">
            <a:spAutoFit/>
          </a:bodyPr>
          <a:lstStyle/>
          <a:p>
            <a:r>
              <a:rPr lang="en-US" sz="3600" dirty="0">
                <a:solidFill>
                  <a:srgbClr val="FFFFFF"/>
                </a:solidFill>
                <a:latin typeface="+mj-lt"/>
              </a:rPr>
              <a:t>Thank you.</a:t>
            </a:r>
          </a:p>
        </p:txBody>
      </p:sp>
      <p:pic>
        <p:nvPicPr>
          <p:cNvPr id="18"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669746" y="3078070"/>
            <a:ext cx="3669899" cy="610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6250"/>
                                  </p:iterate>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par>
                                <p:cTn id="8" presetID="10" presetClass="entr" presetSubtype="0" fill="hold" nodeType="withEffect">
                                  <p:stCondLst>
                                    <p:cond delay="75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losing Slide-red">
    <p:spTree>
      <p:nvGrpSpPr>
        <p:cNvPr id="1" name=""/>
        <p:cNvGrpSpPr/>
        <p:nvPr/>
      </p:nvGrpSpPr>
      <p:grpSpPr>
        <a:xfrm>
          <a:off x="0" y="0"/>
          <a:ext cx="0" cy="0"/>
          <a:chOff x="0" y="0"/>
          <a:chExt cx="0" cy="0"/>
        </a:xfrm>
      </p:grpSpPr>
      <p:pic>
        <p:nvPicPr>
          <p:cNvPr id="19" name="Picture 1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Rectangle 3"/>
          <p:cNvSpPr>
            <a:spLocks noChangeArrowheads="1"/>
          </p:cNvSpPr>
          <p:nvPr/>
        </p:nvSpPr>
        <p:spPr bwMode="black">
          <a:xfrm>
            <a:off x="4373702" y="5844550"/>
            <a:ext cx="41443" cy="157016"/>
          </a:xfrm>
          <a:prstGeom prst="rect">
            <a:avLst/>
          </a:prstGeom>
          <a:solidFill>
            <a:schemeClr val="bg1"/>
          </a:solidFill>
          <a:ln w="9525">
            <a:noFill/>
            <a:miter lim="800000"/>
            <a:headEnd/>
            <a:tailEnd/>
          </a:ln>
        </p:spPr>
        <p:txBody>
          <a:bodyPr/>
          <a:lstStyle/>
          <a:p>
            <a:endParaRPr lang="en-US">
              <a:solidFill>
                <a:srgbClr val="0096D6"/>
              </a:solidFill>
              <a:latin typeface="+mj-lt"/>
            </a:endParaRPr>
          </a:p>
        </p:txBody>
      </p:sp>
      <p:sp>
        <p:nvSpPr>
          <p:cNvPr id="5" name="Freeform 4"/>
          <p:cNvSpPr>
            <a:spLocks/>
          </p:cNvSpPr>
          <p:nvPr/>
        </p:nvSpPr>
        <p:spPr bwMode="black">
          <a:xfrm>
            <a:off x="4615130" y="5840202"/>
            <a:ext cx="119991" cy="165712"/>
          </a:xfrm>
          <a:custGeom>
            <a:avLst/>
            <a:gdLst/>
            <a:ahLst/>
            <a:cxnLst>
              <a:cxn ang="0">
                <a:pos x="58" y="24"/>
              </a:cxn>
              <a:cxn ang="0">
                <a:pos x="42" y="20"/>
              </a:cxn>
              <a:cxn ang="0">
                <a:pos x="21" y="40"/>
              </a:cxn>
              <a:cxn ang="0">
                <a:pos x="42" y="60"/>
              </a:cxn>
              <a:cxn ang="0">
                <a:pos x="58" y="56"/>
              </a:cxn>
              <a:cxn ang="0">
                <a:pos x="58" y="77"/>
              </a:cxn>
              <a:cxn ang="0">
                <a:pos x="41" y="80"/>
              </a:cxn>
              <a:cxn ang="0">
                <a:pos x="0" y="40"/>
              </a:cxn>
              <a:cxn ang="0">
                <a:pos x="41" y="0"/>
              </a:cxn>
              <a:cxn ang="0">
                <a:pos x="58" y="3"/>
              </a:cxn>
              <a:cxn ang="0">
                <a:pos x="58" y="24"/>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6" name="Freeform 5"/>
          <p:cNvSpPr>
            <a:spLocks/>
          </p:cNvSpPr>
          <p:nvPr/>
        </p:nvSpPr>
        <p:spPr bwMode="black">
          <a:xfrm>
            <a:off x="4200221" y="5840202"/>
            <a:ext cx="119991" cy="165712"/>
          </a:xfrm>
          <a:custGeom>
            <a:avLst/>
            <a:gdLst/>
            <a:ahLst/>
            <a:cxnLst>
              <a:cxn ang="0">
                <a:pos x="58" y="24"/>
              </a:cxn>
              <a:cxn ang="0">
                <a:pos x="42" y="20"/>
              </a:cxn>
              <a:cxn ang="0">
                <a:pos x="21" y="40"/>
              </a:cxn>
              <a:cxn ang="0">
                <a:pos x="42" y="60"/>
              </a:cxn>
              <a:cxn ang="0">
                <a:pos x="58" y="56"/>
              </a:cxn>
              <a:cxn ang="0">
                <a:pos x="58" y="77"/>
              </a:cxn>
              <a:cxn ang="0">
                <a:pos x="40" y="80"/>
              </a:cxn>
              <a:cxn ang="0">
                <a:pos x="0" y="40"/>
              </a:cxn>
              <a:cxn ang="0">
                <a:pos x="40" y="0"/>
              </a:cxn>
              <a:cxn ang="0">
                <a:pos x="58" y="3"/>
              </a:cxn>
              <a:cxn ang="0">
                <a:pos x="58" y="24"/>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7" name="Freeform 6"/>
          <p:cNvSpPr>
            <a:spLocks noEditPoints="1"/>
          </p:cNvSpPr>
          <p:nvPr userDrawn="1"/>
        </p:nvSpPr>
        <p:spPr bwMode="black">
          <a:xfrm>
            <a:off x="4778491" y="5840202"/>
            <a:ext cx="164807" cy="165712"/>
          </a:xfrm>
          <a:custGeom>
            <a:avLst/>
            <a:gdLst/>
            <a:ahLst/>
            <a:cxnLst>
              <a:cxn ang="0">
                <a:pos x="80" y="40"/>
              </a:cxn>
              <a:cxn ang="0">
                <a:pos x="40" y="80"/>
              </a:cxn>
              <a:cxn ang="0">
                <a:pos x="0" y="40"/>
              </a:cxn>
              <a:cxn ang="0">
                <a:pos x="40" y="0"/>
              </a:cxn>
              <a:cxn ang="0">
                <a:pos x="80" y="40"/>
              </a:cxn>
              <a:cxn ang="0">
                <a:pos x="40" y="20"/>
              </a:cxn>
              <a:cxn ang="0">
                <a:pos x="20" y="40"/>
              </a:cxn>
              <a:cxn ang="0">
                <a:pos x="40" y="60"/>
              </a:cxn>
              <a:cxn ang="0">
                <a:pos x="60" y="40"/>
              </a:cxn>
              <a:cxn ang="0">
                <a:pos x="40" y="20"/>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chemeClr val="bg1"/>
          </a:solidFill>
          <a:ln w="9525">
            <a:noFill/>
            <a:round/>
            <a:headEnd/>
            <a:tailEnd/>
          </a:ln>
        </p:spPr>
        <p:txBody>
          <a:bodyPr/>
          <a:lstStyle/>
          <a:p>
            <a:endParaRPr lang="en-US">
              <a:solidFill>
                <a:srgbClr val="0096D6"/>
              </a:solidFill>
              <a:latin typeface="+mj-lt"/>
            </a:endParaRPr>
          </a:p>
        </p:txBody>
      </p:sp>
      <p:sp>
        <p:nvSpPr>
          <p:cNvPr id="8" name="Freeform 7"/>
          <p:cNvSpPr>
            <a:spLocks/>
          </p:cNvSpPr>
          <p:nvPr/>
        </p:nvSpPr>
        <p:spPr bwMode="black">
          <a:xfrm>
            <a:off x="4468634" y="5840202"/>
            <a:ext cx="107462" cy="165712"/>
          </a:xfrm>
          <a:custGeom>
            <a:avLst/>
            <a:gdLst/>
            <a:ahLst/>
            <a:cxnLst>
              <a:cxn ang="0">
                <a:pos x="47" y="19"/>
              </a:cxn>
              <a:cxn ang="0">
                <a:pos x="32" y="17"/>
              </a:cxn>
              <a:cxn ang="0">
                <a:pos x="20" y="23"/>
              </a:cxn>
              <a:cxn ang="0">
                <a:pos x="29" y="30"/>
              </a:cxn>
              <a:cxn ang="0">
                <a:pos x="34" y="32"/>
              </a:cxn>
              <a:cxn ang="0">
                <a:pos x="52" y="54"/>
              </a:cxn>
              <a:cxn ang="0">
                <a:pos x="21" y="80"/>
              </a:cxn>
              <a:cxn ang="0">
                <a:pos x="0" y="77"/>
              </a:cxn>
              <a:cxn ang="0">
                <a:pos x="0" y="60"/>
              </a:cxn>
              <a:cxn ang="0">
                <a:pos x="18" y="63"/>
              </a:cxn>
              <a:cxn ang="0">
                <a:pos x="32" y="56"/>
              </a:cxn>
              <a:cxn ang="0">
                <a:pos x="23" y="48"/>
              </a:cxn>
              <a:cxn ang="0">
                <a:pos x="19" y="47"/>
              </a:cxn>
              <a:cxn ang="0">
                <a:pos x="0" y="24"/>
              </a:cxn>
              <a:cxn ang="0">
                <a:pos x="28" y="0"/>
              </a:cxn>
              <a:cxn ang="0">
                <a:pos x="47" y="3"/>
              </a:cxn>
              <a:cxn ang="0">
                <a:pos x="47" y="19"/>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9" name="Freeform 8"/>
          <p:cNvSpPr>
            <a:spLocks/>
          </p:cNvSpPr>
          <p:nvPr/>
        </p:nvSpPr>
        <p:spPr bwMode="black">
          <a:xfrm>
            <a:off x="4117817" y="5654198"/>
            <a:ext cx="39033" cy="80682"/>
          </a:xfrm>
          <a:custGeom>
            <a:avLst/>
            <a:gdLst/>
            <a:ahLst/>
            <a:cxnLst>
              <a:cxn ang="0">
                <a:pos x="19" y="10"/>
              </a:cxn>
              <a:cxn ang="0">
                <a:pos x="10" y="0"/>
              </a:cxn>
              <a:cxn ang="0">
                <a:pos x="0" y="10"/>
              </a:cxn>
              <a:cxn ang="0">
                <a:pos x="0" y="30"/>
              </a:cxn>
              <a:cxn ang="0">
                <a:pos x="10" y="39"/>
              </a:cxn>
              <a:cxn ang="0">
                <a:pos x="19" y="30"/>
              </a:cxn>
              <a:cxn ang="0">
                <a:pos x="19" y="10"/>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0" name="Freeform 9"/>
          <p:cNvSpPr>
            <a:spLocks/>
          </p:cNvSpPr>
          <p:nvPr/>
        </p:nvSpPr>
        <p:spPr bwMode="black">
          <a:xfrm>
            <a:off x="4227206"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1" name="Freeform 10"/>
          <p:cNvSpPr>
            <a:spLocks/>
          </p:cNvSpPr>
          <p:nvPr/>
        </p:nvSpPr>
        <p:spPr bwMode="black">
          <a:xfrm>
            <a:off x="4334669" y="5525687"/>
            <a:ext cx="39033" cy="248327"/>
          </a:xfrm>
          <a:custGeom>
            <a:avLst/>
            <a:gdLst/>
            <a:ahLst/>
            <a:cxnLst>
              <a:cxn ang="0">
                <a:pos x="19" y="9"/>
              </a:cxn>
              <a:cxn ang="0">
                <a:pos x="10" y="0"/>
              </a:cxn>
              <a:cxn ang="0">
                <a:pos x="0" y="9"/>
              </a:cxn>
              <a:cxn ang="0">
                <a:pos x="0" y="111"/>
              </a:cxn>
              <a:cxn ang="0">
                <a:pos x="10" y="120"/>
              </a:cxn>
              <a:cxn ang="0">
                <a:pos x="19" y="111"/>
              </a:cxn>
              <a:cxn ang="0">
                <a:pos x="19" y="9"/>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2" name="Freeform 11"/>
          <p:cNvSpPr>
            <a:spLocks/>
          </p:cNvSpPr>
          <p:nvPr/>
        </p:nvSpPr>
        <p:spPr bwMode="black">
          <a:xfrm>
            <a:off x="4444058" y="5600088"/>
            <a:ext cx="39033" cy="134792"/>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4" name="Freeform 13"/>
          <p:cNvSpPr>
            <a:spLocks/>
          </p:cNvSpPr>
          <p:nvPr/>
        </p:nvSpPr>
        <p:spPr bwMode="black">
          <a:xfrm>
            <a:off x="4551038" y="5654198"/>
            <a:ext cx="41443" cy="80682"/>
          </a:xfrm>
          <a:custGeom>
            <a:avLst/>
            <a:gdLst/>
            <a:ahLst/>
            <a:cxnLst>
              <a:cxn ang="0">
                <a:pos x="20" y="10"/>
              </a:cxn>
              <a:cxn ang="0">
                <a:pos x="10" y="0"/>
              </a:cxn>
              <a:cxn ang="0">
                <a:pos x="0" y="10"/>
              </a:cxn>
              <a:cxn ang="0">
                <a:pos x="0" y="30"/>
              </a:cxn>
              <a:cxn ang="0">
                <a:pos x="10" y="39"/>
              </a:cxn>
              <a:cxn ang="0">
                <a:pos x="20" y="30"/>
              </a:cxn>
              <a:cxn ang="0">
                <a:pos x="20" y="10"/>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5" name="Freeform 14"/>
          <p:cNvSpPr>
            <a:spLocks/>
          </p:cNvSpPr>
          <p:nvPr/>
        </p:nvSpPr>
        <p:spPr bwMode="black">
          <a:xfrm>
            <a:off x="4660428"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6" name="Freeform 15"/>
          <p:cNvSpPr>
            <a:spLocks/>
          </p:cNvSpPr>
          <p:nvPr/>
        </p:nvSpPr>
        <p:spPr bwMode="black">
          <a:xfrm>
            <a:off x="4769818" y="5525687"/>
            <a:ext cx="39515" cy="248327"/>
          </a:xfrm>
          <a:custGeom>
            <a:avLst/>
            <a:gdLst/>
            <a:ahLst/>
            <a:cxnLst>
              <a:cxn ang="0">
                <a:pos x="19" y="9"/>
              </a:cxn>
              <a:cxn ang="0">
                <a:pos x="9" y="0"/>
              </a:cxn>
              <a:cxn ang="0">
                <a:pos x="0" y="9"/>
              </a:cxn>
              <a:cxn ang="0">
                <a:pos x="0" y="111"/>
              </a:cxn>
              <a:cxn ang="0">
                <a:pos x="9" y="120"/>
              </a:cxn>
              <a:cxn ang="0">
                <a:pos x="19" y="111"/>
              </a:cxn>
              <a:cxn ang="0">
                <a:pos x="19" y="9"/>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7" name="Freeform 16"/>
          <p:cNvSpPr>
            <a:spLocks/>
          </p:cNvSpPr>
          <p:nvPr/>
        </p:nvSpPr>
        <p:spPr bwMode="black">
          <a:xfrm>
            <a:off x="4877279" y="5600088"/>
            <a:ext cx="39515" cy="134792"/>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chemeClr val="bg1"/>
          </a:solidFill>
          <a:ln w="9525">
            <a:noFill/>
            <a:round/>
            <a:headEnd/>
            <a:tailEnd/>
          </a:ln>
        </p:spPr>
        <p:txBody>
          <a:bodyPr/>
          <a:lstStyle/>
          <a:p>
            <a:endParaRPr lang="en-US">
              <a:solidFill>
                <a:srgbClr val="0096D6"/>
              </a:solidFill>
              <a:latin typeface="+mj-lt"/>
            </a:endParaRPr>
          </a:p>
        </p:txBody>
      </p:sp>
      <p:sp>
        <p:nvSpPr>
          <p:cNvPr id="18" name="Freeform 17"/>
          <p:cNvSpPr>
            <a:spLocks/>
          </p:cNvSpPr>
          <p:nvPr/>
        </p:nvSpPr>
        <p:spPr bwMode="black">
          <a:xfrm>
            <a:off x="4986669" y="5654198"/>
            <a:ext cx="39515" cy="80682"/>
          </a:xfrm>
          <a:custGeom>
            <a:avLst/>
            <a:gdLst/>
            <a:ahLst/>
            <a:cxnLst>
              <a:cxn ang="0">
                <a:pos x="19" y="10"/>
              </a:cxn>
              <a:cxn ang="0">
                <a:pos x="9" y="0"/>
              </a:cxn>
              <a:cxn ang="0">
                <a:pos x="0" y="10"/>
              </a:cxn>
              <a:cxn ang="0">
                <a:pos x="0" y="30"/>
              </a:cxn>
              <a:cxn ang="0">
                <a:pos x="9" y="39"/>
              </a:cxn>
              <a:cxn ang="0">
                <a:pos x="19" y="30"/>
              </a:cxn>
              <a:cxn ang="0">
                <a:pos x="19" y="10"/>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chemeClr val="bg1"/>
          </a:solidFill>
          <a:ln w="9525">
            <a:noFill/>
            <a:round/>
            <a:headEnd/>
            <a:tailEnd/>
          </a:ln>
        </p:spPr>
        <p:txBody>
          <a:bodyPr/>
          <a:lstStyle/>
          <a:p>
            <a:endParaRPr lang="en-US">
              <a:solidFill>
                <a:srgbClr val="0096D6"/>
              </a:solidFill>
              <a:latin typeface="+mj-lt"/>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00"/>
                                        <p:tgtEl>
                                          <p:spTgt spid="9"/>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700"/>
                                        <p:tgtEl>
                                          <p:spTgt spid="11"/>
                                        </p:tgtEl>
                                      </p:cBhvr>
                                    </p:animEffect>
                                  </p:childTnLst>
                                </p:cTn>
                              </p:par>
                              <p:par>
                                <p:cTn id="11" presetID="10" presetClass="entr" presetSubtype="0" fill="hold" grpId="1"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700"/>
                                        <p:tgtEl>
                                          <p:spTgt spid="14"/>
                                        </p:tgtEl>
                                      </p:cBhvr>
                                    </p:animEffect>
                                  </p:childTnLst>
                                </p:cTn>
                              </p:par>
                              <p:par>
                                <p:cTn id="14" presetID="10" presetClass="entr" presetSubtype="0" fill="hold" grpId="1"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700"/>
                                        <p:tgtEl>
                                          <p:spTgt spid="16"/>
                                        </p:tgtEl>
                                      </p:cBhvr>
                                    </p:animEffect>
                                  </p:childTnLst>
                                </p:cTn>
                              </p:par>
                              <p:par>
                                <p:cTn id="17" presetID="10" presetClass="entr" presetSubtype="0" fill="hold" grpId="1"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700"/>
                                        <p:tgtEl>
                                          <p:spTgt spid="18"/>
                                        </p:tgtEl>
                                      </p:cBhvr>
                                    </p:animEffect>
                                  </p:childTnLst>
                                </p:cTn>
                              </p:par>
                              <p:par>
                                <p:cTn id="20" presetID="10" presetClass="entr" presetSubtype="0" fill="hold" grpId="1"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700"/>
                                        <p:tgtEl>
                                          <p:spTgt spid="10"/>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700"/>
                                        <p:tgtEl>
                                          <p:spTgt spid="12"/>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700"/>
                                        <p:tgtEl>
                                          <p:spTgt spid="15"/>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700"/>
                                        <p:tgtEl>
                                          <p:spTgt spid="17"/>
                                        </p:tgtEl>
                                      </p:cBhvr>
                                    </p:animEffect>
                                  </p:childTnLst>
                                </p:cTn>
                              </p:par>
                              <p:par>
                                <p:cTn id="32" presetID="42" presetClass="path" presetSubtype="0" accel="50000" decel="50000" fill="hold" grpId="0" nodeType="withEffect">
                                  <p:stCondLst>
                                    <p:cond delay="0"/>
                                  </p:stCondLst>
                                  <p:childTnLst>
                                    <p:animMotion origin="layout" path="M -5.55556E-7 -1.91391E-6 L -5.55556E-7 0.02314 " pathEditMode="relative" rAng="0" ptsTypes="AA">
                                      <p:cBhvr>
                                        <p:cTn id="33" dur="700" spd="-100000" fill="hold"/>
                                        <p:tgtEl>
                                          <p:spTgt spid="9"/>
                                        </p:tgtEl>
                                        <p:attrNameLst>
                                          <p:attrName>ppt_x</p:attrName>
                                          <p:attrName>ppt_y</p:attrName>
                                        </p:attrNameLst>
                                      </p:cBhvr>
                                      <p:rCtr x="0" y="12"/>
                                    </p:animMotion>
                                  </p:childTnLst>
                                </p:cTn>
                              </p:par>
                              <p:par>
                                <p:cTn id="34" presetID="42" presetClass="path" presetSubtype="0" accel="50000" decel="50000" fill="hold" grpId="0" nodeType="withEffect">
                                  <p:stCondLst>
                                    <p:cond delay="0"/>
                                  </p:stCondLst>
                                  <p:childTnLst>
                                    <p:animMotion origin="layout" path="M 4.72222E-6 -1.93242E-6 L 4.72222E-6 0.02962 " pathEditMode="relative" rAng="0" ptsTypes="AA">
                                      <p:cBhvr>
                                        <p:cTn id="35" dur="700" spd="-100000" fill="hold"/>
                                        <p:tgtEl>
                                          <p:spTgt spid="11"/>
                                        </p:tgtEl>
                                        <p:attrNameLst>
                                          <p:attrName>ppt_x</p:attrName>
                                          <p:attrName>ppt_y</p:attrName>
                                        </p:attrNameLst>
                                      </p:cBhvr>
                                      <p:rCtr x="0" y="15"/>
                                    </p:animMotion>
                                  </p:childTnLst>
                                </p:cTn>
                              </p:par>
                              <p:par>
                                <p:cTn id="36" presetID="42" presetClass="path" presetSubtype="0" accel="50000" decel="50000" fill="hold" grpId="0" nodeType="withEffect">
                                  <p:stCondLst>
                                    <p:cond delay="0"/>
                                  </p:stCondLst>
                                  <p:childTnLst>
                                    <p:animMotion origin="layout" path="M 0 -1.91391E-6 L 0 0.02314 " pathEditMode="relative" rAng="0" ptsTypes="AA">
                                      <p:cBhvr>
                                        <p:cTn id="37" dur="700" spd="-100000" fill="hold"/>
                                        <p:tgtEl>
                                          <p:spTgt spid="14"/>
                                        </p:tgtEl>
                                        <p:attrNameLst>
                                          <p:attrName>ppt_x</p:attrName>
                                          <p:attrName>ppt_y</p:attrName>
                                        </p:attrNameLst>
                                      </p:cBhvr>
                                      <p:rCtr x="0" y="12"/>
                                    </p:animMotion>
                                  </p:childTnLst>
                                </p:cTn>
                              </p:par>
                              <p:par>
                                <p:cTn id="38" presetID="42" presetClass="path" presetSubtype="0" accel="50000" decel="50000" fill="hold" grpId="0" nodeType="withEffect">
                                  <p:stCondLst>
                                    <p:cond delay="0"/>
                                  </p:stCondLst>
                                  <p:childTnLst>
                                    <p:animMotion origin="layout" path="M -4.72222E-6 -1.93242E-6 L -4.72222E-6 0.02962 " pathEditMode="relative" rAng="0" ptsTypes="AA">
                                      <p:cBhvr>
                                        <p:cTn id="39" dur="700" spd="-100000" fill="hold"/>
                                        <p:tgtEl>
                                          <p:spTgt spid="16"/>
                                        </p:tgtEl>
                                        <p:attrNameLst>
                                          <p:attrName>ppt_x</p:attrName>
                                          <p:attrName>ppt_y</p:attrName>
                                        </p:attrNameLst>
                                      </p:cBhvr>
                                      <p:rCtr x="0" y="15"/>
                                    </p:animMotion>
                                  </p:childTnLst>
                                </p:cTn>
                              </p:par>
                              <p:par>
                                <p:cTn id="40" presetID="42" presetClass="path" presetSubtype="0" accel="50000" decel="50000" fill="hold" grpId="0" nodeType="withEffect">
                                  <p:stCondLst>
                                    <p:cond delay="0"/>
                                  </p:stCondLst>
                                  <p:childTnLst>
                                    <p:animMotion origin="layout" path="M 4.16667E-6 -1.91391E-6 L 4.16667E-6 0.02314 " pathEditMode="relative" rAng="0" ptsTypes="AA">
                                      <p:cBhvr>
                                        <p:cTn id="41" dur="700" spd="-100000" fill="hold"/>
                                        <p:tgtEl>
                                          <p:spTgt spid="18"/>
                                        </p:tgtEl>
                                        <p:attrNameLst>
                                          <p:attrName>ppt_x</p:attrName>
                                          <p:attrName>ppt_y</p:attrName>
                                        </p:attrNameLst>
                                      </p:cBhvr>
                                      <p:rCtr x="0" y="12"/>
                                    </p:animMotion>
                                  </p:childTnLst>
                                </p:cTn>
                              </p:par>
                              <p:par>
                                <p:cTn id="42" presetID="64" presetClass="path" presetSubtype="0" accel="50000" decel="50000" fill="hold" grpId="0" nodeType="withEffect">
                                  <p:stCondLst>
                                    <p:cond delay="0"/>
                                  </p:stCondLst>
                                  <p:childTnLst>
                                    <p:animMotion origin="layout" path="M 2.77778E-7 2.36056E-6 L 2.77778E-7 -0.02338 " pathEditMode="relative" rAng="0" ptsTypes="AA">
                                      <p:cBhvr>
                                        <p:cTn id="43" dur="700" spd="-100000" fill="hold"/>
                                        <p:tgtEl>
                                          <p:spTgt spid="10"/>
                                        </p:tgtEl>
                                        <p:attrNameLst>
                                          <p:attrName>ppt_x</p:attrName>
                                          <p:attrName>ppt_y</p:attrName>
                                        </p:attrNameLst>
                                      </p:cBhvr>
                                      <p:rCtr x="0" y="-12"/>
                                    </p:animMotion>
                                  </p:childTnLst>
                                </p:cTn>
                              </p:par>
                              <p:par>
                                <p:cTn id="44" presetID="64" presetClass="path" presetSubtype="0" accel="50000" decel="50000" fill="hold" grpId="0" nodeType="withEffect">
                                  <p:stCondLst>
                                    <p:cond delay="0"/>
                                  </p:stCondLst>
                                  <p:childTnLst>
                                    <p:animMotion origin="layout" path="M -8.33333E-7 2.36056E-6 L -8.33333E-7 -0.02338 " pathEditMode="relative" rAng="0" ptsTypes="AA">
                                      <p:cBhvr>
                                        <p:cTn id="45" dur="700" spd="-100000" fill="hold"/>
                                        <p:tgtEl>
                                          <p:spTgt spid="12"/>
                                        </p:tgtEl>
                                        <p:attrNameLst>
                                          <p:attrName>ppt_x</p:attrName>
                                          <p:attrName>ppt_y</p:attrName>
                                        </p:attrNameLst>
                                      </p:cBhvr>
                                      <p:rCtr x="0" y="-12"/>
                                    </p:animMotion>
                                  </p:childTnLst>
                                </p:cTn>
                              </p:par>
                              <p:par>
                                <p:cTn id="46" presetID="64" presetClass="path" presetSubtype="0" accel="50000" decel="50000" fill="hold" grpId="0" nodeType="withEffect">
                                  <p:stCondLst>
                                    <p:cond delay="0"/>
                                  </p:stCondLst>
                                  <p:childTnLst>
                                    <p:animMotion origin="layout" path="M 4.44444E-6 2.36056E-6 L 4.44444E-6 -0.02338 " pathEditMode="relative" rAng="0" ptsTypes="AA">
                                      <p:cBhvr>
                                        <p:cTn id="47" dur="700" spd="-100000" fill="hold"/>
                                        <p:tgtEl>
                                          <p:spTgt spid="15"/>
                                        </p:tgtEl>
                                        <p:attrNameLst>
                                          <p:attrName>ppt_x</p:attrName>
                                          <p:attrName>ppt_y</p:attrName>
                                        </p:attrNameLst>
                                      </p:cBhvr>
                                      <p:rCtr x="0" y="-12"/>
                                    </p:animMotion>
                                  </p:childTnLst>
                                </p:cTn>
                              </p:par>
                              <p:par>
                                <p:cTn id="48" presetID="64" presetClass="path" presetSubtype="0" accel="50000" decel="50000" fill="hold" grpId="0" nodeType="withEffect">
                                  <p:stCondLst>
                                    <p:cond delay="0"/>
                                  </p:stCondLst>
                                  <p:childTnLst>
                                    <p:animMotion origin="layout" path="M 3.33333E-6 2.36056E-6 L 3.33333E-6 -0.02338 " pathEditMode="relative" rAng="0" ptsTypes="AA">
                                      <p:cBhvr>
                                        <p:cTn id="49" dur="700" spd="-100000" fill="hold"/>
                                        <p:tgtEl>
                                          <p:spTgt spid="17"/>
                                        </p:tgtEl>
                                        <p:attrNameLst>
                                          <p:attrName>ppt_x</p:attrName>
                                          <p:attrName>ppt_y</p:attrName>
                                        </p:attrNameLst>
                                      </p:cBhvr>
                                      <p:rCtr x="0" y="-12"/>
                                    </p:animMotion>
                                  </p:childTnLst>
                                </p:cTn>
                              </p:par>
                            </p:childTnLst>
                          </p:cTn>
                        </p:par>
                        <p:par>
                          <p:cTn id="50" fill="hold">
                            <p:stCondLst>
                              <p:cond delay="700"/>
                            </p:stCondLst>
                            <p:childTnLst>
                              <p:par>
                                <p:cTn id="51" presetID="10" presetClass="entr" presetSubtype="0" fill="hold" grpId="0"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700"/>
                                        <p:tgtEl>
                                          <p:spTgt spid="6"/>
                                        </p:tgtEl>
                                      </p:cBhvr>
                                    </p:animEffect>
                                  </p:childTnLst>
                                </p:cTn>
                              </p:par>
                              <p:par>
                                <p:cTn id="54" presetID="10" presetClass="entr" presetSubtype="0" fill="hold" grpId="0" nodeType="withEffect">
                                  <p:stCondLst>
                                    <p:cond delay="100"/>
                                  </p:stCondLst>
                                  <p:childTnLst>
                                    <p:set>
                                      <p:cBhvr>
                                        <p:cTn id="55" dur="1" fill="hold">
                                          <p:stCondLst>
                                            <p:cond delay="0"/>
                                          </p:stCondLst>
                                        </p:cTn>
                                        <p:tgtEl>
                                          <p:spTgt spid="4"/>
                                        </p:tgtEl>
                                        <p:attrNameLst>
                                          <p:attrName>style.visibility</p:attrName>
                                        </p:attrNameLst>
                                      </p:cBhvr>
                                      <p:to>
                                        <p:strVal val="visible"/>
                                      </p:to>
                                    </p:set>
                                    <p:animEffect transition="in" filter="fade">
                                      <p:cBhvr>
                                        <p:cTn id="56" dur="700"/>
                                        <p:tgtEl>
                                          <p:spTgt spid="4"/>
                                        </p:tgtEl>
                                      </p:cBhvr>
                                    </p:animEffect>
                                  </p:childTnLst>
                                </p:cTn>
                              </p:par>
                              <p:par>
                                <p:cTn id="57" presetID="10" presetClass="entr" presetSubtype="0" fill="hold" grpId="0" nodeType="withEffect">
                                  <p:stCondLst>
                                    <p:cond delay="200"/>
                                  </p:stCondLst>
                                  <p:childTnLst>
                                    <p:set>
                                      <p:cBhvr>
                                        <p:cTn id="58" dur="1" fill="hold">
                                          <p:stCondLst>
                                            <p:cond delay="0"/>
                                          </p:stCondLst>
                                        </p:cTn>
                                        <p:tgtEl>
                                          <p:spTgt spid="8"/>
                                        </p:tgtEl>
                                        <p:attrNameLst>
                                          <p:attrName>style.visibility</p:attrName>
                                        </p:attrNameLst>
                                      </p:cBhvr>
                                      <p:to>
                                        <p:strVal val="visible"/>
                                      </p:to>
                                    </p:set>
                                    <p:animEffect transition="in" filter="fade">
                                      <p:cBhvr>
                                        <p:cTn id="59" dur="700"/>
                                        <p:tgtEl>
                                          <p:spTgt spid="8"/>
                                        </p:tgtEl>
                                      </p:cBhvr>
                                    </p:animEffect>
                                  </p:childTnLst>
                                </p:cTn>
                              </p:par>
                              <p:par>
                                <p:cTn id="60" presetID="10" presetClass="entr" presetSubtype="0" fill="hold" grpId="0" nodeType="withEffect">
                                  <p:stCondLst>
                                    <p:cond delay="30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700"/>
                                        <p:tgtEl>
                                          <p:spTgt spid="5"/>
                                        </p:tgtEl>
                                      </p:cBhvr>
                                    </p:animEffect>
                                  </p:childTnLst>
                                </p:cTn>
                              </p:par>
                              <p:par>
                                <p:cTn id="63" presetID="10" presetClass="entr" presetSubtype="0" fill="hold" grpId="0" nodeType="withEffect">
                                  <p:stCondLst>
                                    <p:cond delay="40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9" grpId="1" animBg="1"/>
      <p:bldP spid="10" grpId="0" animBg="1"/>
      <p:bldP spid="10" grpId="1" animBg="1"/>
      <p:bldP spid="11" grpId="0" animBg="1"/>
      <p:bldP spid="11" grpId="1" animBg="1"/>
      <p:bldP spid="12" grpId="0" animBg="1"/>
      <p:bldP spid="12"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losing Slide-red thank you">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34" name="TextBox 33"/>
          <p:cNvSpPr txBox="1"/>
          <p:nvPr userDrawn="1"/>
        </p:nvSpPr>
        <p:spPr>
          <a:xfrm>
            <a:off x="644691" y="3060488"/>
            <a:ext cx="2437270" cy="646331"/>
          </a:xfrm>
          <a:prstGeom prst="rect">
            <a:avLst/>
          </a:prstGeom>
          <a:noFill/>
        </p:spPr>
        <p:txBody>
          <a:bodyPr wrap="none" rtlCol="0">
            <a:spAutoFit/>
          </a:bodyPr>
          <a:lstStyle/>
          <a:p>
            <a:r>
              <a:rPr lang="en-US" sz="3600" dirty="0">
                <a:solidFill>
                  <a:srgbClr val="FFFFFF"/>
                </a:solidFill>
                <a:latin typeface="+mj-lt"/>
              </a:rPr>
              <a:t>Thank you.</a:t>
            </a:r>
          </a:p>
        </p:txBody>
      </p:sp>
      <p:pic>
        <p:nvPicPr>
          <p:cNvPr id="21" name="Picture 2"/>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669746" y="3078070"/>
            <a:ext cx="3669899" cy="610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6250"/>
                                  </p:iterate>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childTnLst>
                                </p:cTn>
                              </p:par>
                              <p:par>
                                <p:cTn id="8" presetID="10" presetClass="entr" presetSubtype="0" fill="hold" nodeType="withEffect">
                                  <p:stCondLst>
                                    <p:cond delay="75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Transport Layer: 3-</a:t>
            </a:r>
            <a:fld id="{C4204591-24BD-A542-B9D5-F8D8A88D2FEE}" type="slidenum">
              <a:rPr lang="en-US" smtClean="0"/>
              <a:pPr/>
              <a:t>‹#›</a:t>
            </a:fld>
            <a:endParaRPr lang="en-US" dirty="0"/>
          </a:p>
        </p:txBody>
      </p:sp>
    </p:spTree>
    <p:extLst>
      <p:ext uri="{BB962C8B-B14F-4D97-AF65-F5344CB8AC3E}">
        <p14:creationId xmlns:p14="http://schemas.microsoft.com/office/powerpoint/2010/main" val="37621252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143000" y="1122363"/>
            <a:ext cx="6858000" cy="2387600"/>
          </a:xfrm>
        </p:spPr>
        <p:txBody>
          <a:bodyPr anchor="b"/>
          <a:lstStyle>
            <a:lvl1pPr algn="ctr">
              <a:defRPr sz="45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Slide Number Placeholder 5">
            <a:extLst>
              <a:ext uri="{FF2B5EF4-FFF2-40B4-BE49-F238E27FC236}">
                <a16:creationId xmlns:a16="http://schemas.microsoft.com/office/drawing/2014/main" id="{67E93C0D-5E34-354A-A654-B3839136622B}"/>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Link Layer: 6-</a:t>
            </a:r>
            <a:fld id="{C4204591-24BD-A542-B9D5-F8D8A88D2FEE}" type="slidenum">
              <a:rPr lang="en-US" smtClean="0"/>
              <a:pPr/>
              <a:t>‹#›</a:t>
            </a:fld>
            <a:endParaRPr lang="en-US" dirty="0"/>
          </a:p>
        </p:txBody>
      </p:sp>
    </p:spTree>
    <p:extLst>
      <p:ext uri="{BB962C8B-B14F-4D97-AF65-F5344CB8AC3E}">
        <p14:creationId xmlns:p14="http://schemas.microsoft.com/office/powerpoint/2010/main" val="388422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9702" y="432215"/>
            <a:ext cx="8588861" cy="838200"/>
          </a:xfrm>
          <a:prstGeom prst="rect">
            <a:avLst/>
          </a:prstGeom>
        </p:spPr>
        <p:txBody>
          <a:bodyPr vert="horz" lIns="82296" tIns="45720" rIns="82296" bIns="45720" rtlCol="0" anchor="b" anchorCtr="0">
            <a:noAutofit/>
          </a:bodyPr>
          <a:lstStyle/>
          <a:p>
            <a:pPr lvl="0" algn="l" defTabSz="914400" rtl="0" eaLnBrk="1" latinLnBrk="0" hangingPunct="1">
              <a:lnSpc>
                <a:spcPct val="80000"/>
              </a:lnSpc>
              <a:spcBef>
                <a:spcPct val="0"/>
              </a:spcBef>
              <a:buNone/>
            </a:pPr>
            <a:r>
              <a:rPr lang="en-US" dirty="0"/>
              <a:t>Slide Title Goes Here</a:t>
            </a:r>
          </a:p>
        </p:txBody>
      </p:sp>
      <p:sp>
        <p:nvSpPr>
          <p:cNvPr id="3" name="Text Placeholder 2"/>
          <p:cNvSpPr>
            <a:spLocks noGrp="1"/>
          </p:cNvSpPr>
          <p:nvPr>
            <p:ph type="body" idx="1"/>
          </p:nvPr>
        </p:nvSpPr>
        <p:spPr>
          <a:xfrm>
            <a:off x="229702" y="1339745"/>
            <a:ext cx="8577072" cy="4965699"/>
          </a:xfrm>
          <a:prstGeom prst="rect">
            <a:avLst/>
          </a:prstGeom>
        </p:spPr>
        <p:txBody>
          <a:bodyPr vert="horz" lIns="91440" tIns="45720" rIns="91440" bIns="45720" rtlCol="0">
            <a:noAutofit/>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898" r:id="rId1"/>
    <p:sldLayoutId id="2147483930" r:id="rId2"/>
    <p:sldLayoutId id="2147483929" r:id="rId3"/>
    <p:sldLayoutId id="2147483937" r:id="rId4"/>
    <p:sldLayoutId id="2147483900" r:id="rId5"/>
    <p:sldLayoutId id="2147483931" r:id="rId6"/>
    <p:sldLayoutId id="2147483932" r:id="rId7"/>
    <p:sldLayoutId id="2147483933" r:id="rId8"/>
    <p:sldLayoutId id="2147483902" r:id="rId9"/>
    <p:sldLayoutId id="2147483903" r:id="rId10"/>
    <p:sldLayoutId id="2147483935" r:id="rId11"/>
    <p:sldLayoutId id="2147483905" r:id="rId12"/>
    <p:sldLayoutId id="2147483906" r:id="rId13"/>
    <p:sldLayoutId id="2147483907" r:id="rId14"/>
    <p:sldLayoutId id="2147483908" r:id="rId15"/>
    <p:sldLayoutId id="2147483909" r:id="rId16"/>
    <p:sldLayoutId id="2147483910" r:id="rId17"/>
    <p:sldLayoutId id="2147483913" r:id="rId18"/>
    <p:sldLayoutId id="2147483911" r:id="rId19"/>
    <p:sldLayoutId id="2147483912" r:id="rId20"/>
    <p:sldLayoutId id="2147483914" r:id="rId21"/>
    <p:sldLayoutId id="2147483915" r:id="rId22"/>
    <p:sldLayoutId id="2147483916" r:id="rId23"/>
    <p:sldLayoutId id="2147483917" r:id="rId24"/>
    <p:sldLayoutId id="2147483918" r:id="rId25"/>
    <p:sldLayoutId id="2147483919" r:id="rId26"/>
    <p:sldLayoutId id="2147483921" r:id="rId27"/>
    <p:sldLayoutId id="2147483922" r:id="rId28"/>
    <p:sldLayoutId id="2147483936" r:id="rId29"/>
    <p:sldLayoutId id="2147483923" r:id="rId30"/>
    <p:sldLayoutId id="2147483924" r:id="rId31"/>
    <p:sldLayoutId id="2147483925" r:id="rId32"/>
    <p:sldLayoutId id="2147483926" r:id="rId33"/>
    <p:sldLayoutId id="2147483927" r:id="rId34"/>
    <p:sldLayoutId id="2147483938" r:id="rId35"/>
    <p:sldLayoutId id="2147483939" r:id="rId36"/>
  </p:sldLayoutIdLst>
  <p:transition>
    <p:wipe dir="r"/>
  </p:transition>
  <p:txStyles>
    <p:titleStyle>
      <a:lvl1pPr algn="l" defTabSz="914400" rtl="0" eaLnBrk="1" latinLnBrk="0" hangingPunct="1">
        <a:lnSpc>
          <a:spcPct val="80000"/>
        </a:lnSpc>
        <a:spcBef>
          <a:spcPct val="0"/>
        </a:spcBef>
        <a:buNone/>
        <a:defRPr kumimoji="0" lang="en-US" sz="3600" b="0" i="0" u="none" strike="noStrike" kern="1200" cap="none" spc="0" normalizeH="0" baseline="0" dirty="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p:titleStyle>
    <p:body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Layout" Target="../slideLayouts/slideLayout35.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s/_rels/slide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35.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35.xml"/><Relationship Id="rId4" Type="http://schemas.openxmlformats.org/officeDocument/2006/relationships/image" Target="../media/image55.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35.xml"/><Relationship Id="rId4" Type="http://schemas.openxmlformats.org/officeDocument/2006/relationships/image" Target="../media/image56.wmf"/></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8.xml"/><Relationship Id="rId1" Type="http://schemas.openxmlformats.org/officeDocument/2006/relationships/slideLayout" Target="../slideLayouts/slideLayout8.xml"/><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3.xml"/><Relationship Id="rId1" Type="http://schemas.openxmlformats.org/officeDocument/2006/relationships/slideLayout" Target="../slideLayouts/slideLayout8.xml"/><Relationship Id="rId5" Type="http://schemas.openxmlformats.org/officeDocument/2006/relationships/image" Target="../media/image79.png"/><Relationship Id="rId4" Type="http://schemas.openxmlformats.org/officeDocument/2006/relationships/image" Target="../media/image78.png"/></Relationships>
</file>

<file path=ppt/slides/_rels/slide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1C588-CE81-6651-C6F0-0CA7CA0CBF24}"/>
              </a:ext>
            </a:extLst>
          </p:cNvPr>
          <p:cNvSpPr>
            <a:spLocks noGrp="1"/>
          </p:cNvSpPr>
          <p:nvPr>
            <p:ph type="ctrTitle"/>
          </p:nvPr>
        </p:nvSpPr>
        <p:spPr>
          <a:xfrm>
            <a:off x="314632" y="1699022"/>
            <a:ext cx="8829368" cy="1790700"/>
          </a:xfrm>
        </p:spPr>
        <p:txBody>
          <a:bodyPr>
            <a:normAutofit/>
          </a:bodyPr>
          <a:lstStyle/>
          <a:p>
            <a:r>
              <a:rPr lang="en-US" dirty="0"/>
              <a:t>CMP301 – Computer Networking</a:t>
            </a:r>
            <a:br>
              <a:rPr lang="en-US" dirty="0"/>
            </a:br>
            <a:r>
              <a:rPr lang="en-US" dirty="0"/>
              <a:t>Lecture week 5</a:t>
            </a:r>
            <a:endParaRPr lang="en-GB" dirty="0"/>
          </a:p>
        </p:txBody>
      </p:sp>
      <p:sp>
        <p:nvSpPr>
          <p:cNvPr id="3" name="Subtitle 2">
            <a:extLst>
              <a:ext uri="{FF2B5EF4-FFF2-40B4-BE49-F238E27FC236}">
                <a16:creationId xmlns:a16="http://schemas.microsoft.com/office/drawing/2014/main" id="{1908AA33-5DAA-3307-E1C5-8E4DDF3F57B9}"/>
              </a:ext>
            </a:extLst>
          </p:cNvPr>
          <p:cNvSpPr>
            <a:spLocks noGrp="1"/>
          </p:cNvSpPr>
          <p:nvPr>
            <p:ph type="subTitle" idx="1"/>
          </p:nvPr>
        </p:nvSpPr>
        <p:spPr>
          <a:xfrm>
            <a:off x="1143000" y="3602038"/>
            <a:ext cx="6858000" cy="832310"/>
          </a:xfrm>
        </p:spPr>
        <p:txBody>
          <a:bodyPr/>
          <a:lstStyle/>
          <a:p>
            <a:r>
              <a:rPr lang="en-US" dirty="0"/>
              <a:t>Dr. Godwin </a:t>
            </a:r>
            <a:r>
              <a:rPr lang="en-US" dirty="0" err="1"/>
              <a:t>Idoje</a:t>
            </a:r>
            <a:endParaRPr lang="en-US" dirty="0"/>
          </a:p>
          <a:p>
            <a:r>
              <a:rPr lang="en-US" dirty="0"/>
              <a:t>Email: Gidoje@qa.com</a:t>
            </a:r>
            <a:endParaRPr lang="en-GB" dirty="0"/>
          </a:p>
        </p:txBody>
      </p:sp>
      <p:sp>
        <p:nvSpPr>
          <p:cNvPr id="4" name="Slide Number Placeholder 3">
            <a:extLst>
              <a:ext uri="{FF2B5EF4-FFF2-40B4-BE49-F238E27FC236}">
                <a16:creationId xmlns:a16="http://schemas.microsoft.com/office/drawing/2014/main" id="{167B7763-C536-60BF-4F19-E62750F37421}"/>
              </a:ext>
            </a:extLst>
          </p:cNvPr>
          <p:cNvSpPr>
            <a:spLocks noGrp="1"/>
          </p:cNvSpPr>
          <p:nvPr>
            <p:ph type="sldNum" sz="quarter" idx="4"/>
          </p:nvPr>
        </p:nvSpPr>
        <p:spPr/>
        <p:txBody>
          <a:bodyPr/>
          <a:lstStyle/>
          <a:p>
            <a:r>
              <a:rPr lang="en-US"/>
              <a:t>Introduction: 1-</a:t>
            </a:r>
            <a:fld id="{C4204591-24BD-A542-B9D5-F8D8A88D2FEE}" type="slidenum">
              <a:rPr lang="en-US" smtClean="0"/>
              <a:pPr/>
              <a:t>1</a:t>
            </a:fld>
            <a:endParaRPr lang="en-US" dirty="0"/>
          </a:p>
        </p:txBody>
      </p:sp>
    </p:spTree>
    <p:extLst>
      <p:ext uri="{BB962C8B-B14F-4D97-AF65-F5344CB8AC3E}">
        <p14:creationId xmlns:p14="http://schemas.microsoft.com/office/powerpoint/2010/main" val="204753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32318" y="789600"/>
            <a:ext cx="7886700" cy="670967"/>
          </a:xfrm>
        </p:spPr>
        <p:txBody>
          <a:bodyPr>
            <a:normAutofit/>
          </a:bodyPr>
          <a:lstStyle/>
          <a:p>
            <a:r>
              <a:rPr lang="en-US" altLang="en-US" sz="3600" b="1" dirty="0">
                <a:solidFill>
                  <a:srgbClr val="000099"/>
                </a:solidFill>
                <a:latin typeface="+mj-lt"/>
              </a:rPr>
              <a:t>Transport and Application Layers</a:t>
            </a:r>
            <a:endParaRPr lang="en-US" dirty="0"/>
          </a:p>
        </p:txBody>
      </p:sp>
      <p:sp>
        <p:nvSpPr>
          <p:cNvPr id="4" name="Content Placeholder 3">
            <a:extLst>
              <a:ext uri="{FF2B5EF4-FFF2-40B4-BE49-F238E27FC236}">
                <a16:creationId xmlns:a16="http://schemas.microsoft.com/office/drawing/2014/main" id="{F6E2ACD2-5E28-0840-A1E8-F9AB901FE8BC}"/>
              </a:ext>
            </a:extLst>
          </p:cNvPr>
          <p:cNvSpPr>
            <a:spLocks noGrp="1"/>
          </p:cNvSpPr>
          <p:nvPr>
            <p:ph sz="half" idx="1"/>
          </p:nvPr>
        </p:nvSpPr>
        <p:spPr>
          <a:xfrm>
            <a:off x="171888" y="1460566"/>
            <a:ext cx="4400112" cy="5219633"/>
          </a:xfrm>
        </p:spPr>
        <p:txBody>
          <a:bodyPr>
            <a:noAutofit/>
          </a:bodyPr>
          <a:lstStyle/>
          <a:p>
            <a:pPr marL="8335" indent="0">
              <a:buNone/>
            </a:pPr>
            <a:r>
              <a:rPr lang="en-US" altLang="en-US" sz="2400" i="1" dirty="0">
                <a:solidFill>
                  <a:srgbClr val="CC0000"/>
                </a:solidFill>
                <a:latin typeface="Calibri" panose="020F0502020204030204" pitchFamily="34" charset="0"/>
                <a:cs typeface="Calibri" panose="020F0502020204030204" pitchFamily="34" charset="0"/>
              </a:rPr>
              <a:t>Goal:</a:t>
            </a:r>
            <a:r>
              <a:rPr lang="en-US" altLang="en-US" sz="2400" i="1" dirty="0">
                <a:latin typeface="Calibri" panose="020F0502020204030204" pitchFamily="34" charset="0"/>
                <a:cs typeface="Calibri" panose="020F0502020204030204" pitchFamily="34" charset="0"/>
              </a:rPr>
              <a:t> </a:t>
            </a:r>
          </a:p>
          <a:p>
            <a:pPr marL="300038" indent="-214313">
              <a:buFont typeface="Wingdings" charset="2"/>
              <a:buChar char="§"/>
              <a:defRPr/>
            </a:pPr>
            <a:r>
              <a:rPr lang="en-US" sz="2400" dirty="0"/>
              <a:t>understand principles behind transport layer services:</a:t>
            </a:r>
          </a:p>
          <a:p>
            <a:pPr lvl="1">
              <a:buFont typeface="Arial"/>
              <a:buChar char="•"/>
              <a:defRPr/>
            </a:pPr>
            <a:r>
              <a:rPr lang="en-US" sz="2100" dirty="0"/>
              <a:t>multiplexing, demultiplexing</a:t>
            </a:r>
          </a:p>
          <a:p>
            <a:pPr lvl="1">
              <a:buFont typeface="Arial"/>
              <a:buChar char="•"/>
              <a:defRPr/>
            </a:pPr>
            <a:r>
              <a:rPr lang="en-US" sz="2100" dirty="0"/>
              <a:t>reliable data transfer</a:t>
            </a:r>
          </a:p>
          <a:p>
            <a:pPr lvl="1">
              <a:buFont typeface="Arial"/>
              <a:buChar char="•"/>
              <a:defRPr/>
            </a:pPr>
            <a:r>
              <a:rPr lang="en-US" sz="2100" dirty="0" err="1"/>
              <a:t>fUDP</a:t>
            </a:r>
            <a:r>
              <a:rPr lang="en-US" sz="2100" dirty="0"/>
              <a:t>: connectionless transport</a:t>
            </a:r>
          </a:p>
          <a:p>
            <a:pPr lvl="1">
              <a:buFont typeface="Arial"/>
              <a:buChar char="•"/>
              <a:defRPr/>
            </a:pPr>
            <a:r>
              <a:rPr lang="en-US" sz="2100" dirty="0"/>
              <a:t>TCP: connection-oriented reliable transport</a:t>
            </a:r>
          </a:p>
          <a:p>
            <a:pPr marL="301229" indent="-301229">
              <a:defRPr/>
            </a:pPr>
            <a:r>
              <a:rPr lang="en-US" sz="2000" dirty="0">
                <a:solidFill>
                  <a:srgbClr val="CC0000"/>
                </a:solidFill>
                <a:latin typeface="Calibri" panose="020F0502020204030204" pitchFamily="34" charset="0"/>
                <a:cs typeface="Calibri" panose="020F0502020204030204" pitchFamily="34" charset="0"/>
              </a:rPr>
              <a:t>Principles of network applications</a:t>
            </a:r>
          </a:p>
          <a:p>
            <a:pPr marL="301229" indent="-301229">
              <a:defRPr/>
            </a:pPr>
            <a:r>
              <a:rPr lang="en-US" sz="2000" dirty="0">
                <a:latin typeface="Calibri" panose="020F0502020204030204" pitchFamily="34" charset="0"/>
                <a:cs typeface="Calibri" panose="020F0502020204030204" pitchFamily="34" charset="0"/>
              </a:rPr>
              <a:t>Web and HTTP</a:t>
            </a:r>
          </a:p>
          <a:p>
            <a:pPr marL="301229" indent="-301229">
              <a:defRPr/>
            </a:pPr>
            <a:r>
              <a:rPr lang="en-US" sz="2000" dirty="0">
                <a:latin typeface="Calibri" panose="020F0502020204030204" pitchFamily="34" charset="0"/>
                <a:cs typeface="Calibri" panose="020F0502020204030204" pitchFamily="34" charset="0"/>
              </a:rPr>
              <a:t>E-mail, SMTP, IMAP</a:t>
            </a:r>
          </a:p>
          <a:p>
            <a:pPr marL="301229" indent="-301229">
              <a:defRPr/>
            </a:pPr>
            <a:r>
              <a:rPr lang="en-US" sz="2000" dirty="0">
                <a:latin typeface="Calibri" panose="020F0502020204030204" pitchFamily="34" charset="0"/>
                <a:cs typeface="Calibri" panose="020F0502020204030204" pitchFamily="34" charset="0"/>
              </a:rPr>
              <a:t>The Domain Name System DNS, DHCP</a:t>
            </a:r>
          </a:p>
          <a:p>
            <a:pPr lvl="1">
              <a:buFont typeface="Arial"/>
              <a:buChar char="•"/>
              <a:defRPr/>
            </a:pPr>
            <a:endParaRPr lang="en-US" sz="2100" dirty="0"/>
          </a:p>
          <a:p>
            <a:pPr lvl="1">
              <a:buFont typeface="Arial"/>
              <a:buChar char="•"/>
              <a:defRPr/>
            </a:pPr>
            <a:endParaRPr lang="en-US" sz="2100" dirty="0"/>
          </a:p>
        </p:txBody>
      </p:sp>
      <p:sp>
        <p:nvSpPr>
          <p:cNvPr id="3" name="Slide Number Placeholder 2">
            <a:extLst>
              <a:ext uri="{FF2B5EF4-FFF2-40B4-BE49-F238E27FC236}">
                <a16:creationId xmlns:a16="http://schemas.microsoft.com/office/drawing/2014/main" id="{11084F46-D79C-3048-9B21-CEBC66650819}"/>
              </a:ext>
            </a:extLst>
          </p:cNvPr>
          <p:cNvSpPr>
            <a:spLocks noGrp="1"/>
          </p:cNvSpPr>
          <p:nvPr>
            <p:ph type="sldNum" sz="quarter" idx="4"/>
          </p:nvPr>
        </p:nvSpPr>
        <p:spPr>
          <a:xfrm>
            <a:off x="6914712" y="5698248"/>
            <a:ext cx="2057400" cy="273844"/>
          </a:xfrm>
        </p:spPr>
        <p:txBody>
          <a:bodyPr/>
          <a:lstStyle/>
          <a:p>
            <a:r>
              <a:rPr lang="en-US" dirty="0"/>
              <a:t>Transport Layer: 3-</a:t>
            </a:r>
            <a:fld id="{C4204591-24BD-A542-B9D5-F8D8A88D2FEE}" type="slidenum">
              <a:rPr lang="en-US" smtClean="0"/>
              <a:pPr/>
              <a:t>2</a:t>
            </a:fld>
            <a:endParaRPr lang="en-US" dirty="0"/>
          </a:p>
        </p:txBody>
      </p:sp>
      <p:sp>
        <p:nvSpPr>
          <p:cNvPr id="8" name="TextBox 7">
            <a:extLst>
              <a:ext uri="{FF2B5EF4-FFF2-40B4-BE49-F238E27FC236}">
                <a16:creationId xmlns:a16="http://schemas.microsoft.com/office/drawing/2014/main" id="{52B2E374-26F4-2052-1B82-3A83EFB5EA82}"/>
              </a:ext>
            </a:extLst>
          </p:cNvPr>
          <p:cNvSpPr txBox="1"/>
          <p:nvPr/>
        </p:nvSpPr>
        <p:spPr>
          <a:xfrm>
            <a:off x="4400112" y="1619548"/>
            <a:ext cx="4743888" cy="2287806"/>
          </a:xfrm>
          <a:prstGeom prst="rect">
            <a:avLst/>
          </a:prstGeom>
          <a:noFill/>
        </p:spPr>
        <p:txBody>
          <a:bodyPr wrap="square">
            <a:spAutoFit/>
          </a:bodyPr>
          <a:lstStyle/>
          <a:p>
            <a:pPr marL="257175" indent="-169069">
              <a:spcBef>
                <a:spcPts val="450"/>
              </a:spcBef>
            </a:pPr>
            <a:r>
              <a:rPr lang="en-US" altLang="en-US" sz="1800" dirty="0">
                <a:cs typeface="Calibri" panose="020F0502020204030204" pitchFamily="34" charset="0"/>
              </a:rPr>
              <a:t>Material: gathered, edited and synthesized by Omar</a:t>
            </a:r>
          </a:p>
          <a:p>
            <a:pPr marL="257175" indent="-169069">
              <a:spcBef>
                <a:spcPts val="450"/>
              </a:spcBef>
            </a:pPr>
            <a:r>
              <a:rPr lang="en-US" altLang="en-US" sz="1800" dirty="0">
                <a:cs typeface="Calibri" panose="020F0502020204030204" pitchFamily="34" charset="0"/>
              </a:rPr>
              <a:t>Source:  </a:t>
            </a:r>
          </a:p>
          <a:p>
            <a:pPr marL="88106" indent="0">
              <a:spcBef>
                <a:spcPts val="450"/>
              </a:spcBef>
              <a:buNone/>
            </a:pPr>
            <a:r>
              <a:rPr lang="en-US" sz="1800" dirty="0">
                <a:cs typeface="Calibri" panose="020F0502020204030204" pitchFamily="34" charset="0"/>
              </a:rPr>
              <a:t>	</a:t>
            </a:r>
            <a:r>
              <a:rPr lang="en-GB" sz="1800" b="1" dirty="0"/>
              <a:t>CCNA: Introduction to Networks</a:t>
            </a:r>
          </a:p>
          <a:p>
            <a:pPr marL="88106" indent="0">
              <a:spcBef>
                <a:spcPts val="450"/>
              </a:spcBef>
              <a:buNone/>
            </a:pPr>
            <a:r>
              <a:rPr lang="en-US" altLang="en-US" sz="1800" dirty="0">
                <a:cs typeface="Calibri" panose="020F0502020204030204" pitchFamily="34" charset="0"/>
              </a:rPr>
              <a:t>&amp; </a:t>
            </a:r>
          </a:p>
          <a:p>
            <a:pPr marL="88106" indent="0">
              <a:spcBef>
                <a:spcPts val="450"/>
              </a:spcBef>
              <a:buNone/>
            </a:pPr>
            <a:r>
              <a:rPr lang="en-US" altLang="en-US" sz="1800" i="1" dirty="0"/>
              <a:t>	</a:t>
            </a:r>
            <a:r>
              <a:rPr lang="en-US" altLang="en-US" sz="1800" b="1" i="1" dirty="0"/>
              <a:t>Computer Networking: A Top-Down Approach</a:t>
            </a:r>
            <a:endParaRPr lang="en-US" altLang="en-US" sz="1800" b="1" dirty="0">
              <a:cs typeface="Calibri" panose="020F0502020204030204" pitchFamily="34" charset="0"/>
            </a:endParaRPr>
          </a:p>
        </p:txBody>
      </p:sp>
    </p:spTree>
    <p:extLst>
      <p:ext uri="{BB962C8B-B14F-4D97-AF65-F5344CB8AC3E}">
        <p14:creationId xmlns:p14="http://schemas.microsoft.com/office/powerpoint/2010/main" val="421519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325498" y="379963"/>
            <a:ext cx="4890938" cy="560562"/>
          </a:xfrm>
        </p:spPr>
        <p:txBody>
          <a:bodyPr/>
          <a:lstStyle/>
          <a:p>
            <a:r>
              <a:rPr lang="en-US" sz="2800" b="1" dirty="0">
                <a:solidFill>
                  <a:schemeClr val="bg2"/>
                </a:solidFill>
              </a:rPr>
              <a:t>Role of the Transport Layer</a:t>
            </a:r>
          </a:p>
        </p:txBody>
      </p:sp>
      <p:sp>
        <p:nvSpPr>
          <p:cNvPr id="3" name="Text Placeholder 2"/>
          <p:cNvSpPr>
            <a:spLocks noGrp="1"/>
          </p:cNvSpPr>
          <p:nvPr>
            <p:ph type="body" sz="quarter" idx="10"/>
          </p:nvPr>
        </p:nvSpPr>
        <p:spPr>
          <a:xfrm>
            <a:off x="69668" y="1217894"/>
            <a:ext cx="4126774" cy="4568952"/>
          </a:xfrm>
        </p:spPr>
        <p:txBody>
          <a:bodyPr/>
          <a:lstStyle/>
          <a:p>
            <a:pPr marL="285750" indent="-285750"/>
            <a:r>
              <a:rPr lang="en-US" sz="2000" dirty="0"/>
              <a:t>The transport layer is responsible for establishing a communication session between two applications and delivering data between them.</a:t>
            </a:r>
          </a:p>
          <a:p>
            <a:pPr marL="285750" indent="-285750"/>
            <a:r>
              <a:rPr lang="en-US" sz="2000" dirty="0"/>
              <a:t>The transport layer provides services, such as:</a:t>
            </a:r>
          </a:p>
          <a:p>
            <a:pPr marL="800100" lvl="1" indent="-342900">
              <a:buFont typeface="Courier New" panose="02070309020205020404" pitchFamily="49" charset="0"/>
              <a:buChar char="o"/>
            </a:pPr>
            <a:r>
              <a:rPr lang="en-US" dirty="0"/>
              <a:t>Connection-oriented  support</a:t>
            </a:r>
          </a:p>
          <a:p>
            <a:pPr marL="800100" lvl="1" indent="-342900">
              <a:buFont typeface="Courier New" panose="02070309020205020404" pitchFamily="49" charset="0"/>
              <a:buChar char="o"/>
            </a:pPr>
            <a:r>
              <a:rPr lang="en-US" dirty="0"/>
              <a:t>Reliability</a:t>
            </a:r>
          </a:p>
          <a:p>
            <a:pPr marL="800100" lvl="1" indent="-342900">
              <a:buFont typeface="Courier New" panose="02070309020205020404" pitchFamily="49" charset="0"/>
              <a:buChar char="o"/>
            </a:pPr>
            <a:r>
              <a:rPr lang="en-US" dirty="0"/>
              <a:t>Flow control</a:t>
            </a:r>
          </a:p>
          <a:p>
            <a:pPr marL="800100" lvl="1" indent="-342900">
              <a:buFont typeface="Courier New" panose="02070309020205020404" pitchFamily="49" charset="0"/>
              <a:buChar char="o"/>
            </a:pPr>
            <a:r>
              <a:rPr lang="en-US" dirty="0"/>
              <a:t>Multiplexing</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1085" y="1487859"/>
            <a:ext cx="4503647" cy="34848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5658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7886700" cy="670967"/>
          </a:xfrm>
        </p:spPr>
        <p:txBody>
          <a:bodyPr>
            <a:normAutofit/>
          </a:bodyPr>
          <a:lstStyle/>
          <a:p>
            <a:r>
              <a:rPr lang="en-US" altLang="en-US" dirty="0">
                <a:cs typeface="Calibri" panose="020F0502020204030204" pitchFamily="34" charset="0"/>
              </a:rPr>
              <a:t>Transport services and protocols</a:t>
            </a:r>
            <a:endParaRPr lang="en-US"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510914" y="1940124"/>
            <a:ext cx="4817309" cy="121646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Calibri" panose="020F0502020204030204"/>
              </a:rPr>
              <a:t>provide</a:t>
            </a:r>
            <a:r>
              <a:rPr lang="en-US" sz="2100" i="1" dirty="0">
                <a:solidFill>
                  <a:srgbClr val="FF0000"/>
                </a:solidFill>
                <a:latin typeface="Calibri" panose="020F0502020204030204"/>
              </a:rPr>
              <a:t> </a:t>
            </a:r>
            <a:r>
              <a:rPr lang="en-US" sz="2100" i="1" dirty="0">
                <a:solidFill>
                  <a:srgbClr val="CC0000"/>
                </a:solidFill>
                <a:latin typeface="Calibri" panose="020F0502020204030204"/>
              </a:rPr>
              <a:t>logical communication</a:t>
            </a:r>
            <a:r>
              <a:rPr lang="en-US" sz="2100" dirty="0">
                <a:solidFill>
                  <a:prstClr val="black"/>
                </a:solidFill>
                <a:latin typeface="Calibri" panose="020F0502020204030204"/>
              </a:rPr>
              <a:t> between application processes running on different hosts</a:t>
            </a:r>
          </a:p>
        </p:txBody>
      </p:sp>
      <p:sp>
        <p:nvSpPr>
          <p:cNvPr id="10" name="Freeform 9">
            <a:extLst>
              <a:ext uri="{FF2B5EF4-FFF2-40B4-BE49-F238E27FC236}">
                <a16:creationId xmlns:a16="http://schemas.microsoft.com/office/drawing/2014/main" id="{7FC4FF92-130F-BB41-8C2E-AD6E35A5EFB3}"/>
              </a:ext>
            </a:extLst>
          </p:cNvPr>
          <p:cNvSpPr/>
          <p:nvPr/>
        </p:nvSpPr>
        <p:spPr>
          <a:xfrm>
            <a:off x="6738892" y="3156584"/>
            <a:ext cx="843605" cy="1003436"/>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a:solidFill>
                <a:prstClr val="white"/>
              </a:solidFill>
              <a:latin typeface="Calibri" panose="020F0502020204030204"/>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5455557" y="2226776"/>
            <a:ext cx="1302544" cy="988278"/>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defTabSz="685800">
              <a:defRPr/>
            </a:pPr>
            <a:endParaRPr lang="en-US" sz="1350">
              <a:solidFill>
                <a:prstClr val="black"/>
              </a:solidFill>
              <a:latin typeface="Calibri" panose="020F0502020204030204"/>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5404013" y="3324188"/>
            <a:ext cx="1094184" cy="700088"/>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defTabSz="685800">
                <a:lnSpc>
                  <a:spcPct val="100000"/>
                </a:lnSpc>
                <a:spcBef>
                  <a:spcPct val="0"/>
                </a:spcBef>
                <a:buClrTx/>
                <a:buSzTx/>
                <a:buNone/>
                <a:defRPr/>
              </a:pPr>
              <a:endParaRPr lang="en-US" altLang="en-US" sz="1800">
                <a:solidFill>
                  <a:srgbClr val="00CCFF"/>
                </a:solidFill>
                <a:latin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5784301" y="4369601"/>
            <a:ext cx="2309813" cy="1248966"/>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defTabSz="685800">
              <a:defRPr/>
            </a:pPr>
            <a:endParaRPr lang="en-US" sz="1350">
              <a:solidFill>
                <a:prstClr val="black"/>
              </a:solidFill>
              <a:latin typeface="Calibri" panose="020F0502020204030204"/>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5759456" y="1973596"/>
            <a:ext cx="104868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r>
              <a:rPr lang="en-US" altLang="en-US" sz="1050" dirty="0">
                <a:solidFill>
                  <a:prstClr val="black"/>
                </a:solidFill>
                <a:latin typeface="Calibri" panose="020F0502020204030204"/>
              </a:rPr>
              <a:t>mobile network</a:t>
            </a:r>
          </a:p>
        </p:txBody>
      </p:sp>
      <p:sp>
        <p:nvSpPr>
          <p:cNvPr id="17" name="Text Box 580">
            <a:extLst>
              <a:ext uri="{FF2B5EF4-FFF2-40B4-BE49-F238E27FC236}">
                <a16:creationId xmlns:a16="http://schemas.microsoft.com/office/drawing/2014/main" id="{4FAF1075-A726-A74C-A102-E55EF3041A0B}"/>
              </a:ext>
            </a:extLst>
          </p:cNvPr>
          <p:cNvSpPr txBox="1">
            <a:spLocks noChangeArrowheads="1"/>
          </p:cNvSpPr>
          <p:nvPr/>
        </p:nvSpPr>
        <p:spPr bwMode="auto">
          <a:xfrm>
            <a:off x="5498126" y="4001192"/>
            <a:ext cx="1466735" cy="22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80000"/>
              </a:lnSpc>
              <a:spcBef>
                <a:spcPct val="0"/>
              </a:spcBef>
              <a:buClrTx/>
              <a:buSzTx/>
              <a:buNone/>
              <a:defRPr/>
            </a:pPr>
            <a:r>
              <a:rPr lang="en-US" altLang="en-US" sz="1050" dirty="0">
                <a:solidFill>
                  <a:prstClr val="black"/>
                </a:solidFill>
                <a:latin typeface="Calibri" panose="020F0502020204030204"/>
              </a:rPr>
              <a:t>home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5480181" y="5192082"/>
            <a:ext cx="946093" cy="354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80000"/>
              </a:lnSpc>
              <a:spcBef>
                <a:spcPct val="0"/>
              </a:spcBef>
              <a:buClrTx/>
              <a:buSzTx/>
              <a:buNone/>
              <a:defRPr/>
            </a:pPr>
            <a:r>
              <a:rPr lang="en-US" altLang="en-US" sz="1050" dirty="0">
                <a:solidFill>
                  <a:prstClr val="black"/>
                </a:solidFill>
                <a:latin typeface="Calibri" panose="020F0502020204030204"/>
              </a:rPr>
              <a:t>enterprise</a:t>
            </a:r>
          </a:p>
          <a:p>
            <a:pPr defTabSz="685800">
              <a:lnSpc>
                <a:spcPct val="80000"/>
              </a:lnSpc>
              <a:spcBef>
                <a:spcPct val="0"/>
              </a:spcBef>
              <a:buClrTx/>
              <a:buSzTx/>
              <a:buNone/>
              <a:defRPr/>
            </a:pPr>
            <a:r>
              <a:rPr lang="en-US" altLang="en-US" sz="1050" dirty="0">
                <a:solidFill>
                  <a:prstClr val="black"/>
                </a:solidFill>
                <a:latin typeface="Calibri" panose="020F0502020204030204"/>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7666610" y="3241905"/>
            <a:ext cx="954875" cy="1451811"/>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a:solidFill>
                <a:prstClr val="white"/>
              </a:solidFill>
              <a:latin typeface="Calibri" panose="020F0502020204030204"/>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8128275" y="3803288"/>
            <a:ext cx="515545" cy="541161"/>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a:solidFill>
                  <a:prstClr val="white"/>
                </a:solidFill>
                <a:latin typeface="Calibri" panose="020F0502020204030204"/>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a:solidFill>
                  <a:prstClr val="white"/>
                </a:solidFill>
                <a:latin typeface="Calibri" panose="020F0502020204030204"/>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8078379" y="3252878"/>
            <a:ext cx="445960" cy="486252"/>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a:solidFill>
                  <a:prstClr val="white"/>
                </a:solidFill>
                <a:latin typeface="Calibri" panose="020F0502020204030204"/>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a:solidFill>
                  <a:prstClr val="white"/>
                </a:solidFill>
                <a:latin typeface="Calibri" panose="020F0502020204030204"/>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7155610" y="2193782"/>
            <a:ext cx="1123398" cy="1039841"/>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a:solidFill>
                <a:prstClr val="white"/>
              </a:solidFill>
              <a:latin typeface="Calibri" panose="020F0502020204030204"/>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7070401" y="2245647"/>
            <a:ext cx="1334020" cy="237757"/>
          </a:xfrm>
          <a:prstGeom prst="rect">
            <a:avLst/>
          </a:prstGeom>
          <a:noFill/>
        </p:spPr>
        <p:txBody>
          <a:bodyPr wrap="none" rtlCol="0">
            <a:spAutoFit/>
          </a:bodyPr>
          <a:lstStyle/>
          <a:p>
            <a:pPr defTabSz="685800">
              <a:lnSpc>
                <a:spcPct val="90000"/>
              </a:lnSpc>
              <a:defRPr/>
            </a:pPr>
            <a:r>
              <a:rPr lang="en-US" sz="1050" dirty="0">
                <a:solidFill>
                  <a:prstClr val="black"/>
                </a:solidFill>
                <a:latin typeface="Calibri" panose="020F0502020204030204"/>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6959301" y="3615682"/>
            <a:ext cx="229312" cy="148385"/>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42" name="TextBox 41">
            <a:extLst>
              <a:ext uri="{FF2B5EF4-FFF2-40B4-BE49-F238E27FC236}">
                <a16:creationId xmlns:a16="http://schemas.microsoft.com/office/drawing/2014/main" id="{ED05228A-100C-D643-BB8E-545E51741FBA}"/>
              </a:ext>
            </a:extLst>
          </p:cNvPr>
          <p:cNvSpPr txBox="1"/>
          <p:nvPr/>
        </p:nvSpPr>
        <p:spPr>
          <a:xfrm>
            <a:off x="6574622" y="3443189"/>
            <a:ext cx="780479" cy="528606"/>
          </a:xfrm>
          <a:prstGeom prst="rect">
            <a:avLst/>
          </a:prstGeom>
          <a:noFill/>
        </p:spPr>
        <p:txBody>
          <a:bodyPr wrap="square" rtlCol="0">
            <a:spAutoFit/>
          </a:bodyPr>
          <a:lstStyle/>
          <a:p>
            <a:pPr defTabSz="685800">
              <a:lnSpc>
                <a:spcPct val="90000"/>
              </a:lnSpc>
              <a:defRPr/>
            </a:pPr>
            <a:r>
              <a:rPr lang="en-US" sz="1050" dirty="0">
                <a:solidFill>
                  <a:prstClr val="black"/>
                </a:solidFill>
                <a:latin typeface="Calibri" panose="020F0502020204030204"/>
              </a:rPr>
              <a:t>local or regional ISP</a:t>
            </a:r>
          </a:p>
        </p:txBody>
      </p:sp>
      <p:sp>
        <p:nvSpPr>
          <p:cNvPr id="43" name="TextBox 42">
            <a:extLst>
              <a:ext uri="{FF2B5EF4-FFF2-40B4-BE49-F238E27FC236}">
                <a16:creationId xmlns:a16="http://schemas.microsoft.com/office/drawing/2014/main" id="{795F625F-E4CA-A14C-BDB7-680FDFE6EE1F}"/>
              </a:ext>
            </a:extLst>
          </p:cNvPr>
          <p:cNvSpPr txBox="1"/>
          <p:nvPr/>
        </p:nvSpPr>
        <p:spPr>
          <a:xfrm>
            <a:off x="8188325" y="4365703"/>
            <a:ext cx="654346" cy="310598"/>
          </a:xfrm>
          <a:prstGeom prst="rect">
            <a:avLst/>
          </a:prstGeom>
          <a:noFill/>
        </p:spPr>
        <p:txBody>
          <a:bodyPr wrap="none" rtlCol="0">
            <a:spAutoFit/>
          </a:bodyPr>
          <a:lstStyle/>
          <a:p>
            <a:pPr defTabSz="685800">
              <a:lnSpc>
                <a:spcPct val="90000"/>
              </a:lnSpc>
              <a:defRPr/>
            </a:pPr>
            <a:r>
              <a:rPr lang="en-US" sz="788" dirty="0">
                <a:solidFill>
                  <a:prstClr val="black"/>
                </a:solidFill>
                <a:latin typeface="Calibri" panose="020F0502020204030204"/>
              </a:rPr>
              <a:t>datacenter </a:t>
            </a:r>
          </a:p>
          <a:p>
            <a:pPr defTabSz="685800">
              <a:lnSpc>
                <a:spcPct val="90000"/>
              </a:lnSpc>
              <a:defRPr/>
            </a:pPr>
            <a:r>
              <a:rPr lang="en-US" sz="788" dirty="0">
                <a:solidFill>
                  <a:prstClr val="black"/>
                </a:solidFill>
                <a:latin typeface="Calibri" panose="020F0502020204030204"/>
              </a:rPr>
              <a:t>network</a:t>
            </a:r>
          </a:p>
        </p:txBody>
      </p:sp>
      <p:sp>
        <p:nvSpPr>
          <p:cNvPr id="44" name="TextBox 43">
            <a:extLst>
              <a:ext uri="{FF2B5EF4-FFF2-40B4-BE49-F238E27FC236}">
                <a16:creationId xmlns:a16="http://schemas.microsoft.com/office/drawing/2014/main" id="{75188F4C-A928-8F4F-9205-FD6C4D77CC8D}"/>
              </a:ext>
            </a:extLst>
          </p:cNvPr>
          <p:cNvSpPr txBox="1"/>
          <p:nvPr/>
        </p:nvSpPr>
        <p:spPr>
          <a:xfrm>
            <a:off x="7547264" y="4028436"/>
            <a:ext cx="678391" cy="528606"/>
          </a:xfrm>
          <a:prstGeom prst="rect">
            <a:avLst/>
          </a:prstGeom>
          <a:noFill/>
        </p:spPr>
        <p:txBody>
          <a:bodyPr wrap="none" rtlCol="0">
            <a:spAutoFit/>
          </a:bodyPr>
          <a:lstStyle/>
          <a:p>
            <a:pPr defTabSz="685800">
              <a:lnSpc>
                <a:spcPct val="90000"/>
              </a:lnSpc>
              <a:defRPr/>
            </a:pPr>
            <a:r>
              <a:rPr lang="en-US" sz="1050" dirty="0">
                <a:solidFill>
                  <a:prstClr val="black"/>
                </a:solidFill>
                <a:latin typeface="Calibri" panose="020F0502020204030204"/>
              </a:rPr>
              <a:t>content </a:t>
            </a:r>
          </a:p>
          <a:p>
            <a:pPr defTabSz="685800">
              <a:lnSpc>
                <a:spcPct val="90000"/>
              </a:lnSpc>
              <a:defRPr/>
            </a:pPr>
            <a:r>
              <a:rPr lang="en-US" sz="1050" dirty="0">
                <a:solidFill>
                  <a:prstClr val="black"/>
                </a:solidFill>
                <a:latin typeface="Calibri" panose="020F0502020204030204"/>
              </a:rPr>
              <a:t>provider </a:t>
            </a:r>
          </a:p>
          <a:p>
            <a:pPr defTabSz="685800">
              <a:lnSpc>
                <a:spcPct val="90000"/>
              </a:lnSpc>
              <a:defRPr/>
            </a:pPr>
            <a:r>
              <a:rPr lang="en-US" sz="1050" dirty="0">
                <a:solidFill>
                  <a:prstClr val="black"/>
                </a:solidFill>
                <a:latin typeface="Calibri" panose="020F0502020204030204"/>
              </a:rPr>
              <a:t>network</a:t>
            </a:r>
            <a:endParaRPr lang="en-US" sz="750" dirty="0">
              <a:solidFill>
                <a:prstClr val="black"/>
              </a:solidFill>
              <a:latin typeface="Calibri" panose="020F0502020204030204"/>
            </a:endParaRP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7919940" y="3542344"/>
            <a:ext cx="309723" cy="477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7995626" y="3587764"/>
            <a:ext cx="259400" cy="5542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7977673" y="3582316"/>
            <a:ext cx="251990" cy="2965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7928081" y="3553422"/>
            <a:ext cx="1" cy="3643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7912966" y="3910982"/>
            <a:ext cx="381407" cy="2614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7421397" y="3923057"/>
            <a:ext cx="4915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6914712" y="3923057"/>
            <a:ext cx="4915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6957651" y="3488004"/>
            <a:ext cx="286818" cy="3877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7299802" y="3488004"/>
            <a:ext cx="0" cy="4052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7603251" y="2923269"/>
            <a:ext cx="366131" cy="629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7349039" y="2878510"/>
            <a:ext cx="285324" cy="52110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5671679" y="2452744"/>
            <a:ext cx="2684150" cy="2730212"/>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6155895" y="2882519"/>
            <a:ext cx="170973" cy="1307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a:solidFill>
                <a:prstClr val="black"/>
              </a:solidFill>
              <a:latin typeface="Calibri" panose="020F0502020204030204"/>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6038023" y="2589282"/>
            <a:ext cx="223838" cy="348006"/>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a:defRPr/>
              </a:pPr>
              <a:endParaRPr lang="en-US" sz="1350">
                <a:solidFill>
                  <a:prstClr val="black"/>
                </a:solidFill>
                <a:latin typeface="Calibri" panose="020F0502020204030204"/>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10412" y="3753675"/>
            <a:ext cx="277627" cy="23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67958" y="5000424"/>
            <a:ext cx="285701" cy="238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5" name="Group 104">
            <a:extLst>
              <a:ext uri="{FF2B5EF4-FFF2-40B4-BE49-F238E27FC236}">
                <a16:creationId xmlns:a16="http://schemas.microsoft.com/office/drawing/2014/main" id="{EEFE641A-589B-7942-BC31-34CA4265ECA8}"/>
              </a:ext>
            </a:extLst>
          </p:cNvPr>
          <p:cNvGrpSpPr/>
          <p:nvPr/>
        </p:nvGrpSpPr>
        <p:grpSpPr>
          <a:xfrm>
            <a:off x="7337669" y="4599737"/>
            <a:ext cx="295320" cy="163934"/>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13" name="Group 112">
            <a:extLst>
              <a:ext uri="{FF2B5EF4-FFF2-40B4-BE49-F238E27FC236}">
                <a16:creationId xmlns:a16="http://schemas.microsoft.com/office/drawing/2014/main" id="{827C4B55-0BAE-0949-8777-F3099C171813}"/>
              </a:ext>
            </a:extLst>
          </p:cNvPr>
          <p:cNvGrpSpPr/>
          <p:nvPr/>
        </p:nvGrpSpPr>
        <p:grpSpPr>
          <a:xfrm>
            <a:off x="7387024" y="4861528"/>
            <a:ext cx="232305" cy="143129"/>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6507464" y="4582815"/>
            <a:ext cx="295320" cy="163934"/>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6233640" y="4753075"/>
            <a:ext cx="232305" cy="143129"/>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6329870" y="2966482"/>
            <a:ext cx="265259" cy="126206"/>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6037552" y="3831746"/>
            <a:ext cx="266240" cy="131751"/>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8163064" y="3558274"/>
            <a:ext cx="128242" cy="72789"/>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7807957" y="3479354"/>
            <a:ext cx="265259" cy="148758"/>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7461543" y="2508969"/>
            <a:ext cx="265259" cy="148758"/>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7895410" y="2817275"/>
            <a:ext cx="265259" cy="148758"/>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7982869" y="2438222"/>
            <a:ext cx="265259" cy="148758"/>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193" name="Group 192">
            <a:extLst>
              <a:ext uri="{FF2B5EF4-FFF2-40B4-BE49-F238E27FC236}">
                <a16:creationId xmlns:a16="http://schemas.microsoft.com/office/drawing/2014/main" id="{E38FF4C3-D0A2-D548-89C0-C35D3E53032F}"/>
              </a:ext>
            </a:extLst>
          </p:cNvPr>
          <p:cNvGrpSpPr/>
          <p:nvPr/>
        </p:nvGrpSpPr>
        <p:grpSpPr>
          <a:xfrm>
            <a:off x="6824091" y="3824718"/>
            <a:ext cx="275418" cy="180228"/>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7485094" y="2853424"/>
            <a:ext cx="265259" cy="148758"/>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7122854" y="3402774"/>
            <a:ext cx="275418" cy="180228"/>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7201166" y="3857072"/>
            <a:ext cx="275418" cy="180228"/>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7781444" y="3851494"/>
            <a:ext cx="265259" cy="148758"/>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6935920" y="4439014"/>
            <a:ext cx="295320" cy="163934"/>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8194487" y="4134094"/>
            <a:ext cx="171221" cy="903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5579306" y="2624710"/>
            <a:ext cx="401240" cy="305991"/>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defTabSz="685800">
                <a:defRPr/>
              </a:pPr>
              <a:endParaRPr lang="en-US" sz="1350">
                <a:solidFill>
                  <a:prstClr val="black"/>
                </a:solidFill>
                <a:latin typeface="Calibri" panose="020F0502020204030204"/>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6478336" y="2597046"/>
            <a:ext cx="398027" cy="358507"/>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6374654" y="2401593"/>
            <a:ext cx="636984" cy="169582"/>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5620139" y="3351318"/>
            <a:ext cx="643304" cy="437823"/>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defTabSz="685800">
                  <a:defRPr/>
                </a:pPr>
                <a:endParaRPr lang="en-US" sz="1350">
                  <a:solidFill>
                    <a:prstClr val="black"/>
                  </a:solidFill>
                  <a:latin typeface="Calibri" panose="020F0502020204030204"/>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a:solidFill>
                    <a:prstClr val="black"/>
                  </a:solidFill>
                  <a:latin typeface="Calibri" panose="020F0502020204030204"/>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8298710" y="3428614"/>
            <a:ext cx="388836" cy="90918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5985641" y="4532371"/>
            <a:ext cx="259223" cy="240227"/>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a:solidFill>
                  <a:prstClr val="black"/>
                </a:solidFill>
                <a:latin typeface="Calibri" panose="020F0502020204030204"/>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6901261" y="5246857"/>
            <a:ext cx="232640" cy="230856"/>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defTabSz="685800">
                <a:defRPr/>
              </a:pPr>
              <a:endParaRPr lang="en-US" sz="1350">
                <a:solidFill>
                  <a:prstClr val="black"/>
                </a:solidFill>
                <a:latin typeface="Calibri" panose="020F0502020204030204"/>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6115432" y="4985743"/>
            <a:ext cx="259223" cy="240227"/>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a:solidFill>
                  <a:prstClr val="black"/>
                </a:solidFill>
                <a:latin typeface="Calibri" panose="020F0502020204030204"/>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6414100" y="5001847"/>
            <a:ext cx="259223" cy="240227"/>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a:solidFill>
                  <a:prstClr val="black"/>
                </a:solidFill>
                <a:latin typeface="Calibri" panose="020F0502020204030204"/>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7151060" y="5203604"/>
            <a:ext cx="239448" cy="190034"/>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defTabSz="685800">
                <a:defRPr/>
              </a:pPr>
              <a:endParaRPr lang="en-US" sz="1350">
                <a:solidFill>
                  <a:prstClr val="black"/>
                </a:solidFill>
                <a:latin typeface="Calibri" panose="020F0502020204030204"/>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7615195" y="5084978"/>
            <a:ext cx="25537" cy="249693"/>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7619978" y="5099942"/>
            <a:ext cx="15250" cy="2310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7616639" y="5216815"/>
            <a:ext cx="23732" cy="20644"/>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7519725" y="5113050"/>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7568362" y="5110647"/>
            <a:ext cx="52427" cy="15838"/>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7520627" y="5149313"/>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7568182" y="5146255"/>
            <a:ext cx="52427" cy="14636"/>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7520627" y="5185576"/>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7521529" y="5218454"/>
            <a:ext cx="53962" cy="5134"/>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7567099" y="5215396"/>
            <a:ext cx="52518" cy="16493"/>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7617001" y="5185576"/>
            <a:ext cx="23732" cy="20535"/>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7567460" y="5182627"/>
            <a:ext cx="52518" cy="15182"/>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7613209" y="5084541"/>
            <a:ext cx="6317" cy="249584"/>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7619166" y="5147675"/>
            <a:ext cx="21386" cy="23265"/>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7619436" y="5111958"/>
            <a:ext cx="22018" cy="26215"/>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7637483" y="5322875"/>
            <a:ext cx="4512" cy="1037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7618263" y="5323203"/>
            <a:ext cx="22108" cy="21845"/>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7513408" y="5329866"/>
            <a:ext cx="107924" cy="16384"/>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7519725" y="5334125"/>
            <a:ext cx="96193" cy="862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7528657" y="5297861"/>
            <a:ext cx="14348" cy="1551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7544900" y="5297861"/>
            <a:ext cx="14348" cy="1551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defTabSz="685800">
              <a:lnSpc>
                <a:spcPct val="100000"/>
              </a:lnSpc>
              <a:spcBef>
                <a:spcPct val="0"/>
              </a:spcBef>
              <a:buClrTx/>
              <a:buSzTx/>
              <a:buNone/>
              <a:defRPr/>
            </a:pPr>
            <a:endParaRPr lang="en-US" altLang="en-US" sz="1350">
              <a:solidFill>
                <a:srgbClr val="FF0000"/>
              </a:solidFill>
              <a:latin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7560151" y="5297861"/>
            <a:ext cx="14348" cy="1551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7597058" y="5238333"/>
            <a:ext cx="7219" cy="82904"/>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5830486" y="4818045"/>
            <a:ext cx="259223" cy="240227"/>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defRPr/>
              </a:pPr>
              <a:endParaRPr lang="en-US" sz="1350">
                <a:solidFill>
                  <a:prstClr val="black"/>
                </a:solidFill>
                <a:latin typeface="Calibri" panose="020F0502020204030204"/>
              </a:endParaRPr>
            </a:p>
          </p:txBody>
        </p:sp>
      </p:gr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5812668" y="2252044"/>
            <a:ext cx="311944" cy="289322"/>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30" cstate="print">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7501881" y="5069550"/>
            <a:ext cx="161231" cy="30294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defTabSz="685800">
                <a:lnSpc>
                  <a:spcPct val="100000"/>
                </a:lnSpc>
                <a:spcBef>
                  <a:spcPct val="0"/>
                </a:spcBef>
                <a:buClrTx/>
                <a:buSzTx/>
                <a:buNone/>
                <a:defRPr/>
              </a:pPr>
              <a:endParaRPr lang="en-US" altLang="en-US" sz="1350">
                <a:solidFill>
                  <a:srgbClr val="FF0000"/>
                </a:solidFill>
                <a:latin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grpSp>
        <p:nvGrpSpPr>
          <p:cNvPr id="5" name="Group 4">
            <a:extLst>
              <a:ext uri="{FF2B5EF4-FFF2-40B4-BE49-F238E27FC236}">
                <a16:creationId xmlns:a16="http://schemas.microsoft.com/office/drawing/2014/main" id="{ECB1C97D-3768-4242-9FE4-DEE44A32C22B}"/>
              </a:ext>
            </a:extLst>
          </p:cNvPr>
          <p:cNvGrpSpPr/>
          <p:nvPr/>
        </p:nvGrpSpPr>
        <p:grpSpPr>
          <a:xfrm>
            <a:off x="5760243" y="1710650"/>
            <a:ext cx="2616910" cy="3695231"/>
            <a:chOff x="7680324" y="1137866"/>
            <a:chExt cx="3489213" cy="4926975"/>
          </a:xfrm>
        </p:grpSpPr>
        <p:sp>
          <p:nvSpPr>
            <p:cNvPr id="463" name="Freeform 917">
              <a:extLst>
                <a:ext uri="{FF2B5EF4-FFF2-40B4-BE49-F238E27FC236}">
                  <a16:creationId xmlns:a16="http://schemas.microsoft.com/office/drawing/2014/main" id="{ADACC4C8-123A-0642-ADC2-DC6E1D927429}"/>
                </a:ext>
              </a:extLst>
            </p:cNvPr>
            <p:cNvSpPr>
              <a:spLocks/>
            </p:cNvSpPr>
            <p:nvPr/>
          </p:nvSpPr>
          <p:spPr bwMode="auto">
            <a:xfrm>
              <a:off x="8005845" y="1190714"/>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472" name="Freeform 917">
              <a:extLst>
                <a:ext uri="{FF2B5EF4-FFF2-40B4-BE49-F238E27FC236}">
                  <a16:creationId xmlns:a16="http://schemas.microsoft.com/office/drawing/2014/main" id="{831FA212-BCFB-1F40-96A0-1C871E9EF3AB}"/>
                </a:ext>
              </a:extLst>
            </p:cNvPr>
            <p:cNvSpPr>
              <a:spLocks/>
            </p:cNvSpPr>
            <p:nvPr/>
          </p:nvSpPr>
          <p:spPr bwMode="auto">
            <a:xfrm>
              <a:off x="10104523" y="4775289"/>
              <a:ext cx="304800" cy="942975"/>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4" name="Group 3">
              <a:extLst>
                <a:ext uri="{FF2B5EF4-FFF2-40B4-BE49-F238E27FC236}">
                  <a16:creationId xmlns:a16="http://schemas.microsoft.com/office/drawing/2014/main" id="{5AD244DE-F453-1349-B665-A1EA38EE658E}"/>
                </a:ext>
              </a:extLst>
            </p:cNvPr>
            <p:cNvGrpSpPr/>
            <p:nvPr/>
          </p:nvGrpSpPr>
          <p:grpSpPr>
            <a:xfrm>
              <a:off x="7680324" y="1137866"/>
              <a:ext cx="3489213" cy="4926975"/>
              <a:chOff x="7680324" y="1137866"/>
              <a:chExt cx="3489213" cy="4926975"/>
            </a:xfrm>
          </p:grpSpPr>
          <p:sp>
            <p:nvSpPr>
              <p:cNvPr id="449" name="Oval 448">
                <a:extLst>
                  <a:ext uri="{FF2B5EF4-FFF2-40B4-BE49-F238E27FC236}">
                    <a16:creationId xmlns:a16="http://schemas.microsoft.com/office/drawing/2014/main" id="{D57ABF6C-635D-8547-9D46-7AFB160876AA}"/>
                  </a:ext>
                </a:extLst>
              </p:cNvPr>
              <p:cNvSpPr/>
              <p:nvPr/>
            </p:nvSpPr>
            <p:spPr>
              <a:xfrm>
                <a:off x="7680324" y="1814171"/>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450" name="Oval 449">
                <a:extLst>
                  <a:ext uri="{FF2B5EF4-FFF2-40B4-BE49-F238E27FC236}">
                    <a16:creationId xmlns:a16="http://schemas.microsoft.com/office/drawing/2014/main" id="{2895CDC0-6EA0-564A-AFB6-E1E735A44F41}"/>
                  </a:ext>
                </a:extLst>
              </p:cNvPr>
              <p:cNvSpPr/>
              <p:nvPr/>
            </p:nvSpPr>
            <p:spPr>
              <a:xfrm>
                <a:off x="9823450" y="5554772"/>
                <a:ext cx="612303" cy="510069"/>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grpSp>
            <p:nvGrpSpPr>
              <p:cNvPr id="7" name="Group 6">
                <a:extLst>
                  <a:ext uri="{FF2B5EF4-FFF2-40B4-BE49-F238E27FC236}">
                    <a16:creationId xmlns:a16="http://schemas.microsoft.com/office/drawing/2014/main" id="{6CFEE881-E73C-8C4D-A5ED-9848E08F428B}"/>
                  </a:ext>
                </a:extLst>
              </p:cNvPr>
              <p:cNvGrpSpPr/>
              <p:nvPr/>
            </p:nvGrpSpPr>
            <p:grpSpPr>
              <a:xfrm>
                <a:off x="10288915" y="4742972"/>
                <a:ext cx="880622" cy="1046440"/>
                <a:chOff x="10288915" y="4742972"/>
                <a:chExt cx="880622" cy="1046440"/>
              </a:xfrm>
            </p:grpSpPr>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88915"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defTabSz="685800">
                      <a:defRPr/>
                    </a:pPr>
                    <a:endParaRPr lang="en-US" sz="1350">
                      <a:solidFill>
                        <a:prstClr val="black"/>
                      </a:solidFill>
                      <a:latin typeface="Calibri" panose="020F0502020204030204"/>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defTabSz="685800">
                      <a:lnSpc>
                        <a:spcPct val="100000"/>
                      </a:lnSpc>
                      <a:spcBef>
                        <a:spcPct val="0"/>
                      </a:spcBef>
                      <a:buClrTx/>
                      <a:buSzTx/>
                      <a:buNone/>
                      <a:defRPr/>
                    </a:pPr>
                    <a:endParaRPr lang="en-US" altLang="en-US" sz="1350">
                      <a:solidFill>
                        <a:srgbClr val="FF0000"/>
                      </a:solidFill>
                      <a:latin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defTabSz="685800">
                      <a:lnSpc>
                        <a:spcPct val="100000"/>
                      </a:lnSpc>
                      <a:spcBef>
                        <a:spcPct val="0"/>
                      </a:spcBef>
                      <a:buClrTx/>
                      <a:buSzTx/>
                      <a:buNone/>
                      <a:defRPr/>
                    </a:pPr>
                    <a:endParaRPr lang="en-US" altLang="en-US" sz="1800">
                      <a:solidFill>
                        <a:prstClr val="black"/>
                      </a:solidFill>
                      <a:latin typeface="Arial" panose="020B0604020202020204" pitchFamily="34" charset="0"/>
                    </a:endParaRPr>
                  </a:p>
                </p:txBody>
              </p:sp>
            </p:grpSp>
            <p:sp>
              <p:nvSpPr>
                <p:cNvPr id="465" name="Rectangle 227">
                  <a:extLst>
                    <a:ext uri="{FF2B5EF4-FFF2-40B4-BE49-F238E27FC236}">
                      <a16:creationId xmlns:a16="http://schemas.microsoft.com/office/drawing/2014/main" id="{DDE0D48B-5AA6-5340-937B-33FE1BA44B20}"/>
                    </a:ext>
                  </a:extLst>
                </p:cNvPr>
                <p:cNvSpPr>
                  <a:spLocks noChangeArrowheads="1"/>
                </p:cNvSpPr>
                <p:nvPr/>
              </p:nvSpPr>
              <p:spPr bwMode="auto">
                <a:xfrm>
                  <a:off x="10452186" y="4753064"/>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a:solidFill>
                      <a:prstClr val="black"/>
                    </a:solidFill>
                  </a:endParaRPr>
                </a:p>
              </p:txBody>
            </p:sp>
            <p:sp>
              <p:nvSpPr>
                <p:cNvPr id="466" name="Rectangle 228">
                  <a:extLst>
                    <a:ext uri="{FF2B5EF4-FFF2-40B4-BE49-F238E27FC236}">
                      <a16:creationId xmlns:a16="http://schemas.microsoft.com/office/drawing/2014/main" id="{AEBD2839-8A70-0849-9413-EA386C5B0A76}"/>
                    </a:ext>
                  </a:extLst>
                </p:cNvPr>
                <p:cNvSpPr>
                  <a:spLocks noChangeArrowheads="1"/>
                </p:cNvSpPr>
                <p:nvPr/>
              </p:nvSpPr>
              <p:spPr bwMode="auto">
                <a:xfrm>
                  <a:off x="10418848" y="4776877"/>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a:solidFill>
                      <a:prstClr val="black"/>
                    </a:solidFill>
                  </a:endParaRPr>
                </a:p>
              </p:txBody>
            </p:sp>
            <p:sp>
              <p:nvSpPr>
                <p:cNvPr id="467" name="Rectangle 229">
                  <a:extLst>
                    <a:ext uri="{FF2B5EF4-FFF2-40B4-BE49-F238E27FC236}">
                      <a16:creationId xmlns:a16="http://schemas.microsoft.com/office/drawing/2014/main" id="{66D99AF7-74D7-B440-A1E0-2DC5D0A5EFA3}"/>
                    </a:ext>
                  </a:extLst>
                </p:cNvPr>
                <p:cNvSpPr>
                  <a:spLocks noChangeArrowheads="1"/>
                </p:cNvSpPr>
                <p:nvPr/>
              </p:nvSpPr>
              <p:spPr bwMode="auto">
                <a:xfrm>
                  <a:off x="10425991" y="4930726"/>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a:solidFill>
                      <a:prstClr val="black"/>
                    </a:solidFill>
                  </a:endParaRPr>
                </a:p>
              </p:txBody>
            </p:sp>
            <p:sp>
              <p:nvSpPr>
                <p:cNvPr id="468" name="Text Box 230">
                  <a:extLst>
                    <a:ext uri="{FF2B5EF4-FFF2-40B4-BE49-F238E27FC236}">
                      <a16:creationId xmlns:a16="http://schemas.microsoft.com/office/drawing/2014/main" id="{0C785C80-53AC-EA4E-992A-05BE1EFF5EBC}"/>
                    </a:ext>
                  </a:extLst>
                </p:cNvPr>
                <p:cNvSpPr txBox="1">
                  <a:spLocks noChangeArrowheads="1"/>
                </p:cNvSpPr>
                <p:nvPr/>
              </p:nvSpPr>
              <p:spPr bwMode="auto">
                <a:xfrm>
                  <a:off x="10355150" y="4742972"/>
                  <a:ext cx="814387"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algn="ctr" defTabSz="685800">
                    <a:spcBef>
                      <a:spcPct val="0"/>
                    </a:spcBef>
                    <a:defRPr/>
                  </a:pPr>
                  <a:r>
                    <a:rPr lang="en-US" altLang="en-US" sz="750" dirty="0">
                      <a:solidFill>
                        <a:prstClr val="black"/>
                      </a:solidFill>
                    </a:rPr>
                    <a:t>application</a:t>
                  </a:r>
                </a:p>
                <a:p>
                  <a:pPr algn="ctr" defTabSz="685800">
                    <a:spcBef>
                      <a:spcPct val="0"/>
                    </a:spcBef>
                    <a:defRPr/>
                  </a:pPr>
                  <a:r>
                    <a:rPr lang="en-US" altLang="en-US" sz="750" dirty="0">
                      <a:solidFill>
                        <a:prstClr val="white"/>
                      </a:solidFill>
                    </a:rPr>
                    <a:t>transport</a:t>
                  </a:r>
                </a:p>
                <a:p>
                  <a:pPr algn="ctr" defTabSz="685800">
                    <a:spcBef>
                      <a:spcPct val="0"/>
                    </a:spcBef>
                    <a:defRPr/>
                  </a:pPr>
                  <a:r>
                    <a:rPr lang="en-US" altLang="en-US" sz="750" dirty="0">
                      <a:solidFill>
                        <a:prstClr val="black"/>
                      </a:solidFill>
                    </a:rPr>
                    <a:t>network</a:t>
                  </a:r>
                </a:p>
                <a:p>
                  <a:pPr algn="ctr" defTabSz="685800">
                    <a:spcBef>
                      <a:spcPct val="0"/>
                    </a:spcBef>
                    <a:defRPr/>
                  </a:pPr>
                  <a:r>
                    <a:rPr lang="en-US" altLang="en-US" sz="750" dirty="0">
                      <a:solidFill>
                        <a:prstClr val="black"/>
                      </a:solidFill>
                    </a:rPr>
                    <a:t>data link</a:t>
                  </a:r>
                </a:p>
                <a:p>
                  <a:pPr algn="ctr" defTabSz="685800">
                    <a:spcBef>
                      <a:spcPct val="0"/>
                    </a:spcBef>
                    <a:defRPr/>
                  </a:pPr>
                  <a:r>
                    <a:rPr lang="en-US" altLang="en-US" sz="750" dirty="0">
                      <a:solidFill>
                        <a:prstClr val="black"/>
                      </a:solidFill>
                    </a:rPr>
                    <a:t>physical</a:t>
                  </a:r>
                  <a:endParaRPr lang="en-US" altLang="en-US" sz="1800" dirty="0">
                    <a:solidFill>
                      <a:prstClr val="black"/>
                    </a:solidFill>
                  </a:endParaRPr>
                </a:p>
              </p:txBody>
            </p:sp>
            <p:sp>
              <p:nvSpPr>
                <p:cNvPr id="469" name="Line 231">
                  <a:extLst>
                    <a:ext uri="{FF2B5EF4-FFF2-40B4-BE49-F238E27FC236}">
                      <a16:creationId xmlns:a16="http://schemas.microsoft.com/office/drawing/2014/main" id="{444422FC-4C08-2E49-AD0C-394B62D1B370}"/>
                    </a:ext>
                  </a:extLst>
                </p:cNvPr>
                <p:cNvSpPr>
                  <a:spLocks noChangeShapeType="1"/>
                </p:cNvSpPr>
                <p:nvPr/>
              </p:nvSpPr>
              <p:spPr bwMode="auto">
                <a:xfrm>
                  <a:off x="10418848" y="5119777"/>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sp>
              <p:nvSpPr>
                <p:cNvPr id="470" name="Line 232">
                  <a:extLst>
                    <a:ext uri="{FF2B5EF4-FFF2-40B4-BE49-F238E27FC236}">
                      <a16:creationId xmlns:a16="http://schemas.microsoft.com/office/drawing/2014/main" id="{D3DF9882-BA24-4148-9227-6803DB03F930}"/>
                    </a:ext>
                  </a:extLst>
                </p:cNvPr>
                <p:cNvSpPr>
                  <a:spLocks noChangeShapeType="1"/>
                </p:cNvSpPr>
                <p:nvPr/>
              </p:nvSpPr>
              <p:spPr bwMode="auto">
                <a:xfrm>
                  <a:off x="10428373" y="5257889"/>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sp>
              <p:nvSpPr>
                <p:cNvPr id="471" name="Line 233">
                  <a:extLst>
                    <a:ext uri="{FF2B5EF4-FFF2-40B4-BE49-F238E27FC236}">
                      <a16:creationId xmlns:a16="http://schemas.microsoft.com/office/drawing/2014/main" id="{238E9799-3D8B-F54E-BFBB-FE1237FADF63}"/>
                    </a:ext>
                  </a:extLst>
                </p:cNvPr>
                <p:cNvSpPr>
                  <a:spLocks noChangeShapeType="1"/>
                </p:cNvSpPr>
                <p:nvPr/>
              </p:nvSpPr>
              <p:spPr bwMode="auto">
                <a:xfrm>
                  <a:off x="10428373" y="5396002"/>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grpSp>
          <p:grpSp>
            <p:nvGrpSpPr>
              <p:cNvPr id="8" name="Group 7">
                <a:extLst>
                  <a:ext uri="{FF2B5EF4-FFF2-40B4-BE49-F238E27FC236}">
                    <a16:creationId xmlns:a16="http://schemas.microsoft.com/office/drawing/2014/main" id="{677610FF-4F61-2C4A-A861-FC0ED9C69928}"/>
                  </a:ext>
                </a:extLst>
              </p:cNvPr>
              <p:cNvGrpSpPr/>
              <p:nvPr/>
            </p:nvGrpSpPr>
            <p:grpSpPr>
              <a:xfrm>
                <a:off x="8252702" y="1137866"/>
                <a:ext cx="814388" cy="1046440"/>
                <a:chOff x="9791027" y="656358"/>
                <a:chExt cx="814388" cy="1046440"/>
              </a:xfrm>
            </p:grpSpPr>
            <p:sp>
              <p:nvSpPr>
                <p:cNvPr id="519" name="Rectangle 227">
                  <a:extLst>
                    <a:ext uri="{FF2B5EF4-FFF2-40B4-BE49-F238E27FC236}">
                      <a16:creationId xmlns:a16="http://schemas.microsoft.com/office/drawing/2014/main" id="{B61510CE-247E-1E43-BA4A-EC188AFE0CB8}"/>
                    </a:ext>
                  </a:extLst>
                </p:cNvPr>
                <p:cNvSpPr>
                  <a:spLocks noChangeArrowheads="1"/>
                </p:cNvSpPr>
                <p:nvPr/>
              </p:nvSpPr>
              <p:spPr bwMode="auto">
                <a:xfrm>
                  <a:off x="9888064" y="666450"/>
                  <a:ext cx="676276" cy="776288"/>
                </a:xfrm>
                <a:prstGeom prst="rect">
                  <a:avLst/>
                </a:prstGeom>
                <a:solidFill>
                  <a:srgbClr val="0000A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a:solidFill>
                      <a:prstClr val="black"/>
                    </a:solidFill>
                  </a:endParaRPr>
                </a:p>
              </p:txBody>
            </p:sp>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9854726" y="690263"/>
                  <a:ext cx="690563" cy="800100"/>
                </a:xfrm>
                <a:prstGeom prst="rect">
                  <a:avLst/>
                </a:prstGeom>
                <a:solidFill>
                  <a:schemeClr val="bg1"/>
                </a:solidFill>
                <a:ln w="12700">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a:solidFill>
                      <a:prstClr val="black"/>
                    </a:solidFill>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9861869" y="844112"/>
                  <a:ext cx="676276" cy="18666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defTabSz="685800">
                    <a:defRPr/>
                  </a:pPr>
                  <a:endParaRPr lang="en-US" altLang="en-US" sz="1800">
                    <a:solidFill>
                      <a:prstClr val="black"/>
                    </a:solidFill>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9791027" y="656358"/>
                  <a:ext cx="814388"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algn="ctr" defTabSz="685800">
                    <a:spcBef>
                      <a:spcPct val="0"/>
                    </a:spcBef>
                    <a:defRPr/>
                  </a:pPr>
                  <a:r>
                    <a:rPr lang="en-US" altLang="en-US" sz="750" dirty="0">
                      <a:solidFill>
                        <a:prstClr val="black"/>
                      </a:solidFill>
                    </a:rPr>
                    <a:t>application</a:t>
                  </a:r>
                </a:p>
                <a:p>
                  <a:pPr algn="ctr" defTabSz="685800">
                    <a:spcBef>
                      <a:spcPct val="0"/>
                    </a:spcBef>
                    <a:defRPr/>
                  </a:pPr>
                  <a:r>
                    <a:rPr lang="en-US" altLang="en-US" sz="750" dirty="0">
                      <a:solidFill>
                        <a:prstClr val="white"/>
                      </a:solidFill>
                    </a:rPr>
                    <a:t>transport</a:t>
                  </a:r>
                </a:p>
                <a:p>
                  <a:pPr algn="ctr" defTabSz="685800">
                    <a:spcBef>
                      <a:spcPct val="0"/>
                    </a:spcBef>
                    <a:defRPr/>
                  </a:pPr>
                  <a:r>
                    <a:rPr lang="en-US" altLang="en-US" sz="750" dirty="0">
                      <a:solidFill>
                        <a:prstClr val="black"/>
                      </a:solidFill>
                    </a:rPr>
                    <a:t>network</a:t>
                  </a:r>
                </a:p>
                <a:p>
                  <a:pPr algn="ctr" defTabSz="685800">
                    <a:spcBef>
                      <a:spcPct val="0"/>
                    </a:spcBef>
                    <a:defRPr/>
                  </a:pPr>
                  <a:r>
                    <a:rPr lang="en-US" altLang="en-US" sz="750" dirty="0">
                      <a:solidFill>
                        <a:prstClr val="black"/>
                      </a:solidFill>
                    </a:rPr>
                    <a:t>data link</a:t>
                  </a:r>
                </a:p>
                <a:p>
                  <a:pPr algn="ctr" defTabSz="685800">
                    <a:spcBef>
                      <a:spcPct val="0"/>
                    </a:spcBef>
                    <a:defRPr/>
                  </a:pPr>
                  <a:r>
                    <a:rPr lang="en-US" altLang="en-US" sz="750" dirty="0">
                      <a:solidFill>
                        <a:prstClr val="black"/>
                      </a:solidFill>
                    </a:rPr>
                    <a:t>physical</a:t>
                  </a:r>
                  <a:endParaRPr lang="en-US" altLang="en-US" sz="1800" dirty="0">
                    <a:solidFill>
                      <a:prstClr val="black"/>
                    </a:solidFill>
                  </a:endParaRPr>
                </a:p>
              </p:txBody>
            </p:sp>
            <p:sp>
              <p:nvSpPr>
                <p:cNvPr id="523" name="Line 231">
                  <a:extLst>
                    <a:ext uri="{FF2B5EF4-FFF2-40B4-BE49-F238E27FC236}">
                      <a16:creationId xmlns:a16="http://schemas.microsoft.com/office/drawing/2014/main" id="{A3474A7D-75ED-1D4F-BB1C-5BA4ECFE69E7}"/>
                    </a:ext>
                  </a:extLst>
                </p:cNvPr>
                <p:cNvSpPr>
                  <a:spLocks noChangeShapeType="1"/>
                </p:cNvSpPr>
                <p:nvPr/>
              </p:nvSpPr>
              <p:spPr bwMode="auto">
                <a:xfrm>
                  <a:off x="9854726" y="1033163"/>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sp>
              <p:nvSpPr>
                <p:cNvPr id="524" name="Line 232">
                  <a:extLst>
                    <a:ext uri="{FF2B5EF4-FFF2-40B4-BE49-F238E27FC236}">
                      <a16:creationId xmlns:a16="http://schemas.microsoft.com/office/drawing/2014/main" id="{79D6BFCD-0081-1543-8A02-CDC78B944799}"/>
                    </a:ext>
                  </a:extLst>
                </p:cNvPr>
                <p:cNvSpPr>
                  <a:spLocks noChangeShapeType="1"/>
                </p:cNvSpPr>
                <p:nvPr/>
              </p:nvSpPr>
              <p:spPr bwMode="auto">
                <a:xfrm>
                  <a:off x="9864251" y="1171275"/>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sp>
              <p:nvSpPr>
                <p:cNvPr id="525" name="Line 233">
                  <a:extLst>
                    <a:ext uri="{FF2B5EF4-FFF2-40B4-BE49-F238E27FC236}">
                      <a16:creationId xmlns:a16="http://schemas.microsoft.com/office/drawing/2014/main" id="{539E5FFB-197B-6F44-A1D2-C9A93359AB7C}"/>
                    </a:ext>
                  </a:extLst>
                </p:cNvPr>
                <p:cNvSpPr>
                  <a:spLocks noChangeShapeType="1"/>
                </p:cNvSpPr>
                <p:nvPr/>
              </p:nvSpPr>
              <p:spPr bwMode="auto">
                <a:xfrm>
                  <a:off x="9864251" y="1309388"/>
                  <a:ext cx="690563" cy="47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defRPr/>
                  </a:pPr>
                  <a:endParaRPr lang="en-US" sz="1350">
                    <a:solidFill>
                      <a:prstClr val="black"/>
                    </a:solidFill>
                    <a:latin typeface="Calibri" panose="020F0502020204030204"/>
                  </a:endParaRPr>
                </a:p>
              </p:txBody>
            </p:sp>
          </p:grpSp>
          <p:sp>
            <p:nvSpPr>
              <p:cNvPr id="558" name="Up-Down Arrow 557">
                <a:extLst>
                  <a:ext uri="{FF2B5EF4-FFF2-40B4-BE49-F238E27FC236}">
                    <a16:creationId xmlns:a16="http://schemas.microsoft.com/office/drawing/2014/main" id="{1F1264FF-C88C-CF4E-85AF-1CB82BE0554E}"/>
                  </a:ext>
                </a:extLst>
              </p:cNvPr>
              <p:cNvSpPr/>
              <p:nvPr/>
            </p:nvSpPr>
            <p:spPr>
              <a:xfrm rot="19889198">
                <a:off x="9544123" y="1270072"/>
                <a:ext cx="626354" cy="3838406"/>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559" name="TextBox 558">
                <a:extLst>
                  <a:ext uri="{FF2B5EF4-FFF2-40B4-BE49-F238E27FC236}">
                    <a16:creationId xmlns:a16="http://schemas.microsoft.com/office/drawing/2014/main" id="{BDB4ECF5-2BA8-034C-9E12-98E6A9A3E77D}"/>
                  </a:ext>
                </a:extLst>
              </p:cNvPr>
              <p:cNvSpPr txBox="1"/>
              <p:nvPr/>
            </p:nvSpPr>
            <p:spPr>
              <a:xfrm rot="3706861">
                <a:off x="8608805" y="3087879"/>
                <a:ext cx="2614220" cy="400109"/>
              </a:xfrm>
              <a:prstGeom prst="rect">
                <a:avLst/>
              </a:prstGeom>
              <a:noFill/>
            </p:spPr>
            <p:txBody>
              <a:bodyPr wrap="none" rtlCol="0">
                <a:spAutoFit/>
              </a:bodyPr>
              <a:lstStyle/>
              <a:p>
                <a:pPr defTabSz="685800">
                  <a:defRPr/>
                </a:pPr>
                <a:r>
                  <a:rPr lang="en-US" sz="1350" dirty="0">
                    <a:solidFill>
                      <a:prstClr val="white"/>
                    </a:solidFill>
                    <a:latin typeface="Calibri" panose="020F0502020204030204"/>
                  </a:rPr>
                  <a:t>logical end-end transport</a:t>
                </a:r>
              </a:p>
            </p:txBody>
          </p:sp>
        </p:grpSp>
      </p:grpSp>
      <p:sp>
        <p:nvSpPr>
          <p:cNvPr id="517" name="Rectangle 3">
            <a:extLst>
              <a:ext uri="{FF2B5EF4-FFF2-40B4-BE49-F238E27FC236}">
                <a16:creationId xmlns:a16="http://schemas.microsoft.com/office/drawing/2014/main" id="{5DD1F129-FF75-B647-8A9A-42B6C0C7E416}"/>
              </a:ext>
            </a:extLst>
          </p:cNvPr>
          <p:cNvSpPr txBox="1">
            <a:spLocks noChangeArrowheads="1"/>
          </p:cNvSpPr>
          <p:nvPr/>
        </p:nvSpPr>
        <p:spPr>
          <a:xfrm>
            <a:off x="513519" y="2947902"/>
            <a:ext cx="4765660" cy="1745815"/>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Calibri" panose="020F0502020204030204"/>
              </a:rPr>
              <a:t>transport protocols actions in end systems:</a:t>
            </a:r>
          </a:p>
          <a:p>
            <a:pPr marL="521494" lvl="1" indent="-173831" defTabSz="685800">
              <a:spcBef>
                <a:spcPts val="375"/>
              </a:spcBef>
              <a:buFont typeface="Arial"/>
              <a:buChar char="•"/>
              <a:defRPr/>
            </a:pPr>
            <a:r>
              <a:rPr lang="en-US" sz="1800" dirty="0">
                <a:solidFill>
                  <a:prstClr val="black"/>
                </a:solidFill>
                <a:latin typeface="Calibri" panose="020F0502020204030204"/>
              </a:rPr>
              <a:t>sender: breaks application messages into </a:t>
            </a:r>
            <a:r>
              <a:rPr lang="en-US" sz="1800" i="1" dirty="0">
                <a:solidFill>
                  <a:srgbClr val="CC0000"/>
                </a:solidFill>
                <a:latin typeface="Calibri" panose="020F0502020204030204"/>
              </a:rPr>
              <a:t>segments</a:t>
            </a:r>
            <a:r>
              <a:rPr lang="en-US" sz="1800" dirty="0">
                <a:solidFill>
                  <a:prstClr val="black"/>
                </a:solidFill>
                <a:latin typeface="Calibri" panose="020F0502020204030204"/>
              </a:rPr>
              <a:t>, passes to the network layer</a:t>
            </a:r>
          </a:p>
          <a:p>
            <a:pPr marL="521494" lvl="1" indent="-173831" defTabSz="685800">
              <a:spcBef>
                <a:spcPts val="375"/>
              </a:spcBef>
              <a:buFont typeface="Arial"/>
              <a:buChar char="•"/>
              <a:defRPr/>
            </a:pPr>
            <a:r>
              <a:rPr lang="en-US" sz="1800" dirty="0">
                <a:solidFill>
                  <a:prstClr val="black"/>
                </a:solidFill>
                <a:latin typeface="Calibri" panose="020F0502020204030204"/>
              </a:rPr>
              <a:t>Receiver: reassembles segments into messages, passes to the application layer</a:t>
            </a:r>
          </a:p>
        </p:txBody>
      </p:sp>
      <p:sp>
        <p:nvSpPr>
          <p:cNvPr id="518" name="Rectangle 3">
            <a:extLst>
              <a:ext uri="{FF2B5EF4-FFF2-40B4-BE49-F238E27FC236}">
                <a16:creationId xmlns:a16="http://schemas.microsoft.com/office/drawing/2014/main" id="{C3EBA7FC-18E1-7D43-9310-976F49009C6C}"/>
              </a:ext>
            </a:extLst>
          </p:cNvPr>
          <p:cNvSpPr txBox="1">
            <a:spLocks noChangeArrowheads="1"/>
          </p:cNvSpPr>
          <p:nvPr/>
        </p:nvSpPr>
        <p:spPr>
          <a:xfrm>
            <a:off x="510913" y="4731074"/>
            <a:ext cx="4361777" cy="108641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Calibri"/>
              </a:rPr>
              <a:t>two transport protocols available to Internet applications</a:t>
            </a:r>
          </a:p>
          <a:p>
            <a:pPr marL="521494" lvl="1" indent="-173831" defTabSz="685800">
              <a:spcBef>
                <a:spcPts val="375"/>
              </a:spcBef>
              <a:buFont typeface="Arial"/>
              <a:buChar char="•"/>
              <a:defRPr/>
            </a:pPr>
            <a:r>
              <a:rPr lang="en-US" sz="1800" dirty="0">
                <a:solidFill>
                  <a:prstClr val="black"/>
                </a:solidFill>
                <a:latin typeface="Calibri"/>
              </a:rPr>
              <a:t>TCP, UDP</a:t>
            </a:r>
          </a:p>
        </p:txBody>
      </p:sp>
      <p:sp>
        <p:nvSpPr>
          <p:cNvPr id="526" name="Slide Number Placeholder 2">
            <a:extLst>
              <a:ext uri="{FF2B5EF4-FFF2-40B4-BE49-F238E27FC236}">
                <a16:creationId xmlns:a16="http://schemas.microsoft.com/office/drawing/2014/main" id="{58250C2D-03C7-2C42-9317-E77099EDA1D2}"/>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4</a:t>
            </a:fld>
            <a:endParaRPr lang="en-US" dirty="0"/>
          </a:p>
        </p:txBody>
      </p:sp>
    </p:spTree>
    <p:extLst>
      <p:ext uri="{BB962C8B-B14F-4D97-AF65-F5344CB8AC3E}">
        <p14:creationId xmlns:p14="http://schemas.microsoft.com/office/powerpoint/2010/main" val="375836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7"/>
                                        </p:tgtEl>
                                        <p:attrNameLst>
                                          <p:attrName>style.visibility</p:attrName>
                                        </p:attrNameLst>
                                      </p:cBhvr>
                                      <p:to>
                                        <p:strVal val="visible"/>
                                      </p:to>
                                    </p:set>
                                    <p:animEffect transition="in" filter="dissolve">
                                      <p:cBhvr>
                                        <p:cTn id="12" dur="500"/>
                                        <p:tgtEl>
                                          <p:spTgt spid="5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18"/>
                                        </p:tgtEl>
                                        <p:attrNameLst>
                                          <p:attrName>style.visibility</p:attrName>
                                        </p:attrNameLst>
                                      </p:cBhvr>
                                      <p:to>
                                        <p:strVal val="visible"/>
                                      </p:to>
                                    </p:set>
                                    <p:animEffect transition="in" filter="dissolve">
                                      <p:cBhvr>
                                        <p:cTn id="17" dur="5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 grpId="0"/>
      <p:bldP spid="5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0" y="162167"/>
            <a:ext cx="5257801" cy="465874"/>
          </a:xfrm>
        </p:spPr>
        <p:txBody>
          <a:bodyPr/>
          <a:lstStyle/>
          <a:p>
            <a:r>
              <a:rPr lang="en-US" sz="2400" b="1" dirty="0">
                <a:solidFill>
                  <a:schemeClr val="bg2"/>
                </a:solidFill>
              </a:rPr>
              <a:t>Transport Layer Responsibilities</a:t>
            </a:r>
          </a:p>
        </p:txBody>
      </p:sp>
      <p:sp>
        <p:nvSpPr>
          <p:cNvPr id="5" name="Text Placeholder 4"/>
          <p:cNvSpPr>
            <a:spLocks noGrp="1"/>
          </p:cNvSpPr>
          <p:nvPr>
            <p:ph type="body" sz="quarter" idx="10"/>
          </p:nvPr>
        </p:nvSpPr>
        <p:spPr>
          <a:xfrm>
            <a:off x="205740" y="659194"/>
            <a:ext cx="3927764" cy="1837056"/>
          </a:xfrm>
        </p:spPr>
        <p:txBody>
          <a:bodyPr/>
          <a:lstStyle/>
          <a:p>
            <a:r>
              <a:rPr lang="en-US" sz="2000" b="1" dirty="0"/>
              <a:t>Track Individual Conversations: </a:t>
            </a:r>
            <a:r>
              <a:rPr lang="en-US" sz="2000" dirty="0"/>
              <a:t>By tracking each individual conversation flowing between a source application and a destination application separately</a:t>
            </a:r>
            <a:r>
              <a:rPr lang="en-US" sz="2000" b="1" dirty="0"/>
              <a:t>.</a:t>
            </a:r>
            <a:endParaRPr lang="en-US" sz="2000" dirty="0"/>
          </a:p>
        </p:txBody>
      </p:sp>
      <p:sp>
        <p:nvSpPr>
          <p:cNvPr id="6" name="Text Placeholder 1"/>
          <p:cNvSpPr txBox="1">
            <a:spLocks/>
          </p:cNvSpPr>
          <p:nvPr/>
        </p:nvSpPr>
        <p:spPr>
          <a:xfrm>
            <a:off x="205740" y="2841041"/>
            <a:ext cx="3657600" cy="1614054"/>
          </a:xfrm>
          <a:prstGeom prst="rect">
            <a:avLst/>
          </a:prstGeom>
        </p:spPr>
        <p:txBody>
          <a:bodyPr vert="horz" lIns="91440" tIns="45720" rIns="91440" bIns="45720" rtlCol="0">
            <a:noAutofit/>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0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b="1" dirty="0"/>
              <a:t>Segment Data and Reassemble Segments: </a:t>
            </a:r>
            <a:r>
              <a:rPr lang="en-GB" dirty="0"/>
              <a:t>By dividing the data into segments that are easier to manage and transport.</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7425" y="1990158"/>
            <a:ext cx="5386575" cy="3610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 Placeholder 1"/>
          <p:cNvSpPr txBox="1">
            <a:spLocks/>
          </p:cNvSpPr>
          <p:nvPr/>
        </p:nvSpPr>
        <p:spPr>
          <a:xfrm>
            <a:off x="205740" y="4799887"/>
            <a:ext cx="3703320" cy="1800814"/>
          </a:xfrm>
          <a:prstGeom prst="rect">
            <a:avLst/>
          </a:prstGeom>
        </p:spPr>
        <p:txBody>
          <a:bodyPr vert="horz" lIns="91440" tIns="45720" rIns="91440" bIns="45720" rtlCol="0">
            <a:noAutofit/>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0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b="1" dirty="0"/>
              <a:t>Identify the Applications: </a:t>
            </a:r>
            <a:r>
              <a:rPr lang="en-GB" dirty="0"/>
              <a:t>By ensuring even when multiple applications are running on a device, all applications receive the correct data.</a:t>
            </a:r>
          </a:p>
        </p:txBody>
      </p:sp>
    </p:spTree>
    <p:extLst>
      <p:ext uri="{BB962C8B-B14F-4D97-AF65-F5344CB8AC3E}">
        <p14:creationId xmlns:p14="http://schemas.microsoft.com/office/powerpoint/2010/main" val="268954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8601" y="162250"/>
            <a:ext cx="4865914" cy="551853"/>
          </a:xfrm>
        </p:spPr>
        <p:txBody>
          <a:bodyPr/>
          <a:lstStyle/>
          <a:p>
            <a:r>
              <a:rPr lang="en-US" sz="2800" b="1" dirty="0">
                <a:solidFill>
                  <a:schemeClr val="bg2"/>
                </a:solidFill>
              </a:rPr>
              <a:t>Conversation Multiplexing</a:t>
            </a:r>
          </a:p>
        </p:txBody>
      </p:sp>
      <p:sp>
        <p:nvSpPr>
          <p:cNvPr id="3" name="Text Placeholder 2"/>
          <p:cNvSpPr>
            <a:spLocks noGrp="1"/>
          </p:cNvSpPr>
          <p:nvPr>
            <p:ph type="body" sz="quarter" idx="10"/>
          </p:nvPr>
        </p:nvSpPr>
        <p:spPr>
          <a:xfrm>
            <a:off x="0" y="984395"/>
            <a:ext cx="4038600" cy="4965192"/>
          </a:xfrm>
        </p:spPr>
        <p:txBody>
          <a:bodyPr/>
          <a:lstStyle/>
          <a:p>
            <a:pPr marL="285750" indent="-285750"/>
            <a:r>
              <a:rPr lang="en-US" sz="2000" dirty="0"/>
              <a:t>Segmenting the data into smaller chunks enables many different communications, from many different users, to be interleaved (multiplexed) on the same network.</a:t>
            </a:r>
          </a:p>
          <a:p>
            <a:pPr marL="285750" indent="-285750"/>
            <a:r>
              <a:rPr lang="en-US" sz="2000" dirty="0"/>
              <a:t>The transport layer adds a header that contains binary data to identify each segment of data and to enable various transport layer protocols to perform different functions in the management of data communication. </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182" y="1298666"/>
            <a:ext cx="4605573" cy="36591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7314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32878" y="84963"/>
            <a:ext cx="8588861" cy="838200"/>
          </a:xfrm>
        </p:spPr>
        <p:txBody>
          <a:bodyPr/>
          <a:lstStyle/>
          <a:p>
            <a:r>
              <a:rPr lang="en-US" sz="3200" b="1" dirty="0">
                <a:solidFill>
                  <a:schemeClr val="bg2"/>
                </a:solidFill>
              </a:rPr>
              <a:t>Transport Layer Reliability</a:t>
            </a:r>
          </a:p>
        </p:txBody>
      </p:sp>
      <p:sp>
        <p:nvSpPr>
          <p:cNvPr id="3" name="Text Placeholder 2"/>
          <p:cNvSpPr>
            <a:spLocks noGrp="1"/>
          </p:cNvSpPr>
          <p:nvPr>
            <p:ph type="body" sz="quarter" idx="10"/>
          </p:nvPr>
        </p:nvSpPr>
        <p:spPr>
          <a:xfrm>
            <a:off x="228600" y="1344168"/>
            <a:ext cx="8221980" cy="4073652"/>
          </a:xfrm>
        </p:spPr>
        <p:txBody>
          <a:bodyPr/>
          <a:lstStyle/>
          <a:p>
            <a:pPr marL="285750" indent="-285750"/>
            <a:r>
              <a:rPr lang="en-US" sz="1600" dirty="0"/>
              <a:t>The transport layer is also responsible for managing reliability.</a:t>
            </a:r>
          </a:p>
          <a:p>
            <a:pPr marL="285750" indent="-285750"/>
            <a:r>
              <a:rPr lang="en-US" sz="1600" dirty="0"/>
              <a:t>Some applications may not require reliability. </a:t>
            </a:r>
            <a:r>
              <a:rPr lang="en-US" sz="1600" b="1" dirty="0"/>
              <a:t>Transport layer requirements vary from application to application.</a:t>
            </a:r>
          </a:p>
          <a:p>
            <a:pPr marL="285750" indent="-285750"/>
            <a:r>
              <a:rPr lang="en-US" sz="1600" dirty="0"/>
              <a:t>TCP/IP suite provides two transport</a:t>
            </a:r>
            <a:br>
              <a:rPr lang="en-US" sz="1600" dirty="0"/>
            </a:br>
            <a:r>
              <a:rPr lang="en-US" sz="1600" dirty="0"/>
              <a:t>layer protocols, Transmission Control</a:t>
            </a:r>
            <a:br>
              <a:rPr lang="en-US" sz="1600" dirty="0"/>
            </a:br>
            <a:r>
              <a:rPr lang="en-US" sz="1600" dirty="0"/>
              <a:t>Protocol (TCP) and User Datagram</a:t>
            </a:r>
            <a:br>
              <a:rPr lang="en-US" sz="1600" dirty="0"/>
            </a:br>
            <a:r>
              <a:rPr lang="en-US" sz="1600" dirty="0"/>
              <a:t>Protocol (UDP).</a:t>
            </a:r>
          </a:p>
          <a:p>
            <a:pPr marL="285750" indent="-285750"/>
            <a:r>
              <a:rPr lang="en-US" sz="1600" dirty="0"/>
              <a:t>TCP is considered a reliable,</a:t>
            </a:r>
            <a:br>
              <a:rPr lang="en-US" sz="1600" dirty="0"/>
            </a:br>
            <a:r>
              <a:rPr lang="en-US" sz="1600" dirty="0"/>
              <a:t>full-featured transport layer protocol,</a:t>
            </a:r>
            <a:br>
              <a:rPr lang="en-US" sz="1600" dirty="0"/>
            </a:br>
            <a:r>
              <a:rPr lang="en-US" sz="1600" dirty="0"/>
              <a:t>which allows for packet data delivery</a:t>
            </a:r>
            <a:br>
              <a:rPr lang="en-US" sz="1600" dirty="0"/>
            </a:br>
            <a:r>
              <a:rPr lang="en-US" sz="1600" b="1" dirty="0"/>
              <a:t>confirmation</a:t>
            </a:r>
            <a:r>
              <a:rPr lang="en-US" sz="1600" dirty="0"/>
              <a:t>.</a:t>
            </a:r>
          </a:p>
          <a:p>
            <a:pPr marL="285750" indent="-285750"/>
            <a:r>
              <a:rPr lang="en-US" sz="1600" dirty="0"/>
              <a:t>In contrast, UDP is a very simple</a:t>
            </a:r>
            <a:br>
              <a:rPr lang="en-US" sz="1600" dirty="0"/>
            </a:br>
            <a:r>
              <a:rPr lang="en-US" sz="1600" dirty="0"/>
              <a:t>transport layer protocol that does not</a:t>
            </a:r>
            <a:br>
              <a:rPr lang="en-US" sz="1600" dirty="0"/>
            </a:br>
            <a:r>
              <a:rPr lang="en-US" sz="1600" dirty="0"/>
              <a:t>provide any reliability.</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7986" y="2598420"/>
            <a:ext cx="4243753" cy="3659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708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263784" y="48358"/>
            <a:ext cx="1250755" cy="577979"/>
          </a:xfrm>
        </p:spPr>
        <p:txBody>
          <a:bodyPr/>
          <a:lstStyle/>
          <a:p>
            <a:r>
              <a:rPr lang="en-US" sz="3200" b="1" dirty="0">
                <a:solidFill>
                  <a:schemeClr val="bg2"/>
                </a:solidFill>
              </a:rPr>
              <a:t>TCP</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 y="3999790"/>
            <a:ext cx="4348405" cy="2720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a:xfrm>
            <a:off x="0" y="609084"/>
            <a:ext cx="4740442" cy="4167440"/>
          </a:xfrm>
        </p:spPr>
        <p:txBody>
          <a:bodyPr/>
          <a:lstStyle/>
          <a:p>
            <a:pPr marL="285750" indent="-285750"/>
            <a:r>
              <a:rPr lang="en-US" sz="1800" dirty="0"/>
              <a:t>TCP transport is reliable because it supports packet delivery confirmation.</a:t>
            </a:r>
          </a:p>
          <a:p>
            <a:pPr marL="285750" indent="-285750"/>
            <a:r>
              <a:rPr lang="en-US" sz="1800" dirty="0"/>
              <a:t>There are three basic operations that enable reliability with TCP:</a:t>
            </a:r>
          </a:p>
          <a:p>
            <a:pPr marL="800100" lvl="1" indent="-342900">
              <a:buFont typeface="Courier New" panose="02070309020205020404" pitchFamily="49" charset="0"/>
              <a:buChar char="o"/>
            </a:pPr>
            <a:r>
              <a:rPr lang="en-US" dirty="0"/>
              <a:t>Numbering and tracking data segments transmitted to a specific host from a specific application</a:t>
            </a:r>
          </a:p>
          <a:p>
            <a:pPr marL="800100" lvl="1" indent="-342900">
              <a:buFont typeface="Courier New" panose="02070309020205020404" pitchFamily="49" charset="0"/>
              <a:buChar char="o"/>
            </a:pPr>
            <a:r>
              <a:rPr lang="en-US" dirty="0"/>
              <a:t>Acknowledging received data</a:t>
            </a:r>
          </a:p>
          <a:p>
            <a:pPr marL="800100" lvl="1" indent="-342900">
              <a:buFont typeface="Courier New" panose="02070309020205020404" pitchFamily="49" charset="0"/>
              <a:buChar char="o"/>
            </a:pPr>
            <a:r>
              <a:rPr lang="en-US" dirty="0"/>
              <a:t>Retransmitting any  unacknowledged</a:t>
            </a:r>
            <a:br>
              <a:rPr lang="en-US" dirty="0"/>
            </a:br>
            <a:r>
              <a:rPr lang="en-US" dirty="0"/>
              <a:t>data after a certain period of time</a:t>
            </a:r>
          </a:p>
          <a:p>
            <a:pPr marL="285750" indent="-285750"/>
            <a:endParaRPr lang="en-US" sz="2000" dirty="0"/>
          </a:p>
        </p:txBody>
      </p:sp>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4076" y="3999790"/>
            <a:ext cx="4371649" cy="26362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2"/>
          <p:cNvSpPr txBox="1">
            <a:spLocks/>
          </p:cNvSpPr>
          <p:nvPr/>
        </p:nvSpPr>
        <p:spPr>
          <a:xfrm>
            <a:off x="4808140" y="626338"/>
            <a:ext cx="4342599" cy="3187674"/>
          </a:xfrm>
          <a:prstGeom prst="rect">
            <a:avLst/>
          </a:prstGeom>
        </p:spPr>
        <p:txBody>
          <a:bodyPr vert="horz" lIns="91440" tIns="45720" rIns="91440" bIns="45720" rtlCol="0">
            <a:noAutofit/>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0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nSpc>
                <a:spcPct val="100000"/>
              </a:lnSpc>
            </a:pPr>
            <a:r>
              <a:rPr lang="en-US" sz="1800" dirty="0"/>
              <a:t>If reliability is not required, UDP is a better transport protocol.</a:t>
            </a:r>
          </a:p>
          <a:p>
            <a:pPr marL="285750" indent="-285750">
              <a:lnSpc>
                <a:spcPct val="100000"/>
              </a:lnSpc>
            </a:pPr>
            <a:r>
              <a:rPr lang="en-GB" sz="1800" dirty="0"/>
              <a:t>Some applications </a:t>
            </a:r>
            <a:r>
              <a:rPr lang="en-GB" sz="1800" b="1" dirty="0"/>
              <a:t>do not require reliability</a:t>
            </a:r>
            <a:r>
              <a:rPr lang="en-GB" sz="1800" dirty="0"/>
              <a:t>. Reliability incurs additional overhead and possible </a:t>
            </a:r>
            <a:r>
              <a:rPr lang="en-GB" sz="1800" b="1" dirty="0"/>
              <a:t>delays</a:t>
            </a:r>
            <a:r>
              <a:rPr lang="en-GB" sz="1800" dirty="0"/>
              <a:t> in transmission.</a:t>
            </a:r>
          </a:p>
          <a:p>
            <a:pPr marL="285750" indent="-285750">
              <a:lnSpc>
                <a:spcPct val="100000"/>
              </a:lnSpc>
            </a:pPr>
            <a:r>
              <a:rPr lang="en-US" sz="1800" dirty="0"/>
              <a:t>UDP provides the basic functions for delivering data segments between the appropriate applications, with very little overhead and data checking.</a:t>
            </a:r>
          </a:p>
        </p:txBody>
      </p:sp>
      <p:sp>
        <p:nvSpPr>
          <p:cNvPr id="8" name="Title 11"/>
          <p:cNvSpPr txBox="1">
            <a:spLocks/>
          </p:cNvSpPr>
          <p:nvPr/>
        </p:nvSpPr>
        <p:spPr>
          <a:xfrm>
            <a:off x="6354063" y="48359"/>
            <a:ext cx="1250755" cy="577979"/>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GB" sz="3200" b="1" dirty="0">
                <a:solidFill>
                  <a:schemeClr val="bg2"/>
                </a:solidFill>
              </a:rPr>
              <a:t>UDP</a:t>
            </a:r>
          </a:p>
        </p:txBody>
      </p:sp>
      <p:sp>
        <p:nvSpPr>
          <p:cNvPr id="9" name="Title 11"/>
          <p:cNvSpPr txBox="1">
            <a:spLocks/>
          </p:cNvSpPr>
          <p:nvPr/>
        </p:nvSpPr>
        <p:spPr>
          <a:xfrm>
            <a:off x="4128160" y="13185"/>
            <a:ext cx="1250755" cy="577979"/>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r>
              <a:rPr lang="en-GB" sz="3200" b="1" dirty="0">
                <a:solidFill>
                  <a:schemeClr val="bg2"/>
                </a:solidFill>
              </a:rPr>
              <a:t>Vs.</a:t>
            </a:r>
          </a:p>
        </p:txBody>
      </p:sp>
    </p:spTree>
    <p:extLst>
      <p:ext uri="{BB962C8B-B14F-4D97-AF65-F5344CB8AC3E}">
        <p14:creationId xmlns:p14="http://schemas.microsoft.com/office/powerpoint/2010/main" val="218778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 y="965876"/>
            <a:ext cx="7844790" cy="5680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1"/>
          <p:cNvSpPr>
            <a:spLocks noGrp="1"/>
          </p:cNvSpPr>
          <p:nvPr>
            <p:ph type="title"/>
          </p:nvPr>
        </p:nvSpPr>
        <p:spPr>
          <a:xfrm>
            <a:off x="2556510" y="0"/>
            <a:ext cx="3088264" cy="558385"/>
          </a:xfrm>
        </p:spPr>
        <p:txBody>
          <a:bodyPr/>
          <a:lstStyle/>
          <a:p>
            <a:pPr>
              <a:lnSpc>
                <a:spcPct val="100000"/>
              </a:lnSpc>
            </a:pPr>
            <a:r>
              <a:rPr lang="en-US" sz="3200" dirty="0"/>
              <a:t>TCP Features</a:t>
            </a:r>
          </a:p>
        </p:txBody>
      </p:sp>
    </p:spTree>
    <p:extLst>
      <p:ext uri="{BB962C8B-B14F-4D97-AF65-F5344CB8AC3E}">
        <p14:creationId xmlns:p14="http://schemas.microsoft.com/office/powerpoint/2010/main" val="281176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419" y="737962"/>
            <a:ext cx="8999581" cy="562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1"/>
          <p:cNvSpPr txBox="1">
            <a:spLocks/>
          </p:cNvSpPr>
          <p:nvPr/>
        </p:nvSpPr>
        <p:spPr>
          <a:xfrm>
            <a:off x="2954352" y="110671"/>
            <a:ext cx="3088264" cy="627291"/>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a:lnSpc>
                <a:spcPct val="100000"/>
              </a:lnSpc>
            </a:pPr>
            <a:r>
              <a:rPr lang="en-GB" sz="3200" dirty="0"/>
              <a:t>UDP Features</a:t>
            </a:r>
          </a:p>
        </p:txBody>
      </p:sp>
    </p:spTree>
    <p:extLst>
      <p:ext uri="{BB962C8B-B14F-4D97-AF65-F5344CB8AC3E}">
        <p14:creationId xmlns:p14="http://schemas.microsoft.com/office/powerpoint/2010/main" val="452612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8600" y="76842"/>
            <a:ext cx="8588861" cy="532758"/>
          </a:xfrm>
        </p:spPr>
        <p:txBody>
          <a:bodyPr/>
          <a:lstStyle/>
          <a:p>
            <a:r>
              <a:rPr lang="en-US" sz="2600" b="1" dirty="0">
                <a:solidFill>
                  <a:schemeClr val="bg2"/>
                </a:solidFill>
              </a:rPr>
              <a:t>Transport Layer Protocols: which is more suitable?</a:t>
            </a:r>
          </a:p>
        </p:txBody>
      </p:sp>
      <p:sp>
        <p:nvSpPr>
          <p:cNvPr id="3" name="Text Placeholder 2"/>
          <p:cNvSpPr>
            <a:spLocks noGrp="1"/>
          </p:cNvSpPr>
          <p:nvPr>
            <p:ph type="body" sz="quarter" idx="10"/>
          </p:nvPr>
        </p:nvSpPr>
        <p:spPr>
          <a:xfrm>
            <a:off x="1" y="753699"/>
            <a:ext cx="5124449" cy="6104301"/>
          </a:xfrm>
        </p:spPr>
        <p:txBody>
          <a:bodyPr/>
          <a:lstStyle/>
          <a:p>
            <a:pPr marL="285750" indent="-285750"/>
            <a:r>
              <a:rPr lang="en-US" dirty="0"/>
              <a:t>TCP is a better choice for:</a:t>
            </a:r>
          </a:p>
          <a:p>
            <a:pPr marL="742950" lvl="1" indent="-285750">
              <a:buFont typeface="Arial" panose="020B0604020202020204" pitchFamily="34" charset="0"/>
              <a:buChar char="•"/>
            </a:pPr>
            <a:r>
              <a:rPr lang="en-US" sz="2000" dirty="0"/>
              <a:t>Applications whose segments must arrive in a very specific sequence to be processed successfully.</a:t>
            </a:r>
          </a:p>
          <a:p>
            <a:pPr marL="742950" lvl="1" indent="-285750">
              <a:buFont typeface="Arial" panose="020B0604020202020204" pitchFamily="34" charset="0"/>
              <a:buChar char="•"/>
            </a:pPr>
            <a:r>
              <a:rPr lang="en-US" sz="2000" dirty="0"/>
              <a:t>Application in which all data must be fully received before any is considered useful.</a:t>
            </a:r>
          </a:p>
          <a:p>
            <a:pPr marL="285750" indent="-285750"/>
            <a:r>
              <a:rPr lang="en-US" dirty="0"/>
              <a:t>Applications requiring TCP include: Databases, Web browsers, Email clients.</a:t>
            </a:r>
          </a:p>
          <a:p>
            <a:pPr marL="285750" indent="-285750"/>
            <a:r>
              <a:rPr lang="en-US" dirty="0"/>
              <a:t>UDP is a better choice for applications that can tolerate some data loss during transmission, but delays in transmission are unacceptable.</a:t>
            </a:r>
          </a:p>
          <a:p>
            <a:pPr marL="285750" indent="-285750"/>
            <a:r>
              <a:rPr lang="en-US" dirty="0"/>
              <a:t>Applications using UDP include:</a:t>
            </a:r>
          </a:p>
          <a:p>
            <a:pPr marL="742950" lvl="1" indent="-285750">
              <a:buFont typeface="Arial" panose="020B0604020202020204" pitchFamily="34" charset="0"/>
              <a:buChar char="•"/>
            </a:pPr>
            <a:r>
              <a:rPr lang="en-US" sz="2000" dirty="0"/>
              <a:t>Live audio streaming</a:t>
            </a:r>
          </a:p>
          <a:p>
            <a:pPr marL="742950" lvl="1" indent="-285750">
              <a:buFont typeface="Arial" panose="020B0604020202020204" pitchFamily="34" charset="0"/>
              <a:buChar char="•"/>
            </a:pPr>
            <a:r>
              <a:rPr lang="en-US" sz="2000" dirty="0"/>
              <a:t>live video streaming</a:t>
            </a:r>
          </a:p>
          <a:p>
            <a:pPr marL="742950" lvl="1" indent="-285750">
              <a:buFont typeface="Arial" panose="020B0604020202020204" pitchFamily="34" charset="0"/>
              <a:buChar char="•"/>
            </a:pPr>
            <a:r>
              <a:rPr lang="en-US" sz="2000" dirty="0"/>
              <a:t>Voice over IP (VoIP)</a:t>
            </a:r>
          </a:p>
          <a:p>
            <a:endParaRPr lang="en-US" sz="1800"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968757"/>
            <a:ext cx="3693011" cy="2889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24450" y="840087"/>
            <a:ext cx="4019550" cy="28667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4356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361405" y="23569"/>
            <a:ext cx="2600584" cy="838200"/>
          </a:xfrm>
        </p:spPr>
        <p:txBody>
          <a:bodyPr/>
          <a:lstStyle/>
          <a:p>
            <a:pPr>
              <a:lnSpc>
                <a:spcPct val="100000"/>
              </a:lnSpc>
            </a:pPr>
            <a:r>
              <a:rPr lang="en-US" sz="3200" dirty="0"/>
              <a:t>TCP Header</a:t>
            </a:r>
          </a:p>
        </p:txBody>
      </p:sp>
      <p:sp>
        <p:nvSpPr>
          <p:cNvPr id="3" name="Text Placeholder 2"/>
          <p:cNvSpPr>
            <a:spLocks noGrp="1"/>
          </p:cNvSpPr>
          <p:nvPr>
            <p:ph type="body" sz="quarter" idx="10"/>
          </p:nvPr>
        </p:nvSpPr>
        <p:spPr>
          <a:xfrm>
            <a:off x="0" y="954777"/>
            <a:ext cx="4303340" cy="1578873"/>
          </a:xfrm>
        </p:spPr>
        <p:txBody>
          <a:bodyPr/>
          <a:lstStyle/>
          <a:p>
            <a:pPr marL="285750" indent="-285750"/>
            <a:r>
              <a:rPr lang="en-US" sz="1600" dirty="0"/>
              <a:t>TCP is a </a:t>
            </a:r>
            <a:r>
              <a:rPr lang="en-US" sz="1600" dirty="0" err="1"/>
              <a:t>stateful</a:t>
            </a:r>
            <a:r>
              <a:rPr lang="en-US" sz="1600" dirty="0"/>
              <a:t> protocol. It keeps track of the state of the communication session.</a:t>
            </a:r>
          </a:p>
          <a:p>
            <a:pPr marL="285750" indent="-285750"/>
            <a:r>
              <a:rPr lang="en-US" sz="1600" dirty="0"/>
              <a:t>Each TCP segment has 20 bytes</a:t>
            </a:r>
            <a:br>
              <a:rPr lang="en-US" sz="1600" dirty="0"/>
            </a:br>
            <a:r>
              <a:rPr lang="en-US" sz="1600" dirty="0"/>
              <a:t>of overhead in the header</a:t>
            </a:r>
            <a:br>
              <a:rPr lang="en-US" sz="1600" dirty="0"/>
            </a:br>
            <a:r>
              <a:rPr lang="en-US" sz="1600" dirty="0"/>
              <a:t>encapsulating the application</a:t>
            </a:r>
            <a:br>
              <a:rPr lang="en-US" sz="1600" dirty="0"/>
            </a:br>
            <a:r>
              <a:rPr lang="en-US" sz="1600" dirty="0"/>
              <a:t>layer data.</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99" y="3171099"/>
            <a:ext cx="4676892" cy="35051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6491" y="2931777"/>
            <a:ext cx="4427969" cy="17564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2"/>
          <p:cNvSpPr txBox="1">
            <a:spLocks/>
          </p:cNvSpPr>
          <p:nvPr/>
        </p:nvSpPr>
        <p:spPr>
          <a:xfrm>
            <a:off x="4524133" y="979879"/>
            <a:ext cx="4181718" cy="1991921"/>
          </a:xfrm>
          <a:prstGeom prst="rect">
            <a:avLst/>
          </a:prstGeom>
        </p:spPr>
        <p:txBody>
          <a:bodyPr vert="horz" lIns="91440" tIns="45720" rIns="91440" bIns="45720" rtlCol="0">
            <a:noAutofit/>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0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r>
              <a:rPr lang="en-GB" sz="1600" dirty="0"/>
              <a:t>UDP is a stateless protocol. </a:t>
            </a:r>
          </a:p>
          <a:p>
            <a:pPr marL="285750" indent="-285750"/>
            <a:r>
              <a:rPr lang="en-GB" sz="1600" dirty="0"/>
              <a:t>If needed: reliability must be handled by the application.</a:t>
            </a:r>
          </a:p>
          <a:p>
            <a:pPr marL="285750" indent="-285750"/>
            <a:r>
              <a:rPr lang="en-GB" sz="1600" dirty="0"/>
              <a:t>UDP has a low overhead</a:t>
            </a:r>
            <a:br>
              <a:rPr lang="en-GB" sz="1600" dirty="0"/>
            </a:br>
            <a:r>
              <a:rPr lang="en-GB" sz="1600" dirty="0"/>
              <a:t>of 8 bytes.</a:t>
            </a:r>
          </a:p>
        </p:txBody>
      </p:sp>
      <p:sp>
        <p:nvSpPr>
          <p:cNvPr id="7" name="Title 11"/>
          <p:cNvSpPr txBox="1">
            <a:spLocks/>
          </p:cNvSpPr>
          <p:nvPr/>
        </p:nvSpPr>
        <p:spPr>
          <a:xfrm>
            <a:off x="5015063" y="141679"/>
            <a:ext cx="2600584" cy="838200"/>
          </a:xfrm>
          <a:prstGeom prst="rect">
            <a:avLst/>
          </a:prstGeom>
        </p:spPr>
        <p:txBody>
          <a:bodyPr vert="horz" lIns="82296" tIns="45720" rIns="82296" bIns="45720" rtlCol="0" anchor="b" anchorCtr="0">
            <a:noAutofit/>
          </a:bodyPr>
          <a:lstStyle>
            <a:lvl1pPr algn="l" defTabSz="914400" rtl="0" eaLnBrk="1" latinLnBrk="0" hangingPunct="1">
              <a:lnSpc>
                <a:spcPct val="80000"/>
              </a:lnSpc>
              <a:spcBef>
                <a:spcPct val="0"/>
              </a:spcBef>
              <a:buNone/>
              <a:defRPr kumimoji="0" lang="en-US" sz="3600" b="0" i="0" u="none" strike="noStrike" kern="1200" cap="none" spc="0" normalizeH="0" baseline="0">
                <a:ln>
                  <a:noFill/>
                </a:ln>
                <a:gradFill flip="none" rotWithShape="1">
                  <a:gsLst>
                    <a:gs pos="16000">
                      <a:schemeClr val="tx2"/>
                    </a:gs>
                    <a:gs pos="100000">
                      <a:srgbClr val="28A7DF"/>
                    </a:gs>
                  </a:gsLst>
                  <a:lin ang="1800000" scaled="0"/>
                  <a:tileRect/>
                </a:gradFill>
                <a:effectLst/>
                <a:uLnTx/>
                <a:uFillTx/>
                <a:latin typeface="+mj-lt"/>
                <a:ea typeface="+mj-ea"/>
                <a:cs typeface="Arial" pitchFamily="34" charset="0"/>
              </a:defRPr>
            </a:lvl1pPr>
          </a:lstStyle>
          <a:p>
            <a:pPr>
              <a:lnSpc>
                <a:spcPct val="100000"/>
              </a:lnSpc>
            </a:pPr>
            <a:r>
              <a:rPr lang="en-GB" sz="3200" dirty="0"/>
              <a:t>UDP Header</a:t>
            </a:r>
          </a:p>
        </p:txBody>
      </p:sp>
    </p:spTree>
    <p:extLst>
      <p:ext uri="{BB962C8B-B14F-4D97-AF65-F5344CB8AC3E}">
        <p14:creationId xmlns:p14="http://schemas.microsoft.com/office/powerpoint/2010/main" val="331696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144102" y="0"/>
            <a:ext cx="4332773" cy="654903"/>
          </a:xfrm>
        </p:spPr>
        <p:txBody>
          <a:bodyPr/>
          <a:lstStyle/>
          <a:p>
            <a:pPr algn="ctr">
              <a:lnSpc>
                <a:spcPct val="100000"/>
              </a:lnSpc>
            </a:pPr>
            <a:r>
              <a:rPr lang="en-US" sz="3200" dirty="0">
                <a:solidFill>
                  <a:schemeClr val="bg2"/>
                </a:solidFill>
              </a:rPr>
              <a:t>Port Numbers</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6511" y="3166111"/>
            <a:ext cx="4325538" cy="27587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a:xfrm>
            <a:off x="147975" y="760648"/>
            <a:ext cx="8577072" cy="4965192"/>
          </a:xfrm>
        </p:spPr>
        <p:txBody>
          <a:bodyPr/>
          <a:lstStyle/>
          <a:p>
            <a:pPr marL="285750" indent="-285750"/>
            <a:r>
              <a:rPr lang="en-US" sz="2000" dirty="0"/>
              <a:t>Source Port</a:t>
            </a:r>
          </a:p>
          <a:p>
            <a:pPr marL="800100" lvl="1" indent="-342900">
              <a:buFont typeface="Courier New" panose="02070309020205020404" pitchFamily="49" charset="0"/>
              <a:buChar char="o"/>
            </a:pPr>
            <a:r>
              <a:rPr lang="en-US" dirty="0"/>
              <a:t>The source port number is dynamically chosen by the sending device to identify a conversation between two devices.</a:t>
            </a:r>
          </a:p>
          <a:p>
            <a:pPr marL="800100" lvl="1" indent="-342900">
              <a:buFont typeface="Courier New" panose="02070309020205020404" pitchFamily="49" charset="0"/>
              <a:buChar char="o"/>
            </a:pPr>
            <a:r>
              <a:rPr lang="en-US" dirty="0"/>
              <a:t>An HTTP client usually sends multiple HTTP requests to a web server at the same time. Each separate HTTP conversation is tracked based on the source ports.</a:t>
            </a:r>
          </a:p>
          <a:p>
            <a:pPr marL="285750" indent="-285750"/>
            <a:r>
              <a:rPr lang="en-US" sz="2000" dirty="0"/>
              <a:t>Destination Port</a:t>
            </a:r>
          </a:p>
          <a:p>
            <a:pPr marL="800100" lvl="1" indent="-342900">
              <a:buFont typeface="Courier New" panose="02070309020205020404" pitchFamily="49" charset="0"/>
              <a:buChar char="o"/>
            </a:pPr>
            <a:r>
              <a:rPr lang="en-US" dirty="0"/>
              <a:t>Used to identify an application</a:t>
            </a:r>
            <a:br>
              <a:rPr lang="en-US" dirty="0"/>
            </a:br>
            <a:r>
              <a:rPr lang="en-US" dirty="0"/>
              <a:t>or service running in the server.</a:t>
            </a:r>
          </a:p>
          <a:p>
            <a:pPr marL="800100" lvl="1" indent="-342900">
              <a:buFont typeface="Courier New" panose="02070309020205020404" pitchFamily="49" charset="0"/>
              <a:buChar char="o"/>
            </a:pPr>
            <a:r>
              <a:rPr lang="en-US" dirty="0"/>
              <a:t>A server can offer more than one</a:t>
            </a:r>
            <a:br>
              <a:rPr lang="en-US" dirty="0"/>
            </a:br>
            <a:r>
              <a:rPr lang="en-US" dirty="0"/>
              <a:t>service at the same time, offering</a:t>
            </a:r>
            <a:br>
              <a:rPr lang="en-US" dirty="0"/>
            </a:br>
            <a:r>
              <a:rPr lang="en-US" dirty="0"/>
              <a:t>a web service on port 80 and</a:t>
            </a:r>
            <a:br>
              <a:rPr lang="en-US" dirty="0"/>
            </a:br>
            <a:r>
              <a:rPr lang="en-US" dirty="0"/>
              <a:t>FTP on port 21 simultaneously.</a:t>
            </a:r>
          </a:p>
        </p:txBody>
      </p:sp>
    </p:spTree>
    <p:extLst>
      <p:ext uri="{BB962C8B-B14F-4D97-AF65-F5344CB8AC3E}">
        <p14:creationId xmlns:p14="http://schemas.microsoft.com/office/powerpoint/2010/main" val="460244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96209" y="146465"/>
            <a:ext cx="2756542" cy="838200"/>
          </a:xfrm>
        </p:spPr>
        <p:txBody>
          <a:bodyPr/>
          <a:lstStyle/>
          <a:p>
            <a:pPr>
              <a:lnSpc>
                <a:spcPct val="100000"/>
              </a:lnSpc>
            </a:pPr>
            <a:r>
              <a:rPr lang="en-US" sz="3200" dirty="0">
                <a:solidFill>
                  <a:schemeClr val="bg2"/>
                </a:solidFill>
              </a:rPr>
              <a:t>Socket Pairs</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0550" y="3093720"/>
            <a:ext cx="4610100" cy="3705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a:xfrm>
            <a:off x="228599" y="1344168"/>
            <a:ext cx="8524081" cy="4789932"/>
          </a:xfrm>
        </p:spPr>
        <p:txBody>
          <a:bodyPr/>
          <a:lstStyle/>
          <a:p>
            <a:pPr marL="285750" indent="-285750"/>
            <a:r>
              <a:rPr lang="en-US" sz="1800" dirty="0"/>
              <a:t>The combination of the source IP address and source port number, or the destination IP address and destination port number, is known as a socket.</a:t>
            </a:r>
          </a:p>
          <a:p>
            <a:pPr marL="285750" indent="-285750"/>
            <a:r>
              <a:rPr lang="en-US" sz="1800" dirty="0"/>
              <a:t>The socket is used to identify the server and service being requested by the client.</a:t>
            </a:r>
          </a:p>
          <a:p>
            <a:pPr marL="285750" indent="-285750"/>
            <a:r>
              <a:rPr lang="en-US" sz="1800" dirty="0"/>
              <a:t>Two sockets combine to form a socket pair: (192.168.1.5:1099, 192.168.1.7:80)</a:t>
            </a:r>
          </a:p>
          <a:p>
            <a:pPr marL="285750" indent="-285750"/>
            <a:r>
              <a:rPr lang="en-US" sz="1800" dirty="0"/>
              <a:t>Sockets enable multiple processes</a:t>
            </a:r>
            <a:br>
              <a:rPr lang="en-US" sz="1800" dirty="0"/>
            </a:br>
            <a:r>
              <a:rPr lang="en-US" sz="1800" dirty="0"/>
              <a:t>running on a client and multiple</a:t>
            </a:r>
            <a:br>
              <a:rPr lang="en-US" sz="1800" dirty="0"/>
            </a:br>
            <a:r>
              <a:rPr lang="en-US" sz="1800" dirty="0"/>
              <a:t>connections to a server process to</a:t>
            </a:r>
            <a:br>
              <a:rPr lang="en-US" sz="1800" dirty="0"/>
            </a:br>
            <a:r>
              <a:rPr lang="en-US" sz="1800" dirty="0"/>
              <a:t>be distinguished from each other.</a:t>
            </a:r>
          </a:p>
          <a:p>
            <a:pPr marL="285750" indent="-285750"/>
            <a:r>
              <a:rPr lang="en-US" sz="1800" dirty="0"/>
              <a:t>The source port number acts as a</a:t>
            </a:r>
            <a:br>
              <a:rPr lang="en-US" sz="1800" dirty="0"/>
            </a:br>
            <a:r>
              <a:rPr lang="en-US" sz="1800" dirty="0"/>
              <a:t>return address for the requesting</a:t>
            </a:r>
            <a:br>
              <a:rPr lang="en-US" sz="1800" dirty="0"/>
            </a:br>
            <a:r>
              <a:rPr lang="en-US" sz="1800" dirty="0"/>
              <a:t>application.</a:t>
            </a:r>
          </a:p>
          <a:p>
            <a:pPr marL="285750" indent="-285750"/>
            <a:r>
              <a:rPr lang="en-US" sz="1800" dirty="0"/>
              <a:t>It is the transport layer’s job to keeps</a:t>
            </a:r>
            <a:br>
              <a:rPr lang="en-US" sz="1800" dirty="0"/>
            </a:br>
            <a:r>
              <a:rPr lang="en-US" sz="1800" dirty="0"/>
              <a:t>track of active sockets.</a:t>
            </a:r>
          </a:p>
        </p:txBody>
      </p:sp>
    </p:spTree>
    <p:extLst>
      <p:ext uri="{BB962C8B-B14F-4D97-AF65-F5344CB8AC3E}">
        <p14:creationId xmlns:p14="http://schemas.microsoft.com/office/powerpoint/2010/main" val="2260086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98416" y="78380"/>
            <a:ext cx="8325469" cy="670967"/>
          </a:xfrm>
        </p:spPr>
        <p:txBody>
          <a:bodyPr>
            <a:normAutofit/>
          </a:bodyPr>
          <a:lstStyle/>
          <a:p>
            <a:r>
              <a:rPr lang="en-US" dirty="0"/>
              <a:t>Multiplexing/demultiplexing</a:t>
            </a:r>
          </a:p>
        </p:txBody>
      </p:sp>
      <p:sp>
        <p:nvSpPr>
          <p:cNvPr id="132" name="Freeform 157">
            <a:extLst>
              <a:ext uri="{FF2B5EF4-FFF2-40B4-BE49-F238E27FC236}">
                <a16:creationId xmlns:a16="http://schemas.microsoft.com/office/drawing/2014/main" id="{511A693F-4BF3-344C-BDC6-28BAA983976E}"/>
              </a:ext>
            </a:extLst>
          </p:cNvPr>
          <p:cNvSpPr>
            <a:spLocks/>
          </p:cNvSpPr>
          <p:nvPr/>
        </p:nvSpPr>
        <p:spPr bwMode="auto">
          <a:xfrm>
            <a:off x="3031223" y="3885948"/>
            <a:ext cx="414338" cy="15621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33" name="Text Box 37">
            <a:extLst>
              <a:ext uri="{FF2B5EF4-FFF2-40B4-BE49-F238E27FC236}">
                <a16:creationId xmlns:a16="http://schemas.microsoft.com/office/drawing/2014/main" id="{4EEECEF7-BD4D-FD41-9A84-F2FC20AA2A09}"/>
              </a:ext>
            </a:extLst>
          </p:cNvPr>
          <p:cNvSpPr txBox="1">
            <a:spLocks noChangeArrowheads="1"/>
          </p:cNvSpPr>
          <p:nvPr/>
        </p:nvSpPr>
        <p:spPr bwMode="auto">
          <a:xfrm>
            <a:off x="6936396" y="4580083"/>
            <a:ext cx="721672"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a:solidFill>
                  <a:srgbClr val="000000"/>
                </a:solidFill>
                <a:latin typeface="Arial" charset="0"/>
              </a:rPr>
              <a:t>process</a:t>
            </a:r>
          </a:p>
        </p:txBody>
      </p:sp>
      <p:sp>
        <p:nvSpPr>
          <p:cNvPr id="134" name="Text Box 38">
            <a:extLst>
              <a:ext uri="{FF2B5EF4-FFF2-40B4-BE49-F238E27FC236}">
                <a16:creationId xmlns:a16="http://schemas.microsoft.com/office/drawing/2014/main" id="{FC061EBE-026B-F943-BBD5-748F965BF879}"/>
              </a:ext>
            </a:extLst>
          </p:cNvPr>
          <p:cNvSpPr txBox="1">
            <a:spLocks noChangeArrowheads="1"/>
          </p:cNvSpPr>
          <p:nvPr/>
        </p:nvSpPr>
        <p:spPr bwMode="auto">
          <a:xfrm>
            <a:off x="6917056" y="4278855"/>
            <a:ext cx="617478" cy="276999"/>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a:solidFill>
                  <a:srgbClr val="000000"/>
                </a:solidFill>
              </a:rPr>
              <a:t>socket</a:t>
            </a:r>
          </a:p>
        </p:txBody>
      </p:sp>
      <p:grpSp>
        <p:nvGrpSpPr>
          <p:cNvPr id="140" name="Group 57">
            <a:extLst>
              <a:ext uri="{FF2B5EF4-FFF2-40B4-BE49-F238E27FC236}">
                <a16:creationId xmlns:a16="http://schemas.microsoft.com/office/drawing/2014/main" id="{AE84E6CF-C8B6-044E-92D9-9754C3253112}"/>
              </a:ext>
            </a:extLst>
          </p:cNvPr>
          <p:cNvGrpSpPr>
            <a:grpSpLocks/>
          </p:cNvGrpSpPr>
          <p:nvPr/>
        </p:nvGrpSpPr>
        <p:grpSpPr bwMode="auto">
          <a:xfrm>
            <a:off x="6567380" y="4334815"/>
            <a:ext cx="400050" cy="154781"/>
            <a:chOff x="344" y="1846"/>
            <a:chExt cx="336" cy="130"/>
          </a:xfrm>
        </p:grpSpPr>
        <p:sp>
          <p:nvSpPr>
            <p:cNvPr id="141" name="Rectangle 35">
              <a:extLst>
                <a:ext uri="{FF2B5EF4-FFF2-40B4-BE49-F238E27FC236}">
                  <a16:creationId xmlns:a16="http://schemas.microsoft.com/office/drawing/2014/main" id="{7D4B092F-0804-EE4A-94E0-8271C5100190}"/>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42" name="Rectangle 54">
              <a:extLst>
                <a:ext uri="{FF2B5EF4-FFF2-40B4-BE49-F238E27FC236}">
                  <a16:creationId xmlns:a16="http://schemas.microsoft.com/office/drawing/2014/main" id="{8FBA6612-C2CB-7A4A-BDE1-C5A9430DFE88}"/>
                </a:ext>
              </a:extLst>
            </p:cNvPr>
            <p:cNvSpPr>
              <a:spLocks noChangeArrowheads="1"/>
            </p:cNvSpPr>
            <p:nvPr/>
          </p:nvSpPr>
          <p:spPr bwMode="auto">
            <a:xfrm>
              <a:off x="454" y="1863"/>
              <a:ext cx="110"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43" name="Rectangle 55">
              <a:extLst>
                <a:ext uri="{FF2B5EF4-FFF2-40B4-BE49-F238E27FC236}">
                  <a16:creationId xmlns:a16="http://schemas.microsoft.com/office/drawing/2014/main" id="{CB6C4329-1870-6D47-94B8-AB8D08DC0029}"/>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44" name="Rectangle 56">
              <a:extLst>
                <a:ext uri="{FF2B5EF4-FFF2-40B4-BE49-F238E27FC236}">
                  <a16:creationId xmlns:a16="http://schemas.microsoft.com/office/drawing/2014/main" id="{7506EAD6-B400-9A41-8C08-BA08298518AB}"/>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145" name="Rectangle 23">
            <a:extLst>
              <a:ext uri="{FF2B5EF4-FFF2-40B4-BE49-F238E27FC236}">
                <a16:creationId xmlns:a16="http://schemas.microsoft.com/office/drawing/2014/main" id="{F1314FFD-BA11-A042-BA84-1061E3729058}"/>
              </a:ext>
            </a:extLst>
          </p:cNvPr>
          <p:cNvSpPr>
            <a:spLocks noChangeArrowheads="1"/>
          </p:cNvSpPr>
          <p:nvPr/>
        </p:nvSpPr>
        <p:spPr bwMode="auto">
          <a:xfrm>
            <a:off x="3441989" y="3924048"/>
            <a:ext cx="1122760" cy="14859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146" name="Rectangle 24">
            <a:extLst>
              <a:ext uri="{FF2B5EF4-FFF2-40B4-BE49-F238E27FC236}">
                <a16:creationId xmlns:a16="http://schemas.microsoft.com/office/drawing/2014/main" id="{89D8A59C-E128-B74A-B94F-06FAC9DB7326}"/>
              </a:ext>
            </a:extLst>
          </p:cNvPr>
          <p:cNvSpPr>
            <a:spLocks noChangeArrowheads="1"/>
          </p:cNvSpPr>
          <p:nvPr/>
        </p:nvSpPr>
        <p:spPr bwMode="auto">
          <a:xfrm>
            <a:off x="3415795" y="3964530"/>
            <a:ext cx="1104900" cy="148471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147" name="Line 25">
            <a:extLst>
              <a:ext uri="{FF2B5EF4-FFF2-40B4-BE49-F238E27FC236}">
                <a16:creationId xmlns:a16="http://schemas.microsoft.com/office/drawing/2014/main" id="{B922FB1F-8B1A-1843-A740-29E910EB3E97}"/>
              </a:ext>
            </a:extLst>
          </p:cNvPr>
          <p:cNvSpPr>
            <a:spLocks noChangeShapeType="1"/>
          </p:cNvSpPr>
          <p:nvPr/>
        </p:nvSpPr>
        <p:spPr bwMode="auto">
          <a:xfrm>
            <a:off x="3420557" y="4541983"/>
            <a:ext cx="1095375"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48" name="Text Box 26">
            <a:extLst>
              <a:ext uri="{FF2B5EF4-FFF2-40B4-BE49-F238E27FC236}">
                <a16:creationId xmlns:a16="http://schemas.microsoft.com/office/drawing/2014/main" id="{BE3B5056-5F96-5946-AEC3-17140DB163F4}"/>
              </a:ext>
            </a:extLst>
          </p:cNvPr>
          <p:cNvSpPr txBox="1">
            <a:spLocks noChangeArrowheads="1"/>
          </p:cNvSpPr>
          <p:nvPr/>
        </p:nvSpPr>
        <p:spPr bwMode="auto">
          <a:xfrm>
            <a:off x="3474136" y="4528885"/>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149" name="Line 27">
            <a:extLst>
              <a:ext uri="{FF2B5EF4-FFF2-40B4-BE49-F238E27FC236}">
                <a16:creationId xmlns:a16="http://schemas.microsoft.com/office/drawing/2014/main" id="{FF1A214D-FBCE-7342-8332-F3FA9C577B4A}"/>
              </a:ext>
            </a:extLst>
          </p:cNvPr>
          <p:cNvSpPr>
            <a:spLocks noChangeShapeType="1"/>
          </p:cNvSpPr>
          <p:nvPr/>
        </p:nvSpPr>
        <p:spPr bwMode="auto">
          <a:xfrm>
            <a:off x="3421749" y="4780108"/>
            <a:ext cx="1092994"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50" name="Text Box 26">
            <a:extLst>
              <a:ext uri="{FF2B5EF4-FFF2-40B4-BE49-F238E27FC236}">
                <a16:creationId xmlns:a16="http://schemas.microsoft.com/office/drawing/2014/main" id="{975D136A-FEFB-9E40-BA33-B33E91228F15}"/>
              </a:ext>
            </a:extLst>
          </p:cNvPr>
          <p:cNvSpPr txBox="1">
            <a:spLocks noChangeArrowheads="1"/>
          </p:cNvSpPr>
          <p:nvPr/>
        </p:nvSpPr>
        <p:spPr bwMode="auto">
          <a:xfrm>
            <a:off x="3471755" y="3939526"/>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151" name="Text Box 26">
            <a:extLst>
              <a:ext uri="{FF2B5EF4-FFF2-40B4-BE49-F238E27FC236}">
                <a16:creationId xmlns:a16="http://schemas.microsoft.com/office/drawing/2014/main" id="{50D62C6A-4C80-854F-A4B8-723E99A5A7F0}"/>
              </a:ext>
            </a:extLst>
          </p:cNvPr>
          <p:cNvSpPr txBox="1">
            <a:spLocks noChangeArrowheads="1"/>
          </p:cNvSpPr>
          <p:nvPr/>
        </p:nvSpPr>
        <p:spPr bwMode="auto">
          <a:xfrm>
            <a:off x="3469374" y="5207542"/>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152" name="Text Box 26">
            <a:extLst>
              <a:ext uri="{FF2B5EF4-FFF2-40B4-BE49-F238E27FC236}">
                <a16:creationId xmlns:a16="http://schemas.microsoft.com/office/drawing/2014/main" id="{A79D3A45-C33B-7046-9088-A02FAACCA14B}"/>
              </a:ext>
            </a:extLst>
          </p:cNvPr>
          <p:cNvSpPr txBox="1">
            <a:spLocks noChangeArrowheads="1"/>
          </p:cNvSpPr>
          <p:nvPr/>
        </p:nvSpPr>
        <p:spPr bwMode="auto">
          <a:xfrm>
            <a:off x="3469374" y="4993229"/>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153" name="Text Box 26">
            <a:extLst>
              <a:ext uri="{FF2B5EF4-FFF2-40B4-BE49-F238E27FC236}">
                <a16:creationId xmlns:a16="http://schemas.microsoft.com/office/drawing/2014/main" id="{F3520259-D4C5-3340-8000-3B8C746A7797}"/>
              </a:ext>
            </a:extLst>
          </p:cNvPr>
          <p:cNvSpPr txBox="1">
            <a:spLocks noChangeArrowheads="1"/>
          </p:cNvSpPr>
          <p:nvPr/>
        </p:nvSpPr>
        <p:spPr bwMode="auto">
          <a:xfrm>
            <a:off x="3469374" y="4769392"/>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154" name="Oval 120">
            <a:extLst>
              <a:ext uri="{FF2B5EF4-FFF2-40B4-BE49-F238E27FC236}">
                <a16:creationId xmlns:a16="http://schemas.microsoft.com/office/drawing/2014/main" id="{A77294DB-DD97-F741-82FD-F8B94839A458}"/>
              </a:ext>
            </a:extLst>
          </p:cNvPr>
          <p:cNvSpPr>
            <a:spLocks noChangeArrowheads="1"/>
          </p:cNvSpPr>
          <p:nvPr/>
        </p:nvSpPr>
        <p:spPr bwMode="auto">
          <a:xfrm>
            <a:off x="3994439" y="4220514"/>
            <a:ext cx="448866"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350" kern="0">
                <a:solidFill>
                  <a:srgbClr val="000000"/>
                </a:solidFill>
                <a:latin typeface="Calibri" panose="020F0502020204030204"/>
                <a:ea typeface="ＭＳ Ｐゴシック" charset="0"/>
              </a:rPr>
              <a:t>P2</a:t>
            </a:r>
          </a:p>
        </p:txBody>
      </p:sp>
      <p:sp>
        <p:nvSpPr>
          <p:cNvPr id="155" name="Line 27">
            <a:extLst>
              <a:ext uri="{FF2B5EF4-FFF2-40B4-BE49-F238E27FC236}">
                <a16:creationId xmlns:a16="http://schemas.microsoft.com/office/drawing/2014/main" id="{E1326351-38D1-A440-A7B8-5079367D54AC}"/>
              </a:ext>
            </a:extLst>
          </p:cNvPr>
          <p:cNvSpPr>
            <a:spLocks noChangeShapeType="1"/>
          </p:cNvSpPr>
          <p:nvPr/>
        </p:nvSpPr>
        <p:spPr bwMode="auto">
          <a:xfrm>
            <a:off x="3419367" y="5013470"/>
            <a:ext cx="1092994"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56" name="Line 27">
            <a:extLst>
              <a:ext uri="{FF2B5EF4-FFF2-40B4-BE49-F238E27FC236}">
                <a16:creationId xmlns:a16="http://schemas.microsoft.com/office/drawing/2014/main" id="{891B0B5D-A14D-1A40-B291-CC1A04A094FC}"/>
              </a:ext>
            </a:extLst>
          </p:cNvPr>
          <p:cNvSpPr>
            <a:spLocks noChangeShapeType="1"/>
          </p:cNvSpPr>
          <p:nvPr/>
        </p:nvSpPr>
        <p:spPr bwMode="auto">
          <a:xfrm>
            <a:off x="3416986" y="5237308"/>
            <a:ext cx="1092994"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57" name="Oval 128">
            <a:extLst>
              <a:ext uri="{FF2B5EF4-FFF2-40B4-BE49-F238E27FC236}">
                <a16:creationId xmlns:a16="http://schemas.microsoft.com/office/drawing/2014/main" id="{AAD00A20-9526-2F4E-9C87-C3B249C8E909}"/>
              </a:ext>
            </a:extLst>
          </p:cNvPr>
          <p:cNvSpPr>
            <a:spLocks noChangeArrowheads="1"/>
          </p:cNvSpPr>
          <p:nvPr/>
        </p:nvSpPr>
        <p:spPr bwMode="auto">
          <a:xfrm>
            <a:off x="3465801" y="4220514"/>
            <a:ext cx="448866"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350" kern="0">
                <a:solidFill>
                  <a:srgbClr val="000000"/>
                </a:solidFill>
                <a:latin typeface="Calibri" panose="020F0502020204030204"/>
                <a:ea typeface="ＭＳ Ｐゴシック" charset="0"/>
              </a:rPr>
              <a:t>P1</a:t>
            </a:r>
          </a:p>
        </p:txBody>
      </p:sp>
      <p:grpSp>
        <p:nvGrpSpPr>
          <p:cNvPr id="158" name="Group 134">
            <a:extLst>
              <a:ext uri="{FF2B5EF4-FFF2-40B4-BE49-F238E27FC236}">
                <a16:creationId xmlns:a16="http://schemas.microsoft.com/office/drawing/2014/main" id="{015BC705-D8E3-EA41-A198-6A8DDB031BE2}"/>
              </a:ext>
            </a:extLst>
          </p:cNvPr>
          <p:cNvGrpSpPr>
            <a:grpSpLocks/>
          </p:cNvGrpSpPr>
          <p:nvPr/>
        </p:nvGrpSpPr>
        <p:grpSpPr bwMode="auto">
          <a:xfrm>
            <a:off x="4051588" y="4489595"/>
            <a:ext cx="309563" cy="119063"/>
            <a:chOff x="1383" y="2620"/>
            <a:chExt cx="260" cy="100"/>
          </a:xfrm>
        </p:grpSpPr>
        <p:sp>
          <p:nvSpPr>
            <p:cNvPr id="159" name="Rectangle 130">
              <a:extLst>
                <a:ext uri="{FF2B5EF4-FFF2-40B4-BE49-F238E27FC236}">
                  <a16:creationId xmlns:a16="http://schemas.microsoft.com/office/drawing/2014/main" id="{617E09BE-67A7-E846-8718-4C5F4E894E09}"/>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60" name="Rectangle 131">
              <a:extLst>
                <a:ext uri="{FF2B5EF4-FFF2-40B4-BE49-F238E27FC236}">
                  <a16:creationId xmlns:a16="http://schemas.microsoft.com/office/drawing/2014/main" id="{DAEC0345-B8B5-6942-9E07-837C51C11EAA}"/>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61" name="Rectangle 132">
              <a:extLst>
                <a:ext uri="{FF2B5EF4-FFF2-40B4-BE49-F238E27FC236}">
                  <a16:creationId xmlns:a16="http://schemas.microsoft.com/office/drawing/2014/main" id="{CBC575E8-9188-C944-A373-1BE60CEDE448}"/>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62" name="Rectangle 133">
              <a:extLst>
                <a:ext uri="{FF2B5EF4-FFF2-40B4-BE49-F238E27FC236}">
                  <a16:creationId xmlns:a16="http://schemas.microsoft.com/office/drawing/2014/main" id="{5CBAC889-4624-214B-8DD0-1C5D2121C35A}"/>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163" name="Group 135">
            <a:extLst>
              <a:ext uri="{FF2B5EF4-FFF2-40B4-BE49-F238E27FC236}">
                <a16:creationId xmlns:a16="http://schemas.microsoft.com/office/drawing/2014/main" id="{E0C06B10-B8DE-5649-9DA7-1C38410338CA}"/>
              </a:ext>
            </a:extLst>
          </p:cNvPr>
          <p:cNvGrpSpPr>
            <a:grpSpLocks/>
          </p:cNvGrpSpPr>
          <p:nvPr/>
        </p:nvGrpSpPr>
        <p:grpSpPr bwMode="auto">
          <a:xfrm>
            <a:off x="3525332" y="4483642"/>
            <a:ext cx="309563" cy="119063"/>
            <a:chOff x="1383" y="2620"/>
            <a:chExt cx="260" cy="100"/>
          </a:xfrm>
        </p:grpSpPr>
        <p:sp>
          <p:nvSpPr>
            <p:cNvPr id="164" name="Rectangle 136">
              <a:extLst>
                <a:ext uri="{FF2B5EF4-FFF2-40B4-BE49-F238E27FC236}">
                  <a16:creationId xmlns:a16="http://schemas.microsoft.com/office/drawing/2014/main" id="{90DDD937-6604-0E4A-BC22-D3086933313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65" name="Rectangle 137">
              <a:extLst>
                <a:ext uri="{FF2B5EF4-FFF2-40B4-BE49-F238E27FC236}">
                  <a16:creationId xmlns:a16="http://schemas.microsoft.com/office/drawing/2014/main" id="{12ACDF7C-B3D8-9B4A-BD4A-D8CF4A028253}"/>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66" name="Rectangle 138">
              <a:extLst>
                <a:ext uri="{FF2B5EF4-FFF2-40B4-BE49-F238E27FC236}">
                  <a16:creationId xmlns:a16="http://schemas.microsoft.com/office/drawing/2014/main" id="{BBABF61C-A52E-5440-86D9-57F0C4530FF0}"/>
                </a:ext>
              </a:extLst>
            </p:cNvPr>
            <p:cNvSpPr>
              <a:spLocks noChangeArrowheads="1"/>
            </p:cNvSpPr>
            <p:nvPr/>
          </p:nvSpPr>
          <p:spPr bwMode="auto">
            <a:xfrm>
              <a:off x="1599" y="2678"/>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67" name="Rectangle 139">
              <a:extLst>
                <a:ext uri="{FF2B5EF4-FFF2-40B4-BE49-F238E27FC236}">
                  <a16:creationId xmlns:a16="http://schemas.microsoft.com/office/drawing/2014/main" id="{32461327-4600-6E4F-AB44-FD06E8C35B24}"/>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170" name="Rectangle 23">
            <a:extLst>
              <a:ext uri="{FF2B5EF4-FFF2-40B4-BE49-F238E27FC236}">
                <a16:creationId xmlns:a16="http://schemas.microsoft.com/office/drawing/2014/main" id="{18A5F7E9-E597-8A49-8FBA-5EBCB6131519}"/>
              </a:ext>
            </a:extLst>
          </p:cNvPr>
          <p:cNvSpPr>
            <a:spLocks noChangeArrowheads="1"/>
          </p:cNvSpPr>
          <p:nvPr/>
        </p:nvSpPr>
        <p:spPr bwMode="auto">
          <a:xfrm>
            <a:off x="5138630" y="4201464"/>
            <a:ext cx="972740" cy="14859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171" name="Rectangle 24">
            <a:extLst>
              <a:ext uri="{FF2B5EF4-FFF2-40B4-BE49-F238E27FC236}">
                <a16:creationId xmlns:a16="http://schemas.microsoft.com/office/drawing/2014/main" id="{5DFFE03C-FB1C-D742-84E9-52CBDDB98DB1}"/>
              </a:ext>
            </a:extLst>
          </p:cNvPr>
          <p:cNvSpPr>
            <a:spLocks noChangeArrowheads="1"/>
          </p:cNvSpPr>
          <p:nvPr/>
        </p:nvSpPr>
        <p:spPr bwMode="auto">
          <a:xfrm>
            <a:off x="5110055" y="4241945"/>
            <a:ext cx="954881" cy="1484709"/>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172" name="Line 25">
            <a:extLst>
              <a:ext uri="{FF2B5EF4-FFF2-40B4-BE49-F238E27FC236}">
                <a16:creationId xmlns:a16="http://schemas.microsoft.com/office/drawing/2014/main" id="{5AD7BC14-F444-E745-8910-70D580A778B1}"/>
              </a:ext>
            </a:extLst>
          </p:cNvPr>
          <p:cNvSpPr>
            <a:spLocks noChangeShapeType="1"/>
          </p:cNvSpPr>
          <p:nvPr/>
        </p:nvSpPr>
        <p:spPr bwMode="auto">
          <a:xfrm>
            <a:off x="5117198" y="4812255"/>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73" name="Text Box 26">
            <a:extLst>
              <a:ext uri="{FF2B5EF4-FFF2-40B4-BE49-F238E27FC236}">
                <a16:creationId xmlns:a16="http://schemas.microsoft.com/office/drawing/2014/main" id="{1058B2AB-1EA8-1A46-9E03-D8FFDD9E541B}"/>
              </a:ext>
            </a:extLst>
          </p:cNvPr>
          <p:cNvSpPr txBox="1">
            <a:spLocks noChangeArrowheads="1"/>
          </p:cNvSpPr>
          <p:nvPr/>
        </p:nvSpPr>
        <p:spPr bwMode="auto">
          <a:xfrm>
            <a:off x="5085051" y="4799158"/>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174" name="Line 27">
            <a:extLst>
              <a:ext uri="{FF2B5EF4-FFF2-40B4-BE49-F238E27FC236}">
                <a16:creationId xmlns:a16="http://schemas.microsoft.com/office/drawing/2014/main" id="{3A83CA24-DF84-F740-B870-F5C298378EA2}"/>
              </a:ext>
            </a:extLst>
          </p:cNvPr>
          <p:cNvSpPr>
            <a:spLocks noChangeShapeType="1"/>
          </p:cNvSpPr>
          <p:nvPr/>
        </p:nvSpPr>
        <p:spPr bwMode="auto">
          <a:xfrm>
            <a:off x="5123151" y="5052761"/>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75" name="Line 28">
            <a:extLst>
              <a:ext uri="{FF2B5EF4-FFF2-40B4-BE49-F238E27FC236}">
                <a16:creationId xmlns:a16="http://schemas.microsoft.com/office/drawing/2014/main" id="{1D5846CF-9A4C-784A-A5A4-98F8F1486DDE}"/>
              </a:ext>
            </a:extLst>
          </p:cNvPr>
          <p:cNvSpPr>
            <a:spLocks noChangeShapeType="1"/>
          </p:cNvSpPr>
          <p:nvPr/>
        </p:nvSpPr>
        <p:spPr bwMode="auto">
          <a:xfrm>
            <a:off x="5112436" y="5284933"/>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76" name="Line 29">
            <a:extLst>
              <a:ext uri="{FF2B5EF4-FFF2-40B4-BE49-F238E27FC236}">
                <a16:creationId xmlns:a16="http://schemas.microsoft.com/office/drawing/2014/main" id="{987AF988-33D7-A644-9737-1635D99E92DD}"/>
              </a:ext>
            </a:extLst>
          </p:cNvPr>
          <p:cNvSpPr>
            <a:spLocks noChangeShapeType="1"/>
          </p:cNvSpPr>
          <p:nvPr/>
        </p:nvSpPr>
        <p:spPr bwMode="auto">
          <a:xfrm>
            <a:off x="5112436" y="5499246"/>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77" name="Text Box 26">
            <a:extLst>
              <a:ext uri="{FF2B5EF4-FFF2-40B4-BE49-F238E27FC236}">
                <a16:creationId xmlns:a16="http://schemas.microsoft.com/office/drawing/2014/main" id="{DC53D19A-63B2-7141-9008-9BC3F678052E}"/>
              </a:ext>
            </a:extLst>
          </p:cNvPr>
          <p:cNvSpPr txBox="1">
            <a:spLocks noChangeArrowheads="1"/>
          </p:cNvSpPr>
          <p:nvPr/>
        </p:nvSpPr>
        <p:spPr bwMode="auto">
          <a:xfrm>
            <a:off x="5111245" y="4234801"/>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178" name="Text Box 26">
            <a:extLst>
              <a:ext uri="{FF2B5EF4-FFF2-40B4-BE49-F238E27FC236}">
                <a16:creationId xmlns:a16="http://schemas.microsoft.com/office/drawing/2014/main" id="{668FFB30-2FA6-AE41-99EF-4D74E37F3EF5}"/>
              </a:ext>
            </a:extLst>
          </p:cNvPr>
          <p:cNvSpPr txBox="1">
            <a:spLocks noChangeArrowheads="1"/>
          </p:cNvSpPr>
          <p:nvPr/>
        </p:nvSpPr>
        <p:spPr bwMode="auto">
          <a:xfrm>
            <a:off x="5077908" y="5477814"/>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179" name="Text Box 26">
            <a:extLst>
              <a:ext uri="{FF2B5EF4-FFF2-40B4-BE49-F238E27FC236}">
                <a16:creationId xmlns:a16="http://schemas.microsoft.com/office/drawing/2014/main" id="{9646084A-4EA0-5345-8A3E-91D3475359E6}"/>
              </a:ext>
            </a:extLst>
          </p:cNvPr>
          <p:cNvSpPr txBox="1">
            <a:spLocks noChangeArrowheads="1"/>
          </p:cNvSpPr>
          <p:nvPr/>
        </p:nvSpPr>
        <p:spPr bwMode="auto">
          <a:xfrm>
            <a:off x="5092195" y="5263501"/>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180" name="Text Box 26">
            <a:extLst>
              <a:ext uri="{FF2B5EF4-FFF2-40B4-BE49-F238E27FC236}">
                <a16:creationId xmlns:a16="http://schemas.microsoft.com/office/drawing/2014/main" id="{9FDE009F-BD4C-6B4C-A66D-690533C0F57F}"/>
              </a:ext>
            </a:extLst>
          </p:cNvPr>
          <p:cNvSpPr txBox="1">
            <a:spLocks noChangeArrowheads="1"/>
          </p:cNvSpPr>
          <p:nvPr/>
        </p:nvSpPr>
        <p:spPr bwMode="auto">
          <a:xfrm>
            <a:off x="5085051" y="5042045"/>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181" name="Oval 101">
            <a:extLst>
              <a:ext uri="{FF2B5EF4-FFF2-40B4-BE49-F238E27FC236}">
                <a16:creationId xmlns:a16="http://schemas.microsoft.com/office/drawing/2014/main" id="{092F802C-72A1-EE41-9CEB-72883AD3F29F}"/>
              </a:ext>
            </a:extLst>
          </p:cNvPr>
          <p:cNvSpPr>
            <a:spLocks noChangeArrowheads="1"/>
          </p:cNvSpPr>
          <p:nvPr/>
        </p:nvSpPr>
        <p:spPr bwMode="auto">
          <a:xfrm>
            <a:off x="5362468" y="4490786"/>
            <a:ext cx="448865"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350" kern="0">
                <a:solidFill>
                  <a:srgbClr val="000000"/>
                </a:solidFill>
                <a:latin typeface="Calibri" panose="020F0502020204030204"/>
                <a:ea typeface="ＭＳ Ｐゴシック" charset="0"/>
              </a:rPr>
              <a:t>P4</a:t>
            </a:r>
          </a:p>
        </p:txBody>
      </p:sp>
      <p:sp>
        <p:nvSpPr>
          <p:cNvPr id="182" name="Freeform 103">
            <a:extLst>
              <a:ext uri="{FF2B5EF4-FFF2-40B4-BE49-F238E27FC236}">
                <a16:creationId xmlns:a16="http://schemas.microsoft.com/office/drawing/2014/main" id="{DEF6D5D3-E4DA-4B46-BBC5-93311E115D92}"/>
              </a:ext>
            </a:extLst>
          </p:cNvPr>
          <p:cNvSpPr>
            <a:spLocks/>
          </p:cNvSpPr>
          <p:nvPr/>
        </p:nvSpPr>
        <p:spPr bwMode="auto">
          <a:xfrm>
            <a:off x="6074461" y="4225276"/>
            <a:ext cx="435769" cy="1528763"/>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83" name="Freeform 70">
            <a:extLst>
              <a:ext uri="{FF2B5EF4-FFF2-40B4-BE49-F238E27FC236}">
                <a16:creationId xmlns:a16="http://schemas.microsoft.com/office/drawing/2014/main" id="{4A88383C-61F9-1949-9D88-EC83EDA3F2B6}"/>
              </a:ext>
            </a:extLst>
          </p:cNvPr>
          <p:cNvSpPr>
            <a:spLocks/>
          </p:cNvSpPr>
          <p:nvPr/>
        </p:nvSpPr>
        <p:spPr bwMode="auto">
          <a:xfrm>
            <a:off x="1432213" y="4240754"/>
            <a:ext cx="414338" cy="15621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84" name="Rectangle 23">
            <a:extLst>
              <a:ext uri="{FF2B5EF4-FFF2-40B4-BE49-F238E27FC236}">
                <a16:creationId xmlns:a16="http://schemas.microsoft.com/office/drawing/2014/main" id="{AC94A5E0-4794-4246-825A-61CE412794C5}"/>
              </a:ext>
            </a:extLst>
          </p:cNvPr>
          <p:cNvSpPr>
            <a:spLocks noChangeArrowheads="1"/>
          </p:cNvSpPr>
          <p:nvPr/>
        </p:nvSpPr>
        <p:spPr bwMode="auto">
          <a:xfrm>
            <a:off x="1879889" y="4207417"/>
            <a:ext cx="972741" cy="14859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185" name="Rectangle 24">
            <a:extLst>
              <a:ext uri="{FF2B5EF4-FFF2-40B4-BE49-F238E27FC236}">
                <a16:creationId xmlns:a16="http://schemas.microsoft.com/office/drawing/2014/main" id="{6F8DDC46-C4B7-DF4E-8AF5-C602B6EAA1C4}"/>
              </a:ext>
            </a:extLst>
          </p:cNvPr>
          <p:cNvSpPr>
            <a:spLocks noChangeArrowheads="1"/>
          </p:cNvSpPr>
          <p:nvPr/>
        </p:nvSpPr>
        <p:spPr bwMode="auto">
          <a:xfrm>
            <a:off x="1851314" y="4247898"/>
            <a:ext cx="954881" cy="148471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186" name="Line 25">
            <a:extLst>
              <a:ext uri="{FF2B5EF4-FFF2-40B4-BE49-F238E27FC236}">
                <a16:creationId xmlns:a16="http://schemas.microsoft.com/office/drawing/2014/main" id="{DBA82451-A905-D646-87C3-445C7FB42130}"/>
              </a:ext>
            </a:extLst>
          </p:cNvPr>
          <p:cNvSpPr>
            <a:spLocks noChangeShapeType="1"/>
          </p:cNvSpPr>
          <p:nvPr/>
        </p:nvSpPr>
        <p:spPr bwMode="auto">
          <a:xfrm>
            <a:off x="1858457" y="4818208"/>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87" name="Text Box 26">
            <a:extLst>
              <a:ext uri="{FF2B5EF4-FFF2-40B4-BE49-F238E27FC236}">
                <a16:creationId xmlns:a16="http://schemas.microsoft.com/office/drawing/2014/main" id="{20A57016-2D36-9945-9BC2-7F8B323410D1}"/>
              </a:ext>
            </a:extLst>
          </p:cNvPr>
          <p:cNvSpPr txBox="1">
            <a:spLocks noChangeArrowheads="1"/>
          </p:cNvSpPr>
          <p:nvPr/>
        </p:nvSpPr>
        <p:spPr bwMode="auto">
          <a:xfrm>
            <a:off x="1826311" y="4805110"/>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188" name="Line 27">
            <a:extLst>
              <a:ext uri="{FF2B5EF4-FFF2-40B4-BE49-F238E27FC236}">
                <a16:creationId xmlns:a16="http://schemas.microsoft.com/office/drawing/2014/main" id="{C4DE758D-2140-4D46-8462-D030054EF893}"/>
              </a:ext>
            </a:extLst>
          </p:cNvPr>
          <p:cNvSpPr>
            <a:spLocks noChangeShapeType="1"/>
          </p:cNvSpPr>
          <p:nvPr/>
        </p:nvSpPr>
        <p:spPr bwMode="auto">
          <a:xfrm>
            <a:off x="1864411" y="5058715"/>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89" name="Line 28">
            <a:extLst>
              <a:ext uri="{FF2B5EF4-FFF2-40B4-BE49-F238E27FC236}">
                <a16:creationId xmlns:a16="http://schemas.microsoft.com/office/drawing/2014/main" id="{54E984A7-4546-6E49-B9F8-528EAF4E1F35}"/>
              </a:ext>
            </a:extLst>
          </p:cNvPr>
          <p:cNvSpPr>
            <a:spLocks noChangeShapeType="1"/>
          </p:cNvSpPr>
          <p:nvPr/>
        </p:nvSpPr>
        <p:spPr bwMode="auto">
          <a:xfrm>
            <a:off x="1853695" y="5290886"/>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90" name="Line 29">
            <a:extLst>
              <a:ext uri="{FF2B5EF4-FFF2-40B4-BE49-F238E27FC236}">
                <a16:creationId xmlns:a16="http://schemas.microsoft.com/office/drawing/2014/main" id="{85DE9E64-476F-6F4E-8BFA-3205F1E596F5}"/>
              </a:ext>
            </a:extLst>
          </p:cNvPr>
          <p:cNvSpPr>
            <a:spLocks noChangeShapeType="1"/>
          </p:cNvSpPr>
          <p:nvPr/>
        </p:nvSpPr>
        <p:spPr bwMode="auto">
          <a:xfrm>
            <a:off x="1853695" y="5505199"/>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91" name="Text Box 26">
            <a:extLst>
              <a:ext uri="{FF2B5EF4-FFF2-40B4-BE49-F238E27FC236}">
                <a16:creationId xmlns:a16="http://schemas.microsoft.com/office/drawing/2014/main" id="{A1B9282E-64F8-1442-8F95-7A9813CE8F60}"/>
              </a:ext>
            </a:extLst>
          </p:cNvPr>
          <p:cNvSpPr txBox="1">
            <a:spLocks noChangeArrowheads="1"/>
          </p:cNvSpPr>
          <p:nvPr/>
        </p:nvSpPr>
        <p:spPr bwMode="auto">
          <a:xfrm>
            <a:off x="1852505" y="4240754"/>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192" name="Text Box 26">
            <a:extLst>
              <a:ext uri="{FF2B5EF4-FFF2-40B4-BE49-F238E27FC236}">
                <a16:creationId xmlns:a16="http://schemas.microsoft.com/office/drawing/2014/main" id="{83782313-46E0-BE46-BEED-BDC4F6A04AD7}"/>
              </a:ext>
            </a:extLst>
          </p:cNvPr>
          <p:cNvSpPr txBox="1">
            <a:spLocks noChangeArrowheads="1"/>
          </p:cNvSpPr>
          <p:nvPr/>
        </p:nvSpPr>
        <p:spPr bwMode="auto">
          <a:xfrm>
            <a:off x="1819167" y="5483767"/>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193" name="Text Box 26">
            <a:extLst>
              <a:ext uri="{FF2B5EF4-FFF2-40B4-BE49-F238E27FC236}">
                <a16:creationId xmlns:a16="http://schemas.microsoft.com/office/drawing/2014/main" id="{E3A71501-A89A-D249-84FB-20D98047A254}"/>
              </a:ext>
            </a:extLst>
          </p:cNvPr>
          <p:cNvSpPr txBox="1">
            <a:spLocks noChangeArrowheads="1"/>
          </p:cNvSpPr>
          <p:nvPr/>
        </p:nvSpPr>
        <p:spPr bwMode="auto">
          <a:xfrm>
            <a:off x="1833455" y="5269454"/>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194" name="Text Box 26">
            <a:extLst>
              <a:ext uri="{FF2B5EF4-FFF2-40B4-BE49-F238E27FC236}">
                <a16:creationId xmlns:a16="http://schemas.microsoft.com/office/drawing/2014/main" id="{6C7F0039-C145-9D4F-92E4-1AF9B0406DA4}"/>
              </a:ext>
            </a:extLst>
          </p:cNvPr>
          <p:cNvSpPr txBox="1">
            <a:spLocks noChangeArrowheads="1"/>
          </p:cNvSpPr>
          <p:nvPr/>
        </p:nvSpPr>
        <p:spPr bwMode="auto">
          <a:xfrm>
            <a:off x="1826311" y="5047998"/>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195" name="Oval 23">
            <a:extLst>
              <a:ext uri="{FF2B5EF4-FFF2-40B4-BE49-F238E27FC236}">
                <a16:creationId xmlns:a16="http://schemas.microsoft.com/office/drawing/2014/main" id="{34D7692A-81D8-4D48-8FE7-F92A1F47470B}"/>
              </a:ext>
            </a:extLst>
          </p:cNvPr>
          <p:cNvSpPr>
            <a:spLocks noChangeArrowheads="1"/>
          </p:cNvSpPr>
          <p:nvPr/>
        </p:nvSpPr>
        <p:spPr bwMode="auto">
          <a:xfrm>
            <a:off x="2103726" y="4496739"/>
            <a:ext cx="448866"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350" kern="0">
                <a:solidFill>
                  <a:srgbClr val="000000"/>
                </a:solidFill>
                <a:latin typeface="Calibri" panose="020F0502020204030204"/>
                <a:ea typeface="ＭＳ Ｐゴシック" charset="0"/>
              </a:rPr>
              <a:t>P3</a:t>
            </a:r>
          </a:p>
        </p:txBody>
      </p:sp>
      <p:grpSp>
        <p:nvGrpSpPr>
          <p:cNvPr id="196" name="Group 149">
            <a:extLst>
              <a:ext uri="{FF2B5EF4-FFF2-40B4-BE49-F238E27FC236}">
                <a16:creationId xmlns:a16="http://schemas.microsoft.com/office/drawing/2014/main" id="{21881EDC-E749-4F46-8C1C-B44DD21BA9AD}"/>
              </a:ext>
            </a:extLst>
          </p:cNvPr>
          <p:cNvGrpSpPr>
            <a:grpSpLocks/>
          </p:cNvGrpSpPr>
          <p:nvPr/>
        </p:nvGrpSpPr>
        <p:grpSpPr bwMode="auto">
          <a:xfrm>
            <a:off x="2171592" y="4750342"/>
            <a:ext cx="309563" cy="119063"/>
            <a:chOff x="1287" y="2524"/>
            <a:chExt cx="260" cy="100"/>
          </a:xfrm>
        </p:grpSpPr>
        <p:sp>
          <p:nvSpPr>
            <p:cNvPr id="197" name="Rectangle 73">
              <a:extLst>
                <a:ext uri="{FF2B5EF4-FFF2-40B4-BE49-F238E27FC236}">
                  <a16:creationId xmlns:a16="http://schemas.microsoft.com/office/drawing/2014/main" id="{F3D0248D-63A0-3447-AD45-C92BA38B9971}"/>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98" name="Rectangle 74">
              <a:extLst>
                <a:ext uri="{FF2B5EF4-FFF2-40B4-BE49-F238E27FC236}">
                  <a16:creationId xmlns:a16="http://schemas.microsoft.com/office/drawing/2014/main" id="{A8C44BD4-B473-EA48-B1D2-4212120DE72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99" name="Rectangle 75">
              <a:extLst>
                <a:ext uri="{FF2B5EF4-FFF2-40B4-BE49-F238E27FC236}">
                  <a16:creationId xmlns:a16="http://schemas.microsoft.com/office/drawing/2014/main" id="{08B6F9A7-9AD7-B040-B431-D7898B46726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00" name="Rectangle 129">
              <a:extLst>
                <a:ext uri="{FF2B5EF4-FFF2-40B4-BE49-F238E27FC236}">
                  <a16:creationId xmlns:a16="http://schemas.microsoft.com/office/drawing/2014/main" id="{310C322C-F672-7946-BD16-DA4CE50EE19B}"/>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nvGrpSpPr>
          <p:cNvPr id="201" name="Group 150">
            <a:extLst>
              <a:ext uri="{FF2B5EF4-FFF2-40B4-BE49-F238E27FC236}">
                <a16:creationId xmlns:a16="http://schemas.microsoft.com/office/drawing/2014/main" id="{C5660C67-80CE-084B-8B8D-F5CCCDA73638}"/>
              </a:ext>
            </a:extLst>
          </p:cNvPr>
          <p:cNvGrpSpPr>
            <a:grpSpLocks/>
          </p:cNvGrpSpPr>
          <p:nvPr/>
        </p:nvGrpSpPr>
        <p:grpSpPr bwMode="auto">
          <a:xfrm>
            <a:off x="5426761" y="4749151"/>
            <a:ext cx="309563" cy="119063"/>
            <a:chOff x="1287" y="2524"/>
            <a:chExt cx="260" cy="100"/>
          </a:xfrm>
        </p:grpSpPr>
        <p:sp>
          <p:nvSpPr>
            <p:cNvPr id="202" name="Rectangle 151">
              <a:extLst>
                <a:ext uri="{FF2B5EF4-FFF2-40B4-BE49-F238E27FC236}">
                  <a16:creationId xmlns:a16="http://schemas.microsoft.com/office/drawing/2014/main" id="{E39443DC-01F4-7A42-BC3B-BD48B19524D4}"/>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03" name="Rectangle 152">
              <a:extLst>
                <a:ext uri="{FF2B5EF4-FFF2-40B4-BE49-F238E27FC236}">
                  <a16:creationId xmlns:a16="http://schemas.microsoft.com/office/drawing/2014/main" id="{810BA023-C5B8-434B-9FF4-507BAFBB2551}"/>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04" name="Rectangle 153">
              <a:extLst>
                <a:ext uri="{FF2B5EF4-FFF2-40B4-BE49-F238E27FC236}">
                  <a16:creationId xmlns:a16="http://schemas.microsoft.com/office/drawing/2014/main" id="{48739CB2-AA1C-8B4E-8D0B-CFBBB2A4F3F2}"/>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05" name="Rectangle 154">
              <a:extLst>
                <a:ext uri="{FF2B5EF4-FFF2-40B4-BE49-F238E27FC236}">
                  <a16:creationId xmlns:a16="http://schemas.microsoft.com/office/drawing/2014/main" id="{435BB581-5D52-C345-BA75-358EC9A4374C}"/>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06" name="Freeform 146">
            <a:extLst>
              <a:ext uri="{FF2B5EF4-FFF2-40B4-BE49-F238E27FC236}">
                <a16:creationId xmlns:a16="http://schemas.microsoft.com/office/drawing/2014/main" id="{8EB20ED3-9276-204C-BA00-A485E0531DD2}"/>
              </a:ext>
            </a:extLst>
          </p:cNvPr>
          <p:cNvSpPr>
            <a:spLocks/>
          </p:cNvSpPr>
          <p:nvPr/>
        </p:nvSpPr>
        <p:spPr bwMode="auto">
          <a:xfrm>
            <a:off x="3962293" y="4525314"/>
            <a:ext cx="1629965" cy="1491853"/>
          </a:xfrm>
          <a:custGeom>
            <a:avLst/>
            <a:gdLst>
              <a:gd name="T0" fmla="*/ 2147483647 w 1369"/>
              <a:gd name="T1" fmla="*/ 2147483647 h 1253"/>
              <a:gd name="T2" fmla="*/ 2147483647 w 1369"/>
              <a:gd name="T3" fmla="*/ 2147483647 h 1253"/>
              <a:gd name="T4" fmla="*/ 2147483647 w 1369"/>
              <a:gd name="T5" fmla="*/ 2147483647 h 1253"/>
              <a:gd name="T6" fmla="*/ 0 w 1369"/>
              <a:gd name="T7" fmla="*/ 2147483647 h 1253"/>
              <a:gd name="T8" fmla="*/ 2147483647 w 1369"/>
              <a:gd name="T9" fmla="*/ 0 h 1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9" h="1253">
                <a:moveTo>
                  <a:pt x="1369" y="216"/>
                </a:moveTo>
                <a:lnTo>
                  <a:pt x="1362" y="1252"/>
                </a:lnTo>
                <a:lnTo>
                  <a:pt x="16" y="1253"/>
                </a:lnTo>
                <a:lnTo>
                  <a:pt x="0" y="121"/>
                </a:lnTo>
                <a:lnTo>
                  <a:pt x="191"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07" name="Freeform 147">
            <a:extLst>
              <a:ext uri="{FF2B5EF4-FFF2-40B4-BE49-F238E27FC236}">
                <a16:creationId xmlns:a16="http://schemas.microsoft.com/office/drawing/2014/main" id="{911482D4-C931-F64A-A760-F208DA9E7FB6}"/>
              </a:ext>
            </a:extLst>
          </p:cNvPr>
          <p:cNvSpPr>
            <a:spLocks/>
          </p:cNvSpPr>
          <p:nvPr/>
        </p:nvSpPr>
        <p:spPr bwMode="auto">
          <a:xfrm>
            <a:off x="4051589" y="4549127"/>
            <a:ext cx="1488281" cy="1407319"/>
          </a:xfrm>
          <a:custGeom>
            <a:avLst/>
            <a:gdLst>
              <a:gd name="T0" fmla="*/ 2147483647 w 1250"/>
              <a:gd name="T1" fmla="*/ 2147483647 h 1182"/>
              <a:gd name="T2" fmla="*/ 2147483647 w 1250"/>
              <a:gd name="T3" fmla="*/ 2147483647 h 1182"/>
              <a:gd name="T4" fmla="*/ 2147483647 w 1250"/>
              <a:gd name="T5" fmla="*/ 2147483647 h 1182"/>
              <a:gd name="T6" fmla="*/ 0 w 1250"/>
              <a:gd name="T7" fmla="*/ 2147483647 h 1182"/>
              <a:gd name="T8" fmla="*/ 2147483647 w 1250"/>
              <a:gd name="T9" fmla="*/ 0 h 11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50" h="1182">
                <a:moveTo>
                  <a:pt x="1250" y="190"/>
                </a:moveTo>
                <a:lnTo>
                  <a:pt x="1244" y="1182"/>
                </a:lnTo>
                <a:lnTo>
                  <a:pt x="19" y="1181"/>
                </a:lnTo>
                <a:lnTo>
                  <a:pt x="0" y="155"/>
                </a:lnTo>
                <a:lnTo>
                  <a:pt x="171"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08" name="Oval 36">
            <a:extLst>
              <a:ext uri="{FF2B5EF4-FFF2-40B4-BE49-F238E27FC236}">
                <a16:creationId xmlns:a16="http://schemas.microsoft.com/office/drawing/2014/main" id="{6C459D77-5631-504A-9CB0-A48BD9C61B3E}"/>
              </a:ext>
            </a:extLst>
          </p:cNvPr>
          <p:cNvSpPr>
            <a:spLocks noChangeArrowheads="1"/>
          </p:cNvSpPr>
          <p:nvPr/>
        </p:nvSpPr>
        <p:spPr bwMode="auto">
          <a:xfrm>
            <a:off x="6556664" y="4608658"/>
            <a:ext cx="448866"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Comic Sans MS" charset="0"/>
              <a:ea typeface="ＭＳ Ｐゴシック" charset="0"/>
            </a:endParaRPr>
          </a:p>
        </p:txBody>
      </p:sp>
      <p:grpSp>
        <p:nvGrpSpPr>
          <p:cNvPr id="8" name="Group 7"/>
          <p:cNvGrpSpPr/>
          <p:nvPr/>
        </p:nvGrpSpPr>
        <p:grpSpPr>
          <a:xfrm>
            <a:off x="3745598" y="4703888"/>
            <a:ext cx="416499" cy="53633"/>
            <a:chOff x="1420065" y="5012608"/>
            <a:chExt cx="555332" cy="71510"/>
          </a:xfrm>
        </p:grpSpPr>
        <p:sp>
          <p:nvSpPr>
            <p:cNvPr id="210" name="Oval 166">
              <a:extLst>
                <a:ext uri="{FF2B5EF4-FFF2-40B4-BE49-F238E27FC236}">
                  <a16:creationId xmlns:a16="http://schemas.microsoft.com/office/drawing/2014/main" id="{ADD1825C-C7DB-6844-A3DF-BCF2BA1F0533}"/>
                </a:ext>
              </a:extLst>
            </p:cNvPr>
            <p:cNvSpPr>
              <a:spLocks noChangeArrowheads="1"/>
            </p:cNvSpPr>
            <p:nvPr/>
          </p:nvSpPr>
          <p:spPr bwMode="auto">
            <a:xfrm>
              <a:off x="1420065" y="5012608"/>
              <a:ext cx="196850" cy="69850"/>
            </a:xfrm>
            <a:prstGeom prst="ellipse">
              <a:avLst/>
            </a:prstGeom>
            <a:noFill/>
            <a:ln w="28575">
              <a:solidFill>
                <a:srgbClr val="CC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11" name="Oval 167">
              <a:extLst>
                <a:ext uri="{FF2B5EF4-FFF2-40B4-BE49-F238E27FC236}">
                  <a16:creationId xmlns:a16="http://schemas.microsoft.com/office/drawing/2014/main" id="{0600B33C-3B3C-0646-85DB-B042B7A87603}"/>
                </a:ext>
              </a:extLst>
            </p:cNvPr>
            <p:cNvSpPr>
              <a:spLocks noChangeArrowheads="1"/>
            </p:cNvSpPr>
            <p:nvPr/>
          </p:nvSpPr>
          <p:spPr bwMode="auto">
            <a:xfrm>
              <a:off x="1778547" y="5014268"/>
              <a:ext cx="196850" cy="69850"/>
            </a:xfrm>
            <a:prstGeom prst="ellipse">
              <a:avLst/>
            </a:prstGeom>
            <a:noFill/>
            <a:ln w="28575">
              <a:solidFill>
                <a:srgbClr val="CC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grpSp>
        <p:nvGrpSpPr>
          <p:cNvPr id="216" name="Group 179">
            <a:extLst>
              <a:ext uri="{FF2B5EF4-FFF2-40B4-BE49-F238E27FC236}">
                <a16:creationId xmlns:a16="http://schemas.microsoft.com/office/drawing/2014/main" id="{D0DD382B-DAC3-2346-B02D-B07D99212014}"/>
              </a:ext>
            </a:extLst>
          </p:cNvPr>
          <p:cNvGrpSpPr>
            <a:grpSpLocks/>
          </p:cNvGrpSpPr>
          <p:nvPr/>
        </p:nvGrpSpPr>
        <p:grpSpPr bwMode="auto">
          <a:xfrm>
            <a:off x="1083361" y="5373040"/>
            <a:ext cx="600075" cy="621506"/>
            <a:chOff x="-44" y="1473"/>
            <a:chExt cx="981" cy="1105"/>
          </a:xfrm>
        </p:grpSpPr>
        <p:pic>
          <p:nvPicPr>
            <p:cNvPr id="217" name="Picture 180" descr="desktop_computer_stylized_medium">
              <a:extLst>
                <a:ext uri="{FF2B5EF4-FFF2-40B4-BE49-F238E27FC236}">
                  <a16:creationId xmlns:a16="http://schemas.microsoft.com/office/drawing/2014/main" id="{DED124CB-DBF2-BA4A-A3F5-D0D2EE27E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8" name="Freeform 181">
              <a:extLst>
                <a:ext uri="{FF2B5EF4-FFF2-40B4-BE49-F238E27FC236}">
                  <a16:creationId xmlns:a16="http://schemas.microsoft.com/office/drawing/2014/main" id="{45C70753-F80F-0E44-A5BE-EA6A0103012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grpSp>
        <p:nvGrpSpPr>
          <p:cNvPr id="219" name="Group 182">
            <a:extLst>
              <a:ext uri="{FF2B5EF4-FFF2-40B4-BE49-F238E27FC236}">
                <a16:creationId xmlns:a16="http://schemas.microsoft.com/office/drawing/2014/main" id="{8C1F52F1-3DCD-D94D-B922-F8CEBAB5F0B4}"/>
              </a:ext>
            </a:extLst>
          </p:cNvPr>
          <p:cNvGrpSpPr>
            <a:grpSpLocks/>
          </p:cNvGrpSpPr>
          <p:nvPr/>
        </p:nvGrpSpPr>
        <p:grpSpPr bwMode="auto">
          <a:xfrm flipH="1">
            <a:off x="6319730" y="5308746"/>
            <a:ext cx="591740" cy="586978"/>
            <a:chOff x="-44" y="1473"/>
            <a:chExt cx="981" cy="1105"/>
          </a:xfrm>
        </p:grpSpPr>
        <p:pic>
          <p:nvPicPr>
            <p:cNvPr id="220" name="Picture 183" descr="desktop_computer_stylized_medium">
              <a:extLst>
                <a:ext uri="{FF2B5EF4-FFF2-40B4-BE49-F238E27FC236}">
                  <a16:creationId xmlns:a16="http://schemas.microsoft.com/office/drawing/2014/main" id="{E6083DB7-3B07-6F40-9810-0033E2E06F6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1" name="Freeform 184">
              <a:extLst>
                <a:ext uri="{FF2B5EF4-FFF2-40B4-BE49-F238E27FC236}">
                  <a16:creationId xmlns:a16="http://schemas.microsoft.com/office/drawing/2014/main" id="{28CB0DC7-F192-5840-BCC3-B9D66210604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grpSp>
        <p:nvGrpSpPr>
          <p:cNvPr id="222" name="Group 185">
            <a:extLst>
              <a:ext uri="{FF2B5EF4-FFF2-40B4-BE49-F238E27FC236}">
                <a16:creationId xmlns:a16="http://schemas.microsoft.com/office/drawing/2014/main" id="{7750F2FB-96FA-374A-AF56-26502EF04672}"/>
              </a:ext>
            </a:extLst>
          </p:cNvPr>
          <p:cNvGrpSpPr>
            <a:grpSpLocks/>
          </p:cNvGrpSpPr>
          <p:nvPr/>
        </p:nvGrpSpPr>
        <p:grpSpPr bwMode="auto">
          <a:xfrm>
            <a:off x="3012174" y="4997992"/>
            <a:ext cx="269081" cy="528638"/>
            <a:chOff x="4140" y="429"/>
            <a:chExt cx="1425" cy="2396"/>
          </a:xfrm>
        </p:grpSpPr>
        <p:sp>
          <p:nvSpPr>
            <p:cNvPr id="223" name="Freeform 186">
              <a:extLst>
                <a:ext uri="{FF2B5EF4-FFF2-40B4-BE49-F238E27FC236}">
                  <a16:creationId xmlns:a16="http://schemas.microsoft.com/office/drawing/2014/main" id="{E441858B-A566-F746-B48C-912CA3020CC8}"/>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24" name="Rectangle 187">
              <a:extLst>
                <a:ext uri="{FF2B5EF4-FFF2-40B4-BE49-F238E27FC236}">
                  <a16:creationId xmlns:a16="http://schemas.microsoft.com/office/drawing/2014/main" id="{20003129-35A4-1E46-8065-8AF4C6403D5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25" name="Freeform 188">
              <a:extLst>
                <a:ext uri="{FF2B5EF4-FFF2-40B4-BE49-F238E27FC236}">
                  <a16:creationId xmlns:a16="http://schemas.microsoft.com/office/drawing/2014/main" id="{6F94D7AE-C4D1-AF4A-B970-086B7D245AC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26" name="Freeform 189">
              <a:extLst>
                <a:ext uri="{FF2B5EF4-FFF2-40B4-BE49-F238E27FC236}">
                  <a16:creationId xmlns:a16="http://schemas.microsoft.com/office/drawing/2014/main" id="{EAFC03EF-54DF-8942-9852-25739DA158B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27" name="Rectangle 190">
              <a:extLst>
                <a:ext uri="{FF2B5EF4-FFF2-40B4-BE49-F238E27FC236}">
                  <a16:creationId xmlns:a16="http://schemas.microsoft.com/office/drawing/2014/main" id="{2241F7B6-5281-A74E-8DCB-3BE3777E9369}"/>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28" name="Group 191">
              <a:extLst>
                <a:ext uri="{FF2B5EF4-FFF2-40B4-BE49-F238E27FC236}">
                  <a16:creationId xmlns:a16="http://schemas.microsoft.com/office/drawing/2014/main" id="{02DB0249-6EBB-FF4B-B17F-CC771B255D00}"/>
                </a:ext>
              </a:extLst>
            </p:cNvPr>
            <p:cNvGrpSpPr>
              <a:grpSpLocks/>
            </p:cNvGrpSpPr>
            <p:nvPr/>
          </p:nvGrpSpPr>
          <p:grpSpPr bwMode="auto">
            <a:xfrm>
              <a:off x="4749" y="668"/>
              <a:ext cx="581" cy="145"/>
              <a:chOff x="614" y="2568"/>
              <a:chExt cx="725" cy="139"/>
            </a:xfrm>
          </p:grpSpPr>
          <p:sp>
            <p:nvSpPr>
              <p:cNvPr id="253" name="AutoShape 192">
                <a:extLst>
                  <a:ext uri="{FF2B5EF4-FFF2-40B4-BE49-F238E27FC236}">
                    <a16:creationId xmlns:a16="http://schemas.microsoft.com/office/drawing/2014/main" id="{BE55370E-BC12-1B42-9E3C-C950033EEF8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4" name="AutoShape 193">
                <a:extLst>
                  <a:ext uri="{FF2B5EF4-FFF2-40B4-BE49-F238E27FC236}">
                    <a16:creationId xmlns:a16="http://schemas.microsoft.com/office/drawing/2014/main" id="{1BBB99EB-2FFB-5942-9855-24BEE1C68997}"/>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29" name="Rectangle 194">
              <a:extLst>
                <a:ext uri="{FF2B5EF4-FFF2-40B4-BE49-F238E27FC236}">
                  <a16:creationId xmlns:a16="http://schemas.microsoft.com/office/drawing/2014/main" id="{9C5699FC-2B4E-BD46-B9CC-CA578E2EA709}"/>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30" name="Group 195">
              <a:extLst>
                <a:ext uri="{FF2B5EF4-FFF2-40B4-BE49-F238E27FC236}">
                  <a16:creationId xmlns:a16="http://schemas.microsoft.com/office/drawing/2014/main" id="{676615F3-A30A-9740-8080-AFEE6BAAEF98}"/>
                </a:ext>
              </a:extLst>
            </p:cNvPr>
            <p:cNvGrpSpPr>
              <a:grpSpLocks/>
            </p:cNvGrpSpPr>
            <p:nvPr/>
          </p:nvGrpSpPr>
          <p:grpSpPr bwMode="auto">
            <a:xfrm>
              <a:off x="4747" y="994"/>
              <a:ext cx="581" cy="134"/>
              <a:chOff x="614" y="2568"/>
              <a:chExt cx="725" cy="139"/>
            </a:xfrm>
          </p:grpSpPr>
          <p:sp>
            <p:nvSpPr>
              <p:cNvPr id="251" name="AutoShape 196">
                <a:extLst>
                  <a:ext uri="{FF2B5EF4-FFF2-40B4-BE49-F238E27FC236}">
                    <a16:creationId xmlns:a16="http://schemas.microsoft.com/office/drawing/2014/main" id="{D31569A0-2CDC-3B4B-B7FA-067BF2CB0D93}"/>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2" name="AutoShape 197">
                <a:extLst>
                  <a:ext uri="{FF2B5EF4-FFF2-40B4-BE49-F238E27FC236}">
                    <a16:creationId xmlns:a16="http://schemas.microsoft.com/office/drawing/2014/main" id="{5D70C5E6-3DFB-1D45-8469-DE5EA96E13E8}"/>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31" name="Rectangle 198">
              <a:extLst>
                <a:ext uri="{FF2B5EF4-FFF2-40B4-BE49-F238E27FC236}">
                  <a16:creationId xmlns:a16="http://schemas.microsoft.com/office/drawing/2014/main" id="{AE060187-10EA-1F4E-AEDE-8C6C0E8358D2}"/>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32" name="Rectangle 199">
              <a:extLst>
                <a:ext uri="{FF2B5EF4-FFF2-40B4-BE49-F238E27FC236}">
                  <a16:creationId xmlns:a16="http://schemas.microsoft.com/office/drawing/2014/main" id="{32874526-51C0-C749-BDC8-3D9F62AFE76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33" name="Group 200">
              <a:extLst>
                <a:ext uri="{FF2B5EF4-FFF2-40B4-BE49-F238E27FC236}">
                  <a16:creationId xmlns:a16="http://schemas.microsoft.com/office/drawing/2014/main" id="{09E63F43-E74F-6045-A673-3756891EE94D}"/>
                </a:ext>
              </a:extLst>
            </p:cNvPr>
            <p:cNvGrpSpPr>
              <a:grpSpLocks/>
            </p:cNvGrpSpPr>
            <p:nvPr/>
          </p:nvGrpSpPr>
          <p:grpSpPr bwMode="auto">
            <a:xfrm>
              <a:off x="4735" y="1627"/>
              <a:ext cx="582" cy="151"/>
              <a:chOff x="614" y="2568"/>
              <a:chExt cx="725" cy="139"/>
            </a:xfrm>
          </p:grpSpPr>
          <p:sp>
            <p:nvSpPr>
              <p:cNvPr id="249" name="AutoShape 201">
                <a:extLst>
                  <a:ext uri="{FF2B5EF4-FFF2-40B4-BE49-F238E27FC236}">
                    <a16:creationId xmlns:a16="http://schemas.microsoft.com/office/drawing/2014/main" id="{0296B9BB-82CD-2A45-8E56-F4ACF6FCC028}"/>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0" name="AutoShape 202">
                <a:extLst>
                  <a:ext uri="{FF2B5EF4-FFF2-40B4-BE49-F238E27FC236}">
                    <a16:creationId xmlns:a16="http://schemas.microsoft.com/office/drawing/2014/main" id="{DD3C3254-A817-B449-AE0F-31BEFF504A04}"/>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34" name="Freeform 203">
              <a:extLst>
                <a:ext uri="{FF2B5EF4-FFF2-40B4-BE49-F238E27FC236}">
                  <a16:creationId xmlns:a16="http://schemas.microsoft.com/office/drawing/2014/main" id="{D05041BE-8046-EB49-A23A-C7FEB06D9108}"/>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nvGrpSpPr>
            <p:cNvPr id="235" name="Group 204">
              <a:extLst>
                <a:ext uri="{FF2B5EF4-FFF2-40B4-BE49-F238E27FC236}">
                  <a16:creationId xmlns:a16="http://schemas.microsoft.com/office/drawing/2014/main" id="{BD1D997D-F690-4C4E-9473-F0433427C91F}"/>
                </a:ext>
              </a:extLst>
            </p:cNvPr>
            <p:cNvGrpSpPr>
              <a:grpSpLocks/>
            </p:cNvGrpSpPr>
            <p:nvPr/>
          </p:nvGrpSpPr>
          <p:grpSpPr bwMode="auto">
            <a:xfrm>
              <a:off x="4739" y="1327"/>
              <a:ext cx="582" cy="139"/>
              <a:chOff x="614" y="2568"/>
              <a:chExt cx="725" cy="139"/>
            </a:xfrm>
          </p:grpSpPr>
          <p:sp>
            <p:nvSpPr>
              <p:cNvPr id="247" name="AutoShape 205">
                <a:extLst>
                  <a:ext uri="{FF2B5EF4-FFF2-40B4-BE49-F238E27FC236}">
                    <a16:creationId xmlns:a16="http://schemas.microsoft.com/office/drawing/2014/main" id="{631C3D3D-8F7D-6F44-AD56-665A5242B691}"/>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8" name="AutoShape 206">
                <a:extLst>
                  <a:ext uri="{FF2B5EF4-FFF2-40B4-BE49-F238E27FC236}">
                    <a16:creationId xmlns:a16="http://schemas.microsoft.com/office/drawing/2014/main" id="{E7F87D38-4528-0F45-9911-B79B599D25FC}"/>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36" name="Rectangle 207">
              <a:extLst>
                <a:ext uri="{FF2B5EF4-FFF2-40B4-BE49-F238E27FC236}">
                  <a16:creationId xmlns:a16="http://schemas.microsoft.com/office/drawing/2014/main" id="{60B24777-81BE-BC42-AC64-6F2229E5FBE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37" name="Freeform 208">
              <a:extLst>
                <a:ext uri="{FF2B5EF4-FFF2-40B4-BE49-F238E27FC236}">
                  <a16:creationId xmlns:a16="http://schemas.microsoft.com/office/drawing/2014/main" id="{FD1049FD-ADAC-FC43-A186-6585ECAE433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38" name="Freeform 209">
              <a:extLst>
                <a:ext uri="{FF2B5EF4-FFF2-40B4-BE49-F238E27FC236}">
                  <a16:creationId xmlns:a16="http://schemas.microsoft.com/office/drawing/2014/main" id="{A25585BA-2AFC-3047-B9D5-7CC45D5DBC49}"/>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39" name="Oval 210">
              <a:extLst>
                <a:ext uri="{FF2B5EF4-FFF2-40B4-BE49-F238E27FC236}">
                  <a16:creationId xmlns:a16="http://schemas.microsoft.com/office/drawing/2014/main" id="{78C608B6-FCB9-3F43-A504-D33DD77827D8}"/>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0" name="Freeform 211">
              <a:extLst>
                <a:ext uri="{FF2B5EF4-FFF2-40B4-BE49-F238E27FC236}">
                  <a16:creationId xmlns:a16="http://schemas.microsoft.com/office/drawing/2014/main" id="{F24BE4FA-86B6-5840-8B76-BF70EF006A8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41" name="AutoShape 212">
              <a:extLst>
                <a:ext uri="{FF2B5EF4-FFF2-40B4-BE49-F238E27FC236}">
                  <a16:creationId xmlns:a16="http://schemas.microsoft.com/office/drawing/2014/main" id="{22C6B4EC-00C6-BA43-95E2-370E8204DDA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2" name="AutoShape 213">
              <a:extLst>
                <a:ext uri="{FF2B5EF4-FFF2-40B4-BE49-F238E27FC236}">
                  <a16:creationId xmlns:a16="http://schemas.microsoft.com/office/drawing/2014/main" id="{7B9210ED-D802-C84E-8A67-93399801B5DA}"/>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3" name="Oval 214">
              <a:extLst>
                <a:ext uri="{FF2B5EF4-FFF2-40B4-BE49-F238E27FC236}">
                  <a16:creationId xmlns:a16="http://schemas.microsoft.com/office/drawing/2014/main" id="{552E77C8-7BFE-BF4D-8F0B-DF6513BE6459}"/>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4" name="Oval 215">
              <a:extLst>
                <a:ext uri="{FF2B5EF4-FFF2-40B4-BE49-F238E27FC236}">
                  <a16:creationId xmlns:a16="http://schemas.microsoft.com/office/drawing/2014/main" id="{86496A7E-E21F-444D-B883-E410329FF242}"/>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rial" charset="0"/>
                <a:ea typeface="ＭＳ Ｐゴシック" charset="0"/>
                <a:cs typeface="Arial" charset="0"/>
              </a:endParaRPr>
            </a:p>
          </p:txBody>
        </p:sp>
        <p:sp>
          <p:nvSpPr>
            <p:cNvPr id="245" name="Oval 216">
              <a:extLst>
                <a:ext uri="{FF2B5EF4-FFF2-40B4-BE49-F238E27FC236}">
                  <a16:creationId xmlns:a16="http://schemas.microsoft.com/office/drawing/2014/main" id="{555E4B0D-EDB2-D04B-B9AD-93FA92DDAA2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6" name="Rectangle 217">
              <a:extLst>
                <a:ext uri="{FF2B5EF4-FFF2-40B4-BE49-F238E27FC236}">
                  <a16:creationId xmlns:a16="http://schemas.microsoft.com/office/drawing/2014/main" id="{DE659B39-E72A-634A-A2AC-C4BA4DC9C619}"/>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169" name="Freeform 142">
            <a:extLst>
              <a:ext uri="{FF2B5EF4-FFF2-40B4-BE49-F238E27FC236}">
                <a16:creationId xmlns:a16="http://schemas.microsoft.com/office/drawing/2014/main" id="{9633E13F-8D02-CA4B-A3EB-E64D4EB42802}"/>
              </a:ext>
            </a:extLst>
          </p:cNvPr>
          <p:cNvSpPr>
            <a:spLocks/>
          </p:cNvSpPr>
          <p:nvPr/>
        </p:nvSpPr>
        <p:spPr bwMode="auto">
          <a:xfrm>
            <a:off x="2348995" y="4550317"/>
            <a:ext cx="1471613" cy="1422797"/>
          </a:xfrm>
          <a:custGeom>
            <a:avLst/>
            <a:gdLst>
              <a:gd name="T0" fmla="*/ 0 w 1236"/>
              <a:gd name="T1" fmla="*/ 2147483647 h 1195"/>
              <a:gd name="T2" fmla="*/ 2147483647 w 1236"/>
              <a:gd name="T3" fmla="*/ 2147483647 h 1195"/>
              <a:gd name="T4" fmla="*/ 2147483647 w 1236"/>
              <a:gd name="T5" fmla="*/ 2147483647 h 1195"/>
              <a:gd name="T6" fmla="*/ 2147483647 w 1236"/>
              <a:gd name="T7" fmla="*/ 2147483647 h 1195"/>
              <a:gd name="T8" fmla="*/ 2147483647 w 1236"/>
              <a:gd name="T9" fmla="*/ 0 h 11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6" h="1195">
                <a:moveTo>
                  <a:pt x="0" y="202"/>
                </a:moveTo>
                <a:lnTo>
                  <a:pt x="6" y="1194"/>
                </a:lnTo>
                <a:lnTo>
                  <a:pt x="1236" y="1195"/>
                </a:lnTo>
                <a:lnTo>
                  <a:pt x="1227" y="150"/>
                </a:lnTo>
                <a:lnTo>
                  <a:pt x="1069" y="0"/>
                </a:lnTo>
              </a:path>
            </a:pathLst>
          </a:custGeom>
          <a:noFill/>
          <a:ln w="19050" cap="flat" cmpd="sng">
            <a:solidFill>
              <a:srgbClr val="000099"/>
            </a:solidFill>
            <a:prstDash val="solid"/>
            <a:round/>
            <a:headEnd type="triangl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168" name="Freeform 141">
            <a:extLst>
              <a:ext uri="{FF2B5EF4-FFF2-40B4-BE49-F238E27FC236}">
                <a16:creationId xmlns:a16="http://schemas.microsoft.com/office/drawing/2014/main" id="{68E70704-F4BA-164C-AD06-3859E25D67E2}"/>
              </a:ext>
            </a:extLst>
          </p:cNvPr>
          <p:cNvSpPr>
            <a:spLocks/>
          </p:cNvSpPr>
          <p:nvPr/>
        </p:nvSpPr>
        <p:spPr bwMode="auto">
          <a:xfrm>
            <a:off x="2301370" y="4531267"/>
            <a:ext cx="1620441" cy="1491854"/>
          </a:xfrm>
          <a:custGeom>
            <a:avLst/>
            <a:gdLst>
              <a:gd name="T0" fmla="*/ 0 w 1361"/>
              <a:gd name="T1" fmla="*/ 2147483647 h 1253"/>
              <a:gd name="T2" fmla="*/ 2147483647 w 1361"/>
              <a:gd name="T3" fmla="*/ 2147483647 h 1253"/>
              <a:gd name="T4" fmla="*/ 2147483647 w 1361"/>
              <a:gd name="T5" fmla="*/ 2147483647 h 1253"/>
              <a:gd name="T6" fmla="*/ 2147483647 w 1361"/>
              <a:gd name="T7" fmla="*/ 2147483647 h 1253"/>
              <a:gd name="T8" fmla="*/ 2147483647 w 1361"/>
              <a:gd name="T9" fmla="*/ 2147483647 h 1253"/>
              <a:gd name="T10" fmla="*/ 2147483647 w 1361"/>
              <a:gd name="T11" fmla="*/ 0 h 125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61" h="1253">
                <a:moveTo>
                  <a:pt x="0" y="216"/>
                </a:moveTo>
                <a:lnTo>
                  <a:pt x="7" y="1252"/>
                </a:lnTo>
                <a:lnTo>
                  <a:pt x="1320" y="1253"/>
                </a:lnTo>
                <a:lnTo>
                  <a:pt x="1361" y="1252"/>
                </a:lnTo>
                <a:lnTo>
                  <a:pt x="1353" y="114"/>
                </a:lnTo>
                <a:lnTo>
                  <a:pt x="1178" y="0"/>
                </a:lnTo>
              </a:path>
            </a:pathLst>
          </a:custGeom>
          <a:noFill/>
          <a:ln w="19050" cap="flat" cmpd="sng">
            <a:solidFill>
              <a:srgbClr val="000099"/>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nvGrpSpPr>
          <p:cNvPr id="7" name="Group 6"/>
          <p:cNvGrpSpPr/>
          <p:nvPr/>
        </p:nvGrpSpPr>
        <p:grpSpPr>
          <a:xfrm>
            <a:off x="2538105" y="4447706"/>
            <a:ext cx="2811727" cy="86160"/>
            <a:chOff x="4450940" y="4321755"/>
            <a:chExt cx="3748969" cy="114880"/>
          </a:xfrm>
        </p:grpSpPr>
        <p:sp>
          <p:nvSpPr>
            <p:cNvPr id="6" name="Left-Right Arrow 5"/>
            <p:cNvSpPr/>
            <p:nvPr/>
          </p:nvSpPr>
          <p:spPr>
            <a:xfrm rot="20821812">
              <a:off x="4450940" y="4321755"/>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261" name="Left-Right Arrow 260"/>
            <p:cNvSpPr/>
            <p:nvPr/>
          </p:nvSpPr>
          <p:spPr>
            <a:xfrm rot="778188" flipV="1">
              <a:off x="6983757" y="4337631"/>
              <a:ext cx="1216152" cy="99004"/>
            </a:xfrm>
            <a:prstGeom prst="lef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grpSp>
      <p:sp>
        <p:nvSpPr>
          <p:cNvPr id="209" name="Slide Number Placeholder 2">
            <a:extLst>
              <a:ext uri="{FF2B5EF4-FFF2-40B4-BE49-F238E27FC236}">
                <a16:creationId xmlns:a16="http://schemas.microsoft.com/office/drawing/2014/main" id="{1BB112E7-9179-7C48-99F0-38E45F5BCFEB}"/>
              </a:ext>
            </a:extLst>
          </p:cNvPr>
          <p:cNvSpPr>
            <a:spLocks noGrp="1"/>
          </p:cNvSpPr>
          <p:nvPr>
            <p:ph type="sldNum" sz="quarter" idx="4"/>
          </p:nvPr>
        </p:nvSpPr>
        <p:spPr>
          <a:xfrm>
            <a:off x="6114612" y="6038707"/>
            <a:ext cx="2057400" cy="273844"/>
          </a:xfrm>
        </p:spPr>
        <p:txBody>
          <a:bodyPr/>
          <a:lstStyle/>
          <a:p>
            <a:r>
              <a:rPr lang="en-US" dirty="0"/>
              <a:t>Transport Layer: 3-</a:t>
            </a:r>
            <a:fld id="{C4204591-24BD-A542-B9D5-F8D8A88D2FEE}" type="slidenum">
              <a:rPr lang="en-US" smtClean="0"/>
              <a:pPr/>
              <a:t>15</a:t>
            </a:fld>
            <a:endParaRPr lang="en-US" dirty="0"/>
          </a:p>
        </p:txBody>
      </p:sp>
      <p:sp>
        <p:nvSpPr>
          <p:cNvPr id="4" name="TextBox 3">
            <a:extLst>
              <a:ext uri="{FF2B5EF4-FFF2-40B4-BE49-F238E27FC236}">
                <a16:creationId xmlns:a16="http://schemas.microsoft.com/office/drawing/2014/main" id="{DAFA130A-3FDF-27AC-047E-F31FE0FE0A46}"/>
              </a:ext>
            </a:extLst>
          </p:cNvPr>
          <p:cNvSpPr txBox="1"/>
          <p:nvPr/>
        </p:nvSpPr>
        <p:spPr>
          <a:xfrm>
            <a:off x="409265" y="840774"/>
            <a:ext cx="8325469" cy="3280129"/>
          </a:xfrm>
          <a:prstGeom prst="rect">
            <a:avLst/>
          </a:prstGeom>
          <a:noFill/>
        </p:spPr>
        <p:txBody>
          <a:bodyPr wrap="square">
            <a:spAutoFit/>
          </a:bodyPr>
          <a:lstStyle/>
          <a:p>
            <a:pPr defTabSz="685800">
              <a:lnSpc>
                <a:spcPct val="80000"/>
              </a:lnSpc>
              <a:defRPr/>
            </a:pPr>
            <a:r>
              <a:rPr lang="en-US" sz="2000" i="1" dirty="0">
                <a:solidFill>
                  <a:srgbClr val="CC0000"/>
                </a:solidFill>
                <a:latin typeface="Calibri" panose="020F0502020204030204"/>
                <a:ea typeface="ＭＳ Ｐゴシック" charset="0"/>
              </a:rPr>
              <a:t>multiplexing at sender: </a:t>
            </a:r>
            <a:r>
              <a:rPr lang="en-US" sz="2000" dirty="0">
                <a:solidFill>
                  <a:prstClr val="black"/>
                </a:solidFill>
                <a:latin typeface="Calibri" panose="020F0502020204030204"/>
                <a:ea typeface="ＭＳ Ｐゴシック" charset="0"/>
              </a:rPr>
              <a:t>handle data from multiple sockets, add transport header (later used for demultiplexing)</a:t>
            </a:r>
          </a:p>
          <a:p>
            <a:pPr defTabSz="685800" eaLnBrk="0" fontAlgn="base" hangingPunct="0">
              <a:lnSpc>
                <a:spcPct val="80000"/>
              </a:lnSpc>
              <a:spcBef>
                <a:spcPct val="0"/>
              </a:spcBef>
              <a:spcAft>
                <a:spcPct val="0"/>
              </a:spcAft>
              <a:defRPr/>
            </a:pPr>
            <a:r>
              <a:rPr lang="en-US" sz="2000" i="1" kern="0" dirty="0">
                <a:solidFill>
                  <a:srgbClr val="CC0000"/>
                </a:solidFill>
                <a:latin typeface="Calibri" panose="020F0502020204030204"/>
                <a:ea typeface="ＭＳ Ｐゴシック" charset="0"/>
              </a:rPr>
              <a:t>demultiplexing at receiver: </a:t>
            </a:r>
            <a:r>
              <a:rPr lang="en-US" sz="2000" kern="0" dirty="0">
                <a:solidFill>
                  <a:srgbClr val="000000"/>
                </a:solidFill>
                <a:latin typeface="Calibri" panose="020F0502020204030204"/>
                <a:ea typeface="ＭＳ Ｐゴシック" charset="0"/>
              </a:rPr>
              <a:t>use header info to deliver received segments to correct socket</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receives IP datagrams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has source IP address, destination IP address</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datagram carries one transport-layer segment</a:t>
            </a:r>
          </a:p>
          <a:p>
            <a:pPr marL="687388" marR="0" lvl="1" indent="-230188" algn="l" defTabSz="914400" rtl="0" eaLnBrk="0" fontAlgn="base" latinLnBrk="0" hangingPunct="0">
              <a:lnSpc>
                <a:spcPct val="85000"/>
              </a:lnSpc>
              <a:spcBef>
                <a:spcPct val="20000"/>
              </a:spcBef>
              <a:spcAft>
                <a:spcPct val="0"/>
              </a:spcAft>
              <a:buClr>
                <a:srgbClr val="000099"/>
              </a:buClr>
              <a:buSzTx/>
              <a:buFont typeface="Arial"/>
              <a:buChar char="•"/>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each segment has source, destination port number </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uses </a:t>
            </a:r>
            <a:r>
              <a:rPr kumimoji="0" lang="en-US" sz="2000" b="0" i="1" u="none" strike="noStrike" kern="0" cap="none" spc="0" normalizeH="0" baseline="0" noProof="0" dirty="0">
                <a:ln>
                  <a:noFill/>
                </a:ln>
                <a:solidFill>
                  <a:srgbClr val="CC0000"/>
                </a:solidFill>
                <a:effectLst/>
                <a:uLnTx/>
                <a:uFillTx/>
                <a:latin typeface="Calibri" panose="020F0502020204030204"/>
                <a:ea typeface="ＭＳ Ｐゴシック" charset="0"/>
                <a:cs typeface="+mn-cs"/>
              </a:rPr>
              <a:t>IP addresses &amp; port numbers</a:t>
            </a: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to direct segment to appropriate socket</a:t>
            </a:r>
          </a:p>
        </p:txBody>
      </p:sp>
    </p:spTree>
    <p:extLst>
      <p:ext uri="{BB962C8B-B14F-4D97-AF65-F5344CB8AC3E}">
        <p14:creationId xmlns:p14="http://schemas.microsoft.com/office/powerpoint/2010/main" val="297240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68"/>
                                        </p:tgtEl>
                                        <p:attrNameLst>
                                          <p:attrName>style.visibility</p:attrName>
                                        </p:attrNameLst>
                                      </p:cBhvr>
                                      <p:to>
                                        <p:strVal val="visible"/>
                                      </p:to>
                                    </p:set>
                                    <p:animEffect transition="in" filter="dissolve">
                                      <p:cBhvr>
                                        <p:cTn id="18" dur="500"/>
                                        <p:tgtEl>
                                          <p:spTgt spid="168"/>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06"/>
                                        </p:tgtEl>
                                        <p:attrNameLst>
                                          <p:attrName>style.visibility</p:attrName>
                                        </p:attrNameLst>
                                      </p:cBhvr>
                                      <p:to>
                                        <p:strVal val="visible"/>
                                      </p:to>
                                    </p:set>
                                    <p:animEffect transition="in" filter="dissolve">
                                      <p:cBhvr>
                                        <p:cTn id="21" dur="500"/>
                                        <p:tgtEl>
                                          <p:spTgt spid="206"/>
                                        </p:tgtEl>
                                      </p:cBhvr>
                                    </p:animEffect>
                                  </p:childTnLst>
                                </p:cTn>
                              </p:par>
                              <p:par>
                                <p:cTn id="22" presetID="9" presetClass="exit" presetSubtype="0" fill="hold" grpId="0" nodeType="withEffect">
                                  <p:stCondLst>
                                    <p:cond delay="0"/>
                                  </p:stCondLst>
                                  <p:childTnLst>
                                    <p:animEffect transition="out" filter="dissolve">
                                      <p:cBhvr>
                                        <p:cTn id="23" dur="500"/>
                                        <p:tgtEl>
                                          <p:spTgt spid="169"/>
                                        </p:tgtEl>
                                      </p:cBhvr>
                                    </p:animEffect>
                                    <p:set>
                                      <p:cBhvr>
                                        <p:cTn id="24" dur="1" fill="hold">
                                          <p:stCondLst>
                                            <p:cond delay="499"/>
                                          </p:stCondLst>
                                        </p:cTn>
                                        <p:tgtEl>
                                          <p:spTgt spid="169"/>
                                        </p:tgtEl>
                                        <p:attrNameLst>
                                          <p:attrName>style.visibility</p:attrName>
                                        </p:attrNameLst>
                                      </p:cBhvr>
                                      <p:to>
                                        <p:strVal val="hidden"/>
                                      </p:to>
                                    </p:set>
                                  </p:childTnLst>
                                </p:cTn>
                              </p:par>
                              <p:par>
                                <p:cTn id="25" presetID="9" presetClass="exit" presetSubtype="0" fill="hold" nodeType="withEffect">
                                  <p:stCondLst>
                                    <p:cond delay="0"/>
                                  </p:stCondLst>
                                  <p:childTnLst>
                                    <p:animEffect transition="out" filter="dissolve">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par>
                                <p:cTn id="28" presetID="9" presetClass="exit" presetSubtype="0" fill="hold" grpId="0" nodeType="withEffect">
                                  <p:stCondLst>
                                    <p:cond delay="0"/>
                                  </p:stCondLst>
                                  <p:childTnLst>
                                    <p:animEffect transition="out" filter="dissolve">
                                      <p:cBhvr>
                                        <p:cTn id="29" dur="500"/>
                                        <p:tgtEl>
                                          <p:spTgt spid="207"/>
                                        </p:tgtEl>
                                      </p:cBhvr>
                                    </p:animEffect>
                                    <p:set>
                                      <p:cBhvr>
                                        <p:cTn id="30" dur="1" fill="hold">
                                          <p:stCondLst>
                                            <p:cond delay="499"/>
                                          </p:stCondLst>
                                        </p:cTn>
                                        <p:tgtEl>
                                          <p:spTgt spid="2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P spid="207" grpId="0" animBg="1"/>
      <p:bldP spid="169" grpId="0" animBg="1"/>
      <p:bldP spid="16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13293" y="1169490"/>
            <a:ext cx="8325469" cy="670967"/>
          </a:xfrm>
        </p:spPr>
        <p:txBody>
          <a:bodyPr>
            <a:normAutofit/>
          </a:bodyPr>
          <a:lstStyle/>
          <a:p>
            <a:r>
              <a:rPr lang="en-US" dirty="0"/>
              <a:t>Connectionless demultiplexing</a:t>
            </a:r>
          </a:p>
        </p:txBody>
      </p:sp>
      <p:sp>
        <p:nvSpPr>
          <p:cNvPr id="9" name="Slide Number Placeholder 2">
            <a:extLst>
              <a:ext uri="{FF2B5EF4-FFF2-40B4-BE49-F238E27FC236}">
                <a16:creationId xmlns:a16="http://schemas.microsoft.com/office/drawing/2014/main" id="{86F80CC4-FDCF-FF42-8BB3-8A9B1A2B5D65}"/>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16</a:t>
            </a:fld>
            <a:endParaRPr lang="en-US" dirty="0"/>
          </a:p>
        </p:txBody>
      </p:sp>
      <p:sp>
        <p:nvSpPr>
          <p:cNvPr id="5" name="TextBox 4">
            <a:extLst>
              <a:ext uri="{FF2B5EF4-FFF2-40B4-BE49-F238E27FC236}">
                <a16:creationId xmlns:a16="http://schemas.microsoft.com/office/drawing/2014/main" id="{FC98E44E-8D8E-AA0A-4859-36A8E80D2FD8}"/>
              </a:ext>
            </a:extLst>
          </p:cNvPr>
          <p:cNvSpPr txBox="1"/>
          <p:nvPr/>
        </p:nvSpPr>
        <p:spPr>
          <a:xfrm>
            <a:off x="237068" y="2033664"/>
            <a:ext cx="8735044" cy="3416063"/>
          </a:xfrm>
          <a:prstGeom prst="rect">
            <a:avLst/>
          </a:prstGeom>
          <a:noFill/>
        </p:spPr>
        <p:txBody>
          <a:bodyPr wrap="square">
            <a:spAutoFit/>
          </a:bodyPr>
          <a:lstStyle/>
          <a:p>
            <a:pPr marL="219075" indent="-219075" defTabSz="685800">
              <a:lnSpc>
                <a:spcPct val="85000"/>
              </a:lnSpc>
              <a:spcBef>
                <a:spcPct val="20000"/>
              </a:spcBef>
              <a:buClr>
                <a:srgbClr val="000099"/>
              </a:buClr>
              <a:buSzPct val="100000"/>
              <a:buFont typeface="Wingdings" charset="2"/>
              <a:buChar char="§"/>
              <a:defRPr/>
            </a:pPr>
            <a:r>
              <a:rPr lang="en-US" sz="2100" i="1" dirty="0">
                <a:solidFill>
                  <a:prstClr val="black"/>
                </a:solidFill>
                <a:latin typeface="Calibri" panose="020F0502020204030204"/>
              </a:rPr>
              <a:t>Recall:</a:t>
            </a:r>
            <a:r>
              <a:rPr lang="en-US" sz="2100" dirty="0">
                <a:solidFill>
                  <a:prstClr val="black"/>
                </a:solidFill>
                <a:latin typeface="Calibri" panose="020F0502020204030204"/>
              </a:rPr>
              <a:t> </a:t>
            </a:r>
            <a:r>
              <a:rPr lang="en-US" sz="2100" dirty="0">
                <a:solidFill>
                  <a:prstClr val="black"/>
                </a:solidFill>
                <a:latin typeface="Calibri" panose="020F0502020204030204"/>
                <a:ea typeface="ＭＳ Ｐゴシック" charset="0"/>
              </a:rPr>
              <a:t>when creating datagram to send into UDP socket, must specify</a:t>
            </a:r>
          </a:p>
          <a:p>
            <a:pPr marL="644129" lvl="1" indent="-179785" defTabSz="685800">
              <a:lnSpc>
                <a:spcPct val="85000"/>
              </a:lnSpc>
              <a:spcBef>
                <a:spcPct val="20000"/>
              </a:spcBef>
              <a:buClr>
                <a:srgbClr val="000099"/>
              </a:buClr>
              <a:buFont typeface="Arial"/>
              <a:buChar char="•"/>
              <a:defRPr/>
            </a:pPr>
            <a:r>
              <a:rPr lang="en-US" sz="2100" dirty="0">
                <a:solidFill>
                  <a:prstClr val="black"/>
                </a:solidFill>
                <a:latin typeface="Calibri" panose="020F0502020204030204"/>
                <a:ea typeface="ＭＳ Ｐゴシック" charset="0"/>
              </a:rPr>
              <a:t>destination IP address</a:t>
            </a:r>
          </a:p>
          <a:p>
            <a:pPr marL="644129" lvl="1" indent="-179785" defTabSz="685800">
              <a:lnSpc>
                <a:spcPct val="85000"/>
              </a:lnSpc>
              <a:spcBef>
                <a:spcPct val="20000"/>
              </a:spcBef>
              <a:buClr>
                <a:srgbClr val="000099"/>
              </a:buClr>
              <a:buFont typeface="Arial"/>
              <a:buChar char="•"/>
              <a:defRPr/>
            </a:pPr>
            <a:r>
              <a:rPr lang="en-US" sz="2100" dirty="0">
                <a:solidFill>
                  <a:prstClr val="black"/>
                </a:solidFill>
                <a:latin typeface="Calibri" panose="020F0502020204030204"/>
                <a:ea typeface="ＭＳ Ｐゴシック" charset="0"/>
              </a:rPr>
              <a:t>destination port #</a:t>
            </a:r>
          </a:p>
          <a:p>
            <a:pPr defTabSz="685800">
              <a:defRPr/>
            </a:pPr>
            <a:endParaRPr lang="en-US" sz="2100" dirty="0">
              <a:solidFill>
                <a:prstClr val="black"/>
              </a:solidFill>
              <a:latin typeface="Calibri" panose="020F0502020204030204"/>
            </a:endParaRPr>
          </a:p>
          <a:p>
            <a:pPr defTabSz="685800">
              <a:defRPr/>
            </a:pPr>
            <a:r>
              <a:rPr lang="en-US" sz="2100" dirty="0"/>
              <a:t>Connectionless demultiplexing: </a:t>
            </a:r>
            <a:r>
              <a:rPr lang="en-US" sz="2100" dirty="0">
                <a:solidFill>
                  <a:prstClr val="black"/>
                </a:solidFill>
                <a:latin typeface="Calibri" panose="020F0502020204030204"/>
                <a:ea typeface="ＭＳ Ｐゴシック" charset="0"/>
              </a:rPr>
              <a:t>IP/UDP datagrams with </a:t>
            </a:r>
            <a:r>
              <a:rPr lang="en-US" sz="2100" i="1" dirty="0">
                <a:solidFill>
                  <a:srgbClr val="CC0000"/>
                </a:solidFill>
                <a:latin typeface="Calibri" panose="020F0502020204030204"/>
                <a:ea typeface="ＭＳ Ｐゴシック" charset="0"/>
              </a:rPr>
              <a:t>same </a:t>
            </a:r>
            <a:r>
              <a:rPr lang="en-US" sz="2100" i="1" dirty="0" err="1">
                <a:solidFill>
                  <a:srgbClr val="CC0000"/>
                </a:solidFill>
                <a:latin typeface="Calibri" panose="020F0502020204030204"/>
                <a:ea typeface="ＭＳ Ｐゴシック" charset="0"/>
              </a:rPr>
              <a:t>dest</a:t>
            </a:r>
            <a:r>
              <a:rPr lang="en-US" sz="2100" i="1" dirty="0">
                <a:solidFill>
                  <a:srgbClr val="CC0000"/>
                </a:solidFill>
                <a:latin typeface="Calibri" panose="020F0502020204030204"/>
                <a:ea typeface="ＭＳ Ｐゴシック" charset="0"/>
              </a:rPr>
              <a:t>. port #,</a:t>
            </a:r>
            <a:r>
              <a:rPr lang="en-US" sz="2100" dirty="0">
                <a:solidFill>
                  <a:prstClr val="black"/>
                </a:solidFill>
                <a:latin typeface="Calibri" panose="020F0502020204030204"/>
                <a:ea typeface="ＭＳ Ｐゴシック" charset="0"/>
              </a:rPr>
              <a:t> but different source IP addresses and/or source port numbers will be directed to </a:t>
            </a:r>
            <a:r>
              <a:rPr lang="en-US" sz="2100" i="1" dirty="0">
                <a:solidFill>
                  <a:srgbClr val="CC0000"/>
                </a:solidFill>
                <a:latin typeface="Calibri" panose="020F0502020204030204"/>
                <a:ea typeface="ＭＳ Ｐゴシック" charset="0"/>
              </a:rPr>
              <a:t>same socket </a:t>
            </a:r>
            <a:r>
              <a:rPr lang="en-US" sz="2100" dirty="0">
                <a:solidFill>
                  <a:prstClr val="black"/>
                </a:solidFill>
                <a:latin typeface="Calibri" panose="020F0502020204030204"/>
                <a:ea typeface="ＭＳ Ｐゴシック" charset="0"/>
              </a:rPr>
              <a:t>at receiving host</a:t>
            </a:r>
          </a:p>
          <a:p>
            <a:pPr marL="97631" defTabSz="685800">
              <a:lnSpc>
                <a:spcPct val="90000"/>
              </a:lnSpc>
              <a:spcBef>
                <a:spcPts val="750"/>
              </a:spcBef>
              <a:buClr>
                <a:srgbClr val="0000A3"/>
              </a:buClr>
              <a:defRPr/>
            </a:pPr>
            <a:r>
              <a:rPr lang="en-US" sz="2100" dirty="0">
                <a:solidFill>
                  <a:prstClr val="black"/>
                </a:solidFill>
                <a:latin typeface="Calibri" panose="020F0502020204030204"/>
              </a:rPr>
              <a:t>when receiving host receives </a:t>
            </a:r>
            <a:r>
              <a:rPr lang="en-US" sz="2100" i="1" dirty="0">
                <a:solidFill>
                  <a:prstClr val="black"/>
                </a:solidFill>
                <a:latin typeface="Calibri" panose="020F0502020204030204"/>
              </a:rPr>
              <a:t>UDP </a:t>
            </a:r>
            <a:r>
              <a:rPr lang="en-US" sz="2100" dirty="0">
                <a:solidFill>
                  <a:prstClr val="black"/>
                </a:solidFill>
                <a:latin typeface="Calibri" panose="020F0502020204030204"/>
              </a:rPr>
              <a:t>segment:</a:t>
            </a:r>
          </a:p>
          <a:p>
            <a:pPr marL="521494" lvl="1" indent="-173831" defTabSz="685800">
              <a:lnSpc>
                <a:spcPct val="90000"/>
              </a:lnSpc>
              <a:spcBef>
                <a:spcPts val="375"/>
              </a:spcBef>
              <a:buClr>
                <a:srgbClr val="0000A8"/>
              </a:buClr>
              <a:buFont typeface="Arial"/>
              <a:buChar char="•"/>
              <a:defRPr/>
            </a:pPr>
            <a:r>
              <a:rPr lang="en-US" sz="2100" dirty="0">
                <a:solidFill>
                  <a:prstClr val="black"/>
                </a:solidFill>
                <a:latin typeface="Calibri" panose="020F0502020204030204"/>
              </a:rPr>
              <a:t>checks destination port # in segment</a:t>
            </a:r>
          </a:p>
          <a:p>
            <a:pPr marL="521494" lvl="1" indent="-173831" defTabSz="685800">
              <a:lnSpc>
                <a:spcPct val="90000"/>
              </a:lnSpc>
              <a:spcBef>
                <a:spcPts val="375"/>
              </a:spcBef>
              <a:buClr>
                <a:srgbClr val="0000A8"/>
              </a:buClr>
              <a:buFont typeface="Arial"/>
              <a:buChar char="•"/>
              <a:defRPr/>
            </a:pPr>
            <a:r>
              <a:rPr lang="en-US" sz="2100" dirty="0">
                <a:solidFill>
                  <a:prstClr val="black"/>
                </a:solidFill>
                <a:latin typeface="Calibri" panose="020F0502020204030204"/>
              </a:rPr>
              <a:t>directs UDP segment to socket with that port #</a:t>
            </a:r>
          </a:p>
        </p:txBody>
      </p:sp>
    </p:spTree>
    <p:extLst>
      <p:ext uri="{BB962C8B-B14F-4D97-AF65-F5344CB8AC3E}">
        <p14:creationId xmlns:p14="http://schemas.microsoft.com/office/powerpoint/2010/main" val="1538930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dirty="0"/>
              <a:t>Connectionless demultiplexing: an example</a:t>
            </a:r>
          </a:p>
        </p:txBody>
      </p:sp>
      <p:sp>
        <p:nvSpPr>
          <p:cNvPr id="139" name="Freeform 89">
            <a:extLst>
              <a:ext uri="{FF2B5EF4-FFF2-40B4-BE49-F238E27FC236}">
                <a16:creationId xmlns:a16="http://schemas.microsoft.com/office/drawing/2014/main" id="{28FDDD2F-FD14-B643-A369-43EE4030BEDB}"/>
              </a:ext>
            </a:extLst>
          </p:cNvPr>
          <p:cNvSpPr>
            <a:spLocks/>
          </p:cNvSpPr>
          <p:nvPr/>
        </p:nvSpPr>
        <p:spPr bwMode="auto">
          <a:xfrm>
            <a:off x="3599854" y="2734436"/>
            <a:ext cx="414338" cy="15621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40" name="Freeform 97">
            <a:extLst>
              <a:ext uri="{FF2B5EF4-FFF2-40B4-BE49-F238E27FC236}">
                <a16:creationId xmlns:a16="http://schemas.microsoft.com/office/drawing/2014/main" id="{64DF8D3E-75B9-8F40-BCD6-78530C047B4F}"/>
              </a:ext>
            </a:extLst>
          </p:cNvPr>
          <p:cNvSpPr>
            <a:spLocks/>
          </p:cNvSpPr>
          <p:nvPr/>
        </p:nvSpPr>
        <p:spPr bwMode="auto">
          <a:xfrm>
            <a:off x="1511499" y="2963036"/>
            <a:ext cx="345281" cy="1645444"/>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41" name="Rectangle 23">
            <a:extLst>
              <a:ext uri="{FF2B5EF4-FFF2-40B4-BE49-F238E27FC236}">
                <a16:creationId xmlns:a16="http://schemas.microsoft.com/office/drawing/2014/main" id="{17E6F561-D2E2-784F-818C-D83319DE8316}"/>
              </a:ext>
            </a:extLst>
          </p:cNvPr>
          <p:cNvSpPr>
            <a:spLocks noChangeArrowheads="1"/>
          </p:cNvSpPr>
          <p:nvPr/>
        </p:nvSpPr>
        <p:spPr bwMode="auto">
          <a:xfrm>
            <a:off x="1890118" y="2938032"/>
            <a:ext cx="972740" cy="14859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142" name="Rectangle 24">
            <a:extLst>
              <a:ext uri="{FF2B5EF4-FFF2-40B4-BE49-F238E27FC236}">
                <a16:creationId xmlns:a16="http://schemas.microsoft.com/office/drawing/2014/main" id="{F331F96E-BFA3-B949-B96F-DCA5E9AF3F44}"/>
              </a:ext>
            </a:extLst>
          </p:cNvPr>
          <p:cNvSpPr>
            <a:spLocks noChangeArrowheads="1"/>
          </p:cNvSpPr>
          <p:nvPr/>
        </p:nvSpPr>
        <p:spPr bwMode="auto">
          <a:xfrm>
            <a:off x="1861543" y="2978514"/>
            <a:ext cx="954881" cy="1484710"/>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143" name="Line 25">
            <a:extLst>
              <a:ext uri="{FF2B5EF4-FFF2-40B4-BE49-F238E27FC236}">
                <a16:creationId xmlns:a16="http://schemas.microsoft.com/office/drawing/2014/main" id="{2EFF90D8-8133-E042-BB15-B540A8DAEE38}"/>
              </a:ext>
            </a:extLst>
          </p:cNvPr>
          <p:cNvSpPr>
            <a:spLocks noChangeShapeType="1"/>
          </p:cNvSpPr>
          <p:nvPr/>
        </p:nvSpPr>
        <p:spPr bwMode="auto">
          <a:xfrm>
            <a:off x="1868686" y="3548824"/>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44" name="Text Box 26">
            <a:extLst>
              <a:ext uri="{FF2B5EF4-FFF2-40B4-BE49-F238E27FC236}">
                <a16:creationId xmlns:a16="http://schemas.microsoft.com/office/drawing/2014/main" id="{53A1C5C8-02A4-B440-B555-BBEB69595759}"/>
              </a:ext>
            </a:extLst>
          </p:cNvPr>
          <p:cNvSpPr txBox="1">
            <a:spLocks noChangeArrowheads="1"/>
          </p:cNvSpPr>
          <p:nvPr/>
        </p:nvSpPr>
        <p:spPr bwMode="auto">
          <a:xfrm>
            <a:off x="1836539" y="3535726"/>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145" name="Line 27">
            <a:extLst>
              <a:ext uri="{FF2B5EF4-FFF2-40B4-BE49-F238E27FC236}">
                <a16:creationId xmlns:a16="http://schemas.microsoft.com/office/drawing/2014/main" id="{E1E8AAE6-A7CD-924F-8779-9257D875BE82}"/>
              </a:ext>
            </a:extLst>
          </p:cNvPr>
          <p:cNvSpPr>
            <a:spLocks noChangeShapeType="1"/>
          </p:cNvSpPr>
          <p:nvPr/>
        </p:nvSpPr>
        <p:spPr bwMode="auto">
          <a:xfrm>
            <a:off x="1874638" y="3789330"/>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46" name="Line 28">
            <a:extLst>
              <a:ext uri="{FF2B5EF4-FFF2-40B4-BE49-F238E27FC236}">
                <a16:creationId xmlns:a16="http://schemas.microsoft.com/office/drawing/2014/main" id="{CA7EEA54-B56E-2B48-9F82-BCDEC7D39BF8}"/>
              </a:ext>
            </a:extLst>
          </p:cNvPr>
          <p:cNvSpPr>
            <a:spLocks noChangeShapeType="1"/>
          </p:cNvSpPr>
          <p:nvPr/>
        </p:nvSpPr>
        <p:spPr bwMode="auto">
          <a:xfrm>
            <a:off x="1863923" y="4021501"/>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47" name="Line 29">
            <a:extLst>
              <a:ext uri="{FF2B5EF4-FFF2-40B4-BE49-F238E27FC236}">
                <a16:creationId xmlns:a16="http://schemas.microsoft.com/office/drawing/2014/main" id="{73328B79-CBD4-B041-B159-E3286EADBC62}"/>
              </a:ext>
            </a:extLst>
          </p:cNvPr>
          <p:cNvSpPr>
            <a:spLocks noChangeShapeType="1"/>
          </p:cNvSpPr>
          <p:nvPr/>
        </p:nvSpPr>
        <p:spPr bwMode="auto">
          <a:xfrm>
            <a:off x="1863923" y="4235814"/>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48" name="Text Box 26">
            <a:extLst>
              <a:ext uri="{FF2B5EF4-FFF2-40B4-BE49-F238E27FC236}">
                <a16:creationId xmlns:a16="http://schemas.microsoft.com/office/drawing/2014/main" id="{3062900D-4135-244C-9B1F-EE7CC03B0254}"/>
              </a:ext>
            </a:extLst>
          </p:cNvPr>
          <p:cNvSpPr txBox="1">
            <a:spLocks noChangeArrowheads="1"/>
          </p:cNvSpPr>
          <p:nvPr/>
        </p:nvSpPr>
        <p:spPr bwMode="auto">
          <a:xfrm>
            <a:off x="1862733" y="2971369"/>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149" name="Text Box 26">
            <a:extLst>
              <a:ext uri="{FF2B5EF4-FFF2-40B4-BE49-F238E27FC236}">
                <a16:creationId xmlns:a16="http://schemas.microsoft.com/office/drawing/2014/main" id="{F09CC3DB-2FE1-524D-8CDC-16023843D213}"/>
              </a:ext>
            </a:extLst>
          </p:cNvPr>
          <p:cNvSpPr txBox="1">
            <a:spLocks noChangeArrowheads="1"/>
          </p:cNvSpPr>
          <p:nvPr/>
        </p:nvSpPr>
        <p:spPr bwMode="auto">
          <a:xfrm>
            <a:off x="1829395" y="4214382"/>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150" name="Text Box 26">
            <a:extLst>
              <a:ext uri="{FF2B5EF4-FFF2-40B4-BE49-F238E27FC236}">
                <a16:creationId xmlns:a16="http://schemas.microsoft.com/office/drawing/2014/main" id="{11BEC4C2-90AF-3642-B6AA-A63B2A81DFAF}"/>
              </a:ext>
            </a:extLst>
          </p:cNvPr>
          <p:cNvSpPr txBox="1">
            <a:spLocks noChangeArrowheads="1"/>
          </p:cNvSpPr>
          <p:nvPr/>
        </p:nvSpPr>
        <p:spPr bwMode="auto">
          <a:xfrm>
            <a:off x="1843683" y="4000069"/>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151" name="Text Box 26">
            <a:extLst>
              <a:ext uri="{FF2B5EF4-FFF2-40B4-BE49-F238E27FC236}">
                <a16:creationId xmlns:a16="http://schemas.microsoft.com/office/drawing/2014/main" id="{0727B177-EE8F-9E43-B808-DF3EFBDC0328}"/>
              </a:ext>
            </a:extLst>
          </p:cNvPr>
          <p:cNvSpPr txBox="1">
            <a:spLocks noChangeArrowheads="1"/>
          </p:cNvSpPr>
          <p:nvPr/>
        </p:nvSpPr>
        <p:spPr bwMode="auto">
          <a:xfrm>
            <a:off x="1836539" y="3778613"/>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152" name="Oval 110">
            <a:extLst>
              <a:ext uri="{FF2B5EF4-FFF2-40B4-BE49-F238E27FC236}">
                <a16:creationId xmlns:a16="http://schemas.microsoft.com/office/drawing/2014/main" id="{4FA9CEB5-639E-E640-8612-6A0B009F2759}"/>
              </a:ext>
            </a:extLst>
          </p:cNvPr>
          <p:cNvSpPr>
            <a:spLocks noChangeArrowheads="1"/>
          </p:cNvSpPr>
          <p:nvPr/>
        </p:nvSpPr>
        <p:spPr bwMode="auto">
          <a:xfrm>
            <a:off x="2113955" y="3185682"/>
            <a:ext cx="448865"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a:solidFill>
                  <a:srgbClr val="000000"/>
                </a:solidFill>
                <a:latin typeface="Arial" charset="0"/>
                <a:ea typeface="ＭＳ Ｐゴシック" charset="0"/>
              </a:rPr>
              <a:t>P3</a:t>
            </a:r>
          </a:p>
        </p:txBody>
      </p:sp>
      <p:grpSp>
        <p:nvGrpSpPr>
          <p:cNvPr id="153" name="Group 111">
            <a:extLst>
              <a:ext uri="{FF2B5EF4-FFF2-40B4-BE49-F238E27FC236}">
                <a16:creationId xmlns:a16="http://schemas.microsoft.com/office/drawing/2014/main" id="{2D14C00E-16C9-D747-9CCE-229E757B8227}"/>
              </a:ext>
            </a:extLst>
          </p:cNvPr>
          <p:cNvGrpSpPr>
            <a:grpSpLocks/>
          </p:cNvGrpSpPr>
          <p:nvPr/>
        </p:nvGrpSpPr>
        <p:grpSpPr bwMode="auto">
          <a:xfrm>
            <a:off x="2090142" y="3428570"/>
            <a:ext cx="465534" cy="171450"/>
            <a:chOff x="1287" y="2524"/>
            <a:chExt cx="260" cy="100"/>
          </a:xfrm>
        </p:grpSpPr>
        <p:sp>
          <p:nvSpPr>
            <p:cNvPr id="154" name="Rectangle 112">
              <a:extLst>
                <a:ext uri="{FF2B5EF4-FFF2-40B4-BE49-F238E27FC236}">
                  <a16:creationId xmlns:a16="http://schemas.microsoft.com/office/drawing/2014/main" id="{3540F8E1-1FDC-E24A-98FB-7869060F66B9}"/>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55" name="Rectangle 113">
              <a:extLst>
                <a:ext uri="{FF2B5EF4-FFF2-40B4-BE49-F238E27FC236}">
                  <a16:creationId xmlns:a16="http://schemas.microsoft.com/office/drawing/2014/main" id="{054ED091-B9B7-3540-A7FD-87F3C3C14D7F}"/>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56" name="Rectangle 114">
              <a:extLst>
                <a:ext uri="{FF2B5EF4-FFF2-40B4-BE49-F238E27FC236}">
                  <a16:creationId xmlns:a16="http://schemas.microsoft.com/office/drawing/2014/main" id="{380957E5-07F4-134E-B56E-1EC9D1C841A1}"/>
                </a:ext>
              </a:extLst>
            </p:cNvPr>
            <p:cNvSpPr>
              <a:spLocks noChangeArrowheads="1"/>
            </p:cNvSpPr>
            <p:nvPr/>
          </p:nvSpPr>
          <p:spPr bwMode="auto">
            <a:xfrm>
              <a:off x="1503" y="2582"/>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57" name="Rectangle 115">
              <a:extLst>
                <a:ext uri="{FF2B5EF4-FFF2-40B4-BE49-F238E27FC236}">
                  <a16:creationId xmlns:a16="http://schemas.microsoft.com/office/drawing/2014/main" id="{35B79E71-94E3-544D-ADB2-B31B6EA8EC32}"/>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158" name="Rectangle 23">
            <a:extLst>
              <a:ext uri="{FF2B5EF4-FFF2-40B4-BE49-F238E27FC236}">
                <a16:creationId xmlns:a16="http://schemas.microsoft.com/office/drawing/2014/main" id="{4CF23822-9D9B-0E42-93CC-6BA8EA8935C9}"/>
              </a:ext>
            </a:extLst>
          </p:cNvPr>
          <p:cNvSpPr>
            <a:spLocks noChangeArrowheads="1"/>
          </p:cNvSpPr>
          <p:nvPr/>
        </p:nvSpPr>
        <p:spPr bwMode="auto">
          <a:xfrm>
            <a:off x="4010620" y="2763011"/>
            <a:ext cx="1122760" cy="14859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159" name="Rectangle 24">
            <a:extLst>
              <a:ext uri="{FF2B5EF4-FFF2-40B4-BE49-F238E27FC236}">
                <a16:creationId xmlns:a16="http://schemas.microsoft.com/office/drawing/2014/main" id="{043A00F1-55AA-3943-A4DB-B6F911EC93DC}"/>
              </a:ext>
            </a:extLst>
          </p:cNvPr>
          <p:cNvSpPr>
            <a:spLocks noChangeArrowheads="1"/>
          </p:cNvSpPr>
          <p:nvPr/>
        </p:nvSpPr>
        <p:spPr bwMode="auto">
          <a:xfrm>
            <a:off x="3984426" y="2803492"/>
            <a:ext cx="1104900" cy="1484709"/>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160" name="Line 25">
            <a:extLst>
              <a:ext uri="{FF2B5EF4-FFF2-40B4-BE49-F238E27FC236}">
                <a16:creationId xmlns:a16="http://schemas.microsoft.com/office/drawing/2014/main" id="{97882FBC-8DAC-564D-B4C8-8B618C94ED21}"/>
              </a:ext>
            </a:extLst>
          </p:cNvPr>
          <p:cNvSpPr>
            <a:spLocks noChangeShapeType="1"/>
          </p:cNvSpPr>
          <p:nvPr/>
        </p:nvSpPr>
        <p:spPr bwMode="auto">
          <a:xfrm>
            <a:off x="3989189" y="3380945"/>
            <a:ext cx="1095375"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61" name="Text Box 26">
            <a:extLst>
              <a:ext uri="{FF2B5EF4-FFF2-40B4-BE49-F238E27FC236}">
                <a16:creationId xmlns:a16="http://schemas.microsoft.com/office/drawing/2014/main" id="{6533FADA-08A6-274F-99DA-B76CD13186B6}"/>
              </a:ext>
            </a:extLst>
          </p:cNvPr>
          <p:cNvSpPr txBox="1">
            <a:spLocks noChangeArrowheads="1"/>
          </p:cNvSpPr>
          <p:nvPr/>
        </p:nvSpPr>
        <p:spPr bwMode="auto">
          <a:xfrm>
            <a:off x="4042767" y="3367848"/>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162" name="Line 27">
            <a:extLst>
              <a:ext uri="{FF2B5EF4-FFF2-40B4-BE49-F238E27FC236}">
                <a16:creationId xmlns:a16="http://schemas.microsoft.com/office/drawing/2014/main" id="{59739078-AC3B-BB43-A01C-5156C6AC1069}"/>
              </a:ext>
            </a:extLst>
          </p:cNvPr>
          <p:cNvSpPr>
            <a:spLocks noChangeShapeType="1"/>
          </p:cNvSpPr>
          <p:nvPr/>
        </p:nvSpPr>
        <p:spPr bwMode="auto">
          <a:xfrm>
            <a:off x="3990380" y="3619070"/>
            <a:ext cx="1092994"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63" name="Text Box 26">
            <a:extLst>
              <a:ext uri="{FF2B5EF4-FFF2-40B4-BE49-F238E27FC236}">
                <a16:creationId xmlns:a16="http://schemas.microsoft.com/office/drawing/2014/main" id="{78720604-E3E1-AA4C-8564-8B884DC18870}"/>
              </a:ext>
            </a:extLst>
          </p:cNvPr>
          <p:cNvSpPr txBox="1">
            <a:spLocks noChangeArrowheads="1"/>
          </p:cNvSpPr>
          <p:nvPr/>
        </p:nvSpPr>
        <p:spPr bwMode="auto">
          <a:xfrm>
            <a:off x="4040386" y="2778488"/>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164" name="Text Box 26">
            <a:extLst>
              <a:ext uri="{FF2B5EF4-FFF2-40B4-BE49-F238E27FC236}">
                <a16:creationId xmlns:a16="http://schemas.microsoft.com/office/drawing/2014/main" id="{0FE55F8B-E56B-8B4C-8A35-D5894CB5AA54}"/>
              </a:ext>
            </a:extLst>
          </p:cNvPr>
          <p:cNvSpPr txBox="1">
            <a:spLocks noChangeArrowheads="1"/>
          </p:cNvSpPr>
          <p:nvPr/>
        </p:nvSpPr>
        <p:spPr bwMode="auto">
          <a:xfrm>
            <a:off x="4038005" y="4046504"/>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165" name="Text Box 26">
            <a:extLst>
              <a:ext uri="{FF2B5EF4-FFF2-40B4-BE49-F238E27FC236}">
                <a16:creationId xmlns:a16="http://schemas.microsoft.com/office/drawing/2014/main" id="{3CBEC5FD-FC48-0B44-A978-2775A463A9BB}"/>
              </a:ext>
            </a:extLst>
          </p:cNvPr>
          <p:cNvSpPr txBox="1">
            <a:spLocks noChangeArrowheads="1"/>
          </p:cNvSpPr>
          <p:nvPr/>
        </p:nvSpPr>
        <p:spPr bwMode="auto">
          <a:xfrm>
            <a:off x="4038005" y="3832192"/>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166" name="Text Box 26">
            <a:extLst>
              <a:ext uri="{FF2B5EF4-FFF2-40B4-BE49-F238E27FC236}">
                <a16:creationId xmlns:a16="http://schemas.microsoft.com/office/drawing/2014/main" id="{36939330-E1D8-DD43-8326-8E30CD151A67}"/>
              </a:ext>
            </a:extLst>
          </p:cNvPr>
          <p:cNvSpPr txBox="1">
            <a:spLocks noChangeArrowheads="1"/>
          </p:cNvSpPr>
          <p:nvPr/>
        </p:nvSpPr>
        <p:spPr bwMode="auto">
          <a:xfrm>
            <a:off x="4038005" y="3608354"/>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167" name="Line 27">
            <a:extLst>
              <a:ext uri="{FF2B5EF4-FFF2-40B4-BE49-F238E27FC236}">
                <a16:creationId xmlns:a16="http://schemas.microsoft.com/office/drawing/2014/main" id="{8F676BB3-CB93-FC44-95E3-71A593E11393}"/>
              </a:ext>
            </a:extLst>
          </p:cNvPr>
          <p:cNvSpPr>
            <a:spLocks noChangeShapeType="1"/>
          </p:cNvSpPr>
          <p:nvPr/>
        </p:nvSpPr>
        <p:spPr bwMode="auto">
          <a:xfrm>
            <a:off x="3987999" y="3852432"/>
            <a:ext cx="1092994"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68" name="Line 27">
            <a:extLst>
              <a:ext uri="{FF2B5EF4-FFF2-40B4-BE49-F238E27FC236}">
                <a16:creationId xmlns:a16="http://schemas.microsoft.com/office/drawing/2014/main" id="{3257C166-E64A-3645-B552-FD16B4D71AEB}"/>
              </a:ext>
            </a:extLst>
          </p:cNvPr>
          <p:cNvSpPr>
            <a:spLocks noChangeShapeType="1"/>
          </p:cNvSpPr>
          <p:nvPr/>
        </p:nvSpPr>
        <p:spPr bwMode="auto">
          <a:xfrm>
            <a:off x="3985617" y="4076270"/>
            <a:ext cx="1092994" cy="0"/>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69" name="Oval 128">
            <a:extLst>
              <a:ext uri="{FF2B5EF4-FFF2-40B4-BE49-F238E27FC236}">
                <a16:creationId xmlns:a16="http://schemas.microsoft.com/office/drawing/2014/main" id="{65AB5E7C-E09E-3141-92D4-FB563873BAA1}"/>
              </a:ext>
            </a:extLst>
          </p:cNvPr>
          <p:cNvSpPr>
            <a:spLocks noChangeArrowheads="1"/>
          </p:cNvSpPr>
          <p:nvPr/>
        </p:nvSpPr>
        <p:spPr bwMode="auto">
          <a:xfrm>
            <a:off x="4298751" y="3033282"/>
            <a:ext cx="448866"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P1</a:t>
            </a:r>
          </a:p>
        </p:txBody>
      </p:sp>
      <p:grpSp>
        <p:nvGrpSpPr>
          <p:cNvPr id="170" name="Group 134">
            <a:extLst>
              <a:ext uri="{FF2B5EF4-FFF2-40B4-BE49-F238E27FC236}">
                <a16:creationId xmlns:a16="http://schemas.microsoft.com/office/drawing/2014/main" id="{00BF5763-3E40-E147-ACE8-5ED526226DDB}"/>
              </a:ext>
            </a:extLst>
          </p:cNvPr>
          <p:cNvGrpSpPr>
            <a:grpSpLocks/>
          </p:cNvGrpSpPr>
          <p:nvPr/>
        </p:nvGrpSpPr>
        <p:grpSpPr bwMode="auto">
          <a:xfrm>
            <a:off x="4202311" y="3270217"/>
            <a:ext cx="665559" cy="171450"/>
            <a:chOff x="1383" y="2620"/>
            <a:chExt cx="260" cy="100"/>
          </a:xfrm>
        </p:grpSpPr>
        <p:sp>
          <p:nvSpPr>
            <p:cNvPr id="171" name="Rectangle 135">
              <a:extLst>
                <a:ext uri="{FF2B5EF4-FFF2-40B4-BE49-F238E27FC236}">
                  <a16:creationId xmlns:a16="http://schemas.microsoft.com/office/drawing/2014/main" id="{CDC340F8-E46E-7E41-8E35-64383D0A17F3}"/>
                </a:ext>
              </a:extLst>
            </p:cNvPr>
            <p:cNvSpPr>
              <a:spLocks noChangeArrowheads="1"/>
            </p:cNvSpPr>
            <p:nvPr/>
          </p:nvSpPr>
          <p:spPr bwMode="auto">
            <a:xfrm>
              <a:off x="1383" y="2620"/>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72" name="Rectangle 136">
              <a:extLst>
                <a:ext uri="{FF2B5EF4-FFF2-40B4-BE49-F238E27FC236}">
                  <a16:creationId xmlns:a16="http://schemas.microsoft.com/office/drawing/2014/main" id="{CEB2486C-9B9D-0C40-80F1-0DB2CBB3DFB8}"/>
                </a:ext>
              </a:extLst>
            </p:cNvPr>
            <p:cNvSpPr>
              <a:spLocks noChangeArrowheads="1"/>
            </p:cNvSpPr>
            <p:nvPr/>
          </p:nvSpPr>
          <p:spPr bwMode="auto">
            <a:xfrm>
              <a:off x="1434" y="2633"/>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73" name="Rectangle 137">
              <a:extLst>
                <a:ext uri="{FF2B5EF4-FFF2-40B4-BE49-F238E27FC236}">
                  <a16:creationId xmlns:a16="http://schemas.microsoft.com/office/drawing/2014/main" id="{1376AAC2-B46A-1E4A-9BBE-A4B572F451E5}"/>
                </a:ext>
              </a:extLst>
            </p:cNvPr>
            <p:cNvSpPr>
              <a:spLocks noChangeArrowheads="1"/>
            </p:cNvSpPr>
            <p:nvPr/>
          </p:nvSpPr>
          <p:spPr bwMode="auto">
            <a:xfrm>
              <a:off x="1599" y="2678"/>
              <a:ext cx="27" cy="2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74" name="Rectangle 138">
              <a:extLst>
                <a:ext uri="{FF2B5EF4-FFF2-40B4-BE49-F238E27FC236}">
                  <a16:creationId xmlns:a16="http://schemas.microsoft.com/office/drawing/2014/main" id="{D0F29441-9D82-0744-927B-FB9235C641D8}"/>
                </a:ext>
              </a:extLst>
            </p:cNvPr>
            <p:cNvSpPr>
              <a:spLocks noChangeArrowheads="1"/>
            </p:cNvSpPr>
            <p:nvPr/>
          </p:nvSpPr>
          <p:spPr bwMode="auto">
            <a:xfrm>
              <a:off x="1394" y="2679"/>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175" name="Rectangle 23">
            <a:extLst>
              <a:ext uri="{FF2B5EF4-FFF2-40B4-BE49-F238E27FC236}">
                <a16:creationId xmlns:a16="http://schemas.microsoft.com/office/drawing/2014/main" id="{5DBC5F7E-FBFE-9545-9C61-2B1EE876BE58}"/>
              </a:ext>
            </a:extLst>
          </p:cNvPr>
          <p:cNvSpPr>
            <a:spLocks noChangeArrowheads="1"/>
          </p:cNvSpPr>
          <p:nvPr/>
        </p:nvSpPr>
        <p:spPr bwMode="auto">
          <a:xfrm>
            <a:off x="6265664" y="2932079"/>
            <a:ext cx="972741" cy="14859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176" name="Rectangle 24">
            <a:extLst>
              <a:ext uri="{FF2B5EF4-FFF2-40B4-BE49-F238E27FC236}">
                <a16:creationId xmlns:a16="http://schemas.microsoft.com/office/drawing/2014/main" id="{7B52E473-BC4F-2546-8F23-4292A3FB8917}"/>
              </a:ext>
            </a:extLst>
          </p:cNvPr>
          <p:cNvSpPr>
            <a:spLocks noChangeArrowheads="1"/>
          </p:cNvSpPr>
          <p:nvPr/>
        </p:nvSpPr>
        <p:spPr bwMode="auto">
          <a:xfrm>
            <a:off x="6237089" y="2972561"/>
            <a:ext cx="954881" cy="1484709"/>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177" name="Line 25">
            <a:extLst>
              <a:ext uri="{FF2B5EF4-FFF2-40B4-BE49-F238E27FC236}">
                <a16:creationId xmlns:a16="http://schemas.microsoft.com/office/drawing/2014/main" id="{803956DE-2FA5-4140-9507-22E455660033}"/>
              </a:ext>
            </a:extLst>
          </p:cNvPr>
          <p:cNvSpPr>
            <a:spLocks noChangeShapeType="1"/>
          </p:cNvSpPr>
          <p:nvPr/>
        </p:nvSpPr>
        <p:spPr bwMode="auto">
          <a:xfrm>
            <a:off x="6244232" y="3542870"/>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78" name="Text Box 26">
            <a:extLst>
              <a:ext uri="{FF2B5EF4-FFF2-40B4-BE49-F238E27FC236}">
                <a16:creationId xmlns:a16="http://schemas.microsoft.com/office/drawing/2014/main" id="{47E3A0E5-1B3A-834F-8B2A-507EC67A3628}"/>
              </a:ext>
            </a:extLst>
          </p:cNvPr>
          <p:cNvSpPr txBox="1">
            <a:spLocks noChangeArrowheads="1"/>
          </p:cNvSpPr>
          <p:nvPr/>
        </p:nvSpPr>
        <p:spPr bwMode="auto">
          <a:xfrm>
            <a:off x="6212086" y="3529773"/>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179" name="Line 27">
            <a:extLst>
              <a:ext uri="{FF2B5EF4-FFF2-40B4-BE49-F238E27FC236}">
                <a16:creationId xmlns:a16="http://schemas.microsoft.com/office/drawing/2014/main" id="{24C8311A-F267-2B40-8506-DF30931D127F}"/>
              </a:ext>
            </a:extLst>
          </p:cNvPr>
          <p:cNvSpPr>
            <a:spLocks noChangeShapeType="1"/>
          </p:cNvSpPr>
          <p:nvPr/>
        </p:nvSpPr>
        <p:spPr bwMode="auto">
          <a:xfrm>
            <a:off x="6250186" y="3783376"/>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80" name="Line 28">
            <a:extLst>
              <a:ext uri="{FF2B5EF4-FFF2-40B4-BE49-F238E27FC236}">
                <a16:creationId xmlns:a16="http://schemas.microsoft.com/office/drawing/2014/main" id="{90B576E6-B5C3-E047-92FE-7535DC86865B}"/>
              </a:ext>
            </a:extLst>
          </p:cNvPr>
          <p:cNvSpPr>
            <a:spLocks noChangeShapeType="1"/>
          </p:cNvSpPr>
          <p:nvPr/>
        </p:nvSpPr>
        <p:spPr bwMode="auto">
          <a:xfrm>
            <a:off x="6239470" y="4015549"/>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81" name="Line 29">
            <a:extLst>
              <a:ext uri="{FF2B5EF4-FFF2-40B4-BE49-F238E27FC236}">
                <a16:creationId xmlns:a16="http://schemas.microsoft.com/office/drawing/2014/main" id="{DE510BC2-1C0A-3D45-B7F0-09B9A2AFDE5D}"/>
              </a:ext>
            </a:extLst>
          </p:cNvPr>
          <p:cNvSpPr>
            <a:spLocks noChangeShapeType="1"/>
          </p:cNvSpPr>
          <p:nvPr/>
        </p:nvSpPr>
        <p:spPr bwMode="auto">
          <a:xfrm>
            <a:off x="6239470" y="4229861"/>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182" name="Text Box 26">
            <a:extLst>
              <a:ext uri="{FF2B5EF4-FFF2-40B4-BE49-F238E27FC236}">
                <a16:creationId xmlns:a16="http://schemas.microsoft.com/office/drawing/2014/main" id="{DDAE1A42-ED4F-654B-87D0-169CF6BB1331}"/>
              </a:ext>
            </a:extLst>
          </p:cNvPr>
          <p:cNvSpPr txBox="1">
            <a:spLocks noChangeArrowheads="1"/>
          </p:cNvSpPr>
          <p:nvPr/>
        </p:nvSpPr>
        <p:spPr bwMode="auto">
          <a:xfrm>
            <a:off x="6238280" y="2965417"/>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183" name="Text Box 26">
            <a:extLst>
              <a:ext uri="{FF2B5EF4-FFF2-40B4-BE49-F238E27FC236}">
                <a16:creationId xmlns:a16="http://schemas.microsoft.com/office/drawing/2014/main" id="{7A014FEE-D35D-4D4E-A6F2-B759C9BE8A46}"/>
              </a:ext>
            </a:extLst>
          </p:cNvPr>
          <p:cNvSpPr txBox="1">
            <a:spLocks noChangeArrowheads="1"/>
          </p:cNvSpPr>
          <p:nvPr/>
        </p:nvSpPr>
        <p:spPr bwMode="auto">
          <a:xfrm>
            <a:off x="6204942" y="4208429"/>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184" name="Text Box 26">
            <a:extLst>
              <a:ext uri="{FF2B5EF4-FFF2-40B4-BE49-F238E27FC236}">
                <a16:creationId xmlns:a16="http://schemas.microsoft.com/office/drawing/2014/main" id="{7B48DF71-7962-E445-ACB0-EE3318149C71}"/>
              </a:ext>
            </a:extLst>
          </p:cNvPr>
          <p:cNvSpPr txBox="1">
            <a:spLocks noChangeArrowheads="1"/>
          </p:cNvSpPr>
          <p:nvPr/>
        </p:nvSpPr>
        <p:spPr bwMode="auto">
          <a:xfrm>
            <a:off x="6219230" y="3994117"/>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185" name="Text Box 26">
            <a:extLst>
              <a:ext uri="{FF2B5EF4-FFF2-40B4-BE49-F238E27FC236}">
                <a16:creationId xmlns:a16="http://schemas.microsoft.com/office/drawing/2014/main" id="{35F89933-4707-5D4A-921A-EC7B51E40D15}"/>
              </a:ext>
            </a:extLst>
          </p:cNvPr>
          <p:cNvSpPr txBox="1">
            <a:spLocks noChangeArrowheads="1"/>
          </p:cNvSpPr>
          <p:nvPr/>
        </p:nvSpPr>
        <p:spPr bwMode="auto">
          <a:xfrm>
            <a:off x="6212086" y="3772660"/>
            <a:ext cx="988219" cy="2532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186" name="Oval 153">
            <a:extLst>
              <a:ext uri="{FF2B5EF4-FFF2-40B4-BE49-F238E27FC236}">
                <a16:creationId xmlns:a16="http://schemas.microsoft.com/office/drawing/2014/main" id="{215E7B91-C0B7-B74C-B6E7-B5818A2553F2}"/>
              </a:ext>
            </a:extLst>
          </p:cNvPr>
          <p:cNvSpPr>
            <a:spLocks noChangeArrowheads="1"/>
          </p:cNvSpPr>
          <p:nvPr/>
        </p:nvSpPr>
        <p:spPr bwMode="auto">
          <a:xfrm>
            <a:off x="6489501" y="3196398"/>
            <a:ext cx="448866" cy="2286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a:solidFill>
                  <a:srgbClr val="000000"/>
                </a:solidFill>
                <a:latin typeface="Arial" charset="0"/>
                <a:ea typeface="ＭＳ Ｐゴシック" charset="0"/>
              </a:rPr>
              <a:t>P4</a:t>
            </a:r>
          </a:p>
        </p:txBody>
      </p:sp>
      <p:sp>
        <p:nvSpPr>
          <p:cNvPr id="187" name="Freeform 154">
            <a:extLst>
              <a:ext uri="{FF2B5EF4-FFF2-40B4-BE49-F238E27FC236}">
                <a16:creationId xmlns:a16="http://schemas.microsoft.com/office/drawing/2014/main" id="{3380745A-BF26-D24C-8ACE-76BF4A51F666}"/>
              </a:ext>
            </a:extLst>
          </p:cNvPr>
          <p:cNvSpPr>
            <a:spLocks/>
          </p:cNvSpPr>
          <p:nvPr/>
        </p:nvSpPr>
        <p:spPr bwMode="auto">
          <a:xfrm>
            <a:off x="7209830" y="2947557"/>
            <a:ext cx="378619" cy="16002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nvGrpSpPr>
          <p:cNvPr id="188" name="Group 156">
            <a:extLst>
              <a:ext uri="{FF2B5EF4-FFF2-40B4-BE49-F238E27FC236}">
                <a16:creationId xmlns:a16="http://schemas.microsoft.com/office/drawing/2014/main" id="{4260C82D-FA4B-EA40-B99D-03E56D50D1BA}"/>
              </a:ext>
            </a:extLst>
          </p:cNvPr>
          <p:cNvGrpSpPr>
            <a:grpSpLocks/>
          </p:cNvGrpSpPr>
          <p:nvPr/>
        </p:nvGrpSpPr>
        <p:grpSpPr bwMode="auto">
          <a:xfrm>
            <a:off x="6484739" y="3445238"/>
            <a:ext cx="465535" cy="153591"/>
            <a:chOff x="1287" y="2524"/>
            <a:chExt cx="260" cy="100"/>
          </a:xfrm>
        </p:grpSpPr>
        <p:sp>
          <p:nvSpPr>
            <p:cNvPr id="189" name="Rectangle 157">
              <a:extLst>
                <a:ext uri="{FF2B5EF4-FFF2-40B4-BE49-F238E27FC236}">
                  <a16:creationId xmlns:a16="http://schemas.microsoft.com/office/drawing/2014/main" id="{3C55969E-575D-4843-85A0-C9288C89A71A}"/>
                </a:ext>
              </a:extLst>
            </p:cNvPr>
            <p:cNvSpPr>
              <a:spLocks noChangeArrowheads="1"/>
            </p:cNvSpPr>
            <p:nvPr/>
          </p:nvSpPr>
          <p:spPr bwMode="auto">
            <a:xfrm>
              <a:off x="1287" y="2524"/>
              <a:ext cx="260" cy="1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90" name="Rectangle 158">
              <a:extLst>
                <a:ext uri="{FF2B5EF4-FFF2-40B4-BE49-F238E27FC236}">
                  <a16:creationId xmlns:a16="http://schemas.microsoft.com/office/drawing/2014/main" id="{1D81D694-BFCE-CD4C-8B46-411E3E05EFAC}"/>
                </a:ext>
              </a:extLst>
            </p:cNvPr>
            <p:cNvSpPr>
              <a:spLocks noChangeArrowheads="1"/>
            </p:cNvSpPr>
            <p:nvPr/>
          </p:nvSpPr>
          <p:spPr bwMode="auto">
            <a:xfrm>
              <a:off x="1338" y="2537"/>
              <a:ext cx="155" cy="7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91" name="Rectangle 159">
              <a:extLst>
                <a:ext uri="{FF2B5EF4-FFF2-40B4-BE49-F238E27FC236}">
                  <a16:creationId xmlns:a16="http://schemas.microsoft.com/office/drawing/2014/main" id="{1E24AC3B-00C1-CD43-B2CA-0A3FFEF53694}"/>
                </a:ext>
              </a:extLst>
            </p:cNvPr>
            <p:cNvSpPr>
              <a:spLocks noChangeArrowheads="1"/>
            </p:cNvSpPr>
            <p:nvPr/>
          </p:nvSpPr>
          <p:spPr bwMode="auto">
            <a:xfrm>
              <a:off x="1503" y="2582"/>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92" name="Rectangle 160">
              <a:extLst>
                <a:ext uri="{FF2B5EF4-FFF2-40B4-BE49-F238E27FC236}">
                  <a16:creationId xmlns:a16="http://schemas.microsoft.com/office/drawing/2014/main" id="{9B3524D6-8B31-5B45-AE62-56D9DEC06C91}"/>
                </a:ext>
              </a:extLst>
            </p:cNvPr>
            <p:cNvSpPr>
              <a:spLocks noChangeArrowheads="1"/>
            </p:cNvSpPr>
            <p:nvPr/>
          </p:nvSpPr>
          <p:spPr bwMode="auto">
            <a:xfrm>
              <a:off x="1298" y="2583"/>
              <a:ext cx="27" cy="27"/>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195" name="Line 177">
            <a:extLst>
              <a:ext uri="{FF2B5EF4-FFF2-40B4-BE49-F238E27FC236}">
                <a16:creationId xmlns:a16="http://schemas.microsoft.com/office/drawing/2014/main" id="{3415A4E4-A8D6-0A45-87D5-0E83D0C0F914}"/>
              </a:ext>
            </a:extLst>
          </p:cNvPr>
          <p:cNvSpPr>
            <a:spLocks noChangeShapeType="1"/>
          </p:cNvSpPr>
          <p:nvPr/>
        </p:nvSpPr>
        <p:spPr bwMode="auto">
          <a:xfrm>
            <a:off x="2267545" y="3505960"/>
            <a:ext cx="0" cy="1632347"/>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96" name="Line 178">
            <a:extLst>
              <a:ext uri="{FF2B5EF4-FFF2-40B4-BE49-F238E27FC236}">
                <a16:creationId xmlns:a16="http://schemas.microsoft.com/office/drawing/2014/main" id="{A9D1D210-F533-114F-8A39-1FAA948B33D4}"/>
              </a:ext>
            </a:extLst>
          </p:cNvPr>
          <p:cNvSpPr>
            <a:spLocks noChangeShapeType="1"/>
          </p:cNvSpPr>
          <p:nvPr/>
        </p:nvSpPr>
        <p:spPr bwMode="auto">
          <a:xfrm>
            <a:off x="4465439" y="3324986"/>
            <a:ext cx="9525" cy="1806178"/>
          </a:xfrm>
          <a:prstGeom prst="line">
            <a:avLst/>
          </a:prstGeom>
          <a:noFill/>
          <a:ln w="1905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97" name="Line 180">
            <a:extLst>
              <a:ext uri="{FF2B5EF4-FFF2-40B4-BE49-F238E27FC236}">
                <a16:creationId xmlns:a16="http://schemas.microsoft.com/office/drawing/2014/main" id="{6B5344BE-1CCC-B340-996D-3B09BDFBBE3A}"/>
              </a:ext>
            </a:extLst>
          </p:cNvPr>
          <p:cNvSpPr>
            <a:spLocks noChangeShapeType="1"/>
          </p:cNvSpPr>
          <p:nvPr/>
        </p:nvSpPr>
        <p:spPr bwMode="auto">
          <a:xfrm>
            <a:off x="2267545" y="5125211"/>
            <a:ext cx="2202656" cy="0"/>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98" name="Line 181">
            <a:extLst>
              <a:ext uri="{FF2B5EF4-FFF2-40B4-BE49-F238E27FC236}">
                <a16:creationId xmlns:a16="http://schemas.microsoft.com/office/drawing/2014/main" id="{75872309-2BFC-8644-8732-E37B001E22A7}"/>
              </a:ext>
            </a:extLst>
          </p:cNvPr>
          <p:cNvSpPr>
            <a:spLocks noChangeShapeType="1"/>
          </p:cNvSpPr>
          <p:nvPr/>
        </p:nvSpPr>
        <p:spPr bwMode="auto">
          <a:xfrm>
            <a:off x="4372570" y="3334511"/>
            <a:ext cx="0" cy="168473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99" name="Line 182">
            <a:extLst>
              <a:ext uri="{FF2B5EF4-FFF2-40B4-BE49-F238E27FC236}">
                <a16:creationId xmlns:a16="http://schemas.microsoft.com/office/drawing/2014/main" id="{ED8FED43-69D8-CD40-86EB-26FB24C6EABD}"/>
              </a:ext>
            </a:extLst>
          </p:cNvPr>
          <p:cNvSpPr>
            <a:spLocks noChangeShapeType="1"/>
          </p:cNvSpPr>
          <p:nvPr/>
        </p:nvSpPr>
        <p:spPr bwMode="auto">
          <a:xfrm>
            <a:off x="2348508" y="5006148"/>
            <a:ext cx="2055019" cy="0"/>
          </a:xfrm>
          <a:prstGeom prst="line">
            <a:avLst/>
          </a:prstGeom>
          <a:noFill/>
          <a:ln w="1905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00" name="Line 183">
            <a:extLst>
              <a:ext uri="{FF2B5EF4-FFF2-40B4-BE49-F238E27FC236}">
                <a16:creationId xmlns:a16="http://schemas.microsoft.com/office/drawing/2014/main" id="{4E77B951-325F-9646-965F-1E9415527950}"/>
              </a:ext>
            </a:extLst>
          </p:cNvPr>
          <p:cNvSpPr>
            <a:spLocks noChangeShapeType="1"/>
          </p:cNvSpPr>
          <p:nvPr/>
        </p:nvSpPr>
        <p:spPr bwMode="auto">
          <a:xfrm>
            <a:off x="2343745" y="3496436"/>
            <a:ext cx="9525" cy="1513284"/>
          </a:xfrm>
          <a:prstGeom prst="line">
            <a:avLst/>
          </a:prstGeom>
          <a:noFill/>
          <a:ln w="1905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01" name="Line 184">
            <a:extLst>
              <a:ext uri="{FF2B5EF4-FFF2-40B4-BE49-F238E27FC236}">
                <a16:creationId xmlns:a16="http://schemas.microsoft.com/office/drawing/2014/main" id="{DE96BAA3-92F8-8647-B475-DC04328C350D}"/>
              </a:ext>
            </a:extLst>
          </p:cNvPr>
          <p:cNvSpPr>
            <a:spLocks noChangeShapeType="1"/>
          </p:cNvSpPr>
          <p:nvPr/>
        </p:nvSpPr>
        <p:spPr bwMode="auto">
          <a:xfrm>
            <a:off x="6775251" y="3534535"/>
            <a:ext cx="0" cy="1632347"/>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02" name="Line 185">
            <a:extLst>
              <a:ext uri="{FF2B5EF4-FFF2-40B4-BE49-F238E27FC236}">
                <a16:creationId xmlns:a16="http://schemas.microsoft.com/office/drawing/2014/main" id="{98C53D0E-36E0-9746-B2E0-7A179BBFF854}"/>
              </a:ext>
            </a:extLst>
          </p:cNvPr>
          <p:cNvSpPr>
            <a:spLocks noChangeShapeType="1"/>
          </p:cNvSpPr>
          <p:nvPr/>
        </p:nvSpPr>
        <p:spPr bwMode="auto">
          <a:xfrm>
            <a:off x="6687145" y="3510723"/>
            <a:ext cx="9525" cy="1513284"/>
          </a:xfrm>
          <a:prstGeom prst="line">
            <a:avLst/>
          </a:prstGeom>
          <a:noFill/>
          <a:ln w="1905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03" name="Line 186">
            <a:extLst>
              <a:ext uri="{FF2B5EF4-FFF2-40B4-BE49-F238E27FC236}">
                <a16:creationId xmlns:a16="http://schemas.microsoft.com/office/drawing/2014/main" id="{5CF7BEF4-FCF9-5245-97E3-9295F72ABEAF}"/>
              </a:ext>
            </a:extLst>
          </p:cNvPr>
          <p:cNvSpPr>
            <a:spLocks noChangeShapeType="1"/>
          </p:cNvSpPr>
          <p:nvPr/>
        </p:nvSpPr>
        <p:spPr bwMode="auto">
          <a:xfrm>
            <a:off x="4572595" y="3339273"/>
            <a:ext cx="9525" cy="1806178"/>
          </a:xfrm>
          <a:prstGeom prst="line">
            <a:avLst/>
          </a:prstGeom>
          <a:noFill/>
          <a:ln w="1905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04" name="Line 187">
            <a:extLst>
              <a:ext uri="{FF2B5EF4-FFF2-40B4-BE49-F238E27FC236}">
                <a16:creationId xmlns:a16="http://schemas.microsoft.com/office/drawing/2014/main" id="{2FEDDAA8-4D5A-F644-8D9D-D75448B5AB9C}"/>
              </a:ext>
            </a:extLst>
          </p:cNvPr>
          <p:cNvSpPr>
            <a:spLocks noChangeShapeType="1"/>
          </p:cNvSpPr>
          <p:nvPr/>
        </p:nvSpPr>
        <p:spPr bwMode="auto">
          <a:xfrm>
            <a:off x="4672607" y="3348798"/>
            <a:ext cx="0" cy="1684734"/>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05" name="Line 188">
            <a:extLst>
              <a:ext uri="{FF2B5EF4-FFF2-40B4-BE49-F238E27FC236}">
                <a16:creationId xmlns:a16="http://schemas.microsoft.com/office/drawing/2014/main" id="{785832B0-11E2-7D42-892F-39130A9455CB}"/>
              </a:ext>
            </a:extLst>
          </p:cNvPr>
          <p:cNvSpPr>
            <a:spLocks noChangeShapeType="1"/>
          </p:cNvSpPr>
          <p:nvPr/>
        </p:nvSpPr>
        <p:spPr bwMode="auto">
          <a:xfrm>
            <a:off x="4589264" y="5139498"/>
            <a:ext cx="2202656" cy="0"/>
          </a:xfrm>
          <a:prstGeom prst="line">
            <a:avLst/>
          </a:prstGeom>
          <a:noFill/>
          <a:ln w="1905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206" name="Line 189">
            <a:extLst>
              <a:ext uri="{FF2B5EF4-FFF2-40B4-BE49-F238E27FC236}">
                <a16:creationId xmlns:a16="http://schemas.microsoft.com/office/drawing/2014/main" id="{CB7F98CB-6143-EE46-9171-A611901AA528}"/>
              </a:ext>
            </a:extLst>
          </p:cNvPr>
          <p:cNvSpPr>
            <a:spLocks noChangeShapeType="1"/>
          </p:cNvSpPr>
          <p:nvPr/>
        </p:nvSpPr>
        <p:spPr bwMode="auto">
          <a:xfrm>
            <a:off x="4653558" y="5013292"/>
            <a:ext cx="2055019" cy="0"/>
          </a:xfrm>
          <a:prstGeom prst="line">
            <a:avLst/>
          </a:prstGeom>
          <a:noFill/>
          <a:ln w="1905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207" name="Group 196">
            <a:extLst>
              <a:ext uri="{FF2B5EF4-FFF2-40B4-BE49-F238E27FC236}">
                <a16:creationId xmlns:a16="http://schemas.microsoft.com/office/drawing/2014/main" id="{3B303B9E-D7B6-B44F-B2C6-EAF4FBBE0075}"/>
              </a:ext>
            </a:extLst>
          </p:cNvPr>
          <p:cNvGrpSpPr>
            <a:grpSpLocks/>
          </p:cNvGrpSpPr>
          <p:nvPr/>
        </p:nvGrpSpPr>
        <p:grpSpPr bwMode="auto">
          <a:xfrm>
            <a:off x="1998464" y="5200214"/>
            <a:ext cx="1290638" cy="515541"/>
            <a:chOff x="1270" y="3697"/>
            <a:chExt cx="1084" cy="433"/>
          </a:xfrm>
        </p:grpSpPr>
        <p:sp>
          <p:nvSpPr>
            <p:cNvPr id="208" name="Rectangle 193">
              <a:extLst>
                <a:ext uri="{FF2B5EF4-FFF2-40B4-BE49-F238E27FC236}">
                  <a16:creationId xmlns:a16="http://schemas.microsoft.com/office/drawing/2014/main" id="{5E867730-FF86-E94C-84E9-3C3B7F8650AF}"/>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09" name="Line 194">
              <a:extLst>
                <a:ext uri="{FF2B5EF4-FFF2-40B4-BE49-F238E27FC236}">
                  <a16:creationId xmlns:a16="http://schemas.microsoft.com/office/drawing/2014/main" id="{DCB14944-9918-094E-A124-FFAF2CCC01E8}"/>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10" name="Text Box 195">
              <a:extLst>
                <a:ext uri="{FF2B5EF4-FFF2-40B4-BE49-F238E27FC236}">
                  <a16:creationId xmlns:a16="http://schemas.microsoft.com/office/drawing/2014/main" id="{7F105679-9AE1-A34E-A646-23B52D1B8449}"/>
                </a:ext>
              </a:extLst>
            </p:cNvPr>
            <p:cNvSpPr txBox="1">
              <a:spLocks noChangeArrowheads="1"/>
            </p:cNvSpPr>
            <p:nvPr/>
          </p:nvSpPr>
          <p:spPr bwMode="auto">
            <a:xfrm>
              <a:off x="1270" y="3822"/>
              <a:ext cx="1042" cy="3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050" kern="0">
                  <a:solidFill>
                    <a:srgbClr val="000000"/>
                  </a:solidFill>
                </a:rPr>
                <a:t>source port: 9157</a:t>
              </a:r>
            </a:p>
            <a:p>
              <a:pPr algn="r" defTabSz="685800" eaLnBrk="0" fontAlgn="base" hangingPunct="0">
                <a:lnSpc>
                  <a:spcPct val="85000"/>
                </a:lnSpc>
                <a:spcBef>
                  <a:spcPct val="0"/>
                </a:spcBef>
                <a:spcAft>
                  <a:spcPct val="0"/>
                </a:spcAft>
                <a:defRPr/>
              </a:pPr>
              <a:r>
                <a:rPr lang="en-US" sz="1050" kern="0">
                  <a:solidFill>
                    <a:srgbClr val="000000"/>
                  </a:solidFill>
                </a:rPr>
                <a:t>dest port: 6428</a:t>
              </a:r>
            </a:p>
          </p:txBody>
        </p:sp>
      </p:grpSp>
      <p:grpSp>
        <p:nvGrpSpPr>
          <p:cNvPr id="211" name="Group 201">
            <a:extLst>
              <a:ext uri="{FF2B5EF4-FFF2-40B4-BE49-F238E27FC236}">
                <a16:creationId xmlns:a16="http://schemas.microsoft.com/office/drawing/2014/main" id="{C26B3BDC-40D0-554B-BF75-79BA0C664254}"/>
              </a:ext>
            </a:extLst>
          </p:cNvPr>
          <p:cNvGrpSpPr>
            <a:grpSpLocks/>
          </p:cNvGrpSpPr>
          <p:nvPr/>
        </p:nvGrpSpPr>
        <p:grpSpPr bwMode="auto">
          <a:xfrm>
            <a:off x="3029546" y="4542989"/>
            <a:ext cx="1326357" cy="515541"/>
            <a:chOff x="2741" y="3750"/>
            <a:chExt cx="1114" cy="433"/>
          </a:xfrm>
        </p:grpSpPr>
        <p:sp>
          <p:nvSpPr>
            <p:cNvPr id="212" name="Rectangle 198">
              <a:extLst>
                <a:ext uri="{FF2B5EF4-FFF2-40B4-BE49-F238E27FC236}">
                  <a16:creationId xmlns:a16="http://schemas.microsoft.com/office/drawing/2014/main" id="{2AEC7827-74B2-8F4D-A5B2-46F174C8BC7A}"/>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13" name="Line 199">
              <a:extLst>
                <a:ext uri="{FF2B5EF4-FFF2-40B4-BE49-F238E27FC236}">
                  <a16:creationId xmlns:a16="http://schemas.microsoft.com/office/drawing/2014/main" id="{51BE463B-088F-174F-AFA2-906D7DEE343D}"/>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14" name="Text Box 200">
              <a:extLst>
                <a:ext uri="{FF2B5EF4-FFF2-40B4-BE49-F238E27FC236}">
                  <a16:creationId xmlns:a16="http://schemas.microsoft.com/office/drawing/2014/main" id="{0F6793CB-ABA9-534D-B627-3241E60849A0}"/>
                </a:ext>
              </a:extLst>
            </p:cNvPr>
            <p:cNvSpPr txBox="1">
              <a:spLocks noChangeArrowheads="1"/>
            </p:cNvSpPr>
            <p:nvPr/>
          </p:nvSpPr>
          <p:spPr bwMode="auto">
            <a:xfrm>
              <a:off x="2813" y="3875"/>
              <a:ext cx="1042" cy="3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050" kern="0">
                  <a:solidFill>
                    <a:srgbClr val="000000"/>
                  </a:solidFill>
                </a:rPr>
                <a:t>source port: 6428</a:t>
              </a:r>
            </a:p>
            <a:p>
              <a:pPr defTabSz="685800" eaLnBrk="0" fontAlgn="base" hangingPunct="0">
                <a:lnSpc>
                  <a:spcPct val="85000"/>
                </a:lnSpc>
                <a:spcBef>
                  <a:spcPct val="0"/>
                </a:spcBef>
                <a:spcAft>
                  <a:spcPct val="0"/>
                </a:spcAft>
                <a:defRPr/>
              </a:pPr>
              <a:r>
                <a:rPr lang="en-US" sz="1050" kern="0">
                  <a:solidFill>
                    <a:srgbClr val="000000"/>
                  </a:solidFill>
                </a:rPr>
                <a:t>dest port: 9157</a:t>
              </a:r>
            </a:p>
          </p:txBody>
        </p:sp>
      </p:grpSp>
      <p:grpSp>
        <p:nvGrpSpPr>
          <p:cNvPr id="215" name="Group 202">
            <a:extLst>
              <a:ext uri="{FF2B5EF4-FFF2-40B4-BE49-F238E27FC236}">
                <a16:creationId xmlns:a16="http://schemas.microsoft.com/office/drawing/2014/main" id="{2BA0D7D3-1E9F-874D-9578-106CF426BDAB}"/>
              </a:ext>
            </a:extLst>
          </p:cNvPr>
          <p:cNvGrpSpPr>
            <a:grpSpLocks/>
          </p:cNvGrpSpPr>
          <p:nvPr/>
        </p:nvGrpSpPr>
        <p:grpSpPr bwMode="auto">
          <a:xfrm>
            <a:off x="5244109" y="4542989"/>
            <a:ext cx="1059656" cy="515541"/>
            <a:chOff x="1464" y="3697"/>
            <a:chExt cx="890" cy="433"/>
          </a:xfrm>
        </p:grpSpPr>
        <p:sp>
          <p:nvSpPr>
            <p:cNvPr id="216" name="Rectangle 203">
              <a:extLst>
                <a:ext uri="{FF2B5EF4-FFF2-40B4-BE49-F238E27FC236}">
                  <a16:creationId xmlns:a16="http://schemas.microsoft.com/office/drawing/2014/main" id="{B2A9891A-642F-6D49-A890-0C106C26FAD8}"/>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17" name="Line 204">
              <a:extLst>
                <a:ext uri="{FF2B5EF4-FFF2-40B4-BE49-F238E27FC236}">
                  <a16:creationId xmlns:a16="http://schemas.microsoft.com/office/drawing/2014/main" id="{521F25C6-A7B0-BD43-AB39-10E85195A07C}"/>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18" name="Text Box 205">
              <a:extLst>
                <a:ext uri="{FF2B5EF4-FFF2-40B4-BE49-F238E27FC236}">
                  <a16:creationId xmlns:a16="http://schemas.microsoft.com/office/drawing/2014/main" id="{A375B067-6627-F24A-ADAA-564841EB89F9}"/>
                </a:ext>
              </a:extLst>
            </p:cNvPr>
            <p:cNvSpPr txBox="1">
              <a:spLocks noChangeArrowheads="1"/>
            </p:cNvSpPr>
            <p:nvPr/>
          </p:nvSpPr>
          <p:spPr bwMode="auto">
            <a:xfrm>
              <a:off x="1464" y="3822"/>
              <a:ext cx="848" cy="3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050" kern="0">
                  <a:solidFill>
                    <a:srgbClr val="000000"/>
                  </a:solidFill>
                </a:rPr>
                <a:t>source port: ?</a:t>
              </a:r>
            </a:p>
            <a:p>
              <a:pPr algn="r" defTabSz="685800" eaLnBrk="0" fontAlgn="base" hangingPunct="0">
                <a:lnSpc>
                  <a:spcPct val="85000"/>
                </a:lnSpc>
                <a:spcBef>
                  <a:spcPct val="0"/>
                </a:spcBef>
                <a:spcAft>
                  <a:spcPct val="0"/>
                </a:spcAft>
                <a:defRPr/>
              </a:pPr>
              <a:r>
                <a:rPr lang="en-US" sz="1050" kern="0">
                  <a:solidFill>
                    <a:srgbClr val="000000"/>
                  </a:solidFill>
                </a:rPr>
                <a:t>dest port: ?</a:t>
              </a:r>
            </a:p>
          </p:txBody>
        </p:sp>
      </p:grpSp>
      <p:grpSp>
        <p:nvGrpSpPr>
          <p:cNvPr id="219" name="Group 206">
            <a:extLst>
              <a:ext uri="{FF2B5EF4-FFF2-40B4-BE49-F238E27FC236}">
                <a16:creationId xmlns:a16="http://schemas.microsoft.com/office/drawing/2014/main" id="{B5181A21-D7E7-3E42-9344-472D54222757}"/>
              </a:ext>
            </a:extLst>
          </p:cNvPr>
          <p:cNvGrpSpPr>
            <a:grpSpLocks/>
          </p:cNvGrpSpPr>
          <p:nvPr/>
        </p:nvGrpSpPr>
        <p:grpSpPr bwMode="auto">
          <a:xfrm>
            <a:off x="4728569" y="5183545"/>
            <a:ext cx="1095376" cy="515541"/>
            <a:chOff x="2741" y="3750"/>
            <a:chExt cx="920" cy="433"/>
          </a:xfrm>
        </p:grpSpPr>
        <p:sp>
          <p:nvSpPr>
            <p:cNvPr id="220" name="Rectangle 207">
              <a:extLst>
                <a:ext uri="{FF2B5EF4-FFF2-40B4-BE49-F238E27FC236}">
                  <a16:creationId xmlns:a16="http://schemas.microsoft.com/office/drawing/2014/main" id="{92ECB27B-35D3-E94B-A9F9-6AB2E4D0E9A5}"/>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21" name="Line 208">
              <a:extLst>
                <a:ext uri="{FF2B5EF4-FFF2-40B4-BE49-F238E27FC236}">
                  <a16:creationId xmlns:a16="http://schemas.microsoft.com/office/drawing/2014/main" id="{7683B80C-70E1-9C44-94AD-C7C88A9E0CA6}"/>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22" name="Text Box 209">
              <a:extLst>
                <a:ext uri="{FF2B5EF4-FFF2-40B4-BE49-F238E27FC236}">
                  <a16:creationId xmlns:a16="http://schemas.microsoft.com/office/drawing/2014/main" id="{A346B1BA-6406-6F45-9B45-BAB032C59481}"/>
                </a:ext>
              </a:extLst>
            </p:cNvPr>
            <p:cNvSpPr txBox="1">
              <a:spLocks noChangeArrowheads="1"/>
            </p:cNvSpPr>
            <p:nvPr/>
          </p:nvSpPr>
          <p:spPr bwMode="auto">
            <a:xfrm>
              <a:off x="2813" y="3875"/>
              <a:ext cx="848" cy="3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050" kern="0">
                  <a:solidFill>
                    <a:srgbClr val="000000"/>
                  </a:solidFill>
                </a:rPr>
                <a:t>source port: ?</a:t>
              </a:r>
            </a:p>
            <a:p>
              <a:pPr defTabSz="685800" eaLnBrk="0" fontAlgn="base" hangingPunct="0">
                <a:lnSpc>
                  <a:spcPct val="85000"/>
                </a:lnSpc>
                <a:spcBef>
                  <a:spcPct val="0"/>
                </a:spcBef>
                <a:spcAft>
                  <a:spcPct val="0"/>
                </a:spcAft>
                <a:defRPr/>
              </a:pPr>
              <a:r>
                <a:rPr lang="en-US" sz="1050" kern="0">
                  <a:solidFill>
                    <a:srgbClr val="000000"/>
                  </a:solidFill>
                </a:rPr>
                <a:t>dest port: ?</a:t>
              </a:r>
            </a:p>
          </p:txBody>
        </p:sp>
      </p:grpSp>
      <p:grpSp>
        <p:nvGrpSpPr>
          <p:cNvPr id="223" name="Group 214">
            <a:extLst>
              <a:ext uri="{FF2B5EF4-FFF2-40B4-BE49-F238E27FC236}">
                <a16:creationId xmlns:a16="http://schemas.microsoft.com/office/drawing/2014/main" id="{E39C7ED5-8B2C-DE4F-80CB-990D1AA7B49F}"/>
              </a:ext>
            </a:extLst>
          </p:cNvPr>
          <p:cNvGrpSpPr>
            <a:grpSpLocks/>
          </p:cNvGrpSpPr>
          <p:nvPr/>
        </p:nvGrpSpPr>
        <p:grpSpPr bwMode="auto">
          <a:xfrm>
            <a:off x="1207889" y="4161995"/>
            <a:ext cx="533400" cy="502444"/>
            <a:chOff x="-44" y="1473"/>
            <a:chExt cx="981" cy="1105"/>
          </a:xfrm>
        </p:grpSpPr>
        <p:pic>
          <p:nvPicPr>
            <p:cNvPr id="224" name="Picture 215" descr="desktop_computer_stylized_medium">
              <a:extLst>
                <a:ext uri="{FF2B5EF4-FFF2-40B4-BE49-F238E27FC236}">
                  <a16:creationId xmlns:a16="http://schemas.microsoft.com/office/drawing/2014/main" id="{E6F7AF8C-6139-A44A-B799-9DB1A49382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5" name="Freeform 216">
              <a:extLst>
                <a:ext uri="{FF2B5EF4-FFF2-40B4-BE49-F238E27FC236}">
                  <a16:creationId xmlns:a16="http://schemas.microsoft.com/office/drawing/2014/main" id="{E7BE33D7-3BA9-1847-9AD9-95F7E1DEA0D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grpSp>
        <p:nvGrpSpPr>
          <p:cNvPr id="226" name="Group 217">
            <a:extLst>
              <a:ext uri="{FF2B5EF4-FFF2-40B4-BE49-F238E27FC236}">
                <a16:creationId xmlns:a16="http://schemas.microsoft.com/office/drawing/2014/main" id="{ECE9DF28-DF72-7544-9229-870F2565D5F7}"/>
              </a:ext>
            </a:extLst>
          </p:cNvPr>
          <p:cNvGrpSpPr>
            <a:grpSpLocks/>
          </p:cNvGrpSpPr>
          <p:nvPr/>
        </p:nvGrpSpPr>
        <p:grpSpPr bwMode="auto">
          <a:xfrm flipH="1">
            <a:off x="7409855" y="4254864"/>
            <a:ext cx="533400" cy="502444"/>
            <a:chOff x="-44" y="1473"/>
            <a:chExt cx="981" cy="1105"/>
          </a:xfrm>
        </p:grpSpPr>
        <p:pic>
          <p:nvPicPr>
            <p:cNvPr id="227" name="Picture 218" descr="desktop_computer_stylized_medium">
              <a:extLst>
                <a:ext uri="{FF2B5EF4-FFF2-40B4-BE49-F238E27FC236}">
                  <a16:creationId xmlns:a16="http://schemas.microsoft.com/office/drawing/2014/main" id="{AAE1CD7B-71E4-DA44-B3BA-A6BCDDB83A9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28" name="Freeform 219">
              <a:extLst>
                <a:ext uri="{FF2B5EF4-FFF2-40B4-BE49-F238E27FC236}">
                  <a16:creationId xmlns:a16="http://schemas.microsoft.com/office/drawing/2014/main" id="{E273E05C-F934-1B44-AA55-C146C99BC60F}"/>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grpSp>
        <p:nvGrpSpPr>
          <p:cNvPr id="229" name="Group 220">
            <a:extLst>
              <a:ext uri="{FF2B5EF4-FFF2-40B4-BE49-F238E27FC236}">
                <a16:creationId xmlns:a16="http://schemas.microsoft.com/office/drawing/2014/main" id="{4338C4B1-DA10-CF42-9E12-96B6998CDA7B}"/>
              </a:ext>
            </a:extLst>
          </p:cNvPr>
          <p:cNvGrpSpPr>
            <a:grpSpLocks/>
          </p:cNvGrpSpPr>
          <p:nvPr/>
        </p:nvGrpSpPr>
        <p:grpSpPr bwMode="auto">
          <a:xfrm>
            <a:off x="3527227" y="3803617"/>
            <a:ext cx="269081" cy="528638"/>
            <a:chOff x="4140" y="429"/>
            <a:chExt cx="1425" cy="2396"/>
          </a:xfrm>
        </p:grpSpPr>
        <p:sp>
          <p:nvSpPr>
            <p:cNvPr id="230" name="Freeform 221">
              <a:extLst>
                <a:ext uri="{FF2B5EF4-FFF2-40B4-BE49-F238E27FC236}">
                  <a16:creationId xmlns:a16="http://schemas.microsoft.com/office/drawing/2014/main" id="{72E2375B-D2CD-524D-99CC-9AA1332B0E2C}"/>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31" name="Rectangle 222">
              <a:extLst>
                <a:ext uri="{FF2B5EF4-FFF2-40B4-BE49-F238E27FC236}">
                  <a16:creationId xmlns:a16="http://schemas.microsoft.com/office/drawing/2014/main" id="{9A46A85F-576F-5549-8CE1-4D6375E6E22B}"/>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32" name="Freeform 223">
              <a:extLst>
                <a:ext uri="{FF2B5EF4-FFF2-40B4-BE49-F238E27FC236}">
                  <a16:creationId xmlns:a16="http://schemas.microsoft.com/office/drawing/2014/main" id="{2AC2D8E6-5479-B547-832A-A4D633663DE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33" name="Freeform 224">
              <a:extLst>
                <a:ext uri="{FF2B5EF4-FFF2-40B4-BE49-F238E27FC236}">
                  <a16:creationId xmlns:a16="http://schemas.microsoft.com/office/drawing/2014/main" id="{F5154C64-E9B4-9B4B-ADCB-BF7CEFAA6EDD}"/>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34" name="Rectangle 225">
              <a:extLst>
                <a:ext uri="{FF2B5EF4-FFF2-40B4-BE49-F238E27FC236}">
                  <a16:creationId xmlns:a16="http://schemas.microsoft.com/office/drawing/2014/main" id="{20BD3C08-A36B-8C47-A9E1-98E61BCD2361}"/>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35" name="Group 226">
              <a:extLst>
                <a:ext uri="{FF2B5EF4-FFF2-40B4-BE49-F238E27FC236}">
                  <a16:creationId xmlns:a16="http://schemas.microsoft.com/office/drawing/2014/main" id="{BA9CB11E-6522-2A4E-B926-6BB8F2D61B29}"/>
                </a:ext>
              </a:extLst>
            </p:cNvPr>
            <p:cNvGrpSpPr>
              <a:grpSpLocks/>
            </p:cNvGrpSpPr>
            <p:nvPr/>
          </p:nvGrpSpPr>
          <p:grpSpPr bwMode="auto">
            <a:xfrm>
              <a:off x="4749" y="668"/>
              <a:ext cx="581" cy="145"/>
              <a:chOff x="614" y="2568"/>
              <a:chExt cx="725" cy="139"/>
            </a:xfrm>
          </p:grpSpPr>
          <p:sp>
            <p:nvSpPr>
              <p:cNvPr id="260" name="AutoShape 227">
                <a:extLst>
                  <a:ext uri="{FF2B5EF4-FFF2-40B4-BE49-F238E27FC236}">
                    <a16:creationId xmlns:a16="http://schemas.microsoft.com/office/drawing/2014/main" id="{A66F61C7-D146-2444-9233-EEEFDA6DB534}"/>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61" name="AutoShape 228">
                <a:extLst>
                  <a:ext uri="{FF2B5EF4-FFF2-40B4-BE49-F238E27FC236}">
                    <a16:creationId xmlns:a16="http://schemas.microsoft.com/office/drawing/2014/main" id="{C237943C-1D9E-C340-92B4-E279FE5EB9A1}"/>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36" name="Rectangle 229">
              <a:extLst>
                <a:ext uri="{FF2B5EF4-FFF2-40B4-BE49-F238E27FC236}">
                  <a16:creationId xmlns:a16="http://schemas.microsoft.com/office/drawing/2014/main" id="{C81D6CA2-B425-4946-AE7A-8E40C0836516}"/>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37" name="Group 230">
              <a:extLst>
                <a:ext uri="{FF2B5EF4-FFF2-40B4-BE49-F238E27FC236}">
                  <a16:creationId xmlns:a16="http://schemas.microsoft.com/office/drawing/2014/main" id="{E1CF8BC0-EDFE-2A4B-A9FD-D7352BEF920B}"/>
                </a:ext>
              </a:extLst>
            </p:cNvPr>
            <p:cNvGrpSpPr>
              <a:grpSpLocks/>
            </p:cNvGrpSpPr>
            <p:nvPr/>
          </p:nvGrpSpPr>
          <p:grpSpPr bwMode="auto">
            <a:xfrm>
              <a:off x="4747" y="994"/>
              <a:ext cx="581" cy="134"/>
              <a:chOff x="614" y="2568"/>
              <a:chExt cx="725" cy="139"/>
            </a:xfrm>
          </p:grpSpPr>
          <p:sp>
            <p:nvSpPr>
              <p:cNvPr id="258" name="AutoShape 231">
                <a:extLst>
                  <a:ext uri="{FF2B5EF4-FFF2-40B4-BE49-F238E27FC236}">
                    <a16:creationId xmlns:a16="http://schemas.microsoft.com/office/drawing/2014/main" id="{0A9026E3-01D2-A044-85D9-3C22E36B944E}"/>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9" name="AutoShape 232">
                <a:extLst>
                  <a:ext uri="{FF2B5EF4-FFF2-40B4-BE49-F238E27FC236}">
                    <a16:creationId xmlns:a16="http://schemas.microsoft.com/office/drawing/2014/main" id="{89380DF0-55D0-544B-ABE2-D6ADD8851B2B}"/>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38" name="Rectangle 233">
              <a:extLst>
                <a:ext uri="{FF2B5EF4-FFF2-40B4-BE49-F238E27FC236}">
                  <a16:creationId xmlns:a16="http://schemas.microsoft.com/office/drawing/2014/main" id="{DF34371F-6EF2-844A-9475-6B8ECC1E25C3}"/>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39" name="Rectangle 234">
              <a:extLst>
                <a:ext uri="{FF2B5EF4-FFF2-40B4-BE49-F238E27FC236}">
                  <a16:creationId xmlns:a16="http://schemas.microsoft.com/office/drawing/2014/main" id="{7BF59601-B231-7F4D-B6B7-74CA58AE9412}"/>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240" name="Group 235">
              <a:extLst>
                <a:ext uri="{FF2B5EF4-FFF2-40B4-BE49-F238E27FC236}">
                  <a16:creationId xmlns:a16="http://schemas.microsoft.com/office/drawing/2014/main" id="{653CAD17-3E1A-0A44-BF50-DB027FAD871F}"/>
                </a:ext>
              </a:extLst>
            </p:cNvPr>
            <p:cNvGrpSpPr>
              <a:grpSpLocks/>
            </p:cNvGrpSpPr>
            <p:nvPr/>
          </p:nvGrpSpPr>
          <p:grpSpPr bwMode="auto">
            <a:xfrm>
              <a:off x="4735" y="1627"/>
              <a:ext cx="582" cy="151"/>
              <a:chOff x="614" y="2568"/>
              <a:chExt cx="725" cy="139"/>
            </a:xfrm>
          </p:grpSpPr>
          <p:sp>
            <p:nvSpPr>
              <p:cNvPr id="256" name="AutoShape 236">
                <a:extLst>
                  <a:ext uri="{FF2B5EF4-FFF2-40B4-BE49-F238E27FC236}">
                    <a16:creationId xmlns:a16="http://schemas.microsoft.com/office/drawing/2014/main" id="{2AB347AE-B389-704D-8A3A-F1B0478B7030}"/>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7" name="AutoShape 237">
                <a:extLst>
                  <a:ext uri="{FF2B5EF4-FFF2-40B4-BE49-F238E27FC236}">
                    <a16:creationId xmlns:a16="http://schemas.microsoft.com/office/drawing/2014/main" id="{F96FEA1E-5620-D24E-93C8-5E69D78BD082}"/>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41" name="Freeform 238">
              <a:extLst>
                <a:ext uri="{FF2B5EF4-FFF2-40B4-BE49-F238E27FC236}">
                  <a16:creationId xmlns:a16="http://schemas.microsoft.com/office/drawing/2014/main" id="{84910C8E-8844-DE49-A1A3-762F8BB12AFA}"/>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nvGrpSpPr>
            <p:cNvPr id="242" name="Group 239">
              <a:extLst>
                <a:ext uri="{FF2B5EF4-FFF2-40B4-BE49-F238E27FC236}">
                  <a16:creationId xmlns:a16="http://schemas.microsoft.com/office/drawing/2014/main" id="{BBBD2321-95AE-9C40-B018-8ECE1F278C87}"/>
                </a:ext>
              </a:extLst>
            </p:cNvPr>
            <p:cNvGrpSpPr>
              <a:grpSpLocks/>
            </p:cNvGrpSpPr>
            <p:nvPr/>
          </p:nvGrpSpPr>
          <p:grpSpPr bwMode="auto">
            <a:xfrm>
              <a:off x="4739" y="1327"/>
              <a:ext cx="582" cy="139"/>
              <a:chOff x="614" y="2568"/>
              <a:chExt cx="725" cy="139"/>
            </a:xfrm>
          </p:grpSpPr>
          <p:sp>
            <p:nvSpPr>
              <p:cNvPr id="254" name="AutoShape 240">
                <a:extLst>
                  <a:ext uri="{FF2B5EF4-FFF2-40B4-BE49-F238E27FC236}">
                    <a16:creationId xmlns:a16="http://schemas.microsoft.com/office/drawing/2014/main" id="{5F0A8B0F-BFF3-D645-8BC2-E03084A7359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5" name="AutoShape 241">
                <a:extLst>
                  <a:ext uri="{FF2B5EF4-FFF2-40B4-BE49-F238E27FC236}">
                    <a16:creationId xmlns:a16="http://schemas.microsoft.com/office/drawing/2014/main" id="{F04409C4-53CF-1E47-924D-AAE899D78D5A}"/>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243" name="Rectangle 242">
              <a:extLst>
                <a:ext uri="{FF2B5EF4-FFF2-40B4-BE49-F238E27FC236}">
                  <a16:creationId xmlns:a16="http://schemas.microsoft.com/office/drawing/2014/main" id="{B79FB686-7827-8648-B573-39D9BD56AEA5}"/>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4" name="Freeform 243">
              <a:extLst>
                <a:ext uri="{FF2B5EF4-FFF2-40B4-BE49-F238E27FC236}">
                  <a16:creationId xmlns:a16="http://schemas.microsoft.com/office/drawing/2014/main" id="{FDD2EBD5-F1D6-1A40-89DB-A8C30D93187D}"/>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45" name="Freeform 244">
              <a:extLst>
                <a:ext uri="{FF2B5EF4-FFF2-40B4-BE49-F238E27FC236}">
                  <a16:creationId xmlns:a16="http://schemas.microsoft.com/office/drawing/2014/main" id="{CE0C4D67-AE5D-BA4D-8695-DB491DDD2F0B}"/>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46" name="Oval 245">
              <a:extLst>
                <a:ext uri="{FF2B5EF4-FFF2-40B4-BE49-F238E27FC236}">
                  <a16:creationId xmlns:a16="http://schemas.microsoft.com/office/drawing/2014/main" id="{F37BD5E1-82F5-4442-A0E8-832E39193FEE}"/>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7" name="Freeform 246">
              <a:extLst>
                <a:ext uri="{FF2B5EF4-FFF2-40B4-BE49-F238E27FC236}">
                  <a16:creationId xmlns:a16="http://schemas.microsoft.com/office/drawing/2014/main" id="{65CB1E0E-0881-3D44-874F-DFDC02FDDF7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248" name="AutoShape 247">
              <a:extLst>
                <a:ext uri="{FF2B5EF4-FFF2-40B4-BE49-F238E27FC236}">
                  <a16:creationId xmlns:a16="http://schemas.microsoft.com/office/drawing/2014/main" id="{6DADA001-6CFD-B446-972E-A78724803E36}"/>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49" name="AutoShape 248">
              <a:extLst>
                <a:ext uri="{FF2B5EF4-FFF2-40B4-BE49-F238E27FC236}">
                  <a16:creationId xmlns:a16="http://schemas.microsoft.com/office/drawing/2014/main" id="{3A9F1280-193F-A148-B533-A4E2BCD4EE1D}"/>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0" name="Oval 249">
              <a:extLst>
                <a:ext uri="{FF2B5EF4-FFF2-40B4-BE49-F238E27FC236}">
                  <a16:creationId xmlns:a16="http://schemas.microsoft.com/office/drawing/2014/main" id="{64151D18-1A99-BB43-8662-5409F09FC64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1" name="Oval 250">
              <a:extLst>
                <a:ext uri="{FF2B5EF4-FFF2-40B4-BE49-F238E27FC236}">
                  <a16:creationId xmlns:a16="http://schemas.microsoft.com/office/drawing/2014/main" id="{86E3B505-373D-FA41-AC57-224E553E6727}"/>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rial" charset="0"/>
                <a:ea typeface="ＭＳ Ｐゴシック" charset="0"/>
                <a:cs typeface="Arial" charset="0"/>
              </a:endParaRPr>
            </a:p>
          </p:txBody>
        </p:sp>
        <p:sp>
          <p:nvSpPr>
            <p:cNvPr id="252" name="Oval 251">
              <a:extLst>
                <a:ext uri="{FF2B5EF4-FFF2-40B4-BE49-F238E27FC236}">
                  <a16:creationId xmlns:a16="http://schemas.microsoft.com/office/drawing/2014/main" id="{3E492A9C-D2EF-444F-9F40-D87F1FF8E812}"/>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253" name="Rectangle 252">
              <a:extLst>
                <a:ext uri="{FF2B5EF4-FFF2-40B4-BE49-F238E27FC236}">
                  <a16:creationId xmlns:a16="http://schemas.microsoft.com/office/drawing/2014/main" id="{B30ABD37-057E-DC41-B1A5-29A2C423603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127" name="Slide Number Placeholder 2">
            <a:extLst>
              <a:ext uri="{FF2B5EF4-FFF2-40B4-BE49-F238E27FC236}">
                <a16:creationId xmlns:a16="http://schemas.microsoft.com/office/drawing/2014/main" id="{7A20C98F-8CB3-904A-A136-78573229D8FE}"/>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17</a:t>
            </a:fld>
            <a:endParaRPr lang="en-US" dirty="0"/>
          </a:p>
        </p:txBody>
      </p:sp>
    </p:spTree>
    <p:extLst>
      <p:ext uri="{BB962C8B-B14F-4D97-AF65-F5344CB8AC3E}">
        <p14:creationId xmlns:p14="http://schemas.microsoft.com/office/powerpoint/2010/main" val="271510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dissolve">
                                      <p:cBhvr>
                                        <p:cTn id="7" dur="5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8"/>
                                        </p:tgtEl>
                                        <p:attrNameLst>
                                          <p:attrName>style.visibility</p:attrName>
                                        </p:attrNameLst>
                                      </p:cBhvr>
                                      <p:to>
                                        <p:strVal val="visible"/>
                                      </p:to>
                                    </p:set>
                                    <p:animEffect transition="in" filter="dissolve">
                                      <p:cBhvr>
                                        <p:cTn id="12" dur="500"/>
                                        <p:tgtEl>
                                          <p:spTgt spid="18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0"/>
                                        </p:tgtEl>
                                        <p:attrNameLst>
                                          <p:attrName>style.visibility</p:attrName>
                                        </p:attrNameLst>
                                      </p:cBhvr>
                                      <p:to>
                                        <p:strVal val="visible"/>
                                      </p:to>
                                    </p:set>
                                    <p:animEffect transition="in" filter="dissolve">
                                      <p:cBhvr>
                                        <p:cTn id="17" dur="500"/>
                                        <p:tgtEl>
                                          <p:spTgt spid="17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95"/>
                                        </p:tgtEl>
                                        <p:attrNameLst>
                                          <p:attrName>style.visibility</p:attrName>
                                        </p:attrNameLst>
                                      </p:cBhvr>
                                      <p:to>
                                        <p:strVal val="visible"/>
                                      </p:to>
                                    </p:set>
                                    <p:animEffect transition="in" filter="wipe(up)">
                                      <p:cBhvr>
                                        <p:cTn id="22" dur="500"/>
                                        <p:tgtEl>
                                          <p:spTgt spid="195"/>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97"/>
                                        </p:tgtEl>
                                        <p:attrNameLst>
                                          <p:attrName>style.visibility</p:attrName>
                                        </p:attrNameLst>
                                      </p:cBhvr>
                                      <p:to>
                                        <p:strVal val="visible"/>
                                      </p:to>
                                    </p:set>
                                    <p:animEffect transition="in" filter="wipe(left)">
                                      <p:cBhvr>
                                        <p:cTn id="26" dur="500"/>
                                        <p:tgtEl>
                                          <p:spTgt spid="197"/>
                                        </p:tgtEl>
                                      </p:cBhvr>
                                    </p:animEffect>
                                  </p:childTnLst>
                                </p:cTn>
                              </p:par>
                              <p:par>
                                <p:cTn id="27" presetID="22" presetClass="entr" presetSubtype="8" fill="hold" nodeType="withEffect">
                                  <p:stCondLst>
                                    <p:cond delay="0"/>
                                  </p:stCondLst>
                                  <p:childTnLst>
                                    <p:set>
                                      <p:cBhvr>
                                        <p:cTn id="28" dur="1" fill="hold">
                                          <p:stCondLst>
                                            <p:cond delay="0"/>
                                          </p:stCondLst>
                                        </p:cTn>
                                        <p:tgtEl>
                                          <p:spTgt spid="207"/>
                                        </p:tgtEl>
                                        <p:attrNameLst>
                                          <p:attrName>style.visibility</p:attrName>
                                        </p:attrNameLst>
                                      </p:cBhvr>
                                      <p:to>
                                        <p:strVal val="visible"/>
                                      </p:to>
                                    </p:set>
                                    <p:animEffect transition="in" filter="wipe(left)">
                                      <p:cBhvr>
                                        <p:cTn id="29" dur="500"/>
                                        <p:tgtEl>
                                          <p:spTgt spid="207"/>
                                        </p:tgtEl>
                                      </p:cBhvr>
                                    </p:animEffect>
                                  </p:childTnLst>
                                </p:cTn>
                              </p:par>
                            </p:childTnLst>
                          </p:cTn>
                        </p:par>
                        <p:par>
                          <p:cTn id="30" fill="hold">
                            <p:stCondLst>
                              <p:cond delay="1000"/>
                            </p:stCondLst>
                            <p:childTnLst>
                              <p:par>
                                <p:cTn id="31" presetID="22" presetClass="entr" presetSubtype="4" fill="hold" nodeType="afterEffect">
                                  <p:stCondLst>
                                    <p:cond delay="0"/>
                                  </p:stCondLst>
                                  <p:childTnLst>
                                    <p:set>
                                      <p:cBhvr>
                                        <p:cTn id="32" dur="1" fill="hold">
                                          <p:stCondLst>
                                            <p:cond delay="0"/>
                                          </p:stCondLst>
                                        </p:cTn>
                                        <p:tgtEl>
                                          <p:spTgt spid="196"/>
                                        </p:tgtEl>
                                        <p:attrNameLst>
                                          <p:attrName>style.visibility</p:attrName>
                                        </p:attrNameLst>
                                      </p:cBhvr>
                                      <p:to>
                                        <p:strVal val="visible"/>
                                      </p:to>
                                    </p:set>
                                    <p:animEffect transition="in" filter="wipe(down)">
                                      <p:cBhvr>
                                        <p:cTn id="33" dur="500"/>
                                        <p:tgtEl>
                                          <p:spTgt spid="19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98"/>
                                        </p:tgtEl>
                                        <p:attrNameLst>
                                          <p:attrName>style.visibility</p:attrName>
                                        </p:attrNameLst>
                                      </p:cBhvr>
                                      <p:to>
                                        <p:strVal val="visible"/>
                                      </p:to>
                                    </p:set>
                                    <p:animEffect transition="in" filter="wipe(up)">
                                      <p:cBhvr>
                                        <p:cTn id="38" dur="500"/>
                                        <p:tgtEl>
                                          <p:spTgt spid="198"/>
                                        </p:tgtEl>
                                      </p:cBhvr>
                                    </p:animEffect>
                                  </p:childTnLst>
                                </p:cTn>
                              </p:par>
                            </p:childTnLst>
                          </p:cTn>
                        </p:par>
                        <p:par>
                          <p:cTn id="39" fill="hold">
                            <p:stCondLst>
                              <p:cond delay="500"/>
                            </p:stCondLst>
                            <p:childTnLst>
                              <p:par>
                                <p:cTn id="40" presetID="22" presetClass="entr" presetSubtype="2" fill="hold" nodeType="afterEffect">
                                  <p:stCondLst>
                                    <p:cond delay="0"/>
                                  </p:stCondLst>
                                  <p:childTnLst>
                                    <p:set>
                                      <p:cBhvr>
                                        <p:cTn id="41" dur="1" fill="hold">
                                          <p:stCondLst>
                                            <p:cond delay="0"/>
                                          </p:stCondLst>
                                        </p:cTn>
                                        <p:tgtEl>
                                          <p:spTgt spid="199"/>
                                        </p:tgtEl>
                                        <p:attrNameLst>
                                          <p:attrName>style.visibility</p:attrName>
                                        </p:attrNameLst>
                                      </p:cBhvr>
                                      <p:to>
                                        <p:strVal val="visible"/>
                                      </p:to>
                                    </p:set>
                                    <p:animEffect transition="in" filter="wipe(right)">
                                      <p:cBhvr>
                                        <p:cTn id="42" dur="500"/>
                                        <p:tgtEl>
                                          <p:spTgt spid="199"/>
                                        </p:tgtEl>
                                      </p:cBhvr>
                                    </p:animEffect>
                                  </p:childTnLst>
                                </p:cTn>
                              </p:par>
                              <p:par>
                                <p:cTn id="43" presetID="22" presetClass="entr" presetSubtype="2" fill="hold" nodeType="withEffect">
                                  <p:stCondLst>
                                    <p:cond delay="0"/>
                                  </p:stCondLst>
                                  <p:childTnLst>
                                    <p:set>
                                      <p:cBhvr>
                                        <p:cTn id="44" dur="1" fill="hold">
                                          <p:stCondLst>
                                            <p:cond delay="0"/>
                                          </p:stCondLst>
                                        </p:cTn>
                                        <p:tgtEl>
                                          <p:spTgt spid="211"/>
                                        </p:tgtEl>
                                        <p:attrNameLst>
                                          <p:attrName>style.visibility</p:attrName>
                                        </p:attrNameLst>
                                      </p:cBhvr>
                                      <p:to>
                                        <p:strVal val="visible"/>
                                      </p:to>
                                    </p:set>
                                    <p:animEffect transition="in" filter="wipe(right)">
                                      <p:cBhvr>
                                        <p:cTn id="45" dur="500"/>
                                        <p:tgtEl>
                                          <p:spTgt spid="211"/>
                                        </p:tgtEl>
                                      </p:cBhvr>
                                    </p:animEffect>
                                  </p:childTnLst>
                                </p:cTn>
                              </p:par>
                            </p:childTnLst>
                          </p:cTn>
                        </p:par>
                        <p:par>
                          <p:cTn id="46" fill="hold">
                            <p:stCondLst>
                              <p:cond delay="1000"/>
                            </p:stCondLst>
                            <p:childTnLst>
                              <p:par>
                                <p:cTn id="47" presetID="22" presetClass="entr" presetSubtype="4" fill="hold" nodeType="afterEffect">
                                  <p:stCondLst>
                                    <p:cond delay="0"/>
                                  </p:stCondLst>
                                  <p:childTnLst>
                                    <p:set>
                                      <p:cBhvr>
                                        <p:cTn id="48" dur="1" fill="hold">
                                          <p:stCondLst>
                                            <p:cond delay="0"/>
                                          </p:stCondLst>
                                        </p:cTn>
                                        <p:tgtEl>
                                          <p:spTgt spid="200"/>
                                        </p:tgtEl>
                                        <p:attrNameLst>
                                          <p:attrName>style.visibility</p:attrName>
                                        </p:attrNameLst>
                                      </p:cBhvr>
                                      <p:to>
                                        <p:strVal val="visible"/>
                                      </p:to>
                                    </p:set>
                                    <p:animEffect transition="in" filter="wipe(down)">
                                      <p:cBhvr>
                                        <p:cTn id="49" dur="500"/>
                                        <p:tgtEl>
                                          <p:spTgt spid="20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204"/>
                                        </p:tgtEl>
                                        <p:attrNameLst>
                                          <p:attrName>style.visibility</p:attrName>
                                        </p:attrNameLst>
                                      </p:cBhvr>
                                      <p:to>
                                        <p:strVal val="visible"/>
                                      </p:to>
                                    </p:set>
                                    <p:animEffect transition="in" filter="wipe(up)">
                                      <p:cBhvr>
                                        <p:cTn id="54" dur="500"/>
                                        <p:tgtEl>
                                          <p:spTgt spid="204"/>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06"/>
                                        </p:tgtEl>
                                        <p:attrNameLst>
                                          <p:attrName>style.visibility</p:attrName>
                                        </p:attrNameLst>
                                      </p:cBhvr>
                                      <p:to>
                                        <p:strVal val="visible"/>
                                      </p:to>
                                    </p:set>
                                    <p:animEffect transition="in" filter="wipe(left)">
                                      <p:cBhvr>
                                        <p:cTn id="58" dur="500"/>
                                        <p:tgtEl>
                                          <p:spTgt spid="206"/>
                                        </p:tgtEl>
                                      </p:cBhvr>
                                    </p:animEffect>
                                  </p:childTnLst>
                                </p:cTn>
                              </p:par>
                              <p:par>
                                <p:cTn id="59" presetID="22" presetClass="entr" presetSubtype="8" fill="hold" nodeType="withEffect">
                                  <p:stCondLst>
                                    <p:cond delay="0"/>
                                  </p:stCondLst>
                                  <p:childTnLst>
                                    <p:set>
                                      <p:cBhvr>
                                        <p:cTn id="60" dur="1" fill="hold">
                                          <p:stCondLst>
                                            <p:cond delay="0"/>
                                          </p:stCondLst>
                                        </p:cTn>
                                        <p:tgtEl>
                                          <p:spTgt spid="215"/>
                                        </p:tgtEl>
                                        <p:attrNameLst>
                                          <p:attrName>style.visibility</p:attrName>
                                        </p:attrNameLst>
                                      </p:cBhvr>
                                      <p:to>
                                        <p:strVal val="visible"/>
                                      </p:to>
                                    </p:set>
                                    <p:animEffect transition="in" filter="wipe(left)">
                                      <p:cBhvr>
                                        <p:cTn id="61" dur="500"/>
                                        <p:tgtEl>
                                          <p:spTgt spid="215"/>
                                        </p:tgtEl>
                                      </p:cBhvr>
                                    </p:animEffect>
                                  </p:childTnLst>
                                </p:cTn>
                              </p:par>
                            </p:childTnLst>
                          </p:cTn>
                        </p:par>
                        <p:par>
                          <p:cTn id="62" fill="hold">
                            <p:stCondLst>
                              <p:cond delay="1000"/>
                            </p:stCondLst>
                            <p:childTnLst>
                              <p:par>
                                <p:cTn id="63" presetID="22" presetClass="entr" presetSubtype="4" fill="hold" nodeType="afterEffect">
                                  <p:stCondLst>
                                    <p:cond delay="0"/>
                                  </p:stCondLst>
                                  <p:childTnLst>
                                    <p:set>
                                      <p:cBhvr>
                                        <p:cTn id="64" dur="1" fill="hold">
                                          <p:stCondLst>
                                            <p:cond delay="0"/>
                                          </p:stCondLst>
                                        </p:cTn>
                                        <p:tgtEl>
                                          <p:spTgt spid="202"/>
                                        </p:tgtEl>
                                        <p:attrNameLst>
                                          <p:attrName>style.visibility</p:attrName>
                                        </p:attrNameLst>
                                      </p:cBhvr>
                                      <p:to>
                                        <p:strVal val="visible"/>
                                      </p:to>
                                    </p:set>
                                    <p:animEffect transition="in" filter="wipe(down)">
                                      <p:cBhvr>
                                        <p:cTn id="65" dur="500"/>
                                        <p:tgtEl>
                                          <p:spTgt spid="202"/>
                                        </p:tgtEl>
                                      </p:cBhvr>
                                    </p:animEffect>
                                  </p:childTnLst>
                                </p:cTn>
                              </p:par>
                            </p:childTnLst>
                          </p:cTn>
                        </p:par>
                        <p:par>
                          <p:cTn id="66" fill="hold">
                            <p:stCondLst>
                              <p:cond delay="1500"/>
                            </p:stCondLst>
                            <p:childTnLst>
                              <p:par>
                                <p:cTn id="67" presetID="22" presetClass="entr" presetSubtype="1" fill="hold" nodeType="afterEffect">
                                  <p:stCondLst>
                                    <p:cond delay="0"/>
                                  </p:stCondLst>
                                  <p:childTnLst>
                                    <p:set>
                                      <p:cBhvr>
                                        <p:cTn id="68" dur="1" fill="hold">
                                          <p:stCondLst>
                                            <p:cond delay="0"/>
                                          </p:stCondLst>
                                        </p:cTn>
                                        <p:tgtEl>
                                          <p:spTgt spid="201"/>
                                        </p:tgtEl>
                                        <p:attrNameLst>
                                          <p:attrName>style.visibility</p:attrName>
                                        </p:attrNameLst>
                                      </p:cBhvr>
                                      <p:to>
                                        <p:strVal val="visible"/>
                                      </p:to>
                                    </p:set>
                                    <p:animEffect transition="in" filter="wipe(up)">
                                      <p:cBhvr>
                                        <p:cTn id="69" dur="500"/>
                                        <p:tgtEl>
                                          <p:spTgt spid="201"/>
                                        </p:tgtEl>
                                      </p:cBhvr>
                                    </p:animEffect>
                                  </p:childTnLst>
                                </p:cTn>
                              </p:par>
                            </p:childTnLst>
                          </p:cTn>
                        </p:par>
                        <p:par>
                          <p:cTn id="70" fill="hold">
                            <p:stCondLst>
                              <p:cond delay="2000"/>
                            </p:stCondLst>
                            <p:childTnLst>
                              <p:par>
                                <p:cTn id="71" presetID="22" presetClass="entr" presetSubtype="2" fill="hold" nodeType="afterEffect">
                                  <p:stCondLst>
                                    <p:cond delay="0"/>
                                  </p:stCondLst>
                                  <p:childTnLst>
                                    <p:set>
                                      <p:cBhvr>
                                        <p:cTn id="72" dur="1" fill="hold">
                                          <p:stCondLst>
                                            <p:cond delay="0"/>
                                          </p:stCondLst>
                                        </p:cTn>
                                        <p:tgtEl>
                                          <p:spTgt spid="205"/>
                                        </p:tgtEl>
                                        <p:attrNameLst>
                                          <p:attrName>style.visibility</p:attrName>
                                        </p:attrNameLst>
                                      </p:cBhvr>
                                      <p:to>
                                        <p:strVal val="visible"/>
                                      </p:to>
                                    </p:set>
                                    <p:animEffect transition="in" filter="wipe(right)">
                                      <p:cBhvr>
                                        <p:cTn id="73" dur="500"/>
                                        <p:tgtEl>
                                          <p:spTgt spid="205"/>
                                        </p:tgtEl>
                                      </p:cBhvr>
                                    </p:animEffect>
                                  </p:childTnLst>
                                </p:cTn>
                              </p:par>
                              <p:par>
                                <p:cTn id="74" presetID="22" presetClass="entr" presetSubtype="2" fill="hold" nodeType="withEffect">
                                  <p:stCondLst>
                                    <p:cond delay="0"/>
                                  </p:stCondLst>
                                  <p:childTnLst>
                                    <p:set>
                                      <p:cBhvr>
                                        <p:cTn id="75" dur="1" fill="hold">
                                          <p:stCondLst>
                                            <p:cond delay="0"/>
                                          </p:stCondLst>
                                        </p:cTn>
                                        <p:tgtEl>
                                          <p:spTgt spid="219"/>
                                        </p:tgtEl>
                                        <p:attrNameLst>
                                          <p:attrName>style.visibility</p:attrName>
                                        </p:attrNameLst>
                                      </p:cBhvr>
                                      <p:to>
                                        <p:strVal val="visible"/>
                                      </p:to>
                                    </p:set>
                                    <p:animEffect transition="in" filter="wipe(right)">
                                      <p:cBhvr>
                                        <p:cTn id="76" dur="500"/>
                                        <p:tgtEl>
                                          <p:spTgt spid="219"/>
                                        </p:tgtEl>
                                      </p:cBhvr>
                                    </p:animEffect>
                                  </p:childTnLst>
                                </p:cTn>
                              </p:par>
                            </p:childTnLst>
                          </p:cTn>
                        </p:par>
                        <p:par>
                          <p:cTn id="77" fill="hold">
                            <p:stCondLst>
                              <p:cond delay="2500"/>
                            </p:stCondLst>
                            <p:childTnLst>
                              <p:par>
                                <p:cTn id="78" presetID="22" presetClass="entr" presetSubtype="4" fill="hold" nodeType="afterEffect">
                                  <p:stCondLst>
                                    <p:cond delay="0"/>
                                  </p:stCondLst>
                                  <p:childTnLst>
                                    <p:set>
                                      <p:cBhvr>
                                        <p:cTn id="79" dur="1" fill="hold">
                                          <p:stCondLst>
                                            <p:cond delay="0"/>
                                          </p:stCondLst>
                                        </p:cTn>
                                        <p:tgtEl>
                                          <p:spTgt spid="203"/>
                                        </p:tgtEl>
                                        <p:attrNameLst>
                                          <p:attrName>style.visibility</p:attrName>
                                        </p:attrNameLst>
                                      </p:cBhvr>
                                      <p:to>
                                        <p:strVal val="visible"/>
                                      </p:to>
                                    </p:set>
                                    <p:animEffect transition="in" filter="wipe(down)">
                                      <p:cBhvr>
                                        <p:cTn id="80"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fontScale="90000"/>
          </a:bodyPr>
          <a:lstStyle/>
          <a:p>
            <a:r>
              <a:rPr lang="en-US" dirty="0"/>
              <a:t>Connection-oriented demultiplexing: example</a:t>
            </a:r>
          </a:p>
        </p:txBody>
      </p:sp>
      <p:sp>
        <p:nvSpPr>
          <p:cNvPr id="661" name="Text Box 155">
            <a:extLst>
              <a:ext uri="{FF2B5EF4-FFF2-40B4-BE49-F238E27FC236}">
                <a16:creationId xmlns:a16="http://schemas.microsoft.com/office/drawing/2014/main" id="{05C5CCE5-0F17-B045-BA74-C5A452C2E19A}"/>
              </a:ext>
            </a:extLst>
          </p:cNvPr>
          <p:cNvSpPr txBox="1">
            <a:spLocks noChangeArrowheads="1"/>
          </p:cNvSpPr>
          <p:nvPr/>
        </p:nvSpPr>
        <p:spPr bwMode="auto">
          <a:xfrm>
            <a:off x="266327" y="3904302"/>
            <a:ext cx="2407288" cy="175432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800" dirty="0">
                <a:solidFill>
                  <a:prstClr val="black"/>
                </a:solidFill>
                <a:latin typeface="Calibri" panose="020F0502020204030204"/>
              </a:rPr>
              <a:t>Three segments, all destined to IP address B,</a:t>
            </a:r>
          </a:p>
          <a:p>
            <a:pPr defTabSz="685800">
              <a:defRPr/>
            </a:pPr>
            <a:r>
              <a:rPr lang="en-US" sz="1800" dirty="0">
                <a:solidFill>
                  <a:prstClr val="black"/>
                </a:solidFill>
                <a:latin typeface="Calibri" panose="020F0502020204030204"/>
              </a:rPr>
              <a:t> </a:t>
            </a:r>
            <a:r>
              <a:rPr lang="en-US" sz="1800" dirty="0" err="1">
                <a:solidFill>
                  <a:prstClr val="black"/>
                </a:solidFill>
                <a:latin typeface="Calibri" panose="020F0502020204030204"/>
              </a:rPr>
              <a:t>dest</a:t>
            </a:r>
            <a:r>
              <a:rPr lang="en-US" sz="1800" dirty="0">
                <a:solidFill>
                  <a:prstClr val="black"/>
                </a:solidFill>
                <a:latin typeface="Calibri" panose="020F0502020204030204"/>
              </a:rPr>
              <a:t> port: 80 are demultiplexed to </a:t>
            </a:r>
            <a:r>
              <a:rPr lang="en-US" sz="1800" i="1" dirty="0">
                <a:solidFill>
                  <a:srgbClr val="C00000"/>
                </a:solidFill>
                <a:latin typeface="Calibri" panose="020F0502020204030204"/>
              </a:rPr>
              <a:t>different</a:t>
            </a:r>
            <a:r>
              <a:rPr lang="en-US" sz="1800" i="1" dirty="0">
                <a:solidFill>
                  <a:prstClr val="black"/>
                </a:solidFill>
                <a:latin typeface="Calibri" panose="020F0502020204030204"/>
              </a:rPr>
              <a:t> </a:t>
            </a:r>
            <a:r>
              <a:rPr lang="en-US" sz="1800" dirty="0">
                <a:solidFill>
                  <a:prstClr val="black"/>
                </a:solidFill>
                <a:latin typeface="Calibri" panose="020F0502020204030204"/>
              </a:rPr>
              <a:t>sockets</a:t>
            </a:r>
          </a:p>
        </p:txBody>
      </p:sp>
      <p:grpSp>
        <p:nvGrpSpPr>
          <p:cNvPr id="3" name="Group 2">
            <a:extLst>
              <a:ext uri="{FF2B5EF4-FFF2-40B4-BE49-F238E27FC236}">
                <a16:creationId xmlns:a16="http://schemas.microsoft.com/office/drawing/2014/main" id="{58FA3AB8-3DB6-3D40-7C65-5893A14C3235}"/>
              </a:ext>
            </a:extLst>
          </p:cNvPr>
          <p:cNvGrpSpPr/>
          <p:nvPr/>
        </p:nvGrpSpPr>
        <p:grpSpPr>
          <a:xfrm>
            <a:off x="2378339" y="2166979"/>
            <a:ext cx="6778229" cy="3652415"/>
            <a:chOff x="1590386" y="1073700"/>
            <a:chExt cx="9037638" cy="4869887"/>
          </a:xfrm>
        </p:grpSpPr>
        <p:sp>
          <p:nvSpPr>
            <p:cNvPr id="525" name="Freeform 5">
              <a:extLst>
                <a:ext uri="{FF2B5EF4-FFF2-40B4-BE49-F238E27FC236}">
                  <a16:creationId xmlns:a16="http://schemas.microsoft.com/office/drawing/2014/main" id="{7563D6BB-009E-434A-9515-A6EAB0387E14}"/>
                </a:ext>
              </a:extLst>
            </p:cNvPr>
            <p:cNvSpPr>
              <a:spLocks/>
            </p:cNvSpPr>
            <p:nvPr/>
          </p:nvSpPr>
          <p:spPr bwMode="auto">
            <a:xfrm>
              <a:off x="4454236" y="1478017"/>
              <a:ext cx="552450" cy="2082800"/>
            </a:xfrm>
            <a:custGeom>
              <a:avLst/>
              <a:gdLst>
                <a:gd name="T0" fmla="*/ 0 w 348"/>
                <a:gd name="T1" fmla="*/ 2147483647 h 1312"/>
                <a:gd name="T2" fmla="*/ 2147483647 w 348"/>
                <a:gd name="T3" fmla="*/ 0 h 1312"/>
                <a:gd name="T4" fmla="*/ 2147483647 w 348"/>
                <a:gd name="T5" fmla="*/ 2147483647 h 1312"/>
                <a:gd name="T6" fmla="*/ 2147483647 w 348"/>
                <a:gd name="T7" fmla="*/ 2147483647 h 1312"/>
                <a:gd name="T8" fmla="*/ 0 w 348"/>
                <a:gd name="T9" fmla="*/ 2147483647 h 1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8" h="1312">
                  <a:moveTo>
                    <a:pt x="0" y="1306"/>
                  </a:moveTo>
                  <a:lnTo>
                    <a:pt x="348" y="0"/>
                  </a:lnTo>
                  <a:lnTo>
                    <a:pt x="342" y="1258"/>
                  </a:lnTo>
                  <a:lnTo>
                    <a:pt x="180" y="1312"/>
                  </a:lnTo>
                  <a:lnTo>
                    <a:pt x="0" y="1306"/>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526" name="Freeform 6">
              <a:extLst>
                <a:ext uri="{FF2B5EF4-FFF2-40B4-BE49-F238E27FC236}">
                  <a16:creationId xmlns:a16="http://schemas.microsoft.com/office/drawing/2014/main" id="{C4ABCFDA-E140-9C42-81C9-A5B5F6C446B3}"/>
                </a:ext>
              </a:extLst>
            </p:cNvPr>
            <p:cNvSpPr>
              <a:spLocks/>
            </p:cNvSpPr>
            <p:nvPr/>
          </p:nvSpPr>
          <p:spPr bwMode="auto">
            <a:xfrm>
              <a:off x="2052349" y="1657405"/>
              <a:ext cx="460375" cy="2193925"/>
            </a:xfrm>
            <a:custGeom>
              <a:avLst/>
              <a:gdLst>
                <a:gd name="T0" fmla="*/ 2147483647 w 290"/>
                <a:gd name="T1" fmla="*/ 2147483647 h 1382"/>
                <a:gd name="T2" fmla="*/ 0 w 290"/>
                <a:gd name="T3" fmla="*/ 2147483647 h 1382"/>
                <a:gd name="T4" fmla="*/ 2147483647 w 290"/>
                <a:gd name="T5" fmla="*/ 0 h 1382"/>
                <a:gd name="T6" fmla="*/ 2147483647 w 290"/>
                <a:gd name="T7" fmla="*/ 2147483647 h 1382"/>
                <a:gd name="T8" fmla="*/ 2147483647 w 290"/>
                <a:gd name="T9" fmla="*/ 2147483647 h 1382"/>
                <a:gd name="T10" fmla="*/ 2147483647 w 290"/>
                <a:gd name="T11" fmla="*/ 2147483647 h 13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0" h="1382">
                  <a:moveTo>
                    <a:pt x="15" y="1382"/>
                  </a:moveTo>
                  <a:lnTo>
                    <a:pt x="0" y="1360"/>
                  </a:lnTo>
                  <a:lnTo>
                    <a:pt x="290" y="0"/>
                  </a:lnTo>
                  <a:lnTo>
                    <a:pt x="284" y="1258"/>
                  </a:lnTo>
                  <a:lnTo>
                    <a:pt x="182" y="1382"/>
                  </a:lnTo>
                  <a:lnTo>
                    <a:pt x="15" y="1382"/>
                  </a:lnTo>
                  <a:close/>
                </a:path>
              </a:pathLst>
            </a:custGeom>
            <a:gradFill rotWithShape="1">
              <a:gsLst>
                <a:gs pos="0">
                  <a:srgbClr val="FFFFFF"/>
                </a:gs>
                <a:gs pos="100000">
                  <a:srgbClr val="B2B2B2"/>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527" name="Rectangle 23">
              <a:extLst>
                <a:ext uri="{FF2B5EF4-FFF2-40B4-BE49-F238E27FC236}">
                  <a16:creationId xmlns:a16="http://schemas.microsoft.com/office/drawing/2014/main" id="{614F9B0E-1109-CC4B-8E75-55A6C74E6801}"/>
                </a:ext>
              </a:extLst>
            </p:cNvPr>
            <p:cNvSpPr>
              <a:spLocks noChangeArrowheads="1"/>
            </p:cNvSpPr>
            <p:nvPr/>
          </p:nvSpPr>
          <p:spPr bwMode="auto">
            <a:xfrm>
              <a:off x="2568286" y="1624067"/>
              <a:ext cx="1296988"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528" name="Rectangle 24">
              <a:extLst>
                <a:ext uri="{FF2B5EF4-FFF2-40B4-BE49-F238E27FC236}">
                  <a16:creationId xmlns:a16="http://schemas.microsoft.com/office/drawing/2014/main" id="{CBD89C10-5030-2D42-A25D-BFEC970A8F20}"/>
                </a:ext>
              </a:extLst>
            </p:cNvPr>
            <p:cNvSpPr>
              <a:spLocks noChangeArrowheads="1"/>
            </p:cNvSpPr>
            <p:nvPr/>
          </p:nvSpPr>
          <p:spPr bwMode="auto">
            <a:xfrm>
              <a:off x="2530186" y="1678042"/>
              <a:ext cx="12731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529" name="Line 25">
              <a:extLst>
                <a:ext uri="{FF2B5EF4-FFF2-40B4-BE49-F238E27FC236}">
                  <a16:creationId xmlns:a16="http://schemas.microsoft.com/office/drawing/2014/main" id="{8D7EF085-D57A-E243-98DA-BEAC54BDE621}"/>
                </a:ext>
              </a:extLst>
            </p:cNvPr>
            <p:cNvSpPr>
              <a:spLocks noChangeShapeType="1"/>
            </p:cNvSpPr>
            <p:nvPr/>
          </p:nvSpPr>
          <p:spPr bwMode="auto">
            <a:xfrm>
              <a:off x="2539711" y="2438455"/>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530" name="Text Box 26">
              <a:extLst>
                <a:ext uri="{FF2B5EF4-FFF2-40B4-BE49-F238E27FC236}">
                  <a16:creationId xmlns:a16="http://schemas.microsoft.com/office/drawing/2014/main" id="{0ED9175A-7497-DD4F-9C18-ACF0B19F7B51}"/>
                </a:ext>
              </a:extLst>
            </p:cNvPr>
            <p:cNvSpPr txBox="1">
              <a:spLocks noChangeArrowheads="1"/>
            </p:cNvSpPr>
            <p:nvPr/>
          </p:nvSpPr>
          <p:spPr bwMode="auto">
            <a:xfrm>
              <a:off x="2496849" y="2420992"/>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531" name="Line 27">
              <a:extLst>
                <a:ext uri="{FF2B5EF4-FFF2-40B4-BE49-F238E27FC236}">
                  <a16:creationId xmlns:a16="http://schemas.microsoft.com/office/drawing/2014/main" id="{FD58D124-018E-3848-9BB8-DBD51A4D851F}"/>
                </a:ext>
              </a:extLst>
            </p:cNvPr>
            <p:cNvSpPr>
              <a:spLocks noChangeShapeType="1"/>
            </p:cNvSpPr>
            <p:nvPr/>
          </p:nvSpPr>
          <p:spPr bwMode="auto">
            <a:xfrm>
              <a:off x="2547649" y="2759130"/>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532" name="Line 28">
              <a:extLst>
                <a:ext uri="{FF2B5EF4-FFF2-40B4-BE49-F238E27FC236}">
                  <a16:creationId xmlns:a16="http://schemas.microsoft.com/office/drawing/2014/main" id="{15074162-585A-BC41-91A3-96670F676188}"/>
                </a:ext>
              </a:extLst>
            </p:cNvPr>
            <p:cNvSpPr>
              <a:spLocks noChangeShapeType="1"/>
            </p:cNvSpPr>
            <p:nvPr/>
          </p:nvSpPr>
          <p:spPr bwMode="auto">
            <a:xfrm>
              <a:off x="2533361" y="306869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533" name="Line 29">
              <a:extLst>
                <a:ext uri="{FF2B5EF4-FFF2-40B4-BE49-F238E27FC236}">
                  <a16:creationId xmlns:a16="http://schemas.microsoft.com/office/drawing/2014/main" id="{23B1C83D-9CD1-7141-80E9-B23AF1A120DD}"/>
                </a:ext>
              </a:extLst>
            </p:cNvPr>
            <p:cNvSpPr>
              <a:spLocks noChangeShapeType="1"/>
            </p:cNvSpPr>
            <p:nvPr/>
          </p:nvSpPr>
          <p:spPr bwMode="auto">
            <a:xfrm>
              <a:off x="2533361" y="3354442"/>
              <a:ext cx="1263650" cy="3175"/>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534" name="Text Box 26">
              <a:extLst>
                <a:ext uri="{FF2B5EF4-FFF2-40B4-BE49-F238E27FC236}">
                  <a16:creationId xmlns:a16="http://schemas.microsoft.com/office/drawing/2014/main" id="{18FD1BAC-22E0-E743-8D85-AD83603D9B8E}"/>
                </a:ext>
              </a:extLst>
            </p:cNvPr>
            <p:cNvSpPr txBox="1">
              <a:spLocks noChangeArrowheads="1"/>
            </p:cNvSpPr>
            <p:nvPr/>
          </p:nvSpPr>
          <p:spPr bwMode="auto">
            <a:xfrm>
              <a:off x="2531774" y="1668517"/>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535" name="Text Box 26">
              <a:extLst>
                <a:ext uri="{FF2B5EF4-FFF2-40B4-BE49-F238E27FC236}">
                  <a16:creationId xmlns:a16="http://schemas.microsoft.com/office/drawing/2014/main" id="{FA894B51-006F-1749-B20E-08F2DE8012E4}"/>
                </a:ext>
              </a:extLst>
            </p:cNvPr>
            <p:cNvSpPr txBox="1">
              <a:spLocks noChangeArrowheads="1"/>
            </p:cNvSpPr>
            <p:nvPr/>
          </p:nvSpPr>
          <p:spPr bwMode="auto">
            <a:xfrm>
              <a:off x="2487325" y="3325867"/>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536" name="Text Box 26">
              <a:extLst>
                <a:ext uri="{FF2B5EF4-FFF2-40B4-BE49-F238E27FC236}">
                  <a16:creationId xmlns:a16="http://schemas.microsoft.com/office/drawing/2014/main" id="{986C06D0-2FCC-3C4A-8B26-E47FEACB6A76}"/>
                </a:ext>
              </a:extLst>
            </p:cNvPr>
            <p:cNvSpPr txBox="1">
              <a:spLocks noChangeArrowheads="1"/>
            </p:cNvSpPr>
            <p:nvPr/>
          </p:nvSpPr>
          <p:spPr bwMode="auto">
            <a:xfrm>
              <a:off x="2506374" y="3040117"/>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537" name="Text Box 26">
              <a:extLst>
                <a:ext uri="{FF2B5EF4-FFF2-40B4-BE49-F238E27FC236}">
                  <a16:creationId xmlns:a16="http://schemas.microsoft.com/office/drawing/2014/main" id="{D076C0F4-C178-3E40-A5A0-D9949817A0D5}"/>
                </a:ext>
              </a:extLst>
            </p:cNvPr>
            <p:cNvSpPr txBox="1">
              <a:spLocks noChangeArrowheads="1"/>
            </p:cNvSpPr>
            <p:nvPr/>
          </p:nvSpPr>
          <p:spPr bwMode="auto">
            <a:xfrm>
              <a:off x="2496849" y="2744841"/>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538" name="Oval 19">
              <a:extLst>
                <a:ext uri="{FF2B5EF4-FFF2-40B4-BE49-F238E27FC236}">
                  <a16:creationId xmlns:a16="http://schemas.microsoft.com/office/drawing/2014/main" id="{2A71094C-18F7-1C46-8C86-7D8D2BCF2A4A}"/>
                </a:ext>
              </a:extLst>
            </p:cNvPr>
            <p:cNvSpPr>
              <a:spLocks noChangeArrowheads="1"/>
            </p:cNvSpPr>
            <p:nvPr/>
          </p:nvSpPr>
          <p:spPr bwMode="auto">
            <a:xfrm>
              <a:off x="2866736" y="1954267"/>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a:solidFill>
                    <a:srgbClr val="000000"/>
                  </a:solidFill>
                  <a:latin typeface="Arial" charset="0"/>
                  <a:ea typeface="ＭＳ Ｐゴシック" charset="0"/>
                </a:rPr>
                <a:t>P1</a:t>
              </a:r>
              <a:endParaRPr lang="en-US" sz="1200" kern="0" dirty="0">
                <a:solidFill>
                  <a:srgbClr val="000000"/>
                </a:solidFill>
                <a:latin typeface="Arial" charset="0"/>
                <a:ea typeface="ＭＳ Ｐゴシック" charset="0"/>
              </a:endParaRPr>
            </a:p>
          </p:txBody>
        </p:sp>
        <p:sp>
          <p:nvSpPr>
            <p:cNvPr id="540" name="Rectangle 21">
              <a:extLst>
                <a:ext uri="{FF2B5EF4-FFF2-40B4-BE49-F238E27FC236}">
                  <a16:creationId xmlns:a16="http://schemas.microsoft.com/office/drawing/2014/main" id="{BEBEC012-39DF-A541-830E-6FF13ADAE416}"/>
                </a:ext>
              </a:extLst>
            </p:cNvPr>
            <p:cNvSpPr>
              <a:spLocks noChangeArrowheads="1"/>
            </p:cNvSpPr>
            <p:nvPr/>
          </p:nvSpPr>
          <p:spPr bwMode="auto">
            <a:xfrm>
              <a:off x="2834986" y="2278117"/>
              <a:ext cx="620713" cy="2286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41" name="Rectangle 22">
              <a:extLst>
                <a:ext uri="{FF2B5EF4-FFF2-40B4-BE49-F238E27FC236}">
                  <a16:creationId xmlns:a16="http://schemas.microsoft.com/office/drawing/2014/main" id="{C54558CA-8722-654B-8BA0-93D5C1A67599}"/>
                </a:ext>
              </a:extLst>
            </p:cNvPr>
            <p:cNvSpPr>
              <a:spLocks noChangeArrowheads="1"/>
            </p:cNvSpPr>
            <p:nvPr/>
          </p:nvSpPr>
          <p:spPr bwMode="auto">
            <a:xfrm>
              <a:off x="2956741" y="2307835"/>
              <a:ext cx="370040" cy="17373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42" name="Rectangle 23">
              <a:extLst>
                <a:ext uri="{FF2B5EF4-FFF2-40B4-BE49-F238E27FC236}">
                  <a16:creationId xmlns:a16="http://schemas.microsoft.com/office/drawing/2014/main" id="{4ECE78D1-C229-D44C-8946-E5D845D77BF2}"/>
                </a:ext>
              </a:extLst>
            </p:cNvPr>
            <p:cNvSpPr>
              <a:spLocks noChangeArrowheads="1"/>
            </p:cNvSpPr>
            <p:nvPr/>
          </p:nvSpPr>
          <p:spPr bwMode="auto">
            <a:xfrm>
              <a:off x="3350655" y="2410705"/>
              <a:ext cx="64459" cy="5943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43" name="Rectangle 24">
              <a:extLst>
                <a:ext uri="{FF2B5EF4-FFF2-40B4-BE49-F238E27FC236}">
                  <a16:creationId xmlns:a16="http://schemas.microsoft.com/office/drawing/2014/main" id="{5E3A5BD1-1D56-EA42-9427-8F0D4DE4565B}"/>
                </a:ext>
              </a:extLst>
            </p:cNvPr>
            <p:cNvSpPr>
              <a:spLocks noChangeArrowheads="1"/>
            </p:cNvSpPr>
            <p:nvPr/>
          </p:nvSpPr>
          <p:spPr bwMode="auto">
            <a:xfrm>
              <a:off x="2861247" y="2412991"/>
              <a:ext cx="64459" cy="61722"/>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44" name="Rectangle 23">
              <a:extLst>
                <a:ext uri="{FF2B5EF4-FFF2-40B4-BE49-F238E27FC236}">
                  <a16:creationId xmlns:a16="http://schemas.microsoft.com/office/drawing/2014/main" id="{9E1F493A-E899-D74E-919F-F4A60AE16A91}"/>
                </a:ext>
              </a:extLst>
            </p:cNvPr>
            <p:cNvSpPr>
              <a:spLocks noChangeArrowheads="1"/>
            </p:cNvSpPr>
            <p:nvPr/>
          </p:nvSpPr>
          <p:spPr bwMode="auto">
            <a:xfrm>
              <a:off x="5067011" y="1390705"/>
              <a:ext cx="2254250"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545" name="Rectangle 24">
              <a:extLst>
                <a:ext uri="{FF2B5EF4-FFF2-40B4-BE49-F238E27FC236}">
                  <a16:creationId xmlns:a16="http://schemas.microsoft.com/office/drawing/2014/main" id="{49A0180F-5303-6E4C-99BF-19A56AAC7C47}"/>
                </a:ext>
              </a:extLst>
            </p:cNvPr>
            <p:cNvSpPr>
              <a:spLocks noChangeArrowheads="1"/>
            </p:cNvSpPr>
            <p:nvPr/>
          </p:nvSpPr>
          <p:spPr bwMode="auto">
            <a:xfrm>
              <a:off x="5013036" y="1468492"/>
              <a:ext cx="2225675" cy="1979613"/>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546" name="Text Box 26">
              <a:extLst>
                <a:ext uri="{FF2B5EF4-FFF2-40B4-BE49-F238E27FC236}">
                  <a16:creationId xmlns:a16="http://schemas.microsoft.com/office/drawing/2014/main" id="{23645F4E-01B1-3349-9A7F-2F24FC4C20C1}"/>
                </a:ext>
              </a:extLst>
            </p:cNvPr>
            <p:cNvSpPr txBox="1">
              <a:spLocks noChangeArrowheads="1"/>
            </p:cNvSpPr>
            <p:nvPr/>
          </p:nvSpPr>
          <p:spPr bwMode="auto">
            <a:xfrm>
              <a:off x="5438486" y="2197155"/>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547" name="Text Box 26">
              <a:extLst>
                <a:ext uri="{FF2B5EF4-FFF2-40B4-BE49-F238E27FC236}">
                  <a16:creationId xmlns:a16="http://schemas.microsoft.com/office/drawing/2014/main" id="{9BED65C6-B309-8B4D-A068-E19EDFD116B4}"/>
                </a:ext>
              </a:extLst>
            </p:cNvPr>
            <p:cNvSpPr txBox="1">
              <a:spLocks noChangeArrowheads="1"/>
            </p:cNvSpPr>
            <p:nvPr/>
          </p:nvSpPr>
          <p:spPr bwMode="auto">
            <a:xfrm>
              <a:off x="5492460" y="1420867"/>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548" name="Text Box 26">
              <a:extLst>
                <a:ext uri="{FF2B5EF4-FFF2-40B4-BE49-F238E27FC236}">
                  <a16:creationId xmlns:a16="http://schemas.microsoft.com/office/drawing/2014/main" id="{3CB9E7E9-E087-BE49-8C38-35C7E48BA8C9}"/>
                </a:ext>
              </a:extLst>
            </p:cNvPr>
            <p:cNvSpPr txBox="1">
              <a:spLocks noChangeArrowheads="1"/>
            </p:cNvSpPr>
            <p:nvPr/>
          </p:nvSpPr>
          <p:spPr bwMode="auto">
            <a:xfrm>
              <a:off x="5432136" y="3102029"/>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549" name="Text Box 26">
              <a:extLst>
                <a:ext uri="{FF2B5EF4-FFF2-40B4-BE49-F238E27FC236}">
                  <a16:creationId xmlns:a16="http://schemas.microsoft.com/office/drawing/2014/main" id="{75F58D18-0976-1447-9AE8-E0B265BD816E}"/>
                </a:ext>
              </a:extLst>
            </p:cNvPr>
            <p:cNvSpPr txBox="1">
              <a:spLocks noChangeArrowheads="1"/>
            </p:cNvSpPr>
            <p:nvPr/>
          </p:nvSpPr>
          <p:spPr bwMode="auto">
            <a:xfrm>
              <a:off x="5432136" y="2816280"/>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550" name="Oval 36">
              <a:extLst>
                <a:ext uri="{FF2B5EF4-FFF2-40B4-BE49-F238E27FC236}">
                  <a16:creationId xmlns:a16="http://schemas.microsoft.com/office/drawing/2014/main" id="{2A7F5798-BB67-5141-90FB-F51D589E31C6}"/>
                </a:ext>
              </a:extLst>
            </p:cNvPr>
            <p:cNvSpPr>
              <a:spLocks noChangeArrowheads="1"/>
            </p:cNvSpPr>
            <p:nvPr/>
          </p:nvSpPr>
          <p:spPr bwMode="auto">
            <a:xfrm>
              <a:off x="5132099" y="1727255"/>
              <a:ext cx="598487"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dirty="0">
                  <a:solidFill>
                    <a:srgbClr val="000000"/>
                  </a:solidFill>
                  <a:latin typeface="Arial" charset="0"/>
                  <a:ea typeface="ＭＳ Ｐゴシック" charset="0"/>
                </a:rPr>
                <a:t>P4</a:t>
              </a:r>
            </a:p>
          </p:txBody>
        </p:sp>
        <p:sp>
          <p:nvSpPr>
            <p:cNvPr id="551" name="Rectangle 23">
              <a:extLst>
                <a:ext uri="{FF2B5EF4-FFF2-40B4-BE49-F238E27FC236}">
                  <a16:creationId xmlns:a16="http://schemas.microsoft.com/office/drawing/2014/main" id="{32D4A7B1-DBDA-2B47-8511-4BF8176AC42D}"/>
                </a:ext>
              </a:extLst>
            </p:cNvPr>
            <p:cNvSpPr>
              <a:spLocks noChangeArrowheads="1"/>
            </p:cNvSpPr>
            <p:nvPr/>
          </p:nvSpPr>
          <p:spPr bwMode="auto">
            <a:xfrm>
              <a:off x="8202324" y="1616130"/>
              <a:ext cx="1296987" cy="1981200"/>
            </a:xfrm>
            <a:prstGeom prst="rect">
              <a:avLst/>
            </a:prstGeom>
            <a:solidFill>
              <a:srgbClr val="000099"/>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a:solidFill>
                  <a:srgbClr val="000000"/>
                </a:solidFill>
                <a:latin typeface="Times New Roman" panose="02020603050405020304" pitchFamily="18" charset="0"/>
              </a:endParaRPr>
            </a:p>
          </p:txBody>
        </p:sp>
        <p:sp>
          <p:nvSpPr>
            <p:cNvPr id="552" name="Rectangle 24">
              <a:extLst>
                <a:ext uri="{FF2B5EF4-FFF2-40B4-BE49-F238E27FC236}">
                  <a16:creationId xmlns:a16="http://schemas.microsoft.com/office/drawing/2014/main" id="{DAED2C2D-612B-9147-A573-0082B49107C3}"/>
                </a:ext>
              </a:extLst>
            </p:cNvPr>
            <p:cNvSpPr>
              <a:spLocks noChangeArrowheads="1"/>
            </p:cNvSpPr>
            <p:nvPr/>
          </p:nvSpPr>
          <p:spPr bwMode="auto">
            <a:xfrm>
              <a:off x="8005474" y="1657405"/>
              <a:ext cx="1631950" cy="1979612"/>
            </a:xfrm>
            <a:prstGeom prst="rect">
              <a:avLst/>
            </a:prstGeom>
            <a:solidFill>
              <a:srgbClr val="FFFFFF"/>
            </a:solidFill>
            <a:ln w="28575">
              <a:solidFill>
                <a:srgbClr val="000000"/>
              </a:solidFill>
              <a:miter lim="800000"/>
              <a:headEnd/>
              <a:tailEnd/>
            </a:ln>
          </p:spPr>
          <p:txBody>
            <a:bodyPr wrap="none" anchor="ct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endParaRPr lang="en-US" altLang="en-US" sz="1800" kern="0">
                <a:solidFill>
                  <a:srgbClr val="000000"/>
                </a:solidFill>
                <a:latin typeface="Times New Roman" panose="02020603050405020304" pitchFamily="18" charset="0"/>
              </a:endParaRPr>
            </a:p>
          </p:txBody>
        </p:sp>
        <p:sp>
          <p:nvSpPr>
            <p:cNvPr id="553" name="Text Box 26">
              <a:extLst>
                <a:ext uri="{FF2B5EF4-FFF2-40B4-BE49-F238E27FC236}">
                  <a16:creationId xmlns:a16="http://schemas.microsoft.com/office/drawing/2014/main" id="{892F681F-FE7B-A849-886C-3DB4B71509FA}"/>
                </a:ext>
              </a:extLst>
            </p:cNvPr>
            <p:cNvSpPr txBox="1">
              <a:spLocks noChangeArrowheads="1"/>
            </p:cNvSpPr>
            <p:nvPr/>
          </p:nvSpPr>
          <p:spPr bwMode="auto">
            <a:xfrm>
              <a:off x="8130886" y="2413055"/>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transport</a:t>
              </a:r>
            </a:p>
          </p:txBody>
        </p:sp>
        <p:sp>
          <p:nvSpPr>
            <p:cNvPr id="554" name="Text Box 26">
              <a:extLst>
                <a:ext uri="{FF2B5EF4-FFF2-40B4-BE49-F238E27FC236}">
                  <a16:creationId xmlns:a16="http://schemas.microsoft.com/office/drawing/2014/main" id="{5491EDD3-2B63-BB4B-87FA-02E376F65B7B}"/>
                </a:ext>
              </a:extLst>
            </p:cNvPr>
            <p:cNvSpPr txBox="1">
              <a:spLocks noChangeArrowheads="1"/>
            </p:cNvSpPr>
            <p:nvPr/>
          </p:nvSpPr>
          <p:spPr bwMode="auto">
            <a:xfrm>
              <a:off x="8165811" y="1660580"/>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application</a:t>
              </a:r>
            </a:p>
          </p:txBody>
        </p:sp>
        <p:sp>
          <p:nvSpPr>
            <p:cNvPr id="555" name="Text Box 26">
              <a:extLst>
                <a:ext uri="{FF2B5EF4-FFF2-40B4-BE49-F238E27FC236}">
                  <a16:creationId xmlns:a16="http://schemas.microsoft.com/office/drawing/2014/main" id="{0FB3A86D-FFE9-EE49-AD2D-1E57E4F89BB1}"/>
                </a:ext>
              </a:extLst>
            </p:cNvPr>
            <p:cNvSpPr txBox="1">
              <a:spLocks noChangeArrowheads="1"/>
            </p:cNvSpPr>
            <p:nvPr/>
          </p:nvSpPr>
          <p:spPr bwMode="auto">
            <a:xfrm>
              <a:off x="8173750" y="3317929"/>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physical</a:t>
              </a:r>
            </a:p>
          </p:txBody>
        </p:sp>
        <p:sp>
          <p:nvSpPr>
            <p:cNvPr id="556" name="Text Box 26">
              <a:extLst>
                <a:ext uri="{FF2B5EF4-FFF2-40B4-BE49-F238E27FC236}">
                  <a16:creationId xmlns:a16="http://schemas.microsoft.com/office/drawing/2014/main" id="{9835580D-BB7F-E64A-B442-691428929F13}"/>
                </a:ext>
              </a:extLst>
            </p:cNvPr>
            <p:cNvSpPr txBox="1">
              <a:spLocks noChangeArrowheads="1"/>
            </p:cNvSpPr>
            <p:nvPr/>
          </p:nvSpPr>
          <p:spPr bwMode="auto">
            <a:xfrm>
              <a:off x="8140411" y="3032180"/>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link</a:t>
              </a:r>
            </a:p>
          </p:txBody>
        </p:sp>
        <p:sp>
          <p:nvSpPr>
            <p:cNvPr id="557" name="Text Box 26">
              <a:extLst>
                <a:ext uri="{FF2B5EF4-FFF2-40B4-BE49-F238E27FC236}">
                  <a16:creationId xmlns:a16="http://schemas.microsoft.com/office/drawing/2014/main" id="{31A0CB7D-BCCB-D34A-A890-C07347817887}"/>
                </a:ext>
              </a:extLst>
            </p:cNvPr>
            <p:cNvSpPr txBox="1">
              <a:spLocks noChangeArrowheads="1"/>
            </p:cNvSpPr>
            <p:nvPr/>
          </p:nvSpPr>
          <p:spPr bwMode="auto">
            <a:xfrm>
              <a:off x="8130886" y="2736905"/>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558" name="Oval 53">
              <a:extLst>
                <a:ext uri="{FF2B5EF4-FFF2-40B4-BE49-F238E27FC236}">
                  <a16:creationId xmlns:a16="http://schemas.microsoft.com/office/drawing/2014/main" id="{F992062B-7A21-DE43-9A4C-83CB3E9CB13F}"/>
                </a:ext>
              </a:extLst>
            </p:cNvPr>
            <p:cNvSpPr>
              <a:spLocks noChangeArrowheads="1"/>
            </p:cNvSpPr>
            <p:nvPr/>
          </p:nvSpPr>
          <p:spPr bwMode="auto">
            <a:xfrm>
              <a:off x="8086436" y="1954267"/>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a:solidFill>
                    <a:srgbClr val="000000"/>
                  </a:solidFill>
                  <a:latin typeface="Arial" charset="0"/>
                  <a:ea typeface="ＭＳ Ｐゴシック" charset="0"/>
                </a:rPr>
                <a:t>P2</a:t>
              </a:r>
            </a:p>
          </p:txBody>
        </p:sp>
        <p:sp>
          <p:nvSpPr>
            <p:cNvPr id="559" name="Freeform 54">
              <a:extLst>
                <a:ext uri="{FF2B5EF4-FFF2-40B4-BE49-F238E27FC236}">
                  <a16:creationId xmlns:a16="http://schemas.microsoft.com/office/drawing/2014/main" id="{AC38FC98-798D-384B-B25B-E64D646DDFC5}"/>
                </a:ext>
              </a:extLst>
            </p:cNvPr>
            <p:cNvSpPr>
              <a:spLocks/>
            </p:cNvSpPr>
            <p:nvPr/>
          </p:nvSpPr>
          <p:spPr bwMode="auto">
            <a:xfrm>
              <a:off x="9661236" y="1636767"/>
              <a:ext cx="504825" cy="2133600"/>
            </a:xfrm>
            <a:custGeom>
              <a:avLst/>
              <a:gdLst>
                <a:gd name="T0" fmla="*/ 2147483647 w 318"/>
                <a:gd name="T1" fmla="*/ 2147483647 h 1344"/>
                <a:gd name="T2" fmla="*/ 2147483647 w 318"/>
                <a:gd name="T3" fmla="*/ 0 h 1344"/>
                <a:gd name="T4" fmla="*/ 0 w 318"/>
                <a:gd name="T5" fmla="*/ 2147483647 h 1344"/>
                <a:gd name="T6" fmla="*/ 2147483647 w 318"/>
                <a:gd name="T7" fmla="*/ 2147483647 h 1344"/>
                <a:gd name="T8" fmla="*/ 2147483647 w 318"/>
                <a:gd name="T9" fmla="*/ 2147483647 h 13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8" h="1344">
                  <a:moveTo>
                    <a:pt x="318" y="1344"/>
                  </a:moveTo>
                  <a:lnTo>
                    <a:pt x="12" y="0"/>
                  </a:lnTo>
                  <a:lnTo>
                    <a:pt x="0" y="1224"/>
                  </a:lnTo>
                  <a:lnTo>
                    <a:pt x="121" y="1344"/>
                  </a:lnTo>
                  <a:lnTo>
                    <a:pt x="318" y="1344"/>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568" name="Text Box 93">
              <a:extLst>
                <a:ext uri="{FF2B5EF4-FFF2-40B4-BE49-F238E27FC236}">
                  <a16:creationId xmlns:a16="http://schemas.microsoft.com/office/drawing/2014/main" id="{28913095-A052-0A42-8972-4D75538256AD}"/>
                </a:ext>
              </a:extLst>
            </p:cNvPr>
            <p:cNvSpPr txBox="1">
              <a:spLocks noChangeArrowheads="1"/>
            </p:cNvSpPr>
            <p:nvPr/>
          </p:nvSpPr>
          <p:spPr bwMode="auto">
            <a:xfrm flipH="1">
              <a:off x="1723737" y="4418067"/>
              <a:ext cx="1147763" cy="5663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80000"/>
                </a:lnSpc>
                <a:spcBef>
                  <a:spcPct val="0"/>
                </a:spcBef>
                <a:spcAft>
                  <a:spcPct val="0"/>
                </a:spcAft>
                <a:defRPr/>
              </a:pPr>
              <a:r>
                <a:rPr lang="en-US" sz="1350">
                  <a:solidFill>
                    <a:srgbClr val="000000"/>
                  </a:solidFill>
                  <a:latin typeface="Gill Sans MT" charset="0"/>
                </a:rPr>
                <a:t>host: IP address A</a:t>
              </a:r>
            </a:p>
          </p:txBody>
        </p:sp>
        <p:sp>
          <p:nvSpPr>
            <p:cNvPr id="569" name="Text Box 94">
              <a:extLst>
                <a:ext uri="{FF2B5EF4-FFF2-40B4-BE49-F238E27FC236}">
                  <a16:creationId xmlns:a16="http://schemas.microsoft.com/office/drawing/2014/main" id="{E982CF1A-0928-6A45-8462-D083EBC09BA7}"/>
                </a:ext>
              </a:extLst>
            </p:cNvPr>
            <p:cNvSpPr txBox="1">
              <a:spLocks noChangeArrowheads="1"/>
            </p:cNvSpPr>
            <p:nvPr/>
          </p:nvSpPr>
          <p:spPr bwMode="auto">
            <a:xfrm flipH="1">
              <a:off x="9480261" y="4314880"/>
              <a:ext cx="1147763" cy="7879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80000"/>
                </a:lnSpc>
                <a:spcBef>
                  <a:spcPct val="0"/>
                </a:spcBef>
                <a:spcAft>
                  <a:spcPct val="0"/>
                </a:spcAft>
                <a:defRPr/>
              </a:pPr>
              <a:r>
                <a:rPr lang="en-US" sz="1350">
                  <a:solidFill>
                    <a:srgbClr val="000000"/>
                  </a:solidFill>
                  <a:latin typeface="Gill Sans MT" charset="0"/>
                </a:rPr>
                <a:t>host: IP address C</a:t>
              </a:r>
            </a:p>
          </p:txBody>
        </p:sp>
        <p:sp>
          <p:nvSpPr>
            <p:cNvPr id="570" name="Line 96">
              <a:extLst>
                <a:ext uri="{FF2B5EF4-FFF2-40B4-BE49-F238E27FC236}">
                  <a16:creationId xmlns:a16="http://schemas.microsoft.com/office/drawing/2014/main" id="{2EEED614-F433-E440-B256-A6E56708BB1E}"/>
                </a:ext>
              </a:extLst>
            </p:cNvPr>
            <p:cNvSpPr>
              <a:spLocks noChangeShapeType="1"/>
            </p:cNvSpPr>
            <p:nvPr/>
          </p:nvSpPr>
          <p:spPr bwMode="auto">
            <a:xfrm>
              <a:off x="4989224" y="3144892"/>
              <a:ext cx="2233612"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71" name="Line 97">
              <a:extLst>
                <a:ext uri="{FF2B5EF4-FFF2-40B4-BE49-F238E27FC236}">
                  <a16:creationId xmlns:a16="http://schemas.microsoft.com/office/drawing/2014/main" id="{098FD8B8-DDC2-8146-812C-346AC97FA30A}"/>
                </a:ext>
              </a:extLst>
            </p:cNvPr>
            <p:cNvSpPr>
              <a:spLocks noChangeShapeType="1"/>
            </p:cNvSpPr>
            <p:nvPr/>
          </p:nvSpPr>
          <p:spPr bwMode="auto">
            <a:xfrm>
              <a:off x="5005099" y="2843267"/>
              <a:ext cx="2233612"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72" name="Text Box 26">
              <a:extLst>
                <a:ext uri="{FF2B5EF4-FFF2-40B4-BE49-F238E27FC236}">
                  <a16:creationId xmlns:a16="http://schemas.microsoft.com/office/drawing/2014/main" id="{8BEC305F-DB39-A945-9B16-8D9FBE53F071}"/>
                </a:ext>
              </a:extLst>
            </p:cNvPr>
            <p:cNvSpPr txBox="1">
              <a:spLocks noChangeArrowheads="1"/>
            </p:cNvSpPr>
            <p:nvPr/>
          </p:nvSpPr>
          <p:spPr bwMode="auto">
            <a:xfrm>
              <a:off x="5392448" y="2508305"/>
              <a:ext cx="1317625" cy="3376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lnSpc>
                  <a:spcPct val="110000"/>
                </a:lnSpc>
                <a:spcBef>
                  <a:spcPct val="0"/>
                </a:spcBef>
                <a:spcAft>
                  <a:spcPct val="0"/>
                </a:spcAft>
                <a:defRPr/>
              </a:pPr>
              <a:r>
                <a:rPr lang="en-US" altLang="en-US" sz="1050" kern="0">
                  <a:solidFill>
                    <a:srgbClr val="000000"/>
                  </a:solidFill>
                </a:rPr>
                <a:t>network</a:t>
              </a:r>
            </a:p>
          </p:txBody>
        </p:sp>
        <p:sp>
          <p:nvSpPr>
            <p:cNvPr id="573" name="Line 99">
              <a:extLst>
                <a:ext uri="{FF2B5EF4-FFF2-40B4-BE49-F238E27FC236}">
                  <a16:creationId xmlns:a16="http://schemas.microsoft.com/office/drawing/2014/main" id="{7CB610F0-F0BE-7D49-8D7A-0F03DEB1C350}"/>
                </a:ext>
              </a:extLst>
            </p:cNvPr>
            <p:cNvSpPr>
              <a:spLocks noChangeShapeType="1"/>
            </p:cNvSpPr>
            <p:nvPr/>
          </p:nvSpPr>
          <p:spPr bwMode="auto">
            <a:xfrm>
              <a:off x="5008274" y="2521005"/>
              <a:ext cx="2233612"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74" name="Line 100">
              <a:extLst>
                <a:ext uri="{FF2B5EF4-FFF2-40B4-BE49-F238E27FC236}">
                  <a16:creationId xmlns:a16="http://schemas.microsoft.com/office/drawing/2014/main" id="{1D31CBE9-4A8E-BC4A-A036-BA509B6CF5EA}"/>
                </a:ext>
              </a:extLst>
            </p:cNvPr>
            <p:cNvSpPr>
              <a:spLocks noChangeShapeType="1"/>
            </p:cNvSpPr>
            <p:nvPr/>
          </p:nvSpPr>
          <p:spPr bwMode="auto">
            <a:xfrm>
              <a:off x="5011449" y="2198742"/>
              <a:ext cx="2233612"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76" name="Rectangle 102">
              <a:extLst>
                <a:ext uri="{FF2B5EF4-FFF2-40B4-BE49-F238E27FC236}">
                  <a16:creationId xmlns:a16="http://schemas.microsoft.com/office/drawing/2014/main" id="{70206F36-B050-C844-A36F-47D4A71EE355}"/>
                </a:ext>
              </a:extLst>
            </p:cNvPr>
            <p:cNvSpPr>
              <a:spLocks noChangeArrowheads="1"/>
            </p:cNvSpPr>
            <p:nvPr/>
          </p:nvSpPr>
          <p:spPr bwMode="auto">
            <a:xfrm>
              <a:off x="5187661" y="2060630"/>
              <a:ext cx="473075" cy="2286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77" name="Rectangle 103">
              <a:extLst>
                <a:ext uri="{FF2B5EF4-FFF2-40B4-BE49-F238E27FC236}">
                  <a16:creationId xmlns:a16="http://schemas.microsoft.com/office/drawing/2014/main" id="{5F70B84F-C600-BF41-9794-BB79AB85B4E5}"/>
                </a:ext>
              </a:extLst>
            </p:cNvPr>
            <p:cNvSpPr>
              <a:spLocks noChangeArrowheads="1"/>
            </p:cNvSpPr>
            <p:nvPr/>
          </p:nvSpPr>
          <p:spPr bwMode="auto">
            <a:xfrm>
              <a:off x="5280456" y="2090348"/>
              <a:ext cx="282025" cy="17373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78" name="Rectangle 104">
              <a:extLst>
                <a:ext uri="{FF2B5EF4-FFF2-40B4-BE49-F238E27FC236}">
                  <a16:creationId xmlns:a16="http://schemas.microsoft.com/office/drawing/2014/main" id="{9352E66B-31B1-0244-9A00-013E38F02047}"/>
                </a:ext>
              </a:extLst>
            </p:cNvPr>
            <p:cNvSpPr>
              <a:spLocks noChangeArrowheads="1"/>
            </p:cNvSpPr>
            <p:nvPr/>
          </p:nvSpPr>
          <p:spPr bwMode="auto">
            <a:xfrm>
              <a:off x="5580677" y="2193218"/>
              <a:ext cx="49127" cy="5943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79" name="Rectangle 105">
              <a:extLst>
                <a:ext uri="{FF2B5EF4-FFF2-40B4-BE49-F238E27FC236}">
                  <a16:creationId xmlns:a16="http://schemas.microsoft.com/office/drawing/2014/main" id="{A72F3B32-D2F7-184C-B710-25A136D5D062}"/>
                </a:ext>
              </a:extLst>
            </p:cNvPr>
            <p:cNvSpPr>
              <a:spLocks noChangeArrowheads="1"/>
            </p:cNvSpPr>
            <p:nvPr/>
          </p:nvSpPr>
          <p:spPr bwMode="auto">
            <a:xfrm>
              <a:off x="5207676" y="2195504"/>
              <a:ext cx="49127" cy="61722"/>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80" name="Oval 106">
              <a:extLst>
                <a:ext uri="{FF2B5EF4-FFF2-40B4-BE49-F238E27FC236}">
                  <a16:creationId xmlns:a16="http://schemas.microsoft.com/office/drawing/2014/main" id="{775F6544-1FEC-F148-8D8D-09EF67871450}"/>
                </a:ext>
              </a:extLst>
            </p:cNvPr>
            <p:cNvSpPr>
              <a:spLocks noChangeArrowheads="1"/>
            </p:cNvSpPr>
            <p:nvPr/>
          </p:nvSpPr>
          <p:spPr bwMode="auto">
            <a:xfrm>
              <a:off x="6498936" y="1732017"/>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a:solidFill>
                    <a:srgbClr val="000000"/>
                  </a:solidFill>
                  <a:latin typeface="Arial" charset="0"/>
                  <a:ea typeface="ＭＳ Ｐゴシック" charset="0"/>
                </a:rPr>
                <a:t>P6</a:t>
              </a:r>
            </a:p>
          </p:txBody>
        </p:sp>
        <p:sp>
          <p:nvSpPr>
            <p:cNvPr id="581" name="Oval 112">
              <a:extLst>
                <a:ext uri="{FF2B5EF4-FFF2-40B4-BE49-F238E27FC236}">
                  <a16:creationId xmlns:a16="http://schemas.microsoft.com/office/drawing/2014/main" id="{1A7AFB65-C131-864D-BB01-D752C9A2B6C2}"/>
                </a:ext>
              </a:extLst>
            </p:cNvPr>
            <p:cNvSpPr>
              <a:spLocks noChangeArrowheads="1"/>
            </p:cNvSpPr>
            <p:nvPr/>
          </p:nvSpPr>
          <p:spPr bwMode="auto">
            <a:xfrm>
              <a:off x="5827424" y="1730430"/>
              <a:ext cx="598487"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a:solidFill>
                    <a:srgbClr val="000000"/>
                  </a:solidFill>
                  <a:latin typeface="Arial" charset="0"/>
                  <a:ea typeface="ＭＳ Ｐゴシック" charset="0"/>
                </a:rPr>
                <a:t>P5</a:t>
              </a:r>
            </a:p>
          </p:txBody>
        </p:sp>
        <p:sp>
          <p:nvSpPr>
            <p:cNvPr id="583" name="Rectangle 119">
              <a:extLst>
                <a:ext uri="{FF2B5EF4-FFF2-40B4-BE49-F238E27FC236}">
                  <a16:creationId xmlns:a16="http://schemas.microsoft.com/office/drawing/2014/main" id="{967F16BC-79F0-D947-BF48-B3D4DFC37607}"/>
                </a:ext>
              </a:extLst>
            </p:cNvPr>
            <p:cNvSpPr>
              <a:spLocks noChangeArrowheads="1"/>
            </p:cNvSpPr>
            <p:nvPr/>
          </p:nvSpPr>
          <p:spPr bwMode="auto">
            <a:xfrm>
              <a:off x="5892511" y="2065392"/>
              <a:ext cx="473075" cy="2286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84" name="Rectangle 120">
              <a:extLst>
                <a:ext uri="{FF2B5EF4-FFF2-40B4-BE49-F238E27FC236}">
                  <a16:creationId xmlns:a16="http://schemas.microsoft.com/office/drawing/2014/main" id="{E857091F-6411-DE41-A408-86F1597775F1}"/>
                </a:ext>
              </a:extLst>
            </p:cNvPr>
            <p:cNvSpPr>
              <a:spLocks noChangeArrowheads="1"/>
            </p:cNvSpPr>
            <p:nvPr/>
          </p:nvSpPr>
          <p:spPr bwMode="auto">
            <a:xfrm>
              <a:off x="5985306" y="2095110"/>
              <a:ext cx="282025" cy="17373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85" name="Rectangle 121">
              <a:extLst>
                <a:ext uri="{FF2B5EF4-FFF2-40B4-BE49-F238E27FC236}">
                  <a16:creationId xmlns:a16="http://schemas.microsoft.com/office/drawing/2014/main" id="{10EEFABE-8406-A849-8F8B-3E87430B80EE}"/>
                </a:ext>
              </a:extLst>
            </p:cNvPr>
            <p:cNvSpPr>
              <a:spLocks noChangeArrowheads="1"/>
            </p:cNvSpPr>
            <p:nvPr/>
          </p:nvSpPr>
          <p:spPr bwMode="auto">
            <a:xfrm>
              <a:off x="6285527" y="2197980"/>
              <a:ext cx="49127" cy="5943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86" name="Rectangle 122">
              <a:extLst>
                <a:ext uri="{FF2B5EF4-FFF2-40B4-BE49-F238E27FC236}">
                  <a16:creationId xmlns:a16="http://schemas.microsoft.com/office/drawing/2014/main" id="{65CA8326-C8A6-0740-8CBC-12905C529885}"/>
                </a:ext>
              </a:extLst>
            </p:cNvPr>
            <p:cNvSpPr>
              <a:spLocks noChangeArrowheads="1"/>
            </p:cNvSpPr>
            <p:nvPr/>
          </p:nvSpPr>
          <p:spPr bwMode="auto">
            <a:xfrm>
              <a:off x="5912526" y="2200266"/>
              <a:ext cx="49127" cy="61722"/>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88" name="Rectangle 124">
              <a:extLst>
                <a:ext uri="{FF2B5EF4-FFF2-40B4-BE49-F238E27FC236}">
                  <a16:creationId xmlns:a16="http://schemas.microsoft.com/office/drawing/2014/main" id="{83A5305C-938A-3540-92FC-D9E6B3AA52E9}"/>
                </a:ext>
              </a:extLst>
            </p:cNvPr>
            <p:cNvSpPr>
              <a:spLocks noChangeArrowheads="1"/>
            </p:cNvSpPr>
            <p:nvPr/>
          </p:nvSpPr>
          <p:spPr bwMode="auto">
            <a:xfrm>
              <a:off x="6564024" y="2070155"/>
              <a:ext cx="473075" cy="2286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89" name="Rectangle 125">
              <a:extLst>
                <a:ext uri="{FF2B5EF4-FFF2-40B4-BE49-F238E27FC236}">
                  <a16:creationId xmlns:a16="http://schemas.microsoft.com/office/drawing/2014/main" id="{5B51F3FA-BED2-9741-B674-7BC7A9E263FC}"/>
                </a:ext>
              </a:extLst>
            </p:cNvPr>
            <p:cNvSpPr>
              <a:spLocks noChangeArrowheads="1"/>
            </p:cNvSpPr>
            <p:nvPr/>
          </p:nvSpPr>
          <p:spPr bwMode="auto">
            <a:xfrm>
              <a:off x="6656819" y="2099873"/>
              <a:ext cx="282025" cy="17373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0" name="Rectangle 126">
              <a:extLst>
                <a:ext uri="{FF2B5EF4-FFF2-40B4-BE49-F238E27FC236}">
                  <a16:creationId xmlns:a16="http://schemas.microsoft.com/office/drawing/2014/main" id="{79C8DFFC-9ECB-D741-B85F-80F0EF7532BF}"/>
                </a:ext>
              </a:extLst>
            </p:cNvPr>
            <p:cNvSpPr>
              <a:spLocks noChangeArrowheads="1"/>
            </p:cNvSpPr>
            <p:nvPr/>
          </p:nvSpPr>
          <p:spPr bwMode="auto">
            <a:xfrm>
              <a:off x="6957040" y="2202743"/>
              <a:ext cx="49127" cy="5943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1" name="Rectangle 127">
              <a:extLst>
                <a:ext uri="{FF2B5EF4-FFF2-40B4-BE49-F238E27FC236}">
                  <a16:creationId xmlns:a16="http://schemas.microsoft.com/office/drawing/2014/main" id="{978D323D-4AE7-9141-B532-67630F4025DB}"/>
                </a:ext>
              </a:extLst>
            </p:cNvPr>
            <p:cNvSpPr>
              <a:spLocks noChangeArrowheads="1"/>
            </p:cNvSpPr>
            <p:nvPr/>
          </p:nvSpPr>
          <p:spPr bwMode="auto">
            <a:xfrm>
              <a:off x="6584039" y="2205029"/>
              <a:ext cx="49127" cy="61722"/>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2" name="Line 133">
              <a:extLst>
                <a:ext uri="{FF2B5EF4-FFF2-40B4-BE49-F238E27FC236}">
                  <a16:creationId xmlns:a16="http://schemas.microsoft.com/office/drawing/2014/main" id="{B3924FC9-2487-424F-B323-57225BB1F6F0}"/>
                </a:ext>
              </a:extLst>
            </p:cNvPr>
            <p:cNvSpPr>
              <a:spLocks noChangeShapeType="1"/>
            </p:cNvSpPr>
            <p:nvPr/>
          </p:nvSpPr>
          <p:spPr bwMode="auto">
            <a:xfrm>
              <a:off x="7997536" y="3360792"/>
              <a:ext cx="163830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3" name="Line 134">
              <a:extLst>
                <a:ext uri="{FF2B5EF4-FFF2-40B4-BE49-F238E27FC236}">
                  <a16:creationId xmlns:a16="http://schemas.microsoft.com/office/drawing/2014/main" id="{8C5E5D9B-06EC-8040-963A-0448FFE65135}"/>
                </a:ext>
              </a:extLst>
            </p:cNvPr>
            <p:cNvSpPr>
              <a:spLocks noChangeShapeType="1"/>
            </p:cNvSpPr>
            <p:nvPr/>
          </p:nvSpPr>
          <p:spPr bwMode="auto">
            <a:xfrm>
              <a:off x="7988011" y="3065517"/>
              <a:ext cx="163830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4" name="Line 135">
              <a:extLst>
                <a:ext uri="{FF2B5EF4-FFF2-40B4-BE49-F238E27FC236}">
                  <a16:creationId xmlns:a16="http://schemas.microsoft.com/office/drawing/2014/main" id="{B6E44884-802F-C140-8F4F-ECCAD20C64C2}"/>
                </a:ext>
              </a:extLst>
            </p:cNvPr>
            <p:cNvSpPr>
              <a:spLocks noChangeShapeType="1"/>
            </p:cNvSpPr>
            <p:nvPr/>
          </p:nvSpPr>
          <p:spPr bwMode="auto">
            <a:xfrm>
              <a:off x="7988011" y="2770242"/>
              <a:ext cx="163830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5" name="Line 136">
              <a:extLst>
                <a:ext uri="{FF2B5EF4-FFF2-40B4-BE49-F238E27FC236}">
                  <a16:creationId xmlns:a16="http://schemas.microsoft.com/office/drawing/2014/main" id="{267911A5-63F3-4640-87F3-C5B06264CB37}"/>
                </a:ext>
              </a:extLst>
            </p:cNvPr>
            <p:cNvSpPr>
              <a:spLocks noChangeShapeType="1"/>
            </p:cNvSpPr>
            <p:nvPr/>
          </p:nvSpPr>
          <p:spPr bwMode="auto">
            <a:xfrm>
              <a:off x="7988011" y="2465442"/>
              <a:ext cx="1638300"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7" name="Rectangle 129">
              <a:extLst>
                <a:ext uri="{FF2B5EF4-FFF2-40B4-BE49-F238E27FC236}">
                  <a16:creationId xmlns:a16="http://schemas.microsoft.com/office/drawing/2014/main" id="{61B34E55-D106-A049-9E71-650BFC4F134B}"/>
                </a:ext>
              </a:extLst>
            </p:cNvPr>
            <p:cNvSpPr>
              <a:spLocks noChangeArrowheads="1"/>
            </p:cNvSpPr>
            <p:nvPr/>
          </p:nvSpPr>
          <p:spPr bwMode="auto">
            <a:xfrm>
              <a:off x="8140411" y="2292405"/>
              <a:ext cx="473075" cy="2286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8" name="Rectangle 130">
              <a:extLst>
                <a:ext uri="{FF2B5EF4-FFF2-40B4-BE49-F238E27FC236}">
                  <a16:creationId xmlns:a16="http://schemas.microsoft.com/office/drawing/2014/main" id="{11316511-2186-B14B-B2A0-0967B623A5F9}"/>
                </a:ext>
              </a:extLst>
            </p:cNvPr>
            <p:cNvSpPr>
              <a:spLocks noChangeArrowheads="1"/>
            </p:cNvSpPr>
            <p:nvPr/>
          </p:nvSpPr>
          <p:spPr bwMode="auto">
            <a:xfrm>
              <a:off x="8233206" y="2322123"/>
              <a:ext cx="282025" cy="17373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99" name="Rectangle 131">
              <a:extLst>
                <a:ext uri="{FF2B5EF4-FFF2-40B4-BE49-F238E27FC236}">
                  <a16:creationId xmlns:a16="http://schemas.microsoft.com/office/drawing/2014/main" id="{7A116F04-A632-B845-B528-4E4C72A94792}"/>
                </a:ext>
              </a:extLst>
            </p:cNvPr>
            <p:cNvSpPr>
              <a:spLocks noChangeArrowheads="1"/>
            </p:cNvSpPr>
            <p:nvPr/>
          </p:nvSpPr>
          <p:spPr bwMode="auto">
            <a:xfrm>
              <a:off x="8533427" y="2424993"/>
              <a:ext cx="49127" cy="5943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00" name="Rectangle 132">
              <a:extLst>
                <a:ext uri="{FF2B5EF4-FFF2-40B4-BE49-F238E27FC236}">
                  <a16:creationId xmlns:a16="http://schemas.microsoft.com/office/drawing/2014/main" id="{4A85FADB-4AF1-F94D-8774-770D5D087635}"/>
                </a:ext>
              </a:extLst>
            </p:cNvPr>
            <p:cNvSpPr>
              <a:spLocks noChangeArrowheads="1"/>
            </p:cNvSpPr>
            <p:nvPr/>
          </p:nvSpPr>
          <p:spPr bwMode="auto">
            <a:xfrm>
              <a:off x="8160426" y="2427279"/>
              <a:ext cx="49127" cy="61722"/>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02" name="Rectangle 138">
              <a:extLst>
                <a:ext uri="{FF2B5EF4-FFF2-40B4-BE49-F238E27FC236}">
                  <a16:creationId xmlns:a16="http://schemas.microsoft.com/office/drawing/2014/main" id="{6EF6EEDA-22BF-6241-8415-4BAB32D12862}"/>
                </a:ext>
              </a:extLst>
            </p:cNvPr>
            <p:cNvSpPr>
              <a:spLocks noChangeArrowheads="1"/>
            </p:cNvSpPr>
            <p:nvPr/>
          </p:nvSpPr>
          <p:spPr bwMode="auto">
            <a:xfrm>
              <a:off x="8935749" y="2282880"/>
              <a:ext cx="473075" cy="22860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03" name="Rectangle 139">
              <a:extLst>
                <a:ext uri="{FF2B5EF4-FFF2-40B4-BE49-F238E27FC236}">
                  <a16:creationId xmlns:a16="http://schemas.microsoft.com/office/drawing/2014/main" id="{3DD5FE6D-6228-3940-8146-E91BBCD9F57B}"/>
                </a:ext>
              </a:extLst>
            </p:cNvPr>
            <p:cNvSpPr>
              <a:spLocks noChangeArrowheads="1"/>
            </p:cNvSpPr>
            <p:nvPr/>
          </p:nvSpPr>
          <p:spPr bwMode="auto">
            <a:xfrm>
              <a:off x="9028544" y="2312598"/>
              <a:ext cx="282025" cy="173736"/>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04" name="Rectangle 140">
              <a:extLst>
                <a:ext uri="{FF2B5EF4-FFF2-40B4-BE49-F238E27FC236}">
                  <a16:creationId xmlns:a16="http://schemas.microsoft.com/office/drawing/2014/main" id="{15547CDB-C790-C348-AE10-9B28B2C54F9B}"/>
                </a:ext>
              </a:extLst>
            </p:cNvPr>
            <p:cNvSpPr>
              <a:spLocks noChangeArrowheads="1"/>
            </p:cNvSpPr>
            <p:nvPr/>
          </p:nvSpPr>
          <p:spPr bwMode="auto">
            <a:xfrm>
              <a:off x="9328765" y="2415468"/>
              <a:ext cx="49127" cy="59436"/>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05" name="Rectangle 141">
              <a:extLst>
                <a:ext uri="{FF2B5EF4-FFF2-40B4-BE49-F238E27FC236}">
                  <a16:creationId xmlns:a16="http://schemas.microsoft.com/office/drawing/2014/main" id="{59BAD7A1-391C-F44A-8C97-BB2749F44B10}"/>
                </a:ext>
              </a:extLst>
            </p:cNvPr>
            <p:cNvSpPr>
              <a:spLocks noChangeArrowheads="1"/>
            </p:cNvSpPr>
            <p:nvPr/>
          </p:nvSpPr>
          <p:spPr bwMode="auto">
            <a:xfrm>
              <a:off x="8955764" y="2417754"/>
              <a:ext cx="49127" cy="61722"/>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06" name="Oval 143">
              <a:extLst>
                <a:ext uri="{FF2B5EF4-FFF2-40B4-BE49-F238E27FC236}">
                  <a16:creationId xmlns:a16="http://schemas.microsoft.com/office/drawing/2014/main" id="{714C3193-ABA3-E549-9000-1B9EA94280C7}"/>
                </a:ext>
              </a:extLst>
            </p:cNvPr>
            <p:cNvSpPr>
              <a:spLocks noChangeArrowheads="1"/>
            </p:cNvSpPr>
            <p:nvPr/>
          </p:nvSpPr>
          <p:spPr bwMode="auto">
            <a:xfrm>
              <a:off x="8877011" y="1949505"/>
              <a:ext cx="598488" cy="304800"/>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r>
                <a:rPr lang="en-US" sz="1200" kern="0">
                  <a:solidFill>
                    <a:srgbClr val="000000"/>
                  </a:solidFill>
                  <a:latin typeface="Arial" charset="0"/>
                  <a:ea typeface="ＭＳ Ｐゴシック" charset="0"/>
                </a:rPr>
                <a:t>P3</a:t>
              </a:r>
            </a:p>
          </p:txBody>
        </p:sp>
        <p:grpSp>
          <p:nvGrpSpPr>
            <p:cNvPr id="4" name="Group 3"/>
            <p:cNvGrpSpPr/>
            <p:nvPr/>
          </p:nvGrpSpPr>
          <p:grpSpPr>
            <a:xfrm>
              <a:off x="3301710" y="4192641"/>
              <a:ext cx="2173289" cy="1377960"/>
              <a:chOff x="3301710" y="4192641"/>
              <a:chExt cx="2173289" cy="1377960"/>
            </a:xfrm>
          </p:grpSpPr>
          <p:grpSp>
            <p:nvGrpSpPr>
              <p:cNvPr id="560" name="Group 76">
                <a:extLst>
                  <a:ext uri="{FF2B5EF4-FFF2-40B4-BE49-F238E27FC236}">
                    <a16:creationId xmlns:a16="http://schemas.microsoft.com/office/drawing/2014/main" id="{54B1DF71-9399-154E-A326-E57B31715B46}"/>
                  </a:ext>
                </a:extLst>
              </p:cNvPr>
              <p:cNvGrpSpPr>
                <a:grpSpLocks/>
              </p:cNvGrpSpPr>
              <p:nvPr/>
            </p:nvGrpSpPr>
            <p:grpSpPr bwMode="auto">
              <a:xfrm>
                <a:off x="3374736" y="4883213"/>
                <a:ext cx="2100263" cy="687388"/>
                <a:chOff x="1031" y="3697"/>
                <a:chExt cx="1323" cy="433"/>
              </a:xfrm>
            </p:grpSpPr>
            <p:sp>
              <p:nvSpPr>
                <p:cNvPr id="561" name="Rectangle 77">
                  <a:extLst>
                    <a:ext uri="{FF2B5EF4-FFF2-40B4-BE49-F238E27FC236}">
                      <a16:creationId xmlns:a16="http://schemas.microsoft.com/office/drawing/2014/main" id="{126F8F0C-1620-8242-B2D8-31D60CE3B0C0}"/>
                    </a:ext>
                  </a:extLst>
                </p:cNvPr>
                <p:cNvSpPr>
                  <a:spLocks noChangeArrowheads="1"/>
                </p:cNvSpPr>
                <p:nvPr/>
              </p:nvSpPr>
              <p:spPr bwMode="auto">
                <a:xfrm>
                  <a:off x="1553" y="3697"/>
                  <a:ext cx="678" cy="138"/>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562" name="Line 78">
                  <a:extLst>
                    <a:ext uri="{FF2B5EF4-FFF2-40B4-BE49-F238E27FC236}">
                      <a16:creationId xmlns:a16="http://schemas.microsoft.com/office/drawing/2014/main" id="{B4AFF46B-1913-5749-A0C2-475F8713C47B}"/>
                    </a:ext>
                  </a:extLst>
                </p:cNvPr>
                <p:cNvSpPr>
                  <a:spLocks noChangeShapeType="1"/>
                </p:cNvSpPr>
                <p:nvPr/>
              </p:nvSpPr>
              <p:spPr bwMode="auto">
                <a:xfrm flipV="1">
                  <a:off x="2179" y="3770"/>
                  <a:ext cx="175" cy="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63" name="Text Box 79">
                  <a:extLst>
                    <a:ext uri="{FF2B5EF4-FFF2-40B4-BE49-F238E27FC236}">
                      <a16:creationId xmlns:a16="http://schemas.microsoft.com/office/drawing/2014/main" id="{CE607ED2-10F4-764C-A00E-207E57A6B5CE}"/>
                    </a:ext>
                  </a:extLst>
                </p:cNvPr>
                <p:cNvSpPr txBox="1">
                  <a:spLocks noChangeArrowheads="1"/>
                </p:cNvSpPr>
                <p:nvPr/>
              </p:nvSpPr>
              <p:spPr bwMode="auto">
                <a:xfrm>
                  <a:off x="1031" y="3822"/>
                  <a:ext cx="1281" cy="3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85000"/>
                    </a:lnSpc>
                    <a:spcBef>
                      <a:spcPct val="0"/>
                    </a:spcBef>
                    <a:spcAft>
                      <a:spcPct val="0"/>
                    </a:spcAft>
                    <a:defRPr/>
                  </a:pPr>
                  <a:r>
                    <a:rPr lang="en-US" sz="1050" kern="0" dirty="0">
                      <a:solidFill>
                        <a:srgbClr val="000000"/>
                      </a:solidFill>
                    </a:rPr>
                    <a:t>source </a:t>
                  </a:r>
                  <a:r>
                    <a:rPr lang="en-US" sz="1050" kern="0" dirty="0" err="1">
                      <a:solidFill>
                        <a:srgbClr val="000000"/>
                      </a:solidFill>
                    </a:rPr>
                    <a:t>IP,port</a:t>
                  </a:r>
                  <a:r>
                    <a:rPr lang="en-US" sz="1050" kern="0" dirty="0">
                      <a:solidFill>
                        <a:srgbClr val="000000"/>
                      </a:solidFill>
                    </a:rPr>
                    <a:t>: A,9157</a:t>
                  </a:r>
                </a:p>
                <a:p>
                  <a:pPr algn="r" defTabSz="685800" eaLnBrk="0" fontAlgn="base" hangingPunct="0">
                    <a:lnSpc>
                      <a:spcPct val="85000"/>
                    </a:lnSpc>
                    <a:spcBef>
                      <a:spcPct val="0"/>
                    </a:spcBef>
                    <a:spcAft>
                      <a:spcPct val="0"/>
                    </a:spcAft>
                    <a:defRPr/>
                  </a:pPr>
                  <a:r>
                    <a:rPr lang="en-US" sz="1050" kern="0" dirty="0" err="1">
                      <a:solidFill>
                        <a:srgbClr val="000000"/>
                      </a:solidFill>
                    </a:rPr>
                    <a:t>dest</a:t>
                  </a:r>
                  <a:r>
                    <a:rPr lang="en-US" sz="1050" kern="0" dirty="0">
                      <a:solidFill>
                        <a:srgbClr val="000000"/>
                      </a:solidFill>
                    </a:rPr>
                    <a:t> IP, port: B,80</a:t>
                  </a:r>
                </a:p>
              </p:txBody>
            </p:sp>
          </p:grpSp>
          <p:grpSp>
            <p:nvGrpSpPr>
              <p:cNvPr id="564" name="Group 80">
                <a:extLst>
                  <a:ext uri="{FF2B5EF4-FFF2-40B4-BE49-F238E27FC236}">
                    <a16:creationId xmlns:a16="http://schemas.microsoft.com/office/drawing/2014/main" id="{BE97DD4B-C63C-784B-AC3B-62C82E3DEAE1}"/>
                  </a:ext>
                </a:extLst>
              </p:cNvPr>
              <p:cNvGrpSpPr>
                <a:grpSpLocks/>
              </p:cNvGrpSpPr>
              <p:nvPr/>
            </p:nvGrpSpPr>
            <p:grpSpPr bwMode="auto">
              <a:xfrm>
                <a:off x="3301710" y="4192641"/>
                <a:ext cx="1958975" cy="687388"/>
                <a:chOff x="2741" y="3750"/>
                <a:chExt cx="1234" cy="433"/>
              </a:xfrm>
            </p:grpSpPr>
            <p:sp>
              <p:nvSpPr>
                <p:cNvPr id="565" name="Rectangle 81">
                  <a:extLst>
                    <a:ext uri="{FF2B5EF4-FFF2-40B4-BE49-F238E27FC236}">
                      <a16:creationId xmlns:a16="http://schemas.microsoft.com/office/drawing/2014/main" id="{4CBF1123-14B9-314E-90DC-C336B1E56772}"/>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66" name="Line 82">
                  <a:extLst>
                    <a:ext uri="{FF2B5EF4-FFF2-40B4-BE49-F238E27FC236}">
                      <a16:creationId xmlns:a16="http://schemas.microsoft.com/office/drawing/2014/main" id="{C63CC2F7-6C69-D341-8C27-77AE238CB115}"/>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567" name="Text Box 83">
                  <a:extLst>
                    <a:ext uri="{FF2B5EF4-FFF2-40B4-BE49-F238E27FC236}">
                      <a16:creationId xmlns:a16="http://schemas.microsoft.com/office/drawing/2014/main" id="{FEC19C07-3FF2-1243-80F2-5776AC478D33}"/>
                    </a:ext>
                  </a:extLst>
                </p:cNvPr>
                <p:cNvSpPr txBox="1">
                  <a:spLocks noChangeArrowheads="1"/>
                </p:cNvSpPr>
                <p:nvPr/>
              </p:nvSpPr>
              <p:spPr bwMode="auto">
                <a:xfrm>
                  <a:off x="2813" y="3875"/>
                  <a:ext cx="1162" cy="3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050" kern="0">
                      <a:solidFill>
                        <a:srgbClr val="000000"/>
                      </a:solidFill>
                    </a:rPr>
                    <a:t>source IP,port: B,80</a:t>
                  </a:r>
                </a:p>
                <a:p>
                  <a:pPr defTabSz="685800" eaLnBrk="0" fontAlgn="base" hangingPunct="0">
                    <a:lnSpc>
                      <a:spcPct val="85000"/>
                    </a:lnSpc>
                    <a:spcBef>
                      <a:spcPct val="0"/>
                    </a:spcBef>
                    <a:spcAft>
                      <a:spcPct val="0"/>
                    </a:spcAft>
                    <a:defRPr/>
                  </a:pPr>
                  <a:r>
                    <a:rPr lang="en-US" sz="1050" kern="0">
                      <a:solidFill>
                        <a:srgbClr val="000000"/>
                      </a:solidFill>
                    </a:rPr>
                    <a:t>dest IP,port: A,9157</a:t>
                  </a:r>
                </a:p>
              </p:txBody>
            </p:sp>
          </p:grpSp>
        </p:grpSp>
        <p:sp>
          <p:nvSpPr>
            <p:cNvPr id="607" name="Freeform 144">
              <a:extLst>
                <a:ext uri="{FF2B5EF4-FFF2-40B4-BE49-F238E27FC236}">
                  <a16:creationId xmlns:a16="http://schemas.microsoft.com/office/drawing/2014/main" id="{C20C0751-24F4-5540-AE77-1F150DE44DAE}"/>
                </a:ext>
              </a:extLst>
            </p:cNvPr>
            <p:cNvSpPr>
              <a:spLocks/>
            </p:cNvSpPr>
            <p:nvPr/>
          </p:nvSpPr>
          <p:spPr bwMode="auto">
            <a:xfrm>
              <a:off x="3128674" y="2152705"/>
              <a:ext cx="2695575" cy="2695575"/>
            </a:xfrm>
            <a:custGeom>
              <a:avLst/>
              <a:gdLst>
                <a:gd name="T0" fmla="*/ 0 w 1698"/>
                <a:gd name="T1" fmla="*/ 2147483647 h 1698"/>
                <a:gd name="T2" fmla="*/ 0 w 1698"/>
                <a:gd name="T3" fmla="*/ 2147483647 h 1698"/>
                <a:gd name="T4" fmla="*/ 2147483647 w 1698"/>
                <a:gd name="T5" fmla="*/ 2147483647 h 1698"/>
                <a:gd name="T6" fmla="*/ 2147483647 w 1698"/>
                <a:gd name="T7" fmla="*/ 2147483647 h 1698"/>
                <a:gd name="T8" fmla="*/ 2147483647 w 1698"/>
                <a:gd name="T9" fmla="*/ 0 h 16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98" h="1698">
                  <a:moveTo>
                    <a:pt x="0" y="131"/>
                  </a:moveTo>
                  <a:lnTo>
                    <a:pt x="0" y="1698"/>
                  </a:lnTo>
                  <a:lnTo>
                    <a:pt x="1698" y="1690"/>
                  </a:lnTo>
                  <a:lnTo>
                    <a:pt x="1691" y="148"/>
                  </a:lnTo>
                  <a:lnTo>
                    <a:pt x="1443" y="0"/>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08" name="Freeform 145">
              <a:extLst>
                <a:ext uri="{FF2B5EF4-FFF2-40B4-BE49-F238E27FC236}">
                  <a16:creationId xmlns:a16="http://schemas.microsoft.com/office/drawing/2014/main" id="{29302AA3-50A5-1244-9A33-D38F93F145D5}"/>
                </a:ext>
              </a:extLst>
            </p:cNvPr>
            <p:cNvSpPr>
              <a:spLocks/>
            </p:cNvSpPr>
            <p:nvPr/>
          </p:nvSpPr>
          <p:spPr bwMode="auto">
            <a:xfrm>
              <a:off x="6114761" y="2184455"/>
              <a:ext cx="3089275" cy="3252787"/>
            </a:xfrm>
            <a:custGeom>
              <a:avLst/>
              <a:gdLst>
                <a:gd name="T0" fmla="*/ 0 w 1946"/>
                <a:gd name="T1" fmla="*/ 0 h 1801"/>
                <a:gd name="T2" fmla="*/ 0 w 1946"/>
                <a:gd name="T3" fmla="*/ 2147483647 h 1801"/>
                <a:gd name="T4" fmla="*/ 2147483647 w 1946"/>
                <a:gd name="T5" fmla="*/ 2147483647 h 1801"/>
                <a:gd name="T6" fmla="*/ 2147483647 w 1946"/>
                <a:gd name="T7" fmla="*/ 2147483647 h 180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6" h="1801">
                  <a:moveTo>
                    <a:pt x="0" y="0"/>
                  </a:moveTo>
                  <a:lnTo>
                    <a:pt x="0" y="1801"/>
                  </a:lnTo>
                  <a:lnTo>
                    <a:pt x="1946" y="1794"/>
                  </a:lnTo>
                  <a:lnTo>
                    <a:pt x="1925" y="132"/>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09" name="Freeform 146">
              <a:extLst>
                <a:ext uri="{FF2B5EF4-FFF2-40B4-BE49-F238E27FC236}">
                  <a16:creationId xmlns:a16="http://schemas.microsoft.com/office/drawing/2014/main" id="{6BB33F5D-182F-DB4B-A83A-42910CF0B783}"/>
                </a:ext>
              </a:extLst>
            </p:cNvPr>
            <p:cNvSpPr>
              <a:spLocks/>
            </p:cNvSpPr>
            <p:nvPr/>
          </p:nvSpPr>
          <p:spPr bwMode="auto">
            <a:xfrm>
              <a:off x="6773574" y="2173342"/>
              <a:ext cx="1609725" cy="2465388"/>
            </a:xfrm>
            <a:custGeom>
              <a:avLst/>
              <a:gdLst>
                <a:gd name="T0" fmla="*/ 0 w 1014"/>
                <a:gd name="T1" fmla="*/ 0 h 1480"/>
                <a:gd name="T2" fmla="*/ 0 w 1014"/>
                <a:gd name="T3" fmla="*/ 2147483647 h 1480"/>
                <a:gd name="T4" fmla="*/ 2147483647 w 1014"/>
                <a:gd name="T5" fmla="*/ 2147483647 h 1480"/>
                <a:gd name="T6" fmla="*/ 2147483647 w 1014"/>
                <a:gd name="T7" fmla="*/ 2147483647 h 1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14" h="1480">
                  <a:moveTo>
                    <a:pt x="0" y="0"/>
                  </a:moveTo>
                  <a:lnTo>
                    <a:pt x="0" y="1480"/>
                  </a:lnTo>
                  <a:lnTo>
                    <a:pt x="1014" y="1480"/>
                  </a:lnTo>
                  <a:lnTo>
                    <a:pt x="1014" y="146"/>
                  </a:lnTo>
                </a:path>
              </a:pathLst>
            </a:custGeom>
            <a:noFill/>
            <a:ln w="28575" cap="flat" cmpd="sng">
              <a:solidFill>
                <a:srgbClr val="CC0000"/>
              </a:solidFill>
              <a:prstDash val="solid"/>
              <a:round/>
              <a:headEnd type="triangl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nvGrpSpPr>
            <p:cNvPr id="610" name="Group 147">
              <a:extLst>
                <a:ext uri="{FF2B5EF4-FFF2-40B4-BE49-F238E27FC236}">
                  <a16:creationId xmlns:a16="http://schemas.microsoft.com/office/drawing/2014/main" id="{8F2EC129-42A1-CA45-9C29-F66369B61163}"/>
                </a:ext>
              </a:extLst>
            </p:cNvPr>
            <p:cNvGrpSpPr>
              <a:grpSpLocks/>
            </p:cNvGrpSpPr>
            <p:nvPr/>
          </p:nvGrpSpPr>
          <p:grpSpPr bwMode="auto">
            <a:xfrm>
              <a:off x="6872001" y="4397439"/>
              <a:ext cx="2147888" cy="687388"/>
              <a:chOff x="2741" y="3750"/>
              <a:chExt cx="1353" cy="433"/>
            </a:xfrm>
          </p:grpSpPr>
          <p:sp>
            <p:nvSpPr>
              <p:cNvPr id="611" name="Rectangle 148">
                <a:extLst>
                  <a:ext uri="{FF2B5EF4-FFF2-40B4-BE49-F238E27FC236}">
                    <a16:creationId xmlns:a16="http://schemas.microsoft.com/office/drawing/2014/main" id="{5531015F-C493-CC46-9820-D16FD2137132}"/>
                  </a:ext>
                </a:extLst>
              </p:cNvPr>
              <p:cNvSpPr>
                <a:spLocks noChangeArrowheads="1"/>
              </p:cNvSpPr>
              <p:nvPr/>
            </p:nvSpPr>
            <p:spPr bwMode="auto">
              <a:xfrm>
                <a:off x="2859" y="3750"/>
                <a:ext cx="678" cy="138"/>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12" name="Line 149">
                <a:extLst>
                  <a:ext uri="{FF2B5EF4-FFF2-40B4-BE49-F238E27FC236}">
                    <a16:creationId xmlns:a16="http://schemas.microsoft.com/office/drawing/2014/main" id="{2E6849E0-3812-A84C-9E80-84DB1D6B09BE}"/>
                  </a:ext>
                </a:extLst>
              </p:cNvPr>
              <p:cNvSpPr>
                <a:spLocks noChangeShapeType="1"/>
              </p:cNvSpPr>
              <p:nvPr/>
            </p:nvSpPr>
            <p:spPr bwMode="auto">
              <a:xfrm flipV="1">
                <a:off x="2741" y="3837"/>
                <a:ext cx="175"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13" name="Text Box 150">
                <a:extLst>
                  <a:ext uri="{FF2B5EF4-FFF2-40B4-BE49-F238E27FC236}">
                    <a16:creationId xmlns:a16="http://schemas.microsoft.com/office/drawing/2014/main" id="{EC838B59-7BC3-3F46-8B4A-83CBD6DB573B}"/>
                  </a:ext>
                </a:extLst>
              </p:cNvPr>
              <p:cNvSpPr txBox="1">
                <a:spLocks noChangeArrowheads="1"/>
              </p:cNvSpPr>
              <p:nvPr/>
            </p:nvSpPr>
            <p:spPr bwMode="auto">
              <a:xfrm>
                <a:off x="2813" y="3875"/>
                <a:ext cx="1281" cy="3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050" kern="0">
                    <a:solidFill>
                      <a:srgbClr val="000000"/>
                    </a:solidFill>
                  </a:rPr>
                  <a:t>source IP,port: C,5775</a:t>
                </a:r>
              </a:p>
              <a:p>
                <a:pPr defTabSz="685800" eaLnBrk="0" fontAlgn="base" hangingPunct="0">
                  <a:lnSpc>
                    <a:spcPct val="85000"/>
                  </a:lnSpc>
                  <a:spcBef>
                    <a:spcPct val="0"/>
                  </a:spcBef>
                  <a:spcAft>
                    <a:spcPct val="0"/>
                  </a:spcAft>
                  <a:defRPr/>
                </a:pPr>
                <a:r>
                  <a:rPr lang="en-US" sz="1050" kern="0">
                    <a:solidFill>
                      <a:srgbClr val="000000"/>
                    </a:solidFill>
                  </a:rPr>
                  <a:t>dest IP,port: B,80</a:t>
                </a:r>
              </a:p>
            </p:txBody>
          </p:sp>
        </p:grpSp>
        <p:sp>
          <p:nvSpPr>
            <p:cNvPr id="615" name="Rectangle 152">
              <a:extLst>
                <a:ext uri="{FF2B5EF4-FFF2-40B4-BE49-F238E27FC236}">
                  <a16:creationId xmlns:a16="http://schemas.microsoft.com/office/drawing/2014/main" id="{885FFA84-ACB8-0744-B24C-9A28B05875F1}"/>
                </a:ext>
              </a:extLst>
            </p:cNvPr>
            <p:cNvSpPr>
              <a:spLocks noChangeArrowheads="1"/>
            </p:cNvSpPr>
            <p:nvPr/>
          </p:nvSpPr>
          <p:spPr bwMode="auto">
            <a:xfrm>
              <a:off x="7129174" y="5186417"/>
              <a:ext cx="1076325" cy="219075"/>
            </a:xfrm>
            <a:prstGeom prst="rect">
              <a:avLst/>
            </a:prstGeom>
            <a:solidFill>
              <a:srgbClr val="3C6CD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616" name="Line 153">
              <a:extLst>
                <a:ext uri="{FF2B5EF4-FFF2-40B4-BE49-F238E27FC236}">
                  <a16:creationId xmlns:a16="http://schemas.microsoft.com/office/drawing/2014/main" id="{0B2DDB46-0A9D-004F-9F24-788225385A0B}"/>
                </a:ext>
              </a:extLst>
            </p:cNvPr>
            <p:cNvSpPr>
              <a:spLocks noChangeShapeType="1"/>
            </p:cNvSpPr>
            <p:nvPr/>
          </p:nvSpPr>
          <p:spPr bwMode="auto">
            <a:xfrm flipV="1">
              <a:off x="6941849" y="5324530"/>
              <a:ext cx="277813" cy="0"/>
            </a:xfrm>
            <a:prstGeom prst="line">
              <a:avLst/>
            </a:prstGeom>
            <a:noFill/>
            <a:ln w="38100">
              <a:solidFill>
                <a:srgbClr val="CC0000"/>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17" name="Text Box 154">
              <a:extLst>
                <a:ext uri="{FF2B5EF4-FFF2-40B4-BE49-F238E27FC236}">
                  <a16:creationId xmlns:a16="http://schemas.microsoft.com/office/drawing/2014/main" id="{33813E80-F8C8-1546-93E7-7005B836EEC5}"/>
                </a:ext>
              </a:extLst>
            </p:cNvPr>
            <p:cNvSpPr txBox="1">
              <a:spLocks noChangeArrowheads="1"/>
            </p:cNvSpPr>
            <p:nvPr/>
          </p:nvSpPr>
          <p:spPr bwMode="auto">
            <a:xfrm>
              <a:off x="7056150" y="5384855"/>
              <a:ext cx="2033035" cy="4893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85000"/>
                </a:lnSpc>
                <a:spcBef>
                  <a:spcPct val="0"/>
                </a:spcBef>
                <a:spcAft>
                  <a:spcPct val="0"/>
                </a:spcAft>
                <a:defRPr/>
              </a:pPr>
              <a:r>
                <a:rPr lang="en-US" sz="1050" kern="0" dirty="0">
                  <a:solidFill>
                    <a:srgbClr val="000000"/>
                  </a:solidFill>
                </a:rPr>
                <a:t>source </a:t>
              </a:r>
              <a:r>
                <a:rPr lang="en-US" sz="1050" kern="0" dirty="0" err="1">
                  <a:solidFill>
                    <a:srgbClr val="000000"/>
                  </a:solidFill>
                </a:rPr>
                <a:t>IP,port</a:t>
              </a:r>
              <a:r>
                <a:rPr lang="en-US" sz="1050" kern="0" dirty="0">
                  <a:solidFill>
                    <a:srgbClr val="000000"/>
                  </a:solidFill>
                </a:rPr>
                <a:t>: C,9157</a:t>
              </a:r>
            </a:p>
            <a:p>
              <a:pPr defTabSz="685800" eaLnBrk="0" fontAlgn="base" hangingPunct="0">
                <a:lnSpc>
                  <a:spcPct val="85000"/>
                </a:lnSpc>
                <a:spcBef>
                  <a:spcPct val="0"/>
                </a:spcBef>
                <a:spcAft>
                  <a:spcPct val="0"/>
                </a:spcAft>
                <a:defRPr/>
              </a:pPr>
              <a:r>
                <a:rPr lang="en-US" sz="1050" kern="0" dirty="0" err="1">
                  <a:solidFill>
                    <a:srgbClr val="000000"/>
                  </a:solidFill>
                </a:rPr>
                <a:t>dest</a:t>
              </a:r>
              <a:r>
                <a:rPr lang="en-US" sz="1050" kern="0" dirty="0">
                  <a:solidFill>
                    <a:srgbClr val="000000"/>
                  </a:solidFill>
                </a:rPr>
                <a:t> </a:t>
              </a:r>
              <a:r>
                <a:rPr lang="en-US" sz="1050" kern="0" dirty="0" err="1">
                  <a:solidFill>
                    <a:srgbClr val="000000"/>
                  </a:solidFill>
                </a:rPr>
                <a:t>IP,port</a:t>
              </a:r>
              <a:r>
                <a:rPr lang="en-US" sz="1050" kern="0" dirty="0">
                  <a:solidFill>
                    <a:srgbClr val="000000"/>
                  </a:solidFill>
                </a:rPr>
                <a:t>: B,80</a:t>
              </a:r>
            </a:p>
          </p:txBody>
        </p:sp>
        <p:sp>
          <p:nvSpPr>
            <p:cNvPr id="621" name="Text Box 160">
              <a:extLst>
                <a:ext uri="{FF2B5EF4-FFF2-40B4-BE49-F238E27FC236}">
                  <a16:creationId xmlns:a16="http://schemas.microsoft.com/office/drawing/2014/main" id="{49EFE28C-CCBF-994C-948D-5E439252E1FF}"/>
                </a:ext>
              </a:extLst>
            </p:cNvPr>
            <p:cNvSpPr txBox="1">
              <a:spLocks noChangeArrowheads="1"/>
            </p:cNvSpPr>
            <p:nvPr/>
          </p:nvSpPr>
          <p:spPr bwMode="auto">
            <a:xfrm flipH="1">
              <a:off x="6681499" y="3414767"/>
              <a:ext cx="1147763" cy="5663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lnSpc>
                  <a:spcPct val="80000"/>
                </a:lnSpc>
                <a:spcBef>
                  <a:spcPct val="0"/>
                </a:spcBef>
                <a:spcAft>
                  <a:spcPct val="0"/>
                </a:spcAft>
                <a:defRPr/>
              </a:pPr>
              <a:r>
                <a:rPr lang="en-US" sz="1350">
                  <a:solidFill>
                    <a:srgbClr val="000000"/>
                  </a:solidFill>
                  <a:latin typeface="Gill Sans MT" charset="0"/>
                </a:rPr>
                <a:t>server: IP address B</a:t>
              </a:r>
            </a:p>
          </p:txBody>
        </p:sp>
        <p:sp>
          <p:nvSpPr>
            <p:cNvPr id="623" name="Freeform 162">
              <a:extLst>
                <a:ext uri="{FF2B5EF4-FFF2-40B4-BE49-F238E27FC236}">
                  <a16:creationId xmlns:a16="http://schemas.microsoft.com/office/drawing/2014/main" id="{933B9AE8-1AB5-0247-896A-09244B6616F9}"/>
                </a:ext>
              </a:extLst>
            </p:cNvPr>
            <p:cNvSpPr>
              <a:spLocks/>
            </p:cNvSpPr>
            <p:nvPr/>
          </p:nvSpPr>
          <p:spPr bwMode="auto">
            <a:xfrm>
              <a:off x="4739823" y="2906357"/>
              <a:ext cx="71251" cy="672490"/>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624" name="Rectangle 163">
              <a:extLst>
                <a:ext uri="{FF2B5EF4-FFF2-40B4-BE49-F238E27FC236}">
                  <a16:creationId xmlns:a16="http://schemas.microsoft.com/office/drawing/2014/main" id="{69892481-5981-1C41-BD9D-4791FA8BA07F}"/>
                </a:ext>
              </a:extLst>
            </p:cNvPr>
            <p:cNvSpPr>
              <a:spLocks noChangeArrowheads="1"/>
            </p:cNvSpPr>
            <p:nvPr/>
          </p:nvSpPr>
          <p:spPr bwMode="auto">
            <a:xfrm>
              <a:off x="4471686" y="2905180"/>
              <a:ext cx="265116" cy="671608"/>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25" name="Freeform 164">
              <a:extLst>
                <a:ext uri="{FF2B5EF4-FFF2-40B4-BE49-F238E27FC236}">
                  <a16:creationId xmlns:a16="http://schemas.microsoft.com/office/drawing/2014/main" id="{354758CC-97E4-CA41-BF22-FC3AA11AB139}"/>
                </a:ext>
              </a:extLst>
            </p:cNvPr>
            <p:cNvSpPr>
              <a:spLocks/>
            </p:cNvSpPr>
            <p:nvPr/>
          </p:nvSpPr>
          <p:spPr bwMode="auto">
            <a:xfrm>
              <a:off x="4753167" y="2946659"/>
              <a:ext cx="42549" cy="622186"/>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626" name="Freeform 165">
              <a:extLst>
                <a:ext uri="{FF2B5EF4-FFF2-40B4-BE49-F238E27FC236}">
                  <a16:creationId xmlns:a16="http://schemas.microsoft.com/office/drawing/2014/main" id="{452D8B73-C85C-AF42-85A5-B7F8AAB96935}"/>
                </a:ext>
              </a:extLst>
            </p:cNvPr>
            <p:cNvSpPr>
              <a:spLocks/>
            </p:cNvSpPr>
            <p:nvPr/>
          </p:nvSpPr>
          <p:spPr bwMode="auto">
            <a:xfrm>
              <a:off x="4743851" y="3261429"/>
              <a:ext cx="66216" cy="55600"/>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627" name="Rectangle 166">
              <a:extLst>
                <a:ext uri="{FF2B5EF4-FFF2-40B4-BE49-F238E27FC236}">
                  <a16:creationId xmlns:a16="http://schemas.microsoft.com/office/drawing/2014/main" id="{4CB417AA-005D-CD44-9481-C2F20963092B}"/>
                </a:ext>
              </a:extLst>
            </p:cNvPr>
            <p:cNvSpPr>
              <a:spLocks noChangeArrowheads="1"/>
            </p:cNvSpPr>
            <p:nvPr/>
          </p:nvSpPr>
          <p:spPr bwMode="auto">
            <a:xfrm>
              <a:off x="4473196" y="2982843"/>
              <a:ext cx="150811" cy="1441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628" name="Group 167">
              <a:extLst>
                <a:ext uri="{FF2B5EF4-FFF2-40B4-BE49-F238E27FC236}">
                  <a16:creationId xmlns:a16="http://schemas.microsoft.com/office/drawing/2014/main" id="{54399D05-60E0-3447-A0B8-793547A7FDFA}"/>
                </a:ext>
              </a:extLst>
            </p:cNvPr>
            <p:cNvGrpSpPr>
              <a:grpSpLocks/>
            </p:cNvGrpSpPr>
            <p:nvPr/>
          </p:nvGrpSpPr>
          <p:grpSpPr bwMode="auto">
            <a:xfrm>
              <a:off x="4609153" y="2975488"/>
              <a:ext cx="146279" cy="42656"/>
              <a:chOff x="614" y="2568"/>
              <a:chExt cx="725" cy="139"/>
            </a:xfrm>
          </p:grpSpPr>
          <p:sp>
            <p:nvSpPr>
              <p:cNvPr id="653" name="AutoShape 168">
                <a:extLst>
                  <a:ext uri="{FF2B5EF4-FFF2-40B4-BE49-F238E27FC236}">
                    <a16:creationId xmlns:a16="http://schemas.microsoft.com/office/drawing/2014/main" id="{0E8C1976-030F-F746-864E-A99490854668}"/>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54" name="AutoShape 169">
                <a:extLst>
                  <a:ext uri="{FF2B5EF4-FFF2-40B4-BE49-F238E27FC236}">
                    <a16:creationId xmlns:a16="http://schemas.microsoft.com/office/drawing/2014/main" id="{C0F343F2-B11A-FB40-AC3A-93CAC1E9A9F0}"/>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629" name="Rectangle 170">
              <a:extLst>
                <a:ext uri="{FF2B5EF4-FFF2-40B4-BE49-F238E27FC236}">
                  <a16:creationId xmlns:a16="http://schemas.microsoft.com/office/drawing/2014/main" id="{72257BB6-BE40-C84A-9F2C-7D75F5B3408A}"/>
                </a:ext>
              </a:extLst>
            </p:cNvPr>
            <p:cNvSpPr>
              <a:spLocks noChangeArrowheads="1"/>
            </p:cNvSpPr>
            <p:nvPr/>
          </p:nvSpPr>
          <p:spPr bwMode="auto">
            <a:xfrm>
              <a:off x="4476469" y="3078157"/>
              <a:ext cx="150811" cy="1441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630" name="Group 171">
              <a:extLst>
                <a:ext uri="{FF2B5EF4-FFF2-40B4-BE49-F238E27FC236}">
                  <a16:creationId xmlns:a16="http://schemas.microsoft.com/office/drawing/2014/main" id="{249FAA90-2012-A843-9B2F-CC46D38944BE}"/>
                </a:ext>
              </a:extLst>
            </p:cNvPr>
            <p:cNvGrpSpPr>
              <a:grpSpLocks/>
            </p:cNvGrpSpPr>
            <p:nvPr/>
          </p:nvGrpSpPr>
          <p:grpSpPr bwMode="auto">
            <a:xfrm>
              <a:off x="4608650" y="3071390"/>
              <a:ext cx="146279" cy="39420"/>
              <a:chOff x="614" y="2568"/>
              <a:chExt cx="725" cy="139"/>
            </a:xfrm>
          </p:grpSpPr>
          <p:sp>
            <p:nvSpPr>
              <p:cNvPr id="651" name="AutoShape 172">
                <a:extLst>
                  <a:ext uri="{FF2B5EF4-FFF2-40B4-BE49-F238E27FC236}">
                    <a16:creationId xmlns:a16="http://schemas.microsoft.com/office/drawing/2014/main" id="{1EEEC70E-1D82-B143-BDE1-8B59092C041E}"/>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52" name="AutoShape 173">
                <a:extLst>
                  <a:ext uri="{FF2B5EF4-FFF2-40B4-BE49-F238E27FC236}">
                    <a16:creationId xmlns:a16="http://schemas.microsoft.com/office/drawing/2014/main" id="{EAE13528-3255-7344-B721-B6980B90F5D4}"/>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631" name="Rectangle 174">
              <a:extLst>
                <a:ext uri="{FF2B5EF4-FFF2-40B4-BE49-F238E27FC236}">
                  <a16:creationId xmlns:a16="http://schemas.microsoft.com/office/drawing/2014/main" id="{7188C30C-A22A-5D45-91C2-1ACAE8C1CB9F}"/>
                </a:ext>
              </a:extLst>
            </p:cNvPr>
            <p:cNvSpPr>
              <a:spLocks noChangeArrowheads="1"/>
            </p:cNvSpPr>
            <p:nvPr/>
          </p:nvSpPr>
          <p:spPr bwMode="auto">
            <a:xfrm>
              <a:off x="4474959" y="3178177"/>
              <a:ext cx="150811" cy="1441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32" name="Rectangle 175">
              <a:extLst>
                <a:ext uri="{FF2B5EF4-FFF2-40B4-BE49-F238E27FC236}">
                  <a16:creationId xmlns:a16="http://schemas.microsoft.com/office/drawing/2014/main" id="{F5086B84-99D0-6841-BE96-8395BC0620D5}"/>
                </a:ext>
              </a:extLst>
            </p:cNvPr>
            <p:cNvSpPr>
              <a:spLocks noChangeArrowheads="1"/>
            </p:cNvSpPr>
            <p:nvPr/>
          </p:nvSpPr>
          <p:spPr bwMode="auto">
            <a:xfrm>
              <a:off x="4477980" y="3265548"/>
              <a:ext cx="149301" cy="1441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nvGrpSpPr>
            <p:cNvPr id="633" name="Group 176">
              <a:extLst>
                <a:ext uri="{FF2B5EF4-FFF2-40B4-BE49-F238E27FC236}">
                  <a16:creationId xmlns:a16="http://schemas.microsoft.com/office/drawing/2014/main" id="{962F32CB-2CBA-0D4F-B8E2-EFFEF093D1AA}"/>
                </a:ext>
              </a:extLst>
            </p:cNvPr>
            <p:cNvGrpSpPr>
              <a:grpSpLocks/>
            </p:cNvGrpSpPr>
            <p:nvPr/>
          </p:nvGrpSpPr>
          <p:grpSpPr bwMode="auto">
            <a:xfrm>
              <a:off x="4605628" y="3257605"/>
              <a:ext cx="146531" cy="44421"/>
              <a:chOff x="614" y="2568"/>
              <a:chExt cx="725" cy="139"/>
            </a:xfrm>
          </p:grpSpPr>
          <p:sp>
            <p:nvSpPr>
              <p:cNvPr id="649" name="AutoShape 177">
                <a:extLst>
                  <a:ext uri="{FF2B5EF4-FFF2-40B4-BE49-F238E27FC236}">
                    <a16:creationId xmlns:a16="http://schemas.microsoft.com/office/drawing/2014/main" id="{EE96D227-3E09-6043-A826-C244873EE1DF}"/>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50" name="AutoShape 178">
                <a:extLst>
                  <a:ext uri="{FF2B5EF4-FFF2-40B4-BE49-F238E27FC236}">
                    <a16:creationId xmlns:a16="http://schemas.microsoft.com/office/drawing/2014/main" id="{EE37F51B-AE5B-774A-9400-F6B84CC895AF}"/>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634" name="Freeform 179">
              <a:extLst>
                <a:ext uri="{FF2B5EF4-FFF2-40B4-BE49-F238E27FC236}">
                  <a16:creationId xmlns:a16="http://schemas.microsoft.com/office/drawing/2014/main" id="{BB4E54F7-0208-D144-94CD-AE16252B07BE}"/>
                </a:ext>
              </a:extLst>
            </p:cNvPr>
            <p:cNvSpPr>
              <a:spLocks/>
            </p:cNvSpPr>
            <p:nvPr/>
          </p:nvSpPr>
          <p:spPr bwMode="auto">
            <a:xfrm>
              <a:off x="4744858" y="3177294"/>
              <a:ext cx="66216" cy="55305"/>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grpSp>
          <p:nvGrpSpPr>
            <p:cNvPr id="635" name="Group 180">
              <a:extLst>
                <a:ext uri="{FF2B5EF4-FFF2-40B4-BE49-F238E27FC236}">
                  <a16:creationId xmlns:a16="http://schemas.microsoft.com/office/drawing/2014/main" id="{CDDF1C6E-720C-1C4E-97D6-FEEA034A422E}"/>
                </a:ext>
              </a:extLst>
            </p:cNvPr>
            <p:cNvGrpSpPr>
              <a:grpSpLocks/>
            </p:cNvGrpSpPr>
            <p:nvPr/>
          </p:nvGrpSpPr>
          <p:grpSpPr bwMode="auto">
            <a:xfrm>
              <a:off x="4606635" y="3169352"/>
              <a:ext cx="146531" cy="40891"/>
              <a:chOff x="614" y="2568"/>
              <a:chExt cx="725" cy="139"/>
            </a:xfrm>
          </p:grpSpPr>
          <p:sp>
            <p:nvSpPr>
              <p:cNvPr id="647" name="AutoShape 181">
                <a:extLst>
                  <a:ext uri="{FF2B5EF4-FFF2-40B4-BE49-F238E27FC236}">
                    <a16:creationId xmlns:a16="http://schemas.microsoft.com/office/drawing/2014/main" id="{FCE1B24C-C6D5-A74E-BCC9-1790A44777C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48" name="AutoShape 182">
                <a:extLst>
                  <a:ext uri="{FF2B5EF4-FFF2-40B4-BE49-F238E27FC236}">
                    <a16:creationId xmlns:a16="http://schemas.microsoft.com/office/drawing/2014/main" id="{ECD7FAA8-997C-6741-B542-8F6CB8A79865}"/>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sp>
          <p:nvSpPr>
            <p:cNvPr id="636" name="Rectangle 183">
              <a:extLst>
                <a:ext uri="{FF2B5EF4-FFF2-40B4-BE49-F238E27FC236}">
                  <a16:creationId xmlns:a16="http://schemas.microsoft.com/office/drawing/2014/main" id="{FABC00AC-70CA-7043-A832-BD8E42059D35}"/>
                </a:ext>
              </a:extLst>
            </p:cNvPr>
            <p:cNvSpPr>
              <a:spLocks noChangeArrowheads="1"/>
            </p:cNvSpPr>
            <p:nvPr/>
          </p:nvSpPr>
          <p:spPr bwMode="auto">
            <a:xfrm>
              <a:off x="4735291" y="2905180"/>
              <a:ext cx="17372" cy="673079"/>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37" name="Freeform 184">
              <a:extLst>
                <a:ext uri="{FF2B5EF4-FFF2-40B4-BE49-F238E27FC236}">
                  <a16:creationId xmlns:a16="http://schemas.microsoft.com/office/drawing/2014/main" id="{113F4917-6305-434E-A2A6-9F8FC8CD2073}"/>
                </a:ext>
              </a:extLst>
            </p:cNvPr>
            <p:cNvSpPr>
              <a:spLocks/>
            </p:cNvSpPr>
            <p:nvPr/>
          </p:nvSpPr>
          <p:spPr bwMode="auto">
            <a:xfrm>
              <a:off x="4750901" y="3075215"/>
              <a:ext cx="59670" cy="62660"/>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638" name="Freeform 185">
              <a:extLst>
                <a:ext uri="{FF2B5EF4-FFF2-40B4-BE49-F238E27FC236}">
                  <a16:creationId xmlns:a16="http://schemas.microsoft.com/office/drawing/2014/main" id="{14DDB482-D40B-9E4B-B569-8524D8E8FF92}"/>
                </a:ext>
              </a:extLst>
            </p:cNvPr>
            <p:cNvSpPr>
              <a:spLocks/>
            </p:cNvSpPr>
            <p:nvPr/>
          </p:nvSpPr>
          <p:spPr bwMode="auto">
            <a:xfrm>
              <a:off x="4751656" y="2979019"/>
              <a:ext cx="61432" cy="70603"/>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639" name="Oval 186">
              <a:extLst>
                <a:ext uri="{FF2B5EF4-FFF2-40B4-BE49-F238E27FC236}">
                  <a16:creationId xmlns:a16="http://schemas.microsoft.com/office/drawing/2014/main" id="{44EB568A-9CE3-C54A-9206-BDCE5E179782}"/>
                </a:ext>
              </a:extLst>
            </p:cNvPr>
            <p:cNvSpPr>
              <a:spLocks noChangeArrowheads="1"/>
            </p:cNvSpPr>
            <p:nvPr/>
          </p:nvSpPr>
          <p:spPr bwMode="auto">
            <a:xfrm>
              <a:off x="4802010" y="3546488"/>
              <a:ext cx="12589" cy="2853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40" name="Freeform 187">
              <a:extLst>
                <a:ext uri="{FF2B5EF4-FFF2-40B4-BE49-F238E27FC236}">
                  <a16:creationId xmlns:a16="http://schemas.microsoft.com/office/drawing/2014/main" id="{47334A5D-96E6-664D-926C-2595FA58305F}"/>
                </a:ext>
              </a:extLst>
            </p:cNvPr>
            <p:cNvSpPr>
              <a:spLocks/>
            </p:cNvSpPr>
            <p:nvPr/>
          </p:nvSpPr>
          <p:spPr bwMode="auto">
            <a:xfrm>
              <a:off x="4748383" y="3547958"/>
              <a:ext cx="61684" cy="58836"/>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641" name="AutoShape 188">
              <a:extLst>
                <a:ext uri="{FF2B5EF4-FFF2-40B4-BE49-F238E27FC236}">
                  <a16:creationId xmlns:a16="http://schemas.microsoft.com/office/drawing/2014/main" id="{013B8477-EEF2-7747-8060-985EE5C53ACD}"/>
                </a:ext>
              </a:extLst>
            </p:cNvPr>
            <p:cNvSpPr>
              <a:spLocks noChangeArrowheads="1"/>
            </p:cNvSpPr>
            <p:nvPr/>
          </p:nvSpPr>
          <p:spPr bwMode="auto">
            <a:xfrm>
              <a:off x="4455824" y="3567080"/>
              <a:ext cx="301623" cy="42950"/>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42" name="AutoShape 189">
              <a:extLst>
                <a:ext uri="{FF2B5EF4-FFF2-40B4-BE49-F238E27FC236}">
                  <a16:creationId xmlns:a16="http://schemas.microsoft.com/office/drawing/2014/main" id="{8385C752-6DAC-4A48-9BB5-AEA57D6A9BF6}"/>
                </a:ext>
              </a:extLst>
            </p:cNvPr>
            <p:cNvSpPr>
              <a:spLocks noChangeArrowheads="1"/>
            </p:cNvSpPr>
            <p:nvPr/>
          </p:nvSpPr>
          <p:spPr bwMode="auto">
            <a:xfrm>
              <a:off x="4471686" y="3576788"/>
              <a:ext cx="269900" cy="2382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43" name="Oval 190">
              <a:extLst>
                <a:ext uri="{FF2B5EF4-FFF2-40B4-BE49-F238E27FC236}">
                  <a16:creationId xmlns:a16="http://schemas.microsoft.com/office/drawing/2014/main" id="{0B04B216-03CD-F645-ACA2-BD47FCE98AD8}"/>
                </a:ext>
              </a:extLst>
            </p:cNvPr>
            <p:cNvSpPr>
              <a:spLocks noChangeArrowheads="1"/>
            </p:cNvSpPr>
            <p:nvPr/>
          </p:nvSpPr>
          <p:spPr bwMode="auto">
            <a:xfrm>
              <a:off x="4498625" y="3479709"/>
              <a:ext cx="39780" cy="4295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44" name="Oval 191">
              <a:extLst>
                <a:ext uri="{FF2B5EF4-FFF2-40B4-BE49-F238E27FC236}">
                  <a16:creationId xmlns:a16="http://schemas.microsoft.com/office/drawing/2014/main" id="{268FC658-A568-D546-9053-FA503C84E7FB}"/>
                </a:ext>
              </a:extLst>
            </p:cNvPr>
            <p:cNvSpPr>
              <a:spLocks noChangeArrowheads="1"/>
            </p:cNvSpPr>
            <p:nvPr/>
          </p:nvSpPr>
          <p:spPr bwMode="auto">
            <a:xfrm>
              <a:off x="4543189" y="3479709"/>
              <a:ext cx="39780" cy="4295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a:solidFill>
                  <a:srgbClr val="FF0000"/>
                </a:solidFill>
                <a:latin typeface="Arial" charset="0"/>
                <a:ea typeface="ＭＳ Ｐゴシック" charset="0"/>
                <a:cs typeface="Arial" charset="0"/>
              </a:endParaRPr>
            </a:p>
          </p:txBody>
        </p:sp>
        <p:sp>
          <p:nvSpPr>
            <p:cNvPr id="645" name="Oval 192">
              <a:extLst>
                <a:ext uri="{FF2B5EF4-FFF2-40B4-BE49-F238E27FC236}">
                  <a16:creationId xmlns:a16="http://schemas.microsoft.com/office/drawing/2014/main" id="{E3521055-5803-D44C-B1AC-A56EE246B7A9}"/>
                </a:ext>
              </a:extLst>
            </p:cNvPr>
            <p:cNvSpPr>
              <a:spLocks noChangeArrowheads="1"/>
            </p:cNvSpPr>
            <p:nvPr/>
          </p:nvSpPr>
          <p:spPr bwMode="auto">
            <a:xfrm>
              <a:off x="4587501" y="3479709"/>
              <a:ext cx="39780" cy="41185"/>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646" name="Rectangle 193">
              <a:extLst>
                <a:ext uri="{FF2B5EF4-FFF2-40B4-BE49-F238E27FC236}">
                  <a16:creationId xmlns:a16="http://schemas.microsoft.com/office/drawing/2014/main" id="{B01113D0-7A5F-2845-BBE5-E5DEE7D3C216}"/>
                </a:ext>
              </a:extLst>
            </p:cNvPr>
            <p:cNvSpPr>
              <a:spLocks noChangeArrowheads="1"/>
            </p:cNvSpPr>
            <p:nvPr/>
          </p:nvSpPr>
          <p:spPr bwMode="auto">
            <a:xfrm>
              <a:off x="4687706" y="3319382"/>
              <a:ext cx="22156" cy="223869"/>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pic>
          <p:nvPicPr>
            <p:cNvPr id="656" name="Picture 195" descr="desktop_computer_stylized_medium">
              <a:extLst>
                <a:ext uri="{FF2B5EF4-FFF2-40B4-BE49-F238E27FC236}">
                  <a16:creationId xmlns:a16="http://schemas.microsoft.com/office/drawing/2014/main" id="{449668ED-5F76-8646-97D9-D6F2A29D0D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1590386" y="3325867"/>
              <a:ext cx="711200" cy="669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57" name="Freeform 196">
              <a:extLst>
                <a:ext uri="{FF2B5EF4-FFF2-40B4-BE49-F238E27FC236}">
                  <a16:creationId xmlns:a16="http://schemas.microsoft.com/office/drawing/2014/main" id="{AF9581BE-4372-754E-A062-1EE3EABE6ADC}"/>
                </a:ext>
              </a:extLst>
            </p:cNvPr>
            <p:cNvSpPr>
              <a:spLocks/>
            </p:cNvSpPr>
            <p:nvPr/>
          </p:nvSpPr>
          <p:spPr bwMode="auto">
            <a:xfrm flipH="1">
              <a:off x="1893425" y="3390131"/>
              <a:ext cx="345813" cy="306771"/>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pic>
          <p:nvPicPr>
            <p:cNvPr id="659" name="Picture 198" descr="desktop_computer_stylized_medium">
              <a:extLst>
                <a:ext uri="{FF2B5EF4-FFF2-40B4-BE49-F238E27FC236}">
                  <a16:creationId xmlns:a16="http://schemas.microsoft.com/office/drawing/2014/main" id="{C3C56932-EC72-5E4B-9CCA-7833A8B915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93011" y="3241730"/>
              <a:ext cx="711200" cy="669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60" name="Freeform 199">
              <a:extLst>
                <a:ext uri="{FF2B5EF4-FFF2-40B4-BE49-F238E27FC236}">
                  <a16:creationId xmlns:a16="http://schemas.microsoft.com/office/drawing/2014/main" id="{6742962E-DBDD-4F4E-8296-B71CC5A6A68F}"/>
                </a:ext>
              </a:extLst>
            </p:cNvPr>
            <p:cNvSpPr>
              <a:spLocks/>
            </p:cNvSpPr>
            <p:nvPr/>
          </p:nvSpPr>
          <p:spPr bwMode="auto">
            <a:xfrm>
              <a:off x="9955359" y="3305994"/>
              <a:ext cx="345813" cy="306771"/>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panose="020B0604030504040204" pitchFamily="34" charset="0"/>
                <a:ea typeface="ＭＳ Ｐゴシック" panose="020B0600070205080204" pitchFamily="34" charset="-128"/>
              </a:endParaRPr>
            </a:p>
          </p:txBody>
        </p:sp>
        <p:sp>
          <p:nvSpPr>
            <p:cNvPr id="6" name="Oval 5"/>
            <p:cNvSpPr/>
            <p:nvPr/>
          </p:nvSpPr>
          <p:spPr>
            <a:xfrm>
              <a:off x="4454237" y="5186417"/>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145" name="Oval 144"/>
            <p:cNvSpPr/>
            <p:nvPr/>
          </p:nvSpPr>
          <p:spPr>
            <a:xfrm>
              <a:off x="7577600" y="4694310"/>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146" name="Oval 145"/>
            <p:cNvSpPr/>
            <p:nvPr/>
          </p:nvSpPr>
          <p:spPr>
            <a:xfrm>
              <a:off x="7631575" y="5530882"/>
              <a:ext cx="1017672" cy="412705"/>
            </a:xfrm>
            <a:prstGeom prst="ellipse">
              <a:avLst/>
            </a:prstGeom>
            <a:noFill/>
            <a:ln w="38100">
              <a:solidFill>
                <a:srgbClr val="CD0004"/>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pic>
          <p:nvPicPr>
            <p:cNvPr id="147" name="Picture 4" descr="Image result for apache web server logo">
              <a:extLst>
                <a:ext uri="{FF2B5EF4-FFF2-40B4-BE49-F238E27FC236}">
                  <a16:creationId xmlns:a16="http://schemas.microsoft.com/office/drawing/2014/main" id="{2DA3452A-DE33-3D41-95D5-C755A419154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92538" y="1073700"/>
              <a:ext cx="1474756" cy="644858"/>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144" name="Slide Number Placeholder 2">
            <a:extLst>
              <a:ext uri="{FF2B5EF4-FFF2-40B4-BE49-F238E27FC236}">
                <a16:creationId xmlns:a16="http://schemas.microsoft.com/office/drawing/2014/main" id="{AAD45FF3-B333-6B47-9ECE-46B770CFE6CA}"/>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18</a:t>
            </a:fld>
            <a:endParaRPr lang="en-US" dirty="0"/>
          </a:p>
        </p:txBody>
      </p:sp>
      <p:sp>
        <p:nvSpPr>
          <p:cNvPr id="8" name="Rectangle 4">
            <a:extLst>
              <a:ext uri="{FF2B5EF4-FFF2-40B4-BE49-F238E27FC236}">
                <a16:creationId xmlns:a16="http://schemas.microsoft.com/office/drawing/2014/main" id="{30CF3451-A1AB-32C2-A15F-07D331B17EE5}"/>
              </a:ext>
            </a:extLst>
          </p:cNvPr>
          <p:cNvSpPr txBox="1">
            <a:spLocks noChangeArrowheads="1"/>
          </p:cNvSpPr>
          <p:nvPr/>
        </p:nvSpPr>
        <p:spPr>
          <a:xfrm>
            <a:off x="95176" y="1837635"/>
            <a:ext cx="2578439" cy="2256594"/>
          </a:xfrm>
          <a:prstGeom prst="rect">
            <a:avLst/>
          </a:prstGeom>
        </p:spPr>
        <p:txBody>
          <a:bodyPr vert="horz" lIns="68580" tIns="34290" rIns="68580" bIns="34290" rtlCol="0">
            <a:normAutofit fontScale="62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1235" indent="-216694" defTabSz="685800">
              <a:spcBef>
                <a:spcPts val="750"/>
              </a:spcBef>
              <a:buFont typeface="Wingdings" charset="2"/>
              <a:buChar char="§"/>
              <a:defRPr/>
            </a:pPr>
            <a:r>
              <a:rPr lang="en-US" sz="2400" dirty="0">
                <a:solidFill>
                  <a:prstClr val="black"/>
                </a:solidFill>
                <a:latin typeface="Calibri" panose="020F0502020204030204"/>
              </a:rPr>
              <a:t>server may support many simultaneous TCP sockets:</a:t>
            </a:r>
          </a:p>
          <a:p>
            <a:pPr marL="557213" lvl="1" indent="-207169">
              <a:spcBef>
                <a:spcPts val="750"/>
              </a:spcBef>
              <a:buClr>
                <a:srgbClr val="0000A3"/>
              </a:buClr>
              <a:buFont typeface="Wingdings" charset="2"/>
              <a:buChar char="§"/>
              <a:defRPr/>
            </a:pPr>
            <a:r>
              <a:rPr lang="en-US" sz="2100" dirty="0">
                <a:solidFill>
                  <a:prstClr val="black"/>
                </a:solidFill>
                <a:latin typeface="Calibri" panose="020F0502020204030204"/>
              </a:rPr>
              <a:t>each socket identified by its</a:t>
            </a:r>
          </a:p>
          <a:p>
            <a:pPr marL="892969" lvl="2" indent="-207169">
              <a:spcBef>
                <a:spcPts val="750"/>
              </a:spcBef>
              <a:buClr>
                <a:srgbClr val="0000A3"/>
              </a:buClr>
              <a:buFont typeface="Wingdings" charset="2"/>
              <a:buChar char="§"/>
              <a:defRPr/>
            </a:pPr>
            <a:r>
              <a:rPr lang="en-US" sz="1800" dirty="0">
                <a:solidFill>
                  <a:prstClr val="black"/>
                </a:solidFill>
              </a:rPr>
              <a:t>s</a:t>
            </a:r>
            <a:r>
              <a:rPr lang="en-US" sz="1800" dirty="0" err="1">
                <a:solidFill>
                  <a:prstClr val="black"/>
                </a:solidFill>
              </a:rPr>
              <a:t>ource</a:t>
            </a:r>
            <a:r>
              <a:rPr lang="en-US" sz="1800" dirty="0">
                <a:solidFill>
                  <a:prstClr val="black"/>
                </a:solidFill>
              </a:rPr>
              <a:t> IP address</a:t>
            </a:r>
          </a:p>
          <a:p>
            <a:pPr lvl="2">
              <a:buFont typeface="Arial"/>
              <a:buChar char="•"/>
              <a:defRPr/>
            </a:pPr>
            <a:r>
              <a:rPr lang="en-US" sz="1800" dirty="0">
                <a:solidFill>
                  <a:prstClr val="black"/>
                </a:solidFill>
              </a:rPr>
              <a:t>source port number</a:t>
            </a:r>
          </a:p>
          <a:p>
            <a:pPr lvl="2">
              <a:buFont typeface="Arial"/>
              <a:buChar char="•"/>
              <a:defRPr/>
            </a:pPr>
            <a:r>
              <a:rPr lang="en-US" sz="1800" dirty="0" err="1">
                <a:solidFill>
                  <a:prstClr val="black"/>
                </a:solidFill>
              </a:rPr>
              <a:t>dest</a:t>
            </a:r>
            <a:r>
              <a:rPr lang="en-US" sz="1800" dirty="0">
                <a:solidFill>
                  <a:prstClr val="black"/>
                </a:solidFill>
              </a:rPr>
              <a:t> IP address</a:t>
            </a:r>
          </a:p>
          <a:p>
            <a:pPr lvl="2">
              <a:buFont typeface="Arial"/>
              <a:buChar char="•"/>
              <a:defRPr/>
            </a:pPr>
            <a:r>
              <a:rPr lang="en-US" sz="1800" dirty="0" err="1">
                <a:solidFill>
                  <a:prstClr val="black"/>
                </a:solidFill>
              </a:rPr>
              <a:t>dest</a:t>
            </a:r>
            <a:r>
              <a:rPr lang="en-US" sz="1800" dirty="0">
                <a:solidFill>
                  <a:prstClr val="black"/>
                </a:solidFill>
              </a:rPr>
              <a:t> port number</a:t>
            </a:r>
          </a:p>
          <a:p>
            <a:pPr marL="521494" lvl="1" indent="-173831" defTabSz="685800">
              <a:spcBef>
                <a:spcPts val="375"/>
              </a:spcBef>
              <a:buFont typeface="Arial"/>
              <a:buChar char="•"/>
              <a:defRPr/>
            </a:pPr>
            <a:r>
              <a:rPr lang="en-US" sz="2100" dirty="0">
                <a:solidFill>
                  <a:prstClr val="black"/>
                </a:solidFill>
                <a:latin typeface="Calibri" panose="020F0502020204030204"/>
              </a:rPr>
              <a:t>each socket associated with a different connecting client</a:t>
            </a:r>
          </a:p>
        </p:txBody>
      </p:sp>
    </p:spTree>
    <p:extLst>
      <p:ext uri="{BB962C8B-B14F-4D97-AF65-F5344CB8AC3E}">
        <p14:creationId xmlns:p14="http://schemas.microsoft.com/office/powerpoint/2010/main" val="202231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661"/>
                                        </p:tgtEl>
                                        <p:attrNameLst>
                                          <p:attrName>style.visibility</p:attrName>
                                        </p:attrNameLst>
                                      </p:cBhvr>
                                      <p:to>
                                        <p:strVal val="visible"/>
                                      </p:to>
                                    </p:set>
                                    <p:animEffect transition="in" filter="dissolve">
                                      <p:cBhvr>
                                        <p:cTn id="7" dur="500"/>
                                        <p:tgtEl>
                                          <p:spTgt spid="66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239754" y="199491"/>
            <a:ext cx="4544791" cy="670967"/>
          </a:xfrm>
        </p:spPr>
        <p:txBody>
          <a:bodyPr>
            <a:normAutofit fontScale="90000"/>
          </a:bodyPr>
          <a:lstStyle/>
          <a:p>
            <a:r>
              <a:rPr lang="en-US" sz="3600" dirty="0"/>
              <a:t>Stop-and-wait operation</a:t>
            </a:r>
            <a:endParaRPr lang="en-US" dirty="0"/>
          </a:p>
        </p:txBody>
      </p:sp>
      <p:grpSp>
        <p:nvGrpSpPr>
          <p:cNvPr id="4" name="Group 3">
            <a:extLst>
              <a:ext uri="{FF2B5EF4-FFF2-40B4-BE49-F238E27FC236}">
                <a16:creationId xmlns:a16="http://schemas.microsoft.com/office/drawing/2014/main" id="{1E77F652-670F-A845-B285-3845722C99C1}"/>
              </a:ext>
            </a:extLst>
          </p:cNvPr>
          <p:cNvGrpSpPr/>
          <p:nvPr/>
        </p:nvGrpSpPr>
        <p:grpSpPr>
          <a:xfrm>
            <a:off x="2468814" y="1214549"/>
            <a:ext cx="6547247" cy="2437209"/>
            <a:chOff x="1660525" y="1638643"/>
            <a:chExt cx="8729662" cy="3249612"/>
          </a:xfrm>
        </p:grpSpPr>
        <p:sp>
          <p:nvSpPr>
            <p:cNvPr id="50" name="Line 3">
              <a:extLst>
                <a:ext uri="{FF2B5EF4-FFF2-40B4-BE49-F238E27FC236}">
                  <a16:creationId xmlns:a16="http://schemas.microsoft.com/office/drawing/2014/main" id="{65EF62F5-AF0F-154C-9C6E-93BB51897ED0}"/>
                </a:ext>
              </a:extLst>
            </p:cNvPr>
            <p:cNvSpPr>
              <a:spLocks noChangeShapeType="1"/>
            </p:cNvSpPr>
            <p:nvPr/>
          </p:nvSpPr>
          <p:spPr bwMode="auto">
            <a:xfrm>
              <a:off x="4984750" y="2194268"/>
              <a:ext cx="2227262" cy="9223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51" name="Text Box 4">
              <a:extLst>
                <a:ext uri="{FF2B5EF4-FFF2-40B4-BE49-F238E27FC236}">
                  <a16:creationId xmlns:a16="http://schemas.microsoft.com/office/drawing/2014/main" id="{9C568413-E7C8-034A-A01A-070E583EFD90}"/>
                </a:ext>
              </a:extLst>
            </p:cNvPr>
            <p:cNvSpPr txBox="1">
              <a:spLocks noChangeArrowheads="1"/>
            </p:cNvSpPr>
            <p:nvPr/>
          </p:nvSpPr>
          <p:spPr bwMode="auto">
            <a:xfrm>
              <a:off x="1660525" y="1989480"/>
              <a:ext cx="32321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first packet bit transmitted, t = 0</a:t>
              </a:r>
            </a:p>
          </p:txBody>
        </p:sp>
        <p:sp>
          <p:nvSpPr>
            <p:cNvPr id="52" name="Line 5">
              <a:extLst>
                <a:ext uri="{FF2B5EF4-FFF2-40B4-BE49-F238E27FC236}">
                  <a16:creationId xmlns:a16="http://schemas.microsoft.com/office/drawing/2014/main" id="{1F5607F9-D0CE-8742-843E-05AFCDCA2F20}"/>
                </a:ext>
              </a:extLst>
            </p:cNvPr>
            <p:cNvSpPr>
              <a:spLocks noChangeShapeType="1"/>
            </p:cNvSpPr>
            <p:nvPr/>
          </p:nvSpPr>
          <p:spPr bwMode="auto">
            <a:xfrm>
              <a:off x="4973637" y="1975193"/>
              <a:ext cx="23813" cy="29130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53" name="Line 6">
              <a:extLst>
                <a:ext uri="{FF2B5EF4-FFF2-40B4-BE49-F238E27FC236}">
                  <a16:creationId xmlns:a16="http://schemas.microsoft.com/office/drawing/2014/main" id="{D5AC1D3D-9418-5F46-82ED-FBA189A71398}"/>
                </a:ext>
              </a:extLst>
            </p:cNvPr>
            <p:cNvSpPr>
              <a:spLocks noChangeShapeType="1"/>
            </p:cNvSpPr>
            <p:nvPr/>
          </p:nvSpPr>
          <p:spPr bwMode="auto">
            <a:xfrm>
              <a:off x="7200900" y="1987893"/>
              <a:ext cx="22225" cy="28908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54" name="Text Box 7">
              <a:extLst>
                <a:ext uri="{FF2B5EF4-FFF2-40B4-BE49-F238E27FC236}">
                  <a16:creationId xmlns:a16="http://schemas.microsoft.com/office/drawing/2014/main" id="{1AA39350-7ADC-E840-B7FD-CAF65C7EFE9B}"/>
                </a:ext>
              </a:extLst>
            </p:cNvPr>
            <p:cNvSpPr txBox="1">
              <a:spLocks noChangeArrowheads="1"/>
            </p:cNvSpPr>
            <p:nvPr/>
          </p:nvSpPr>
          <p:spPr bwMode="auto">
            <a:xfrm>
              <a:off x="4445000" y="1638643"/>
              <a:ext cx="885825"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sender</a:t>
              </a:r>
              <a:endParaRPr lang="en-US" altLang="en-US" sz="1200">
                <a:solidFill>
                  <a:srgbClr val="000000"/>
                </a:solidFill>
                <a:latin typeface="Times New Roman" panose="02020603050405020304" pitchFamily="18" charset="0"/>
              </a:endParaRPr>
            </a:p>
          </p:txBody>
        </p:sp>
        <p:sp>
          <p:nvSpPr>
            <p:cNvPr id="55" name="Text Box 8">
              <a:extLst>
                <a:ext uri="{FF2B5EF4-FFF2-40B4-BE49-F238E27FC236}">
                  <a16:creationId xmlns:a16="http://schemas.microsoft.com/office/drawing/2014/main" id="{388F41A8-01FA-884F-8140-E9FD1F2C6849}"/>
                </a:ext>
              </a:extLst>
            </p:cNvPr>
            <p:cNvSpPr txBox="1">
              <a:spLocks noChangeArrowheads="1"/>
            </p:cNvSpPr>
            <p:nvPr/>
          </p:nvSpPr>
          <p:spPr bwMode="auto">
            <a:xfrm>
              <a:off x="6623050" y="1638643"/>
              <a:ext cx="946150" cy="350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receiver</a:t>
              </a:r>
              <a:endParaRPr lang="en-US" altLang="en-US" sz="1200">
                <a:solidFill>
                  <a:srgbClr val="000000"/>
                </a:solidFill>
                <a:latin typeface="Times New Roman" panose="02020603050405020304" pitchFamily="18" charset="0"/>
              </a:endParaRPr>
            </a:p>
          </p:txBody>
        </p:sp>
        <p:sp>
          <p:nvSpPr>
            <p:cNvPr id="56" name="Line 9">
              <a:extLst>
                <a:ext uri="{FF2B5EF4-FFF2-40B4-BE49-F238E27FC236}">
                  <a16:creationId xmlns:a16="http://schemas.microsoft.com/office/drawing/2014/main" id="{4E1B3F21-B373-CA48-9AD5-5632396CBD83}"/>
                </a:ext>
              </a:extLst>
            </p:cNvPr>
            <p:cNvSpPr>
              <a:spLocks noChangeShapeType="1"/>
            </p:cNvSpPr>
            <p:nvPr/>
          </p:nvSpPr>
          <p:spPr bwMode="auto">
            <a:xfrm>
              <a:off x="4997450" y="218950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57" name="Line 10">
              <a:extLst>
                <a:ext uri="{FF2B5EF4-FFF2-40B4-BE49-F238E27FC236}">
                  <a16:creationId xmlns:a16="http://schemas.microsoft.com/office/drawing/2014/main" id="{89DD14FE-5B5B-3B43-8920-2EDFA30D8A61}"/>
                </a:ext>
              </a:extLst>
            </p:cNvPr>
            <p:cNvSpPr>
              <a:spLocks noChangeShapeType="1"/>
            </p:cNvSpPr>
            <p:nvPr/>
          </p:nvSpPr>
          <p:spPr bwMode="auto">
            <a:xfrm>
              <a:off x="5002212" y="430088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58" name="Line 11">
              <a:extLst>
                <a:ext uri="{FF2B5EF4-FFF2-40B4-BE49-F238E27FC236}">
                  <a16:creationId xmlns:a16="http://schemas.microsoft.com/office/drawing/2014/main" id="{0833BE20-CC42-354E-8D97-D533E108B5A2}"/>
                </a:ext>
              </a:extLst>
            </p:cNvPr>
            <p:cNvSpPr>
              <a:spLocks noChangeShapeType="1"/>
            </p:cNvSpPr>
            <p:nvPr/>
          </p:nvSpPr>
          <p:spPr bwMode="auto">
            <a:xfrm flipV="1">
              <a:off x="5002212" y="335790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59" name="Freeform 12">
              <a:extLst>
                <a:ext uri="{FF2B5EF4-FFF2-40B4-BE49-F238E27FC236}">
                  <a16:creationId xmlns:a16="http://schemas.microsoft.com/office/drawing/2014/main" id="{6DCE969D-C1B5-6B4F-8E82-11FE17209698}"/>
                </a:ext>
              </a:extLst>
            </p:cNvPr>
            <p:cNvSpPr>
              <a:spLocks/>
            </p:cNvSpPr>
            <p:nvPr/>
          </p:nvSpPr>
          <p:spPr bwMode="auto">
            <a:xfrm>
              <a:off x="4979987" y="2187918"/>
              <a:ext cx="2232025" cy="11557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0" name="Line 13">
              <a:extLst>
                <a:ext uri="{FF2B5EF4-FFF2-40B4-BE49-F238E27FC236}">
                  <a16:creationId xmlns:a16="http://schemas.microsoft.com/office/drawing/2014/main" id="{71ECF681-371C-214F-B431-3EBF5FCA54AB}"/>
                </a:ext>
              </a:extLst>
            </p:cNvPr>
            <p:cNvSpPr>
              <a:spLocks noChangeShapeType="1"/>
            </p:cNvSpPr>
            <p:nvPr/>
          </p:nvSpPr>
          <p:spPr bwMode="auto">
            <a:xfrm flipH="1">
              <a:off x="4835525" y="21879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1" name="Line 14">
              <a:extLst>
                <a:ext uri="{FF2B5EF4-FFF2-40B4-BE49-F238E27FC236}">
                  <a16:creationId xmlns:a16="http://schemas.microsoft.com/office/drawing/2014/main" id="{D5FC9E24-2362-D949-AD1B-27FDE18130E6}"/>
                </a:ext>
              </a:extLst>
            </p:cNvPr>
            <p:cNvSpPr>
              <a:spLocks noChangeShapeType="1"/>
            </p:cNvSpPr>
            <p:nvPr/>
          </p:nvSpPr>
          <p:spPr bwMode="auto">
            <a:xfrm flipH="1">
              <a:off x="4835525" y="242921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2" name="Line 15">
              <a:extLst>
                <a:ext uri="{FF2B5EF4-FFF2-40B4-BE49-F238E27FC236}">
                  <a16:creationId xmlns:a16="http://schemas.microsoft.com/office/drawing/2014/main" id="{8E885B36-6DC7-A647-8328-79BA2FEF9ABC}"/>
                </a:ext>
              </a:extLst>
            </p:cNvPr>
            <p:cNvSpPr>
              <a:spLocks noChangeShapeType="1"/>
            </p:cNvSpPr>
            <p:nvPr/>
          </p:nvSpPr>
          <p:spPr bwMode="auto">
            <a:xfrm flipH="1">
              <a:off x="4846637" y="428818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3" name="Text Box 16">
              <a:extLst>
                <a:ext uri="{FF2B5EF4-FFF2-40B4-BE49-F238E27FC236}">
                  <a16:creationId xmlns:a16="http://schemas.microsoft.com/office/drawing/2014/main" id="{C1807A2B-4600-F444-94CF-68DC8044B38C}"/>
                </a:ext>
              </a:extLst>
            </p:cNvPr>
            <p:cNvSpPr txBox="1">
              <a:spLocks noChangeArrowheads="1"/>
            </p:cNvSpPr>
            <p:nvPr/>
          </p:nvSpPr>
          <p:spPr bwMode="auto">
            <a:xfrm>
              <a:off x="4183062" y="316105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CC0000"/>
                  </a:solidFill>
                  <a:latin typeface="Arial" panose="020B0604020202020204" pitchFamily="34" charset="0"/>
                </a:rPr>
                <a:t>RTT</a:t>
              </a:r>
              <a:r>
                <a:rPr lang="en-US" altLang="en-US" sz="750">
                  <a:solidFill>
                    <a:srgbClr val="000000"/>
                  </a:solidFill>
                  <a:latin typeface="Arial" panose="020B0604020202020204" pitchFamily="34" charset="0"/>
                </a:rPr>
                <a:t> </a:t>
              </a:r>
              <a:endParaRPr lang="en-US" altLang="en-US" sz="1800">
                <a:solidFill>
                  <a:srgbClr val="000000"/>
                </a:solidFill>
                <a:latin typeface="Times New Roman" panose="02020603050405020304" pitchFamily="18" charset="0"/>
              </a:endParaRPr>
            </a:p>
          </p:txBody>
        </p:sp>
        <p:sp>
          <p:nvSpPr>
            <p:cNvPr id="64" name="Line 17">
              <a:extLst>
                <a:ext uri="{FF2B5EF4-FFF2-40B4-BE49-F238E27FC236}">
                  <a16:creationId xmlns:a16="http://schemas.microsoft.com/office/drawing/2014/main" id="{4CA4ACE4-80D6-094A-B612-CEDFE371375D}"/>
                </a:ext>
              </a:extLst>
            </p:cNvPr>
            <p:cNvSpPr>
              <a:spLocks noChangeShapeType="1"/>
            </p:cNvSpPr>
            <p:nvPr/>
          </p:nvSpPr>
          <p:spPr bwMode="auto">
            <a:xfrm>
              <a:off x="4870450" y="346903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5" name="Line 18">
              <a:extLst>
                <a:ext uri="{FF2B5EF4-FFF2-40B4-BE49-F238E27FC236}">
                  <a16:creationId xmlns:a16="http://schemas.microsoft.com/office/drawing/2014/main" id="{86419EA2-8CA9-1949-935B-FB9C7863AF80}"/>
                </a:ext>
              </a:extLst>
            </p:cNvPr>
            <p:cNvSpPr>
              <a:spLocks noChangeShapeType="1"/>
            </p:cNvSpPr>
            <p:nvPr/>
          </p:nvSpPr>
          <p:spPr bwMode="auto">
            <a:xfrm flipV="1">
              <a:off x="4875212" y="245144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6" name="Line 20">
              <a:extLst>
                <a:ext uri="{FF2B5EF4-FFF2-40B4-BE49-F238E27FC236}">
                  <a16:creationId xmlns:a16="http://schemas.microsoft.com/office/drawing/2014/main" id="{F450D6B2-ED0C-2A4C-8BFC-156E65F46CE8}"/>
                </a:ext>
              </a:extLst>
            </p:cNvPr>
            <p:cNvSpPr>
              <a:spLocks noChangeShapeType="1"/>
            </p:cNvSpPr>
            <p:nvPr/>
          </p:nvSpPr>
          <p:spPr bwMode="auto">
            <a:xfrm flipH="1">
              <a:off x="7188200" y="310231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7" name="Text Box 21">
              <a:extLst>
                <a:ext uri="{FF2B5EF4-FFF2-40B4-BE49-F238E27FC236}">
                  <a16:creationId xmlns:a16="http://schemas.microsoft.com/office/drawing/2014/main" id="{08BE5E72-86FD-8A42-9396-059DB3F761FB}"/>
                </a:ext>
              </a:extLst>
            </p:cNvPr>
            <p:cNvSpPr txBox="1">
              <a:spLocks noChangeArrowheads="1"/>
            </p:cNvSpPr>
            <p:nvPr/>
          </p:nvSpPr>
          <p:spPr bwMode="auto">
            <a:xfrm>
              <a:off x="7269162" y="292610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a:solidFill>
                    <a:srgbClr val="000000"/>
                  </a:solidFill>
                  <a:latin typeface="Arial" panose="020B0604020202020204" pitchFamily="34" charset="0"/>
                </a:rPr>
                <a:t>first packet bit arrives</a:t>
              </a:r>
              <a:endParaRPr lang="en-US" altLang="en-US" sz="1200">
                <a:solidFill>
                  <a:srgbClr val="000000"/>
                </a:solidFill>
                <a:latin typeface="Times New Roman" panose="02020603050405020304" pitchFamily="18" charset="0"/>
              </a:endParaRPr>
            </a:p>
          </p:txBody>
        </p:sp>
        <p:sp>
          <p:nvSpPr>
            <p:cNvPr id="68" name="Line 22">
              <a:extLst>
                <a:ext uri="{FF2B5EF4-FFF2-40B4-BE49-F238E27FC236}">
                  <a16:creationId xmlns:a16="http://schemas.microsoft.com/office/drawing/2014/main" id="{B416D5CF-1045-E44E-A7DD-0F2BA9A28495}"/>
                </a:ext>
              </a:extLst>
            </p:cNvPr>
            <p:cNvSpPr>
              <a:spLocks noChangeShapeType="1"/>
            </p:cNvSpPr>
            <p:nvPr/>
          </p:nvSpPr>
          <p:spPr bwMode="auto">
            <a:xfrm>
              <a:off x="7212012" y="335155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69" name="Text Box 23">
              <a:extLst>
                <a:ext uri="{FF2B5EF4-FFF2-40B4-BE49-F238E27FC236}">
                  <a16:creationId xmlns:a16="http://schemas.microsoft.com/office/drawing/2014/main" id="{EA1933E4-20F7-C442-A192-A24ACB88B227}"/>
                </a:ext>
              </a:extLst>
            </p:cNvPr>
            <p:cNvSpPr txBox="1">
              <a:spLocks noChangeArrowheads="1"/>
            </p:cNvSpPr>
            <p:nvPr/>
          </p:nvSpPr>
          <p:spPr bwMode="auto">
            <a:xfrm>
              <a:off x="7275512" y="317851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a:solidFill>
                    <a:srgbClr val="000000"/>
                  </a:solidFill>
                  <a:latin typeface="Arial" panose="020B0604020202020204" pitchFamily="34" charset="0"/>
                </a:rPr>
                <a:t>last packet bit arrives, send ACK</a:t>
              </a:r>
              <a:endParaRPr lang="en-US" altLang="en-US" sz="1200">
                <a:solidFill>
                  <a:srgbClr val="000000"/>
                </a:solidFill>
                <a:latin typeface="Times New Roman" panose="02020603050405020304" pitchFamily="18" charset="0"/>
              </a:endParaRPr>
            </a:p>
          </p:txBody>
        </p:sp>
        <p:sp>
          <p:nvSpPr>
            <p:cNvPr id="70" name="Text Box 24">
              <a:extLst>
                <a:ext uri="{FF2B5EF4-FFF2-40B4-BE49-F238E27FC236}">
                  <a16:creationId xmlns:a16="http://schemas.microsoft.com/office/drawing/2014/main" id="{E280E208-423C-5A4D-B4AD-4087BED29014}"/>
                </a:ext>
              </a:extLst>
            </p:cNvPr>
            <p:cNvSpPr txBox="1">
              <a:spLocks noChangeArrowheads="1"/>
            </p:cNvSpPr>
            <p:nvPr/>
          </p:nvSpPr>
          <p:spPr bwMode="auto">
            <a:xfrm>
              <a:off x="2252662" y="3961155"/>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ACK arrives, send next </a:t>
              </a:r>
            </a:p>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packet, </a:t>
              </a:r>
              <a:r>
                <a:rPr lang="en-US" altLang="en-US" sz="1200" dirty="0">
                  <a:solidFill>
                    <a:srgbClr val="CC0000"/>
                  </a:solidFill>
                  <a:latin typeface="Arial" panose="020B0604020202020204" pitchFamily="34" charset="0"/>
                </a:rPr>
                <a:t>t = RTT + L / R</a:t>
              </a:r>
              <a:endParaRPr lang="en-US" altLang="en-US" sz="1200" dirty="0">
                <a:solidFill>
                  <a:srgbClr val="CC0000"/>
                </a:solidFill>
                <a:latin typeface="Times New Roman" panose="02020603050405020304" pitchFamily="18" charset="0"/>
              </a:endParaRPr>
            </a:p>
          </p:txBody>
        </p:sp>
        <p:sp>
          <p:nvSpPr>
            <p:cNvPr id="71" name="Freeform 25">
              <a:extLst>
                <a:ext uri="{FF2B5EF4-FFF2-40B4-BE49-F238E27FC236}">
                  <a16:creationId xmlns:a16="http://schemas.microsoft.com/office/drawing/2014/main" id="{A4A7A1DD-E270-2148-B390-9D3198E6E533}"/>
                </a:ext>
              </a:extLst>
            </p:cNvPr>
            <p:cNvSpPr>
              <a:spLocks/>
            </p:cNvSpPr>
            <p:nvPr/>
          </p:nvSpPr>
          <p:spPr bwMode="auto">
            <a:xfrm>
              <a:off x="4997450" y="4296118"/>
              <a:ext cx="1419225" cy="577850"/>
            </a:xfrm>
            <a:custGeom>
              <a:avLst/>
              <a:gdLst>
                <a:gd name="T0" fmla="*/ 0 w 1845"/>
                <a:gd name="T1" fmla="*/ 0 h 592"/>
                <a:gd name="T2" fmla="*/ 2147483647 w 1845"/>
                <a:gd name="T3" fmla="*/ 2147483647 h 592"/>
                <a:gd name="T4" fmla="*/ 2147483647 w 1845"/>
                <a:gd name="T5" fmla="*/ 2147483647 h 592"/>
                <a:gd name="T6" fmla="*/ 0 w 1845"/>
                <a:gd name="T7" fmla="*/ 2147483647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nvGrpSpPr>
            <p:cNvPr id="72" name="Group 26">
              <a:extLst>
                <a:ext uri="{FF2B5EF4-FFF2-40B4-BE49-F238E27FC236}">
                  <a16:creationId xmlns:a16="http://schemas.microsoft.com/office/drawing/2014/main" id="{9CA64688-75A8-D347-9FA8-19BC93D4C937}"/>
                </a:ext>
              </a:extLst>
            </p:cNvPr>
            <p:cNvGrpSpPr>
              <a:grpSpLocks/>
            </p:cNvGrpSpPr>
            <p:nvPr/>
          </p:nvGrpSpPr>
          <p:grpSpPr bwMode="auto">
            <a:xfrm>
              <a:off x="4991100" y="4288180"/>
              <a:ext cx="1281112" cy="534988"/>
              <a:chOff x="12315" y="13225"/>
              <a:chExt cx="2775" cy="913"/>
            </a:xfrm>
          </p:grpSpPr>
          <p:sp>
            <p:nvSpPr>
              <p:cNvPr id="73" name="Line 27">
                <a:extLst>
                  <a:ext uri="{FF2B5EF4-FFF2-40B4-BE49-F238E27FC236}">
                    <a16:creationId xmlns:a16="http://schemas.microsoft.com/office/drawing/2014/main" id="{3615449C-C628-4A4E-8FD9-6CEA1CB5AF49}"/>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74" name="Line 28">
                <a:extLst>
                  <a:ext uri="{FF2B5EF4-FFF2-40B4-BE49-F238E27FC236}">
                    <a16:creationId xmlns:a16="http://schemas.microsoft.com/office/drawing/2014/main" id="{BC197F6C-E6E2-CC4F-B4CD-24052A68CF6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sp>
          <p:nvSpPr>
            <p:cNvPr id="75" name="Line 29">
              <a:extLst>
                <a:ext uri="{FF2B5EF4-FFF2-40B4-BE49-F238E27FC236}">
                  <a16:creationId xmlns:a16="http://schemas.microsoft.com/office/drawing/2014/main" id="{C09632D7-180D-4B4F-9D42-55DC28E6A66C}"/>
                </a:ext>
              </a:extLst>
            </p:cNvPr>
            <p:cNvSpPr>
              <a:spLocks noChangeShapeType="1"/>
            </p:cNvSpPr>
            <p:nvPr/>
          </p:nvSpPr>
          <p:spPr bwMode="auto">
            <a:xfrm>
              <a:off x="4991100" y="4529480"/>
              <a:ext cx="317500" cy="123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76" name="Line 30">
              <a:extLst>
                <a:ext uri="{FF2B5EF4-FFF2-40B4-BE49-F238E27FC236}">
                  <a16:creationId xmlns:a16="http://schemas.microsoft.com/office/drawing/2014/main" id="{0C325B2C-A250-0F40-9312-8A7316454882}"/>
                </a:ext>
              </a:extLst>
            </p:cNvPr>
            <p:cNvSpPr>
              <a:spLocks noChangeShapeType="1"/>
            </p:cNvSpPr>
            <p:nvPr/>
          </p:nvSpPr>
          <p:spPr bwMode="auto">
            <a:xfrm>
              <a:off x="5314950" y="465330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sp>
        <p:nvSpPr>
          <p:cNvPr id="5" name="TextBox 4">
            <a:extLst>
              <a:ext uri="{FF2B5EF4-FFF2-40B4-BE49-F238E27FC236}">
                <a16:creationId xmlns:a16="http://schemas.microsoft.com/office/drawing/2014/main" id="{CC8A8F82-8C6D-C8BB-183F-FC3CE353F7AF}"/>
              </a:ext>
            </a:extLst>
          </p:cNvPr>
          <p:cNvSpPr txBox="1"/>
          <p:nvPr/>
        </p:nvSpPr>
        <p:spPr>
          <a:xfrm>
            <a:off x="171889" y="3931055"/>
            <a:ext cx="7978469" cy="1200329"/>
          </a:xfrm>
          <a:prstGeom prst="rect">
            <a:avLst/>
          </a:prstGeom>
          <a:noFill/>
        </p:spPr>
        <p:txBody>
          <a:bodyPr wrap="square">
            <a:spAutoFit/>
          </a:bodyPr>
          <a:lstStyle/>
          <a:p>
            <a:r>
              <a:rPr lang="en-US" dirty="0"/>
              <a:t>The sender will not send a new piece of data until it is sure that the receiver has correctly received the current packet.</a:t>
            </a:r>
          </a:p>
          <a:p>
            <a:r>
              <a:rPr lang="en-US" dirty="0">
                <a:solidFill>
                  <a:prstClr val="black"/>
                </a:solidFill>
                <a:latin typeface="Calibri" panose="020F0502020204030204"/>
              </a:rPr>
              <a:t>Protocol limits performance of underlying infrastructure (channel)</a:t>
            </a:r>
            <a:r>
              <a:rPr lang="en-GB" dirty="0">
                <a:solidFill>
                  <a:prstClr val="black"/>
                </a:solidFill>
                <a:latin typeface="Calibri" panose="020F0502020204030204"/>
              </a:rPr>
              <a:t> – efficiency loses when RTT is much more important than L/R</a:t>
            </a:r>
            <a:endParaRPr lang="en-US" dirty="0">
              <a:solidFill>
                <a:prstClr val="black"/>
              </a:solidFill>
              <a:latin typeface="Calibri" panose="020F0502020204030204"/>
            </a:endParaRPr>
          </a:p>
        </p:txBody>
      </p:sp>
      <p:sp>
        <p:nvSpPr>
          <p:cNvPr id="7" name="TextBox 6">
            <a:extLst>
              <a:ext uri="{FF2B5EF4-FFF2-40B4-BE49-F238E27FC236}">
                <a16:creationId xmlns:a16="http://schemas.microsoft.com/office/drawing/2014/main" id="{9C09A5A3-4C2F-36DB-49F5-C15542CD028F}"/>
              </a:ext>
            </a:extLst>
          </p:cNvPr>
          <p:cNvSpPr txBox="1"/>
          <p:nvPr/>
        </p:nvSpPr>
        <p:spPr>
          <a:xfrm>
            <a:off x="239754" y="1945235"/>
            <a:ext cx="3061307" cy="1131079"/>
          </a:xfrm>
          <a:prstGeom prst="rect">
            <a:avLst/>
          </a:prstGeom>
          <a:noFill/>
        </p:spPr>
        <p:txBody>
          <a:bodyPr wrap="square">
            <a:spAutoFit/>
          </a:bodyPr>
          <a:lstStyle/>
          <a:p>
            <a:r>
              <a:rPr lang="en-GB" sz="1350" dirty="0"/>
              <a:t>Round trip time RTT</a:t>
            </a:r>
          </a:p>
          <a:p>
            <a:r>
              <a:rPr lang="en-US" altLang="en-US" sz="1350" dirty="0">
                <a:solidFill>
                  <a:srgbClr val="CC0000"/>
                </a:solidFill>
                <a:latin typeface="Arial" panose="020B0604020202020204" pitchFamily="34" charset="0"/>
                <a:ea typeface="ＭＳ Ｐゴシック" panose="020B0600070205080204" pitchFamily="34" charset="-128"/>
              </a:rPr>
              <a:t>L / R</a:t>
            </a:r>
            <a:r>
              <a:rPr lang="en-GB" altLang="en-US" sz="1350" dirty="0">
                <a:solidFill>
                  <a:srgbClr val="CC0000"/>
                </a:solidFill>
                <a:latin typeface="Arial" panose="020B0604020202020204" pitchFamily="34" charset="0"/>
                <a:ea typeface="ＭＳ Ｐゴシック" panose="020B0600070205080204" pitchFamily="34" charset="-128"/>
              </a:rPr>
              <a:t>: time to generate packet bits and put them on the channel – depending on channel capacity R and packet length L</a:t>
            </a:r>
            <a:endParaRPr lang="en-GB" sz="1350" dirty="0"/>
          </a:p>
        </p:txBody>
      </p:sp>
      <p:sp>
        <p:nvSpPr>
          <p:cNvPr id="9" name="TextBox 8">
            <a:extLst>
              <a:ext uri="{FF2B5EF4-FFF2-40B4-BE49-F238E27FC236}">
                <a16:creationId xmlns:a16="http://schemas.microsoft.com/office/drawing/2014/main" id="{39D30BA1-ED11-2008-7163-3684D3398DDD}"/>
              </a:ext>
            </a:extLst>
          </p:cNvPr>
          <p:cNvSpPr txBox="1"/>
          <p:nvPr/>
        </p:nvSpPr>
        <p:spPr>
          <a:xfrm>
            <a:off x="1" y="5069950"/>
            <a:ext cx="9144000" cy="942822"/>
          </a:xfrm>
          <a:prstGeom prst="rect">
            <a:avLst/>
          </a:prstGeom>
          <a:noFill/>
        </p:spPr>
        <p:txBody>
          <a:bodyPr wrap="square">
            <a:spAutoFit/>
          </a:bodyPr>
          <a:lstStyle/>
          <a:p>
            <a:pPr marL="264319" indent="-166688" defTabSz="685800">
              <a:lnSpc>
                <a:spcPct val="90000"/>
              </a:lnSpc>
              <a:spcBef>
                <a:spcPts val="750"/>
              </a:spcBef>
              <a:buClr>
                <a:srgbClr val="0000A3"/>
              </a:buClr>
              <a:defRPr/>
            </a:pPr>
            <a:r>
              <a:rPr lang="en-US" altLang="en-US" dirty="0">
                <a:solidFill>
                  <a:srgbClr val="CC0000"/>
                </a:solidFill>
                <a:latin typeface="Calibri" panose="020F0502020204030204"/>
                <a:ea typeface="ＭＳ Ｐゴシック" panose="020B0600070205080204" pitchFamily="34" charset="-128"/>
              </a:rPr>
              <a:t>Improvement - pipelining:</a:t>
            </a:r>
            <a:r>
              <a:rPr lang="en-US" altLang="en-US" dirty="0">
                <a:solidFill>
                  <a:prstClr val="black"/>
                </a:solidFill>
                <a:latin typeface="Calibri" panose="020F0502020204030204"/>
                <a:ea typeface="ＭＳ Ｐゴシック" panose="020B0600070205080204" pitchFamily="34" charset="-128"/>
              </a:rPr>
              <a:t> sender allows multiple, </a:t>
            </a:r>
            <a:r>
              <a:rPr lang="en-US" altLang="ja-JP" dirty="0">
                <a:solidFill>
                  <a:prstClr val="black"/>
                </a:solidFill>
                <a:latin typeface="Calibri" panose="020F0502020204030204"/>
                <a:ea typeface="ＭＳ Ｐゴシック" panose="020B0600070205080204" pitchFamily="34" charset="-128"/>
              </a:rPr>
              <a:t>yet-to-be-acknowledged packets</a:t>
            </a:r>
          </a:p>
          <a:p>
            <a:pPr marL="521494" lvl="1" indent="-173831" defTabSz="685800">
              <a:lnSpc>
                <a:spcPct val="90000"/>
              </a:lnSpc>
              <a:spcBef>
                <a:spcPts val="375"/>
              </a:spcBef>
              <a:buClr>
                <a:srgbClr val="0000A8"/>
              </a:buClr>
              <a:buFont typeface="Arial" panose="020B0604020202020204" pitchFamily="34" charset="0"/>
              <a:buChar char="•"/>
              <a:defRPr/>
            </a:pPr>
            <a:r>
              <a:rPr lang="en-US" altLang="en-US" dirty="0">
                <a:solidFill>
                  <a:prstClr val="black"/>
                </a:solidFill>
                <a:latin typeface="Calibri" panose="020F0502020204030204"/>
                <a:ea typeface="ＭＳ Ｐゴシック" panose="020B0600070205080204" pitchFamily="34" charset="-128"/>
              </a:rPr>
              <a:t>Sequence numbers to be added to packets</a:t>
            </a:r>
          </a:p>
          <a:p>
            <a:pPr marL="521494" lvl="1" indent="-173831" defTabSz="685800">
              <a:lnSpc>
                <a:spcPct val="90000"/>
              </a:lnSpc>
              <a:spcBef>
                <a:spcPts val="375"/>
              </a:spcBef>
              <a:buClr>
                <a:srgbClr val="0000A8"/>
              </a:buClr>
              <a:buFont typeface="Arial" panose="020B0604020202020204" pitchFamily="34" charset="0"/>
              <a:buChar char="•"/>
              <a:defRPr/>
            </a:pPr>
            <a:r>
              <a:rPr lang="en-US" altLang="en-US" dirty="0">
                <a:solidFill>
                  <a:prstClr val="black"/>
                </a:solidFill>
                <a:latin typeface="Calibri" panose="020F0502020204030204"/>
                <a:ea typeface="ＭＳ Ｐゴシック" panose="020B0600070205080204" pitchFamily="34" charset="-128"/>
              </a:rPr>
              <a:t>buffering at sender and/or receiver</a:t>
            </a:r>
          </a:p>
        </p:txBody>
      </p:sp>
    </p:spTree>
    <p:extLst>
      <p:ext uri="{BB962C8B-B14F-4D97-AF65-F5344CB8AC3E}">
        <p14:creationId xmlns:p14="http://schemas.microsoft.com/office/powerpoint/2010/main" val="2942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Pipelining: increased utilization</a:t>
            </a:r>
            <a:endParaRPr lang="en-US" dirty="0"/>
          </a:p>
        </p:txBody>
      </p:sp>
      <p:grpSp>
        <p:nvGrpSpPr>
          <p:cNvPr id="6" name="Group 5">
            <a:extLst>
              <a:ext uri="{FF2B5EF4-FFF2-40B4-BE49-F238E27FC236}">
                <a16:creationId xmlns:a16="http://schemas.microsoft.com/office/drawing/2014/main" id="{F2D9612C-CE0F-6C45-B7EC-FE1D2900506E}"/>
              </a:ext>
            </a:extLst>
          </p:cNvPr>
          <p:cNvGrpSpPr/>
          <p:nvPr/>
        </p:nvGrpSpPr>
        <p:grpSpPr>
          <a:xfrm>
            <a:off x="1077686" y="1920140"/>
            <a:ext cx="6858000" cy="2819400"/>
            <a:chOff x="1436915" y="1417186"/>
            <a:chExt cx="9144000" cy="3759200"/>
          </a:xfrm>
        </p:grpSpPr>
        <p:grpSp>
          <p:nvGrpSpPr>
            <p:cNvPr id="5" name="Group 4">
              <a:extLst>
                <a:ext uri="{FF2B5EF4-FFF2-40B4-BE49-F238E27FC236}">
                  <a16:creationId xmlns:a16="http://schemas.microsoft.com/office/drawing/2014/main" id="{F0C3BE89-6F62-424C-BFB2-28F71C43CE69}"/>
                </a:ext>
              </a:extLst>
            </p:cNvPr>
            <p:cNvGrpSpPr/>
            <p:nvPr/>
          </p:nvGrpSpPr>
          <p:grpSpPr>
            <a:xfrm>
              <a:off x="1436915" y="1744211"/>
              <a:ext cx="5265738" cy="3432175"/>
              <a:chOff x="1436915" y="1744211"/>
              <a:chExt cx="5265738" cy="3432175"/>
            </a:xfrm>
          </p:grpSpPr>
          <p:sp>
            <p:nvSpPr>
              <p:cNvPr id="271" name="Text Box 4">
                <a:extLst>
                  <a:ext uri="{FF2B5EF4-FFF2-40B4-BE49-F238E27FC236}">
                    <a16:creationId xmlns:a16="http://schemas.microsoft.com/office/drawing/2014/main" id="{8A9D06FA-5302-274C-84A9-DD1CED459992}"/>
                  </a:ext>
                </a:extLst>
              </p:cNvPr>
              <p:cNvSpPr txBox="1">
                <a:spLocks noChangeArrowheads="1"/>
              </p:cNvSpPr>
              <p:nvPr/>
            </p:nvSpPr>
            <p:spPr bwMode="auto">
              <a:xfrm>
                <a:off x="1436915" y="1760086"/>
                <a:ext cx="3086100"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first packet bit transmitted, t = 0</a:t>
                </a:r>
                <a:endParaRPr lang="en-US" altLang="en-US" sz="1200">
                  <a:solidFill>
                    <a:srgbClr val="000000"/>
                  </a:solidFill>
                  <a:latin typeface="Times New Roman" panose="02020603050405020304" pitchFamily="18" charset="0"/>
                </a:endParaRPr>
              </a:p>
            </p:txBody>
          </p:sp>
          <p:sp>
            <p:nvSpPr>
              <p:cNvPr id="272" name="Line 5">
                <a:extLst>
                  <a:ext uri="{FF2B5EF4-FFF2-40B4-BE49-F238E27FC236}">
                    <a16:creationId xmlns:a16="http://schemas.microsoft.com/office/drawing/2014/main" id="{EBE74238-0C8D-D64B-8C2E-687BBF22856B}"/>
                  </a:ext>
                </a:extLst>
              </p:cNvPr>
              <p:cNvSpPr>
                <a:spLocks noChangeShapeType="1"/>
              </p:cNvSpPr>
              <p:nvPr/>
            </p:nvSpPr>
            <p:spPr bwMode="auto">
              <a:xfrm>
                <a:off x="4599215" y="1744211"/>
                <a:ext cx="20638" cy="32845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73" name="Line 6">
                <a:extLst>
                  <a:ext uri="{FF2B5EF4-FFF2-40B4-BE49-F238E27FC236}">
                    <a16:creationId xmlns:a16="http://schemas.microsoft.com/office/drawing/2014/main" id="{0C9FFAAE-DCDE-8044-9CE7-6F8A7B2FC055}"/>
                  </a:ext>
                </a:extLst>
              </p:cNvPr>
              <p:cNvSpPr>
                <a:spLocks noChangeShapeType="1"/>
              </p:cNvSpPr>
              <p:nvPr/>
            </p:nvSpPr>
            <p:spPr bwMode="auto">
              <a:xfrm>
                <a:off x="6680428" y="1756911"/>
                <a:ext cx="22225" cy="335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nvGrpSpPr>
              <p:cNvPr id="290" name="Group 23">
                <a:extLst>
                  <a:ext uri="{FF2B5EF4-FFF2-40B4-BE49-F238E27FC236}">
                    <a16:creationId xmlns:a16="http://schemas.microsoft.com/office/drawing/2014/main" id="{C2DCCE27-7917-EA41-B0D5-20716F45FD67}"/>
                  </a:ext>
                </a:extLst>
              </p:cNvPr>
              <p:cNvGrpSpPr>
                <a:grpSpLocks/>
              </p:cNvGrpSpPr>
              <p:nvPr/>
            </p:nvGrpSpPr>
            <p:grpSpPr bwMode="auto">
              <a:xfrm>
                <a:off x="4480153" y="4081011"/>
                <a:ext cx="1466850" cy="608013"/>
                <a:chOff x="12502" y="21425"/>
                <a:chExt cx="3400" cy="1025"/>
              </a:xfrm>
            </p:grpSpPr>
            <p:sp>
              <p:nvSpPr>
                <p:cNvPr id="291" name="Line 24">
                  <a:extLst>
                    <a:ext uri="{FF2B5EF4-FFF2-40B4-BE49-F238E27FC236}">
                      <a16:creationId xmlns:a16="http://schemas.microsoft.com/office/drawing/2014/main" id="{A9FA2FEB-7650-5B42-A31A-A637A45CA6FF}"/>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92" name="Freeform 25">
                  <a:extLst>
                    <a:ext uri="{FF2B5EF4-FFF2-40B4-BE49-F238E27FC236}">
                      <a16:creationId xmlns:a16="http://schemas.microsoft.com/office/drawing/2014/main" id="{5BCD89AD-C50C-6545-ADEB-A57C6CDD92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nvGrpSpPr>
                <p:cNvPr id="293" name="Group 26">
                  <a:extLst>
                    <a:ext uri="{FF2B5EF4-FFF2-40B4-BE49-F238E27FC236}">
                      <a16:creationId xmlns:a16="http://schemas.microsoft.com/office/drawing/2014/main" id="{CD5FB7C7-CD97-554F-9528-260B8217603A}"/>
                    </a:ext>
                  </a:extLst>
                </p:cNvPr>
                <p:cNvGrpSpPr>
                  <a:grpSpLocks/>
                </p:cNvGrpSpPr>
                <p:nvPr/>
              </p:nvGrpSpPr>
              <p:grpSpPr bwMode="auto">
                <a:xfrm>
                  <a:off x="12815" y="21425"/>
                  <a:ext cx="2776" cy="913"/>
                  <a:chOff x="12315" y="13225"/>
                  <a:chExt cx="2775" cy="913"/>
                </a:xfrm>
              </p:grpSpPr>
              <p:sp>
                <p:nvSpPr>
                  <p:cNvPr id="296" name="Line 27">
                    <a:extLst>
                      <a:ext uri="{FF2B5EF4-FFF2-40B4-BE49-F238E27FC236}">
                        <a16:creationId xmlns:a16="http://schemas.microsoft.com/office/drawing/2014/main" id="{73F94F66-30C4-DD47-A1F3-8FC6B19EB61B}"/>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97" name="Line 28">
                    <a:extLst>
                      <a:ext uri="{FF2B5EF4-FFF2-40B4-BE49-F238E27FC236}">
                        <a16:creationId xmlns:a16="http://schemas.microsoft.com/office/drawing/2014/main" id="{5CF9459B-BF29-474D-BD49-51BFB74A167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sp>
              <p:nvSpPr>
                <p:cNvPr id="294" name="Line 29">
                  <a:extLst>
                    <a:ext uri="{FF2B5EF4-FFF2-40B4-BE49-F238E27FC236}">
                      <a16:creationId xmlns:a16="http://schemas.microsoft.com/office/drawing/2014/main" id="{C83DFF49-AFA9-B447-8725-97F2F7C2664C}"/>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95" name="Line 30">
                  <a:extLst>
                    <a:ext uri="{FF2B5EF4-FFF2-40B4-BE49-F238E27FC236}">
                      <a16:creationId xmlns:a16="http://schemas.microsoft.com/office/drawing/2014/main" id="{9326AF50-13D7-574E-AFF2-CD2DDBD17BD8}"/>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grpSp>
            <p:nvGrpSpPr>
              <p:cNvPr id="302" name="Group 35">
                <a:extLst>
                  <a:ext uri="{FF2B5EF4-FFF2-40B4-BE49-F238E27FC236}">
                    <a16:creationId xmlns:a16="http://schemas.microsoft.com/office/drawing/2014/main" id="{22FDE4C6-35BE-AD41-8733-199E0B0C3987}"/>
                  </a:ext>
                </a:extLst>
              </p:cNvPr>
              <p:cNvGrpSpPr>
                <a:grpSpLocks/>
              </p:cNvGrpSpPr>
              <p:nvPr/>
            </p:nvGrpSpPr>
            <p:grpSpPr bwMode="auto">
              <a:xfrm>
                <a:off x="4469040" y="4319136"/>
                <a:ext cx="1466850" cy="606425"/>
                <a:chOff x="12502" y="21425"/>
                <a:chExt cx="3400" cy="1025"/>
              </a:xfrm>
            </p:grpSpPr>
            <p:sp>
              <p:nvSpPr>
                <p:cNvPr id="303" name="Line 36">
                  <a:extLst>
                    <a:ext uri="{FF2B5EF4-FFF2-40B4-BE49-F238E27FC236}">
                      <a16:creationId xmlns:a16="http://schemas.microsoft.com/office/drawing/2014/main" id="{C65011A2-C10F-4E4E-950F-6344F3BFE55D}"/>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04" name="Freeform 37">
                  <a:extLst>
                    <a:ext uri="{FF2B5EF4-FFF2-40B4-BE49-F238E27FC236}">
                      <a16:creationId xmlns:a16="http://schemas.microsoft.com/office/drawing/2014/main" id="{4BC1F15A-0B55-9B41-BB0E-8078C84DD8D8}"/>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nvGrpSpPr>
                <p:cNvPr id="305" name="Group 38">
                  <a:extLst>
                    <a:ext uri="{FF2B5EF4-FFF2-40B4-BE49-F238E27FC236}">
                      <a16:creationId xmlns:a16="http://schemas.microsoft.com/office/drawing/2014/main" id="{C74149F6-2BD9-1547-B14C-69B2E641BDFF}"/>
                    </a:ext>
                  </a:extLst>
                </p:cNvPr>
                <p:cNvGrpSpPr>
                  <a:grpSpLocks/>
                </p:cNvGrpSpPr>
                <p:nvPr/>
              </p:nvGrpSpPr>
              <p:grpSpPr bwMode="auto">
                <a:xfrm>
                  <a:off x="12815" y="21425"/>
                  <a:ext cx="2776" cy="913"/>
                  <a:chOff x="12315" y="13225"/>
                  <a:chExt cx="2775" cy="913"/>
                </a:xfrm>
              </p:grpSpPr>
              <p:sp>
                <p:nvSpPr>
                  <p:cNvPr id="308" name="Line 39">
                    <a:extLst>
                      <a:ext uri="{FF2B5EF4-FFF2-40B4-BE49-F238E27FC236}">
                        <a16:creationId xmlns:a16="http://schemas.microsoft.com/office/drawing/2014/main" id="{59CC4175-88B4-8C40-B032-807D24CE2432}"/>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09" name="Line 40">
                    <a:extLst>
                      <a:ext uri="{FF2B5EF4-FFF2-40B4-BE49-F238E27FC236}">
                        <a16:creationId xmlns:a16="http://schemas.microsoft.com/office/drawing/2014/main" id="{2A62733E-86E9-C64F-8671-78D818E6BEBF}"/>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sp>
              <p:nvSpPr>
                <p:cNvPr id="306" name="Line 41">
                  <a:extLst>
                    <a:ext uri="{FF2B5EF4-FFF2-40B4-BE49-F238E27FC236}">
                      <a16:creationId xmlns:a16="http://schemas.microsoft.com/office/drawing/2014/main" id="{11893E37-487E-1C43-93FA-50C9B2770C22}"/>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07" name="Line 42">
                  <a:extLst>
                    <a:ext uri="{FF2B5EF4-FFF2-40B4-BE49-F238E27FC236}">
                      <a16:creationId xmlns:a16="http://schemas.microsoft.com/office/drawing/2014/main" id="{30CC5948-C914-3749-A6FB-7CBA6CEFC2F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grpSp>
            <p:nvGrpSpPr>
              <p:cNvPr id="310" name="Group 43">
                <a:extLst>
                  <a:ext uri="{FF2B5EF4-FFF2-40B4-BE49-F238E27FC236}">
                    <a16:creationId xmlns:a16="http://schemas.microsoft.com/office/drawing/2014/main" id="{EF1CBAE6-6435-1B41-BF0D-D5BDA59F7DBF}"/>
                  </a:ext>
                </a:extLst>
              </p:cNvPr>
              <p:cNvGrpSpPr>
                <a:grpSpLocks/>
              </p:cNvGrpSpPr>
              <p:nvPr/>
            </p:nvGrpSpPr>
            <p:grpSpPr bwMode="auto">
              <a:xfrm>
                <a:off x="4480153" y="4569961"/>
                <a:ext cx="1466850" cy="606425"/>
                <a:chOff x="12502" y="21425"/>
                <a:chExt cx="3400" cy="1025"/>
              </a:xfrm>
            </p:grpSpPr>
            <p:sp>
              <p:nvSpPr>
                <p:cNvPr id="311" name="Line 44">
                  <a:extLst>
                    <a:ext uri="{FF2B5EF4-FFF2-40B4-BE49-F238E27FC236}">
                      <a16:creationId xmlns:a16="http://schemas.microsoft.com/office/drawing/2014/main" id="{F14701CF-76F1-2A4D-B2B4-A5BD8ECC327A}"/>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12" name="Freeform 45">
                  <a:extLst>
                    <a:ext uri="{FF2B5EF4-FFF2-40B4-BE49-F238E27FC236}">
                      <a16:creationId xmlns:a16="http://schemas.microsoft.com/office/drawing/2014/main" id="{731F34A3-5536-D645-BFF8-86128FA9A642}"/>
                    </a:ext>
                  </a:extLst>
                </p:cNvPr>
                <p:cNvSpPr>
                  <a:spLocks/>
                </p:cNvSpPr>
                <p:nvPr/>
              </p:nvSpPr>
              <p:spPr bwMode="auto">
                <a:xfrm>
                  <a:off x="12827" y="21438"/>
                  <a:ext cx="3075" cy="987"/>
                </a:xfrm>
                <a:custGeom>
                  <a:avLst/>
                  <a:gdLst>
                    <a:gd name="T0" fmla="*/ 0 w 1845"/>
                    <a:gd name="T1" fmla="*/ 0 h 592"/>
                    <a:gd name="T2" fmla="*/ 305147 w 1845"/>
                    <a:gd name="T3" fmla="*/ 98267 h 592"/>
                    <a:gd name="T4" fmla="*/ 181112 w 1845"/>
                    <a:gd name="T5" fmla="*/ 98267 h 592"/>
                    <a:gd name="T6" fmla="*/ 0 w 1845"/>
                    <a:gd name="T7" fmla="*/ 41006 h 592"/>
                    <a:gd name="T8" fmla="*/ 0 w 1845"/>
                    <a:gd name="T9" fmla="*/ 0 h 5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nvGrpSpPr>
                <p:cNvPr id="313" name="Group 46">
                  <a:extLst>
                    <a:ext uri="{FF2B5EF4-FFF2-40B4-BE49-F238E27FC236}">
                      <a16:creationId xmlns:a16="http://schemas.microsoft.com/office/drawing/2014/main" id="{85521E25-61DD-F442-81A5-F4A019724E19}"/>
                    </a:ext>
                  </a:extLst>
                </p:cNvPr>
                <p:cNvGrpSpPr>
                  <a:grpSpLocks/>
                </p:cNvGrpSpPr>
                <p:nvPr/>
              </p:nvGrpSpPr>
              <p:grpSpPr bwMode="auto">
                <a:xfrm>
                  <a:off x="12815" y="21425"/>
                  <a:ext cx="2776" cy="913"/>
                  <a:chOff x="12315" y="13225"/>
                  <a:chExt cx="2775" cy="913"/>
                </a:xfrm>
              </p:grpSpPr>
              <p:sp>
                <p:nvSpPr>
                  <p:cNvPr id="316" name="Line 47">
                    <a:extLst>
                      <a:ext uri="{FF2B5EF4-FFF2-40B4-BE49-F238E27FC236}">
                        <a16:creationId xmlns:a16="http://schemas.microsoft.com/office/drawing/2014/main" id="{1A001C50-CAEA-3442-AFBA-E51180AC45B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17" name="Line 48">
                    <a:extLst>
                      <a:ext uri="{FF2B5EF4-FFF2-40B4-BE49-F238E27FC236}">
                        <a16:creationId xmlns:a16="http://schemas.microsoft.com/office/drawing/2014/main" id="{37926C33-0CD4-CD45-BDFA-BADA6AC2CF0C}"/>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sp>
              <p:nvSpPr>
                <p:cNvPr id="314" name="Line 49">
                  <a:extLst>
                    <a:ext uri="{FF2B5EF4-FFF2-40B4-BE49-F238E27FC236}">
                      <a16:creationId xmlns:a16="http://schemas.microsoft.com/office/drawing/2014/main" id="{2F091D1F-079B-8B42-8F5F-7A038D533AEE}"/>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15" name="Line 50">
                  <a:extLst>
                    <a:ext uri="{FF2B5EF4-FFF2-40B4-BE49-F238E27FC236}">
                      <a16:creationId xmlns:a16="http://schemas.microsoft.com/office/drawing/2014/main" id="{5D3DE632-11F8-E547-996E-81F2B81B1B96}"/>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sp>
            <p:nvSpPr>
              <p:cNvPr id="318" name="Line 51">
                <a:extLst>
                  <a:ext uri="{FF2B5EF4-FFF2-40B4-BE49-F238E27FC236}">
                    <a16:creationId xmlns:a16="http://schemas.microsoft.com/office/drawing/2014/main" id="{DB7CC19A-0A6A-DC4D-BED1-5955B59496B3}"/>
                  </a:ext>
                </a:extLst>
              </p:cNvPr>
              <p:cNvSpPr>
                <a:spLocks noChangeShapeType="1"/>
              </p:cNvSpPr>
              <p:nvPr/>
            </p:nvSpPr>
            <p:spPr bwMode="auto">
              <a:xfrm flipV="1">
                <a:off x="4630965" y="3646036"/>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grpSp>
        <p:grpSp>
          <p:nvGrpSpPr>
            <p:cNvPr id="4" name="Group 3">
              <a:extLst>
                <a:ext uri="{FF2B5EF4-FFF2-40B4-BE49-F238E27FC236}">
                  <a16:creationId xmlns:a16="http://schemas.microsoft.com/office/drawing/2014/main" id="{5DE6FBFC-B25F-574B-9C74-BFE13D65297A}"/>
                </a:ext>
              </a:extLst>
            </p:cNvPr>
            <p:cNvGrpSpPr/>
            <p:nvPr/>
          </p:nvGrpSpPr>
          <p:grpSpPr>
            <a:xfrm>
              <a:off x="1782990" y="1417186"/>
              <a:ext cx="8797925" cy="2974975"/>
              <a:chOff x="1782990" y="1417186"/>
              <a:chExt cx="8797925" cy="2974975"/>
            </a:xfrm>
          </p:grpSpPr>
          <p:sp>
            <p:nvSpPr>
              <p:cNvPr id="270" name="Line 3">
                <a:extLst>
                  <a:ext uri="{FF2B5EF4-FFF2-40B4-BE49-F238E27FC236}">
                    <a16:creationId xmlns:a16="http://schemas.microsoft.com/office/drawing/2014/main" id="{8578E745-D056-4142-B481-0269A613480E}"/>
                  </a:ext>
                </a:extLst>
              </p:cNvPr>
              <p:cNvSpPr>
                <a:spLocks noChangeShapeType="1"/>
              </p:cNvSpPr>
              <p:nvPr/>
            </p:nvSpPr>
            <p:spPr bwMode="auto">
              <a:xfrm>
                <a:off x="4608740" y="1966461"/>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74" name="Text Box 7">
                <a:extLst>
                  <a:ext uri="{FF2B5EF4-FFF2-40B4-BE49-F238E27FC236}">
                    <a16:creationId xmlns:a16="http://schemas.microsoft.com/office/drawing/2014/main" id="{275A02AE-605A-8841-9D53-53820A5CF657}"/>
                  </a:ext>
                </a:extLst>
              </p:cNvPr>
              <p:cNvSpPr txBox="1">
                <a:spLocks noChangeArrowheads="1"/>
              </p:cNvSpPr>
              <p:nvPr/>
            </p:nvSpPr>
            <p:spPr bwMode="auto">
              <a:xfrm>
                <a:off x="4138840" y="1417186"/>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sender</a:t>
                </a:r>
                <a:endParaRPr lang="en-US" altLang="en-US" sz="1200">
                  <a:solidFill>
                    <a:srgbClr val="000000"/>
                  </a:solidFill>
                  <a:latin typeface="Times New Roman" panose="02020603050405020304" pitchFamily="18" charset="0"/>
                </a:endParaRPr>
              </a:p>
            </p:txBody>
          </p:sp>
          <p:sp>
            <p:nvSpPr>
              <p:cNvPr id="275" name="Text Box 8">
                <a:extLst>
                  <a:ext uri="{FF2B5EF4-FFF2-40B4-BE49-F238E27FC236}">
                    <a16:creationId xmlns:a16="http://schemas.microsoft.com/office/drawing/2014/main" id="{27A750B8-38FA-9A48-B75F-4D9DAA80B3C8}"/>
                  </a:ext>
                </a:extLst>
              </p:cNvPr>
              <p:cNvSpPr txBox="1">
                <a:spLocks noChangeArrowheads="1"/>
              </p:cNvSpPr>
              <p:nvPr/>
            </p:nvSpPr>
            <p:spPr bwMode="auto">
              <a:xfrm>
                <a:off x="6167665" y="1417186"/>
                <a:ext cx="1108075"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receiver</a:t>
                </a:r>
                <a:endParaRPr lang="en-US" altLang="en-US" sz="1200">
                  <a:solidFill>
                    <a:srgbClr val="000000"/>
                  </a:solidFill>
                  <a:latin typeface="Times New Roman" panose="02020603050405020304" pitchFamily="18" charset="0"/>
                </a:endParaRPr>
              </a:p>
            </p:txBody>
          </p:sp>
          <p:sp>
            <p:nvSpPr>
              <p:cNvPr id="276" name="Line 9">
                <a:extLst>
                  <a:ext uri="{FF2B5EF4-FFF2-40B4-BE49-F238E27FC236}">
                    <a16:creationId xmlns:a16="http://schemas.microsoft.com/office/drawing/2014/main" id="{9EF9145B-0631-6D40-844E-0FEE146AD807}"/>
                  </a:ext>
                </a:extLst>
              </p:cNvPr>
              <p:cNvSpPr>
                <a:spLocks noChangeShapeType="1"/>
              </p:cNvSpPr>
              <p:nvPr/>
            </p:nvSpPr>
            <p:spPr bwMode="auto">
              <a:xfrm>
                <a:off x="4619853" y="1961699"/>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77" name="Line 10">
                <a:extLst>
                  <a:ext uri="{FF2B5EF4-FFF2-40B4-BE49-F238E27FC236}">
                    <a16:creationId xmlns:a16="http://schemas.microsoft.com/office/drawing/2014/main" id="{89818B7B-1767-9D41-8631-8A3B93FF67C3}"/>
                  </a:ext>
                </a:extLst>
              </p:cNvPr>
              <p:cNvSpPr>
                <a:spLocks noChangeShapeType="1"/>
              </p:cNvSpPr>
              <p:nvPr/>
            </p:nvSpPr>
            <p:spPr bwMode="auto">
              <a:xfrm>
                <a:off x="4626203" y="4093711"/>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78" name="Freeform 11">
                <a:extLst>
                  <a:ext uri="{FF2B5EF4-FFF2-40B4-BE49-F238E27FC236}">
                    <a16:creationId xmlns:a16="http://schemas.microsoft.com/office/drawing/2014/main" id="{7C53C3B4-7876-5B43-ABD7-074C37F12BE6}"/>
                  </a:ext>
                </a:extLst>
              </p:cNvPr>
              <p:cNvSpPr>
                <a:spLocks/>
              </p:cNvSpPr>
              <p:nvPr/>
            </p:nvSpPr>
            <p:spPr bwMode="auto">
              <a:xfrm>
                <a:off x="4603978" y="1958524"/>
                <a:ext cx="2087562" cy="1169987"/>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79" name="Line 12">
                <a:extLst>
                  <a:ext uri="{FF2B5EF4-FFF2-40B4-BE49-F238E27FC236}">
                    <a16:creationId xmlns:a16="http://schemas.microsoft.com/office/drawing/2014/main" id="{A956E0A5-AC1B-5447-84D9-4593A3E93C16}"/>
                  </a:ext>
                </a:extLst>
              </p:cNvPr>
              <p:cNvSpPr>
                <a:spLocks noChangeShapeType="1"/>
              </p:cNvSpPr>
              <p:nvPr/>
            </p:nvSpPr>
            <p:spPr bwMode="auto">
              <a:xfrm flipH="1">
                <a:off x="4469040" y="1958524"/>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80" name="Line 13">
                <a:extLst>
                  <a:ext uri="{FF2B5EF4-FFF2-40B4-BE49-F238E27FC236}">
                    <a16:creationId xmlns:a16="http://schemas.microsoft.com/office/drawing/2014/main" id="{4E911566-59D1-CB47-B826-2D5CA791D0B9}"/>
                  </a:ext>
                </a:extLst>
              </p:cNvPr>
              <p:cNvSpPr>
                <a:spLocks noChangeShapeType="1"/>
              </p:cNvSpPr>
              <p:nvPr/>
            </p:nvSpPr>
            <p:spPr bwMode="auto">
              <a:xfrm flipH="1">
                <a:off x="4469040" y="2202999"/>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81" name="Text Box 14">
                <a:extLst>
                  <a:ext uri="{FF2B5EF4-FFF2-40B4-BE49-F238E27FC236}">
                    <a16:creationId xmlns:a16="http://schemas.microsoft.com/office/drawing/2014/main" id="{445CA97C-CB18-2644-916B-02A60272C884}"/>
                  </a:ext>
                </a:extLst>
              </p:cNvPr>
              <p:cNvSpPr txBox="1">
                <a:spLocks noChangeArrowheads="1"/>
              </p:cNvSpPr>
              <p:nvPr/>
            </p:nvSpPr>
            <p:spPr bwMode="auto">
              <a:xfrm>
                <a:off x="3687990" y="2942774"/>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RTT </a:t>
                </a:r>
                <a:endParaRPr lang="en-US" altLang="en-US" sz="1200">
                  <a:solidFill>
                    <a:srgbClr val="000000"/>
                  </a:solidFill>
                  <a:latin typeface="Times New Roman" panose="02020603050405020304" pitchFamily="18" charset="0"/>
                </a:endParaRPr>
              </a:p>
            </p:txBody>
          </p:sp>
          <p:sp>
            <p:nvSpPr>
              <p:cNvPr id="282" name="Line 15">
                <a:extLst>
                  <a:ext uri="{FF2B5EF4-FFF2-40B4-BE49-F238E27FC236}">
                    <a16:creationId xmlns:a16="http://schemas.microsoft.com/office/drawing/2014/main" id="{05D08CE0-2B2A-6943-A3AF-E51CE2FDFD3C}"/>
                  </a:ext>
                </a:extLst>
              </p:cNvPr>
              <p:cNvSpPr>
                <a:spLocks noChangeShapeType="1"/>
              </p:cNvSpPr>
              <p:nvPr/>
            </p:nvSpPr>
            <p:spPr bwMode="auto">
              <a:xfrm>
                <a:off x="4502378" y="3253924"/>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83" name="Line 16">
                <a:extLst>
                  <a:ext uri="{FF2B5EF4-FFF2-40B4-BE49-F238E27FC236}">
                    <a16:creationId xmlns:a16="http://schemas.microsoft.com/office/drawing/2014/main" id="{E60C4BA4-F185-6C4D-81D1-73276FF1E040}"/>
                  </a:ext>
                </a:extLst>
              </p:cNvPr>
              <p:cNvSpPr>
                <a:spLocks noChangeShapeType="1"/>
              </p:cNvSpPr>
              <p:nvPr/>
            </p:nvSpPr>
            <p:spPr bwMode="auto">
              <a:xfrm flipV="1">
                <a:off x="4507140" y="2225224"/>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84" name="Text Box 17">
                <a:extLst>
                  <a:ext uri="{FF2B5EF4-FFF2-40B4-BE49-F238E27FC236}">
                    <a16:creationId xmlns:a16="http://schemas.microsoft.com/office/drawing/2014/main" id="{2D2A4BCC-1CF4-BE4F-9159-6547BADEC7D1}"/>
                  </a:ext>
                </a:extLst>
              </p:cNvPr>
              <p:cNvSpPr txBox="1">
                <a:spLocks noChangeArrowheads="1"/>
              </p:cNvSpPr>
              <p:nvPr/>
            </p:nvSpPr>
            <p:spPr bwMode="auto">
              <a:xfrm>
                <a:off x="1782990" y="2041074"/>
                <a:ext cx="274002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last bit transmitted, t = L / R</a:t>
                </a:r>
                <a:endParaRPr lang="en-US" altLang="en-US" sz="1200">
                  <a:solidFill>
                    <a:srgbClr val="000000"/>
                  </a:solidFill>
                  <a:latin typeface="Times New Roman" panose="02020603050405020304" pitchFamily="18" charset="0"/>
                </a:endParaRPr>
              </a:p>
            </p:txBody>
          </p:sp>
          <p:sp>
            <p:nvSpPr>
              <p:cNvPr id="285" name="Line 18">
                <a:extLst>
                  <a:ext uri="{FF2B5EF4-FFF2-40B4-BE49-F238E27FC236}">
                    <a16:creationId xmlns:a16="http://schemas.microsoft.com/office/drawing/2014/main" id="{7DA72F70-6275-E44B-B3B2-867A077BBE1F}"/>
                  </a:ext>
                </a:extLst>
              </p:cNvPr>
              <p:cNvSpPr>
                <a:spLocks noChangeShapeType="1"/>
              </p:cNvSpPr>
              <p:nvPr/>
            </p:nvSpPr>
            <p:spPr bwMode="auto">
              <a:xfrm flipH="1">
                <a:off x="6669315" y="2884036"/>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86" name="Text Box 19">
                <a:extLst>
                  <a:ext uri="{FF2B5EF4-FFF2-40B4-BE49-F238E27FC236}">
                    <a16:creationId xmlns:a16="http://schemas.microsoft.com/office/drawing/2014/main" id="{090538B9-64B8-8249-A097-902A990BDC61}"/>
                  </a:ext>
                </a:extLst>
              </p:cNvPr>
              <p:cNvSpPr txBox="1">
                <a:spLocks noChangeArrowheads="1"/>
              </p:cNvSpPr>
              <p:nvPr/>
            </p:nvSpPr>
            <p:spPr bwMode="auto">
              <a:xfrm>
                <a:off x="6745515" y="2706236"/>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a:solidFill>
                      <a:srgbClr val="000000"/>
                    </a:solidFill>
                    <a:latin typeface="Arial" panose="020B0604020202020204" pitchFamily="34" charset="0"/>
                  </a:rPr>
                  <a:t>first packet bit arrives</a:t>
                </a:r>
                <a:endParaRPr lang="en-US" altLang="en-US" sz="1200">
                  <a:solidFill>
                    <a:srgbClr val="000000"/>
                  </a:solidFill>
                  <a:latin typeface="Times New Roman" panose="02020603050405020304" pitchFamily="18" charset="0"/>
                </a:endParaRPr>
              </a:p>
            </p:txBody>
          </p:sp>
          <p:sp>
            <p:nvSpPr>
              <p:cNvPr id="287" name="Line 20">
                <a:extLst>
                  <a:ext uri="{FF2B5EF4-FFF2-40B4-BE49-F238E27FC236}">
                    <a16:creationId xmlns:a16="http://schemas.microsoft.com/office/drawing/2014/main" id="{43859A12-C8B1-7F4C-996B-A2335F971C54}"/>
                  </a:ext>
                </a:extLst>
              </p:cNvPr>
              <p:cNvSpPr>
                <a:spLocks noChangeShapeType="1"/>
              </p:cNvSpPr>
              <p:nvPr/>
            </p:nvSpPr>
            <p:spPr bwMode="auto">
              <a:xfrm>
                <a:off x="6691540" y="3134861"/>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88" name="Text Box 21">
                <a:extLst>
                  <a:ext uri="{FF2B5EF4-FFF2-40B4-BE49-F238E27FC236}">
                    <a16:creationId xmlns:a16="http://schemas.microsoft.com/office/drawing/2014/main" id="{D5887813-0036-6B4B-A7D4-5F561E3F1047}"/>
                  </a:ext>
                </a:extLst>
              </p:cNvPr>
              <p:cNvSpPr txBox="1">
                <a:spLocks noChangeArrowheads="1"/>
              </p:cNvSpPr>
              <p:nvPr/>
            </p:nvSpPr>
            <p:spPr bwMode="auto">
              <a:xfrm>
                <a:off x="6750278" y="2958649"/>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a:solidFill>
                      <a:srgbClr val="000000"/>
                    </a:solidFill>
                    <a:latin typeface="Arial" panose="020B0604020202020204" pitchFamily="34" charset="0"/>
                  </a:rPr>
                  <a:t>last packet bit arrives, send ACK</a:t>
                </a:r>
                <a:endParaRPr lang="en-US" altLang="en-US" sz="1200">
                  <a:solidFill>
                    <a:srgbClr val="000000"/>
                  </a:solidFill>
                  <a:latin typeface="Times New Roman" panose="02020603050405020304" pitchFamily="18" charset="0"/>
                </a:endParaRPr>
              </a:p>
            </p:txBody>
          </p:sp>
          <p:sp>
            <p:nvSpPr>
              <p:cNvPr id="289" name="Text Box 22">
                <a:extLst>
                  <a:ext uri="{FF2B5EF4-FFF2-40B4-BE49-F238E27FC236}">
                    <a16:creationId xmlns:a16="http://schemas.microsoft.com/office/drawing/2014/main" id="{FCD4E8AC-1B13-DA41-948F-91A83864962E}"/>
                  </a:ext>
                </a:extLst>
              </p:cNvPr>
              <p:cNvSpPr txBox="1">
                <a:spLocks noChangeArrowheads="1"/>
              </p:cNvSpPr>
              <p:nvPr/>
            </p:nvSpPr>
            <p:spPr bwMode="auto">
              <a:xfrm>
                <a:off x="1930628" y="3750811"/>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ACK arrives, send next </a:t>
                </a:r>
              </a:p>
              <a:p>
                <a:pPr algn="r" defTabSz="685800" eaLnBrk="0" fontAlgn="base" hangingPunct="0">
                  <a:spcBef>
                    <a:spcPct val="0"/>
                  </a:spcBef>
                  <a:spcAft>
                    <a:spcPct val="0"/>
                  </a:spcAft>
                  <a:defRPr/>
                </a:pPr>
                <a:r>
                  <a:rPr lang="en-US" altLang="en-US" sz="1200">
                    <a:solidFill>
                      <a:srgbClr val="000000"/>
                    </a:solidFill>
                    <a:latin typeface="Arial" panose="020B0604020202020204" pitchFamily="34" charset="0"/>
                  </a:rPr>
                  <a:t>packet, t = RTT + L / R</a:t>
                </a:r>
                <a:endParaRPr lang="en-US" altLang="en-US" sz="1200">
                  <a:solidFill>
                    <a:srgbClr val="000000"/>
                  </a:solidFill>
                  <a:latin typeface="Times New Roman" panose="02020603050405020304" pitchFamily="18" charset="0"/>
                </a:endParaRPr>
              </a:p>
            </p:txBody>
          </p:sp>
          <p:sp>
            <p:nvSpPr>
              <p:cNvPr id="298" name="Freeform 31">
                <a:extLst>
                  <a:ext uri="{FF2B5EF4-FFF2-40B4-BE49-F238E27FC236}">
                    <a16:creationId xmlns:a16="http://schemas.microsoft.com/office/drawing/2014/main" id="{F38321EB-FAE2-904A-9B81-21D0186CBC57}"/>
                  </a:ext>
                </a:extLst>
              </p:cNvPr>
              <p:cNvSpPr>
                <a:spLocks/>
              </p:cNvSpPr>
              <p:nvPr/>
            </p:nvSpPr>
            <p:spPr bwMode="auto">
              <a:xfrm>
                <a:off x="4608740" y="2210936"/>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299" name="Freeform 32">
                <a:extLst>
                  <a:ext uri="{FF2B5EF4-FFF2-40B4-BE49-F238E27FC236}">
                    <a16:creationId xmlns:a16="http://schemas.microsoft.com/office/drawing/2014/main" id="{FBE57882-6BB0-FB42-8297-3020DB77FC4F}"/>
                  </a:ext>
                </a:extLst>
              </p:cNvPr>
              <p:cNvSpPr>
                <a:spLocks/>
              </p:cNvSpPr>
              <p:nvPr/>
            </p:nvSpPr>
            <p:spPr bwMode="auto">
              <a:xfrm>
                <a:off x="4608740" y="2461761"/>
                <a:ext cx="2087563" cy="1168400"/>
              </a:xfrm>
              <a:custGeom>
                <a:avLst/>
                <a:gdLst>
                  <a:gd name="T0" fmla="*/ 0 w 2902"/>
                  <a:gd name="T1" fmla="*/ 0 h 1185"/>
                  <a:gd name="T2" fmla="*/ 2147483647 w 2902"/>
                  <a:gd name="T3" fmla="*/ 2147483647 h 1185"/>
                  <a:gd name="T4" fmla="*/ 2147483647 w 2902"/>
                  <a:gd name="T5" fmla="*/ 2147483647 h 1185"/>
                  <a:gd name="T6" fmla="*/ 0 w 2902"/>
                  <a:gd name="T7" fmla="*/ 2147483647 h 1185"/>
                  <a:gd name="T8" fmla="*/ 0 w 2902"/>
                  <a:gd name="T9" fmla="*/ 0 h 11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00" name="Line 33">
                <a:extLst>
                  <a:ext uri="{FF2B5EF4-FFF2-40B4-BE49-F238E27FC236}">
                    <a16:creationId xmlns:a16="http://schemas.microsoft.com/office/drawing/2014/main" id="{FEACB0C4-D684-9C47-A7A0-8FB12C2D6D5C}"/>
                  </a:ext>
                </a:extLst>
              </p:cNvPr>
              <p:cNvSpPr>
                <a:spLocks noChangeShapeType="1"/>
              </p:cNvSpPr>
              <p:nvPr/>
            </p:nvSpPr>
            <p:spPr bwMode="auto">
              <a:xfrm flipV="1">
                <a:off x="4626203" y="3142799"/>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01" name="Line 34">
                <a:extLst>
                  <a:ext uri="{FF2B5EF4-FFF2-40B4-BE49-F238E27FC236}">
                    <a16:creationId xmlns:a16="http://schemas.microsoft.com/office/drawing/2014/main" id="{B381B3DB-0359-7246-93D3-750B1DF80082}"/>
                  </a:ext>
                </a:extLst>
              </p:cNvPr>
              <p:cNvSpPr>
                <a:spLocks noChangeShapeType="1"/>
              </p:cNvSpPr>
              <p:nvPr/>
            </p:nvSpPr>
            <p:spPr bwMode="auto">
              <a:xfrm flipV="1">
                <a:off x="4626203" y="3393624"/>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19" name="Text Box 52">
                <a:extLst>
                  <a:ext uri="{FF2B5EF4-FFF2-40B4-BE49-F238E27FC236}">
                    <a16:creationId xmlns:a16="http://schemas.microsoft.com/office/drawing/2014/main" id="{7C41A37A-EA25-6B42-B8A7-D7B83D33521A}"/>
                  </a:ext>
                </a:extLst>
              </p:cNvPr>
              <p:cNvSpPr txBox="1">
                <a:spLocks noChangeArrowheads="1"/>
              </p:cNvSpPr>
              <p:nvPr/>
            </p:nvSpPr>
            <p:spPr bwMode="auto">
              <a:xfrm>
                <a:off x="6747103" y="3212649"/>
                <a:ext cx="38338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a:solidFill>
                      <a:srgbClr val="000000"/>
                    </a:solidFill>
                    <a:latin typeface="Arial" panose="020B0604020202020204" pitchFamily="34" charset="0"/>
                  </a:rPr>
                  <a:t>last bit of 2</a:t>
                </a:r>
                <a:r>
                  <a:rPr lang="en-US" altLang="en-US" sz="1200" baseline="30000">
                    <a:solidFill>
                      <a:srgbClr val="000000"/>
                    </a:solidFill>
                    <a:latin typeface="Arial" panose="020B0604020202020204" pitchFamily="34" charset="0"/>
                  </a:rPr>
                  <a:t>nd</a:t>
                </a:r>
                <a:r>
                  <a:rPr lang="en-US" altLang="en-US" sz="1200">
                    <a:solidFill>
                      <a:srgbClr val="000000"/>
                    </a:solidFill>
                    <a:latin typeface="Arial" panose="020B0604020202020204" pitchFamily="34" charset="0"/>
                  </a:rPr>
                  <a:t> packet arrives, send ACK</a:t>
                </a:r>
                <a:endParaRPr lang="en-US" altLang="en-US" sz="1200">
                  <a:solidFill>
                    <a:srgbClr val="000000"/>
                  </a:solidFill>
                  <a:latin typeface="Times New Roman" panose="02020603050405020304" pitchFamily="18" charset="0"/>
                </a:endParaRPr>
              </a:p>
            </p:txBody>
          </p:sp>
          <p:sp>
            <p:nvSpPr>
              <p:cNvPr id="320" name="Line 53">
                <a:extLst>
                  <a:ext uri="{FF2B5EF4-FFF2-40B4-BE49-F238E27FC236}">
                    <a16:creationId xmlns:a16="http://schemas.microsoft.com/office/drawing/2014/main" id="{87E7DB36-E98C-7E44-A72B-F7EAC66CB01A}"/>
                  </a:ext>
                </a:extLst>
              </p:cNvPr>
              <p:cNvSpPr>
                <a:spLocks noChangeShapeType="1"/>
              </p:cNvSpPr>
              <p:nvPr/>
            </p:nvSpPr>
            <p:spPr bwMode="auto">
              <a:xfrm flipV="1">
                <a:off x="6691540" y="3371399"/>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21" name="Line 54">
                <a:extLst>
                  <a:ext uri="{FF2B5EF4-FFF2-40B4-BE49-F238E27FC236}">
                    <a16:creationId xmlns:a16="http://schemas.microsoft.com/office/drawing/2014/main" id="{6F1B7C9A-215A-474C-BA01-5D7C9727191A}"/>
                  </a:ext>
                </a:extLst>
              </p:cNvPr>
              <p:cNvSpPr>
                <a:spLocks noChangeShapeType="1"/>
              </p:cNvSpPr>
              <p:nvPr/>
            </p:nvSpPr>
            <p:spPr bwMode="auto">
              <a:xfrm flipV="1">
                <a:off x="6702653" y="3623811"/>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a:solidFill>
                    <a:srgbClr val="000000"/>
                  </a:solidFill>
                  <a:latin typeface="Tahoma" panose="020B0604030504040204" pitchFamily="34" charset="0"/>
                  <a:ea typeface="ＭＳ Ｐゴシック" panose="020B0600070205080204" pitchFamily="34" charset="-128"/>
                </a:endParaRPr>
              </a:p>
            </p:txBody>
          </p:sp>
          <p:sp>
            <p:nvSpPr>
              <p:cNvPr id="322" name="Text Box 55">
                <a:extLst>
                  <a:ext uri="{FF2B5EF4-FFF2-40B4-BE49-F238E27FC236}">
                    <a16:creationId xmlns:a16="http://schemas.microsoft.com/office/drawing/2014/main" id="{2CD16A00-05F1-344E-A3E7-C5304F7F9228}"/>
                  </a:ext>
                </a:extLst>
              </p:cNvPr>
              <p:cNvSpPr txBox="1">
                <a:spLocks noChangeArrowheads="1"/>
              </p:cNvSpPr>
              <p:nvPr/>
            </p:nvSpPr>
            <p:spPr bwMode="auto">
              <a:xfrm>
                <a:off x="6742340" y="3446011"/>
                <a:ext cx="38385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last bit of 3</a:t>
                </a:r>
                <a:r>
                  <a:rPr lang="en-US" altLang="en-US" sz="1200" baseline="30000" dirty="0">
                    <a:solidFill>
                      <a:srgbClr val="000000"/>
                    </a:solidFill>
                    <a:latin typeface="Arial" panose="020B0604020202020204" pitchFamily="34" charset="0"/>
                  </a:rPr>
                  <a:t>rd</a:t>
                </a:r>
                <a:r>
                  <a:rPr lang="en-US" altLang="en-US" sz="1200" dirty="0">
                    <a:solidFill>
                      <a:srgbClr val="000000"/>
                    </a:solidFill>
                    <a:latin typeface="Arial" panose="020B0604020202020204" pitchFamily="34" charset="0"/>
                  </a:rPr>
                  <a:t> packet arrives, send ACK</a:t>
                </a:r>
                <a:endParaRPr lang="en-US" altLang="en-US" sz="1200" dirty="0">
                  <a:solidFill>
                    <a:srgbClr val="000000"/>
                  </a:solidFill>
                  <a:latin typeface="Times New Roman" panose="02020603050405020304" pitchFamily="18" charset="0"/>
                </a:endParaRPr>
              </a:p>
            </p:txBody>
          </p:sp>
        </p:grpSp>
      </p:grpSp>
      <p:sp>
        <p:nvSpPr>
          <p:cNvPr id="323" name="Text Box 57">
            <a:extLst>
              <a:ext uri="{FF2B5EF4-FFF2-40B4-BE49-F238E27FC236}">
                <a16:creationId xmlns:a16="http://schemas.microsoft.com/office/drawing/2014/main" id="{FB511FDF-D49A-204F-9558-B726F99E69A7}"/>
              </a:ext>
            </a:extLst>
          </p:cNvPr>
          <p:cNvSpPr txBox="1">
            <a:spLocks noChangeArrowheads="1"/>
          </p:cNvSpPr>
          <p:nvPr/>
        </p:nvSpPr>
        <p:spPr bwMode="auto">
          <a:xfrm>
            <a:off x="4421771" y="4988670"/>
            <a:ext cx="2672526" cy="55399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dirty="0">
                <a:solidFill>
                  <a:srgbClr val="CC0000"/>
                </a:solidFill>
                <a:latin typeface="Arial" charset="0"/>
              </a:rPr>
              <a:t>3-packet pipelining increases</a:t>
            </a:r>
          </a:p>
          <a:p>
            <a:pPr algn="ctr" defTabSz="685800" eaLnBrk="0" fontAlgn="base" hangingPunct="0">
              <a:spcBef>
                <a:spcPct val="0"/>
              </a:spcBef>
              <a:spcAft>
                <a:spcPct val="0"/>
              </a:spcAft>
              <a:defRPr/>
            </a:pPr>
            <a:r>
              <a:rPr lang="en-US" sz="1500" dirty="0">
                <a:solidFill>
                  <a:srgbClr val="CC0000"/>
                </a:solidFill>
                <a:latin typeface="Arial" charset="0"/>
              </a:rPr>
              <a:t> utilization by a factor of 3!</a:t>
            </a:r>
          </a:p>
        </p:txBody>
      </p:sp>
      <p:graphicFrame>
        <p:nvGraphicFramePr>
          <p:cNvPr id="325" name="Object 61">
            <a:extLst>
              <a:ext uri="{FF2B5EF4-FFF2-40B4-BE49-F238E27FC236}">
                <a16:creationId xmlns:a16="http://schemas.microsoft.com/office/drawing/2014/main" id="{A3FC3780-5690-F049-A6E0-28EEB6C29DDD}"/>
              </a:ext>
            </a:extLst>
          </p:cNvPr>
          <p:cNvGraphicFramePr>
            <a:graphicFrameLocks noChangeAspect="1"/>
          </p:cNvGraphicFramePr>
          <p:nvPr/>
        </p:nvGraphicFramePr>
        <p:xfrm>
          <a:off x="1259681" y="4677966"/>
          <a:ext cx="6676005" cy="975122"/>
        </p:xfrm>
        <a:graphic>
          <a:graphicData uri="http://schemas.openxmlformats.org/presentationml/2006/ole">
            <mc:AlternateContent xmlns:mc="http://schemas.openxmlformats.org/markup-compatibility/2006">
              <mc:Choice xmlns:v="urn:schemas-microsoft-com:vml" Requires="v">
                <p:oleObj name="Picture" r:id="rId3" imgW="3581280" imgH="495360" progId="Word.Picture.8">
                  <p:embed/>
                </p:oleObj>
              </mc:Choice>
              <mc:Fallback>
                <p:oleObj name="Picture" r:id="rId3" imgW="3581280" imgH="495360" progId="Word.Picture.8">
                  <p:embed/>
                  <p:pic>
                    <p:nvPicPr>
                      <p:cNvPr id="325" name="Object 61">
                        <a:extLst>
                          <a:ext uri="{FF2B5EF4-FFF2-40B4-BE49-F238E27FC236}">
                            <a16:creationId xmlns:a16="http://schemas.microsoft.com/office/drawing/2014/main" id="{A3FC3780-5690-F049-A6E0-28EEB6C29DDD}"/>
                          </a:ext>
                        </a:extLst>
                      </p:cNvPr>
                      <p:cNvPicPr>
                        <a:picLocks noChangeAspect="1" noChangeArrowheads="1"/>
                      </p:cNvPicPr>
                      <p:nvPr/>
                    </p:nvPicPr>
                    <p:blipFill>
                      <a:blip r:embed="rId4"/>
                      <a:srcRect/>
                      <a:stretch>
                        <a:fillRect/>
                      </a:stretch>
                    </p:blipFill>
                    <p:spPr bwMode="auto">
                      <a:xfrm>
                        <a:off x="1259681" y="4677966"/>
                        <a:ext cx="6676005" cy="975122"/>
                      </a:xfrm>
                      <a:prstGeom prst="rect">
                        <a:avLst/>
                      </a:prstGeom>
                      <a:noFill/>
                      <a:ln>
                        <a:noFill/>
                      </a:ln>
                    </p:spPr>
                  </p:pic>
                </p:oleObj>
              </mc:Fallback>
            </mc:AlternateContent>
          </a:graphicData>
        </a:graphic>
      </p:graphicFrame>
      <p:sp>
        <p:nvSpPr>
          <p:cNvPr id="63" name="Slide Number Placeholder 2">
            <a:extLst>
              <a:ext uri="{FF2B5EF4-FFF2-40B4-BE49-F238E27FC236}">
                <a16:creationId xmlns:a16="http://schemas.microsoft.com/office/drawing/2014/main" id="{5140CCE3-35CF-C249-B39A-9608764C93DB}"/>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20</a:t>
            </a:fld>
            <a:endParaRPr lang="en-US" dirty="0"/>
          </a:p>
        </p:txBody>
      </p:sp>
    </p:spTree>
    <p:extLst>
      <p:ext uri="{BB962C8B-B14F-4D97-AF65-F5344CB8AC3E}">
        <p14:creationId xmlns:p14="http://schemas.microsoft.com/office/powerpoint/2010/main" val="1070888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5"/>
                                        </p:tgtEl>
                                        <p:attrNameLst>
                                          <p:attrName>style.visibility</p:attrName>
                                        </p:attrNameLst>
                                      </p:cBhvr>
                                      <p:to>
                                        <p:strVal val="visible"/>
                                      </p:to>
                                    </p:set>
                                    <p:animEffect transition="in" filter="dissolve">
                                      <p:cBhvr>
                                        <p:cTn id="12" dur="500"/>
                                        <p:tgtEl>
                                          <p:spTgt spid="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20553" y="925253"/>
            <a:ext cx="3715143" cy="418528"/>
          </a:xfrm>
        </p:spPr>
        <p:txBody>
          <a:bodyPr>
            <a:normAutofit fontScale="90000"/>
          </a:bodyPr>
          <a:lstStyle/>
          <a:p>
            <a:r>
              <a:rPr lang="en-US" sz="3600" dirty="0"/>
              <a:t>Go-Back-N</a:t>
            </a:r>
            <a:endParaRPr lang="en-US" dirty="0"/>
          </a:p>
        </p:txBody>
      </p:sp>
      <p:sp>
        <p:nvSpPr>
          <p:cNvPr id="6" name="Rectangle 3">
            <a:extLst>
              <a:ext uri="{FF2B5EF4-FFF2-40B4-BE49-F238E27FC236}">
                <a16:creationId xmlns:a16="http://schemas.microsoft.com/office/drawing/2014/main" id="{1D02EA8C-0D47-4345-907B-176DCE82FE33}"/>
              </a:ext>
            </a:extLst>
          </p:cNvPr>
          <p:cNvSpPr txBox="1">
            <a:spLocks noChangeArrowheads="1"/>
          </p:cNvSpPr>
          <p:nvPr/>
        </p:nvSpPr>
        <p:spPr>
          <a:xfrm>
            <a:off x="0" y="1373473"/>
            <a:ext cx="9144000" cy="418528"/>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defRPr/>
            </a:pPr>
            <a:r>
              <a:rPr lang="en-US" sz="1800" b="1" dirty="0">
                <a:solidFill>
                  <a:schemeClr val="accent6">
                    <a:lumMod val="75000"/>
                  </a:schemeClr>
                </a:solidFill>
              </a:rPr>
              <a:t>Sender</a:t>
            </a:r>
            <a:r>
              <a:rPr lang="en-US" sz="1800" dirty="0"/>
              <a:t> </a:t>
            </a:r>
            <a:r>
              <a:rPr lang="en-US" altLang="ja-JP" sz="1800" dirty="0">
                <a:solidFill>
                  <a:prstClr val="black"/>
                </a:solidFill>
                <a:latin typeface="Calibri" panose="020F0502020204030204"/>
                <a:ea typeface="ＭＳ Ｐゴシック" panose="020B0600070205080204" pitchFamily="34" charset="-128"/>
              </a:rPr>
              <a:t>: uses a “window” of up to N, consecutive transmitted but unacknowledged packets </a:t>
            </a:r>
          </a:p>
          <a:p>
            <a:pPr marL="264319" indent="-166688" defTabSz="685800">
              <a:spcBef>
                <a:spcPts val="750"/>
              </a:spcBef>
              <a:defRPr/>
            </a:pPr>
            <a:endParaRPr lang="en-US" altLang="en-US" sz="2100" dirty="0">
              <a:solidFill>
                <a:prstClr val="black"/>
              </a:solidFill>
              <a:latin typeface="Calibri" panose="020F0502020204030204"/>
              <a:ea typeface="ＭＳ Ｐゴシック" panose="020B0600070205080204" pitchFamily="34" charset="-128"/>
            </a:endParaRPr>
          </a:p>
          <a:p>
            <a:pPr marL="264319" indent="-166688" defTabSz="685800">
              <a:spcBef>
                <a:spcPts val="750"/>
              </a:spcBef>
              <a:defRPr/>
            </a:pPr>
            <a:endParaRPr lang="en-US" altLang="en-US" sz="2100" dirty="0">
              <a:solidFill>
                <a:prstClr val="black"/>
              </a:solidFill>
              <a:latin typeface="Calibri" panose="020F0502020204030204"/>
              <a:ea typeface="ＭＳ Ｐゴシック" panose="020B0600070205080204" pitchFamily="34" charset="-128"/>
            </a:endParaRPr>
          </a:p>
        </p:txBody>
      </p:sp>
      <p:grpSp>
        <p:nvGrpSpPr>
          <p:cNvPr id="10" name="Group 9">
            <a:extLst>
              <a:ext uri="{FF2B5EF4-FFF2-40B4-BE49-F238E27FC236}">
                <a16:creationId xmlns:a16="http://schemas.microsoft.com/office/drawing/2014/main" id="{725C7806-E61A-F01B-8808-6DF0D5299631}"/>
              </a:ext>
            </a:extLst>
          </p:cNvPr>
          <p:cNvGrpSpPr/>
          <p:nvPr/>
        </p:nvGrpSpPr>
        <p:grpSpPr>
          <a:xfrm>
            <a:off x="1100851" y="1737884"/>
            <a:ext cx="6155870" cy="1239138"/>
            <a:chOff x="1680452" y="2268889"/>
            <a:chExt cx="8207827" cy="1652184"/>
          </a:xfrm>
        </p:grpSpPr>
        <p:sp>
          <p:nvSpPr>
            <p:cNvPr id="3" name="Rectangle 2">
              <a:extLst>
                <a:ext uri="{FF2B5EF4-FFF2-40B4-BE49-F238E27FC236}">
                  <a16:creationId xmlns:a16="http://schemas.microsoft.com/office/drawing/2014/main" id="{1C7A046D-38A0-4C4D-89C5-98A73D6176B8}"/>
                </a:ext>
              </a:extLst>
            </p:cNvPr>
            <p:cNvSpPr/>
            <p:nvPr/>
          </p:nvSpPr>
          <p:spPr>
            <a:xfrm>
              <a:off x="2766060" y="3200400"/>
              <a:ext cx="2480310" cy="6743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pic>
          <p:nvPicPr>
            <p:cNvPr id="8" name="Picture 4" descr="gbn_seqnum">
              <a:extLst>
                <a:ext uri="{FF2B5EF4-FFF2-40B4-BE49-F238E27FC236}">
                  <a16:creationId xmlns:a16="http://schemas.microsoft.com/office/drawing/2014/main" id="{7F787B9F-F0D5-184B-849D-6DD1215CE2A5}"/>
                </a:ext>
              </a:extLst>
            </p:cNvPr>
            <p:cNvPicPr>
              <a:picLocks noChangeAspect="1" noChangeArrowheads="1"/>
            </p:cNvPicPr>
            <p:nvPr/>
          </p:nvPicPr>
          <p:blipFill>
            <a:blip r:embed="rId3" cstate="print">
              <a:alphaModFix amt="83000"/>
              <a:extLst>
                <a:ext uri="{28A0092B-C50C-407E-A947-70E740481C1C}">
                  <a14:useLocalDpi xmlns:a14="http://schemas.microsoft.com/office/drawing/2010/main" val="0"/>
                </a:ext>
              </a:extLst>
            </a:blip>
            <a:srcRect/>
            <a:stretch>
              <a:fillRect/>
            </a:stretch>
          </p:blipFill>
          <p:spPr bwMode="auto">
            <a:xfrm>
              <a:off x="1680452" y="2268889"/>
              <a:ext cx="8207827" cy="1652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Rectangle 5">
            <a:extLst>
              <a:ext uri="{FF2B5EF4-FFF2-40B4-BE49-F238E27FC236}">
                <a16:creationId xmlns:a16="http://schemas.microsoft.com/office/drawing/2014/main" id="{5CC992CE-9CC7-5B4F-A0DC-4AE1FB2B5032}"/>
              </a:ext>
            </a:extLst>
          </p:cNvPr>
          <p:cNvSpPr>
            <a:spLocks noChangeArrowheads="1"/>
          </p:cNvSpPr>
          <p:nvPr/>
        </p:nvSpPr>
        <p:spPr bwMode="auto">
          <a:xfrm>
            <a:off x="120553" y="2993974"/>
            <a:ext cx="9155177" cy="14887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marL="292100" indent="-2921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63129" indent="-254794" defTabSz="685800">
              <a:lnSpc>
                <a:spcPct val="85000"/>
              </a:lnSpc>
              <a:spcBef>
                <a:spcPct val="20000"/>
              </a:spcBef>
              <a:buClr>
                <a:srgbClr val="000099"/>
              </a:buClr>
              <a:buSzPct val="100000"/>
              <a:buFont typeface="Wingdings" pitchFamily="2" charset="2"/>
              <a:buChar char="§"/>
              <a:defRPr/>
            </a:pPr>
            <a:r>
              <a:rPr lang="en-US" altLang="en-US" sz="2100" b="1" i="1" dirty="0">
                <a:solidFill>
                  <a:srgbClr val="C00000"/>
                </a:solidFill>
                <a:latin typeface="Calibri" panose="020F0502020204030204"/>
              </a:rPr>
              <a:t>cumulative ACK</a:t>
            </a:r>
            <a:r>
              <a:rPr lang="en-US" altLang="en-US" sz="2100" i="1" dirty="0">
                <a:solidFill>
                  <a:srgbClr val="C00000"/>
                </a:solidFill>
                <a:latin typeface="Calibri" panose="020F0502020204030204"/>
              </a:rPr>
              <a:t>: </a:t>
            </a:r>
            <a:r>
              <a:rPr lang="en-US" altLang="en-US" sz="2100" dirty="0">
                <a:solidFill>
                  <a:prstClr val="black"/>
                </a:solidFill>
                <a:latin typeface="Calibri" panose="020F0502020204030204"/>
              </a:rPr>
              <a:t>ACK(</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ACKs all packets up to, including </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a:t>
            </a:r>
          </a:p>
          <a:p>
            <a:pPr marL="646510" lvl="1" indent="-342900" defTabSz="685800">
              <a:lnSpc>
                <a:spcPct val="85000"/>
              </a:lnSpc>
              <a:spcBef>
                <a:spcPct val="20000"/>
              </a:spcBef>
              <a:buClr>
                <a:srgbClr val="000099"/>
              </a:buClr>
              <a:buSzPct val="100000"/>
              <a:buFont typeface="Arial" panose="020B0604020202020204" pitchFamily="34" charset="0"/>
              <a:buChar char="•"/>
              <a:defRPr/>
            </a:pPr>
            <a:r>
              <a:rPr lang="en-US" altLang="en-US" sz="2100" dirty="0">
                <a:solidFill>
                  <a:prstClr val="black"/>
                </a:solidFill>
                <a:latin typeface="Calibri" panose="020F0502020204030204"/>
              </a:rPr>
              <a:t>on receiving ACK(</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m</a:t>
            </a:r>
            <a:r>
              <a:rPr lang="en-US" altLang="en-US" sz="2100" dirty="0" err="1">
                <a:solidFill>
                  <a:prstClr val="black"/>
                </a:solidFill>
                <a:latin typeface="Calibri" panose="020F0502020204030204"/>
              </a:rPr>
              <a:t>ove</a:t>
            </a:r>
            <a:r>
              <a:rPr lang="en-US" altLang="en-US" sz="2100" dirty="0">
                <a:solidFill>
                  <a:prstClr val="black"/>
                </a:solidFill>
                <a:latin typeface="Calibri" panose="020F0502020204030204"/>
              </a:rPr>
              <a:t> window forward to begin at </a:t>
            </a:r>
            <a:r>
              <a:rPr lang="en-US" altLang="en-US" sz="2100" i="1" dirty="0">
                <a:solidFill>
                  <a:prstClr val="black"/>
                </a:solidFill>
                <a:latin typeface="Calibri" panose="020F0502020204030204"/>
              </a:rPr>
              <a:t>n+1</a:t>
            </a:r>
          </a:p>
          <a:p>
            <a:pPr marL="263129" indent="-254794" defTabSz="685800">
              <a:lnSpc>
                <a:spcPct val="85000"/>
              </a:lnSpc>
              <a:spcBef>
                <a:spcPct val="20000"/>
              </a:spcBef>
              <a:buClr>
                <a:srgbClr val="000099"/>
              </a:buClr>
              <a:buFont typeface="Wingdings" pitchFamily="2" charset="2"/>
              <a:buChar char="§"/>
              <a:defRPr/>
            </a:pPr>
            <a:r>
              <a:rPr lang="en-US" altLang="en-US" sz="2100" dirty="0">
                <a:solidFill>
                  <a:prstClr val="black"/>
                </a:solidFill>
                <a:latin typeface="Calibri" panose="020F0502020204030204"/>
              </a:rPr>
              <a:t>timer for oldest in-flight packet</a:t>
            </a:r>
          </a:p>
          <a:p>
            <a:pPr marL="263129" indent="-254794" defTabSz="685800">
              <a:lnSpc>
                <a:spcPct val="85000"/>
              </a:lnSpc>
              <a:spcBef>
                <a:spcPct val="20000"/>
              </a:spcBef>
              <a:buClr>
                <a:srgbClr val="000099"/>
              </a:buClr>
              <a:buSzPct val="100000"/>
              <a:buFont typeface="Wingdings" pitchFamily="2" charset="2"/>
              <a:buChar char="§"/>
              <a:defRPr/>
            </a:pPr>
            <a:r>
              <a:rPr lang="en-US" altLang="en-US" sz="2100" i="1" dirty="0">
                <a:solidFill>
                  <a:prstClr val="black"/>
                </a:solidFill>
                <a:latin typeface="Calibri" panose="020F0502020204030204"/>
              </a:rPr>
              <a:t>timeout(n):</a:t>
            </a:r>
            <a:r>
              <a:rPr lang="en-US" altLang="en-US" sz="2100" dirty="0">
                <a:solidFill>
                  <a:prstClr val="black"/>
                </a:solidFill>
                <a:latin typeface="Calibri" panose="020F0502020204030204"/>
              </a:rPr>
              <a:t> retransmit packet n </a:t>
            </a:r>
            <a:r>
              <a:rPr lang="en-US" altLang="en-US" sz="2100" b="1" dirty="0">
                <a:solidFill>
                  <a:srgbClr val="FF0000"/>
                </a:solidFill>
                <a:latin typeface="Calibri" panose="020F0502020204030204"/>
              </a:rPr>
              <a:t>and all higher seq num. packets in window</a:t>
            </a:r>
            <a:endParaRPr lang="en-US" altLang="en-US" sz="2400" b="1" dirty="0">
              <a:solidFill>
                <a:srgbClr val="FF0000"/>
              </a:solidFill>
              <a:latin typeface="Calibri" panose="020F0502020204030204"/>
            </a:endParaRPr>
          </a:p>
          <a:p>
            <a:pPr marL="219075" indent="-219075" defTabSz="685800">
              <a:lnSpc>
                <a:spcPct val="85000"/>
              </a:lnSpc>
              <a:spcBef>
                <a:spcPct val="20000"/>
              </a:spcBef>
              <a:buClr>
                <a:srgbClr val="000099"/>
              </a:buClr>
              <a:buSzPct val="65000"/>
              <a:buFont typeface="Wingdings" pitchFamily="2" charset="2"/>
              <a:buChar char="v"/>
              <a:defRPr/>
            </a:pPr>
            <a:endParaRPr lang="en-US" altLang="en-US" sz="2100" dirty="0">
              <a:solidFill>
                <a:prstClr val="black"/>
              </a:solidFill>
              <a:latin typeface="Gill Sans MT" panose="020B0502020104020203" pitchFamily="34" charset="77"/>
            </a:endParaRPr>
          </a:p>
        </p:txBody>
      </p:sp>
      <p:sp>
        <p:nvSpPr>
          <p:cNvPr id="7" name="Slide Number Placeholder 2">
            <a:extLst>
              <a:ext uri="{FF2B5EF4-FFF2-40B4-BE49-F238E27FC236}">
                <a16:creationId xmlns:a16="http://schemas.microsoft.com/office/drawing/2014/main" id="{FDEE9FF9-C882-024E-8974-9BAEDEEE0BFA}"/>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21</a:t>
            </a:fld>
            <a:endParaRPr lang="en-US" dirty="0"/>
          </a:p>
        </p:txBody>
      </p:sp>
      <p:sp>
        <p:nvSpPr>
          <p:cNvPr id="5" name="TextBox 4">
            <a:extLst>
              <a:ext uri="{FF2B5EF4-FFF2-40B4-BE49-F238E27FC236}">
                <a16:creationId xmlns:a16="http://schemas.microsoft.com/office/drawing/2014/main" id="{96ED9898-F957-CE54-F23F-496E5A7DDAD6}"/>
              </a:ext>
            </a:extLst>
          </p:cNvPr>
          <p:cNvSpPr txBox="1"/>
          <p:nvPr/>
        </p:nvSpPr>
        <p:spPr>
          <a:xfrm>
            <a:off x="120553" y="4360962"/>
            <a:ext cx="8778899" cy="1668662"/>
          </a:xfrm>
          <a:prstGeom prst="rect">
            <a:avLst/>
          </a:prstGeom>
          <a:noFill/>
        </p:spPr>
        <p:txBody>
          <a:bodyPr wrap="square">
            <a:spAutoFit/>
          </a:bodyPr>
          <a:lstStyle/>
          <a:p>
            <a:pPr marL="216694" indent="-208360" defTabSz="685800">
              <a:lnSpc>
                <a:spcPct val="90000"/>
              </a:lnSpc>
              <a:spcBef>
                <a:spcPts val="750"/>
              </a:spcBef>
              <a:buClr>
                <a:srgbClr val="0000A3"/>
              </a:buClr>
              <a:buFont typeface="Wingdings" pitchFamily="2" charset="2"/>
              <a:buChar char="§"/>
              <a:defRPr/>
            </a:pPr>
            <a:r>
              <a:rPr lang="en-US" b="1" dirty="0">
                <a:solidFill>
                  <a:schemeClr val="accent6">
                    <a:lumMod val="75000"/>
                  </a:schemeClr>
                </a:solidFill>
              </a:rPr>
              <a:t>Receiver: </a:t>
            </a:r>
            <a:r>
              <a:rPr lang="en-US" altLang="en-US" sz="2100" dirty="0">
                <a:solidFill>
                  <a:prstClr val="black"/>
                </a:solidFill>
                <a:latin typeface="Calibri" panose="020F0502020204030204"/>
                <a:ea typeface="ＭＳ Ｐゴシック" panose="020B0600070205080204" pitchFamily="34" charset="-128"/>
              </a:rPr>
              <a:t>ACK-only: always send ACK for correctly-received packet so far, with highest </a:t>
            </a:r>
            <a:r>
              <a:rPr lang="en-US" altLang="en-US" sz="2100" i="1" dirty="0">
                <a:solidFill>
                  <a:srgbClr val="CC0000"/>
                </a:solidFill>
                <a:latin typeface="Calibri" panose="020F0502020204030204"/>
                <a:ea typeface="ＭＳ Ｐゴシック" panose="020B0600070205080204" pitchFamily="34" charset="-128"/>
              </a:rPr>
              <a:t>in-order</a:t>
            </a:r>
            <a:r>
              <a:rPr lang="en-US" altLang="en-US" sz="2100" dirty="0">
                <a:solidFill>
                  <a:prstClr val="black"/>
                </a:solidFill>
                <a:latin typeface="Calibri" panose="020F0502020204030204"/>
                <a:ea typeface="ＭＳ Ｐゴシック" panose="020B0600070205080204" pitchFamily="34" charset="-128"/>
              </a:rPr>
              <a:t> sequence num.</a:t>
            </a:r>
          </a:p>
          <a:p>
            <a:pPr marL="521494" lvl="1" indent="-173831" defTabSz="685800">
              <a:lnSpc>
                <a:spcPct val="90000"/>
              </a:lnSpc>
              <a:spcBef>
                <a:spcPts val="375"/>
              </a:spcBef>
              <a:buClr>
                <a:srgbClr val="0000A8"/>
              </a:buClr>
              <a:buFont typeface="Arial" panose="020B0604020202020204" pitchFamily="34" charset="0"/>
              <a:buChar char="•"/>
              <a:defRPr/>
            </a:pPr>
            <a:r>
              <a:rPr lang="en-US" altLang="en-US" dirty="0">
                <a:solidFill>
                  <a:prstClr val="black"/>
                </a:solidFill>
                <a:latin typeface="Calibri" panose="020F0502020204030204"/>
                <a:ea typeface="ＭＳ Ｐゴシック" panose="020B0600070205080204" pitchFamily="34" charset="-128"/>
              </a:rPr>
              <a:t>may generate duplicate ACKs</a:t>
            </a:r>
          </a:p>
          <a:p>
            <a:pPr marL="264319" indent="-166688" defTabSz="685800">
              <a:lnSpc>
                <a:spcPct val="90000"/>
              </a:lnSpc>
              <a:spcBef>
                <a:spcPts val="750"/>
              </a:spcBef>
              <a:buClr>
                <a:srgbClr val="0000A3"/>
              </a:buClr>
              <a:buFont typeface="Wingdings" pitchFamily="2" charset="2"/>
              <a:buChar char="§"/>
              <a:defRPr/>
            </a:pPr>
            <a:r>
              <a:rPr lang="en-US" altLang="en-US" sz="2100" dirty="0">
                <a:solidFill>
                  <a:prstClr val="black"/>
                </a:solidFill>
                <a:latin typeface="Calibri" panose="020F0502020204030204"/>
                <a:ea typeface="ＭＳ Ｐゴシック" panose="020B0600070205080204" pitchFamily="34" charset="-128"/>
              </a:rPr>
              <a:t>on receipt of out-of-order packet: </a:t>
            </a:r>
          </a:p>
          <a:p>
            <a:pPr marL="521494" lvl="1" indent="-173831" defTabSz="685800">
              <a:lnSpc>
                <a:spcPct val="90000"/>
              </a:lnSpc>
              <a:spcBef>
                <a:spcPts val="375"/>
              </a:spcBef>
              <a:buClr>
                <a:srgbClr val="0000A8"/>
              </a:buClr>
              <a:buFont typeface="Arial" panose="020B0604020202020204" pitchFamily="34" charset="0"/>
              <a:buChar char="•"/>
              <a:defRPr/>
            </a:pPr>
            <a:r>
              <a:rPr lang="en-US" altLang="en-US" dirty="0">
                <a:solidFill>
                  <a:prstClr val="black"/>
                </a:solidFill>
                <a:latin typeface="Calibri" panose="020F0502020204030204"/>
                <a:ea typeface="ＭＳ Ｐゴシック" panose="020B0600070205080204" pitchFamily="34" charset="-128"/>
              </a:rPr>
              <a:t>re-ACK pkt with highest in-order sequence num.</a:t>
            </a:r>
            <a:endParaRPr lang="en-GB" dirty="0"/>
          </a:p>
        </p:txBody>
      </p:sp>
    </p:spTree>
    <p:extLst>
      <p:ext uri="{BB962C8B-B14F-4D97-AF65-F5344CB8AC3E}">
        <p14:creationId xmlns:p14="http://schemas.microsoft.com/office/powerpoint/2010/main" val="176597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Go-Back-N in action</a:t>
            </a:r>
            <a:endParaRPr lang="en-US"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3523096" y="2006203"/>
            <a:ext cx="989373" cy="11310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send  pkt0</a:t>
            </a:r>
          </a:p>
          <a:p>
            <a:pPr algn="r" defTabSz="685800" eaLnBrk="0" fontAlgn="base" hangingPunct="0">
              <a:spcBef>
                <a:spcPct val="0"/>
              </a:spcBef>
              <a:spcAft>
                <a:spcPct val="0"/>
              </a:spcAft>
              <a:defRPr/>
            </a:pPr>
            <a:r>
              <a:rPr lang="en-US" sz="1350" kern="0" dirty="0">
                <a:solidFill>
                  <a:srgbClr val="000000"/>
                </a:solidFill>
              </a:rPr>
              <a:t>send  pkt1</a:t>
            </a:r>
          </a:p>
          <a:p>
            <a:pPr algn="r" defTabSz="685800" eaLnBrk="0" fontAlgn="base" hangingPunct="0">
              <a:spcBef>
                <a:spcPct val="0"/>
              </a:spcBef>
              <a:spcAft>
                <a:spcPct val="0"/>
              </a:spcAft>
              <a:defRPr/>
            </a:pPr>
            <a:r>
              <a:rPr lang="en-US" sz="1350" kern="0" dirty="0">
                <a:solidFill>
                  <a:srgbClr val="000000"/>
                </a:solidFill>
              </a:rPr>
              <a:t>send  pkt2</a:t>
            </a:r>
          </a:p>
          <a:p>
            <a:pPr algn="r" defTabSz="685800" eaLnBrk="0" fontAlgn="base" hangingPunct="0">
              <a:spcBef>
                <a:spcPct val="0"/>
              </a:spcBef>
              <a:spcAft>
                <a:spcPct val="0"/>
              </a:spcAft>
              <a:defRPr/>
            </a:pPr>
            <a:r>
              <a:rPr lang="en-US" sz="1350" kern="0" dirty="0">
                <a:solidFill>
                  <a:srgbClr val="000000"/>
                </a:solidFill>
              </a:rPr>
              <a:t>send  pkt3</a:t>
            </a:r>
          </a:p>
          <a:p>
            <a:pPr algn="r" defTabSz="685800" eaLnBrk="0" fontAlgn="base" hangingPunct="0">
              <a:spcBef>
                <a:spcPct val="0"/>
              </a:spcBef>
              <a:spcAft>
                <a:spcPct val="0"/>
              </a:spcAft>
              <a:defRPr/>
            </a:pPr>
            <a:r>
              <a:rPr lang="en-US" sz="1350" kern="0" dirty="0">
                <a:solidFill>
                  <a:srgbClr val="000000"/>
                </a:solidFill>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3791901" y="1727597"/>
            <a:ext cx="755336"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a:solidFill>
                  <a:srgbClr val="000099"/>
                </a:solidFill>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6066514" y="1741884"/>
            <a:ext cx="853119"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a:solidFill>
                  <a:srgbClr val="008000"/>
                </a:solidFill>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6147197" y="2190750"/>
            <a:ext cx="8335" cy="340399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12" name="Text Box 15">
            <a:extLst>
              <a:ext uri="{FF2B5EF4-FFF2-40B4-BE49-F238E27FC236}">
                <a16:creationId xmlns:a16="http://schemas.microsoft.com/office/drawing/2014/main" id="{AF86798F-8D3B-3F46-8E9A-88A423CB91FE}"/>
              </a:ext>
            </a:extLst>
          </p:cNvPr>
          <p:cNvSpPr txBox="1">
            <a:spLocks noChangeArrowheads="1"/>
          </p:cNvSpPr>
          <p:nvPr/>
        </p:nvSpPr>
        <p:spPr bwMode="auto">
          <a:xfrm>
            <a:off x="6104334" y="2337197"/>
            <a:ext cx="1992853" cy="11310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pkt0, send ack0</a:t>
            </a:r>
          </a:p>
          <a:p>
            <a:pPr defTabSz="685800" eaLnBrk="0" fontAlgn="base" hangingPunct="0">
              <a:spcBef>
                <a:spcPct val="0"/>
              </a:spcBef>
              <a:spcAft>
                <a:spcPct val="0"/>
              </a:spcAft>
              <a:defRPr/>
            </a:pPr>
            <a:r>
              <a:rPr lang="en-US" sz="1350" kern="0" dirty="0">
                <a:solidFill>
                  <a:srgbClr val="000000"/>
                </a:solidFill>
              </a:rPr>
              <a:t>receive pkt1, send ack1</a:t>
            </a:r>
          </a:p>
          <a:p>
            <a:pPr defTabSz="685800" eaLnBrk="0" fontAlgn="base" hangingPunct="0">
              <a:spcBef>
                <a:spcPct val="0"/>
              </a:spcBef>
              <a:spcAft>
                <a:spcPct val="0"/>
              </a:spcAft>
              <a:defRPr/>
            </a:pPr>
            <a:r>
              <a:rPr lang="en-US" sz="1350" kern="0" dirty="0">
                <a:solidFill>
                  <a:srgbClr val="000000"/>
                </a:solidFill>
              </a:rPr>
              <a:t> </a:t>
            </a:r>
          </a:p>
          <a:p>
            <a:pPr defTabSz="685800" eaLnBrk="0" fontAlgn="base" hangingPunct="0">
              <a:spcBef>
                <a:spcPct val="0"/>
              </a:spcBef>
              <a:spcAft>
                <a:spcPct val="0"/>
              </a:spcAft>
              <a:defRPr/>
            </a:pPr>
            <a:r>
              <a:rPr lang="en-US" sz="1350" kern="0" dirty="0">
                <a:solidFill>
                  <a:srgbClr val="000000"/>
                </a:solidFill>
              </a:rPr>
              <a:t>receive pkt3, discard, </a:t>
            </a:r>
          </a:p>
          <a:p>
            <a:pPr defTabSz="685800" eaLnBrk="0" fontAlgn="base" hangingPunct="0">
              <a:spcBef>
                <a:spcPct val="0"/>
              </a:spcBef>
              <a:spcAft>
                <a:spcPct val="0"/>
              </a:spcAft>
              <a:defRPr/>
            </a:pPr>
            <a:r>
              <a:rPr lang="en-US" sz="1350" kern="0" dirty="0">
                <a:solidFill>
                  <a:srgbClr val="000000"/>
                </a:solidFill>
              </a:rPr>
              <a:t>           (re)send ack1</a:t>
            </a: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3526668" y="4392215"/>
            <a:ext cx="989373" cy="8402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350" kern="0" dirty="0">
                <a:solidFill>
                  <a:srgbClr val="000000"/>
                </a:solidFill>
              </a:rPr>
              <a:t>send  pkt2</a:t>
            </a:r>
          </a:p>
          <a:p>
            <a:pPr algn="r" defTabSz="685800" eaLnBrk="0" fontAlgn="base" hangingPunct="0">
              <a:lnSpc>
                <a:spcPct val="90000"/>
              </a:lnSpc>
              <a:spcBef>
                <a:spcPct val="0"/>
              </a:spcBef>
              <a:spcAft>
                <a:spcPct val="0"/>
              </a:spcAft>
              <a:defRPr/>
            </a:pPr>
            <a:r>
              <a:rPr lang="en-US" sz="1350" kern="0" dirty="0">
                <a:solidFill>
                  <a:srgbClr val="000000"/>
                </a:solidFill>
              </a:rPr>
              <a:t>send  pkt3</a:t>
            </a:r>
          </a:p>
          <a:p>
            <a:pPr algn="r" defTabSz="685800" eaLnBrk="0" fontAlgn="base" hangingPunct="0">
              <a:lnSpc>
                <a:spcPct val="90000"/>
              </a:lnSpc>
              <a:spcBef>
                <a:spcPct val="0"/>
              </a:spcBef>
              <a:spcAft>
                <a:spcPct val="0"/>
              </a:spcAft>
              <a:defRPr/>
            </a:pPr>
            <a:r>
              <a:rPr lang="en-US" sz="1350" kern="0" dirty="0">
                <a:solidFill>
                  <a:srgbClr val="000000"/>
                </a:solidFill>
              </a:rPr>
              <a:t>send  pkt4</a:t>
            </a:r>
          </a:p>
          <a:p>
            <a:pPr algn="r" defTabSz="685800" eaLnBrk="0" fontAlgn="base" hangingPunct="0">
              <a:lnSpc>
                <a:spcPct val="90000"/>
              </a:lnSpc>
              <a:spcBef>
                <a:spcPct val="0"/>
              </a:spcBef>
              <a:spcAft>
                <a:spcPct val="0"/>
              </a:spcAft>
              <a:defRPr/>
            </a:pPr>
            <a:r>
              <a:rPr lang="en-US" sz="1350" kern="0" dirty="0">
                <a:solidFill>
                  <a:srgbClr val="000000"/>
                </a:solidFill>
              </a:rPr>
              <a:t>send  pkt5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4550569" y="2544365"/>
            <a:ext cx="1510903" cy="800100"/>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4544615" y="2151459"/>
            <a:ext cx="1591866" cy="969169"/>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05826" y="2298700"/>
              <a:ext cx="404385" cy="4001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b="1" kern="0">
                  <a:solidFill>
                    <a:srgbClr val="FF0000"/>
                  </a:solidFill>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63159" y="2319337"/>
              <a:ext cx="58819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a:solidFill>
                    <a:srgbClr val="FF0000"/>
                  </a:solidFill>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4548188" y="2758678"/>
            <a:ext cx="1510903" cy="82510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4550569" y="3386138"/>
            <a:ext cx="1575197" cy="351234"/>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4574381" y="3625453"/>
            <a:ext cx="1576388" cy="35123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4572000" y="3156346"/>
            <a:ext cx="1510903" cy="82510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3061097" y="2547938"/>
            <a:ext cx="1483519" cy="1931689"/>
            <a:chOff x="4081462" y="2254250"/>
            <a:chExt cx="1978025" cy="257558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371795" y="4498975"/>
              <a:ext cx="1616254" cy="3308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75000"/>
                </a:lnSpc>
                <a:spcBef>
                  <a:spcPct val="0"/>
                </a:spcBef>
                <a:spcAft>
                  <a:spcPct val="0"/>
                </a:spcAft>
                <a:defRPr/>
              </a:pPr>
              <a:r>
                <a:rPr lang="en-US" sz="1350" i="1" kern="0">
                  <a:solidFill>
                    <a:srgbClr val="FF0000"/>
                  </a:solidFill>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grpSp>
        <p:nvGrpSpPr>
          <p:cNvPr id="11" name="Group 10">
            <a:extLst>
              <a:ext uri="{FF2B5EF4-FFF2-40B4-BE49-F238E27FC236}">
                <a16:creationId xmlns:a16="http://schemas.microsoft.com/office/drawing/2014/main" id="{B43C2478-ADE4-9940-A00F-07B0A8A168AB}"/>
              </a:ext>
            </a:extLst>
          </p:cNvPr>
          <p:cNvGrpSpPr/>
          <p:nvPr/>
        </p:nvGrpSpPr>
        <p:grpSpPr>
          <a:xfrm>
            <a:off x="4545806" y="4520803"/>
            <a:ext cx="1585913" cy="884635"/>
            <a:chOff x="6061075" y="4884737"/>
            <a:chExt cx="2114550" cy="1179513"/>
          </a:xfrm>
        </p:grpSpPr>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33" name="Line 38">
              <a:extLst>
                <a:ext uri="{FF2B5EF4-FFF2-40B4-BE49-F238E27FC236}">
                  <a16:creationId xmlns:a16="http://schemas.microsoft.com/office/drawing/2014/main" id="{F145FE1E-AA9A-9247-82EE-3228DB0DB25A}"/>
                </a:ext>
              </a:extLst>
            </p:cNvPr>
            <p:cNvSpPr>
              <a:spLocks noChangeShapeType="1"/>
            </p:cNvSpPr>
            <p:nvPr/>
          </p:nvSpPr>
          <p:spPr bwMode="auto">
            <a:xfrm>
              <a:off x="6067425" y="51292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34" name="Line 39">
              <a:extLst>
                <a:ext uri="{FF2B5EF4-FFF2-40B4-BE49-F238E27FC236}">
                  <a16:creationId xmlns:a16="http://schemas.microsoft.com/office/drawing/2014/main" id="{A6917865-5501-404F-B05D-FD50B31DAC19}"/>
                </a:ext>
              </a:extLst>
            </p:cNvPr>
            <p:cNvSpPr>
              <a:spLocks noChangeShapeType="1"/>
            </p:cNvSpPr>
            <p:nvPr/>
          </p:nvSpPr>
          <p:spPr bwMode="auto">
            <a:xfrm>
              <a:off x="6061075" y="5362575"/>
              <a:ext cx="2101850"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35" name="Line 40">
              <a:extLst>
                <a:ext uri="{FF2B5EF4-FFF2-40B4-BE49-F238E27FC236}">
                  <a16:creationId xmlns:a16="http://schemas.microsoft.com/office/drawing/2014/main" id="{C1F71149-521E-A245-80B1-E26288E6E967}"/>
                </a:ext>
              </a:extLst>
            </p:cNvPr>
            <p:cNvSpPr>
              <a:spLocks noChangeShapeType="1"/>
            </p:cNvSpPr>
            <p:nvPr/>
          </p:nvSpPr>
          <p:spPr bwMode="auto">
            <a:xfrm>
              <a:off x="6064250" y="5595937"/>
              <a:ext cx="2100262"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sp>
        <p:nvSpPr>
          <p:cNvPr id="136" name="Text Box 41">
            <a:extLst>
              <a:ext uri="{FF2B5EF4-FFF2-40B4-BE49-F238E27FC236}">
                <a16:creationId xmlns:a16="http://schemas.microsoft.com/office/drawing/2014/main" id="{C2E1F2DD-A0AF-3A4F-84ED-5EB921B7EA8C}"/>
              </a:ext>
            </a:extLst>
          </p:cNvPr>
          <p:cNvSpPr txBox="1">
            <a:spLocks noChangeArrowheads="1"/>
          </p:cNvSpPr>
          <p:nvPr/>
        </p:nvSpPr>
        <p:spPr bwMode="auto">
          <a:xfrm>
            <a:off x="6101953" y="3480197"/>
            <a:ext cx="1875835"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pkt4, discard, </a:t>
            </a:r>
          </a:p>
          <a:p>
            <a:pPr defTabSz="685800" eaLnBrk="0" fontAlgn="base" hangingPunct="0">
              <a:spcBef>
                <a:spcPct val="0"/>
              </a:spcBef>
              <a:spcAft>
                <a:spcPct val="0"/>
              </a:spcAft>
              <a:defRPr/>
            </a:pPr>
            <a:r>
              <a:rPr lang="en-US" sz="1350" kern="0" dirty="0">
                <a:solidFill>
                  <a:srgbClr val="000000"/>
                </a:solidFill>
              </a:rPr>
              <a:t>           (re)send ack1</a:t>
            </a:r>
          </a:p>
        </p:txBody>
      </p:sp>
      <p:sp>
        <p:nvSpPr>
          <p:cNvPr id="137" name="Text Box 42">
            <a:extLst>
              <a:ext uri="{FF2B5EF4-FFF2-40B4-BE49-F238E27FC236}">
                <a16:creationId xmlns:a16="http://schemas.microsoft.com/office/drawing/2014/main" id="{9460E1DE-6181-0944-8A7F-243E2C9494FD}"/>
              </a:ext>
            </a:extLst>
          </p:cNvPr>
          <p:cNvSpPr txBox="1">
            <a:spLocks noChangeArrowheads="1"/>
          </p:cNvSpPr>
          <p:nvPr/>
        </p:nvSpPr>
        <p:spPr bwMode="auto">
          <a:xfrm>
            <a:off x="6116241" y="3870722"/>
            <a:ext cx="1875835"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pkt5, discard, </a:t>
            </a:r>
          </a:p>
          <a:p>
            <a:pPr defTabSz="685800" eaLnBrk="0" fontAlgn="base" hangingPunct="0">
              <a:spcBef>
                <a:spcPct val="0"/>
              </a:spcBef>
              <a:spcAft>
                <a:spcPct val="0"/>
              </a:spcAft>
              <a:defRPr/>
            </a:pPr>
            <a:r>
              <a:rPr lang="en-US" sz="1350" kern="0" dirty="0">
                <a:solidFill>
                  <a:srgbClr val="000000"/>
                </a:solidFill>
              </a:rPr>
              <a:t>           (re)send ack1</a:t>
            </a:r>
          </a:p>
        </p:txBody>
      </p:sp>
      <p:sp>
        <p:nvSpPr>
          <p:cNvPr id="138" name="Text Box 43">
            <a:extLst>
              <a:ext uri="{FF2B5EF4-FFF2-40B4-BE49-F238E27FC236}">
                <a16:creationId xmlns:a16="http://schemas.microsoft.com/office/drawing/2014/main" id="{9372D8AC-242E-6F41-B4F3-7282D16B0794}"/>
              </a:ext>
            </a:extLst>
          </p:cNvPr>
          <p:cNvSpPr txBox="1">
            <a:spLocks noChangeArrowheads="1"/>
          </p:cNvSpPr>
          <p:nvPr/>
        </p:nvSpPr>
        <p:spPr bwMode="auto">
          <a:xfrm>
            <a:off x="6124575" y="4736306"/>
            <a:ext cx="2294218" cy="8402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kern="0" dirty="0" err="1">
                <a:solidFill>
                  <a:srgbClr val="000000"/>
                </a:solidFill>
              </a:rPr>
              <a:t>rcv</a:t>
            </a:r>
            <a:r>
              <a:rPr lang="en-US" sz="1350" kern="0" dirty="0">
                <a:solidFill>
                  <a:srgbClr val="000000"/>
                </a:solidFill>
              </a:rPr>
              <a:t> pkt2, deliver, send ack2</a:t>
            </a:r>
          </a:p>
          <a:p>
            <a:pPr defTabSz="685800" eaLnBrk="0" fontAlgn="base" hangingPunct="0">
              <a:lnSpc>
                <a:spcPct val="90000"/>
              </a:lnSpc>
              <a:spcBef>
                <a:spcPct val="0"/>
              </a:spcBef>
              <a:spcAft>
                <a:spcPct val="0"/>
              </a:spcAft>
              <a:defRPr/>
            </a:pPr>
            <a:r>
              <a:rPr lang="en-US" sz="1350" kern="0" dirty="0" err="1">
                <a:solidFill>
                  <a:srgbClr val="000000"/>
                </a:solidFill>
              </a:rPr>
              <a:t>rcv</a:t>
            </a:r>
            <a:r>
              <a:rPr lang="en-US" sz="1350" kern="0" dirty="0">
                <a:solidFill>
                  <a:srgbClr val="000000"/>
                </a:solidFill>
              </a:rPr>
              <a:t> pkt3, deliver, send ack3</a:t>
            </a:r>
          </a:p>
          <a:p>
            <a:pPr defTabSz="685800" eaLnBrk="0" fontAlgn="base" hangingPunct="0">
              <a:lnSpc>
                <a:spcPct val="90000"/>
              </a:lnSpc>
              <a:spcBef>
                <a:spcPct val="0"/>
              </a:spcBef>
              <a:spcAft>
                <a:spcPct val="0"/>
              </a:spcAft>
              <a:defRPr/>
            </a:pPr>
            <a:r>
              <a:rPr lang="en-US" sz="1350" kern="0" dirty="0" err="1">
                <a:solidFill>
                  <a:srgbClr val="000000"/>
                </a:solidFill>
              </a:rPr>
              <a:t>rcv</a:t>
            </a:r>
            <a:r>
              <a:rPr lang="en-US" sz="1350" kern="0" dirty="0">
                <a:solidFill>
                  <a:srgbClr val="000000"/>
                </a:solidFill>
              </a:rPr>
              <a:t> pkt4, deliver, send ack4</a:t>
            </a:r>
          </a:p>
          <a:p>
            <a:pPr defTabSz="685800" eaLnBrk="0" fontAlgn="base" hangingPunct="0">
              <a:lnSpc>
                <a:spcPct val="90000"/>
              </a:lnSpc>
              <a:spcBef>
                <a:spcPct val="0"/>
              </a:spcBef>
              <a:spcAft>
                <a:spcPct val="0"/>
              </a:spcAft>
              <a:defRPr/>
            </a:pPr>
            <a:r>
              <a:rPr lang="en-US" sz="1350" kern="0" dirty="0" err="1">
                <a:solidFill>
                  <a:srgbClr val="000000"/>
                </a:solidFill>
              </a:rPr>
              <a:t>rcv</a:t>
            </a:r>
            <a:r>
              <a:rPr lang="en-US" sz="1350" kern="0" dirty="0">
                <a:solidFill>
                  <a:srgbClr val="000000"/>
                </a:solidFill>
              </a:rPr>
              <a:t> pkt5, deliver, send ack5</a:t>
            </a:r>
          </a:p>
        </p:txBody>
      </p:sp>
      <p:sp>
        <p:nvSpPr>
          <p:cNvPr id="139" name="Text Box 44">
            <a:extLst>
              <a:ext uri="{FF2B5EF4-FFF2-40B4-BE49-F238E27FC236}">
                <a16:creationId xmlns:a16="http://schemas.microsoft.com/office/drawing/2014/main" id="{3FF05DAC-881F-5A4C-85B0-7DEC9D8730CF}"/>
              </a:ext>
            </a:extLst>
          </p:cNvPr>
          <p:cNvSpPr txBox="1">
            <a:spLocks noChangeArrowheads="1"/>
          </p:cNvSpPr>
          <p:nvPr/>
        </p:nvSpPr>
        <p:spPr bwMode="auto">
          <a:xfrm>
            <a:off x="3137261" y="3857625"/>
            <a:ext cx="1410964"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ignore duplicate ACK</a:t>
            </a: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1675679" y="1775222"/>
            <a:ext cx="1675460"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u="sng" kern="0">
                <a:solidFill>
                  <a:srgbClr val="000099"/>
                </a:solidFill>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1707356" y="2034780"/>
            <a:ext cx="1200149" cy="888207"/>
            <a:chOff x="2276475" y="1570039"/>
            <a:chExt cx="1600200" cy="1184276"/>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279650" y="1570039"/>
              <a:ext cx="1592262" cy="338138"/>
              <a:chOff x="89" y="914"/>
              <a:chExt cx="1003" cy="213"/>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276475" y="1855789"/>
              <a:ext cx="1592262" cy="338138"/>
              <a:chOff x="89" y="914"/>
              <a:chExt cx="1003" cy="213"/>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284412" y="2141539"/>
              <a:ext cx="1592263" cy="338138"/>
              <a:chOff x="89" y="914"/>
              <a:chExt cx="1003" cy="213"/>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FFFFFF"/>
                    </a:solidFill>
                    <a:latin typeface="Arial" charset="0"/>
                  </a:rPr>
                  <a:t>0 1 2 3 </a:t>
                </a:r>
                <a:r>
                  <a:rPr lang="en-US" sz="1050">
                    <a:solidFill>
                      <a:srgbClr val="000000"/>
                    </a:solidFill>
                    <a:latin typeface="Arial" charset="0"/>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281237" y="2416177"/>
              <a:ext cx="1592263" cy="338138"/>
              <a:chOff x="89" y="914"/>
              <a:chExt cx="1003" cy="213"/>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FFFFFF"/>
                    </a:solidFill>
                    <a:latin typeface="Arial" charset="0"/>
                  </a:rPr>
                  <a:t>0 1 2 3 </a:t>
                </a:r>
                <a:r>
                  <a:rPr lang="en-US" sz="1050">
                    <a:solidFill>
                      <a:srgbClr val="000000"/>
                    </a:solidFill>
                    <a:latin typeface="Arial" charset="0"/>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1709557" y="3208736"/>
            <a:ext cx="2842202" cy="507832"/>
            <a:chOff x="2279410" y="3135312"/>
            <a:chExt cx="3789602" cy="677108"/>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279410" y="3135312"/>
              <a:ext cx="3789602" cy="677108"/>
              <a:chOff x="2279410" y="3135312"/>
              <a:chExt cx="3789602" cy="677108"/>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6771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err="1">
                    <a:solidFill>
                      <a:srgbClr val="000000"/>
                    </a:solidFill>
                  </a:rPr>
                  <a:t>rcv</a:t>
                </a:r>
                <a:r>
                  <a:rPr lang="en-US" sz="1350" kern="0" dirty="0">
                    <a:solidFill>
                      <a:srgbClr val="000000"/>
                    </a:solidFill>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279410" y="3186112"/>
                <a:ext cx="1592744"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a:t>
                </a:r>
                <a:r>
                  <a:rPr lang="en-US" sz="1050" dirty="0">
                    <a:solidFill>
                      <a:srgbClr val="FFFFFF"/>
                    </a:solidFill>
                    <a:latin typeface="Arial" charset="0"/>
                  </a:rPr>
                  <a:t>1 2 3 4</a:t>
                </a:r>
                <a:r>
                  <a:rPr lang="en-US" sz="1050" dirty="0">
                    <a:solidFill>
                      <a:srgbClr val="000000"/>
                    </a:solidFill>
                    <a:latin typeface="Arial" charset="0"/>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1697832" y="4423176"/>
            <a:ext cx="1200151" cy="813198"/>
            <a:chOff x="2263775" y="4754567"/>
            <a:chExt cx="1600200" cy="1084263"/>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263775" y="4754567"/>
              <a:ext cx="1592263" cy="338138"/>
              <a:chOff x="86" y="2105"/>
              <a:chExt cx="1003" cy="213"/>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271712" y="4995867"/>
              <a:ext cx="1592263" cy="338138"/>
              <a:chOff x="86" y="2105"/>
              <a:chExt cx="1003" cy="213"/>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268537" y="5259392"/>
              <a:ext cx="1592263" cy="338138"/>
              <a:chOff x="86" y="2105"/>
              <a:chExt cx="1003" cy="213"/>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265362" y="5500692"/>
              <a:ext cx="1592263" cy="338138"/>
              <a:chOff x="86" y="2105"/>
              <a:chExt cx="1003" cy="213"/>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5347097" y="3764757"/>
            <a:ext cx="779860" cy="654844"/>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grpSp>
        <p:nvGrpSpPr>
          <p:cNvPr id="12" name="Group 11">
            <a:extLst>
              <a:ext uri="{FF2B5EF4-FFF2-40B4-BE49-F238E27FC236}">
                <a16:creationId xmlns:a16="http://schemas.microsoft.com/office/drawing/2014/main" id="{A72E6ECF-EC8F-534A-B975-E7A316543BA2}"/>
              </a:ext>
            </a:extLst>
          </p:cNvPr>
          <p:cNvGrpSpPr/>
          <p:nvPr/>
        </p:nvGrpSpPr>
        <p:grpSpPr>
          <a:xfrm>
            <a:off x="5331619" y="4889896"/>
            <a:ext cx="810815" cy="977504"/>
            <a:chOff x="7083425" y="5376862"/>
            <a:chExt cx="1081087" cy="1303338"/>
          </a:xfrm>
        </p:grpSpPr>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31050" y="5376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73" name="Line 101">
              <a:extLst>
                <a:ext uri="{FF2B5EF4-FFF2-40B4-BE49-F238E27FC236}">
                  <a16:creationId xmlns:a16="http://schemas.microsoft.com/office/drawing/2014/main" id="{84B4DDDE-6474-8442-BB57-A50ADD9CEBEC}"/>
                </a:ext>
              </a:extLst>
            </p:cNvPr>
            <p:cNvSpPr>
              <a:spLocks noChangeShapeType="1"/>
            </p:cNvSpPr>
            <p:nvPr/>
          </p:nvSpPr>
          <p:spPr bwMode="auto">
            <a:xfrm flipH="1">
              <a:off x="7115175" y="5630862"/>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74" name="Line 102">
              <a:extLst>
                <a:ext uri="{FF2B5EF4-FFF2-40B4-BE49-F238E27FC236}">
                  <a16:creationId xmlns:a16="http://schemas.microsoft.com/office/drawing/2014/main" id="{73C0C64C-D6E3-AC4F-B1DD-2ECA3B116102}"/>
                </a:ext>
              </a:extLst>
            </p:cNvPr>
            <p:cNvSpPr>
              <a:spLocks noChangeShapeType="1"/>
            </p:cNvSpPr>
            <p:nvPr/>
          </p:nvSpPr>
          <p:spPr bwMode="auto">
            <a:xfrm flipH="1">
              <a:off x="7099300" y="5873750"/>
              <a:ext cx="1033462"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75" name="Line 103">
              <a:extLst>
                <a:ext uri="{FF2B5EF4-FFF2-40B4-BE49-F238E27FC236}">
                  <a16:creationId xmlns:a16="http://schemas.microsoft.com/office/drawing/2014/main" id="{2133D681-30CA-654C-AE01-4F7EF0A35A48}"/>
                </a:ext>
              </a:extLst>
            </p:cNvPr>
            <p:cNvSpPr>
              <a:spLocks noChangeShapeType="1"/>
            </p:cNvSpPr>
            <p:nvPr/>
          </p:nvSpPr>
          <p:spPr bwMode="auto">
            <a:xfrm flipH="1">
              <a:off x="7083425" y="6116637"/>
              <a:ext cx="1033462"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grpSp>
        <p:nvGrpSpPr>
          <p:cNvPr id="7" name="Group 6">
            <a:extLst>
              <a:ext uri="{FF2B5EF4-FFF2-40B4-BE49-F238E27FC236}">
                <a16:creationId xmlns:a16="http://schemas.microsoft.com/office/drawing/2014/main" id="{FBA17A60-2A45-964D-961F-A44FDA1E12F8}"/>
              </a:ext>
            </a:extLst>
          </p:cNvPr>
          <p:cNvGrpSpPr/>
          <p:nvPr/>
        </p:nvGrpSpPr>
        <p:grpSpPr>
          <a:xfrm>
            <a:off x="1706165" y="3446865"/>
            <a:ext cx="2845594" cy="507831"/>
            <a:chOff x="2274887" y="3452813"/>
            <a:chExt cx="3794125" cy="677105"/>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274887" y="3460755"/>
              <a:ext cx="1592263" cy="338138"/>
              <a:chOff x="86" y="2105"/>
              <a:chExt cx="1003" cy="213"/>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6771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err="1">
                  <a:solidFill>
                    <a:srgbClr val="000000"/>
                  </a:solidFill>
                </a:rPr>
                <a:t>rcv</a:t>
              </a:r>
              <a:r>
                <a:rPr lang="en-US" sz="1350" kern="0" dirty="0">
                  <a:solidFill>
                    <a:srgbClr val="000000"/>
                  </a:solidFill>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4527947" y="2066925"/>
            <a:ext cx="8335" cy="340399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83" name="Slide Number Placeholder 2">
            <a:extLst>
              <a:ext uri="{FF2B5EF4-FFF2-40B4-BE49-F238E27FC236}">
                <a16:creationId xmlns:a16="http://schemas.microsoft.com/office/drawing/2014/main" id="{D2E57CDD-AF57-3E45-9B83-97B06BD5DF03}"/>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22</a:t>
            </a:fld>
            <a:endParaRPr lang="en-US" dirty="0"/>
          </a:p>
        </p:txBody>
      </p:sp>
    </p:spTree>
    <p:extLst>
      <p:ext uri="{BB962C8B-B14F-4D97-AF65-F5344CB8AC3E}">
        <p14:creationId xmlns:p14="http://schemas.microsoft.com/office/powerpoint/2010/main" val="3290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dissolve">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dissolve">
                                      <p:cBhvr>
                                        <p:cTn id="56" dur="500"/>
                                        <p:tgtEl>
                                          <p:spTgt spid="13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dissolve">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righ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dissolv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left)">
                                      <p:cBhvr>
                                        <p:cTn id="76" dur="500"/>
                                        <p:tgtEl>
                                          <p:spTgt spid="10"/>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16"/>
                                        </p:tgtEl>
                                        <p:attrNameLst>
                                          <p:attrName>style.visibility</p:attrName>
                                        </p:attrNameLst>
                                      </p:cBhvr>
                                      <p:to>
                                        <p:strVal val="visible"/>
                                      </p:to>
                                    </p:set>
                                    <p:animEffect transition="in" filter="wipe(left)">
                                      <p:cBhvr>
                                        <p:cTn id="80" dur="500"/>
                                        <p:tgtEl>
                                          <p:spTgt spid="116"/>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par>
                          <p:cTn id="85" fill="hold">
                            <p:stCondLst>
                              <p:cond delay="1500"/>
                            </p:stCondLst>
                            <p:childTnLst>
                              <p:par>
                                <p:cTn id="86" presetID="9" presetClass="entr" presetSubtype="0" fill="hold" grpId="0" nodeType="afterEffect">
                                  <p:stCondLst>
                                    <p:cond delay="0"/>
                                  </p:stCondLst>
                                  <p:childTnLst>
                                    <p:set>
                                      <p:cBhvr>
                                        <p:cTn id="87" dur="1" fill="hold">
                                          <p:stCondLst>
                                            <p:cond delay="0"/>
                                          </p:stCondLst>
                                        </p:cTn>
                                        <p:tgtEl>
                                          <p:spTgt spid="138"/>
                                        </p:tgtEl>
                                        <p:attrNameLst>
                                          <p:attrName>style.visibility</p:attrName>
                                        </p:attrNameLst>
                                      </p:cBhvr>
                                      <p:to>
                                        <p:strVal val="visible"/>
                                      </p:to>
                                    </p:set>
                                    <p:animEffect transition="in" filter="dissolve">
                                      <p:cBhvr>
                                        <p:cTn id="88" dur="500"/>
                                        <p:tgtEl>
                                          <p:spTgt spid="138"/>
                                        </p:tgtEl>
                                      </p:cBhvr>
                                    </p:animEffect>
                                  </p:childTnLst>
                                </p:cTn>
                              </p:par>
                            </p:childTnLst>
                          </p:cTn>
                        </p:par>
                        <p:par>
                          <p:cTn id="89" fill="hold">
                            <p:stCondLst>
                              <p:cond delay="2000"/>
                            </p:stCondLst>
                            <p:childTnLst>
                              <p:par>
                                <p:cTn id="90" presetID="22" presetClass="entr" presetSubtype="2" fill="hold" nodeType="after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right)">
                                      <p:cBhvr>
                                        <p:cTn id="9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2" grpId="0"/>
      <p:bldP spid="116" grpId="0"/>
      <p:bldP spid="121" grpId="0" animBg="1"/>
      <p:bldP spid="124" grpId="0" animBg="1"/>
      <p:bldP spid="125" grpId="0" animBg="1"/>
      <p:bldP spid="126" grpId="0" animBg="1"/>
      <p:bldP spid="127" grpId="0" animBg="1"/>
      <p:bldP spid="136" grpId="0"/>
      <p:bldP spid="137" grpId="0"/>
      <p:bldP spid="138" grpId="0"/>
      <p:bldP spid="13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Selective repeat</a:t>
            </a:r>
            <a:endParaRPr lang="en-US" dirty="0"/>
          </a:p>
        </p:txBody>
      </p:sp>
      <p:sp>
        <p:nvSpPr>
          <p:cNvPr id="72" name="Rectangle 3">
            <a:extLst>
              <a:ext uri="{FF2B5EF4-FFF2-40B4-BE49-F238E27FC236}">
                <a16:creationId xmlns:a16="http://schemas.microsoft.com/office/drawing/2014/main" id="{09D24536-1438-724B-97D9-02D061CA29EA}"/>
              </a:ext>
            </a:extLst>
          </p:cNvPr>
          <p:cNvSpPr txBox="1">
            <a:spLocks noChangeArrowheads="1"/>
          </p:cNvSpPr>
          <p:nvPr/>
        </p:nvSpPr>
        <p:spPr>
          <a:xfrm>
            <a:off x="550031" y="1974314"/>
            <a:ext cx="8325468"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rPr>
              <a:t>receiver </a:t>
            </a:r>
            <a:r>
              <a:rPr lang="en-US" altLang="en-US" sz="2400" i="1" dirty="0">
                <a:solidFill>
                  <a:srgbClr val="C00000"/>
                </a:solidFill>
                <a:latin typeface="Calibri" panose="020F0502020204030204"/>
                <a:ea typeface="ＭＳ Ｐゴシック" panose="020B0600070205080204" pitchFamily="34" charset="-128"/>
              </a:rPr>
              <a:t>individually</a:t>
            </a:r>
            <a:r>
              <a:rPr lang="en-US" altLang="en-US" sz="2400" dirty="0">
                <a:solidFill>
                  <a:prstClr val="black"/>
                </a:solidFill>
                <a:latin typeface="Calibri" panose="020F0502020204030204"/>
                <a:ea typeface="ＭＳ Ｐゴシック" panose="020B0600070205080204" pitchFamily="34" charset="-128"/>
              </a:rPr>
              <a:t> acknowledges all correctly received packets</a:t>
            </a:r>
          </a:p>
          <a:p>
            <a:pPr marL="521494" lvl="1" indent="-173831"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rPr>
              <a:t>buffers packets, as needed, for eventual in-order delivery to upper layer</a:t>
            </a:r>
          </a:p>
          <a:p>
            <a:pPr marL="264319" indent="-166688"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rPr>
              <a:t>sender times-out/retransmits individually for </a:t>
            </a:r>
            <a:r>
              <a:rPr lang="en-US" altLang="en-US" sz="2400" dirty="0" err="1">
                <a:solidFill>
                  <a:prstClr val="black"/>
                </a:solidFill>
                <a:latin typeface="Calibri" panose="020F0502020204030204"/>
                <a:ea typeface="ＭＳ Ｐゴシック" panose="020B0600070205080204" pitchFamily="34" charset="-128"/>
              </a:rPr>
              <a:t>unACKed</a:t>
            </a:r>
            <a:r>
              <a:rPr lang="en-US" altLang="en-US" sz="2400" dirty="0">
                <a:solidFill>
                  <a:prstClr val="black"/>
                </a:solidFill>
                <a:latin typeface="Calibri" panose="020F0502020204030204"/>
                <a:ea typeface="ＭＳ Ｐゴシック" panose="020B0600070205080204" pitchFamily="34" charset="-128"/>
              </a:rPr>
              <a:t> packets</a:t>
            </a:r>
          </a:p>
          <a:p>
            <a:pPr marL="560785" lvl="1" indent="-170260" defTabSz="685800">
              <a:spcBef>
                <a:spcPts val="750"/>
              </a:spcBef>
              <a:buClr>
                <a:srgbClr val="0000A3"/>
              </a:buClr>
              <a:defRPr/>
            </a:pPr>
            <a:r>
              <a:rPr lang="en-US" altLang="en-US" sz="2100" dirty="0">
                <a:solidFill>
                  <a:prstClr val="black"/>
                </a:solidFill>
                <a:latin typeface="Calibri" panose="020F0502020204030204"/>
                <a:ea typeface="ＭＳ Ｐゴシック" panose="020B0600070205080204" pitchFamily="34" charset="-128"/>
              </a:rPr>
              <a:t>sender maintains timer for each </a:t>
            </a:r>
            <a:r>
              <a:rPr lang="en-US" altLang="en-US" sz="2100" dirty="0" err="1">
                <a:solidFill>
                  <a:prstClr val="black"/>
                </a:solidFill>
                <a:latin typeface="Calibri" panose="020F0502020204030204"/>
                <a:ea typeface="ＭＳ Ｐゴシック" panose="020B0600070205080204" pitchFamily="34" charset="-128"/>
              </a:rPr>
              <a:t>unACKed</a:t>
            </a:r>
            <a:r>
              <a:rPr lang="en-US" altLang="en-US" sz="2100" dirty="0">
                <a:solidFill>
                  <a:prstClr val="black"/>
                </a:solidFill>
                <a:latin typeface="Calibri" panose="020F0502020204030204"/>
                <a:ea typeface="ＭＳ Ｐゴシック" panose="020B0600070205080204" pitchFamily="34" charset="-128"/>
              </a:rPr>
              <a:t> packet</a:t>
            </a:r>
          </a:p>
          <a:p>
            <a:pPr marL="264319" indent="-166688"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rPr>
              <a:t>sender window</a:t>
            </a:r>
          </a:p>
          <a:p>
            <a:pPr marL="521494" lvl="1" indent="-173831" defTabSz="685800">
              <a:spcBef>
                <a:spcPts val="375"/>
              </a:spcBef>
              <a:defRPr/>
            </a:pPr>
            <a:r>
              <a:rPr lang="en-US" altLang="en-US" sz="2100" i="1" dirty="0">
                <a:solidFill>
                  <a:prstClr val="black"/>
                </a:solidFill>
                <a:latin typeface="Calibri" panose="020F0502020204030204"/>
                <a:ea typeface="ＭＳ Ｐゴシック" panose="020B0600070205080204" pitchFamily="34" charset="-128"/>
              </a:rPr>
              <a:t>N</a:t>
            </a:r>
            <a:r>
              <a:rPr lang="en-US" altLang="en-US" sz="2100" dirty="0">
                <a:solidFill>
                  <a:prstClr val="black"/>
                </a:solidFill>
                <a:latin typeface="Calibri" panose="020F0502020204030204"/>
                <a:ea typeface="ＭＳ Ｐゴシック" panose="020B0600070205080204" pitchFamily="34" charset="-128"/>
              </a:rPr>
              <a:t> consecutive sequence numbers</a:t>
            </a:r>
            <a:endParaRPr lang="en-US" altLang="ja-JP" sz="2100" dirty="0">
              <a:solidFill>
                <a:prstClr val="black"/>
              </a:solidFill>
              <a:latin typeface="Calibri" panose="020F0502020204030204"/>
              <a:ea typeface="ＭＳ Ｐゴシック" panose="020B0600070205080204" pitchFamily="34" charset="-128"/>
            </a:endParaRPr>
          </a:p>
        </p:txBody>
      </p:sp>
      <p:sp>
        <p:nvSpPr>
          <p:cNvPr id="4" name="Slide Number Placeholder 2">
            <a:extLst>
              <a:ext uri="{FF2B5EF4-FFF2-40B4-BE49-F238E27FC236}">
                <a16:creationId xmlns:a16="http://schemas.microsoft.com/office/drawing/2014/main" id="{0DFB6A67-ADC6-9C4B-84A6-543096C42B00}"/>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23</a:t>
            </a:fld>
            <a:endParaRPr lang="en-US" dirty="0"/>
          </a:p>
        </p:txBody>
      </p:sp>
    </p:spTree>
    <p:extLst>
      <p:ext uri="{BB962C8B-B14F-4D97-AF65-F5344CB8AC3E}">
        <p14:creationId xmlns:p14="http://schemas.microsoft.com/office/powerpoint/2010/main" val="250150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dissolve">
                                      <p:cBhvr>
                                        <p:cTn id="7" dur="500"/>
                                        <p:tgtEl>
                                          <p:spTgt spid="72">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72">
                                            <p:txEl>
                                              <p:pRg st="1" end="1"/>
                                            </p:txEl>
                                          </p:spTgt>
                                        </p:tgtEl>
                                        <p:attrNameLst>
                                          <p:attrName>style.visibility</p:attrName>
                                        </p:attrNameLst>
                                      </p:cBhvr>
                                      <p:to>
                                        <p:strVal val="visible"/>
                                      </p:to>
                                    </p:set>
                                    <p:animEffect transition="in" filter="dissolve">
                                      <p:cBhvr>
                                        <p:cTn id="10" dur="500"/>
                                        <p:tgtEl>
                                          <p:spTgt spid="7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2">
                                            <p:txEl>
                                              <p:pRg st="2" end="2"/>
                                            </p:txEl>
                                          </p:spTgt>
                                        </p:tgtEl>
                                        <p:attrNameLst>
                                          <p:attrName>style.visibility</p:attrName>
                                        </p:attrNameLst>
                                      </p:cBhvr>
                                      <p:to>
                                        <p:strVal val="visible"/>
                                      </p:to>
                                    </p:set>
                                    <p:animEffect transition="in" filter="dissolve">
                                      <p:cBhvr>
                                        <p:cTn id="15" dur="500"/>
                                        <p:tgtEl>
                                          <p:spTgt spid="72">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72">
                                            <p:txEl>
                                              <p:pRg st="3" end="3"/>
                                            </p:txEl>
                                          </p:spTgt>
                                        </p:tgtEl>
                                        <p:attrNameLst>
                                          <p:attrName>style.visibility</p:attrName>
                                        </p:attrNameLst>
                                      </p:cBhvr>
                                      <p:to>
                                        <p:strVal val="visible"/>
                                      </p:to>
                                    </p:set>
                                    <p:animEffect transition="in" filter="dissolve">
                                      <p:cBhvr>
                                        <p:cTn id="18" dur="500"/>
                                        <p:tgtEl>
                                          <p:spTgt spid="7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2">
                                            <p:txEl>
                                              <p:pRg st="4" end="4"/>
                                            </p:txEl>
                                          </p:spTgt>
                                        </p:tgtEl>
                                        <p:attrNameLst>
                                          <p:attrName>style.visibility</p:attrName>
                                        </p:attrNameLst>
                                      </p:cBhvr>
                                      <p:to>
                                        <p:strVal val="visible"/>
                                      </p:to>
                                    </p:set>
                                    <p:animEffect transition="in" filter="dissolve">
                                      <p:cBhvr>
                                        <p:cTn id="23" dur="500"/>
                                        <p:tgtEl>
                                          <p:spTgt spid="72">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72">
                                            <p:txEl>
                                              <p:pRg st="5" end="5"/>
                                            </p:txEl>
                                          </p:spTgt>
                                        </p:tgtEl>
                                        <p:attrNameLst>
                                          <p:attrName>style.visibility</p:attrName>
                                        </p:attrNameLst>
                                      </p:cBhvr>
                                      <p:to>
                                        <p:strVal val="visible"/>
                                      </p:to>
                                    </p:set>
                                    <p:animEffect transition="in" filter="dissolve">
                                      <p:cBhvr>
                                        <p:cTn id="26" dur="500"/>
                                        <p:tgtEl>
                                          <p:spTgt spid="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99018" y="1074244"/>
            <a:ext cx="8325469" cy="670967"/>
          </a:xfrm>
        </p:spPr>
        <p:txBody>
          <a:bodyPr>
            <a:normAutofit/>
          </a:bodyPr>
          <a:lstStyle/>
          <a:p>
            <a:r>
              <a:rPr lang="en-US" sz="3600" dirty="0"/>
              <a:t>Selective Repeat in action</a:t>
            </a:r>
            <a:endParaRPr lang="en-US" dirty="0"/>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3523096" y="2006203"/>
            <a:ext cx="989373" cy="11310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send  pkt0</a:t>
            </a:r>
          </a:p>
          <a:p>
            <a:pPr algn="r" defTabSz="685800" eaLnBrk="0" fontAlgn="base" hangingPunct="0">
              <a:spcBef>
                <a:spcPct val="0"/>
              </a:spcBef>
              <a:spcAft>
                <a:spcPct val="0"/>
              </a:spcAft>
              <a:defRPr/>
            </a:pPr>
            <a:r>
              <a:rPr lang="en-US" sz="1350" kern="0" dirty="0">
                <a:solidFill>
                  <a:srgbClr val="000000"/>
                </a:solidFill>
              </a:rPr>
              <a:t>send  pkt1</a:t>
            </a:r>
          </a:p>
          <a:p>
            <a:pPr algn="r" defTabSz="685800" eaLnBrk="0" fontAlgn="base" hangingPunct="0">
              <a:spcBef>
                <a:spcPct val="0"/>
              </a:spcBef>
              <a:spcAft>
                <a:spcPct val="0"/>
              </a:spcAft>
              <a:defRPr/>
            </a:pPr>
            <a:r>
              <a:rPr lang="en-US" sz="1350" kern="0" dirty="0">
                <a:solidFill>
                  <a:srgbClr val="000000"/>
                </a:solidFill>
              </a:rPr>
              <a:t>send  pkt2</a:t>
            </a:r>
          </a:p>
          <a:p>
            <a:pPr algn="r" defTabSz="685800" eaLnBrk="0" fontAlgn="base" hangingPunct="0">
              <a:spcBef>
                <a:spcPct val="0"/>
              </a:spcBef>
              <a:spcAft>
                <a:spcPct val="0"/>
              </a:spcAft>
              <a:defRPr/>
            </a:pPr>
            <a:r>
              <a:rPr lang="en-US" sz="1350" kern="0" dirty="0">
                <a:solidFill>
                  <a:srgbClr val="000000"/>
                </a:solidFill>
              </a:rPr>
              <a:t>send  pkt3</a:t>
            </a:r>
          </a:p>
          <a:p>
            <a:pPr algn="r" defTabSz="685800" eaLnBrk="0" fontAlgn="base" hangingPunct="0">
              <a:spcBef>
                <a:spcPct val="0"/>
              </a:spcBef>
              <a:spcAft>
                <a:spcPct val="0"/>
              </a:spcAft>
              <a:defRPr/>
            </a:pPr>
            <a:r>
              <a:rPr lang="en-US" sz="1350" kern="0" dirty="0">
                <a:solidFill>
                  <a:srgbClr val="000000"/>
                </a:solidFill>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3791901" y="1727597"/>
            <a:ext cx="755336"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a:solidFill>
                  <a:srgbClr val="000099"/>
                </a:solidFill>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6066514" y="1741884"/>
            <a:ext cx="853119" cy="3231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a:solidFill>
                  <a:srgbClr val="008000"/>
                </a:solidFill>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6147197" y="2190750"/>
            <a:ext cx="8335" cy="340399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3329498" y="4392216"/>
            <a:ext cx="1186543" cy="4455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350" kern="0" dirty="0">
                <a:solidFill>
                  <a:srgbClr val="000000"/>
                </a:solidFill>
              </a:rPr>
              <a:t>send  pkt2</a:t>
            </a:r>
          </a:p>
          <a:p>
            <a:pPr algn="r" defTabSz="685800" eaLnBrk="0" fontAlgn="base" hangingPunct="0">
              <a:lnSpc>
                <a:spcPct val="90000"/>
              </a:lnSpc>
              <a:spcBef>
                <a:spcPct val="0"/>
              </a:spcBef>
              <a:spcAft>
                <a:spcPct val="0"/>
              </a:spcAft>
              <a:defRPr/>
            </a:pPr>
            <a:r>
              <a:rPr lang="en-US" sz="1200" kern="0" dirty="0">
                <a:solidFill>
                  <a:srgbClr val="C00000"/>
                </a:solidFill>
              </a:rPr>
              <a:t>(but not 3,4,5)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4550569" y="2544365"/>
            <a:ext cx="1510903" cy="800100"/>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4544615" y="2151459"/>
            <a:ext cx="1591866" cy="969169"/>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05826" y="2298700"/>
              <a:ext cx="404385" cy="40010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b="1" kern="0">
                  <a:solidFill>
                    <a:srgbClr val="FF0000"/>
                  </a:solidFill>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63159" y="2319337"/>
              <a:ext cx="58819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a:solidFill>
                    <a:srgbClr val="FF0000"/>
                  </a:solidFill>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4548188" y="2758678"/>
            <a:ext cx="1510903" cy="82510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4550569" y="3386138"/>
            <a:ext cx="1575197" cy="351234"/>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4574381" y="3625453"/>
            <a:ext cx="1576388" cy="35123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4572000" y="3156346"/>
            <a:ext cx="1510903" cy="825104"/>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3061097" y="2547938"/>
            <a:ext cx="1483519" cy="1931689"/>
            <a:chOff x="4081462" y="2254250"/>
            <a:chExt cx="1978025" cy="257558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371795" y="4498975"/>
              <a:ext cx="1616254" cy="3308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75000"/>
                </a:lnSpc>
                <a:spcBef>
                  <a:spcPct val="0"/>
                </a:spcBef>
                <a:spcAft>
                  <a:spcPct val="0"/>
                </a:spcAft>
                <a:defRPr/>
              </a:pPr>
              <a:r>
                <a:rPr lang="en-US" sz="1350" i="1" kern="0">
                  <a:solidFill>
                    <a:srgbClr val="FF0000"/>
                  </a:solidFill>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grpSp>
      </p:grpSp>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4556522" y="4520803"/>
            <a:ext cx="1575197" cy="351235"/>
          </a:xfrm>
          <a:prstGeom prst="line">
            <a:avLst/>
          </a:prstGeom>
          <a:noFill/>
          <a:ln w="28575">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1675679" y="1775222"/>
            <a:ext cx="1675460"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u="sng" kern="0">
                <a:solidFill>
                  <a:srgbClr val="000099"/>
                </a:solidFill>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1707356" y="2034780"/>
            <a:ext cx="1200149" cy="888207"/>
            <a:chOff x="2276475" y="1570039"/>
            <a:chExt cx="1600200" cy="1184276"/>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279650" y="1570039"/>
              <a:ext cx="1592262" cy="338138"/>
              <a:chOff x="89" y="914"/>
              <a:chExt cx="1003" cy="213"/>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276475" y="1855789"/>
              <a:ext cx="1592262" cy="338138"/>
              <a:chOff x="89" y="914"/>
              <a:chExt cx="1003" cy="213"/>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284412" y="2141539"/>
              <a:ext cx="1592263" cy="338138"/>
              <a:chOff x="89" y="914"/>
              <a:chExt cx="1003" cy="213"/>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FFFFFF"/>
                    </a:solidFill>
                    <a:latin typeface="Arial" charset="0"/>
                  </a:rPr>
                  <a:t>0 1 2 3 </a:t>
                </a:r>
                <a:r>
                  <a:rPr lang="en-US" sz="1050">
                    <a:solidFill>
                      <a:srgbClr val="000000"/>
                    </a:solidFill>
                    <a:latin typeface="Arial" charset="0"/>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281237" y="2416177"/>
              <a:ext cx="1592263" cy="338138"/>
              <a:chOff x="89" y="914"/>
              <a:chExt cx="1003" cy="213"/>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FFFFFF"/>
                    </a:solidFill>
                    <a:latin typeface="Arial" charset="0"/>
                  </a:rPr>
                  <a:t>0 1 2 3 </a:t>
                </a:r>
                <a:r>
                  <a:rPr lang="en-US" sz="1050">
                    <a:solidFill>
                      <a:srgbClr val="000000"/>
                    </a:solidFill>
                    <a:latin typeface="Arial" charset="0"/>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1709557" y="3208736"/>
            <a:ext cx="2842202" cy="507832"/>
            <a:chOff x="2279410" y="3135312"/>
            <a:chExt cx="3789602" cy="677108"/>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279410" y="3135312"/>
              <a:ext cx="3789602" cy="677108"/>
              <a:chOff x="2279410" y="3135312"/>
              <a:chExt cx="3789602" cy="677108"/>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894955" y="3135312"/>
                <a:ext cx="2174057" cy="67710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err="1">
                    <a:solidFill>
                      <a:srgbClr val="000000"/>
                    </a:solidFill>
                  </a:rPr>
                  <a:t>rcv</a:t>
                </a:r>
                <a:r>
                  <a:rPr lang="en-US" sz="1350" kern="0" dirty="0">
                    <a:solidFill>
                      <a:srgbClr val="000000"/>
                    </a:solidFill>
                  </a:rPr>
                  <a:t>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279410" y="3186112"/>
                <a:ext cx="1592744" cy="33855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a:t>
                </a:r>
                <a:r>
                  <a:rPr lang="en-US" sz="1050" dirty="0">
                    <a:solidFill>
                      <a:srgbClr val="FFFFFF"/>
                    </a:solidFill>
                    <a:latin typeface="Arial" charset="0"/>
                  </a:rPr>
                  <a:t>1 2 3 4</a:t>
                </a:r>
                <a:r>
                  <a:rPr lang="en-US" sz="1050" dirty="0">
                    <a:solidFill>
                      <a:srgbClr val="000000"/>
                    </a:solidFill>
                    <a:latin typeface="Arial" charset="0"/>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1697832" y="4423176"/>
            <a:ext cx="1200151" cy="813198"/>
            <a:chOff x="2263775" y="4754567"/>
            <a:chExt cx="1600200" cy="1084263"/>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263775" y="4754567"/>
              <a:ext cx="1592263" cy="338138"/>
              <a:chOff x="86" y="2105"/>
              <a:chExt cx="1003" cy="213"/>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271712" y="4995867"/>
              <a:ext cx="1592263" cy="338138"/>
              <a:chOff x="86" y="2105"/>
              <a:chExt cx="1003" cy="213"/>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268537" y="5259392"/>
              <a:ext cx="1592263" cy="338138"/>
              <a:chOff x="86" y="2105"/>
              <a:chExt cx="1003" cy="213"/>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265362" y="5500692"/>
              <a:ext cx="1592263" cy="338138"/>
              <a:chOff x="86" y="2105"/>
              <a:chExt cx="1003" cy="213"/>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a:solidFill>
                      <a:srgbClr val="000000"/>
                    </a:solidFill>
                    <a:latin typeface="Arial" charset="0"/>
                  </a:rPr>
                  <a:t>0 1</a:t>
                </a:r>
                <a:r>
                  <a:rPr lang="en-US" sz="1050">
                    <a:solidFill>
                      <a:srgbClr val="FFFFFF"/>
                    </a:solidFill>
                    <a:latin typeface="Arial" charset="0"/>
                  </a:rPr>
                  <a:t> 2 3 4 5</a:t>
                </a:r>
                <a:r>
                  <a:rPr lang="en-US" sz="1050">
                    <a:solidFill>
                      <a:srgbClr val="000000"/>
                    </a:solidFill>
                    <a:latin typeface="Arial" charset="0"/>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5347097" y="3764757"/>
            <a:ext cx="779860" cy="654844"/>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5367337" y="4889897"/>
            <a:ext cx="775097" cy="422672"/>
          </a:xfrm>
          <a:prstGeom prst="line">
            <a:avLst/>
          </a:prstGeom>
          <a:noFill/>
          <a:ln w="28575">
            <a:solidFill>
              <a:srgbClr val="008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grpSp>
        <p:nvGrpSpPr>
          <p:cNvPr id="7" name="Group 6">
            <a:extLst>
              <a:ext uri="{FF2B5EF4-FFF2-40B4-BE49-F238E27FC236}">
                <a16:creationId xmlns:a16="http://schemas.microsoft.com/office/drawing/2014/main" id="{FBA17A60-2A45-964D-961F-A44FDA1E12F8}"/>
              </a:ext>
            </a:extLst>
          </p:cNvPr>
          <p:cNvGrpSpPr/>
          <p:nvPr/>
        </p:nvGrpSpPr>
        <p:grpSpPr>
          <a:xfrm>
            <a:off x="1706165" y="3446865"/>
            <a:ext cx="2845594" cy="507831"/>
            <a:chOff x="2274887" y="3452813"/>
            <a:chExt cx="3794125" cy="677105"/>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274887" y="3460755"/>
              <a:ext cx="1592263" cy="338138"/>
              <a:chOff x="86" y="2105"/>
              <a:chExt cx="1003" cy="213"/>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a:solidFill>
                    <a:srgbClr val="000000"/>
                  </a:solidFill>
                  <a:latin typeface="Tahoma" charset="0"/>
                  <a:ea typeface="ＭＳ Ｐゴシック" charset="0"/>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860800" y="3452813"/>
              <a:ext cx="2208212" cy="67710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err="1">
                  <a:solidFill>
                    <a:srgbClr val="000000"/>
                  </a:solidFill>
                </a:rPr>
                <a:t>rcv</a:t>
              </a:r>
              <a:r>
                <a:rPr lang="en-US" sz="1350" kern="0" dirty="0">
                  <a:solidFill>
                    <a:srgbClr val="000000"/>
                  </a:solidFill>
                </a:rPr>
                <a:t>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4527947" y="2066925"/>
            <a:ext cx="5954" cy="3219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a:solidFill>
                <a:srgbClr val="000000"/>
              </a:solidFill>
              <a:latin typeface="Tahoma" charset="0"/>
              <a:ea typeface="ＭＳ Ｐゴシック" charset="0"/>
            </a:endParaRPr>
          </a:p>
        </p:txBody>
      </p:sp>
      <p:sp>
        <p:nvSpPr>
          <p:cNvPr id="83" name="Text Box 8">
            <a:extLst>
              <a:ext uri="{FF2B5EF4-FFF2-40B4-BE49-F238E27FC236}">
                <a16:creationId xmlns:a16="http://schemas.microsoft.com/office/drawing/2014/main" id="{BABEA9E2-FB48-7943-B33A-C867AB1A6D4D}"/>
              </a:ext>
            </a:extLst>
          </p:cNvPr>
          <p:cNvSpPr txBox="1">
            <a:spLocks noChangeArrowheads="1"/>
          </p:cNvSpPr>
          <p:nvPr/>
        </p:nvSpPr>
        <p:spPr bwMode="auto">
          <a:xfrm>
            <a:off x="6091749" y="2359819"/>
            <a:ext cx="1992853" cy="11310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pkt0, send ack0</a:t>
            </a:r>
          </a:p>
          <a:p>
            <a:pPr defTabSz="685800" eaLnBrk="0" fontAlgn="base" hangingPunct="0">
              <a:spcBef>
                <a:spcPct val="0"/>
              </a:spcBef>
              <a:spcAft>
                <a:spcPct val="0"/>
              </a:spcAft>
              <a:defRPr/>
            </a:pPr>
            <a:r>
              <a:rPr lang="en-US" sz="1350" kern="0" dirty="0">
                <a:solidFill>
                  <a:srgbClr val="000000"/>
                </a:solidFill>
              </a:rPr>
              <a:t>receive pkt1, send ack1</a:t>
            </a:r>
          </a:p>
          <a:p>
            <a:pPr defTabSz="685800" eaLnBrk="0" fontAlgn="base" hangingPunct="0">
              <a:spcBef>
                <a:spcPct val="0"/>
              </a:spcBef>
              <a:spcAft>
                <a:spcPct val="0"/>
              </a:spcAft>
              <a:defRPr/>
            </a:pPr>
            <a:r>
              <a:rPr lang="en-US" sz="1350" kern="0" dirty="0">
                <a:solidFill>
                  <a:srgbClr val="000000"/>
                </a:solidFill>
              </a:rPr>
              <a:t> </a:t>
            </a:r>
          </a:p>
          <a:p>
            <a:pPr defTabSz="685800" eaLnBrk="0" fontAlgn="base" hangingPunct="0">
              <a:spcBef>
                <a:spcPct val="0"/>
              </a:spcBef>
              <a:spcAft>
                <a:spcPct val="0"/>
              </a:spcAft>
              <a:defRPr/>
            </a:pPr>
            <a:r>
              <a:rPr lang="en-US" sz="1350" kern="0" dirty="0">
                <a:solidFill>
                  <a:srgbClr val="000000"/>
                </a:solidFill>
              </a:rPr>
              <a:t>receive pkt3, </a:t>
            </a:r>
            <a:r>
              <a:rPr lang="en-US" sz="1350" kern="0" dirty="0">
                <a:solidFill>
                  <a:srgbClr val="C00000"/>
                </a:solidFill>
              </a:rPr>
              <a:t>buffer</a:t>
            </a:r>
            <a:r>
              <a:rPr lang="en-US" sz="1350" kern="0" dirty="0">
                <a:solidFill>
                  <a:srgbClr val="000000"/>
                </a:solidFill>
              </a:rPr>
              <a:t>, </a:t>
            </a:r>
          </a:p>
          <a:p>
            <a:pPr defTabSz="685800" eaLnBrk="0" fontAlgn="base" hangingPunct="0">
              <a:spcBef>
                <a:spcPct val="0"/>
              </a:spcBef>
              <a:spcAft>
                <a:spcPct val="0"/>
              </a:spcAft>
              <a:defRPr/>
            </a:pPr>
            <a:r>
              <a:rPr lang="en-US" sz="1350" kern="0" dirty="0">
                <a:solidFill>
                  <a:srgbClr val="000000"/>
                </a:solidFill>
              </a:rPr>
              <a:t>           </a:t>
            </a:r>
            <a:r>
              <a:rPr lang="en-US" sz="1350" kern="0" dirty="0">
                <a:solidFill>
                  <a:srgbClr val="C00000"/>
                </a:solidFill>
              </a:rPr>
              <a:t>send ack3</a:t>
            </a:r>
          </a:p>
        </p:txBody>
      </p:sp>
      <p:sp>
        <p:nvSpPr>
          <p:cNvPr id="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3265769" y="3832622"/>
            <a:ext cx="1327608"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C00000"/>
                </a:solidFill>
              </a:rPr>
              <a:t>record ack3 arrived</a:t>
            </a:r>
          </a:p>
        </p:txBody>
      </p:sp>
      <p:sp>
        <p:nvSpPr>
          <p:cNvPr id="85" name="Text Box 33">
            <a:extLst>
              <a:ext uri="{FF2B5EF4-FFF2-40B4-BE49-F238E27FC236}">
                <a16:creationId xmlns:a16="http://schemas.microsoft.com/office/drawing/2014/main" id="{2C93E184-20A0-D148-9427-205CD214D4C6}"/>
              </a:ext>
            </a:extLst>
          </p:cNvPr>
          <p:cNvSpPr txBox="1">
            <a:spLocks noChangeArrowheads="1"/>
          </p:cNvSpPr>
          <p:nvPr/>
        </p:nvSpPr>
        <p:spPr bwMode="auto">
          <a:xfrm>
            <a:off x="6127467" y="3559969"/>
            <a:ext cx="1787669"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pkt4, </a:t>
            </a:r>
            <a:r>
              <a:rPr lang="en-US" sz="1350" kern="0" dirty="0">
                <a:solidFill>
                  <a:srgbClr val="C00000"/>
                </a:solidFill>
              </a:rPr>
              <a:t>buffer, </a:t>
            </a:r>
          </a:p>
          <a:p>
            <a:pPr defTabSz="685800" eaLnBrk="0" fontAlgn="base" hangingPunct="0">
              <a:spcBef>
                <a:spcPct val="0"/>
              </a:spcBef>
              <a:spcAft>
                <a:spcPct val="0"/>
              </a:spcAft>
              <a:defRPr/>
            </a:pPr>
            <a:r>
              <a:rPr lang="en-US" sz="1350" kern="0" dirty="0">
                <a:solidFill>
                  <a:srgbClr val="C00000"/>
                </a:solidFill>
              </a:rPr>
              <a:t>           send ack4</a:t>
            </a:r>
          </a:p>
        </p:txBody>
      </p:sp>
      <p:sp>
        <p:nvSpPr>
          <p:cNvPr id="86" name="Text Box 34">
            <a:extLst>
              <a:ext uri="{FF2B5EF4-FFF2-40B4-BE49-F238E27FC236}">
                <a16:creationId xmlns:a16="http://schemas.microsoft.com/office/drawing/2014/main" id="{68B83592-7F50-904A-B0CC-EE81AD5FA7B7}"/>
              </a:ext>
            </a:extLst>
          </p:cNvPr>
          <p:cNvSpPr txBox="1">
            <a:spLocks noChangeArrowheads="1"/>
          </p:cNvSpPr>
          <p:nvPr/>
        </p:nvSpPr>
        <p:spPr bwMode="auto">
          <a:xfrm>
            <a:off x="6141755" y="3950494"/>
            <a:ext cx="1787669" cy="5078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pkt5, </a:t>
            </a:r>
            <a:r>
              <a:rPr lang="en-US" sz="1350" kern="0" dirty="0">
                <a:solidFill>
                  <a:srgbClr val="C00000"/>
                </a:solidFill>
              </a:rPr>
              <a:t>buffer, </a:t>
            </a:r>
          </a:p>
          <a:p>
            <a:pPr defTabSz="685800" eaLnBrk="0" fontAlgn="base" hangingPunct="0">
              <a:spcBef>
                <a:spcPct val="0"/>
              </a:spcBef>
              <a:spcAft>
                <a:spcPct val="0"/>
              </a:spcAft>
              <a:defRPr/>
            </a:pPr>
            <a:r>
              <a:rPr lang="en-US" sz="1350" kern="0" dirty="0">
                <a:solidFill>
                  <a:srgbClr val="C00000"/>
                </a:solidFill>
              </a:rPr>
              <a:t>           send ack5</a:t>
            </a:r>
          </a:p>
        </p:txBody>
      </p:sp>
      <p:sp>
        <p:nvSpPr>
          <p:cNvPr id="87" name="Text Box 35">
            <a:extLst>
              <a:ext uri="{FF2B5EF4-FFF2-40B4-BE49-F238E27FC236}">
                <a16:creationId xmlns:a16="http://schemas.microsoft.com/office/drawing/2014/main" id="{CD12A2A4-73A8-BA4D-9548-DF22CB731141}"/>
              </a:ext>
            </a:extLst>
          </p:cNvPr>
          <p:cNvSpPr txBox="1">
            <a:spLocks noChangeArrowheads="1"/>
          </p:cNvSpPr>
          <p:nvPr/>
        </p:nvSpPr>
        <p:spPr bwMode="auto">
          <a:xfrm>
            <a:off x="6121513" y="4749403"/>
            <a:ext cx="2287806" cy="46628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kern="0" dirty="0" err="1">
                <a:solidFill>
                  <a:srgbClr val="000000"/>
                </a:solidFill>
              </a:rPr>
              <a:t>rcv</a:t>
            </a:r>
            <a:r>
              <a:rPr lang="en-US" sz="1350" kern="0" dirty="0">
                <a:solidFill>
                  <a:srgbClr val="000000"/>
                </a:solidFill>
              </a:rPr>
              <a:t> pkt2; </a:t>
            </a:r>
            <a:r>
              <a:rPr lang="en-US" sz="1350" kern="0" dirty="0">
                <a:solidFill>
                  <a:srgbClr val="C00000"/>
                </a:solidFill>
              </a:rPr>
              <a:t>deliver pkt2,</a:t>
            </a:r>
          </a:p>
          <a:p>
            <a:pPr defTabSz="685800" eaLnBrk="0" fontAlgn="base" hangingPunct="0">
              <a:lnSpc>
                <a:spcPct val="90000"/>
              </a:lnSpc>
              <a:spcBef>
                <a:spcPct val="0"/>
              </a:spcBef>
              <a:spcAft>
                <a:spcPct val="0"/>
              </a:spcAft>
              <a:defRPr/>
            </a:pPr>
            <a:r>
              <a:rPr lang="en-US" sz="1350" kern="0" dirty="0">
                <a:solidFill>
                  <a:srgbClr val="C00000"/>
                </a:solidFill>
              </a:rPr>
              <a:t>pkt3, pkt4, pkt5; send ack2</a:t>
            </a:r>
          </a:p>
        </p:txBody>
      </p:sp>
      <p:sp>
        <p:nvSpPr>
          <p:cNvPr id="88" name="Text Box 93">
            <a:extLst>
              <a:ext uri="{FF2B5EF4-FFF2-40B4-BE49-F238E27FC236}">
                <a16:creationId xmlns:a16="http://schemas.microsoft.com/office/drawing/2014/main" id="{DA7120B9-9E7A-1348-95F0-2AB8574C69FF}"/>
              </a:ext>
            </a:extLst>
          </p:cNvPr>
          <p:cNvSpPr txBox="1">
            <a:spLocks noChangeArrowheads="1"/>
          </p:cNvSpPr>
          <p:nvPr/>
        </p:nvSpPr>
        <p:spPr bwMode="auto">
          <a:xfrm>
            <a:off x="3315880" y="5297091"/>
            <a:ext cx="2701381"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dirty="0">
                <a:solidFill>
                  <a:srgbClr val="000000"/>
                </a:solidFill>
              </a:rPr>
              <a:t>Q: what happens when ack2 arrives?</a:t>
            </a:r>
          </a:p>
        </p:txBody>
      </p:sp>
      <p:sp>
        <p:nvSpPr>
          <p:cNvPr id="76" name="Slide Number Placeholder 2">
            <a:extLst>
              <a:ext uri="{FF2B5EF4-FFF2-40B4-BE49-F238E27FC236}">
                <a16:creationId xmlns:a16="http://schemas.microsoft.com/office/drawing/2014/main" id="{31C667D1-6F31-7340-B2B9-6B7265E49357}"/>
              </a:ext>
            </a:extLst>
          </p:cNvPr>
          <p:cNvSpPr>
            <a:spLocks noGrp="1"/>
          </p:cNvSpPr>
          <p:nvPr>
            <p:ph type="sldNum" sz="quarter" idx="4"/>
          </p:nvPr>
        </p:nvSpPr>
        <p:spPr>
          <a:xfrm>
            <a:off x="6914712" y="5689567"/>
            <a:ext cx="2057400" cy="273844"/>
          </a:xfrm>
        </p:spPr>
        <p:txBody>
          <a:bodyPr/>
          <a:lstStyle/>
          <a:p>
            <a:r>
              <a:rPr lang="en-US" dirty="0"/>
              <a:t>Transport Layer: 3-</a:t>
            </a:r>
            <a:fld id="{C4204591-24BD-A542-B9D5-F8D8A88D2FEE}" type="slidenum">
              <a:rPr lang="en-US" smtClean="0"/>
              <a:pPr/>
              <a:t>24</a:t>
            </a:fld>
            <a:endParaRPr lang="en-US" dirty="0"/>
          </a:p>
        </p:txBody>
      </p:sp>
    </p:spTree>
    <p:extLst>
      <p:ext uri="{BB962C8B-B14F-4D97-AF65-F5344CB8AC3E}">
        <p14:creationId xmlns:p14="http://schemas.microsoft.com/office/powerpoint/2010/main" val="299390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dissolv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dissolve">
                                      <p:cBhvr>
                                        <p:cTn id="43" dur="500"/>
                                        <p:tgtEl>
                                          <p:spTgt spid="8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dissolve">
                                      <p:cBhvr>
                                        <p:cTn id="56" dur="500"/>
                                        <p:tgtEl>
                                          <p:spTgt spid="8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dissolve">
                                      <p:cBhvr>
                                        <p:cTn id="65" dur="5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dissolve">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wipe(left)">
                                      <p:cBhvr>
                                        <p:cTn id="79" dur="500"/>
                                        <p:tgtEl>
                                          <p:spTgt spid="116"/>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32"/>
                                        </p:tgtEl>
                                        <p:attrNameLst>
                                          <p:attrName>style.visibility</p:attrName>
                                        </p:attrNameLst>
                                      </p:cBhvr>
                                      <p:to>
                                        <p:strVal val="visible"/>
                                      </p:to>
                                    </p:set>
                                    <p:animEffect transition="in" filter="wipe(left)">
                                      <p:cBhvr>
                                        <p:cTn id="83" dur="500"/>
                                        <p:tgtEl>
                                          <p:spTgt spid="132"/>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dissolve">
                                      <p:cBhvr>
                                        <p:cTn id="87" dur="500"/>
                                        <p:tgtEl>
                                          <p:spTgt spid="87"/>
                                        </p:tgtEl>
                                      </p:cBhvr>
                                    </p:animEffect>
                                  </p:childTnLst>
                                </p:cTn>
                              </p:par>
                            </p:childTnLst>
                          </p:cTn>
                        </p:par>
                        <p:par>
                          <p:cTn id="88" fill="hold">
                            <p:stCondLst>
                              <p:cond delay="2000"/>
                            </p:stCondLst>
                            <p:childTnLst>
                              <p:par>
                                <p:cTn id="89" presetID="22" presetClass="entr" presetSubtype="2" fill="hold" grpId="0" nodeType="after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wipe(right)">
                                      <p:cBhvr>
                                        <p:cTn id="91" dur="500"/>
                                        <p:tgtEl>
                                          <p:spTgt spid="172"/>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dissolve">
                                      <p:cBhvr>
                                        <p:cTn id="9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6" grpId="0"/>
      <p:bldP spid="121" grpId="0" animBg="1"/>
      <p:bldP spid="124" grpId="0" animBg="1"/>
      <p:bldP spid="125" grpId="0" animBg="1"/>
      <p:bldP spid="126" grpId="0" animBg="1"/>
      <p:bldP spid="127" grpId="0" animBg="1"/>
      <p:bldP spid="132" grpId="0" animBg="1"/>
      <p:bldP spid="172" grpId="0" animBg="1"/>
      <p:bldP spid="83" grpId="0"/>
      <p:bldP spid="84" grpId="0"/>
      <p:bldP spid="85" grpId="0"/>
      <p:bldP spid="86" grpId="0"/>
      <p:bldP spid="87" grpId="0"/>
      <p:bldP spid="8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430000" y="44343"/>
            <a:ext cx="8588861" cy="573966"/>
          </a:xfrm>
        </p:spPr>
        <p:txBody>
          <a:bodyPr/>
          <a:lstStyle/>
          <a:p>
            <a:pPr>
              <a:lnSpc>
                <a:spcPct val="100000"/>
              </a:lnSpc>
            </a:pPr>
            <a:r>
              <a:rPr lang="en-US" sz="3200" dirty="0"/>
              <a:t>TCP Connection Establishment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548" y="1198435"/>
            <a:ext cx="44386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Placeholder 2"/>
          <p:cNvSpPr>
            <a:spLocks noGrp="1"/>
          </p:cNvSpPr>
          <p:nvPr>
            <p:ph type="body" sz="quarter" idx="10"/>
          </p:nvPr>
        </p:nvSpPr>
        <p:spPr>
          <a:xfrm>
            <a:off x="229702" y="869821"/>
            <a:ext cx="3881846" cy="5173928"/>
          </a:xfrm>
        </p:spPr>
        <p:txBody>
          <a:bodyPr/>
          <a:lstStyle/>
          <a:p>
            <a:pPr marL="0" indent="0">
              <a:buNone/>
            </a:pPr>
            <a:r>
              <a:rPr lang="en-US" dirty="0"/>
              <a:t>A TCP connection is established in three steps:</a:t>
            </a:r>
          </a:p>
          <a:p>
            <a:pPr marL="457200" indent="-457200">
              <a:buFont typeface="+mj-lt"/>
              <a:buAutoNum type="arabicPeriod"/>
            </a:pPr>
            <a:r>
              <a:rPr lang="en-US" dirty="0"/>
              <a:t>The initiating client requests a client-to-server communication session with the server.</a:t>
            </a:r>
          </a:p>
          <a:p>
            <a:pPr marL="457200" indent="-457200">
              <a:buFont typeface="+mj-lt"/>
              <a:buAutoNum type="arabicPeriod"/>
            </a:pPr>
            <a:r>
              <a:rPr lang="en-US" dirty="0"/>
              <a:t>The server acknowledges the client-to-server communication session and requests a server-to-client</a:t>
            </a:r>
            <a:br>
              <a:rPr lang="en-US" dirty="0"/>
            </a:br>
            <a:r>
              <a:rPr lang="en-US" dirty="0"/>
              <a:t>communication session.</a:t>
            </a:r>
          </a:p>
          <a:p>
            <a:pPr marL="457200" indent="-457200">
              <a:buFont typeface="+mj-lt"/>
              <a:buAutoNum type="arabicPeriod"/>
            </a:pPr>
            <a:r>
              <a:rPr lang="en-US" dirty="0"/>
              <a:t>The initiating client acknowledges</a:t>
            </a:r>
            <a:br>
              <a:rPr lang="en-US" dirty="0"/>
            </a:br>
            <a:r>
              <a:rPr lang="en-US" dirty="0"/>
              <a:t>the server-to-client communication</a:t>
            </a:r>
            <a:br>
              <a:rPr lang="en-US" dirty="0"/>
            </a:br>
            <a:r>
              <a:rPr lang="en-US" dirty="0"/>
              <a:t>session.</a:t>
            </a:r>
          </a:p>
        </p:txBody>
      </p:sp>
    </p:spTree>
    <p:extLst>
      <p:ext uri="{BB962C8B-B14F-4D97-AF65-F5344CB8AC3E}">
        <p14:creationId xmlns:p14="http://schemas.microsoft.com/office/powerpoint/2010/main" val="94149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TCP Three-Way Handshake Analysis</a:t>
            </a:r>
          </a:p>
        </p:txBody>
      </p:sp>
      <p:sp>
        <p:nvSpPr>
          <p:cNvPr id="3" name="Text Placeholder 2"/>
          <p:cNvSpPr>
            <a:spLocks noGrp="1"/>
          </p:cNvSpPr>
          <p:nvPr>
            <p:ph type="body" sz="quarter" idx="10"/>
          </p:nvPr>
        </p:nvSpPr>
        <p:spPr/>
        <p:txBody>
          <a:bodyPr/>
          <a:lstStyle/>
          <a:p>
            <a:pPr marL="0" indent="0">
              <a:buNone/>
            </a:pPr>
            <a:r>
              <a:rPr lang="en-US" sz="1800" dirty="0"/>
              <a:t>The three-way handshake:</a:t>
            </a:r>
          </a:p>
          <a:p>
            <a:pPr marL="285750" indent="-285750"/>
            <a:r>
              <a:rPr lang="en-US" sz="1800" dirty="0"/>
              <a:t>Establishes that the destination device is present on the network.</a:t>
            </a:r>
          </a:p>
          <a:p>
            <a:pPr marL="285750" indent="-285750"/>
            <a:r>
              <a:rPr lang="en-US" sz="1800" dirty="0"/>
              <a:t>Verifies that the destination device has an active service and is accepting requests on the destination port number that the initiating client intends to use</a:t>
            </a:r>
          </a:p>
          <a:p>
            <a:pPr marL="285750" indent="-285750"/>
            <a:r>
              <a:rPr lang="en-US" sz="1800" dirty="0"/>
              <a:t>Informs the destination device that the source client intends to establish a communication session on that port number.</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55" y="3449659"/>
            <a:ext cx="5368290" cy="2922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9943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173" r="13525" b="33948"/>
          <a:stretch/>
        </p:blipFill>
        <p:spPr bwMode="auto">
          <a:xfrm>
            <a:off x="4905677" y="1561934"/>
            <a:ext cx="4076700" cy="32005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itle 11"/>
          <p:cNvSpPr>
            <a:spLocks noGrp="1"/>
          </p:cNvSpPr>
          <p:nvPr>
            <p:ph type="title"/>
          </p:nvPr>
        </p:nvSpPr>
        <p:spPr>
          <a:xfrm>
            <a:off x="247119" y="91613"/>
            <a:ext cx="8588861" cy="622489"/>
          </a:xfrm>
        </p:spPr>
        <p:txBody>
          <a:bodyPr/>
          <a:lstStyle/>
          <a:p>
            <a:pPr>
              <a:lnSpc>
                <a:spcPct val="100000"/>
              </a:lnSpc>
            </a:pPr>
            <a:r>
              <a:rPr lang="en-US" sz="3200" dirty="0"/>
              <a:t>TCP Session Termination</a:t>
            </a:r>
          </a:p>
        </p:txBody>
      </p:sp>
      <p:sp>
        <p:nvSpPr>
          <p:cNvPr id="3" name="Text Placeholder 2"/>
          <p:cNvSpPr>
            <a:spLocks noGrp="1"/>
          </p:cNvSpPr>
          <p:nvPr>
            <p:ph type="body" sz="quarter" idx="10"/>
          </p:nvPr>
        </p:nvSpPr>
        <p:spPr>
          <a:xfrm>
            <a:off x="247119" y="866311"/>
            <a:ext cx="4658558" cy="5460273"/>
          </a:xfrm>
        </p:spPr>
        <p:txBody>
          <a:bodyPr/>
          <a:lstStyle/>
          <a:p>
            <a:pPr marL="0" indent="0">
              <a:buNone/>
            </a:pPr>
            <a:r>
              <a:rPr lang="en-US" sz="1800" dirty="0"/>
              <a:t>The FIN TCP flag is used to terminate a TCP connection.</a:t>
            </a:r>
          </a:p>
          <a:p>
            <a:pPr marL="457200" indent="-457200">
              <a:buFont typeface="+mj-lt"/>
              <a:buAutoNum type="arabicPeriod"/>
            </a:pPr>
            <a:r>
              <a:rPr lang="en-US" sz="1800" dirty="0"/>
              <a:t>When the client has no more data to send in the stream, it sends a segment with the FIN flag set.</a:t>
            </a:r>
          </a:p>
          <a:p>
            <a:pPr marL="457200" indent="-457200">
              <a:buFont typeface="+mj-lt"/>
              <a:buAutoNum type="arabicPeriod"/>
            </a:pPr>
            <a:r>
              <a:rPr lang="en-US" sz="1800" dirty="0"/>
              <a:t>The server sends an ACK to acknowledge the receipt of the FIN to terminate the session from client to server.</a:t>
            </a:r>
          </a:p>
          <a:p>
            <a:pPr marL="457200" indent="-457200">
              <a:buFont typeface="+mj-lt"/>
              <a:buAutoNum type="arabicPeriod"/>
            </a:pPr>
            <a:r>
              <a:rPr lang="en-US" sz="1800" dirty="0"/>
              <a:t>The server sends a FIN to the client to</a:t>
            </a:r>
            <a:br>
              <a:rPr lang="en-US" sz="1800" dirty="0"/>
            </a:br>
            <a:r>
              <a:rPr lang="en-US" sz="1800" dirty="0"/>
              <a:t>terminate the server-to-client session.</a:t>
            </a:r>
          </a:p>
          <a:p>
            <a:pPr marL="457200" indent="-457200">
              <a:buFont typeface="+mj-lt"/>
              <a:buAutoNum type="arabicPeriod"/>
            </a:pPr>
            <a:r>
              <a:rPr lang="en-US" sz="1800" dirty="0"/>
              <a:t>The client responds with an ACK to</a:t>
            </a:r>
            <a:br>
              <a:rPr lang="en-US" sz="1800" dirty="0"/>
            </a:br>
            <a:r>
              <a:rPr lang="en-US" sz="1800" dirty="0"/>
              <a:t>acknowledge the FIN from the server.</a:t>
            </a:r>
          </a:p>
          <a:p>
            <a:pPr marL="457200" indent="-457200">
              <a:buFont typeface="+mj-lt"/>
              <a:buAutoNum type="arabicPeriod"/>
            </a:pPr>
            <a:r>
              <a:rPr lang="en-US" sz="1800" dirty="0"/>
              <a:t>When all segments have been</a:t>
            </a:r>
            <a:br>
              <a:rPr lang="en-US" sz="1800" dirty="0"/>
            </a:br>
            <a:r>
              <a:rPr lang="en-US" sz="1800" dirty="0"/>
              <a:t>acknowledged, the session is closed.</a:t>
            </a:r>
          </a:p>
        </p:txBody>
      </p:sp>
    </p:spTree>
    <p:extLst>
      <p:ext uri="{BB962C8B-B14F-4D97-AF65-F5344CB8AC3E}">
        <p14:creationId xmlns:p14="http://schemas.microsoft.com/office/powerpoint/2010/main" val="68531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488464" y="141407"/>
            <a:ext cx="8588861" cy="838200"/>
          </a:xfrm>
        </p:spPr>
        <p:txBody>
          <a:bodyPr/>
          <a:lstStyle/>
          <a:p>
            <a:r>
              <a:rPr lang="en-US" sz="3200" dirty="0"/>
              <a:t>TCP Reliability – Ordered Delivery</a:t>
            </a: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4840" y="2871922"/>
            <a:ext cx="4471035" cy="3490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 Placeholder 3"/>
          <p:cNvSpPr>
            <a:spLocks noGrp="1"/>
          </p:cNvSpPr>
          <p:nvPr>
            <p:ph type="body" sz="quarter" idx="10"/>
          </p:nvPr>
        </p:nvSpPr>
        <p:spPr/>
        <p:txBody>
          <a:bodyPr/>
          <a:lstStyle/>
          <a:p>
            <a:pPr marL="285750" indent="-285750"/>
            <a:r>
              <a:rPr lang="en-US" sz="1800" dirty="0"/>
              <a:t>TCP segments use sequence numbers to uniquely identify and acknowledge each segment, keep track of segment order, and indicate how to reassemble and reorder received segments.</a:t>
            </a:r>
          </a:p>
          <a:p>
            <a:pPr marL="285750" indent="-285750"/>
            <a:r>
              <a:rPr lang="en-US" sz="1800" dirty="0"/>
              <a:t>An initial sequence number (ISN) is randomly chosen during the TCP session setup. The ISN is then incremented by the number of transmitted bytes.</a:t>
            </a:r>
          </a:p>
          <a:p>
            <a:pPr marL="285750" indent="-285750"/>
            <a:r>
              <a:rPr lang="en-US" sz="1800" dirty="0"/>
              <a:t>The receiving TCP process buffers</a:t>
            </a:r>
            <a:br>
              <a:rPr lang="en-US" sz="1800" dirty="0"/>
            </a:br>
            <a:r>
              <a:rPr lang="en-US" sz="1800" dirty="0"/>
              <a:t>the segment data until all data is</a:t>
            </a:r>
            <a:br>
              <a:rPr lang="en-US" sz="1800" dirty="0"/>
            </a:br>
            <a:r>
              <a:rPr lang="en-US" sz="1800" dirty="0"/>
              <a:t>received and reassembled. </a:t>
            </a:r>
          </a:p>
          <a:p>
            <a:pPr marL="285750" indent="-285750"/>
            <a:r>
              <a:rPr lang="en-US" sz="1800" dirty="0"/>
              <a:t>Segments received out of order</a:t>
            </a:r>
            <a:br>
              <a:rPr lang="en-US" sz="1800" dirty="0"/>
            </a:br>
            <a:r>
              <a:rPr lang="en-US" sz="1800" dirty="0"/>
              <a:t>are held for later processing.</a:t>
            </a:r>
          </a:p>
          <a:p>
            <a:pPr marL="285750" indent="-285750"/>
            <a:r>
              <a:rPr lang="en-US" sz="1800" dirty="0"/>
              <a:t>The data is delivered to the</a:t>
            </a:r>
            <a:br>
              <a:rPr lang="en-US" sz="1800" dirty="0"/>
            </a:br>
            <a:r>
              <a:rPr lang="en-US" sz="1800" dirty="0"/>
              <a:t>application layer only when it has</a:t>
            </a:r>
            <a:br>
              <a:rPr lang="en-US" sz="1800" dirty="0"/>
            </a:br>
            <a:r>
              <a:rPr lang="en-US" sz="1800" dirty="0"/>
              <a:t>been completely received and</a:t>
            </a:r>
            <a:br>
              <a:rPr lang="en-US" sz="1800" dirty="0"/>
            </a:br>
            <a:r>
              <a:rPr lang="en-US" sz="1800" dirty="0"/>
              <a:t>reassembled.</a:t>
            </a:r>
          </a:p>
          <a:p>
            <a:endParaRPr lang="en-US" sz="1800" dirty="0"/>
          </a:p>
        </p:txBody>
      </p:sp>
    </p:spTree>
    <p:extLst>
      <p:ext uri="{BB962C8B-B14F-4D97-AF65-F5344CB8AC3E}">
        <p14:creationId xmlns:p14="http://schemas.microsoft.com/office/powerpoint/2010/main" val="1936894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TCP Reliability - Sequence Numbers and Acknowledgements</a:t>
            </a:r>
          </a:p>
        </p:txBody>
      </p:sp>
      <p:sp>
        <p:nvSpPr>
          <p:cNvPr id="3" name="Text Placeholder 2"/>
          <p:cNvSpPr>
            <a:spLocks noGrp="1"/>
          </p:cNvSpPr>
          <p:nvPr>
            <p:ph type="body" sz="quarter" idx="10"/>
          </p:nvPr>
        </p:nvSpPr>
        <p:spPr>
          <a:xfrm>
            <a:off x="228600" y="1344168"/>
            <a:ext cx="8092440" cy="4965192"/>
          </a:xfrm>
        </p:spPr>
        <p:txBody>
          <a:bodyPr/>
          <a:lstStyle/>
          <a:p>
            <a:pPr marL="285750" indent="-285750"/>
            <a:r>
              <a:rPr lang="en-US" sz="1800" dirty="0"/>
              <a:t>TCP is designed to confirm that each segment reached its destination.</a:t>
            </a:r>
          </a:p>
          <a:p>
            <a:pPr marL="285750" indent="-285750"/>
            <a:r>
              <a:rPr lang="en-US" sz="1800" dirty="0"/>
              <a:t>TCP session setup ensures the destination is not only reachable, but ready to receive data.</a:t>
            </a:r>
          </a:p>
          <a:p>
            <a:pPr marL="285750" indent="-285750"/>
            <a:r>
              <a:rPr lang="en-US" sz="1800" dirty="0"/>
              <a:t>The TCP process on the destination host acknowledges the data it has received from the source application.</a:t>
            </a:r>
          </a:p>
          <a:p>
            <a:pPr marL="285750" indent="-285750"/>
            <a:r>
              <a:rPr lang="en-US" sz="1800" dirty="0"/>
              <a:t>TCP allows for the retransmission of missed segments.</a:t>
            </a:r>
          </a:p>
          <a:p>
            <a:pPr marL="285750" indent="-285750"/>
            <a:r>
              <a:rPr lang="en-US" sz="1800" dirty="0"/>
              <a:t>TCP ensures all segments are properly re-ordered upon receipt.</a:t>
            </a:r>
          </a:p>
          <a:p>
            <a:pPr marL="285750" indent="-285750"/>
            <a:r>
              <a:rPr lang="en-US" sz="1800" dirty="0"/>
              <a:t>TCP session termination allows for parties to gracefully end a TCP session when no data is to be transferred (FIN flag).</a:t>
            </a:r>
          </a:p>
          <a:p>
            <a:pPr marL="285750" indent="-285750"/>
            <a:r>
              <a:rPr lang="en-US" sz="1800" dirty="0"/>
              <a:t>A TCP endpoint can abruptly terminate a session if necessary (RST flag).</a:t>
            </a:r>
          </a:p>
          <a:p>
            <a:endParaRPr lang="en-US" sz="1800" dirty="0"/>
          </a:p>
        </p:txBody>
      </p:sp>
    </p:spTree>
    <p:extLst>
      <p:ext uri="{BB962C8B-B14F-4D97-AF65-F5344CB8AC3E}">
        <p14:creationId xmlns:p14="http://schemas.microsoft.com/office/powerpoint/2010/main" val="343985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z="3200" dirty="0"/>
              <a:t>Application Layer</a:t>
            </a:r>
          </a:p>
        </p:txBody>
      </p:sp>
      <p:sp>
        <p:nvSpPr>
          <p:cNvPr id="4" name="Text Placeholder 3"/>
          <p:cNvSpPr>
            <a:spLocks noGrp="1"/>
          </p:cNvSpPr>
          <p:nvPr>
            <p:ph type="body" sz="quarter" idx="10"/>
          </p:nvPr>
        </p:nvSpPr>
        <p:spPr/>
        <p:txBody>
          <a:bodyPr/>
          <a:lstStyle/>
          <a:p>
            <a:pPr marL="285750" indent="-285750"/>
            <a:r>
              <a:rPr lang="en-US" dirty="0">
                <a:solidFill>
                  <a:schemeClr val="bg2">
                    <a:lumMod val="65000"/>
                    <a:lumOff val="35000"/>
                  </a:schemeClr>
                </a:solidFill>
              </a:rPr>
              <a:t>The application layer is closest to the end user.</a:t>
            </a:r>
          </a:p>
          <a:p>
            <a:pPr marL="285750" indent="-285750"/>
            <a:r>
              <a:rPr lang="en-US" dirty="0">
                <a:solidFill>
                  <a:schemeClr val="bg2">
                    <a:lumMod val="65000"/>
                    <a:lumOff val="35000"/>
                  </a:schemeClr>
                </a:solidFill>
              </a:rPr>
              <a:t>Network applications enable users to send and receive data with ease.</a:t>
            </a:r>
          </a:p>
          <a:p>
            <a:pPr marL="285750" indent="-285750"/>
            <a:r>
              <a:rPr lang="en-US" dirty="0">
                <a:solidFill>
                  <a:schemeClr val="bg2">
                    <a:lumMod val="65000"/>
                    <a:lumOff val="35000"/>
                  </a:schemeClr>
                </a:solidFill>
              </a:rPr>
              <a:t>The application layer acts as interface between the applications and the underlying network.</a:t>
            </a:r>
          </a:p>
          <a:p>
            <a:pPr marL="285750" indent="-285750"/>
            <a:r>
              <a:rPr lang="en-US" dirty="0">
                <a:solidFill>
                  <a:schemeClr val="bg2">
                    <a:lumMod val="65000"/>
                    <a:lumOff val="35000"/>
                  </a:schemeClr>
                </a:solidFill>
              </a:rPr>
              <a:t>Application layer protocols help</a:t>
            </a:r>
            <a:br>
              <a:rPr lang="en-US" dirty="0">
                <a:solidFill>
                  <a:schemeClr val="bg2">
                    <a:lumMod val="65000"/>
                    <a:lumOff val="35000"/>
                  </a:schemeClr>
                </a:solidFill>
              </a:rPr>
            </a:br>
            <a:r>
              <a:rPr lang="en-US" dirty="0">
                <a:solidFill>
                  <a:schemeClr val="bg2">
                    <a:lumMod val="65000"/>
                    <a:lumOff val="35000"/>
                  </a:schemeClr>
                </a:solidFill>
              </a:rPr>
              <a:t>exchange data between programs</a:t>
            </a:r>
            <a:br>
              <a:rPr lang="en-US" dirty="0">
                <a:solidFill>
                  <a:schemeClr val="bg2">
                    <a:lumMod val="65000"/>
                    <a:lumOff val="35000"/>
                  </a:schemeClr>
                </a:solidFill>
              </a:rPr>
            </a:br>
            <a:r>
              <a:rPr lang="en-US" dirty="0">
                <a:solidFill>
                  <a:schemeClr val="bg2">
                    <a:lumMod val="65000"/>
                    <a:lumOff val="35000"/>
                  </a:schemeClr>
                </a:solidFill>
              </a:rPr>
              <a:t>running on the source and</a:t>
            </a:r>
            <a:br>
              <a:rPr lang="en-US" dirty="0">
                <a:solidFill>
                  <a:schemeClr val="bg2">
                    <a:lumMod val="65000"/>
                    <a:lumOff val="35000"/>
                  </a:schemeClr>
                </a:solidFill>
              </a:rPr>
            </a:br>
            <a:r>
              <a:rPr lang="en-US" dirty="0">
                <a:solidFill>
                  <a:schemeClr val="bg2">
                    <a:lumMod val="65000"/>
                    <a:lumOff val="35000"/>
                  </a:schemeClr>
                </a:solidFill>
              </a:rPr>
              <a:t>destination hosts.</a:t>
            </a:r>
          </a:p>
          <a:p>
            <a:pPr marL="285750" indent="-285750"/>
            <a:r>
              <a:rPr lang="en-US" dirty="0">
                <a:solidFill>
                  <a:schemeClr val="bg2">
                    <a:lumMod val="65000"/>
                    <a:lumOff val="35000"/>
                  </a:schemeClr>
                </a:solidFill>
              </a:rPr>
              <a:t>The TCP/IP application layer</a:t>
            </a:r>
            <a:br>
              <a:rPr lang="en-US" dirty="0">
                <a:solidFill>
                  <a:schemeClr val="bg2">
                    <a:lumMod val="65000"/>
                    <a:lumOff val="35000"/>
                  </a:schemeClr>
                </a:solidFill>
              </a:rPr>
            </a:br>
            <a:r>
              <a:rPr lang="en-US" dirty="0">
                <a:solidFill>
                  <a:schemeClr val="bg2">
                    <a:lumMod val="65000"/>
                    <a:lumOff val="35000"/>
                  </a:schemeClr>
                </a:solidFill>
              </a:rPr>
              <a:t>performs the functions of the upper</a:t>
            </a:r>
            <a:br>
              <a:rPr lang="en-US" dirty="0">
                <a:solidFill>
                  <a:schemeClr val="bg2">
                    <a:lumMod val="65000"/>
                    <a:lumOff val="35000"/>
                  </a:schemeClr>
                </a:solidFill>
              </a:rPr>
            </a:br>
            <a:r>
              <a:rPr lang="en-US" dirty="0">
                <a:solidFill>
                  <a:schemeClr val="bg2">
                    <a:lumMod val="65000"/>
                    <a:lumOff val="35000"/>
                  </a:schemeClr>
                </a:solidFill>
              </a:rPr>
              <a:t>three layers of the OSI model.</a:t>
            </a:r>
          </a:p>
          <a:p>
            <a:pPr marL="285750" indent="-285750"/>
            <a:r>
              <a:rPr lang="en-US" dirty="0">
                <a:solidFill>
                  <a:schemeClr val="bg2">
                    <a:lumMod val="65000"/>
                    <a:lumOff val="35000"/>
                  </a:schemeClr>
                </a:solidFill>
              </a:rPr>
              <a:t>Common application layer protocols</a:t>
            </a:r>
            <a:br>
              <a:rPr lang="en-US" dirty="0">
                <a:solidFill>
                  <a:schemeClr val="bg2">
                    <a:lumMod val="65000"/>
                    <a:lumOff val="35000"/>
                  </a:schemeClr>
                </a:solidFill>
              </a:rPr>
            </a:br>
            <a:r>
              <a:rPr lang="en-US" dirty="0">
                <a:solidFill>
                  <a:schemeClr val="bg2">
                    <a:lumMod val="65000"/>
                    <a:lumOff val="35000"/>
                  </a:schemeClr>
                </a:solidFill>
              </a:rPr>
              <a:t>include: HTTP, FTP, TFTP, DNS.</a:t>
            </a: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820" y="3190432"/>
            <a:ext cx="4102722" cy="3086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829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z="3200" dirty="0"/>
              <a:t>Presentation and Session Layer</a:t>
            </a:r>
          </a:p>
        </p:txBody>
      </p:sp>
      <p:sp>
        <p:nvSpPr>
          <p:cNvPr id="3" name="Text Placeholder 2"/>
          <p:cNvSpPr>
            <a:spLocks noGrp="1"/>
          </p:cNvSpPr>
          <p:nvPr>
            <p:ph type="body" sz="quarter" idx="10"/>
          </p:nvPr>
        </p:nvSpPr>
        <p:spPr/>
        <p:txBody>
          <a:bodyPr/>
          <a:lstStyle/>
          <a:p>
            <a:pPr marL="285750" indent="-285750"/>
            <a:r>
              <a:rPr lang="en-US" dirty="0">
                <a:solidFill>
                  <a:schemeClr val="bg2">
                    <a:lumMod val="65000"/>
                    <a:lumOff val="35000"/>
                  </a:schemeClr>
                </a:solidFill>
              </a:rPr>
              <a:t>The presentation layer has three primary functions:</a:t>
            </a:r>
          </a:p>
          <a:p>
            <a:pPr marL="742950" lvl="1" indent="-285750">
              <a:buFont typeface="Courier New" panose="02070309020205020404" pitchFamily="49" charset="0"/>
              <a:buChar char="o"/>
            </a:pPr>
            <a:r>
              <a:rPr lang="en-US" dirty="0">
                <a:solidFill>
                  <a:schemeClr val="bg2">
                    <a:lumMod val="65000"/>
                    <a:lumOff val="35000"/>
                  </a:schemeClr>
                </a:solidFill>
              </a:rPr>
              <a:t>Format data</a:t>
            </a:r>
          </a:p>
          <a:p>
            <a:pPr marL="742950" lvl="1" indent="-285750">
              <a:buFont typeface="Courier New" panose="02070309020205020404" pitchFamily="49" charset="0"/>
              <a:buChar char="o"/>
            </a:pPr>
            <a:r>
              <a:rPr lang="en-US" dirty="0">
                <a:solidFill>
                  <a:schemeClr val="bg2">
                    <a:lumMod val="65000"/>
                    <a:lumOff val="35000"/>
                  </a:schemeClr>
                </a:solidFill>
              </a:rPr>
              <a:t>Compress data</a:t>
            </a:r>
          </a:p>
          <a:p>
            <a:pPr marL="742950" lvl="1" indent="-285750">
              <a:buFont typeface="Courier New" panose="02070309020205020404" pitchFamily="49" charset="0"/>
              <a:buChar char="o"/>
            </a:pPr>
            <a:r>
              <a:rPr lang="en-US" dirty="0">
                <a:solidFill>
                  <a:schemeClr val="bg2">
                    <a:lumMod val="65000"/>
                    <a:lumOff val="35000"/>
                  </a:schemeClr>
                </a:solidFill>
              </a:rPr>
              <a:t>Encrypt data</a:t>
            </a:r>
          </a:p>
          <a:p>
            <a:pPr marL="285750" indent="-285750"/>
            <a:r>
              <a:rPr lang="en-US" dirty="0">
                <a:solidFill>
                  <a:schemeClr val="bg2">
                    <a:lumMod val="65000"/>
                    <a:lumOff val="35000"/>
                  </a:schemeClr>
                </a:solidFill>
              </a:rPr>
              <a:t>Common standards for video include QuickTime and Motion Picture Experts Group (MPEG).</a:t>
            </a:r>
          </a:p>
          <a:p>
            <a:pPr marL="285750" indent="-285750"/>
            <a:r>
              <a:rPr lang="en-US" dirty="0">
                <a:solidFill>
                  <a:schemeClr val="bg2">
                    <a:lumMod val="65000"/>
                    <a:lumOff val="35000"/>
                  </a:schemeClr>
                </a:solidFill>
              </a:rPr>
              <a:t>Common graphic image formats are:</a:t>
            </a:r>
          </a:p>
          <a:p>
            <a:pPr marL="742950" lvl="1" indent="-285750">
              <a:buFont typeface="Arial" panose="020B0604020202020204" pitchFamily="34" charset="0"/>
              <a:buChar char="•"/>
            </a:pPr>
            <a:r>
              <a:rPr lang="en-US" dirty="0">
                <a:solidFill>
                  <a:schemeClr val="bg2">
                    <a:lumMod val="65000"/>
                    <a:lumOff val="35000"/>
                  </a:schemeClr>
                </a:solidFill>
              </a:rPr>
              <a:t>Graphics Interchange Format (GIF)</a:t>
            </a:r>
          </a:p>
          <a:p>
            <a:pPr marL="742950" lvl="1" indent="-285750">
              <a:buFont typeface="Arial" panose="020B0604020202020204" pitchFamily="34" charset="0"/>
              <a:buChar char="•"/>
            </a:pPr>
            <a:r>
              <a:rPr lang="en-US" dirty="0">
                <a:solidFill>
                  <a:schemeClr val="bg2">
                    <a:lumMod val="65000"/>
                    <a:lumOff val="35000"/>
                  </a:schemeClr>
                </a:solidFill>
              </a:rPr>
              <a:t>Joint Photographic Experts Group (JPEG)</a:t>
            </a:r>
          </a:p>
          <a:p>
            <a:pPr marL="742950" lvl="1" indent="-285750">
              <a:buFont typeface="Arial" panose="020B0604020202020204" pitchFamily="34" charset="0"/>
              <a:buChar char="•"/>
            </a:pPr>
            <a:r>
              <a:rPr lang="en-US" dirty="0">
                <a:solidFill>
                  <a:schemeClr val="bg2">
                    <a:lumMod val="65000"/>
                    <a:lumOff val="35000"/>
                  </a:schemeClr>
                </a:solidFill>
              </a:rPr>
              <a:t>Portable Network Graphics (PNG) format</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0038" y="3505201"/>
            <a:ext cx="3592508" cy="26290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150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z="3200" dirty="0"/>
              <a:t>Presentation and Session Layer (cont.)</a:t>
            </a:r>
          </a:p>
        </p:txBody>
      </p:sp>
      <p:sp>
        <p:nvSpPr>
          <p:cNvPr id="3" name="Text Placeholder 2"/>
          <p:cNvSpPr>
            <a:spLocks noGrp="1"/>
          </p:cNvSpPr>
          <p:nvPr>
            <p:ph type="body" sz="quarter" idx="10"/>
          </p:nvPr>
        </p:nvSpPr>
        <p:spPr/>
        <p:txBody>
          <a:bodyPr/>
          <a:lstStyle/>
          <a:p>
            <a:pPr marL="285750" indent="-285750"/>
            <a:r>
              <a:rPr lang="en-US" dirty="0">
                <a:solidFill>
                  <a:schemeClr val="bg2">
                    <a:lumMod val="65000"/>
                    <a:lumOff val="35000"/>
                  </a:schemeClr>
                </a:solidFill>
              </a:rPr>
              <a:t>The session layer creates and maintains dialogs between source and destination applications.</a:t>
            </a:r>
          </a:p>
          <a:p>
            <a:pPr marL="285750" indent="-285750"/>
            <a:r>
              <a:rPr lang="en-US" dirty="0">
                <a:solidFill>
                  <a:schemeClr val="bg2">
                    <a:lumMod val="65000"/>
                    <a:lumOff val="35000"/>
                  </a:schemeClr>
                </a:solidFill>
              </a:rPr>
              <a:t>The session layer handles the exchange of information to initiate dialogs, keep them active, and to restart sessions that are disrupted or idle for a long period of time.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4156" y="2981325"/>
            <a:ext cx="4308369" cy="3152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13742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sz="3200" dirty="0"/>
              <a:t>TCP/IP Application Layer Protocols</a:t>
            </a:r>
          </a:p>
        </p:txBody>
      </p:sp>
      <p:sp>
        <p:nvSpPr>
          <p:cNvPr id="3" name="Text Placeholder 2"/>
          <p:cNvSpPr>
            <a:spLocks noGrp="1"/>
          </p:cNvSpPr>
          <p:nvPr>
            <p:ph type="body" sz="quarter" idx="10"/>
          </p:nvPr>
        </p:nvSpPr>
        <p:spPr/>
        <p:txBody>
          <a:bodyPr/>
          <a:lstStyle/>
          <a:p>
            <a:pPr marL="285750" indent="-285750"/>
            <a:r>
              <a:rPr lang="en-US" dirty="0">
                <a:solidFill>
                  <a:schemeClr val="bg2">
                    <a:lumMod val="65000"/>
                    <a:lumOff val="35000"/>
                  </a:schemeClr>
                </a:solidFill>
              </a:rPr>
              <a:t>TCP/IP application protocols specify the format and control information necessary for common Internet functions.</a:t>
            </a:r>
          </a:p>
          <a:p>
            <a:pPr marL="285750" indent="-285750"/>
            <a:r>
              <a:rPr lang="en-US" dirty="0">
                <a:solidFill>
                  <a:schemeClr val="bg2">
                    <a:lumMod val="65000"/>
                    <a:lumOff val="35000"/>
                  </a:schemeClr>
                </a:solidFill>
              </a:rPr>
              <a:t>Application layer protocols must be implemented in both the source and destination devices.</a:t>
            </a:r>
          </a:p>
          <a:p>
            <a:pPr marL="285750" indent="-285750"/>
            <a:r>
              <a:rPr lang="en-US" dirty="0">
                <a:solidFill>
                  <a:schemeClr val="bg2">
                    <a:lumMod val="65000"/>
                    <a:lumOff val="35000"/>
                  </a:schemeClr>
                </a:solidFill>
              </a:rPr>
              <a:t>Application layer protocols implemented on the source and destination host must be compatible to allow communication.</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935" y="3462040"/>
            <a:ext cx="8510949" cy="2805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308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Client-Server Model</a:t>
            </a:r>
          </a:p>
        </p:txBody>
      </p:sp>
      <p:sp>
        <p:nvSpPr>
          <p:cNvPr id="3" name="Text Placeholder 2"/>
          <p:cNvSpPr>
            <a:spLocks noGrp="1"/>
          </p:cNvSpPr>
          <p:nvPr>
            <p:ph type="body" sz="quarter" idx="10"/>
          </p:nvPr>
        </p:nvSpPr>
        <p:spPr/>
        <p:txBody>
          <a:bodyPr/>
          <a:lstStyle/>
          <a:p>
            <a:r>
              <a:rPr lang="en-US" sz="1800" dirty="0">
                <a:solidFill>
                  <a:schemeClr val="bg2">
                    <a:lumMod val="65000"/>
                    <a:lumOff val="35000"/>
                  </a:schemeClr>
                </a:solidFill>
              </a:rPr>
              <a:t>The device requesting the information is called a client.</a:t>
            </a:r>
          </a:p>
          <a:p>
            <a:r>
              <a:rPr lang="en-US" sz="1800" dirty="0">
                <a:solidFill>
                  <a:schemeClr val="bg2">
                    <a:lumMod val="65000"/>
                    <a:lumOff val="35000"/>
                  </a:schemeClr>
                </a:solidFill>
              </a:rPr>
              <a:t>The device responding to the request is called a server.</a:t>
            </a:r>
          </a:p>
          <a:p>
            <a:r>
              <a:rPr lang="en-US" sz="1800" dirty="0">
                <a:solidFill>
                  <a:schemeClr val="bg2">
                    <a:lumMod val="65000"/>
                    <a:lumOff val="35000"/>
                  </a:schemeClr>
                </a:solidFill>
              </a:rPr>
              <a:t>Client and server processes are considered to be in the application layer.</a:t>
            </a:r>
          </a:p>
          <a:p>
            <a:r>
              <a:rPr lang="en-US" sz="1800" dirty="0">
                <a:solidFill>
                  <a:schemeClr val="bg2">
                    <a:lumMod val="65000"/>
                    <a:lumOff val="35000"/>
                  </a:schemeClr>
                </a:solidFill>
              </a:rPr>
              <a:t>The client initiates the exchange by requesting data from the server.</a:t>
            </a:r>
          </a:p>
          <a:p>
            <a:r>
              <a:rPr lang="en-US" sz="1800" dirty="0">
                <a:solidFill>
                  <a:schemeClr val="bg2">
                    <a:lumMod val="65000"/>
                    <a:lumOff val="35000"/>
                  </a:schemeClr>
                </a:solidFill>
              </a:rPr>
              <a:t>The server responds by sending one</a:t>
            </a:r>
            <a:br>
              <a:rPr lang="en-US" sz="1800" dirty="0">
                <a:solidFill>
                  <a:schemeClr val="bg2">
                    <a:lumMod val="65000"/>
                    <a:lumOff val="35000"/>
                  </a:schemeClr>
                </a:solidFill>
              </a:rPr>
            </a:br>
            <a:r>
              <a:rPr lang="en-US" sz="1800" dirty="0">
                <a:solidFill>
                  <a:schemeClr val="bg2">
                    <a:lumMod val="65000"/>
                    <a:lumOff val="35000"/>
                  </a:schemeClr>
                </a:solidFill>
              </a:rPr>
              <a:t>or more streams of data to the client.</a:t>
            </a:r>
          </a:p>
          <a:p>
            <a:r>
              <a:rPr lang="en-US" sz="1800" dirty="0">
                <a:solidFill>
                  <a:schemeClr val="bg2">
                    <a:lumMod val="65000"/>
                    <a:lumOff val="35000"/>
                  </a:schemeClr>
                </a:solidFill>
              </a:rPr>
              <a:t>Application layer protocols describe</a:t>
            </a:r>
            <a:br>
              <a:rPr lang="en-US" sz="1800" dirty="0">
                <a:solidFill>
                  <a:schemeClr val="bg2">
                    <a:lumMod val="65000"/>
                    <a:lumOff val="35000"/>
                  </a:schemeClr>
                </a:solidFill>
              </a:rPr>
            </a:br>
            <a:r>
              <a:rPr lang="en-US" sz="1800" dirty="0">
                <a:solidFill>
                  <a:schemeClr val="bg2">
                    <a:lumMod val="65000"/>
                    <a:lumOff val="35000"/>
                  </a:schemeClr>
                </a:solidFill>
              </a:rPr>
              <a:t>the format of the requests and</a:t>
            </a:r>
            <a:br>
              <a:rPr lang="en-US" sz="1800" dirty="0">
                <a:solidFill>
                  <a:schemeClr val="bg2">
                    <a:lumMod val="65000"/>
                    <a:lumOff val="35000"/>
                  </a:schemeClr>
                </a:solidFill>
              </a:rPr>
            </a:br>
            <a:r>
              <a:rPr lang="en-US" sz="1800" dirty="0">
                <a:solidFill>
                  <a:schemeClr val="bg2">
                    <a:lumMod val="65000"/>
                    <a:lumOff val="35000"/>
                  </a:schemeClr>
                </a:solidFill>
              </a:rPr>
              <a:t>responses between clients and</a:t>
            </a:r>
            <a:br>
              <a:rPr lang="en-US" sz="1800" dirty="0">
                <a:solidFill>
                  <a:schemeClr val="bg2">
                    <a:lumMod val="65000"/>
                    <a:lumOff val="35000"/>
                  </a:schemeClr>
                </a:solidFill>
              </a:rPr>
            </a:br>
            <a:r>
              <a:rPr lang="en-US" sz="1800" dirty="0">
                <a:solidFill>
                  <a:schemeClr val="bg2">
                    <a:lumMod val="65000"/>
                    <a:lumOff val="35000"/>
                  </a:schemeClr>
                </a:solidFill>
              </a:rPr>
              <a:t>servers.</a:t>
            </a:r>
          </a:p>
          <a:p>
            <a:r>
              <a:rPr lang="en-US" sz="1800" dirty="0">
                <a:solidFill>
                  <a:schemeClr val="bg2">
                    <a:lumMod val="65000"/>
                    <a:lumOff val="35000"/>
                  </a:schemeClr>
                </a:solidFill>
              </a:rPr>
              <a:t>The contents of the data exchange</a:t>
            </a:r>
            <a:br>
              <a:rPr lang="en-US" sz="1800" dirty="0">
                <a:solidFill>
                  <a:schemeClr val="bg2">
                    <a:lumMod val="65000"/>
                    <a:lumOff val="35000"/>
                  </a:schemeClr>
                </a:solidFill>
              </a:rPr>
            </a:br>
            <a:r>
              <a:rPr lang="en-US" sz="1800" dirty="0">
                <a:solidFill>
                  <a:schemeClr val="bg2">
                    <a:lumMod val="65000"/>
                    <a:lumOff val="35000"/>
                  </a:schemeClr>
                </a:solidFill>
              </a:rPr>
              <a:t>will depend on the application in use.</a:t>
            </a:r>
          </a:p>
          <a:p>
            <a:r>
              <a:rPr lang="en-US" sz="1800" dirty="0">
                <a:solidFill>
                  <a:schemeClr val="bg2">
                    <a:lumMod val="65000"/>
                    <a:lumOff val="35000"/>
                  </a:schemeClr>
                </a:solidFill>
              </a:rPr>
              <a:t>Email is an example of a </a:t>
            </a:r>
            <a:br>
              <a:rPr lang="en-US" sz="1800" dirty="0">
                <a:solidFill>
                  <a:schemeClr val="bg2">
                    <a:lumMod val="65000"/>
                    <a:lumOff val="35000"/>
                  </a:schemeClr>
                </a:solidFill>
              </a:rPr>
            </a:br>
            <a:r>
              <a:rPr lang="en-US" sz="1800" dirty="0">
                <a:solidFill>
                  <a:schemeClr val="bg2">
                    <a:lumMod val="65000"/>
                    <a:lumOff val="35000"/>
                  </a:schemeClr>
                </a:solidFill>
              </a:rPr>
              <a:t>Client-Server interaction.</a:t>
            </a:r>
          </a:p>
          <a:p>
            <a:endParaRPr lang="en-US" sz="18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6469" y="3057485"/>
            <a:ext cx="4562417" cy="325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4199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Peer-to-Peer Networks</a:t>
            </a:r>
          </a:p>
        </p:txBody>
      </p:sp>
      <p:sp>
        <p:nvSpPr>
          <p:cNvPr id="3" name="Text Placeholder 2"/>
          <p:cNvSpPr>
            <a:spLocks noGrp="1"/>
          </p:cNvSpPr>
          <p:nvPr>
            <p:ph type="body" sz="quarter" idx="10"/>
          </p:nvPr>
        </p:nvSpPr>
        <p:spPr/>
        <p:txBody>
          <a:bodyPr/>
          <a:lstStyle/>
          <a:p>
            <a:r>
              <a:rPr lang="en-US" dirty="0">
                <a:solidFill>
                  <a:schemeClr val="bg2">
                    <a:lumMod val="65000"/>
                    <a:lumOff val="35000"/>
                  </a:schemeClr>
                </a:solidFill>
              </a:rPr>
              <a:t>In the peer-to-peer (P2P) networking model, the data is accessed without the use of a dedicated server.</a:t>
            </a:r>
          </a:p>
          <a:p>
            <a:r>
              <a:rPr lang="en-US" dirty="0">
                <a:solidFill>
                  <a:schemeClr val="bg2">
                    <a:lumMod val="65000"/>
                    <a:lumOff val="35000"/>
                  </a:schemeClr>
                </a:solidFill>
              </a:rPr>
              <a:t>Two or more computers can be connected to a P2P network to share resources.</a:t>
            </a:r>
          </a:p>
          <a:p>
            <a:r>
              <a:rPr lang="en-US" dirty="0">
                <a:solidFill>
                  <a:schemeClr val="bg2">
                    <a:lumMod val="65000"/>
                    <a:lumOff val="35000"/>
                  </a:schemeClr>
                </a:solidFill>
              </a:rPr>
              <a:t>Every connected end device (a peer) can function as both a server and a client.</a:t>
            </a:r>
          </a:p>
          <a:p>
            <a:r>
              <a:rPr lang="en-US" dirty="0">
                <a:solidFill>
                  <a:schemeClr val="bg2">
                    <a:lumMod val="65000"/>
                    <a:lumOff val="35000"/>
                  </a:schemeClr>
                </a:solidFill>
              </a:rPr>
              <a:t>The roles of client and</a:t>
            </a:r>
            <a:br>
              <a:rPr lang="en-US" dirty="0">
                <a:solidFill>
                  <a:schemeClr val="bg2">
                    <a:lumMod val="65000"/>
                    <a:lumOff val="35000"/>
                  </a:schemeClr>
                </a:solidFill>
              </a:rPr>
            </a:br>
            <a:r>
              <a:rPr lang="en-US" dirty="0">
                <a:solidFill>
                  <a:schemeClr val="bg2">
                    <a:lumMod val="65000"/>
                    <a:lumOff val="35000"/>
                  </a:schemeClr>
                </a:solidFill>
              </a:rPr>
              <a:t>server are set on a per</a:t>
            </a:r>
            <a:br>
              <a:rPr lang="en-US" dirty="0">
                <a:solidFill>
                  <a:schemeClr val="bg2">
                    <a:lumMod val="65000"/>
                    <a:lumOff val="35000"/>
                  </a:schemeClr>
                </a:solidFill>
              </a:rPr>
            </a:br>
            <a:r>
              <a:rPr lang="en-US" dirty="0">
                <a:solidFill>
                  <a:schemeClr val="bg2">
                    <a:lumMod val="65000"/>
                    <a:lumOff val="35000"/>
                  </a:schemeClr>
                </a:solidFill>
              </a:rPr>
              <a:t>request basis.</a:t>
            </a: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2144" y="3482170"/>
            <a:ext cx="5000625" cy="279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0251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Peer-to-Peer Applications</a:t>
            </a:r>
          </a:p>
        </p:txBody>
      </p:sp>
      <p:sp>
        <p:nvSpPr>
          <p:cNvPr id="3" name="Text Placeholder 2"/>
          <p:cNvSpPr>
            <a:spLocks noGrp="1"/>
          </p:cNvSpPr>
          <p:nvPr>
            <p:ph type="body" sz="quarter" idx="10"/>
          </p:nvPr>
        </p:nvSpPr>
        <p:spPr/>
        <p:txBody>
          <a:bodyPr/>
          <a:lstStyle/>
          <a:p>
            <a:pPr marL="285750" indent="-285750"/>
            <a:r>
              <a:rPr lang="en-US" dirty="0">
                <a:solidFill>
                  <a:schemeClr val="bg2">
                    <a:lumMod val="65000"/>
                    <a:lumOff val="35000"/>
                  </a:schemeClr>
                </a:solidFill>
              </a:rPr>
              <a:t>Some P2P applications use a hybrid system.</a:t>
            </a:r>
          </a:p>
          <a:p>
            <a:pPr marL="285750" indent="-285750"/>
            <a:r>
              <a:rPr lang="en-US" dirty="0">
                <a:solidFill>
                  <a:schemeClr val="bg2">
                    <a:lumMod val="65000"/>
                    <a:lumOff val="35000"/>
                  </a:schemeClr>
                </a:solidFill>
              </a:rPr>
              <a:t>In hybrid P2P, resource sharing is decentralized.</a:t>
            </a:r>
          </a:p>
          <a:p>
            <a:pPr marL="285750" indent="-285750"/>
            <a:r>
              <a:rPr lang="en-US" dirty="0">
                <a:solidFill>
                  <a:schemeClr val="bg2">
                    <a:lumMod val="65000"/>
                    <a:lumOff val="35000"/>
                  </a:schemeClr>
                </a:solidFill>
              </a:rPr>
              <a:t>Indexes that point to resource locations are stored in a centralized directory.</a:t>
            </a:r>
          </a:p>
          <a:p>
            <a:pPr marL="285750" indent="-285750"/>
            <a:r>
              <a:rPr lang="en-US" dirty="0">
                <a:solidFill>
                  <a:schemeClr val="bg2">
                    <a:lumMod val="65000"/>
                    <a:lumOff val="35000"/>
                  </a:schemeClr>
                </a:solidFill>
              </a:rPr>
              <a:t>In a hybrid system, each</a:t>
            </a:r>
            <a:br>
              <a:rPr lang="en-US" dirty="0">
                <a:solidFill>
                  <a:schemeClr val="bg2">
                    <a:lumMod val="65000"/>
                    <a:lumOff val="35000"/>
                  </a:schemeClr>
                </a:solidFill>
              </a:rPr>
            </a:br>
            <a:r>
              <a:rPr lang="en-US" dirty="0">
                <a:solidFill>
                  <a:schemeClr val="bg2">
                    <a:lumMod val="65000"/>
                    <a:lumOff val="35000"/>
                  </a:schemeClr>
                </a:solidFill>
              </a:rPr>
              <a:t>peer accesses an index</a:t>
            </a:r>
            <a:br>
              <a:rPr lang="en-US" dirty="0">
                <a:solidFill>
                  <a:schemeClr val="bg2">
                    <a:lumMod val="65000"/>
                    <a:lumOff val="35000"/>
                  </a:schemeClr>
                </a:solidFill>
              </a:rPr>
            </a:br>
            <a:r>
              <a:rPr lang="en-US" dirty="0">
                <a:solidFill>
                  <a:schemeClr val="bg2">
                    <a:lumMod val="65000"/>
                    <a:lumOff val="35000"/>
                  </a:schemeClr>
                </a:solidFill>
              </a:rPr>
              <a:t>server to get the location</a:t>
            </a:r>
            <a:br>
              <a:rPr lang="en-US" dirty="0">
                <a:solidFill>
                  <a:schemeClr val="bg2">
                    <a:lumMod val="65000"/>
                    <a:lumOff val="35000"/>
                  </a:schemeClr>
                </a:solidFill>
              </a:rPr>
            </a:br>
            <a:r>
              <a:rPr lang="en-US" dirty="0">
                <a:solidFill>
                  <a:schemeClr val="bg2">
                    <a:lumMod val="65000"/>
                    <a:lumOff val="35000"/>
                  </a:schemeClr>
                </a:solidFill>
              </a:rPr>
              <a:t>of a resource stored on</a:t>
            </a:r>
            <a:br>
              <a:rPr lang="en-US" dirty="0">
                <a:solidFill>
                  <a:schemeClr val="bg2">
                    <a:lumMod val="65000"/>
                    <a:lumOff val="35000"/>
                  </a:schemeClr>
                </a:solidFill>
              </a:rPr>
            </a:br>
            <a:r>
              <a:rPr lang="en-US" dirty="0">
                <a:solidFill>
                  <a:schemeClr val="bg2">
                    <a:lumMod val="65000"/>
                    <a:lumOff val="35000"/>
                  </a:schemeClr>
                </a:solidFill>
              </a:rPr>
              <a:t>another peer.</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9722" y="3133725"/>
            <a:ext cx="5088991" cy="3121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968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Common P2P Applications </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050" y="2989287"/>
            <a:ext cx="4371974" cy="3268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 Placeholder 1"/>
          <p:cNvSpPr>
            <a:spLocks noGrp="1"/>
          </p:cNvSpPr>
          <p:nvPr>
            <p:ph type="body" sz="quarter" idx="10"/>
          </p:nvPr>
        </p:nvSpPr>
        <p:spPr/>
        <p:txBody>
          <a:bodyPr/>
          <a:lstStyle/>
          <a:p>
            <a:pPr marL="285750" indent="-285750"/>
            <a:r>
              <a:rPr lang="en-US" dirty="0">
                <a:solidFill>
                  <a:schemeClr val="bg2">
                    <a:lumMod val="65000"/>
                    <a:lumOff val="35000"/>
                  </a:schemeClr>
                </a:solidFill>
              </a:rPr>
              <a:t>Common P2P networks include: </a:t>
            </a:r>
            <a:r>
              <a:rPr lang="en-US" dirty="0" err="1">
                <a:solidFill>
                  <a:schemeClr val="bg2">
                    <a:lumMod val="65000"/>
                    <a:lumOff val="35000"/>
                  </a:schemeClr>
                </a:solidFill>
              </a:rPr>
              <a:t>eDonkey</a:t>
            </a:r>
            <a:r>
              <a:rPr lang="en-US" dirty="0">
                <a:solidFill>
                  <a:schemeClr val="bg2">
                    <a:lumMod val="65000"/>
                    <a:lumOff val="35000"/>
                  </a:schemeClr>
                </a:solidFill>
              </a:rPr>
              <a:t>, G2, </a:t>
            </a:r>
            <a:r>
              <a:rPr lang="en-US" dirty="0" err="1">
                <a:solidFill>
                  <a:schemeClr val="bg2">
                    <a:lumMod val="65000"/>
                    <a:lumOff val="35000"/>
                  </a:schemeClr>
                </a:solidFill>
              </a:rPr>
              <a:t>BitTorrent</a:t>
            </a:r>
            <a:r>
              <a:rPr lang="en-US" dirty="0">
                <a:solidFill>
                  <a:schemeClr val="bg2">
                    <a:lumMod val="65000"/>
                    <a:lumOff val="35000"/>
                  </a:schemeClr>
                </a:solidFill>
              </a:rPr>
              <a:t>, Bitcoin.</a:t>
            </a:r>
          </a:p>
          <a:p>
            <a:pPr marL="285750" indent="-285750"/>
            <a:r>
              <a:rPr lang="en-US" dirty="0">
                <a:solidFill>
                  <a:schemeClr val="bg2">
                    <a:lumMod val="65000"/>
                    <a:lumOff val="35000"/>
                  </a:schemeClr>
                </a:solidFill>
              </a:rPr>
              <a:t>Many P2P applications allow users to share pieces of many files with each other at the same time.</a:t>
            </a:r>
          </a:p>
          <a:p>
            <a:pPr marL="285750" indent="-285750"/>
            <a:r>
              <a:rPr lang="en-US" dirty="0">
                <a:solidFill>
                  <a:schemeClr val="bg2">
                    <a:lumMod val="65000"/>
                    <a:lumOff val="35000"/>
                  </a:schemeClr>
                </a:solidFill>
              </a:rPr>
              <a:t>A small torrent file contains information about the location of other users and tracker computers.</a:t>
            </a:r>
          </a:p>
          <a:p>
            <a:pPr marL="285750" indent="-285750"/>
            <a:r>
              <a:rPr lang="en-US" dirty="0">
                <a:solidFill>
                  <a:schemeClr val="bg2">
                    <a:lumMod val="65000"/>
                    <a:lumOff val="35000"/>
                  </a:schemeClr>
                </a:solidFill>
              </a:rPr>
              <a:t>Trackers are computers keeping</a:t>
            </a:r>
            <a:br>
              <a:rPr lang="en-US" dirty="0">
                <a:solidFill>
                  <a:schemeClr val="bg2">
                    <a:lumMod val="65000"/>
                    <a:lumOff val="35000"/>
                  </a:schemeClr>
                </a:solidFill>
              </a:rPr>
            </a:br>
            <a:r>
              <a:rPr lang="en-US" dirty="0">
                <a:solidFill>
                  <a:schemeClr val="bg2">
                    <a:lumMod val="65000"/>
                    <a:lumOff val="35000"/>
                  </a:schemeClr>
                </a:solidFill>
              </a:rPr>
              <a:t>track of the files hosted by users.</a:t>
            </a:r>
          </a:p>
          <a:p>
            <a:pPr marL="285750" indent="-285750"/>
            <a:r>
              <a:rPr lang="en-US" dirty="0">
                <a:solidFill>
                  <a:schemeClr val="bg2">
                    <a:lumMod val="65000"/>
                    <a:lumOff val="35000"/>
                  </a:schemeClr>
                </a:solidFill>
              </a:rPr>
              <a:t>This technology is called </a:t>
            </a:r>
            <a:r>
              <a:rPr lang="en-US" dirty="0" err="1">
                <a:solidFill>
                  <a:schemeClr val="bg2">
                    <a:lumMod val="65000"/>
                    <a:lumOff val="35000"/>
                  </a:schemeClr>
                </a:solidFill>
              </a:rPr>
              <a:t>BitTorrent</a:t>
            </a:r>
            <a:r>
              <a:rPr lang="en-US" dirty="0">
                <a:solidFill>
                  <a:schemeClr val="bg2">
                    <a:lumMod val="65000"/>
                    <a:lumOff val="35000"/>
                  </a:schemeClr>
                </a:solidFill>
              </a:rPr>
              <a:t>.</a:t>
            </a:r>
          </a:p>
          <a:p>
            <a:pPr marL="285750" indent="-285750"/>
            <a:r>
              <a:rPr lang="en-US" dirty="0">
                <a:solidFill>
                  <a:schemeClr val="bg2">
                    <a:lumMod val="65000"/>
                    <a:lumOff val="35000"/>
                  </a:schemeClr>
                </a:solidFill>
              </a:rPr>
              <a:t>There are many </a:t>
            </a:r>
            <a:r>
              <a:rPr lang="en-US" dirty="0" err="1">
                <a:solidFill>
                  <a:schemeClr val="bg2">
                    <a:lumMod val="65000"/>
                    <a:lumOff val="35000"/>
                  </a:schemeClr>
                </a:solidFill>
              </a:rPr>
              <a:t>BitTorrent</a:t>
            </a:r>
            <a:r>
              <a:rPr lang="en-US" dirty="0">
                <a:solidFill>
                  <a:schemeClr val="bg2">
                    <a:lumMod val="65000"/>
                    <a:lumOff val="35000"/>
                  </a:schemeClr>
                </a:solidFill>
              </a:rPr>
              <a:t> clients,</a:t>
            </a:r>
            <a:br>
              <a:rPr lang="en-US" dirty="0">
                <a:solidFill>
                  <a:schemeClr val="bg2">
                    <a:lumMod val="65000"/>
                    <a:lumOff val="35000"/>
                  </a:schemeClr>
                </a:solidFill>
              </a:rPr>
            </a:br>
            <a:r>
              <a:rPr lang="en-US" dirty="0">
                <a:solidFill>
                  <a:schemeClr val="bg2">
                    <a:lumMod val="65000"/>
                    <a:lumOff val="35000"/>
                  </a:schemeClr>
                </a:solidFill>
              </a:rPr>
              <a:t>including  </a:t>
            </a:r>
            <a:r>
              <a:rPr lang="en-US" dirty="0" err="1">
                <a:solidFill>
                  <a:schemeClr val="bg2">
                    <a:lumMod val="65000"/>
                    <a:lumOff val="35000"/>
                  </a:schemeClr>
                </a:solidFill>
              </a:rPr>
              <a:t>BitTorrent</a:t>
            </a:r>
            <a:r>
              <a:rPr lang="en-US" dirty="0">
                <a:solidFill>
                  <a:schemeClr val="bg2">
                    <a:lumMod val="65000"/>
                    <a:lumOff val="35000"/>
                  </a:schemeClr>
                </a:solidFill>
              </a:rPr>
              <a:t>, uTorrent,</a:t>
            </a:r>
            <a:br>
              <a:rPr lang="en-US" dirty="0">
                <a:solidFill>
                  <a:schemeClr val="bg2">
                    <a:lumMod val="65000"/>
                    <a:lumOff val="35000"/>
                  </a:schemeClr>
                </a:solidFill>
              </a:rPr>
            </a:br>
            <a:r>
              <a:rPr lang="en-US" dirty="0" err="1">
                <a:solidFill>
                  <a:schemeClr val="bg2">
                    <a:lumMod val="65000"/>
                    <a:lumOff val="35000"/>
                  </a:schemeClr>
                </a:solidFill>
              </a:rPr>
              <a:t>Frostwire</a:t>
            </a:r>
            <a:r>
              <a:rPr lang="en-US" dirty="0">
                <a:solidFill>
                  <a:schemeClr val="bg2">
                    <a:lumMod val="65000"/>
                    <a:lumOff val="35000"/>
                  </a:schemeClr>
                </a:solidFill>
              </a:rPr>
              <a:t>, and </a:t>
            </a:r>
            <a:r>
              <a:rPr lang="en-US" dirty="0" err="1">
                <a:solidFill>
                  <a:schemeClr val="bg2">
                    <a:lumMod val="65000"/>
                    <a:lumOff val="35000"/>
                  </a:schemeClr>
                </a:solidFill>
              </a:rPr>
              <a:t>qBittorrent</a:t>
            </a:r>
            <a:r>
              <a:rPr lang="en-US" dirty="0">
                <a:solidFill>
                  <a:schemeClr val="bg2">
                    <a:lumMod val="65000"/>
                    <a:lumOff val="35000"/>
                  </a:schemeClr>
                </a:solidFill>
              </a:rPr>
              <a:t>.</a:t>
            </a:r>
          </a:p>
        </p:txBody>
      </p:sp>
    </p:spTree>
    <p:extLst>
      <p:ext uri="{BB962C8B-B14F-4D97-AF65-F5344CB8AC3E}">
        <p14:creationId xmlns:p14="http://schemas.microsoft.com/office/powerpoint/2010/main" val="2271508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Hypertext Transfer Protocol and Hypertext Markup Language</a:t>
            </a:r>
          </a:p>
        </p:txBody>
      </p:sp>
      <p:sp>
        <p:nvSpPr>
          <p:cNvPr id="3" name="Text Placeholder 2"/>
          <p:cNvSpPr>
            <a:spLocks noGrp="1"/>
          </p:cNvSpPr>
          <p:nvPr>
            <p:ph type="body" sz="quarter" idx="10"/>
          </p:nvPr>
        </p:nvSpPr>
        <p:spPr/>
        <p:txBody>
          <a:bodyPr/>
          <a:lstStyle/>
          <a:p>
            <a:pPr marL="285750" indent="-285750"/>
            <a:r>
              <a:rPr lang="en-US" sz="1800" dirty="0">
                <a:solidFill>
                  <a:schemeClr val="bg2">
                    <a:lumMod val="65000"/>
                    <a:lumOff val="35000"/>
                  </a:schemeClr>
                </a:solidFill>
              </a:rPr>
              <a:t>A web address or uniform resource locator (URL) is a reference to a web server.</a:t>
            </a:r>
          </a:p>
          <a:p>
            <a:pPr marL="285750" indent="-285750"/>
            <a:r>
              <a:rPr lang="en-US" sz="1800" dirty="0">
                <a:solidFill>
                  <a:schemeClr val="bg2">
                    <a:lumMod val="65000"/>
                    <a:lumOff val="35000"/>
                  </a:schemeClr>
                </a:solidFill>
              </a:rPr>
              <a:t>URLs and Uniform Resource Identifier (URIs) are the names most people associate with web addresses. </a:t>
            </a:r>
          </a:p>
          <a:p>
            <a:pPr marL="285750" indent="-285750"/>
            <a:r>
              <a:rPr lang="en-US" sz="1800" dirty="0">
                <a:solidFill>
                  <a:schemeClr val="bg2">
                    <a:lumMod val="65000"/>
                    <a:lumOff val="35000"/>
                  </a:schemeClr>
                </a:solidFill>
              </a:rPr>
              <a:t>A URL allows a web browser to establish a connection to that web server: it has three basic parts:</a:t>
            </a:r>
          </a:p>
          <a:p>
            <a:pPr marL="742950" lvl="1" indent="-285750">
              <a:buFont typeface="Courier New" panose="02070309020205020404" pitchFamily="49" charset="0"/>
              <a:buChar char="o"/>
            </a:pPr>
            <a:r>
              <a:rPr lang="en-US" b="1" dirty="0">
                <a:solidFill>
                  <a:schemeClr val="bg2">
                    <a:lumMod val="65000"/>
                    <a:lumOff val="35000"/>
                  </a:schemeClr>
                </a:solidFill>
              </a:rPr>
              <a:t>http</a:t>
            </a:r>
            <a:r>
              <a:rPr lang="en-US" dirty="0">
                <a:solidFill>
                  <a:schemeClr val="bg2">
                    <a:lumMod val="65000"/>
                    <a:lumOff val="35000"/>
                  </a:schemeClr>
                </a:solidFill>
              </a:rPr>
              <a:t> (the protocol or scheme)</a:t>
            </a:r>
          </a:p>
          <a:p>
            <a:pPr marL="742950" lvl="1" indent="-285750">
              <a:buFont typeface="Courier New" panose="02070309020205020404" pitchFamily="49" charset="0"/>
              <a:buChar char="o"/>
            </a:pPr>
            <a:r>
              <a:rPr lang="en-US" b="1" dirty="0">
                <a:solidFill>
                  <a:schemeClr val="bg2">
                    <a:lumMod val="65000"/>
                    <a:lumOff val="35000"/>
                  </a:schemeClr>
                </a:solidFill>
              </a:rPr>
              <a:t>www.cisco.com</a:t>
            </a:r>
            <a:r>
              <a:rPr lang="en-US" dirty="0">
                <a:solidFill>
                  <a:schemeClr val="bg2">
                    <a:lumMod val="65000"/>
                    <a:lumOff val="35000"/>
                  </a:schemeClr>
                </a:solidFill>
              </a:rPr>
              <a:t> (the server name)</a:t>
            </a:r>
          </a:p>
          <a:p>
            <a:pPr marL="742950" lvl="1" indent="-285750">
              <a:buFont typeface="Courier New" panose="02070309020205020404" pitchFamily="49" charset="0"/>
              <a:buChar char="o"/>
            </a:pPr>
            <a:r>
              <a:rPr lang="en-US" b="1" dirty="0">
                <a:solidFill>
                  <a:schemeClr val="bg2">
                    <a:lumMod val="65000"/>
                    <a:lumOff val="35000"/>
                  </a:schemeClr>
                </a:solidFill>
              </a:rPr>
              <a:t>index.html</a:t>
            </a:r>
            <a:r>
              <a:rPr lang="en-US" dirty="0">
                <a:solidFill>
                  <a:schemeClr val="bg2">
                    <a:lumMod val="65000"/>
                    <a:lumOff val="35000"/>
                  </a:schemeClr>
                </a:solidFill>
              </a:rPr>
              <a:t> (the specific filename requested)</a:t>
            </a:r>
          </a:p>
          <a:p>
            <a:pPr marL="285750" indent="-285750"/>
            <a:r>
              <a:rPr lang="en-US" sz="1800" dirty="0">
                <a:solidFill>
                  <a:schemeClr val="bg2">
                    <a:lumMod val="65000"/>
                    <a:lumOff val="35000"/>
                  </a:schemeClr>
                </a:solidFill>
              </a:rPr>
              <a:t>Using DNS, the server name portion of</a:t>
            </a:r>
            <a:br>
              <a:rPr lang="en-US" sz="1800" dirty="0">
                <a:solidFill>
                  <a:schemeClr val="bg2">
                    <a:lumMod val="65000"/>
                    <a:lumOff val="35000"/>
                  </a:schemeClr>
                </a:solidFill>
              </a:rPr>
            </a:br>
            <a:r>
              <a:rPr lang="en-US" sz="1800" dirty="0">
                <a:solidFill>
                  <a:schemeClr val="bg2">
                    <a:lumMod val="65000"/>
                    <a:lumOff val="35000"/>
                  </a:schemeClr>
                </a:solidFill>
              </a:rPr>
              <a:t>the URL is then translated to the</a:t>
            </a:r>
            <a:br>
              <a:rPr lang="en-US" sz="1800" dirty="0">
                <a:solidFill>
                  <a:schemeClr val="bg2">
                    <a:lumMod val="65000"/>
                    <a:lumOff val="35000"/>
                  </a:schemeClr>
                </a:solidFill>
              </a:rPr>
            </a:br>
            <a:r>
              <a:rPr lang="en-US" sz="1800" dirty="0">
                <a:solidFill>
                  <a:schemeClr val="bg2">
                    <a:lumMod val="65000"/>
                    <a:lumOff val="35000"/>
                  </a:schemeClr>
                </a:solidFill>
              </a:rPr>
              <a:t>associated IP address before the server</a:t>
            </a:r>
            <a:br>
              <a:rPr lang="en-US" sz="1800" dirty="0">
                <a:solidFill>
                  <a:schemeClr val="bg2">
                    <a:lumMod val="65000"/>
                    <a:lumOff val="35000"/>
                  </a:schemeClr>
                </a:solidFill>
              </a:rPr>
            </a:br>
            <a:r>
              <a:rPr lang="en-US" sz="1800" dirty="0">
                <a:solidFill>
                  <a:schemeClr val="bg2">
                    <a:lumMod val="65000"/>
                    <a:lumOff val="35000"/>
                  </a:schemeClr>
                </a:solidFill>
              </a:rPr>
              <a:t>can be contacted.</a:t>
            </a:r>
          </a:p>
          <a:p>
            <a:endParaRPr lang="en-US" sz="1800" dirty="0"/>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26" y="4185345"/>
            <a:ext cx="3970302" cy="214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6"/>
          <p:cNvSpPr txBox="1">
            <a:spLocks/>
          </p:cNvSpPr>
          <p:nvPr/>
        </p:nvSpPr>
        <p:spPr>
          <a:xfrm>
            <a:off x="6159288" y="3835057"/>
            <a:ext cx="2755970"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HTTP Protocol Step 1</a:t>
            </a:r>
          </a:p>
        </p:txBody>
      </p:sp>
    </p:spTree>
    <p:extLst>
      <p:ext uri="{BB962C8B-B14F-4D97-AF65-F5344CB8AC3E}">
        <p14:creationId xmlns:p14="http://schemas.microsoft.com/office/powerpoint/2010/main" val="15520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0" y="133136"/>
            <a:ext cx="9144000" cy="403098"/>
          </a:xfrm>
        </p:spPr>
        <p:txBody>
          <a:bodyPr/>
          <a:lstStyle/>
          <a:p>
            <a:pPr>
              <a:lnSpc>
                <a:spcPct val="100000"/>
              </a:lnSpc>
            </a:pPr>
            <a:r>
              <a:rPr lang="en-US" sz="2400" b="1" dirty="0">
                <a:solidFill>
                  <a:schemeClr val="bg2"/>
                </a:solidFill>
              </a:rPr>
              <a:t>Hypertext Transfer Protocol and Hypertext Markup Language</a:t>
            </a:r>
          </a:p>
        </p:txBody>
      </p:sp>
      <p:sp>
        <p:nvSpPr>
          <p:cNvPr id="3" name="Text Placeholder 2"/>
          <p:cNvSpPr>
            <a:spLocks noGrp="1"/>
          </p:cNvSpPr>
          <p:nvPr>
            <p:ph type="body" sz="quarter" idx="10"/>
          </p:nvPr>
        </p:nvSpPr>
        <p:spPr>
          <a:xfrm>
            <a:off x="127129" y="565561"/>
            <a:ext cx="4465320" cy="4965192"/>
          </a:xfrm>
        </p:spPr>
        <p:txBody>
          <a:bodyPr/>
          <a:lstStyle/>
          <a:p>
            <a:r>
              <a:rPr lang="en-US" dirty="0">
                <a:solidFill>
                  <a:schemeClr val="bg2">
                    <a:lumMod val="65000"/>
                    <a:lumOff val="35000"/>
                  </a:schemeClr>
                </a:solidFill>
              </a:rPr>
              <a:t>The browser sends a </a:t>
            </a:r>
            <a:r>
              <a:rPr lang="en-US" b="1" dirty="0">
                <a:solidFill>
                  <a:schemeClr val="bg2">
                    <a:lumMod val="65000"/>
                    <a:lumOff val="35000"/>
                  </a:schemeClr>
                </a:solidFill>
              </a:rPr>
              <a:t>GET</a:t>
            </a:r>
            <a:r>
              <a:rPr lang="en-US" dirty="0">
                <a:solidFill>
                  <a:schemeClr val="bg2">
                    <a:lumMod val="65000"/>
                    <a:lumOff val="35000"/>
                  </a:schemeClr>
                </a:solidFill>
              </a:rPr>
              <a:t> request to the server’s IP address and asks for the </a:t>
            </a:r>
            <a:r>
              <a:rPr lang="en-US" b="1" dirty="0">
                <a:solidFill>
                  <a:schemeClr val="bg2">
                    <a:lumMod val="65000"/>
                    <a:lumOff val="35000"/>
                  </a:schemeClr>
                </a:solidFill>
              </a:rPr>
              <a:t>index.html </a:t>
            </a:r>
            <a:r>
              <a:rPr lang="en-US" dirty="0">
                <a:solidFill>
                  <a:schemeClr val="bg2">
                    <a:lumMod val="65000"/>
                    <a:lumOff val="35000"/>
                  </a:schemeClr>
                </a:solidFill>
              </a:rPr>
              <a:t>file.</a:t>
            </a:r>
          </a:p>
          <a:p>
            <a:r>
              <a:rPr lang="en-US" dirty="0">
                <a:solidFill>
                  <a:schemeClr val="bg2">
                    <a:lumMod val="65000"/>
                    <a:lumOff val="35000"/>
                  </a:schemeClr>
                </a:solidFill>
              </a:rPr>
              <a:t>The server sends the requested file to the client. The </a:t>
            </a:r>
            <a:r>
              <a:rPr lang="en-US" b="1" dirty="0">
                <a:solidFill>
                  <a:schemeClr val="bg2">
                    <a:lumMod val="65000"/>
                    <a:lumOff val="35000"/>
                  </a:schemeClr>
                </a:solidFill>
              </a:rPr>
              <a:t>index.html </a:t>
            </a:r>
            <a:r>
              <a:rPr lang="en-US" dirty="0">
                <a:solidFill>
                  <a:schemeClr val="bg2">
                    <a:lumMod val="65000"/>
                    <a:lumOff val="35000"/>
                  </a:schemeClr>
                </a:solidFill>
              </a:rPr>
              <a:t>was specified in the URL and contains the HTML code for this web page.</a:t>
            </a:r>
          </a:p>
          <a:p>
            <a:r>
              <a:rPr lang="en-US" dirty="0">
                <a:solidFill>
                  <a:schemeClr val="bg2">
                    <a:lumMod val="65000"/>
                    <a:lumOff val="35000"/>
                  </a:schemeClr>
                </a:solidFill>
              </a:rPr>
              <a:t>The browser processes the HTML code and formats the page for the browser window based on the code in the file.</a:t>
            </a:r>
          </a:p>
          <a:p>
            <a:r>
              <a:rPr lang="pt-BR" dirty="0"/>
              <a:t>HTTP </a:t>
            </a:r>
          </a:p>
          <a:p>
            <a:pPr marL="692150" lvl="1" indent="-285750">
              <a:buFont typeface="Courier New" panose="02070309020205020404" pitchFamily="49" charset="0"/>
              <a:buChar char="o"/>
            </a:pPr>
            <a:r>
              <a:rPr lang="pt-BR" dirty="0"/>
              <a:t>Is a request/response protocol.</a:t>
            </a:r>
          </a:p>
          <a:p>
            <a:pPr marL="692150" lvl="1" indent="-285750">
              <a:buFont typeface="Courier New" panose="02070309020205020404" pitchFamily="49" charset="0"/>
              <a:buChar char="o"/>
            </a:pPr>
            <a:r>
              <a:rPr lang="en-US" dirty="0"/>
              <a:t>Has three common message types: GET, POST, PUT.</a:t>
            </a:r>
          </a:p>
          <a:p>
            <a:pPr marL="692150" lvl="1" indent="-285750">
              <a:buFont typeface="Courier New" panose="02070309020205020404" pitchFamily="49" charset="0"/>
              <a:buChar char="o"/>
            </a:pPr>
            <a:r>
              <a:rPr lang="en-US" dirty="0"/>
              <a:t>Is not secure. Messages can be intercepted.</a:t>
            </a:r>
          </a:p>
          <a:p>
            <a:endParaRPr lang="en-US" dirty="0">
              <a:solidFill>
                <a:schemeClr val="bg2">
                  <a:lumMod val="65000"/>
                  <a:lumOff val="35000"/>
                </a:schemeClr>
              </a:solidFill>
            </a:endParaRPr>
          </a:p>
          <a:p>
            <a:endParaRPr lang="en-US" dirty="0"/>
          </a:p>
        </p:txBody>
      </p:sp>
      <p:sp>
        <p:nvSpPr>
          <p:cNvPr id="4" name="Text Placeholder 6"/>
          <p:cNvSpPr txBox="1">
            <a:spLocks/>
          </p:cNvSpPr>
          <p:nvPr/>
        </p:nvSpPr>
        <p:spPr>
          <a:xfrm>
            <a:off x="6067591" y="3841623"/>
            <a:ext cx="2710649"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HTTP Protocol Step 3</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662" y="4276725"/>
            <a:ext cx="3994027" cy="2037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8662" y="1365758"/>
            <a:ext cx="4086731" cy="2475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 Placeholder 6"/>
          <p:cNvSpPr txBox="1">
            <a:spLocks/>
          </p:cNvSpPr>
          <p:nvPr/>
        </p:nvSpPr>
        <p:spPr>
          <a:xfrm>
            <a:off x="5968531" y="971336"/>
            <a:ext cx="2710649" cy="435102"/>
          </a:xfrm>
          <a:prstGeom prst="rect">
            <a:avLst/>
          </a:prstGeom>
        </p:spPr>
        <p:txBody>
          <a:bodyPr/>
          <a:lstStyle>
            <a:lvl1pPr marL="228600" indent="-228600" algn="l" defTabSz="914400" rtl="0" eaLnBrk="1" latinLnBrk="0" hangingPunct="1">
              <a:lnSpc>
                <a:spcPct val="95000"/>
              </a:lnSpc>
              <a:spcBef>
                <a:spcPts val="1440"/>
              </a:spcBef>
              <a:buClr>
                <a:srgbClr val="493B93"/>
              </a:buClr>
              <a:buSzPct val="90000"/>
              <a:buFont typeface="Arial" pitchFamily="34" charset="0"/>
              <a:buChar char="•"/>
              <a:tabLst/>
              <a:defRPr lang="en-US" sz="2200" kern="1200" dirty="0" smtClean="0">
                <a:solidFill>
                  <a:srgbClr val="435153"/>
                </a:solidFill>
                <a:latin typeface="+mj-lt"/>
                <a:ea typeface="+mn-ea"/>
                <a:cs typeface="+mn-cs"/>
              </a:defRPr>
            </a:lvl1pPr>
            <a:lvl2pPr marL="406400" indent="0" algn="l" defTabSz="914400" rtl="0" eaLnBrk="1" latinLnBrk="0" hangingPunct="1">
              <a:lnSpc>
                <a:spcPct val="95000"/>
              </a:lnSpc>
              <a:spcBef>
                <a:spcPts val="840"/>
              </a:spcBef>
              <a:buClr>
                <a:schemeClr val="tx2"/>
              </a:buClr>
              <a:buFontTx/>
              <a:buNone/>
              <a:defRPr lang="en-US" sz="1800" kern="1200" dirty="0" smtClean="0">
                <a:solidFill>
                  <a:srgbClr val="435153"/>
                </a:solidFill>
                <a:latin typeface="+mj-lt"/>
                <a:ea typeface="+mn-ea"/>
                <a:cs typeface="+mn-cs"/>
              </a:defRPr>
            </a:lvl2pPr>
            <a:lvl3pPr marL="571500" indent="-1588" algn="l" defTabSz="914400" rtl="0" eaLnBrk="1" latinLnBrk="0" hangingPunct="1">
              <a:lnSpc>
                <a:spcPct val="95000"/>
              </a:lnSpc>
              <a:spcBef>
                <a:spcPts val="840"/>
              </a:spcBef>
              <a:buFont typeface="Arial" pitchFamily="34" charset="0"/>
              <a:buNone/>
              <a:defRPr lang="en-US" sz="1600" kern="1200" dirty="0" smtClean="0">
                <a:solidFill>
                  <a:srgbClr val="435153"/>
                </a:solidFill>
                <a:latin typeface="+mj-lt"/>
                <a:ea typeface="+mn-ea"/>
                <a:cs typeface="+mn-cs"/>
              </a:defRPr>
            </a:lvl3pPr>
            <a:lvl4pPr marL="688975" indent="0" algn="l" defTabSz="914400" rtl="0" eaLnBrk="1" latinLnBrk="0" hangingPunct="1">
              <a:lnSpc>
                <a:spcPct val="95000"/>
              </a:lnSpc>
              <a:spcBef>
                <a:spcPts val="840"/>
              </a:spcBef>
              <a:buFont typeface="Arial" pitchFamily="34" charset="0"/>
              <a:buNone/>
              <a:defRPr lang="en-US" sz="1400" kern="1200" dirty="0" smtClean="0">
                <a:solidFill>
                  <a:srgbClr val="435153"/>
                </a:solidFill>
                <a:latin typeface="+mj-lt"/>
                <a:ea typeface="+mn-ea"/>
                <a:cs typeface="+mn-cs"/>
              </a:defRPr>
            </a:lvl4pPr>
            <a:lvl5pPr marL="801688" indent="0" algn="l" defTabSz="914400" rtl="0" eaLnBrk="1" latinLnBrk="0" hangingPunct="1">
              <a:lnSpc>
                <a:spcPct val="95000"/>
              </a:lnSpc>
              <a:spcBef>
                <a:spcPts val="840"/>
              </a:spcBef>
              <a:buFont typeface="Arial" pitchFamily="34" charset="0"/>
              <a:buNone/>
              <a:defRPr lang="en-US" sz="1400" kern="1200" dirty="0">
                <a:solidFill>
                  <a:srgbClr val="435153"/>
                </a:solidFill>
                <a:latin typeface="+mj-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HTTP Protocol Step 2</a:t>
            </a:r>
          </a:p>
        </p:txBody>
      </p:sp>
    </p:spTree>
    <p:extLst>
      <p:ext uri="{BB962C8B-B14F-4D97-AF65-F5344CB8AC3E}">
        <p14:creationId xmlns:p14="http://schemas.microsoft.com/office/powerpoint/2010/main" val="3562454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8600" y="99706"/>
            <a:ext cx="8588861" cy="838200"/>
          </a:xfrm>
        </p:spPr>
        <p:txBody>
          <a:bodyPr/>
          <a:lstStyle/>
          <a:p>
            <a:pPr>
              <a:lnSpc>
                <a:spcPct val="100000"/>
              </a:lnSpc>
            </a:pPr>
            <a:r>
              <a:rPr lang="en-US" sz="3200" b="1" dirty="0"/>
              <a:t>Email Protocols </a:t>
            </a: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0600" y="1776106"/>
            <a:ext cx="3636861" cy="3529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a:xfrm>
            <a:off x="169260" y="937906"/>
            <a:ext cx="5126071" cy="5108052"/>
          </a:xfrm>
        </p:spPr>
        <p:txBody>
          <a:bodyPr/>
          <a:lstStyle/>
          <a:p>
            <a:pPr marL="285750" indent="-285750"/>
            <a:r>
              <a:rPr lang="en-US" sz="1800" dirty="0">
                <a:solidFill>
                  <a:schemeClr val="bg2">
                    <a:lumMod val="65000"/>
                    <a:lumOff val="35000"/>
                  </a:schemeClr>
                </a:solidFill>
              </a:rPr>
              <a:t>Email is a store-and-forward method of sending, storing, and retrieving electronic messages.</a:t>
            </a:r>
          </a:p>
          <a:p>
            <a:pPr marL="285750" indent="-285750"/>
            <a:r>
              <a:rPr lang="en-US" sz="1800" dirty="0">
                <a:solidFill>
                  <a:schemeClr val="bg2">
                    <a:lumMod val="65000"/>
                    <a:lumOff val="35000"/>
                  </a:schemeClr>
                </a:solidFill>
              </a:rPr>
              <a:t>Email clients do not communicate directly when sending email: Email relies on three separate protocols for operation: SMTP (sending),POP (retrieving), IMAP (retrieving).</a:t>
            </a:r>
          </a:p>
          <a:p>
            <a:pPr marL="285750" indent="-285750"/>
            <a:r>
              <a:rPr lang="en-US" sz="1800" dirty="0">
                <a:solidFill>
                  <a:schemeClr val="bg2">
                    <a:lumMod val="65000"/>
                    <a:lumOff val="35000"/>
                  </a:schemeClr>
                </a:solidFill>
              </a:rPr>
              <a:t>Email messages are stored in databases on mail servers.</a:t>
            </a:r>
          </a:p>
          <a:p>
            <a:pPr marL="285750" indent="-285750"/>
            <a:r>
              <a:rPr lang="en-US" sz="1800" dirty="0">
                <a:solidFill>
                  <a:schemeClr val="bg2">
                    <a:lumMod val="65000"/>
                    <a:lumOff val="35000"/>
                  </a:schemeClr>
                </a:solidFill>
              </a:rPr>
              <a:t>Email clients communicate with mail</a:t>
            </a:r>
            <a:br>
              <a:rPr lang="en-US" sz="1800" dirty="0">
                <a:solidFill>
                  <a:schemeClr val="bg2">
                    <a:lumMod val="65000"/>
                    <a:lumOff val="35000"/>
                  </a:schemeClr>
                </a:solidFill>
              </a:rPr>
            </a:br>
            <a:r>
              <a:rPr lang="en-US" sz="1800" dirty="0">
                <a:solidFill>
                  <a:schemeClr val="bg2">
                    <a:lumMod val="65000"/>
                    <a:lumOff val="35000"/>
                  </a:schemeClr>
                </a:solidFill>
              </a:rPr>
              <a:t>servers to send and receive email.</a:t>
            </a:r>
          </a:p>
          <a:p>
            <a:pPr marL="285750" indent="-285750"/>
            <a:r>
              <a:rPr lang="en-US" sz="1800" dirty="0">
                <a:solidFill>
                  <a:schemeClr val="bg2">
                    <a:lumMod val="65000"/>
                    <a:lumOff val="35000"/>
                  </a:schemeClr>
                </a:solidFill>
              </a:rPr>
              <a:t>Mail servers communicate with other mail servers to transport messages from one domain to another.</a:t>
            </a:r>
          </a:p>
        </p:txBody>
      </p:sp>
    </p:spTree>
    <p:extLst>
      <p:ext uri="{BB962C8B-B14F-4D97-AF65-F5344CB8AC3E}">
        <p14:creationId xmlns:p14="http://schemas.microsoft.com/office/powerpoint/2010/main" val="69160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16811" y="76893"/>
            <a:ext cx="3686449" cy="838200"/>
          </a:xfrm>
        </p:spPr>
        <p:txBody>
          <a:bodyPr/>
          <a:lstStyle/>
          <a:p>
            <a:pPr>
              <a:lnSpc>
                <a:spcPct val="100000"/>
              </a:lnSpc>
            </a:pPr>
            <a:r>
              <a:rPr lang="en-US" sz="3200" b="1" dirty="0">
                <a:solidFill>
                  <a:schemeClr val="bg2"/>
                </a:solidFill>
              </a:rPr>
              <a:t>SMTP Operation </a:t>
            </a:r>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241" y="2039528"/>
            <a:ext cx="4068417"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a:xfrm>
            <a:off x="216811" y="1080932"/>
            <a:ext cx="4294430" cy="4965192"/>
          </a:xfrm>
        </p:spPr>
        <p:txBody>
          <a:bodyPr/>
          <a:lstStyle/>
          <a:p>
            <a:pPr marL="285750" indent="-285750"/>
            <a:r>
              <a:rPr lang="en-US" sz="1800" dirty="0">
                <a:solidFill>
                  <a:schemeClr val="bg2">
                    <a:lumMod val="65000"/>
                    <a:lumOff val="35000"/>
                  </a:schemeClr>
                </a:solidFill>
              </a:rPr>
              <a:t>An SMTP client sends an email by connecting to a SMTP server on port 25.</a:t>
            </a:r>
          </a:p>
          <a:p>
            <a:pPr marL="285750" indent="-285750"/>
            <a:r>
              <a:rPr lang="en-US" sz="1800" dirty="0">
                <a:solidFill>
                  <a:schemeClr val="bg2">
                    <a:lumMod val="65000"/>
                    <a:lumOff val="35000"/>
                  </a:schemeClr>
                </a:solidFill>
              </a:rPr>
              <a:t>The server receives the message and stores it message in a local mailbox or relays the message to another mail server.</a:t>
            </a:r>
          </a:p>
          <a:p>
            <a:pPr marL="285750" indent="-285750"/>
            <a:r>
              <a:rPr lang="en-US" sz="1800" dirty="0">
                <a:solidFill>
                  <a:schemeClr val="bg2">
                    <a:lumMod val="65000"/>
                    <a:lumOff val="35000"/>
                  </a:schemeClr>
                </a:solidFill>
              </a:rPr>
              <a:t>Users use email clients to retrieve messages stored on the server.</a:t>
            </a:r>
          </a:p>
          <a:p>
            <a:pPr marL="285750" indent="-285750"/>
            <a:r>
              <a:rPr lang="en-US" sz="1800" dirty="0">
                <a:solidFill>
                  <a:schemeClr val="bg2">
                    <a:lumMod val="65000"/>
                    <a:lumOff val="35000"/>
                  </a:schemeClr>
                </a:solidFill>
              </a:rPr>
              <a:t>IMAP and POP are two protocols commonly used by email clients to retrieve messages.</a:t>
            </a:r>
          </a:p>
          <a:p>
            <a:endParaRPr lang="en-US" sz="1800" dirty="0"/>
          </a:p>
        </p:txBody>
      </p:sp>
    </p:spTree>
    <p:extLst>
      <p:ext uri="{BB962C8B-B14F-4D97-AF65-F5344CB8AC3E}">
        <p14:creationId xmlns:p14="http://schemas.microsoft.com/office/powerpoint/2010/main" val="726555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POP Operation </a:t>
            </a:r>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9855" y="3234798"/>
            <a:ext cx="3911600" cy="25948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p:txBody>
          <a:bodyPr/>
          <a:lstStyle/>
          <a:p>
            <a:pPr marL="285750" indent="-285750"/>
            <a:r>
              <a:rPr lang="en-US" dirty="0">
                <a:solidFill>
                  <a:schemeClr val="bg2">
                    <a:lumMod val="65000"/>
                    <a:lumOff val="35000"/>
                  </a:schemeClr>
                </a:solidFill>
              </a:rPr>
              <a:t>Messages are downloaded from the server to the client.</a:t>
            </a:r>
          </a:p>
          <a:p>
            <a:pPr marL="285750" indent="-285750"/>
            <a:r>
              <a:rPr lang="en-US" dirty="0">
                <a:solidFill>
                  <a:schemeClr val="bg2">
                    <a:lumMod val="65000"/>
                    <a:lumOff val="35000"/>
                  </a:schemeClr>
                </a:solidFill>
              </a:rPr>
              <a:t>The server listens on port 110 TCP for client requests.</a:t>
            </a:r>
          </a:p>
          <a:p>
            <a:pPr marL="285750" indent="-285750"/>
            <a:r>
              <a:rPr lang="en-US" dirty="0">
                <a:solidFill>
                  <a:schemeClr val="bg2">
                    <a:lumMod val="65000"/>
                    <a:lumOff val="35000"/>
                  </a:schemeClr>
                </a:solidFill>
              </a:rPr>
              <a:t>Email clients direct their POP requests to mail servers on port TCP 110.</a:t>
            </a:r>
          </a:p>
          <a:p>
            <a:pPr marL="285750" indent="-285750"/>
            <a:r>
              <a:rPr lang="en-US" dirty="0">
                <a:solidFill>
                  <a:schemeClr val="bg2">
                    <a:lumMod val="65000"/>
                    <a:lumOff val="35000"/>
                  </a:schemeClr>
                </a:solidFill>
              </a:rPr>
              <a:t>The POP client and server exchange commands and responses until the connection is closed or aborted.</a:t>
            </a:r>
          </a:p>
          <a:p>
            <a:pPr marL="285750" indent="-285750"/>
            <a:r>
              <a:rPr lang="en-US" dirty="0">
                <a:solidFill>
                  <a:schemeClr val="bg2">
                    <a:lumMod val="65000"/>
                    <a:lumOff val="35000"/>
                  </a:schemeClr>
                </a:solidFill>
              </a:rPr>
              <a:t>POP allows for email messages</a:t>
            </a:r>
            <a:br>
              <a:rPr lang="en-US" dirty="0">
                <a:solidFill>
                  <a:schemeClr val="bg2">
                    <a:lumMod val="65000"/>
                    <a:lumOff val="35000"/>
                  </a:schemeClr>
                </a:solidFill>
              </a:rPr>
            </a:br>
            <a:r>
              <a:rPr lang="en-US" dirty="0">
                <a:solidFill>
                  <a:schemeClr val="bg2">
                    <a:lumMod val="65000"/>
                    <a:lumOff val="35000"/>
                  </a:schemeClr>
                </a:solidFill>
              </a:rPr>
              <a:t>to be downloaded to the client’s</a:t>
            </a:r>
            <a:br>
              <a:rPr lang="en-US" dirty="0">
                <a:solidFill>
                  <a:schemeClr val="bg2">
                    <a:lumMod val="65000"/>
                    <a:lumOff val="35000"/>
                  </a:schemeClr>
                </a:solidFill>
              </a:rPr>
            </a:br>
            <a:r>
              <a:rPr lang="en-US" dirty="0">
                <a:solidFill>
                  <a:schemeClr val="bg2">
                    <a:lumMod val="65000"/>
                    <a:lumOff val="35000"/>
                  </a:schemeClr>
                </a:solidFill>
              </a:rPr>
              <a:t>device (computer or phone) and</a:t>
            </a:r>
            <a:br>
              <a:rPr lang="en-US" dirty="0">
                <a:solidFill>
                  <a:schemeClr val="bg2">
                    <a:lumMod val="65000"/>
                    <a:lumOff val="35000"/>
                  </a:schemeClr>
                </a:solidFill>
              </a:rPr>
            </a:br>
            <a:r>
              <a:rPr lang="en-US" dirty="0">
                <a:solidFill>
                  <a:schemeClr val="bg2">
                    <a:lumMod val="65000"/>
                    <a:lumOff val="35000"/>
                  </a:schemeClr>
                </a:solidFill>
              </a:rPr>
              <a:t>removed from the server.</a:t>
            </a:r>
          </a:p>
          <a:p>
            <a:pPr marL="285750" indent="-285750"/>
            <a:r>
              <a:rPr lang="en-US" dirty="0">
                <a:solidFill>
                  <a:schemeClr val="bg2">
                    <a:lumMod val="65000"/>
                    <a:lumOff val="35000"/>
                  </a:schemeClr>
                </a:solidFill>
              </a:rPr>
              <a:t>There is no centralized location</a:t>
            </a:r>
            <a:br>
              <a:rPr lang="en-US" dirty="0">
                <a:solidFill>
                  <a:schemeClr val="bg2">
                    <a:lumMod val="65000"/>
                    <a:lumOff val="35000"/>
                  </a:schemeClr>
                </a:solidFill>
              </a:rPr>
            </a:br>
            <a:r>
              <a:rPr lang="en-US" dirty="0">
                <a:solidFill>
                  <a:schemeClr val="bg2">
                    <a:lumMod val="65000"/>
                    <a:lumOff val="35000"/>
                  </a:schemeClr>
                </a:solidFill>
              </a:rPr>
              <a:t>where email messages are kept.</a:t>
            </a:r>
          </a:p>
          <a:p>
            <a:pPr marL="285750" indent="-285750"/>
            <a:r>
              <a:rPr lang="en-US" dirty="0">
                <a:solidFill>
                  <a:schemeClr val="bg2">
                    <a:lumMod val="65000"/>
                    <a:lumOff val="35000"/>
                  </a:schemeClr>
                </a:solidFill>
              </a:rPr>
              <a:t>A downloaded message resides on</a:t>
            </a:r>
            <a:br>
              <a:rPr lang="en-US" dirty="0">
                <a:solidFill>
                  <a:schemeClr val="bg2">
                    <a:lumMod val="65000"/>
                    <a:lumOff val="35000"/>
                  </a:schemeClr>
                </a:solidFill>
              </a:rPr>
            </a:br>
            <a:r>
              <a:rPr lang="en-US" dirty="0">
                <a:solidFill>
                  <a:schemeClr val="bg2">
                    <a:lumMod val="65000"/>
                    <a:lumOff val="35000"/>
                  </a:schemeClr>
                </a:solidFill>
              </a:rPr>
              <a:t>the device that triggered the download.</a:t>
            </a:r>
          </a:p>
        </p:txBody>
      </p:sp>
    </p:spTree>
    <p:extLst>
      <p:ext uri="{BB962C8B-B14F-4D97-AF65-F5344CB8AC3E}">
        <p14:creationId xmlns:p14="http://schemas.microsoft.com/office/powerpoint/2010/main" val="582514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3200" dirty="0"/>
              <a:t>IMAP Operation </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3949" y="3358033"/>
            <a:ext cx="3838575" cy="2948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p:txBody>
          <a:bodyPr/>
          <a:lstStyle/>
          <a:p>
            <a:pPr marL="285750" indent="-285750"/>
            <a:r>
              <a:rPr lang="en-US" sz="1800" dirty="0">
                <a:solidFill>
                  <a:schemeClr val="bg2">
                    <a:lumMod val="65000"/>
                    <a:lumOff val="35000"/>
                  </a:schemeClr>
                </a:solidFill>
              </a:rPr>
              <a:t>IMAP is another protocol used to retrieve email messages.</a:t>
            </a:r>
          </a:p>
          <a:p>
            <a:pPr marL="285750" indent="-285750"/>
            <a:r>
              <a:rPr lang="en-US" sz="1800" dirty="0">
                <a:solidFill>
                  <a:schemeClr val="bg2">
                    <a:lumMod val="65000"/>
                    <a:lumOff val="35000"/>
                  </a:schemeClr>
                </a:solidFill>
              </a:rPr>
              <a:t>Allows for messages to be displayed to the user rather than downloaded. </a:t>
            </a:r>
          </a:p>
          <a:p>
            <a:pPr marL="285750" indent="-285750"/>
            <a:r>
              <a:rPr lang="en-US" sz="1800" dirty="0">
                <a:solidFill>
                  <a:schemeClr val="bg2">
                    <a:lumMod val="65000"/>
                    <a:lumOff val="35000"/>
                  </a:schemeClr>
                </a:solidFill>
              </a:rPr>
              <a:t>The original messages reside on the server until manually deleted by the user.</a:t>
            </a:r>
          </a:p>
          <a:p>
            <a:pPr marL="285750" indent="-285750"/>
            <a:r>
              <a:rPr lang="en-US" sz="1800" dirty="0">
                <a:solidFill>
                  <a:schemeClr val="bg2">
                    <a:lumMod val="65000"/>
                    <a:lumOff val="35000"/>
                  </a:schemeClr>
                </a:solidFill>
              </a:rPr>
              <a:t>Users view copies of the messages in their email client software.</a:t>
            </a:r>
          </a:p>
          <a:p>
            <a:pPr marL="285750" indent="-285750"/>
            <a:r>
              <a:rPr lang="en-US" sz="1800" dirty="0">
                <a:solidFill>
                  <a:schemeClr val="bg2">
                    <a:lumMod val="65000"/>
                    <a:lumOff val="35000"/>
                  </a:schemeClr>
                </a:solidFill>
              </a:rPr>
              <a:t>Users can create a folder hierarchy on</a:t>
            </a:r>
            <a:br>
              <a:rPr lang="en-US" sz="1800" dirty="0">
                <a:solidFill>
                  <a:schemeClr val="bg2">
                    <a:lumMod val="65000"/>
                    <a:lumOff val="35000"/>
                  </a:schemeClr>
                </a:solidFill>
              </a:rPr>
            </a:br>
            <a:r>
              <a:rPr lang="en-US" sz="1800" dirty="0">
                <a:solidFill>
                  <a:schemeClr val="bg2">
                    <a:lumMod val="65000"/>
                    <a:lumOff val="35000"/>
                  </a:schemeClr>
                </a:solidFill>
              </a:rPr>
              <a:t>the server to organize and store mail.</a:t>
            </a:r>
          </a:p>
          <a:p>
            <a:pPr marL="285750" indent="-285750"/>
            <a:r>
              <a:rPr lang="en-US" sz="1800" dirty="0">
                <a:solidFill>
                  <a:schemeClr val="bg2">
                    <a:lumMod val="65000"/>
                    <a:lumOff val="35000"/>
                  </a:schemeClr>
                </a:solidFill>
              </a:rPr>
              <a:t>That file structure is displayed on the</a:t>
            </a:r>
            <a:br>
              <a:rPr lang="en-US" sz="1800" dirty="0">
                <a:solidFill>
                  <a:schemeClr val="bg2">
                    <a:lumMod val="65000"/>
                    <a:lumOff val="35000"/>
                  </a:schemeClr>
                </a:solidFill>
              </a:rPr>
            </a:br>
            <a:r>
              <a:rPr lang="en-US" sz="1800" dirty="0">
                <a:solidFill>
                  <a:schemeClr val="bg2">
                    <a:lumMod val="65000"/>
                    <a:lumOff val="35000"/>
                  </a:schemeClr>
                </a:solidFill>
              </a:rPr>
              <a:t>email client.</a:t>
            </a:r>
          </a:p>
          <a:p>
            <a:pPr marL="285750" indent="-285750"/>
            <a:r>
              <a:rPr lang="en-US" sz="1800" dirty="0">
                <a:solidFill>
                  <a:schemeClr val="bg2">
                    <a:lumMod val="65000"/>
                    <a:lumOff val="35000"/>
                  </a:schemeClr>
                </a:solidFill>
              </a:rPr>
              <a:t>When a user decides to delete a message,</a:t>
            </a:r>
            <a:br>
              <a:rPr lang="en-US" sz="1800" dirty="0">
                <a:solidFill>
                  <a:schemeClr val="bg2">
                    <a:lumMod val="65000"/>
                    <a:lumOff val="35000"/>
                  </a:schemeClr>
                </a:solidFill>
              </a:rPr>
            </a:br>
            <a:r>
              <a:rPr lang="en-US" sz="1800" dirty="0">
                <a:solidFill>
                  <a:schemeClr val="bg2">
                    <a:lumMod val="65000"/>
                    <a:lumOff val="35000"/>
                  </a:schemeClr>
                </a:solidFill>
              </a:rPr>
              <a:t>the server synchronizes that action and</a:t>
            </a:r>
            <a:br>
              <a:rPr lang="en-US" sz="1800" dirty="0">
                <a:solidFill>
                  <a:schemeClr val="bg2">
                    <a:lumMod val="65000"/>
                    <a:lumOff val="35000"/>
                  </a:schemeClr>
                </a:solidFill>
              </a:rPr>
            </a:br>
            <a:r>
              <a:rPr lang="en-US" sz="1800" dirty="0">
                <a:solidFill>
                  <a:schemeClr val="bg2">
                    <a:lumMod val="65000"/>
                    <a:lumOff val="35000"/>
                  </a:schemeClr>
                </a:solidFill>
              </a:rPr>
              <a:t>deletes the message from the server.</a:t>
            </a:r>
          </a:p>
        </p:txBody>
      </p:sp>
    </p:spTree>
    <p:extLst>
      <p:ext uri="{BB962C8B-B14F-4D97-AF65-F5344CB8AC3E}">
        <p14:creationId xmlns:p14="http://schemas.microsoft.com/office/powerpoint/2010/main" val="2874395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16811" y="0"/>
            <a:ext cx="8588861" cy="838200"/>
          </a:xfrm>
        </p:spPr>
        <p:txBody>
          <a:bodyPr/>
          <a:lstStyle/>
          <a:p>
            <a:r>
              <a:rPr lang="en-US" sz="3200" dirty="0">
                <a:solidFill>
                  <a:schemeClr val="bg2"/>
                </a:solidFill>
              </a:rPr>
              <a:t>Domain Name Service</a:t>
            </a:r>
          </a:p>
        </p:txBody>
      </p:sp>
      <p:sp>
        <p:nvSpPr>
          <p:cNvPr id="3" name="Text Placeholder 2"/>
          <p:cNvSpPr>
            <a:spLocks noGrp="1"/>
          </p:cNvSpPr>
          <p:nvPr>
            <p:ph type="body" sz="quarter" idx="10"/>
          </p:nvPr>
        </p:nvSpPr>
        <p:spPr>
          <a:xfrm>
            <a:off x="216811" y="838199"/>
            <a:ext cx="4495866" cy="5253111"/>
          </a:xfrm>
        </p:spPr>
        <p:txBody>
          <a:bodyPr/>
          <a:lstStyle/>
          <a:p>
            <a:pPr marL="285750" indent="-285750"/>
            <a:r>
              <a:rPr lang="en-US" dirty="0">
                <a:solidFill>
                  <a:schemeClr val="bg2">
                    <a:lumMod val="65000"/>
                    <a:lumOff val="35000"/>
                  </a:schemeClr>
                </a:solidFill>
              </a:rPr>
              <a:t>While IP addresses are crucial for network communication, they are not easy to memorize.</a:t>
            </a:r>
          </a:p>
          <a:p>
            <a:pPr marL="285750" indent="-285750"/>
            <a:r>
              <a:rPr lang="en-US" dirty="0">
                <a:solidFill>
                  <a:schemeClr val="bg2">
                    <a:lumMod val="65000"/>
                    <a:lumOff val="35000"/>
                  </a:schemeClr>
                </a:solidFill>
              </a:rPr>
              <a:t>Domain names are created to make server addresses more user-friendly.</a:t>
            </a:r>
          </a:p>
          <a:p>
            <a:pPr marL="285750" indent="-285750"/>
            <a:r>
              <a:rPr lang="en-US" dirty="0">
                <a:solidFill>
                  <a:schemeClr val="bg2">
                    <a:lumMod val="65000"/>
                    <a:lumOff val="35000"/>
                  </a:schemeClr>
                </a:solidFill>
              </a:rPr>
              <a:t>However, computers still need the actual numeric address before they can communicate.</a:t>
            </a:r>
          </a:p>
          <a:p>
            <a:pPr marL="285750" indent="-285750"/>
            <a:r>
              <a:rPr lang="en-US" dirty="0">
                <a:solidFill>
                  <a:schemeClr val="bg2">
                    <a:lumMod val="65000"/>
                    <a:lumOff val="35000"/>
                  </a:schemeClr>
                </a:solidFill>
              </a:rPr>
              <a:t>The DNS protocol allows for the dynamic translation of a domain name into the correct IP address.</a:t>
            </a:r>
          </a:p>
          <a:p>
            <a:pPr marL="285750" indent="-285750"/>
            <a:r>
              <a:rPr lang="en-US" dirty="0">
                <a:solidFill>
                  <a:schemeClr val="bg2">
                    <a:lumMod val="65000"/>
                    <a:lumOff val="35000"/>
                  </a:schemeClr>
                </a:solidFill>
              </a:rPr>
              <a:t>The DNS protocol communications using a single format called a message.</a:t>
            </a:r>
            <a:endParaRPr lang="en-US" dirty="0"/>
          </a:p>
          <a:p>
            <a:pPr marL="285750" indent="-285750"/>
            <a:endParaRPr lang="en-US" dirty="0">
              <a:solidFill>
                <a:schemeClr val="bg2">
                  <a:lumMod val="65000"/>
                  <a:lumOff val="35000"/>
                </a:schemeClr>
              </a:solidFill>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785" y="1068273"/>
            <a:ext cx="3880961" cy="1725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2785" y="3348988"/>
            <a:ext cx="3984306" cy="1394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2785" y="4944240"/>
            <a:ext cx="4042887" cy="916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2759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90676" y="838200"/>
            <a:ext cx="5300190" cy="5166815"/>
          </a:xfrm>
        </p:spPr>
        <p:txBody>
          <a:bodyPr/>
          <a:lstStyle/>
          <a:p>
            <a:pPr marL="285750" indent="-285750"/>
            <a:r>
              <a:rPr lang="en-US" sz="1600" dirty="0">
                <a:solidFill>
                  <a:schemeClr val="bg2">
                    <a:lumMod val="65000"/>
                    <a:lumOff val="35000"/>
                  </a:schemeClr>
                </a:solidFill>
              </a:rPr>
              <a:t>DNS supports different types of records. Some of these record types are:</a:t>
            </a:r>
          </a:p>
          <a:p>
            <a:pPr marL="457200" lvl="1"/>
            <a:r>
              <a:rPr lang="en-US" sz="1400" b="1" dirty="0">
                <a:solidFill>
                  <a:schemeClr val="bg2">
                    <a:lumMod val="65000"/>
                    <a:lumOff val="35000"/>
                  </a:schemeClr>
                </a:solidFill>
              </a:rPr>
              <a:t>A</a:t>
            </a:r>
            <a:r>
              <a:rPr lang="en-US" sz="1400" dirty="0">
                <a:solidFill>
                  <a:schemeClr val="bg2">
                    <a:lumMod val="65000"/>
                    <a:lumOff val="35000"/>
                  </a:schemeClr>
                </a:solidFill>
              </a:rPr>
              <a:t> - An end device IPv4 address</a:t>
            </a:r>
          </a:p>
          <a:p>
            <a:pPr marL="457200" lvl="1"/>
            <a:r>
              <a:rPr lang="en-US" sz="1400" b="1" dirty="0">
                <a:solidFill>
                  <a:schemeClr val="bg2">
                    <a:lumMod val="65000"/>
                    <a:lumOff val="35000"/>
                  </a:schemeClr>
                </a:solidFill>
              </a:rPr>
              <a:t>NS</a:t>
            </a:r>
            <a:r>
              <a:rPr lang="en-US" sz="1400" dirty="0">
                <a:solidFill>
                  <a:schemeClr val="bg2">
                    <a:lumMod val="65000"/>
                    <a:lumOff val="35000"/>
                  </a:schemeClr>
                </a:solidFill>
              </a:rPr>
              <a:t> - An authoritative name server</a:t>
            </a:r>
          </a:p>
          <a:p>
            <a:pPr marL="457200" lvl="1"/>
            <a:r>
              <a:rPr lang="en-US" sz="1400" b="1" dirty="0">
                <a:solidFill>
                  <a:schemeClr val="bg2">
                    <a:lumMod val="65000"/>
                    <a:lumOff val="35000"/>
                  </a:schemeClr>
                </a:solidFill>
              </a:rPr>
              <a:t>MX</a:t>
            </a:r>
            <a:r>
              <a:rPr lang="en-US" sz="1400" dirty="0">
                <a:solidFill>
                  <a:schemeClr val="bg2">
                    <a:lumMod val="65000"/>
                    <a:lumOff val="35000"/>
                  </a:schemeClr>
                </a:solidFill>
              </a:rPr>
              <a:t> - A mail exchange record</a:t>
            </a:r>
          </a:p>
          <a:p>
            <a:pPr marL="285750" indent="-285750"/>
            <a:r>
              <a:rPr lang="en-US" sz="1600" dirty="0">
                <a:solidFill>
                  <a:schemeClr val="bg2">
                    <a:lumMod val="65000"/>
                    <a:lumOff val="35000"/>
                  </a:schemeClr>
                </a:solidFill>
              </a:rPr>
              <a:t>DNS servers will first look at its own records to resolve the name. If the server is unable to resolve the name using its locally stored records, it relays the query to other servers.</a:t>
            </a:r>
          </a:p>
          <a:p>
            <a:pPr marL="285750" indent="-285750"/>
            <a:r>
              <a:rPr lang="en-US" sz="1600" dirty="0">
                <a:solidFill>
                  <a:schemeClr val="bg2">
                    <a:lumMod val="65000"/>
                    <a:lumOff val="35000"/>
                  </a:schemeClr>
                </a:solidFill>
              </a:rPr>
              <a:t>The response is then forwarded to</a:t>
            </a:r>
            <a:br>
              <a:rPr lang="en-US" sz="1600" dirty="0">
                <a:solidFill>
                  <a:schemeClr val="bg2">
                    <a:lumMod val="65000"/>
                    <a:lumOff val="35000"/>
                  </a:schemeClr>
                </a:solidFill>
              </a:rPr>
            </a:br>
            <a:r>
              <a:rPr lang="en-US" sz="1600" dirty="0">
                <a:solidFill>
                  <a:schemeClr val="bg2">
                    <a:lumMod val="65000"/>
                    <a:lumOff val="35000"/>
                  </a:schemeClr>
                </a:solidFill>
              </a:rPr>
              <a:t>the requesting client.</a:t>
            </a:r>
          </a:p>
          <a:p>
            <a:pPr marL="285750" indent="-285750"/>
            <a:r>
              <a:rPr lang="en-US" sz="1600" dirty="0">
                <a:solidFill>
                  <a:schemeClr val="bg2">
                    <a:lumMod val="65000"/>
                    <a:lumOff val="35000"/>
                  </a:schemeClr>
                </a:solidFill>
              </a:rPr>
              <a:t>The DNS Client service on Windows PCs also </a:t>
            </a:r>
          </a:p>
          <a:p>
            <a:pPr marL="0" indent="0">
              <a:buNone/>
            </a:pPr>
            <a:r>
              <a:rPr lang="en-US" sz="1600" dirty="0">
                <a:solidFill>
                  <a:schemeClr val="bg2">
                    <a:lumMod val="65000"/>
                    <a:lumOff val="35000"/>
                  </a:schemeClr>
                </a:solidFill>
              </a:rPr>
              <a:t>      stores previously resolved names in memory.</a:t>
            </a:r>
          </a:p>
          <a:p>
            <a:pPr marL="285750" indent="-285750"/>
            <a:r>
              <a:rPr lang="en-US" sz="1600" b="1" dirty="0">
                <a:solidFill>
                  <a:schemeClr val="bg2">
                    <a:lumMod val="65000"/>
                    <a:lumOff val="35000"/>
                  </a:schemeClr>
                </a:solidFill>
              </a:rPr>
              <a:t>ipconfig /</a:t>
            </a:r>
            <a:r>
              <a:rPr lang="en-US" sz="1600" b="1" dirty="0" err="1">
                <a:solidFill>
                  <a:schemeClr val="bg2">
                    <a:lumMod val="65000"/>
                    <a:lumOff val="35000"/>
                  </a:schemeClr>
                </a:solidFill>
              </a:rPr>
              <a:t>displaydns</a:t>
            </a:r>
            <a:r>
              <a:rPr lang="en-US" sz="1600" dirty="0">
                <a:solidFill>
                  <a:schemeClr val="bg2">
                    <a:lumMod val="65000"/>
                    <a:lumOff val="35000"/>
                  </a:schemeClr>
                </a:solidFill>
              </a:rPr>
              <a:t> displays all of the cached </a:t>
            </a:r>
          </a:p>
          <a:p>
            <a:pPr marL="0" indent="0">
              <a:buNone/>
            </a:pPr>
            <a:r>
              <a:rPr lang="en-US" sz="1600" dirty="0">
                <a:solidFill>
                  <a:schemeClr val="bg2">
                    <a:lumMod val="65000"/>
                    <a:lumOff val="35000"/>
                  </a:schemeClr>
                </a:solidFill>
              </a:rPr>
              <a:t>     DNS entries on Windows</a:t>
            </a:r>
            <a:r>
              <a:rPr lang="en-US" sz="1800" dirty="0">
                <a:solidFill>
                  <a:schemeClr val="bg2">
                    <a:lumMod val="65000"/>
                    <a:lumOff val="35000"/>
                  </a:schemeClr>
                </a:solidFill>
              </a:rPr>
              <a:t>.</a:t>
            </a:r>
          </a:p>
          <a:p>
            <a:pPr marL="285750" indent="-285750"/>
            <a:endParaRPr lang="en-US" sz="1800" dirty="0">
              <a:solidFill>
                <a:schemeClr val="bg2">
                  <a:lumMod val="65000"/>
                  <a:lumOff val="35000"/>
                </a:schemeClr>
              </a:solidFill>
            </a:endParaRPr>
          </a:p>
        </p:txBody>
      </p:sp>
      <p:sp>
        <p:nvSpPr>
          <p:cNvPr id="3" name="Title 2"/>
          <p:cNvSpPr>
            <a:spLocks noGrp="1"/>
          </p:cNvSpPr>
          <p:nvPr>
            <p:ph type="title"/>
          </p:nvPr>
        </p:nvSpPr>
        <p:spPr>
          <a:xfrm>
            <a:off x="78887" y="0"/>
            <a:ext cx="4847955" cy="838200"/>
          </a:xfrm>
        </p:spPr>
        <p:txBody>
          <a:bodyPr/>
          <a:lstStyle/>
          <a:p>
            <a:r>
              <a:rPr lang="en-US" dirty="0">
                <a:solidFill>
                  <a:schemeClr val="bg2"/>
                </a:solidFill>
              </a:rPr>
              <a:t>DNS Message Format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5446" y="709507"/>
            <a:ext cx="3764391" cy="2309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9341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28600" y="45947"/>
            <a:ext cx="8588861" cy="587099"/>
          </a:xfrm>
        </p:spPr>
        <p:txBody>
          <a:bodyPr/>
          <a:lstStyle/>
          <a:p>
            <a:r>
              <a:rPr lang="en-US" sz="2800" b="1" dirty="0">
                <a:solidFill>
                  <a:schemeClr val="bg2"/>
                </a:solidFill>
              </a:rPr>
              <a:t>Dynamic Host Configuration Protocol</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102410"/>
            <a:ext cx="3957637" cy="3231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0"/>
          </p:nvPr>
        </p:nvSpPr>
        <p:spPr>
          <a:xfrm>
            <a:off x="181165" y="701792"/>
            <a:ext cx="8422904" cy="4801235"/>
          </a:xfrm>
        </p:spPr>
        <p:txBody>
          <a:bodyPr/>
          <a:lstStyle/>
          <a:p>
            <a:pPr marL="285750" indent="-285750"/>
            <a:r>
              <a:rPr lang="en-US" dirty="0">
                <a:solidFill>
                  <a:schemeClr val="bg2">
                    <a:lumMod val="65000"/>
                    <a:lumOff val="35000"/>
                  </a:schemeClr>
                </a:solidFill>
              </a:rPr>
              <a:t>Computers need network addresses to communicate over a network.</a:t>
            </a:r>
          </a:p>
          <a:p>
            <a:pPr marL="285750" indent="-285750"/>
            <a:r>
              <a:rPr lang="en-US" b="1" dirty="0">
                <a:solidFill>
                  <a:schemeClr val="bg2">
                    <a:lumMod val="65000"/>
                    <a:lumOff val="35000"/>
                  </a:schemeClr>
                </a:solidFill>
              </a:rPr>
              <a:t>Additional crucial information includes gateway address, subnet mask, and DNS server.</a:t>
            </a:r>
          </a:p>
          <a:p>
            <a:pPr marL="285750" indent="-285750"/>
            <a:r>
              <a:rPr lang="en-US" dirty="0">
                <a:solidFill>
                  <a:schemeClr val="bg2">
                    <a:lumMod val="65000"/>
                    <a:lumOff val="35000"/>
                  </a:schemeClr>
                </a:solidFill>
              </a:rPr>
              <a:t>Manually configuring end devices is not scalable. DHCP allows for automated distribution of network information.</a:t>
            </a:r>
          </a:p>
          <a:p>
            <a:pPr marL="285750" indent="-285750"/>
            <a:r>
              <a:rPr lang="en-US" dirty="0">
                <a:solidFill>
                  <a:schemeClr val="bg2">
                    <a:lumMod val="65000"/>
                    <a:lumOff val="35000"/>
                  </a:schemeClr>
                </a:solidFill>
              </a:rPr>
              <a:t>DHCP-distributed addresses are</a:t>
            </a:r>
            <a:br>
              <a:rPr lang="en-US" dirty="0">
                <a:solidFill>
                  <a:schemeClr val="bg2">
                    <a:lumMod val="65000"/>
                    <a:lumOff val="35000"/>
                  </a:schemeClr>
                </a:solidFill>
              </a:rPr>
            </a:br>
            <a:r>
              <a:rPr lang="en-US" b="1" dirty="0">
                <a:solidFill>
                  <a:schemeClr val="bg2">
                    <a:lumMod val="65000"/>
                    <a:lumOff val="35000"/>
                  </a:schemeClr>
                </a:solidFill>
              </a:rPr>
              <a:t>leased</a:t>
            </a:r>
            <a:r>
              <a:rPr lang="en-US" dirty="0">
                <a:solidFill>
                  <a:schemeClr val="bg2">
                    <a:lumMod val="65000"/>
                    <a:lumOff val="35000"/>
                  </a:schemeClr>
                </a:solidFill>
              </a:rPr>
              <a:t> for a set period of time.</a:t>
            </a:r>
          </a:p>
          <a:p>
            <a:pPr marL="285750" indent="-285750"/>
            <a:r>
              <a:rPr lang="en-US" dirty="0">
                <a:solidFill>
                  <a:schemeClr val="bg2">
                    <a:lumMod val="65000"/>
                    <a:lumOff val="35000"/>
                  </a:schemeClr>
                </a:solidFill>
              </a:rPr>
              <a:t>Addresses are returned to the pool of addresses </a:t>
            </a:r>
            <a:br>
              <a:rPr lang="en-US" dirty="0">
                <a:solidFill>
                  <a:schemeClr val="bg2">
                    <a:lumMod val="65000"/>
                    <a:lumOff val="35000"/>
                  </a:schemeClr>
                </a:solidFill>
              </a:rPr>
            </a:br>
            <a:r>
              <a:rPr lang="en-US" dirty="0">
                <a:solidFill>
                  <a:schemeClr val="bg2">
                    <a:lumMod val="65000"/>
                    <a:lumOff val="35000"/>
                  </a:schemeClr>
                </a:solidFill>
              </a:rPr>
              <a:t>for reuse when no longer in use.</a:t>
            </a:r>
          </a:p>
          <a:p>
            <a:pPr marL="285750" indent="-285750"/>
            <a:r>
              <a:rPr lang="en-US" dirty="0">
                <a:solidFill>
                  <a:schemeClr val="bg2">
                    <a:lumMod val="65000"/>
                    <a:lumOff val="35000"/>
                  </a:schemeClr>
                </a:solidFill>
              </a:rPr>
              <a:t>DHCP supports IPv4 and DHCPv6</a:t>
            </a:r>
            <a:br>
              <a:rPr lang="en-US" dirty="0">
                <a:solidFill>
                  <a:schemeClr val="bg2">
                    <a:lumMod val="65000"/>
                    <a:lumOff val="35000"/>
                  </a:schemeClr>
                </a:solidFill>
              </a:rPr>
            </a:br>
            <a:r>
              <a:rPr lang="en-US" dirty="0">
                <a:solidFill>
                  <a:schemeClr val="bg2">
                    <a:lumMod val="65000"/>
                    <a:lumOff val="35000"/>
                  </a:schemeClr>
                </a:solidFill>
              </a:rPr>
              <a:t>supports IPv6.</a:t>
            </a:r>
          </a:p>
        </p:txBody>
      </p:sp>
    </p:spTree>
    <p:extLst>
      <p:ext uri="{BB962C8B-B14F-4D97-AF65-F5344CB8AC3E}">
        <p14:creationId xmlns:p14="http://schemas.microsoft.com/office/powerpoint/2010/main" val="1580475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216811" y="78076"/>
            <a:ext cx="8588861" cy="618610"/>
          </a:xfrm>
        </p:spPr>
        <p:txBody>
          <a:bodyPr/>
          <a:lstStyle/>
          <a:p>
            <a:r>
              <a:rPr lang="en-US" sz="2800" b="1" dirty="0">
                <a:solidFill>
                  <a:schemeClr val="bg2"/>
                </a:solidFill>
              </a:rPr>
              <a:t>DHCP Operation</a:t>
            </a:r>
          </a:p>
        </p:txBody>
      </p:sp>
      <p:sp>
        <p:nvSpPr>
          <p:cNvPr id="3" name="Text Placeholder 2"/>
          <p:cNvSpPr>
            <a:spLocks noGrp="1"/>
          </p:cNvSpPr>
          <p:nvPr>
            <p:ph type="body" sz="quarter" idx="10"/>
          </p:nvPr>
        </p:nvSpPr>
        <p:spPr>
          <a:xfrm>
            <a:off x="228600" y="916276"/>
            <a:ext cx="8577072" cy="4965192"/>
          </a:xfrm>
        </p:spPr>
        <p:txBody>
          <a:bodyPr/>
          <a:lstStyle/>
          <a:p>
            <a:pPr marL="285750" indent="-285750"/>
            <a:r>
              <a:rPr lang="en-US" sz="1400" dirty="0">
                <a:solidFill>
                  <a:schemeClr val="bg2">
                    <a:lumMod val="65000"/>
                    <a:lumOff val="35000"/>
                  </a:schemeClr>
                </a:solidFill>
              </a:rPr>
              <a:t>A DHCP client goes through the following basic steps to request an IP:</a:t>
            </a:r>
          </a:p>
          <a:p>
            <a:pPr marL="628650" lvl="2" indent="-285750">
              <a:buFont typeface="Courier New" panose="02070309020205020404" pitchFamily="49" charset="0"/>
              <a:buChar char="o"/>
            </a:pPr>
            <a:r>
              <a:rPr lang="en-US" sz="1400" dirty="0">
                <a:solidFill>
                  <a:schemeClr val="bg2">
                    <a:lumMod val="65000"/>
                    <a:lumOff val="35000"/>
                  </a:schemeClr>
                </a:solidFill>
              </a:rPr>
              <a:t>The client broadcasts a DHCPDISCOVER.</a:t>
            </a:r>
          </a:p>
          <a:p>
            <a:pPr marL="628650" lvl="2" indent="-285750">
              <a:buFont typeface="Courier New" panose="02070309020205020404" pitchFamily="49" charset="0"/>
              <a:buChar char="o"/>
            </a:pPr>
            <a:r>
              <a:rPr lang="en-US" sz="1400" dirty="0">
                <a:solidFill>
                  <a:schemeClr val="bg2">
                    <a:lumMod val="65000"/>
                    <a:lumOff val="35000"/>
                  </a:schemeClr>
                </a:solidFill>
              </a:rPr>
              <a:t>A DHCP server replies with a DHCPOFFER message</a:t>
            </a:r>
          </a:p>
          <a:p>
            <a:pPr marL="628650" lvl="2" indent="-285750">
              <a:buFont typeface="Courier New" panose="02070309020205020404" pitchFamily="49" charset="0"/>
              <a:buChar char="o"/>
            </a:pPr>
            <a:r>
              <a:rPr lang="en-US" sz="1400" dirty="0">
                <a:solidFill>
                  <a:schemeClr val="bg2">
                    <a:lumMod val="65000"/>
                    <a:lumOff val="35000"/>
                  </a:schemeClr>
                </a:solidFill>
              </a:rPr>
              <a:t>The client sends a DHCPREQUEST message to the server it wants to use (in case of multiple offers).</a:t>
            </a:r>
          </a:p>
          <a:p>
            <a:pPr marL="285750" indent="-285750"/>
            <a:r>
              <a:rPr lang="en-US" sz="1400" dirty="0">
                <a:solidFill>
                  <a:schemeClr val="bg2">
                    <a:lumMod val="65000"/>
                    <a:lumOff val="35000"/>
                  </a:schemeClr>
                </a:solidFill>
              </a:rPr>
              <a:t>A client may also choose to request an address that it had previously been allocated by the server.</a:t>
            </a:r>
          </a:p>
          <a:p>
            <a:pPr marL="285750" indent="-285750"/>
            <a:r>
              <a:rPr lang="en-US" sz="1400" dirty="0">
                <a:solidFill>
                  <a:schemeClr val="bg2">
                    <a:lumMod val="65000"/>
                    <a:lumOff val="35000"/>
                  </a:schemeClr>
                </a:solidFill>
              </a:rPr>
              <a:t>The server returns a DHCPACK</a:t>
            </a:r>
            <a:br>
              <a:rPr lang="en-US" sz="1400" dirty="0">
                <a:solidFill>
                  <a:schemeClr val="bg2">
                    <a:lumMod val="65000"/>
                    <a:lumOff val="35000"/>
                  </a:schemeClr>
                </a:solidFill>
              </a:rPr>
            </a:br>
            <a:r>
              <a:rPr lang="en-US" sz="1400" dirty="0">
                <a:solidFill>
                  <a:schemeClr val="bg2">
                    <a:lumMod val="65000"/>
                    <a:lumOff val="35000"/>
                  </a:schemeClr>
                </a:solidFill>
              </a:rPr>
              <a:t>message to confirm the lease has</a:t>
            </a:r>
            <a:br>
              <a:rPr lang="en-US" sz="1400" dirty="0">
                <a:solidFill>
                  <a:schemeClr val="bg2">
                    <a:lumMod val="65000"/>
                    <a:lumOff val="35000"/>
                  </a:schemeClr>
                </a:solidFill>
              </a:rPr>
            </a:br>
            <a:r>
              <a:rPr lang="en-US" sz="1400" dirty="0">
                <a:solidFill>
                  <a:schemeClr val="bg2">
                    <a:lumMod val="65000"/>
                    <a:lumOff val="35000"/>
                  </a:schemeClr>
                </a:solidFill>
              </a:rPr>
              <a:t>been finalized.</a:t>
            </a:r>
          </a:p>
          <a:p>
            <a:pPr marL="285750" indent="-285750"/>
            <a:r>
              <a:rPr lang="en-US" sz="1400" dirty="0">
                <a:solidFill>
                  <a:schemeClr val="bg2">
                    <a:lumMod val="65000"/>
                    <a:lumOff val="35000"/>
                  </a:schemeClr>
                </a:solidFill>
              </a:rPr>
              <a:t>The server would respond with a DHCPNAK if the offer is no longer valid</a:t>
            </a:r>
          </a:p>
          <a:p>
            <a:pPr marL="285750" indent="-285750"/>
            <a:r>
              <a:rPr lang="en-US" sz="1400" dirty="0">
                <a:solidFill>
                  <a:schemeClr val="bg2">
                    <a:lumMod val="65000"/>
                    <a:lumOff val="35000"/>
                  </a:schemeClr>
                </a:solidFill>
              </a:rPr>
              <a:t>Leases must be renewed before its expiration through another DHCPREQUEST.</a:t>
            </a:r>
          </a:p>
          <a:p>
            <a:pPr marL="0" indent="0">
              <a:buNone/>
            </a:pPr>
            <a:endParaRPr lang="en-US" sz="1400" dirty="0">
              <a:solidFill>
                <a:schemeClr val="bg2">
                  <a:lumMod val="65000"/>
                  <a:lumOff val="35000"/>
                </a:schemeClr>
              </a:solidFill>
            </a:endParaRPr>
          </a:p>
          <a:p>
            <a:endParaRPr lang="en-US" sz="1400"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2820" y="4453893"/>
            <a:ext cx="4232589" cy="1857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6375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pPr>
              <a:lnSpc>
                <a:spcPct val="100000"/>
              </a:lnSpc>
            </a:pPr>
            <a:r>
              <a:rPr lang="en-US" sz="2800" dirty="0"/>
              <a:t>File Transfer Protocol</a:t>
            </a:r>
          </a:p>
        </p:txBody>
      </p:sp>
      <p:sp>
        <p:nvSpPr>
          <p:cNvPr id="3" name="Text Placeholder 2"/>
          <p:cNvSpPr>
            <a:spLocks noGrp="1"/>
          </p:cNvSpPr>
          <p:nvPr>
            <p:ph type="body" sz="quarter" idx="10"/>
          </p:nvPr>
        </p:nvSpPr>
        <p:spPr/>
        <p:txBody>
          <a:bodyPr/>
          <a:lstStyle/>
          <a:p>
            <a:pPr marL="285750" indent="-285750"/>
            <a:r>
              <a:rPr lang="en-US" dirty="0">
                <a:solidFill>
                  <a:schemeClr val="bg2">
                    <a:lumMod val="65000"/>
                    <a:lumOff val="35000"/>
                  </a:schemeClr>
                </a:solidFill>
              </a:rPr>
              <a:t>FTP was developed to allow the transfer of files over the network.</a:t>
            </a:r>
          </a:p>
          <a:p>
            <a:pPr marL="285750" indent="-285750"/>
            <a:r>
              <a:rPr lang="en-US" dirty="0">
                <a:solidFill>
                  <a:schemeClr val="bg2">
                    <a:lumMod val="65000"/>
                    <a:lumOff val="35000"/>
                  </a:schemeClr>
                </a:solidFill>
              </a:rPr>
              <a:t>An FTP client is an application that runs on a client computer used to push and pull data from an FTP server.</a:t>
            </a:r>
          </a:p>
          <a:p>
            <a:pPr marL="285750" indent="-285750"/>
            <a:r>
              <a:rPr lang="en-US" dirty="0">
                <a:solidFill>
                  <a:schemeClr val="bg2">
                    <a:lumMod val="65000"/>
                    <a:lumOff val="35000"/>
                  </a:schemeClr>
                </a:solidFill>
              </a:rPr>
              <a:t>FTP requires two connections between the client and the server: one connection for commands and replies and another connection for the actual file transfer.</a:t>
            </a:r>
          </a:p>
          <a:p>
            <a:pPr marL="285750" indent="-285750"/>
            <a:r>
              <a:rPr lang="en-US" dirty="0">
                <a:solidFill>
                  <a:schemeClr val="bg2">
                    <a:lumMod val="65000"/>
                    <a:lumOff val="35000"/>
                  </a:schemeClr>
                </a:solidFill>
              </a:rPr>
              <a:t>The client initiates and establishes the</a:t>
            </a:r>
            <a:br>
              <a:rPr lang="en-US" dirty="0">
                <a:solidFill>
                  <a:schemeClr val="bg2">
                    <a:lumMod val="65000"/>
                    <a:lumOff val="35000"/>
                  </a:schemeClr>
                </a:solidFill>
              </a:rPr>
            </a:br>
            <a:r>
              <a:rPr lang="en-US" dirty="0">
                <a:solidFill>
                  <a:schemeClr val="bg2">
                    <a:lumMod val="65000"/>
                    <a:lumOff val="35000"/>
                  </a:schemeClr>
                </a:solidFill>
              </a:rPr>
              <a:t>first connection to the server for control</a:t>
            </a:r>
            <a:br>
              <a:rPr lang="en-US" dirty="0">
                <a:solidFill>
                  <a:schemeClr val="bg2">
                    <a:lumMod val="65000"/>
                    <a:lumOff val="35000"/>
                  </a:schemeClr>
                </a:solidFill>
              </a:rPr>
            </a:br>
            <a:r>
              <a:rPr lang="en-US" dirty="0">
                <a:solidFill>
                  <a:schemeClr val="bg2">
                    <a:lumMod val="65000"/>
                    <a:lumOff val="35000"/>
                  </a:schemeClr>
                </a:solidFill>
              </a:rPr>
              <a:t>traffic on TCP port 21.</a:t>
            </a:r>
          </a:p>
          <a:p>
            <a:pPr marL="285750" indent="-285750"/>
            <a:r>
              <a:rPr lang="en-US" dirty="0">
                <a:solidFill>
                  <a:schemeClr val="bg2">
                    <a:lumMod val="65000"/>
                    <a:lumOff val="35000"/>
                  </a:schemeClr>
                </a:solidFill>
              </a:rPr>
              <a:t>The client then establishes the second</a:t>
            </a:r>
            <a:br>
              <a:rPr lang="en-US" dirty="0">
                <a:solidFill>
                  <a:schemeClr val="bg2">
                    <a:lumMod val="65000"/>
                    <a:lumOff val="35000"/>
                  </a:schemeClr>
                </a:solidFill>
              </a:rPr>
            </a:br>
            <a:r>
              <a:rPr lang="en-US" dirty="0">
                <a:solidFill>
                  <a:schemeClr val="bg2">
                    <a:lumMod val="65000"/>
                    <a:lumOff val="35000"/>
                  </a:schemeClr>
                </a:solidFill>
              </a:rPr>
              <a:t>connection to the server for the actual</a:t>
            </a:r>
            <a:br>
              <a:rPr lang="en-US" dirty="0">
                <a:solidFill>
                  <a:schemeClr val="bg2">
                    <a:lumMod val="65000"/>
                    <a:lumOff val="35000"/>
                  </a:schemeClr>
                </a:solidFill>
              </a:rPr>
            </a:br>
            <a:r>
              <a:rPr lang="en-US" dirty="0">
                <a:solidFill>
                  <a:schemeClr val="bg2">
                    <a:lumMod val="65000"/>
                    <a:lumOff val="35000"/>
                  </a:schemeClr>
                </a:solidFill>
              </a:rPr>
              <a:t>data transfer on TCP port 20.</a:t>
            </a:r>
          </a:p>
          <a:p>
            <a:pPr marL="285750" indent="-285750"/>
            <a:r>
              <a:rPr lang="en-US" dirty="0">
                <a:solidFill>
                  <a:schemeClr val="bg2">
                    <a:lumMod val="65000"/>
                    <a:lumOff val="35000"/>
                  </a:schemeClr>
                </a:solidFill>
              </a:rPr>
              <a:t>The client can download (pull) data from</a:t>
            </a:r>
            <a:br>
              <a:rPr lang="en-US" dirty="0">
                <a:solidFill>
                  <a:schemeClr val="bg2">
                    <a:lumMod val="65000"/>
                    <a:lumOff val="35000"/>
                  </a:schemeClr>
                </a:solidFill>
              </a:rPr>
            </a:br>
            <a:r>
              <a:rPr lang="en-US" dirty="0">
                <a:solidFill>
                  <a:schemeClr val="bg2">
                    <a:lumMod val="65000"/>
                    <a:lumOff val="35000"/>
                  </a:schemeClr>
                </a:solidFill>
              </a:rPr>
              <a:t>the server or upload (push) data to the server.</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654" y="3398520"/>
            <a:ext cx="3619346" cy="2604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345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etAcad_White_PPT_Template 05Oct12">
  <a:themeElements>
    <a:clrScheme name="Cisco NetAcad">
      <a:dk1>
        <a:srgbClr val="2AA7DF"/>
      </a:dk1>
      <a:lt1>
        <a:srgbClr val="FFFFFF"/>
      </a:lt1>
      <a:dk2>
        <a:srgbClr val="6B308E"/>
      </a:dk2>
      <a:lt2>
        <a:srgbClr val="000000"/>
      </a:lt2>
      <a:accent1>
        <a:srgbClr val="00938E"/>
      </a:accent1>
      <a:accent2>
        <a:srgbClr val="3EB549"/>
      </a:accent2>
      <a:accent3>
        <a:srgbClr val="D81673"/>
      </a:accent3>
      <a:accent4>
        <a:srgbClr val="234493"/>
      </a:accent4>
      <a:accent5>
        <a:srgbClr val="ED2D28"/>
      </a:accent5>
      <a:accent6>
        <a:srgbClr val="F68B21"/>
      </a:accent6>
      <a:hlink>
        <a:srgbClr val="2AA7DF"/>
      </a:hlink>
      <a:folHlink>
        <a:srgbClr val="ACB2C2"/>
      </a:folHlink>
    </a:clrScheme>
    <a:fontScheme name="Cisco 2010_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NetAcad_White_PPT_Template 05Oct12</Template>
  <TotalTime>58</TotalTime>
  <Words>4365</Words>
  <Application>Microsoft Office PowerPoint</Application>
  <PresentationFormat>On-screen Show (4:3)</PresentationFormat>
  <Paragraphs>608</Paragraphs>
  <Slides>48</Slides>
  <Notes>47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9" baseType="lpstr">
      <vt:lpstr>Arial</vt:lpstr>
      <vt:lpstr>Calibri</vt:lpstr>
      <vt:lpstr>Ciscolight</vt:lpstr>
      <vt:lpstr>Comic Sans MS</vt:lpstr>
      <vt:lpstr>Courier New</vt:lpstr>
      <vt:lpstr>Gill Sans MT</vt:lpstr>
      <vt:lpstr>Tahoma</vt:lpstr>
      <vt:lpstr>Times New Roman</vt:lpstr>
      <vt:lpstr>Wingdings</vt:lpstr>
      <vt:lpstr>NetAcad_White_PPT_Template 05Oct12</vt:lpstr>
      <vt:lpstr>Picture</vt:lpstr>
      <vt:lpstr>CMP301 – Computer Networking Lecture week 5</vt:lpstr>
      <vt:lpstr>Transport and Application Layers</vt:lpstr>
      <vt:lpstr>Role of the Transport Layer</vt:lpstr>
      <vt:lpstr>Transport services and protocols</vt:lpstr>
      <vt:lpstr>Transport Layer Responsibilities</vt:lpstr>
      <vt:lpstr>Conversation Multiplexing</vt:lpstr>
      <vt:lpstr>Transport Layer Reliability</vt:lpstr>
      <vt:lpstr>TCP</vt:lpstr>
      <vt:lpstr>TCP Features</vt:lpstr>
      <vt:lpstr>PowerPoint Presentation</vt:lpstr>
      <vt:lpstr>Transport Layer Protocols: which is more suitable?</vt:lpstr>
      <vt:lpstr>TCP Header</vt:lpstr>
      <vt:lpstr>Port Numbers</vt:lpstr>
      <vt:lpstr>Socket Pairs</vt:lpstr>
      <vt:lpstr>Multiplexing/demultiplexing</vt:lpstr>
      <vt:lpstr>Connectionless demultiplexing</vt:lpstr>
      <vt:lpstr>Connectionless demultiplexing: an example</vt:lpstr>
      <vt:lpstr>Connection-oriented demultiplexing: example</vt:lpstr>
      <vt:lpstr>Stop-and-wait operation</vt:lpstr>
      <vt:lpstr>Pipelining: increased utilization</vt:lpstr>
      <vt:lpstr>Go-Back-N</vt:lpstr>
      <vt:lpstr>Go-Back-N in action</vt:lpstr>
      <vt:lpstr>Selective repeat</vt:lpstr>
      <vt:lpstr>Selective Repeat in action</vt:lpstr>
      <vt:lpstr>TCP Connection Establishment</vt:lpstr>
      <vt:lpstr>TCP Three-Way Handshake Analysis</vt:lpstr>
      <vt:lpstr>TCP Session Termination</vt:lpstr>
      <vt:lpstr>TCP Reliability – Ordered Delivery</vt:lpstr>
      <vt:lpstr>TCP Reliability - Sequence Numbers and Acknowledgements</vt:lpstr>
      <vt:lpstr>Application Layer</vt:lpstr>
      <vt:lpstr>Presentation and Session Layer</vt:lpstr>
      <vt:lpstr>Presentation and Session Layer (cont.)</vt:lpstr>
      <vt:lpstr>TCP/IP Application Layer Protocols</vt:lpstr>
      <vt:lpstr>Client-Server Model</vt:lpstr>
      <vt:lpstr>Peer-to-Peer Networks</vt:lpstr>
      <vt:lpstr>Peer-to-Peer Applications</vt:lpstr>
      <vt:lpstr>Common P2P Applications </vt:lpstr>
      <vt:lpstr>Hypertext Transfer Protocol and Hypertext Markup Language</vt:lpstr>
      <vt:lpstr>Hypertext Transfer Protocol and Hypertext Markup Language</vt:lpstr>
      <vt:lpstr>Email Protocols </vt:lpstr>
      <vt:lpstr>SMTP Operation </vt:lpstr>
      <vt:lpstr>POP Operation </vt:lpstr>
      <vt:lpstr>IMAP Operation </vt:lpstr>
      <vt:lpstr>Domain Name Service</vt:lpstr>
      <vt:lpstr>DNS Message Format</vt:lpstr>
      <vt:lpstr>Dynamic Host Configuration Protocol</vt:lpstr>
      <vt:lpstr>DHCP Operation</vt:lpstr>
      <vt:lpstr>File Transfer Protocol</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 Relevant,  Surprising and Fresh: Cisco Brand</dc:title>
  <dc:creator>Melissa Gabriel</dc:creator>
  <cp:lastModifiedBy>user01</cp:lastModifiedBy>
  <cp:revision>383</cp:revision>
  <dcterms:created xsi:type="dcterms:W3CDTF">2012-10-09T16:58:47Z</dcterms:created>
  <dcterms:modified xsi:type="dcterms:W3CDTF">2025-06-29T23:37:00Z</dcterms:modified>
</cp:coreProperties>
</file>