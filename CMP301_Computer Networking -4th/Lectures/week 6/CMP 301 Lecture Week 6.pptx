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853" r:id="rId1"/>
  </p:sldMasterIdLst>
  <p:notesMasterIdLst>
    <p:notesMasterId r:id="rId39"/>
  </p:notesMasterIdLst>
  <p:sldIdLst>
    <p:sldId id="312" r:id="rId2"/>
    <p:sldId id="271" r:id="rId3"/>
    <p:sldId id="275" r:id="rId4"/>
    <p:sldId id="287" r:id="rId5"/>
    <p:sldId id="277" r:id="rId6"/>
    <p:sldId id="278" r:id="rId7"/>
    <p:sldId id="297" r:id="rId8"/>
    <p:sldId id="280" r:id="rId9"/>
    <p:sldId id="281" r:id="rId10"/>
    <p:sldId id="283" r:id="rId11"/>
    <p:sldId id="284" r:id="rId12"/>
    <p:sldId id="311" r:id="rId13"/>
    <p:sldId id="285" r:id="rId14"/>
    <p:sldId id="357" r:id="rId15"/>
    <p:sldId id="286" r:id="rId16"/>
    <p:sldId id="358" r:id="rId17"/>
    <p:sldId id="359" r:id="rId18"/>
    <p:sldId id="319" r:id="rId19"/>
    <p:sldId id="360" r:id="rId20"/>
    <p:sldId id="321" r:id="rId21"/>
    <p:sldId id="325" r:id="rId22"/>
    <p:sldId id="263" r:id="rId23"/>
    <p:sldId id="293" r:id="rId24"/>
    <p:sldId id="328" r:id="rId25"/>
    <p:sldId id="329" r:id="rId26"/>
    <p:sldId id="330" r:id="rId27"/>
    <p:sldId id="350" r:id="rId28"/>
    <p:sldId id="351" r:id="rId29"/>
    <p:sldId id="352" r:id="rId30"/>
    <p:sldId id="320" r:id="rId31"/>
    <p:sldId id="324" r:id="rId32"/>
    <p:sldId id="356" r:id="rId33"/>
    <p:sldId id="313" r:id="rId34"/>
    <p:sldId id="314" r:id="rId35"/>
    <p:sldId id="315" r:id="rId36"/>
    <p:sldId id="316" r:id="rId37"/>
    <p:sldId id="270" r:id="rId38"/>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Times New Roman" panose="02020603050405020304" pitchFamily="18"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Times New Roman" panose="02020603050405020304" pitchFamily="18"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Times New Roman" panose="02020603050405020304" pitchFamily="18"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Times New Roman" panose="02020603050405020304" pitchFamily="18"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Times New Roman" panose="02020603050405020304" pitchFamily="18" charset="0"/>
        <a:ea typeface="+mn-ea"/>
        <a:cs typeface="Arial" panose="020B0604020202020204" pitchFamily="34" charset="0"/>
      </a:defRPr>
    </a:lvl5pPr>
    <a:lvl6pPr marL="2286000" algn="l" defTabSz="914400" rtl="0" eaLnBrk="1" latinLnBrk="0" hangingPunct="1">
      <a:defRPr kern="1200">
        <a:solidFill>
          <a:schemeClr val="tx1"/>
        </a:solidFill>
        <a:latin typeface="Times New Roman" panose="02020603050405020304" pitchFamily="18" charset="0"/>
        <a:ea typeface="+mn-ea"/>
        <a:cs typeface="Arial" panose="020B0604020202020204" pitchFamily="34" charset="0"/>
      </a:defRPr>
    </a:lvl6pPr>
    <a:lvl7pPr marL="2743200" algn="l" defTabSz="914400" rtl="0" eaLnBrk="1" latinLnBrk="0" hangingPunct="1">
      <a:defRPr kern="1200">
        <a:solidFill>
          <a:schemeClr val="tx1"/>
        </a:solidFill>
        <a:latin typeface="Times New Roman" panose="02020603050405020304" pitchFamily="18" charset="0"/>
        <a:ea typeface="+mn-ea"/>
        <a:cs typeface="Arial" panose="020B0604020202020204" pitchFamily="34" charset="0"/>
      </a:defRPr>
    </a:lvl7pPr>
    <a:lvl8pPr marL="3200400" algn="l" defTabSz="914400" rtl="0" eaLnBrk="1" latinLnBrk="0" hangingPunct="1">
      <a:defRPr kern="1200">
        <a:solidFill>
          <a:schemeClr val="tx1"/>
        </a:solidFill>
        <a:latin typeface="Times New Roman" panose="02020603050405020304" pitchFamily="18" charset="0"/>
        <a:ea typeface="+mn-ea"/>
        <a:cs typeface="Arial" panose="020B0604020202020204" pitchFamily="34" charset="0"/>
      </a:defRPr>
    </a:lvl8pPr>
    <a:lvl9pPr marL="3657600" algn="l" defTabSz="914400" rtl="0" eaLnBrk="1" latinLnBrk="0" hangingPunct="1">
      <a:defRPr kern="1200">
        <a:solidFill>
          <a:schemeClr val="tx1"/>
        </a:solidFill>
        <a:latin typeface="Times New Roman" panose="02020603050405020304" pitchFamily="18"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727" autoAdjust="0"/>
    <p:restoredTop sz="91609" autoAdjust="0"/>
  </p:normalViewPr>
  <p:slideViewPr>
    <p:cSldViewPr>
      <p:cViewPr varScale="1">
        <p:scale>
          <a:sx n="72" d="100"/>
          <a:sy n="72" d="100"/>
        </p:scale>
        <p:origin x="1526" y="53"/>
      </p:cViewPr>
      <p:guideLst>
        <p:guide orient="horz" pos="2160"/>
        <p:guide pos="2880"/>
      </p:guideLst>
    </p:cSldViewPr>
  </p:slideViewPr>
  <p:outlineViewPr>
    <p:cViewPr>
      <p:scale>
        <a:sx n="33" d="100"/>
        <a:sy n="33" d="100"/>
      </p:scale>
      <p:origin x="0" y="0"/>
    </p:cViewPr>
  </p:outlineViewPr>
  <p:notesTextViewPr>
    <p:cViewPr>
      <p:scale>
        <a:sx n="125" d="100"/>
        <a:sy n="125" d="100"/>
      </p:scale>
      <p:origin x="0" y="0"/>
    </p:cViewPr>
  </p:notesTextViewPr>
  <p:sorterViewPr>
    <p:cViewPr>
      <p:scale>
        <a:sx n="130" d="100"/>
        <a:sy n="13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1026">
            <a:extLst>
              <a:ext uri="{FF2B5EF4-FFF2-40B4-BE49-F238E27FC236}">
                <a16:creationId xmlns:a16="http://schemas.microsoft.com/office/drawing/2014/main" id="{10DFE3DE-D975-8F43-48F4-0CE3B0DF6B72}"/>
              </a:ext>
            </a:extLst>
          </p:cNvPr>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200">
                <a:latin typeface="Times New Roman" charset="0"/>
                <a:cs typeface="Arial" charset="0"/>
              </a:defRPr>
            </a:lvl1pPr>
          </a:lstStyle>
          <a:p>
            <a:pPr>
              <a:defRPr/>
            </a:pPr>
            <a:endParaRPr lang="en-US"/>
          </a:p>
        </p:txBody>
      </p:sp>
      <p:sp>
        <p:nvSpPr>
          <p:cNvPr id="25603" name="Rectangle 1027">
            <a:extLst>
              <a:ext uri="{FF2B5EF4-FFF2-40B4-BE49-F238E27FC236}">
                <a16:creationId xmlns:a16="http://schemas.microsoft.com/office/drawing/2014/main" id="{2089E152-1180-6436-4BF8-AD8E458467D6}"/>
              </a:ext>
            </a:extLst>
          </p:cNvPr>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200">
                <a:latin typeface="Times New Roman" charset="0"/>
                <a:cs typeface="Arial" charset="0"/>
              </a:defRPr>
            </a:lvl1pPr>
          </a:lstStyle>
          <a:p>
            <a:pPr>
              <a:defRPr/>
            </a:pPr>
            <a:endParaRPr lang="en-US"/>
          </a:p>
        </p:txBody>
      </p:sp>
      <p:sp>
        <p:nvSpPr>
          <p:cNvPr id="4100" name="Rectangle 1028">
            <a:extLst>
              <a:ext uri="{FF2B5EF4-FFF2-40B4-BE49-F238E27FC236}">
                <a16:creationId xmlns:a16="http://schemas.microsoft.com/office/drawing/2014/main" id="{4796ECF1-BC74-1EB1-781D-64AB313691E1}"/>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5" name="Rectangle 1029">
            <a:extLst>
              <a:ext uri="{FF2B5EF4-FFF2-40B4-BE49-F238E27FC236}">
                <a16:creationId xmlns:a16="http://schemas.microsoft.com/office/drawing/2014/main" id="{35675968-0F3D-B115-C70C-E2671A0BA214}"/>
              </a:ext>
            </a:extLst>
          </p:cNvPr>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5606" name="Rectangle 1030">
            <a:extLst>
              <a:ext uri="{FF2B5EF4-FFF2-40B4-BE49-F238E27FC236}">
                <a16:creationId xmlns:a16="http://schemas.microsoft.com/office/drawing/2014/main" id="{B3AFFBD2-B357-39E1-6001-5C3FB7E662AB}"/>
              </a:ext>
            </a:extLst>
          </p:cNvPr>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sz="1200">
                <a:latin typeface="Times New Roman" charset="0"/>
                <a:cs typeface="Arial" charset="0"/>
              </a:defRPr>
            </a:lvl1pPr>
          </a:lstStyle>
          <a:p>
            <a:pPr>
              <a:defRPr/>
            </a:pPr>
            <a:endParaRPr lang="en-US"/>
          </a:p>
        </p:txBody>
      </p:sp>
      <p:sp>
        <p:nvSpPr>
          <p:cNvPr id="25607" name="Rectangle 1031">
            <a:extLst>
              <a:ext uri="{FF2B5EF4-FFF2-40B4-BE49-F238E27FC236}">
                <a16:creationId xmlns:a16="http://schemas.microsoft.com/office/drawing/2014/main" id="{EA48AF1D-E50B-C684-7FF3-C13DF754EBBC}"/>
              </a:ext>
            </a:extLst>
          </p:cNvPr>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2E7C2727-06AD-484C-872D-83EDDF2EE029}"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n-ea"/>
        <a:cs typeface="Arial" charset="0"/>
      </a:defRPr>
    </a:lvl1pPr>
    <a:lvl2pPr marL="457200" algn="l" rtl="0" eaLnBrk="0" fontAlgn="base" hangingPunct="0">
      <a:spcBef>
        <a:spcPct val="30000"/>
      </a:spcBef>
      <a:spcAft>
        <a:spcPct val="0"/>
      </a:spcAft>
      <a:defRPr sz="1200" kern="1200">
        <a:solidFill>
          <a:schemeClr val="tx1"/>
        </a:solidFill>
        <a:latin typeface="Times New Roman" charset="0"/>
        <a:ea typeface="+mn-ea"/>
        <a:cs typeface="Arial" charset="0"/>
      </a:defRPr>
    </a:lvl2pPr>
    <a:lvl3pPr marL="914400" algn="l" rtl="0" eaLnBrk="0" fontAlgn="base" hangingPunct="0">
      <a:spcBef>
        <a:spcPct val="30000"/>
      </a:spcBef>
      <a:spcAft>
        <a:spcPct val="0"/>
      </a:spcAft>
      <a:defRPr sz="1200" kern="1200">
        <a:solidFill>
          <a:schemeClr val="tx1"/>
        </a:solidFill>
        <a:latin typeface="Times New Roman" charset="0"/>
        <a:ea typeface="+mn-ea"/>
        <a:cs typeface="Arial" charset="0"/>
      </a:defRPr>
    </a:lvl3pPr>
    <a:lvl4pPr marL="1371600" algn="l" rtl="0" eaLnBrk="0" fontAlgn="base" hangingPunct="0">
      <a:spcBef>
        <a:spcPct val="30000"/>
      </a:spcBef>
      <a:spcAft>
        <a:spcPct val="0"/>
      </a:spcAft>
      <a:defRPr sz="1200" kern="1200">
        <a:solidFill>
          <a:schemeClr val="tx1"/>
        </a:solidFill>
        <a:latin typeface="Times New Roman" charset="0"/>
        <a:ea typeface="+mn-ea"/>
        <a:cs typeface="Arial" charset="0"/>
      </a:defRPr>
    </a:lvl4pPr>
    <a:lvl5pPr marL="1828800" algn="l" rtl="0" eaLnBrk="0" fontAlgn="base" hangingPunct="0">
      <a:spcBef>
        <a:spcPct val="30000"/>
      </a:spcBef>
      <a:spcAft>
        <a:spcPct val="0"/>
      </a:spcAft>
      <a:defRPr sz="1200" kern="1200">
        <a:solidFill>
          <a:schemeClr val="tx1"/>
        </a:solidFill>
        <a:latin typeface="Times New Roman"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www.paypal.com/"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3" Type="http://schemas.openxmlformats.org/officeDocument/2006/relationships/hyperlink" Target="https://en.wikipedia.org/wiki/Hacker_(computer_security)" TargetMode="External"/><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8" Type="http://schemas.openxmlformats.org/officeDocument/2006/relationships/hyperlink" Target="https://en.wikipedia.org/wiki/Local_area_network" TargetMode="External"/><Relationship Id="rId13" Type="http://schemas.openxmlformats.org/officeDocument/2006/relationships/hyperlink" Target="https://en.wikipedia.org/wiki/Wikipedia:Citation_needed" TargetMode="External"/><Relationship Id="rId3" Type="http://schemas.openxmlformats.org/officeDocument/2006/relationships/hyperlink" Target="https://en.wikipedia.org/wiki/Theft" TargetMode="External"/><Relationship Id="rId7" Type="http://schemas.openxmlformats.org/officeDocument/2006/relationships/hyperlink" Target="https://en.wikipedia.org/wiki/Computer_worm" TargetMode="External"/><Relationship Id="rId12" Type="http://schemas.openxmlformats.org/officeDocument/2006/relationships/hyperlink" Target="https://en.wikipedia.org/wiki/Denial_of_service" TargetMode="External"/><Relationship Id="rId2" Type="http://schemas.openxmlformats.org/officeDocument/2006/relationships/slide" Target="../slides/slide30.xml"/><Relationship Id="rId1" Type="http://schemas.openxmlformats.org/officeDocument/2006/relationships/notesMaster" Target="../notesMasters/notesMaster1.xml"/><Relationship Id="rId6" Type="http://schemas.openxmlformats.org/officeDocument/2006/relationships/hyperlink" Target="https://en.wikipedia.org/wiki/Computer_virus" TargetMode="External"/><Relationship Id="rId11" Type="http://schemas.openxmlformats.org/officeDocument/2006/relationships/hyperlink" Target="https://en.wikipedia.org/wiki/Trojan_horse_(computing)" TargetMode="External"/><Relationship Id="rId5" Type="http://schemas.openxmlformats.org/officeDocument/2006/relationships/hyperlink" Target="https://en.wikipedia.org/wiki/Extortion" TargetMode="External"/><Relationship Id="rId10" Type="http://schemas.openxmlformats.org/officeDocument/2006/relationships/hyperlink" Target="https://en.wikipedia.org/wiki/Phishing" TargetMode="External"/><Relationship Id="rId4" Type="http://schemas.openxmlformats.org/officeDocument/2006/relationships/hyperlink" Target="https://en.wikipedia.org/wiki/Blackmail" TargetMode="External"/><Relationship Id="rId9" Type="http://schemas.openxmlformats.org/officeDocument/2006/relationships/hyperlink" Target="https://en.wikipedia.org/wiki/Computer_network"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a:extLst>
              <a:ext uri="{FF2B5EF4-FFF2-40B4-BE49-F238E27FC236}">
                <a16:creationId xmlns:a16="http://schemas.microsoft.com/office/drawing/2014/main" id="{1B4B4F0D-47F7-C4DA-F78E-0D02181AB1F8}"/>
              </a:ext>
            </a:extLst>
          </p:cNvPr>
          <p:cNvSpPr>
            <a:spLocks noGrp="1" noRot="1" noChangeAspect="1" noChangeArrowheads="1" noTextEdit="1"/>
          </p:cNvSpPr>
          <p:nvPr>
            <p:ph type="sldImg"/>
          </p:nvPr>
        </p:nvSpPr>
        <p:spPr>
          <a:ln/>
        </p:spPr>
      </p:sp>
      <p:sp>
        <p:nvSpPr>
          <p:cNvPr id="21507" name="Notes Placeholder 2">
            <a:extLst>
              <a:ext uri="{FF2B5EF4-FFF2-40B4-BE49-F238E27FC236}">
                <a16:creationId xmlns:a16="http://schemas.microsoft.com/office/drawing/2014/main" id="{F83A4543-F1C3-D9E5-73E9-FA6F6D6DC2B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Times New Roman" panose="02020603050405020304" pitchFamily="18" charset="0"/>
                <a:cs typeface="Arial" panose="020B0604020202020204" pitchFamily="34" charset="0"/>
              </a:rPr>
              <a:t>In addition to automobiles one can also include TVs,  clocks and watches, phones, etc</a:t>
            </a:r>
          </a:p>
          <a:p>
            <a:endParaRPr lang="en-GB" altLang="en-US">
              <a:latin typeface="Times New Roman" panose="02020603050405020304" pitchFamily="18" charset="0"/>
              <a:cs typeface="Arial" panose="020B0604020202020204" pitchFamily="34" charset="0"/>
            </a:endParaRPr>
          </a:p>
        </p:txBody>
      </p:sp>
      <p:sp>
        <p:nvSpPr>
          <p:cNvPr id="21508" name="Slide Number Placeholder 3">
            <a:extLst>
              <a:ext uri="{FF2B5EF4-FFF2-40B4-BE49-F238E27FC236}">
                <a16:creationId xmlns:a16="http://schemas.microsoft.com/office/drawing/2014/main" id="{5DB4D934-8DD8-08A6-31BE-7D051AC1D5D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imes New Roman" panose="02020603050405020304" pitchFamily="18" charset="0"/>
                <a:cs typeface="Arial" panose="020B0604020202020204" pitchFamily="34" charset="0"/>
              </a:defRPr>
            </a:lvl1pPr>
            <a:lvl2pPr marL="742950" indent="-285750">
              <a:defRPr>
                <a:solidFill>
                  <a:schemeClr val="tx1"/>
                </a:solidFill>
                <a:latin typeface="Times New Roman" panose="02020603050405020304" pitchFamily="18" charset="0"/>
                <a:cs typeface="Arial" panose="020B0604020202020204" pitchFamily="34" charset="0"/>
              </a:defRPr>
            </a:lvl2pPr>
            <a:lvl3pPr marL="1143000" indent="-228600">
              <a:defRPr>
                <a:solidFill>
                  <a:schemeClr val="tx1"/>
                </a:solidFill>
                <a:latin typeface="Times New Roman" panose="02020603050405020304" pitchFamily="18" charset="0"/>
                <a:cs typeface="Arial" panose="020B0604020202020204" pitchFamily="34" charset="0"/>
              </a:defRPr>
            </a:lvl3pPr>
            <a:lvl4pPr marL="1600200" indent="-228600">
              <a:defRPr>
                <a:solidFill>
                  <a:schemeClr val="tx1"/>
                </a:solidFill>
                <a:latin typeface="Times New Roman" panose="02020603050405020304" pitchFamily="18" charset="0"/>
                <a:cs typeface="Arial" panose="020B0604020202020204" pitchFamily="34" charset="0"/>
              </a:defRPr>
            </a:lvl4pPr>
            <a:lvl5pPr marL="2057400" indent="-228600">
              <a:defRPr>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cs typeface="Arial" panose="020B0604020202020204" pitchFamily="34" charset="0"/>
              </a:defRPr>
            </a:lvl9pPr>
          </a:lstStyle>
          <a:p>
            <a:fld id="{FEA7B3E7-83A7-4338-8F8D-1EECD201F414}" type="slidenum">
              <a:rPr lang="en-US" altLang="en-US" smtClean="0"/>
              <a:pPr/>
              <a:t>2</a:t>
            </a:fld>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a:extLst>
              <a:ext uri="{FF2B5EF4-FFF2-40B4-BE49-F238E27FC236}">
                <a16:creationId xmlns:a16="http://schemas.microsoft.com/office/drawing/2014/main" id="{A6E1BE9A-36AE-4E41-E77B-B309B0521849}"/>
              </a:ext>
            </a:extLst>
          </p:cNvPr>
          <p:cNvSpPr>
            <a:spLocks noGrp="1" noRot="1" noChangeAspect="1" noChangeArrowheads="1" noTextEdit="1"/>
          </p:cNvSpPr>
          <p:nvPr>
            <p:ph type="sldImg"/>
          </p:nvPr>
        </p:nvSpPr>
        <p:spPr>
          <a:ln/>
        </p:spPr>
      </p:sp>
      <p:sp>
        <p:nvSpPr>
          <p:cNvPr id="23555" name="Notes Placeholder 2">
            <a:extLst>
              <a:ext uri="{FF2B5EF4-FFF2-40B4-BE49-F238E27FC236}">
                <a16:creationId xmlns:a16="http://schemas.microsoft.com/office/drawing/2014/main" id="{D4C9DD7C-EA83-56BB-2898-FE2DB098CBE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90000"/>
              </a:lnSpc>
            </a:pPr>
            <a:r>
              <a:rPr lang="en-US" altLang="en-US" sz="2800" dirty="0">
                <a:latin typeface="Times New Roman" panose="02020603050405020304" pitchFamily="18" charset="0"/>
                <a:cs typeface="Arial" panose="020B0604020202020204" pitchFamily="34" charset="0"/>
              </a:rPr>
              <a:t>Discussion examples: </a:t>
            </a:r>
          </a:p>
          <a:p>
            <a:pPr rtl="0" eaLnBrk="1" hangingPunct="1">
              <a:lnSpc>
                <a:spcPct val="90000"/>
              </a:lnSpc>
            </a:pPr>
            <a:r>
              <a:rPr lang="en-US" altLang="en-US" sz="2800" dirty="0">
                <a:latin typeface="Times New Roman" panose="02020603050405020304" pitchFamily="18" charset="0"/>
                <a:cs typeface="Arial" panose="020B0604020202020204" pitchFamily="34" charset="0"/>
              </a:rPr>
              <a:t>Cell Phones</a:t>
            </a:r>
          </a:p>
          <a:p>
            <a:pPr rtl="0" eaLnBrk="1" hangingPunct="1">
              <a:lnSpc>
                <a:spcPct val="90000"/>
              </a:lnSpc>
            </a:pPr>
            <a:r>
              <a:rPr lang="en-US" altLang="en-US" sz="2800" dirty="0">
                <a:latin typeface="Times New Roman" panose="02020603050405020304" pitchFamily="18" charset="0"/>
                <a:cs typeface="Arial" panose="020B0604020202020204" pitchFamily="34" charset="0"/>
              </a:rPr>
              <a:t>Relatively few in 1990s. Approximately five billion worldwide in 2011. </a:t>
            </a:r>
          </a:p>
          <a:p>
            <a:pPr rtl="0" eaLnBrk="1" hangingPunct="1">
              <a:lnSpc>
                <a:spcPct val="90000"/>
              </a:lnSpc>
            </a:pPr>
            <a:r>
              <a:rPr lang="en-US" altLang="en-US" sz="2800" dirty="0">
                <a:latin typeface="Times New Roman" panose="02020603050405020304" pitchFamily="18" charset="0"/>
                <a:cs typeface="Arial" panose="020B0604020202020204" pitchFamily="34" charset="0"/>
              </a:rPr>
              <a:t>Used for conversations and messaging, but also for:</a:t>
            </a:r>
          </a:p>
          <a:p>
            <a:pPr lvl="1" rtl="0" eaLnBrk="1" hangingPunct="1">
              <a:lnSpc>
                <a:spcPct val="90000"/>
              </a:lnSpc>
            </a:pPr>
            <a:r>
              <a:rPr lang="en-US" altLang="en-US" sz="2600" dirty="0">
                <a:latin typeface="Times New Roman" panose="02020603050405020304" pitchFamily="18" charset="0"/>
                <a:cs typeface="Arial" panose="020B0604020202020204" pitchFamily="34" charset="0"/>
              </a:rPr>
              <a:t>taking and sharing pictures</a:t>
            </a:r>
          </a:p>
          <a:p>
            <a:pPr lvl="1" rtl="0" eaLnBrk="1" hangingPunct="1">
              <a:lnSpc>
                <a:spcPct val="90000"/>
              </a:lnSpc>
            </a:pPr>
            <a:r>
              <a:rPr lang="en-US" altLang="en-US" sz="2600" dirty="0">
                <a:latin typeface="Times New Roman" panose="02020603050405020304" pitchFamily="18" charset="0"/>
                <a:cs typeface="Arial" panose="020B0604020202020204" pitchFamily="34" charset="0"/>
              </a:rPr>
              <a:t>downloading music and watching videos</a:t>
            </a:r>
          </a:p>
          <a:p>
            <a:pPr lvl="1" rtl="0" eaLnBrk="1" hangingPunct="1">
              <a:lnSpc>
                <a:spcPct val="90000"/>
              </a:lnSpc>
            </a:pPr>
            <a:r>
              <a:rPr lang="en-US" altLang="en-US" sz="2600" dirty="0">
                <a:latin typeface="Times New Roman" panose="02020603050405020304" pitchFamily="18" charset="0"/>
                <a:cs typeface="Arial" panose="020B0604020202020204" pitchFamily="34" charset="0"/>
              </a:rPr>
              <a:t>checking email and playing games</a:t>
            </a:r>
          </a:p>
          <a:p>
            <a:pPr lvl="1" rtl="0" eaLnBrk="1" hangingPunct="1">
              <a:lnSpc>
                <a:spcPct val="90000"/>
              </a:lnSpc>
            </a:pPr>
            <a:r>
              <a:rPr lang="en-US" altLang="en-US" sz="2600" dirty="0">
                <a:latin typeface="Times New Roman" panose="02020603050405020304" pitchFamily="18" charset="0"/>
                <a:cs typeface="Arial" panose="020B0604020202020204" pitchFamily="34" charset="0"/>
              </a:rPr>
              <a:t>banking and managing investments</a:t>
            </a:r>
          </a:p>
          <a:p>
            <a:pPr lvl="1" rtl="0" eaLnBrk="1" hangingPunct="1">
              <a:lnSpc>
                <a:spcPct val="90000"/>
              </a:lnSpc>
            </a:pPr>
            <a:r>
              <a:rPr lang="en-US" altLang="en-US" sz="2600" dirty="0">
                <a:latin typeface="Times New Roman" panose="02020603050405020304" pitchFamily="18" charset="0"/>
                <a:cs typeface="Arial" panose="020B0604020202020204" pitchFamily="34" charset="0"/>
              </a:rPr>
              <a:t>finding maps</a:t>
            </a:r>
          </a:p>
          <a:p>
            <a:pPr eaLnBrk="1" hangingPunct="1">
              <a:lnSpc>
                <a:spcPct val="90000"/>
              </a:lnSpc>
            </a:pPr>
            <a:endParaRPr lang="en-US" altLang="en-US" sz="2800" dirty="0">
              <a:latin typeface="Times New Roman" panose="02020603050405020304" pitchFamily="18" charset="0"/>
              <a:cs typeface="Arial" panose="020B0604020202020204" pitchFamily="34" charset="0"/>
            </a:endParaRPr>
          </a:p>
          <a:p>
            <a:pPr eaLnBrk="1" hangingPunct="1">
              <a:lnSpc>
                <a:spcPct val="90000"/>
              </a:lnSpc>
            </a:pPr>
            <a:r>
              <a:rPr lang="en-US" altLang="en-US" sz="2800" dirty="0">
                <a:latin typeface="Times New Roman" panose="02020603050405020304" pitchFamily="18" charset="0"/>
                <a:cs typeface="Arial" panose="020B0604020202020204" pitchFamily="34" charset="0"/>
              </a:rPr>
              <a:t>Smartphone apps for many tasks, including:</a:t>
            </a:r>
          </a:p>
          <a:p>
            <a:pPr lvl="1" eaLnBrk="1" hangingPunct="1">
              <a:lnSpc>
                <a:spcPct val="90000"/>
              </a:lnSpc>
            </a:pPr>
            <a:r>
              <a:rPr lang="en-US" altLang="en-US" sz="2600" dirty="0">
                <a:latin typeface="Times New Roman" panose="02020603050405020304" pitchFamily="18" charset="0"/>
                <a:cs typeface="Arial" panose="020B0604020202020204" pitchFamily="34" charset="0"/>
              </a:rPr>
              <a:t>monitoring diabetes </a:t>
            </a:r>
          </a:p>
          <a:p>
            <a:pPr lvl="1" eaLnBrk="1" hangingPunct="1">
              <a:lnSpc>
                <a:spcPct val="90000"/>
              </a:lnSpc>
            </a:pPr>
            <a:r>
              <a:rPr lang="en-US" altLang="en-US" sz="2600" dirty="0">
                <a:latin typeface="Times New Roman" panose="02020603050405020304" pitchFamily="18" charset="0"/>
                <a:cs typeface="Arial" panose="020B0604020202020204" pitchFamily="34" charset="0"/>
              </a:rPr>
              <a:t>locating water in remote areas </a:t>
            </a:r>
          </a:p>
          <a:p>
            <a:pPr lvl="1" eaLnBrk="1" hangingPunct="1">
              <a:lnSpc>
                <a:spcPct val="90000"/>
              </a:lnSpc>
            </a:pPr>
            <a:endParaRPr lang="en-US" altLang="en-US" sz="2600" dirty="0">
              <a:latin typeface="Times New Roman" panose="02020603050405020304" pitchFamily="18" charset="0"/>
              <a:cs typeface="Arial" panose="020B0604020202020204" pitchFamily="34" charset="0"/>
            </a:endParaRPr>
          </a:p>
          <a:p>
            <a:pPr eaLnBrk="1" hangingPunct="1">
              <a:lnSpc>
                <a:spcPct val="90000"/>
              </a:lnSpc>
            </a:pPr>
            <a:r>
              <a:rPr lang="en-US" altLang="en-US" sz="2400" dirty="0">
                <a:latin typeface="Times New Roman" panose="02020603050405020304" pitchFamily="18" charset="0"/>
                <a:cs typeface="Arial" panose="020B0604020202020204" pitchFamily="34" charset="0"/>
              </a:rPr>
              <a:t>Location tracking raises privacy concerns.</a:t>
            </a:r>
          </a:p>
          <a:p>
            <a:pPr eaLnBrk="1" hangingPunct="1">
              <a:lnSpc>
                <a:spcPct val="90000"/>
              </a:lnSpc>
            </a:pPr>
            <a:r>
              <a:rPr lang="en-US" altLang="en-US" sz="2400" dirty="0">
                <a:latin typeface="Times New Roman" panose="02020603050405020304" pitchFamily="18" charset="0"/>
                <a:cs typeface="Arial" panose="020B0604020202020204" pitchFamily="34" charset="0"/>
              </a:rPr>
              <a:t>Cameras in cell phones affect privacy in public and non-public places.</a:t>
            </a:r>
          </a:p>
          <a:p>
            <a:pPr eaLnBrk="1" hangingPunct="1">
              <a:lnSpc>
                <a:spcPct val="90000"/>
              </a:lnSpc>
            </a:pPr>
            <a:r>
              <a:rPr lang="en-US" altLang="en-US" sz="2400" dirty="0">
                <a:latin typeface="Times New Roman" panose="02020603050405020304" pitchFamily="18" charset="0"/>
                <a:cs typeface="Arial" panose="020B0604020202020204" pitchFamily="34" charset="0"/>
              </a:rPr>
              <a:t>Cell phones can interfere with solitude, quiet and concentration. </a:t>
            </a:r>
          </a:p>
          <a:p>
            <a:pPr eaLnBrk="1" hangingPunct="1">
              <a:lnSpc>
                <a:spcPct val="90000"/>
              </a:lnSpc>
            </a:pPr>
            <a:r>
              <a:rPr lang="en-US" altLang="en-US" sz="2400" dirty="0">
                <a:latin typeface="Times New Roman" panose="02020603050405020304" pitchFamily="18" charset="0"/>
                <a:cs typeface="Arial" panose="020B0604020202020204" pitchFamily="34" charset="0"/>
              </a:rPr>
              <a:t>Talking on cell phones while driving is dangerous.</a:t>
            </a:r>
          </a:p>
          <a:p>
            <a:pPr eaLnBrk="1" hangingPunct="1">
              <a:lnSpc>
                <a:spcPct val="90000"/>
              </a:lnSpc>
            </a:pPr>
            <a:r>
              <a:rPr lang="en-US" altLang="en-US" sz="2400" dirty="0">
                <a:latin typeface="Times New Roman" panose="02020603050405020304" pitchFamily="18" charset="0"/>
                <a:cs typeface="Arial" panose="020B0604020202020204" pitchFamily="34" charset="0"/>
              </a:rPr>
              <a:t>Other unanticipated negative applications:  teenagers sexting, terrorists detonating bombs, rioters organizing looting parties.</a:t>
            </a:r>
            <a:endParaRPr lang="en-US" altLang="en-US" sz="2400" baseline="30000" dirty="0">
              <a:latin typeface="Times New Roman" panose="02020603050405020304" pitchFamily="18" charset="0"/>
              <a:cs typeface="Arial" panose="020B0604020202020204" pitchFamily="34" charset="0"/>
            </a:endParaRPr>
          </a:p>
          <a:p>
            <a:pPr lvl="1" eaLnBrk="1" hangingPunct="1">
              <a:lnSpc>
                <a:spcPct val="90000"/>
              </a:lnSpc>
            </a:pPr>
            <a:endParaRPr lang="en-US" altLang="en-US" sz="2600" dirty="0">
              <a:latin typeface="Times New Roman" panose="02020603050405020304" pitchFamily="18" charset="0"/>
              <a:cs typeface="Arial" panose="020B0604020202020204" pitchFamily="34" charset="0"/>
            </a:endParaRPr>
          </a:p>
          <a:p>
            <a:pPr eaLnBrk="1" hangingPunct="1"/>
            <a:r>
              <a:rPr lang="en-US" altLang="en-US" dirty="0">
                <a:latin typeface="Times New Roman" panose="02020603050405020304" pitchFamily="18" charset="0"/>
                <a:cs typeface="Arial" panose="020B0604020202020204" pitchFamily="34" charset="0"/>
              </a:rPr>
              <a:t>Cameras in cell phones threaten privacy.  Where is the line between capturing news events and evidence of crimes, and voyeurism?  </a:t>
            </a:r>
          </a:p>
          <a:p>
            <a:pPr eaLnBrk="1" hangingPunct="1"/>
            <a:endParaRPr lang="en-US" altLang="en-US" dirty="0">
              <a:latin typeface="Times New Roman" panose="02020603050405020304" pitchFamily="18" charset="0"/>
              <a:cs typeface="Arial" panose="020B0604020202020204" pitchFamily="34" charset="0"/>
            </a:endParaRPr>
          </a:p>
          <a:p>
            <a:pPr eaLnBrk="1" hangingPunct="1"/>
            <a:r>
              <a:rPr lang="en-US" altLang="en-US" dirty="0">
                <a:latin typeface="Times New Roman" panose="02020603050405020304" pitchFamily="18" charset="0"/>
                <a:cs typeface="Arial" panose="020B0604020202020204" pitchFamily="34" charset="0"/>
              </a:rPr>
              <a:t>Some US states have passed laws prohibiting use of hand-held devices while driving.  Recent studies show hands-free devices, while freeing up the hands, do not reduce distractions, particularly among young adult and teenage drivers who often text message while driving.</a:t>
            </a:r>
          </a:p>
          <a:p>
            <a:pPr eaLnBrk="1" hangingPunct="1"/>
            <a:endParaRPr lang="en-US" altLang="en-US" dirty="0">
              <a:latin typeface="Times New Roman" panose="02020603050405020304" pitchFamily="18" charset="0"/>
              <a:cs typeface="Arial" panose="020B0604020202020204" pitchFamily="34" charset="0"/>
            </a:endParaRPr>
          </a:p>
          <a:p>
            <a:pPr eaLnBrk="1" hangingPunct="1">
              <a:buFont typeface="Wingdings" panose="05000000000000000000" pitchFamily="2" charset="2"/>
              <a:buNone/>
            </a:pPr>
            <a:r>
              <a:rPr lang="en-US" altLang="en-US" dirty="0">
                <a:latin typeface="Times New Roman" panose="02020603050405020304" pitchFamily="18" charset="0"/>
                <a:cs typeface="Arial" panose="020B0604020202020204" pitchFamily="34" charset="0"/>
              </a:rPr>
              <a:t>Further discussion examples: Kill switches (in IT)</a:t>
            </a:r>
          </a:p>
          <a:p>
            <a:pPr eaLnBrk="1" hangingPunct="1"/>
            <a:r>
              <a:rPr lang="en-US" altLang="en-US" dirty="0">
                <a:latin typeface="Times New Roman" panose="02020603050405020304" pitchFamily="18" charset="0"/>
                <a:cs typeface="Arial" panose="020B0604020202020204" pitchFamily="34" charset="0"/>
              </a:rPr>
              <a:t>Allow a remote entity to disable applications and delete files.</a:t>
            </a:r>
          </a:p>
          <a:p>
            <a:pPr eaLnBrk="1" hangingPunct="1"/>
            <a:r>
              <a:rPr lang="en-US" altLang="en-US" dirty="0">
                <a:latin typeface="Times New Roman" panose="02020603050405020304" pitchFamily="18" charset="0"/>
                <a:cs typeface="Arial" panose="020B0604020202020204" pitchFamily="34" charset="0"/>
              </a:rPr>
              <a:t>Are in operating systems for smartphones, tablets and some computers. </a:t>
            </a:r>
          </a:p>
          <a:p>
            <a:pPr eaLnBrk="1" hangingPunct="1"/>
            <a:r>
              <a:rPr lang="en-US" altLang="en-US" dirty="0">
                <a:latin typeface="Times New Roman" panose="02020603050405020304" pitchFamily="18" charset="0"/>
                <a:cs typeface="Arial" panose="020B0604020202020204" pitchFamily="34" charset="0"/>
              </a:rPr>
              <a:t>Used mainly for security, but raise concerns about user autonomy.</a:t>
            </a:r>
          </a:p>
          <a:p>
            <a:pPr eaLnBrk="1" hangingPunct="1"/>
            <a:endParaRPr lang="en-US" altLang="en-US" dirty="0">
              <a:latin typeface="Times New Roman" panose="02020603050405020304" pitchFamily="18" charset="0"/>
              <a:cs typeface="Arial" panose="020B0604020202020204" pitchFamily="34" charset="0"/>
            </a:endParaRPr>
          </a:p>
          <a:p>
            <a:pPr eaLnBrk="1" hangingPunct="1"/>
            <a:r>
              <a:rPr lang="en-US" altLang="en-US" dirty="0">
                <a:latin typeface="Times New Roman" panose="02020603050405020304" pitchFamily="18" charset="0"/>
                <a:cs typeface="Arial" panose="020B0604020202020204" pitchFamily="34" charset="0"/>
              </a:rPr>
              <a:t>Kills switches could remove content that infringes copyrights. Could also be used to remove content that a company or government deems offensive.</a:t>
            </a:r>
          </a:p>
          <a:p>
            <a:pPr eaLnBrk="1" hangingPunct="1"/>
            <a:endParaRPr lang="en-US" altLang="en-US" dirty="0">
              <a:latin typeface="Times New Roman" panose="02020603050405020304" pitchFamily="18" charset="0"/>
              <a:cs typeface="Arial" panose="020B0604020202020204" pitchFamily="34" charset="0"/>
            </a:endParaRPr>
          </a:p>
          <a:p>
            <a:pPr eaLnBrk="1" hangingPunct="1"/>
            <a:r>
              <a:rPr lang="en-US" altLang="en-US" dirty="0">
                <a:latin typeface="Times New Roman" panose="02020603050405020304" pitchFamily="18" charset="0"/>
                <a:cs typeface="Arial" panose="020B0604020202020204" pitchFamily="34" charset="0"/>
              </a:rPr>
              <a:t>What if malicious hackers found a way to operate the skill switches on our devices?</a:t>
            </a:r>
          </a:p>
          <a:p>
            <a:pPr eaLnBrk="1" hangingPunct="1"/>
            <a:endParaRPr lang="en-US" altLang="en-US" dirty="0">
              <a:latin typeface="Times New Roman" panose="02020603050405020304" pitchFamily="18" charset="0"/>
              <a:cs typeface="Arial" panose="020B0604020202020204" pitchFamily="34" charset="0"/>
            </a:endParaRPr>
          </a:p>
          <a:p>
            <a:endParaRPr lang="en-GB" altLang="en-US" dirty="0">
              <a:latin typeface="Times New Roman" panose="02020603050405020304" pitchFamily="18" charset="0"/>
              <a:cs typeface="Arial" panose="020B0604020202020204" pitchFamily="34" charset="0"/>
            </a:endParaRPr>
          </a:p>
        </p:txBody>
      </p:sp>
      <p:sp>
        <p:nvSpPr>
          <p:cNvPr id="23556" name="Slide Number Placeholder 3">
            <a:extLst>
              <a:ext uri="{FF2B5EF4-FFF2-40B4-BE49-F238E27FC236}">
                <a16:creationId xmlns:a16="http://schemas.microsoft.com/office/drawing/2014/main" id="{AA13059E-1E1E-3C0E-D920-E47AB814A96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imes New Roman" panose="02020603050405020304" pitchFamily="18" charset="0"/>
                <a:cs typeface="Arial" panose="020B0604020202020204" pitchFamily="34" charset="0"/>
              </a:defRPr>
            </a:lvl1pPr>
            <a:lvl2pPr marL="742950" indent="-285750">
              <a:defRPr>
                <a:solidFill>
                  <a:schemeClr val="tx1"/>
                </a:solidFill>
                <a:latin typeface="Times New Roman" panose="02020603050405020304" pitchFamily="18" charset="0"/>
                <a:cs typeface="Arial" panose="020B0604020202020204" pitchFamily="34" charset="0"/>
              </a:defRPr>
            </a:lvl2pPr>
            <a:lvl3pPr marL="1143000" indent="-228600">
              <a:defRPr>
                <a:solidFill>
                  <a:schemeClr val="tx1"/>
                </a:solidFill>
                <a:latin typeface="Times New Roman" panose="02020603050405020304" pitchFamily="18" charset="0"/>
                <a:cs typeface="Arial" panose="020B0604020202020204" pitchFamily="34" charset="0"/>
              </a:defRPr>
            </a:lvl3pPr>
            <a:lvl4pPr marL="1600200" indent="-228600">
              <a:defRPr>
                <a:solidFill>
                  <a:schemeClr val="tx1"/>
                </a:solidFill>
                <a:latin typeface="Times New Roman" panose="02020603050405020304" pitchFamily="18" charset="0"/>
                <a:cs typeface="Arial" panose="020B0604020202020204" pitchFamily="34" charset="0"/>
              </a:defRPr>
            </a:lvl4pPr>
            <a:lvl5pPr marL="2057400" indent="-228600">
              <a:defRPr>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cs typeface="Arial" panose="020B0604020202020204" pitchFamily="34" charset="0"/>
              </a:defRPr>
            </a:lvl9pPr>
          </a:lstStyle>
          <a:p>
            <a:fld id="{724E2881-5193-4CC0-AAED-7855EA25FD1C}" type="slidenum">
              <a:rPr lang="en-US" altLang="en-US" smtClean="0"/>
              <a:pPr/>
              <a:t>3</a:t>
            </a:fld>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a:extLst>
              <a:ext uri="{FF2B5EF4-FFF2-40B4-BE49-F238E27FC236}">
                <a16:creationId xmlns:a16="http://schemas.microsoft.com/office/drawing/2014/main" id="{742CB851-6ED5-7D59-4E26-930F33DEA22D}"/>
              </a:ext>
            </a:extLst>
          </p:cNvPr>
          <p:cNvSpPr>
            <a:spLocks noGrp="1" noRot="1" noChangeAspect="1" noChangeArrowheads="1" noTextEdit="1"/>
          </p:cNvSpPr>
          <p:nvPr>
            <p:ph type="sldImg"/>
          </p:nvPr>
        </p:nvSpPr>
        <p:spPr>
          <a:ln/>
        </p:spPr>
      </p:sp>
      <p:sp>
        <p:nvSpPr>
          <p:cNvPr id="25603" name="Notes Placeholder 2">
            <a:extLst>
              <a:ext uri="{FF2B5EF4-FFF2-40B4-BE49-F238E27FC236}">
                <a16:creationId xmlns:a16="http://schemas.microsoft.com/office/drawing/2014/main" id="{4DD2A77C-C7FF-BF99-578B-C6DA560D023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latin typeface="Times New Roman" panose="02020603050405020304" pitchFamily="18" charset="0"/>
              <a:cs typeface="Arial" panose="020B0604020202020204" pitchFamily="34" charset="0"/>
            </a:endParaRPr>
          </a:p>
        </p:txBody>
      </p:sp>
      <p:sp>
        <p:nvSpPr>
          <p:cNvPr id="25604" name="Slide Number Placeholder 3">
            <a:extLst>
              <a:ext uri="{FF2B5EF4-FFF2-40B4-BE49-F238E27FC236}">
                <a16:creationId xmlns:a16="http://schemas.microsoft.com/office/drawing/2014/main" id="{6386964B-5890-3E77-3600-39598E474CC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imes New Roman" panose="02020603050405020304" pitchFamily="18" charset="0"/>
                <a:cs typeface="Arial" panose="020B0604020202020204" pitchFamily="34" charset="0"/>
              </a:defRPr>
            </a:lvl1pPr>
            <a:lvl2pPr marL="742950" indent="-285750">
              <a:defRPr>
                <a:solidFill>
                  <a:schemeClr val="tx1"/>
                </a:solidFill>
                <a:latin typeface="Times New Roman" panose="02020603050405020304" pitchFamily="18" charset="0"/>
                <a:cs typeface="Arial" panose="020B0604020202020204" pitchFamily="34" charset="0"/>
              </a:defRPr>
            </a:lvl2pPr>
            <a:lvl3pPr marL="1143000" indent="-228600">
              <a:defRPr>
                <a:solidFill>
                  <a:schemeClr val="tx1"/>
                </a:solidFill>
                <a:latin typeface="Times New Roman" panose="02020603050405020304" pitchFamily="18" charset="0"/>
                <a:cs typeface="Arial" panose="020B0604020202020204" pitchFamily="34" charset="0"/>
              </a:defRPr>
            </a:lvl3pPr>
            <a:lvl4pPr marL="1600200" indent="-228600">
              <a:defRPr>
                <a:solidFill>
                  <a:schemeClr val="tx1"/>
                </a:solidFill>
                <a:latin typeface="Times New Roman" panose="02020603050405020304" pitchFamily="18" charset="0"/>
                <a:cs typeface="Arial" panose="020B0604020202020204" pitchFamily="34" charset="0"/>
              </a:defRPr>
            </a:lvl4pPr>
            <a:lvl5pPr marL="2057400" indent="-228600">
              <a:defRPr>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cs typeface="Arial" panose="020B0604020202020204" pitchFamily="34" charset="0"/>
              </a:defRPr>
            </a:lvl9pPr>
          </a:lstStyle>
          <a:p>
            <a:fld id="{4BC6438E-9CF2-4C78-822D-1EA8A88E677A}" type="slidenum">
              <a:rPr lang="en-US" altLang="en-US" smtClean="0"/>
              <a:pPr/>
              <a:t>4</a:t>
            </a:fld>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a:extLst>
              <a:ext uri="{FF2B5EF4-FFF2-40B4-BE49-F238E27FC236}">
                <a16:creationId xmlns:a16="http://schemas.microsoft.com/office/drawing/2014/main" id="{B8A57DA9-6B10-EE73-82AF-A0714A46F9EF}"/>
              </a:ext>
            </a:extLst>
          </p:cNvPr>
          <p:cNvSpPr>
            <a:spLocks noGrp="1" noRot="1" noChangeAspect="1" noChangeArrowheads="1" noTextEdit="1"/>
          </p:cNvSpPr>
          <p:nvPr>
            <p:ph type="sldImg"/>
          </p:nvPr>
        </p:nvSpPr>
        <p:spPr>
          <a:ln/>
        </p:spPr>
      </p:sp>
      <p:sp>
        <p:nvSpPr>
          <p:cNvPr id="27651" name="Notes Placeholder 2">
            <a:extLst>
              <a:ext uri="{FF2B5EF4-FFF2-40B4-BE49-F238E27FC236}">
                <a16:creationId xmlns:a16="http://schemas.microsoft.com/office/drawing/2014/main" id="{38F1A8BD-4EC0-AB85-61EE-BC911D4B2F1A}"/>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Times New Roman" panose="02020603050405020304" pitchFamily="18" charset="0"/>
                <a:cs typeface="Arial" panose="020B0604020202020204" pitchFamily="34" charset="0"/>
              </a:rPr>
              <a:t>Sites like Second Life (www.secondlife.com) combine many of the features of social networking sites with the 3-D aspects of video games.  What new problems/benefits arise when a person can take on a physical persona (an avatar) that may be completely different from who they are in real life?  Some people with physical disabilities can interact with others without revealing their disability.</a:t>
            </a:r>
          </a:p>
          <a:p>
            <a:pPr eaLnBrk="1" hangingPunct="1"/>
            <a:endParaRPr lang="en-US" altLang="en-US" dirty="0">
              <a:latin typeface="Times New Roman" panose="02020603050405020304" pitchFamily="18" charset="0"/>
              <a:cs typeface="Arial" panose="020B0604020202020204" pitchFamily="34" charset="0"/>
            </a:endParaRPr>
          </a:p>
          <a:p>
            <a:pPr eaLnBrk="1" hangingPunct="1"/>
            <a:r>
              <a:rPr lang="en-US" altLang="en-US" dirty="0">
                <a:latin typeface="Times New Roman" panose="02020603050405020304" pitchFamily="18" charset="0"/>
                <a:cs typeface="Arial" panose="020B0604020202020204" pitchFamily="34" charset="0"/>
              </a:rPr>
              <a:t>Discussion: With Social Networking:</a:t>
            </a:r>
          </a:p>
          <a:p>
            <a:pPr lvl="1" eaLnBrk="1" hangingPunct="1"/>
            <a:r>
              <a:rPr lang="en-US" altLang="en-US" dirty="0">
                <a:latin typeface="Times New Roman" panose="02020603050405020304" pitchFamily="18" charset="0"/>
                <a:cs typeface="Arial" panose="020B0604020202020204" pitchFamily="34" charset="0"/>
              </a:rPr>
              <a:t>Businesses connect with customers.</a:t>
            </a:r>
          </a:p>
          <a:p>
            <a:pPr lvl="1" eaLnBrk="1" hangingPunct="1"/>
            <a:r>
              <a:rPr lang="en-US" altLang="en-US" dirty="0">
                <a:latin typeface="Times New Roman" panose="02020603050405020304" pitchFamily="18" charset="0"/>
                <a:cs typeface="Arial" panose="020B0604020202020204" pitchFamily="34" charset="0"/>
              </a:rPr>
              <a:t>Organizations seek donations.</a:t>
            </a:r>
          </a:p>
          <a:p>
            <a:pPr lvl="1" eaLnBrk="1" hangingPunct="1"/>
            <a:r>
              <a:rPr lang="en-US" altLang="en-US" dirty="0">
                <a:latin typeface="Times New Roman" panose="02020603050405020304" pitchFamily="18" charset="0"/>
                <a:cs typeface="Arial" panose="020B0604020202020204" pitchFamily="34" charset="0"/>
              </a:rPr>
              <a:t>Groups organize volunteers.</a:t>
            </a:r>
          </a:p>
          <a:p>
            <a:pPr lvl="1" eaLnBrk="1" hangingPunct="1"/>
            <a:r>
              <a:rPr lang="en-US" altLang="en-US" dirty="0">
                <a:latin typeface="Times New Roman" panose="02020603050405020304" pitchFamily="18" charset="0"/>
                <a:cs typeface="Arial" panose="020B0604020202020204" pitchFamily="34" charset="0"/>
              </a:rPr>
              <a:t>Protesters organize demonstrations and revolutions.</a:t>
            </a:r>
          </a:p>
          <a:p>
            <a:pPr lvl="1" eaLnBrk="1" hangingPunct="1"/>
            <a:r>
              <a:rPr lang="en-US" altLang="en-US" dirty="0">
                <a:latin typeface="Times New Roman" panose="02020603050405020304" pitchFamily="18" charset="0"/>
                <a:cs typeface="Arial" panose="020B0604020202020204" pitchFamily="34" charset="0"/>
              </a:rPr>
              <a:t>Individuals pool resources through “crowd funding”.</a:t>
            </a:r>
          </a:p>
          <a:p>
            <a:pPr lvl="1" eaLnBrk="1" hangingPunct="1"/>
            <a:r>
              <a:rPr lang="en-US" altLang="en-US" dirty="0">
                <a:latin typeface="Times New Roman" panose="02020603050405020304" pitchFamily="18" charset="0"/>
                <a:cs typeface="Arial" panose="020B0604020202020204" pitchFamily="34" charset="0"/>
              </a:rPr>
              <a:t>Stalkers and bullies stalk and bully.</a:t>
            </a:r>
          </a:p>
          <a:p>
            <a:pPr lvl="1" eaLnBrk="1" hangingPunct="1"/>
            <a:r>
              <a:rPr lang="en-US" altLang="en-US" dirty="0">
                <a:latin typeface="Times New Roman" panose="02020603050405020304" pitchFamily="18" charset="0"/>
                <a:cs typeface="Arial" panose="020B0604020202020204" pitchFamily="34" charset="0"/>
              </a:rPr>
              <a:t>Jurors tweet about court cases during trials. Jurors tweeting about court cases during trials have caused mistrials, overturned convictions, and resulted in jail time for offending jurors.</a:t>
            </a:r>
          </a:p>
          <a:p>
            <a:pPr lvl="1" eaLnBrk="1" hangingPunct="1"/>
            <a:r>
              <a:rPr lang="en-US" altLang="en-US" dirty="0" err="1">
                <a:latin typeface="Times New Roman" panose="02020603050405020304" pitchFamily="18" charset="0"/>
                <a:cs typeface="Arial" panose="020B0604020202020204" pitchFamily="34" charset="0"/>
              </a:rPr>
              <a:t>Socialbots</a:t>
            </a:r>
            <a:r>
              <a:rPr lang="en-US" altLang="en-US" dirty="0">
                <a:latin typeface="Times New Roman" panose="02020603050405020304" pitchFamily="18" charset="0"/>
                <a:cs typeface="Arial" panose="020B0604020202020204" pitchFamily="34" charset="0"/>
              </a:rPr>
              <a:t> simulate humans. </a:t>
            </a:r>
          </a:p>
          <a:p>
            <a:pPr eaLnBrk="1" hangingPunct="1"/>
            <a:endParaRPr lang="en-US" altLang="en-US" dirty="0">
              <a:latin typeface="Times New Roman" panose="02020603050405020304" pitchFamily="18" charset="0"/>
              <a:cs typeface="Arial" panose="020B0604020202020204" pitchFamily="34" charset="0"/>
            </a:endParaRPr>
          </a:p>
          <a:p>
            <a:pPr eaLnBrk="1" hangingPunct="1"/>
            <a:endParaRPr lang="en-US" altLang="en-US" dirty="0">
              <a:latin typeface="Times New Roman" panose="02020603050405020304" pitchFamily="18" charset="0"/>
              <a:cs typeface="Arial" panose="020B0604020202020204" pitchFamily="34" charset="0"/>
            </a:endParaRPr>
          </a:p>
          <a:p>
            <a:pPr eaLnBrk="1" hangingPunct="1"/>
            <a:endParaRPr lang="en-US" altLang="en-US" dirty="0">
              <a:latin typeface="Times New Roman" panose="02020603050405020304" pitchFamily="18" charset="0"/>
              <a:cs typeface="Arial" panose="020B0604020202020204" pitchFamily="34" charset="0"/>
            </a:endParaRPr>
          </a:p>
          <a:p>
            <a:pPr eaLnBrk="1" hangingPunct="1"/>
            <a:endParaRPr lang="en-US" altLang="en-US" dirty="0">
              <a:latin typeface="Times New Roman" panose="02020603050405020304" pitchFamily="18" charset="0"/>
              <a:cs typeface="Arial" panose="020B0604020202020204" pitchFamily="34" charset="0"/>
            </a:endParaRPr>
          </a:p>
          <a:p>
            <a:pPr eaLnBrk="1" hangingPunct="1"/>
            <a:endParaRPr lang="en-US" altLang="en-US" dirty="0">
              <a:latin typeface="Times New Roman" panose="02020603050405020304" pitchFamily="18" charset="0"/>
              <a:cs typeface="Arial" panose="020B0604020202020204" pitchFamily="34" charset="0"/>
            </a:endParaRPr>
          </a:p>
        </p:txBody>
      </p:sp>
      <p:sp>
        <p:nvSpPr>
          <p:cNvPr id="27652" name="Slide Number Placeholder 3">
            <a:extLst>
              <a:ext uri="{FF2B5EF4-FFF2-40B4-BE49-F238E27FC236}">
                <a16:creationId xmlns:a16="http://schemas.microsoft.com/office/drawing/2014/main" id="{5EC2C40A-A64F-2872-86A3-126E8EEAD3E9}"/>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cs typeface="Arial" panose="020B0604020202020204" pitchFamily="34" charset="0"/>
              </a:defRPr>
            </a:lvl1pPr>
            <a:lvl2pPr marL="742950" indent="-285750">
              <a:spcBef>
                <a:spcPct val="30000"/>
              </a:spcBef>
              <a:defRPr sz="1200">
                <a:solidFill>
                  <a:schemeClr val="tx1"/>
                </a:solidFill>
                <a:latin typeface="Times New Roman" panose="02020603050405020304" pitchFamily="18" charset="0"/>
                <a:cs typeface="Arial" panose="020B0604020202020204" pitchFamily="34" charset="0"/>
              </a:defRPr>
            </a:lvl2pPr>
            <a:lvl3pPr marL="1143000" indent="-228600">
              <a:spcBef>
                <a:spcPct val="30000"/>
              </a:spcBef>
              <a:defRPr sz="1200">
                <a:solidFill>
                  <a:schemeClr val="tx1"/>
                </a:solidFill>
                <a:latin typeface="Times New Roman" panose="02020603050405020304" pitchFamily="18" charset="0"/>
                <a:cs typeface="Arial" panose="020B0604020202020204" pitchFamily="34" charset="0"/>
              </a:defRPr>
            </a:lvl3pPr>
            <a:lvl4pPr marL="1600200" indent="-228600">
              <a:spcBef>
                <a:spcPct val="30000"/>
              </a:spcBef>
              <a:defRPr sz="1200">
                <a:solidFill>
                  <a:schemeClr val="tx1"/>
                </a:solidFill>
                <a:latin typeface="Times New Roman" panose="02020603050405020304" pitchFamily="18" charset="0"/>
                <a:cs typeface="Arial" panose="020B0604020202020204" pitchFamily="34" charset="0"/>
              </a:defRPr>
            </a:lvl4pPr>
            <a:lvl5pPr marL="2057400" indent="-228600">
              <a:spcBef>
                <a:spcPct val="30000"/>
              </a:spcBef>
              <a:defRPr sz="12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9pPr>
          </a:lstStyle>
          <a:p>
            <a:pPr>
              <a:spcBef>
                <a:spcPct val="0"/>
              </a:spcBef>
            </a:pPr>
            <a:fld id="{A1F62EC8-5BE5-44A8-8F05-FEB70877C742}" type="slidenum">
              <a:rPr lang="en-US" altLang="en-US" smtClean="0"/>
              <a:pPr>
                <a:spcBef>
                  <a:spcPct val="0"/>
                </a:spcBef>
              </a:pPr>
              <a:t>5</a:t>
            </a:fld>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a:extLst>
              <a:ext uri="{FF2B5EF4-FFF2-40B4-BE49-F238E27FC236}">
                <a16:creationId xmlns:a16="http://schemas.microsoft.com/office/drawing/2014/main" id="{7B5D7A52-CAF7-2778-1DFF-177E10E5EC8F}"/>
              </a:ext>
            </a:extLst>
          </p:cNvPr>
          <p:cNvSpPr>
            <a:spLocks noGrp="1" noRot="1" noChangeAspect="1" noChangeArrowheads="1" noTextEdit="1"/>
          </p:cNvSpPr>
          <p:nvPr>
            <p:ph type="sldImg"/>
          </p:nvPr>
        </p:nvSpPr>
        <p:spPr>
          <a:ln/>
        </p:spPr>
      </p:sp>
      <p:sp>
        <p:nvSpPr>
          <p:cNvPr id="29699" name="Notes Placeholder 2">
            <a:extLst>
              <a:ext uri="{FF2B5EF4-FFF2-40B4-BE49-F238E27FC236}">
                <a16:creationId xmlns:a16="http://schemas.microsoft.com/office/drawing/2014/main" id="{8A9D62CE-BBE9-6153-ED13-4136295CC482}"/>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Wingdings" panose="05000000000000000000" pitchFamily="2" charset="2"/>
              <a:buNone/>
            </a:pPr>
            <a:r>
              <a:rPr lang="en-US" altLang="en-US" dirty="0">
                <a:latin typeface="Times New Roman" panose="02020603050405020304" pitchFamily="18" charset="0"/>
                <a:cs typeface="Arial" panose="020B0604020202020204" pitchFamily="34" charset="0"/>
              </a:rPr>
              <a:t>Further: E-commerce and trust concerns</a:t>
            </a:r>
          </a:p>
          <a:p>
            <a:pPr lvl="1" eaLnBrk="1" hangingPunct="1">
              <a:lnSpc>
                <a:spcPct val="90000"/>
              </a:lnSpc>
            </a:pPr>
            <a:r>
              <a:rPr lang="en-US" altLang="en-US" dirty="0">
                <a:latin typeface="Times New Roman" panose="02020603050405020304" pitchFamily="18" charset="0"/>
                <a:cs typeface="Arial" panose="020B0604020202020204" pitchFamily="34" charset="0"/>
              </a:rPr>
              <a:t>People were reluctant to provide credit card information to make online purchases, so </a:t>
            </a:r>
            <a:r>
              <a:rPr lang="en-US" altLang="en-US" dirty="0">
                <a:latin typeface="Times New Roman" panose="02020603050405020304" pitchFamily="18" charset="0"/>
                <a:cs typeface="Arial" panose="020B0604020202020204" pitchFamily="34" charset="0"/>
                <a:hlinkClick r:id="rId3"/>
              </a:rPr>
              <a:t>PayPal.com</a:t>
            </a:r>
            <a:r>
              <a:rPr lang="en-US" altLang="en-US" dirty="0">
                <a:latin typeface="Times New Roman" panose="02020603050405020304" pitchFamily="18" charset="0"/>
                <a:cs typeface="Arial" panose="020B0604020202020204" pitchFamily="34" charset="0"/>
              </a:rPr>
              <a:t> grew out of need for trusted intermediary to handle payments. </a:t>
            </a:r>
          </a:p>
          <a:p>
            <a:pPr lvl="1" eaLnBrk="1" hangingPunct="1">
              <a:lnSpc>
                <a:spcPct val="90000"/>
              </a:lnSpc>
            </a:pPr>
            <a:r>
              <a:rPr lang="en-US" altLang="en-US" dirty="0">
                <a:latin typeface="Times New Roman" panose="02020603050405020304" pitchFamily="18" charset="0"/>
                <a:cs typeface="Arial" panose="020B0604020202020204" pitchFamily="34" charset="0"/>
              </a:rPr>
              <a:t>Encryption and secure servers made payments safer.</a:t>
            </a:r>
          </a:p>
          <a:p>
            <a:pPr lvl="1" eaLnBrk="1" hangingPunct="1">
              <a:lnSpc>
                <a:spcPct val="90000"/>
              </a:lnSpc>
            </a:pPr>
            <a:r>
              <a:rPr lang="en-US" altLang="en-US" dirty="0">
                <a:latin typeface="Times New Roman" panose="02020603050405020304" pitchFamily="18" charset="0"/>
                <a:cs typeface="Arial" panose="020B0604020202020204" pitchFamily="34" charset="0"/>
              </a:rPr>
              <a:t>The Better Business Bureau established a Web site to help consumers see if others have complained about a business.</a:t>
            </a:r>
          </a:p>
          <a:p>
            <a:pPr lvl="1" eaLnBrk="1" hangingPunct="1">
              <a:lnSpc>
                <a:spcPct val="90000"/>
              </a:lnSpc>
            </a:pPr>
            <a:r>
              <a:rPr lang="en-US" altLang="en-US" dirty="0">
                <a:latin typeface="Times New Roman" panose="02020603050405020304" pitchFamily="18" charset="0"/>
                <a:cs typeface="Arial" panose="020B0604020202020204" pitchFamily="34" charset="0"/>
              </a:rPr>
              <a:t>Auction sites implemented rating systems.</a:t>
            </a:r>
          </a:p>
          <a:p>
            <a:pPr eaLnBrk="1" hangingPunct="1"/>
            <a:endParaRPr lang="en-US" altLang="en-US" dirty="0">
              <a:latin typeface="Times New Roman" panose="02020603050405020304" pitchFamily="18" charset="0"/>
              <a:cs typeface="Arial" panose="020B0604020202020204" pitchFamily="34" charset="0"/>
            </a:endParaRPr>
          </a:p>
        </p:txBody>
      </p:sp>
      <p:sp>
        <p:nvSpPr>
          <p:cNvPr id="29700" name="Slide Number Placeholder 3">
            <a:extLst>
              <a:ext uri="{FF2B5EF4-FFF2-40B4-BE49-F238E27FC236}">
                <a16:creationId xmlns:a16="http://schemas.microsoft.com/office/drawing/2014/main" id="{7B5F47EC-9764-F9DB-CDB5-EB04A82121DB}"/>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cs typeface="Arial" panose="020B0604020202020204" pitchFamily="34" charset="0"/>
              </a:defRPr>
            </a:lvl1pPr>
            <a:lvl2pPr marL="742950" indent="-285750">
              <a:spcBef>
                <a:spcPct val="30000"/>
              </a:spcBef>
              <a:defRPr sz="1200">
                <a:solidFill>
                  <a:schemeClr val="tx1"/>
                </a:solidFill>
                <a:latin typeface="Times New Roman" panose="02020603050405020304" pitchFamily="18" charset="0"/>
                <a:cs typeface="Arial" panose="020B0604020202020204" pitchFamily="34" charset="0"/>
              </a:defRPr>
            </a:lvl2pPr>
            <a:lvl3pPr marL="1143000" indent="-228600">
              <a:spcBef>
                <a:spcPct val="30000"/>
              </a:spcBef>
              <a:defRPr sz="1200">
                <a:solidFill>
                  <a:schemeClr val="tx1"/>
                </a:solidFill>
                <a:latin typeface="Times New Roman" panose="02020603050405020304" pitchFamily="18" charset="0"/>
                <a:cs typeface="Arial" panose="020B0604020202020204" pitchFamily="34" charset="0"/>
              </a:defRPr>
            </a:lvl3pPr>
            <a:lvl4pPr marL="1600200" indent="-228600">
              <a:spcBef>
                <a:spcPct val="30000"/>
              </a:spcBef>
              <a:defRPr sz="1200">
                <a:solidFill>
                  <a:schemeClr val="tx1"/>
                </a:solidFill>
                <a:latin typeface="Times New Roman" panose="02020603050405020304" pitchFamily="18" charset="0"/>
                <a:cs typeface="Arial" panose="020B0604020202020204" pitchFamily="34" charset="0"/>
              </a:defRPr>
            </a:lvl4pPr>
            <a:lvl5pPr marL="2057400" indent="-228600">
              <a:spcBef>
                <a:spcPct val="30000"/>
              </a:spcBef>
              <a:defRPr sz="12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9pPr>
          </a:lstStyle>
          <a:p>
            <a:pPr>
              <a:spcBef>
                <a:spcPct val="0"/>
              </a:spcBef>
            </a:pPr>
            <a:fld id="{DA881A5C-543C-41DB-BCDF-77279532AA55}" type="slidenum">
              <a:rPr lang="en-US" altLang="en-US" smtClean="0"/>
              <a:pPr>
                <a:spcBef>
                  <a:spcPct val="0"/>
                </a:spcBef>
              </a:pPr>
              <a:t>6</a:t>
            </a:fld>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a:extLst>
              <a:ext uri="{FF2B5EF4-FFF2-40B4-BE49-F238E27FC236}">
                <a16:creationId xmlns:a16="http://schemas.microsoft.com/office/drawing/2014/main" id="{EC22685E-BF98-9CBB-FF37-969C3AA7C5E9}"/>
              </a:ext>
            </a:extLst>
          </p:cNvPr>
          <p:cNvSpPr>
            <a:spLocks noGrp="1" noRot="1" noChangeAspect="1" noChangeArrowheads="1" noTextEdit="1"/>
          </p:cNvSpPr>
          <p:nvPr>
            <p:ph type="sldImg"/>
          </p:nvPr>
        </p:nvSpPr>
        <p:spPr>
          <a:ln/>
        </p:spPr>
      </p:sp>
      <p:sp>
        <p:nvSpPr>
          <p:cNvPr id="31747" name="Notes Placeholder 2">
            <a:extLst>
              <a:ext uri="{FF2B5EF4-FFF2-40B4-BE49-F238E27FC236}">
                <a16:creationId xmlns:a16="http://schemas.microsoft.com/office/drawing/2014/main" id="{3F425A2F-E8D7-7BC9-931C-CFBE0BF5DD4D}"/>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Times New Roman" panose="02020603050405020304" pitchFamily="18" charset="0"/>
                <a:cs typeface="Arial" panose="020B0604020202020204" pitchFamily="34" charset="0"/>
              </a:rPr>
              <a:t>Discussion: In 1997, IBM’s chess computer, Deep Blue, beat World Champion Garry Kasparov in a tournament. In 2011, another IBM computer system called Watson defeated human </a:t>
            </a:r>
            <a:r>
              <a:rPr lang="en-US" altLang="en-US" i="1" dirty="0">
                <a:latin typeface="Times New Roman" panose="02020603050405020304" pitchFamily="18" charset="0"/>
                <a:cs typeface="Arial" panose="020B0604020202020204" pitchFamily="34" charset="0"/>
              </a:rPr>
              <a:t>Jeopardy!</a:t>
            </a:r>
            <a:r>
              <a:rPr lang="en-US" altLang="en-US" dirty="0">
                <a:latin typeface="Times New Roman" panose="02020603050405020304" pitchFamily="18" charset="0"/>
                <a:cs typeface="Arial" panose="020B0604020202020204" pitchFamily="34" charset="0"/>
              </a:rPr>
              <a:t> champions by answering questions more quickly than the humans. </a:t>
            </a:r>
          </a:p>
        </p:txBody>
      </p:sp>
      <p:sp>
        <p:nvSpPr>
          <p:cNvPr id="31748" name="Slide Number Placeholder 3">
            <a:extLst>
              <a:ext uri="{FF2B5EF4-FFF2-40B4-BE49-F238E27FC236}">
                <a16:creationId xmlns:a16="http://schemas.microsoft.com/office/drawing/2014/main" id="{0EFC6244-E6B2-2EF7-84A4-C3B6EB210EBF}"/>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cs typeface="Arial" panose="020B0604020202020204" pitchFamily="34" charset="0"/>
              </a:defRPr>
            </a:lvl1pPr>
            <a:lvl2pPr marL="742950" indent="-285750">
              <a:spcBef>
                <a:spcPct val="30000"/>
              </a:spcBef>
              <a:defRPr sz="1200">
                <a:solidFill>
                  <a:schemeClr val="tx1"/>
                </a:solidFill>
                <a:latin typeface="Times New Roman" panose="02020603050405020304" pitchFamily="18" charset="0"/>
                <a:cs typeface="Arial" panose="020B0604020202020204" pitchFamily="34" charset="0"/>
              </a:defRPr>
            </a:lvl2pPr>
            <a:lvl3pPr marL="1143000" indent="-228600">
              <a:spcBef>
                <a:spcPct val="30000"/>
              </a:spcBef>
              <a:defRPr sz="1200">
                <a:solidFill>
                  <a:schemeClr val="tx1"/>
                </a:solidFill>
                <a:latin typeface="Times New Roman" panose="02020603050405020304" pitchFamily="18" charset="0"/>
                <a:cs typeface="Arial" panose="020B0604020202020204" pitchFamily="34" charset="0"/>
              </a:defRPr>
            </a:lvl3pPr>
            <a:lvl4pPr marL="1600200" indent="-228600">
              <a:spcBef>
                <a:spcPct val="30000"/>
              </a:spcBef>
              <a:defRPr sz="1200">
                <a:solidFill>
                  <a:schemeClr val="tx1"/>
                </a:solidFill>
                <a:latin typeface="Times New Roman" panose="02020603050405020304" pitchFamily="18" charset="0"/>
                <a:cs typeface="Arial" panose="020B0604020202020204" pitchFamily="34" charset="0"/>
              </a:defRPr>
            </a:lvl4pPr>
            <a:lvl5pPr marL="2057400" indent="-228600">
              <a:spcBef>
                <a:spcPct val="30000"/>
              </a:spcBef>
              <a:defRPr sz="12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9pPr>
          </a:lstStyle>
          <a:p>
            <a:pPr>
              <a:spcBef>
                <a:spcPct val="0"/>
              </a:spcBef>
            </a:pPr>
            <a:fld id="{669CA255-E338-41E4-8E0C-C70E33EC2C99}" type="slidenum">
              <a:rPr lang="en-US" altLang="en-US" smtClean="0"/>
              <a:pPr>
                <a:spcBef>
                  <a:spcPct val="0"/>
                </a:spcBef>
              </a:pPr>
              <a:t>7</a:t>
            </a:fld>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a:extLst>
              <a:ext uri="{FF2B5EF4-FFF2-40B4-BE49-F238E27FC236}">
                <a16:creationId xmlns:a16="http://schemas.microsoft.com/office/drawing/2014/main" id="{DB4436F8-1E78-2BC7-CD81-F2B7DD71C5B6}"/>
              </a:ext>
            </a:extLst>
          </p:cNvPr>
          <p:cNvSpPr>
            <a:spLocks noGrp="1" noRot="1" noChangeAspect="1" noChangeArrowheads="1" noTextEdit="1"/>
          </p:cNvSpPr>
          <p:nvPr>
            <p:ph type="sldImg"/>
          </p:nvPr>
        </p:nvSpPr>
        <p:spPr>
          <a:ln/>
        </p:spPr>
      </p:sp>
      <p:sp>
        <p:nvSpPr>
          <p:cNvPr id="33795" name="Notes Placeholder 2">
            <a:extLst>
              <a:ext uri="{FF2B5EF4-FFF2-40B4-BE49-F238E27FC236}">
                <a16:creationId xmlns:a16="http://schemas.microsoft.com/office/drawing/2014/main" id="{A6A028A1-F981-8F72-7141-EE4A3C76506D}"/>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Times New Roman" panose="02020603050405020304" pitchFamily="18" charset="0"/>
                <a:cs typeface="Arial" panose="020B0604020202020204" pitchFamily="34" charset="0"/>
              </a:rPr>
              <a:t>Old problems in a new context: Cyberspace has many of the problems, annoyances, and controversies of non-cyber life: crime, pornography, violent fiction and games, advertising, copyright infringement, gambling, and products that do not work right.</a:t>
            </a:r>
          </a:p>
          <a:p>
            <a:pPr eaLnBrk="1" hangingPunct="1"/>
            <a:r>
              <a:rPr lang="en-US" altLang="en-US" dirty="0">
                <a:latin typeface="Times New Roman" panose="02020603050405020304" pitchFamily="18" charset="0"/>
                <a:cs typeface="Arial" panose="020B0604020202020204" pitchFamily="34" charset="0"/>
              </a:rPr>
              <a:t>Adapting to new technology: Changes in technology require adaptive changes in laws, social institutions, business policies, personal skills, attitudes, and behavior.</a:t>
            </a:r>
          </a:p>
          <a:p>
            <a:pPr eaLnBrk="1" hangingPunct="1"/>
            <a:r>
              <a:rPr lang="en-US" altLang="en-US" dirty="0">
                <a:latin typeface="Times New Roman" panose="02020603050405020304" pitchFamily="18" charset="0"/>
                <a:cs typeface="Arial" panose="020B0604020202020204" pitchFamily="34" charset="0"/>
              </a:rPr>
              <a:t>Varied sources of solutions to problems:  Solutions for problems that result from new technology come from more or improved  technology, the market, management policies, education and public awareness, volunteer efforts, and law.</a:t>
            </a:r>
          </a:p>
          <a:p>
            <a:pPr eaLnBrk="1" hangingPunct="1"/>
            <a:endParaRPr lang="en-US" altLang="en-US" dirty="0">
              <a:latin typeface="Times New Roman" panose="02020603050405020304" pitchFamily="18" charset="0"/>
              <a:cs typeface="Arial" panose="020B0604020202020204" pitchFamily="34" charset="0"/>
            </a:endParaRPr>
          </a:p>
          <a:p>
            <a:pPr eaLnBrk="1" hangingPunct="1"/>
            <a:r>
              <a:rPr lang="en-US" altLang="en-US" dirty="0">
                <a:latin typeface="Times New Roman" panose="02020603050405020304" pitchFamily="18" charset="0"/>
                <a:cs typeface="Arial" panose="020B0604020202020204" pitchFamily="34" charset="0"/>
              </a:rPr>
              <a:t>Global reach of Net: The ease of communication with distant countries has profound social, economic, and political effects – some beneficial, some not.</a:t>
            </a:r>
          </a:p>
          <a:p>
            <a:pPr eaLnBrk="1" hangingPunct="1"/>
            <a:r>
              <a:rPr lang="en-US" altLang="en-US" dirty="0">
                <a:latin typeface="Times New Roman" panose="02020603050405020304" pitchFamily="18" charset="0"/>
                <a:cs typeface="Arial" panose="020B0604020202020204" pitchFamily="34" charset="0"/>
              </a:rPr>
              <a:t>Trade-offs and controversy: Increasing privacy and security often means reducing convenience. Protecting privacy makes law enforcement more difficult. Unpleasant, offensive, or inaccurate information accompanies our access to the Web’s vast amounts of useful information.</a:t>
            </a:r>
          </a:p>
          <a:p>
            <a:pPr eaLnBrk="1" hangingPunct="1"/>
            <a:endParaRPr lang="en-US" altLang="en-US" dirty="0">
              <a:latin typeface="Times New Roman" panose="02020603050405020304" pitchFamily="18" charset="0"/>
              <a:cs typeface="Arial" panose="020B0604020202020204" pitchFamily="34" charset="0"/>
            </a:endParaRPr>
          </a:p>
          <a:p>
            <a:pPr eaLnBrk="1" hangingPunct="1"/>
            <a:r>
              <a:rPr lang="en-US" altLang="en-US" dirty="0">
                <a:latin typeface="Times New Roman" panose="02020603050405020304" pitchFamily="18" charset="0"/>
                <a:cs typeface="Arial" panose="020B0604020202020204" pitchFamily="34" charset="0"/>
              </a:rPr>
              <a:t>We should not compare new technologies and applications to some ideal perfect service with zero side effects and zero risk. Instead, we should compare them to the alternatives and weigh the problems against the benefits. </a:t>
            </a:r>
          </a:p>
          <a:p>
            <a:pPr eaLnBrk="1" hangingPunct="1"/>
            <a:endParaRPr lang="en-US" altLang="en-US" dirty="0">
              <a:latin typeface="Times New Roman" panose="02020603050405020304" pitchFamily="18" charset="0"/>
              <a:cs typeface="Arial" panose="020B0604020202020204" pitchFamily="34" charset="0"/>
            </a:endParaRPr>
          </a:p>
          <a:p>
            <a:pPr eaLnBrk="1" hangingPunct="1"/>
            <a:r>
              <a:rPr lang="en-US" altLang="en-US" dirty="0">
                <a:latin typeface="Times New Roman" panose="02020603050405020304" pitchFamily="18" charset="0"/>
                <a:cs typeface="Arial" panose="020B0604020202020204" pitchFamily="34" charset="0"/>
              </a:rPr>
              <a:t>The criteria for making personal choices, for making policies for businesses and organizations, and for writing laws are fundamentally different.</a:t>
            </a:r>
          </a:p>
          <a:p>
            <a:pPr eaLnBrk="1" hangingPunct="1"/>
            <a:endParaRPr lang="en-US" altLang="en-US" dirty="0">
              <a:latin typeface="Times New Roman" panose="02020603050405020304" pitchFamily="18" charset="0"/>
              <a:cs typeface="Arial" panose="020B0604020202020204" pitchFamily="34" charset="0"/>
            </a:endParaRPr>
          </a:p>
          <a:p>
            <a:pPr eaLnBrk="1" hangingPunct="1"/>
            <a:endParaRPr lang="en-US" altLang="en-US" dirty="0">
              <a:latin typeface="Times New Roman" panose="02020603050405020304" pitchFamily="18" charset="0"/>
              <a:cs typeface="Arial" panose="020B0604020202020204" pitchFamily="34" charset="0"/>
            </a:endParaRPr>
          </a:p>
        </p:txBody>
      </p:sp>
      <p:sp>
        <p:nvSpPr>
          <p:cNvPr id="33796" name="Slide Number Placeholder 3">
            <a:extLst>
              <a:ext uri="{FF2B5EF4-FFF2-40B4-BE49-F238E27FC236}">
                <a16:creationId xmlns:a16="http://schemas.microsoft.com/office/drawing/2014/main" id="{BAC9FCDE-4E73-8F42-DC7F-F00632D2EDED}"/>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cs typeface="Arial" panose="020B0604020202020204" pitchFamily="34" charset="0"/>
              </a:defRPr>
            </a:lvl1pPr>
            <a:lvl2pPr marL="742950" indent="-285750">
              <a:spcBef>
                <a:spcPct val="30000"/>
              </a:spcBef>
              <a:defRPr sz="1200">
                <a:solidFill>
                  <a:schemeClr val="tx1"/>
                </a:solidFill>
                <a:latin typeface="Times New Roman" panose="02020603050405020304" pitchFamily="18" charset="0"/>
                <a:cs typeface="Arial" panose="020B0604020202020204" pitchFamily="34" charset="0"/>
              </a:defRPr>
            </a:lvl2pPr>
            <a:lvl3pPr marL="1143000" indent="-228600">
              <a:spcBef>
                <a:spcPct val="30000"/>
              </a:spcBef>
              <a:defRPr sz="1200">
                <a:solidFill>
                  <a:schemeClr val="tx1"/>
                </a:solidFill>
                <a:latin typeface="Times New Roman" panose="02020603050405020304" pitchFamily="18" charset="0"/>
                <a:cs typeface="Arial" panose="020B0604020202020204" pitchFamily="34" charset="0"/>
              </a:defRPr>
            </a:lvl3pPr>
            <a:lvl4pPr marL="1600200" indent="-228600">
              <a:spcBef>
                <a:spcPct val="30000"/>
              </a:spcBef>
              <a:defRPr sz="1200">
                <a:solidFill>
                  <a:schemeClr val="tx1"/>
                </a:solidFill>
                <a:latin typeface="Times New Roman" panose="02020603050405020304" pitchFamily="18" charset="0"/>
                <a:cs typeface="Arial" panose="020B0604020202020204" pitchFamily="34" charset="0"/>
              </a:defRPr>
            </a:lvl4pPr>
            <a:lvl5pPr marL="2057400" indent="-228600">
              <a:spcBef>
                <a:spcPct val="30000"/>
              </a:spcBef>
              <a:defRPr sz="12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9pPr>
          </a:lstStyle>
          <a:p>
            <a:pPr>
              <a:spcBef>
                <a:spcPct val="0"/>
              </a:spcBef>
            </a:pPr>
            <a:fld id="{F16A25E7-252B-4571-B45D-55E12ED8B67E}" type="slidenum">
              <a:rPr lang="en-US" altLang="en-US" smtClean="0"/>
              <a:pPr>
                <a:spcBef>
                  <a:spcPct val="0"/>
                </a:spcBef>
              </a:pPr>
              <a:t>8</a:t>
            </a:fld>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a:extLst>
              <a:ext uri="{FF2B5EF4-FFF2-40B4-BE49-F238E27FC236}">
                <a16:creationId xmlns:a16="http://schemas.microsoft.com/office/drawing/2014/main" id="{D6A74E41-E9F8-4C01-97AC-14D2812691FD}"/>
              </a:ext>
            </a:extLst>
          </p:cNvPr>
          <p:cNvSpPr>
            <a:spLocks noGrp="1" noRot="1" noChangeAspect="1" noChangeArrowheads="1" noTextEdit="1"/>
          </p:cNvSpPr>
          <p:nvPr>
            <p:ph type="sldImg"/>
          </p:nvPr>
        </p:nvSpPr>
        <p:spPr>
          <a:ln/>
        </p:spPr>
      </p:sp>
      <p:sp>
        <p:nvSpPr>
          <p:cNvPr id="35843" name="Notes Placeholder 2">
            <a:extLst>
              <a:ext uri="{FF2B5EF4-FFF2-40B4-BE49-F238E27FC236}">
                <a16:creationId xmlns:a16="http://schemas.microsoft.com/office/drawing/2014/main" id="{9E915CDD-2B8B-53E7-387E-42894AD70A9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Times New Roman" panose="02020603050405020304" pitchFamily="18" charset="0"/>
                <a:cs typeface="Arial" panose="020B0604020202020204" pitchFamily="34" charset="0"/>
              </a:rPr>
              <a:t>A variety of ethical views:</a:t>
            </a:r>
          </a:p>
          <a:p>
            <a:pPr lvl="1" eaLnBrk="1" hangingPunct="1"/>
            <a:r>
              <a:rPr lang="en-US" altLang="en-US" dirty="0">
                <a:latin typeface="Times New Roman" panose="02020603050405020304" pitchFamily="18" charset="0"/>
                <a:cs typeface="Arial" panose="020B0604020202020204" pitchFamily="34" charset="0"/>
              </a:rPr>
              <a:t>Deontological theories: </a:t>
            </a:r>
            <a:r>
              <a:rPr lang="en-US" sz="1200" b="0" i="0" kern="1200" dirty="0">
                <a:solidFill>
                  <a:schemeClr val="tx1"/>
                </a:solidFill>
                <a:effectLst/>
                <a:latin typeface="Times New Roman" charset="0"/>
                <a:ea typeface="+mn-ea"/>
                <a:cs typeface="Arial" charset="0"/>
              </a:rPr>
              <a:t>Deontological ethics, also known as duty-based ethics, is a moral theory that </a:t>
            </a:r>
            <a:r>
              <a:rPr lang="en-US" sz="1200" b="0" i="0" kern="1200" dirty="0" err="1">
                <a:solidFill>
                  <a:schemeClr val="tx1"/>
                </a:solidFill>
                <a:effectLst/>
                <a:latin typeface="Times New Roman" charset="0"/>
                <a:ea typeface="+mn-ea"/>
                <a:cs typeface="Arial" charset="0"/>
              </a:rPr>
              <a:t>emphasises</a:t>
            </a:r>
            <a:r>
              <a:rPr lang="en-US" sz="1200" b="0" i="0" kern="1200" dirty="0">
                <a:solidFill>
                  <a:schemeClr val="tx1"/>
                </a:solidFill>
                <a:effectLst/>
                <a:latin typeface="Times New Roman" charset="0"/>
                <a:ea typeface="+mn-ea"/>
                <a:cs typeface="Arial" charset="0"/>
              </a:rPr>
              <a:t> the rightness or wrongness of actions themselves, rather than their consequences. It focuses on adherence to moral duties and rules, regardless of whether those actions lead to positive or negative outcomes.</a:t>
            </a:r>
            <a:endParaRPr lang="en-US" altLang="en-US" dirty="0">
              <a:latin typeface="Times New Roman" panose="02020603050405020304" pitchFamily="18" charset="0"/>
              <a:cs typeface="Arial" panose="020B0604020202020204" pitchFamily="34" charset="0"/>
            </a:endParaRPr>
          </a:p>
          <a:p>
            <a:pPr lvl="1" eaLnBrk="1" hangingPunct="1"/>
            <a:r>
              <a:rPr lang="en-US" altLang="en-US" dirty="0">
                <a:latin typeface="Times New Roman" panose="02020603050405020304" pitchFamily="18" charset="0"/>
                <a:cs typeface="Arial" panose="020B0604020202020204" pitchFamily="34" charset="0"/>
              </a:rPr>
              <a:t>Utilitarianism </a:t>
            </a:r>
            <a:r>
              <a:rPr lang="en-US" sz="1200" b="0" i="0" kern="1200" dirty="0">
                <a:solidFill>
                  <a:schemeClr val="tx1"/>
                </a:solidFill>
                <a:effectLst/>
                <a:latin typeface="Times New Roman" charset="0"/>
                <a:ea typeface="+mn-ea"/>
                <a:cs typeface="Arial" charset="0"/>
              </a:rPr>
              <a:t>is an ethical theory that determines right and wrong based on the consequences of actions, aiming to </a:t>
            </a:r>
            <a:r>
              <a:rPr lang="en-US" sz="1200" b="0" i="0" kern="1200" dirty="0" err="1">
                <a:solidFill>
                  <a:schemeClr val="tx1"/>
                </a:solidFill>
                <a:effectLst/>
                <a:latin typeface="Times New Roman" charset="0"/>
                <a:ea typeface="+mn-ea"/>
                <a:cs typeface="Arial" charset="0"/>
              </a:rPr>
              <a:t>maximise</a:t>
            </a:r>
            <a:r>
              <a:rPr lang="en-US" sz="1200" b="0" i="0" kern="1200" dirty="0">
                <a:solidFill>
                  <a:schemeClr val="tx1"/>
                </a:solidFill>
                <a:effectLst/>
                <a:latin typeface="Times New Roman" charset="0"/>
                <a:ea typeface="+mn-ea"/>
                <a:cs typeface="Arial" charset="0"/>
              </a:rPr>
              <a:t> overall well-being or happiness for the greatest number of people. It's a form of consequentialism, meaning the moral worth of an action is judged solely by its result. For example, a utilitarian approach might justify </a:t>
            </a:r>
            <a:r>
              <a:rPr lang="en-US" sz="1200" b="0" i="0" kern="1200" dirty="0" err="1">
                <a:solidFill>
                  <a:schemeClr val="tx1"/>
                </a:solidFill>
                <a:effectLst/>
                <a:latin typeface="Times New Roman" charset="0"/>
                <a:ea typeface="+mn-ea"/>
                <a:cs typeface="Arial" charset="0"/>
              </a:rPr>
              <a:t>prioritising</a:t>
            </a:r>
            <a:r>
              <a:rPr lang="en-US" sz="1200" b="0" i="0" kern="1200" dirty="0">
                <a:solidFill>
                  <a:schemeClr val="tx1"/>
                </a:solidFill>
                <a:effectLst/>
                <a:latin typeface="Times New Roman" charset="0"/>
                <a:ea typeface="+mn-ea"/>
                <a:cs typeface="Arial" charset="0"/>
              </a:rPr>
              <a:t> resources to treat the most severe illnesses to save the most lives, even if it means delaying or denying treatment for less serious conditions.</a:t>
            </a:r>
            <a:endParaRPr lang="en-US" altLang="en-US" dirty="0">
              <a:latin typeface="Times New Roman" panose="02020603050405020304" pitchFamily="18" charset="0"/>
              <a:cs typeface="Arial" panose="020B0604020202020204" pitchFamily="34" charset="0"/>
            </a:endParaRPr>
          </a:p>
          <a:p>
            <a:pPr lvl="1" eaLnBrk="1" hangingPunct="1"/>
            <a:r>
              <a:rPr lang="en-US" altLang="en-US" dirty="0">
                <a:latin typeface="Times New Roman" panose="02020603050405020304" pitchFamily="18" charset="0"/>
                <a:cs typeface="Arial" panose="020B0604020202020204" pitchFamily="34" charset="0"/>
              </a:rPr>
              <a:t>Natural rights: </a:t>
            </a:r>
            <a:r>
              <a:rPr lang="en-US" sz="1200" b="0" i="0" kern="1200" dirty="0">
                <a:solidFill>
                  <a:schemeClr val="tx1"/>
                </a:solidFill>
                <a:effectLst/>
                <a:latin typeface="Times New Roman" charset="0"/>
                <a:ea typeface="+mn-ea"/>
                <a:cs typeface="Arial" charset="0"/>
              </a:rPr>
              <a:t>Natural rights are fundamental rights believed to be inherent to all individuals, existing prior to and independently of any government or legal system. These rights are considered universal and inalienable, meaning they cannot be taken away or transferred. Commonly cited examples of natural rights include the rights to life, liberty, and property, though the specific list can vary.</a:t>
            </a:r>
            <a:endParaRPr lang="en-US" altLang="en-US" dirty="0">
              <a:latin typeface="Times New Roman" panose="02020603050405020304" pitchFamily="18" charset="0"/>
              <a:cs typeface="Arial" panose="020B0604020202020204" pitchFamily="34" charset="0"/>
            </a:endParaRPr>
          </a:p>
        </p:txBody>
      </p:sp>
      <p:sp>
        <p:nvSpPr>
          <p:cNvPr id="35844" name="Slide Number Placeholder 3">
            <a:extLst>
              <a:ext uri="{FF2B5EF4-FFF2-40B4-BE49-F238E27FC236}">
                <a16:creationId xmlns:a16="http://schemas.microsoft.com/office/drawing/2014/main" id="{1E411DD9-9C49-779F-0049-6C4EB00C718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imes New Roman" panose="02020603050405020304" pitchFamily="18" charset="0"/>
                <a:cs typeface="Arial" panose="020B0604020202020204" pitchFamily="34" charset="0"/>
              </a:defRPr>
            </a:lvl1pPr>
            <a:lvl2pPr marL="742950" indent="-285750">
              <a:defRPr>
                <a:solidFill>
                  <a:schemeClr val="tx1"/>
                </a:solidFill>
                <a:latin typeface="Times New Roman" panose="02020603050405020304" pitchFamily="18" charset="0"/>
                <a:cs typeface="Arial" panose="020B0604020202020204" pitchFamily="34" charset="0"/>
              </a:defRPr>
            </a:lvl2pPr>
            <a:lvl3pPr marL="1143000" indent="-228600">
              <a:defRPr>
                <a:solidFill>
                  <a:schemeClr val="tx1"/>
                </a:solidFill>
                <a:latin typeface="Times New Roman" panose="02020603050405020304" pitchFamily="18" charset="0"/>
                <a:cs typeface="Arial" panose="020B0604020202020204" pitchFamily="34" charset="0"/>
              </a:defRPr>
            </a:lvl3pPr>
            <a:lvl4pPr marL="1600200" indent="-228600">
              <a:defRPr>
                <a:solidFill>
                  <a:schemeClr val="tx1"/>
                </a:solidFill>
                <a:latin typeface="Times New Roman" panose="02020603050405020304" pitchFamily="18" charset="0"/>
                <a:cs typeface="Arial" panose="020B0604020202020204" pitchFamily="34" charset="0"/>
              </a:defRPr>
            </a:lvl4pPr>
            <a:lvl5pPr marL="2057400" indent="-228600">
              <a:defRPr>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cs typeface="Arial" panose="020B0604020202020204" pitchFamily="34" charset="0"/>
              </a:defRPr>
            </a:lvl9pPr>
          </a:lstStyle>
          <a:p>
            <a:fld id="{7F86AD24-175F-4F42-AD27-50C4DEA33360}" type="slidenum">
              <a:rPr lang="en-US" altLang="en-US" smtClean="0"/>
              <a:pPr/>
              <a:t>9</a:t>
            </a:fld>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a:extLst>
              <a:ext uri="{FF2B5EF4-FFF2-40B4-BE49-F238E27FC236}">
                <a16:creationId xmlns:a16="http://schemas.microsoft.com/office/drawing/2014/main" id="{58EB5E0A-850D-54C3-6F61-4213535CEF96}"/>
              </a:ext>
            </a:extLst>
          </p:cNvPr>
          <p:cNvSpPr>
            <a:spLocks noGrp="1" noRot="1" noChangeAspect="1" noChangeArrowheads="1" noTextEdit="1"/>
          </p:cNvSpPr>
          <p:nvPr>
            <p:ph type="sldImg"/>
          </p:nvPr>
        </p:nvSpPr>
        <p:spPr>
          <a:ln/>
        </p:spPr>
      </p:sp>
      <p:sp>
        <p:nvSpPr>
          <p:cNvPr id="37891" name="Notes Placeholder 2">
            <a:extLst>
              <a:ext uri="{FF2B5EF4-FFF2-40B4-BE49-F238E27FC236}">
                <a16:creationId xmlns:a16="http://schemas.microsoft.com/office/drawing/2014/main" id="{1FCAF5BD-243A-F9B3-1540-53C06BB0E32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Wingdings" panose="05000000000000000000" pitchFamily="2" charset="2"/>
              <a:buNone/>
            </a:pPr>
            <a:r>
              <a:rPr lang="en-US" altLang="en-US" dirty="0">
                <a:latin typeface="Times New Roman" panose="02020603050405020304" pitchFamily="18" charset="0"/>
                <a:cs typeface="Arial" panose="020B0604020202020204" pitchFamily="34" charset="0"/>
              </a:rPr>
              <a:t>A variety of ethical views (cont.):</a:t>
            </a:r>
          </a:p>
          <a:p>
            <a:pPr lvl="1" eaLnBrk="1" hangingPunct="1"/>
            <a:r>
              <a:rPr lang="en-US" altLang="en-US" sz="2800" dirty="0">
                <a:latin typeface="Times New Roman" panose="02020603050405020304" pitchFamily="18" charset="0"/>
                <a:cs typeface="Arial" panose="020B0604020202020204" pitchFamily="34" charset="0"/>
              </a:rPr>
              <a:t>Social contracts and a theory of political justice</a:t>
            </a:r>
          </a:p>
          <a:p>
            <a:pPr lvl="2" eaLnBrk="1" hangingPunct="1"/>
            <a:r>
              <a:rPr lang="en-US" altLang="en-US" sz="2400" dirty="0">
                <a:latin typeface="Times New Roman" panose="02020603050405020304" pitchFamily="18" charset="0"/>
                <a:cs typeface="Arial" panose="020B0604020202020204" pitchFamily="34" charset="0"/>
              </a:rPr>
              <a:t>People willingly submit to a common law in order to live in a civil society.</a:t>
            </a:r>
          </a:p>
          <a:p>
            <a:pPr lvl="1"/>
            <a:r>
              <a:rPr lang="en-US" altLang="en-US" dirty="0">
                <a:latin typeface="Times New Roman" panose="02020603050405020304" pitchFamily="18" charset="0"/>
                <a:cs typeface="Arial" panose="020B0604020202020204" pitchFamily="34" charset="0"/>
              </a:rPr>
              <a:t>Ethical theories do not provide clear, incontrovertibly correct positions on most issues. We can use the approaches we described to support opposite sides of many an issue. </a:t>
            </a:r>
          </a:p>
          <a:p>
            <a:endParaRPr lang="en-GB" altLang="en-US" dirty="0">
              <a:latin typeface="Times New Roman" panose="02020603050405020304" pitchFamily="18" charset="0"/>
              <a:cs typeface="Arial" panose="020B0604020202020204" pitchFamily="34" charset="0"/>
            </a:endParaRPr>
          </a:p>
        </p:txBody>
      </p:sp>
      <p:sp>
        <p:nvSpPr>
          <p:cNvPr id="37892" name="Slide Number Placeholder 3">
            <a:extLst>
              <a:ext uri="{FF2B5EF4-FFF2-40B4-BE49-F238E27FC236}">
                <a16:creationId xmlns:a16="http://schemas.microsoft.com/office/drawing/2014/main" id="{B9E0BE99-B986-DE72-BB54-2E17C6A5AEE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imes New Roman" panose="02020603050405020304" pitchFamily="18" charset="0"/>
                <a:cs typeface="Arial" panose="020B0604020202020204" pitchFamily="34" charset="0"/>
              </a:defRPr>
            </a:lvl1pPr>
            <a:lvl2pPr marL="742950" indent="-285750">
              <a:defRPr>
                <a:solidFill>
                  <a:schemeClr val="tx1"/>
                </a:solidFill>
                <a:latin typeface="Times New Roman" panose="02020603050405020304" pitchFamily="18" charset="0"/>
                <a:cs typeface="Arial" panose="020B0604020202020204" pitchFamily="34" charset="0"/>
              </a:defRPr>
            </a:lvl2pPr>
            <a:lvl3pPr marL="1143000" indent="-228600">
              <a:defRPr>
                <a:solidFill>
                  <a:schemeClr val="tx1"/>
                </a:solidFill>
                <a:latin typeface="Times New Roman" panose="02020603050405020304" pitchFamily="18" charset="0"/>
                <a:cs typeface="Arial" panose="020B0604020202020204" pitchFamily="34" charset="0"/>
              </a:defRPr>
            </a:lvl3pPr>
            <a:lvl4pPr marL="1600200" indent="-228600">
              <a:defRPr>
                <a:solidFill>
                  <a:schemeClr val="tx1"/>
                </a:solidFill>
                <a:latin typeface="Times New Roman" panose="02020603050405020304" pitchFamily="18" charset="0"/>
                <a:cs typeface="Arial" panose="020B0604020202020204" pitchFamily="34" charset="0"/>
              </a:defRPr>
            </a:lvl4pPr>
            <a:lvl5pPr marL="2057400" indent="-228600">
              <a:defRPr>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cs typeface="Arial" panose="020B0604020202020204" pitchFamily="34" charset="0"/>
              </a:defRPr>
            </a:lvl9pPr>
          </a:lstStyle>
          <a:p>
            <a:fld id="{25733E5A-1C4D-4727-B16D-0F3ED946CA22}" type="slidenum">
              <a:rPr lang="en-US" altLang="en-US" smtClean="0"/>
              <a:pPr/>
              <a:t>10</a:t>
            </a:fld>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a:extLst>
              <a:ext uri="{FF2B5EF4-FFF2-40B4-BE49-F238E27FC236}">
                <a16:creationId xmlns:a16="http://schemas.microsoft.com/office/drawing/2014/main" id="{A64202F9-5191-64B3-C49D-2AC8E108A31C}"/>
              </a:ext>
            </a:extLst>
          </p:cNvPr>
          <p:cNvSpPr>
            <a:spLocks noGrp="1" noRot="1" noChangeAspect="1" noChangeArrowheads="1" noTextEdit="1"/>
          </p:cNvSpPr>
          <p:nvPr>
            <p:ph type="sldImg"/>
          </p:nvPr>
        </p:nvSpPr>
        <p:spPr>
          <a:ln/>
        </p:spPr>
      </p:sp>
      <p:sp>
        <p:nvSpPr>
          <p:cNvPr id="39939" name="Notes Placeholder 2">
            <a:extLst>
              <a:ext uri="{FF2B5EF4-FFF2-40B4-BE49-F238E27FC236}">
                <a16:creationId xmlns:a16="http://schemas.microsoft.com/office/drawing/2014/main" id="{F72936B6-0F63-D608-8376-1CE08B4E520E}"/>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Times New Roman" panose="02020603050405020304" pitchFamily="18" charset="0"/>
                <a:cs typeface="Arial" panose="020B0604020202020204" pitchFamily="34" charset="0"/>
              </a:rPr>
              <a:t>We can think of acts as either ethically obligatory, ethically prohibited, or ethically acceptable. </a:t>
            </a:r>
          </a:p>
          <a:p>
            <a:pPr eaLnBrk="1" hangingPunct="1"/>
            <a:r>
              <a:rPr lang="en-US" altLang="en-US" dirty="0">
                <a:latin typeface="Times New Roman" panose="02020603050405020304" pitchFamily="18" charset="0"/>
                <a:cs typeface="Arial" panose="020B0604020202020204" pitchFamily="34" charset="0"/>
              </a:rPr>
              <a:t>Harm alone is not a sufficient criterion to determine that an act is unethical. </a:t>
            </a:r>
          </a:p>
          <a:p>
            <a:pPr eaLnBrk="1" hangingPunct="1"/>
            <a:r>
              <a:rPr lang="en-US" altLang="en-US" dirty="0">
                <a:latin typeface="Times New Roman" panose="02020603050405020304" pitchFamily="18" charset="0"/>
                <a:cs typeface="Arial" panose="020B0604020202020204" pitchFamily="34" charset="0"/>
              </a:rPr>
              <a:t>The ethical character of a company depends on whether the actions taken to achieve the goal are consistent with ethical constraints.</a:t>
            </a:r>
          </a:p>
          <a:p>
            <a:pPr eaLnBrk="1" hangingPunct="1"/>
            <a:r>
              <a:rPr lang="en-US" altLang="en-US" dirty="0">
                <a:latin typeface="Times New Roman" panose="02020603050405020304" pitchFamily="18" charset="0"/>
                <a:cs typeface="Arial" panose="020B0604020202020204" pitchFamily="34" charset="0"/>
              </a:rPr>
              <a:t>It can be difficult to draw a line between what we consider ethically right or wrong and what we personally approve or disapprove of.</a:t>
            </a:r>
          </a:p>
          <a:p>
            <a:pPr eaLnBrk="1" hangingPunct="1"/>
            <a:r>
              <a:rPr lang="en-US" altLang="en-US" dirty="0">
                <a:latin typeface="Times New Roman" panose="02020603050405020304" pitchFamily="18" charset="0"/>
                <a:cs typeface="Arial" panose="020B0604020202020204" pitchFamily="34" charset="0"/>
              </a:rPr>
              <a:t>Ethics precedes law in the sense that ethical principles help determine whether or not we should pass specific laws. A good law will set minimal standards that can apply to all situations, leaving a large range of voluntary choices. Ethics fills the gap between general legal standards that apply to all cases and the particular choices made in a specific case.</a:t>
            </a:r>
          </a:p>
        </p:txBody>
      </p:sp>
      <p:sp>
        <p:nvSpPr>
          <p:cNvPr id="39940" name="Slide Number Placeholder 3">
            <a:extLst>
              <a:ext uri="{FF2B5EF4-FFF2-40B4-BE49-F238E27FC236}">
                <a16:creationId xmlns:a16="http://schemas.microsoft.com/office/drawing/2014/main" id="{AA15B662-2909-2717-A66C-99A898EC2D33}"/>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cs typeface="Arial" panose="020B0604020202020204" pitchFamily="34" charset="0"/>
              </a:defRPr>
            </a:lvl1pPr>
            <a:lvl2pPr marL="742950" indent="-285750">
              <a:spcBef>
                <a:spcPct val="30000"/>
              </a:spcBef>
              <a:defRPr sz="1200">
                <a:solidFill>
                  <a:schemeClr val="tx1"/>
                </a:solidFill>
                <a:latin typeface="Times New Roman" panose="02020603050405020304" pitchFamily="18" charset="0"/>
                <a:cs typeface="Arial" panose="020B0604020202020204" pitchFamily="34" charset="0"/>
              </a:defRPr>
            </a:lvl2pPr>
            <a:lvl3pPr marL="1143000" indent="-228600">
              <a:spcBef>
                <a:spcPct val="30000"/>
              </a:spcBef>
              <a:defRPr sz="1200">
                <a:solidFill>
                  <a:schemeClr val="tx1"/>
                </a:solidFill>
                <a:latin typeface="Times New Roman" panose="02020603050405020304" pitchFamily="18" charset="0"/>
                <a:cs typeface="Arial" panose="020B0604020202020204" pitchFamily="34" charset="0"/>
              </a:defRPr>
            </a:lvl3pPr>
            <a:lvl4pPr marL="1600200" indent="-228600">
              <a:spcBef>
                <a:spcPct val="30000"/>
              </a:spcBef>
              <a:defRPr sz="1200">
                <a:solidFill>
                  <a:schemeClr val="tx1"/>
                </a:solidFill>
                <a:latin typeface="Times New Roman" panose="02020603050405020304" pitchFamily="18" charset="0"/>
                <a:cs typeface="Arial" panose="020B0604020202020204" pitchFamily="34" charset="0"/>
              </a:defRPr>
            </a:lvl4pPr>
            <a:lvl5pPr marL="2057400" indent="-228600">
              <a:spcBef>
                <a:spcPct val="30000"/>
              </a:spcBef>
              <a:defRPr sz="12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9pPr>
          </a:lstStyle>
          <a:p>
            <a:pPr>
              <a:spcBef>
                <a:spcPct val="0"/>
              </a:spcBef>
            </a:pPr>
            <a:fld id="{8F144204-290A-4C0A-87EA-235AB57DBA3E}" type="slidenum">
              <a:rPr lang="en-US" altLang="en-US" smtClean="0"/>
              <a:pPr>
                <a:spcBef>
                  <a:spcPct val="0"/>
                </a:spcBef>
              </a:pPr>
              <a:t>11</a:t>
            </a:fld>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a:extLst>
              <a:ext uri="{FF2B5EF4-FFF2-40B4-BE49-F238E27FC236}">
                <a16:creationId xmlns:a16="http://schemas.microsoft.com/office/drawing/2014/main" id="{509AA950-F111-3497-2552-26E4BC3A7106}"/>
              </a:ext>
            </a:extLst>
          </p:cNvPr>
          <p:cNvSpPr>
            <a:spLocks noGrp="1" noRot="1" noChangeAspect="1" noChangeArrowheads="1" noTextEdit="1"/>
          </p:cNvSpPr>
          <p:nvPr>
            <p:ph type="sldImg"/>
          </p:nvPr>
        </p:nvSpPr>
        <p:spPr>
          <a:ln/>
        </p:spPr>
      </p:sp>
      <p:sp>
        <p:nvSpPr>
          <p:cNvPr id="41987" name="Notes Placeholder 2">
            <a:extLst>
              <a:ext uri="{FF2B5EF4-FFF2-40B4-BE49-F238E27FC236}">
                <a16:creationId xmlns:a16="http://schemas.microsoft.com/office/drawing/2014/main" id="{B2A8FCF0-DB2C-496B-AFB6-F4F9B951030C}"/>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cs typeface="Arial" panose="020B0604020202020204" pitchFamily="34" charset="0"/>
              </a:rPr>
              <a:t>Some philosophers argue that it is meaningless to speak of a business or organization as having ethics. Individual people make all decisions and take all actions. Others argue that an organization that acts with intention and a formal decision structure is a moral entity. However, viewing an organization as a moral entity does not diminish the responsibility of the individual people. </a:t>
            </a:r>
          </a:p>
        </p:txBody>
      </p:sp>
      <p:sp>
        <p:nvSpPr>
          <p:cNvPr id="41988" name="Slide Number Placeholder 3">
            <a:extLst>
              <a:ext uri="{FF2B5EF4-FFF2-40B4-BE49-F238E27FC236}">
                <a16:creationId xmlns:a16="http://schemas.microsoft.com/office/drawing/2014/main" id="{6CF26E9D-7F75-AC5A-AC33-D93F286B299F}"/>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cs typeface="Arial" panose="020B0604020202020204" pitchFamily="34" charset="0"/>
              </a:defRPr>
            </a:lvl1pPr>
            <a:lvl2pPr marL="742950" indent="-285750">
              <a:spcBef>
                <a:spcPct val="30000"/>
              </a:spcBef>
              <a:defRPr sz="1200">
                <a:solidFill>
                  <a:schemeClr val="tx1"/>
                </a:solidFill>
                <a:latin typeface="Times New Roman" panose="02020603050405020304" pitchFamily="18" charset="0"/>
                <a:cs typeface="Arial" panose="020B0604020202020204" pitchFamily="34" charset="0"/>
              </a:defRPr>
            </a:lvl2pPr>
            <a:lvl3pPr marL="1143000" indent="-228600">
              <a:spcBef>
                <a:spcPct val="30000"/>
              </a:spcBef>
              <a:defRPr sz="1200">
                <a:solidFill>
                  <a:schemeClr val="tx1"/>
                </a:solidFill>
                <a:latin typeface="Times New Roman" panose="02020603050405020304" pitchFamily="18" charset="0"/>
                <a:cs typeface="Arial" panose="020B0604020202020204" pitchFamily="34" charset="0"/>
              </a:defRPr>
            </a:lvl3pPr>
            <a:lvl4pPr marL="1600200" indent="-228600">
              <a:spcBef>
                <a:spcPct val="30000"/>
              </a:spcBef>
              <a:defRPr sz="1200">
                <a:solidFill>
                  <a:schemeClr val="tx1"/>
                </a:solidFill>
                <a:latin typeface="Times New Roman" panose="02020603050405020304" pitchFamily="18" charset="0"/>
                <a:cs typeface="Arial" panose="020B0604020202020204" pitchFamily="34" charset="0"/>
              </a:defRPr>
            </a:lvl4pPr>
            <a:lvl5pPr marL="2057400" indent="-228600">
              <a:spcBef>
                <a:spcPct val="30000"/>
              </a:spcBef>
              <a:defRPr sz="12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9pPr>
          </a:lstStyle>
          <a:p>
            <a:pPr>
              <a:spcBef>
                <a:spcPct val="0"/>
              </a:spcBef>
            </a:pPr>
            <a:fld id="{84E296F9-B485-429F-9DBD-C4F3ACCC925E}" type="slidenum">
              <a:rPr lang="en-US" altLang="en-US" smtClean="0"/>
              <a:pPr>
                <a:spcBef>
                  <a:spcPct val="0"/>
                </a:spcBef>
              </a:pPr>
              <a:t>12</a:t>
            </a:fld>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a:extLst>
              <a:ext uri="{FF2B5EF4-FFF2-40B4-BE49-F238E27FC236}">
                <a16:creationId xmlns:a16="http://schemas.microsoft.com/office/drawing/2014/main" id="{FBACD618-6E5E-B64D-7B22-A31DAA208E4B}"/>
              </a:ext>
            </a:extLst>
          </p:cNvPr>
          <p:cNvSpPr>
            <a:spLocks noGrp="1" noRot="1" noChangeAspect="1" noChangeArrowheads="1" noTextEdit="1"/>
          </p:cNvSpPr>
          <p:nvPr>
            <p:ph type="sldImg"/>
          </p:nvPr>
        </p:nvSpPr>
        <p:spPr>
          <a:ln/>
        </p:spPr>
      </p:sp>
      <p:sp>
        <p:nvSpPr>
          <p:cNvPr id="9219" name="Notes Placeholder 2">
            <a:extLst>
              <a:ext uri="{FF2B5EF4-FFF2-40B4-BE49-F238E27FC236}">
                <a16:creationId xmlns:a16="http://schemas.microsoft.com/office/drawing/2014/main" id="{AA28D118-142B-DA9D-64A4-87E398773217}"/>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Arial" panose="020B0604020202020204" pitchFamily="34" charset="0"/>
                <a:cs typeface="Arial" panose="020B0604020202020204" pitchFamily="34" charset="0"/>
              </a:rPr>
              <a:t>Regarding our own actions, sometimes they are a result of intentional trade-offs (we give up some privacy in order to receive some benefit) and sometimes we are unaware of the risks.</a:t>
            </a:r>
          </a:p>
        </p:txBody>
      </p:sp>
      <p:sp>
        <p:nvSpPr>
          <p:cNvPr id="9220" name="Slide Number Placeholder 3">
            <a:extLst>
              <a:ext uri="{FF2B5EF4-FFF2-40B4-BE49-F238E27FC236}">
                <a16:creationId xmlns:a16="http://schemas.microsoft.com/office/drawing/2014/main" id="{A13FB220-A161-4A3A-23B9-FFC139A06E11}"/>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C6AEFC1C-8CA4-409A-B443-91E741FC4049}" type="slidenum">
              <a:rPr lang="en-US" altLang="en-US"/>
              <a:pPr>
                <a:spcBef>
                  <a:spcPct val="0"/>
                </a:spcBef>
              </a:pPr>
              <a:t>14</a:t>
            </a:fld>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Image Placeholder 1">
            <a:extLst>
              <a:ext uri="{FF2B5EF4-FFF2-40B4-BE49-F238E27FC236}">
                <a16:creationId xmlns:a16="http://schemas.microsoft.com/office/drawing/2014/main" id="{266905F2-EE8A-47D6-A60C-CBD4C70039C7}"/>
              </a:ext>
            </a:extLst>
          </p:cNvPr>
          <p:cNvSpPr>
            <a:spLocks noGrp="1" noRot="1" noChangeAspect="1" noChangeArrowheads="1" noTextEdit="1"/>
          </p:cNvSpPr>
          <p:nvPr>
            <p:ph type="sldImg"/>
          </p:nvPr>
        </p:nvSpPr>
        <p:spPr>
          <a:ln/>
        </p:spPr>
      </p:sp>
      <p:sp>
        <p:nvSpPr>
          <p:cNvPr id="11267" name="Notes Placeholder 2">
            <a:extLst>
              <a:ext uri="{FF2B5EF4-FFF2-40B4-BE49-F238E27FC236}">
                <a16:creationId xmlns:a16="http://schemas.microsoft.com/office/drawing/2014/main" id="{FBBB2218-ED44-14B5-E658-F1B8B5C3B108}"/>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Arial" panose="020B0604020202020204" pitchFamily="34" charset="0"/>
                <a:cs typeface="Arial" panose="020B0604020202020204" pitchFamily="34" charset="0"/>
              </a:rPr>
              <a:t>Government documents like divorce and bankruptcy records have long been in public records, but accessing such information took a lot of time and effort.</a:t>
            </a:r>
          </a:p>
          <a:p>
            <a:pPr eaLnBrk="1" hangingPunct="1"/>
            <a:endParaRPr lang="en-US" altLang="en-US" dirty="0">
              <a:latin typeface="Arial" panose="020B0604020202020204" pitchFamily="34" charset="0"/>
              <a:cs typeface="Arial" panose="020B0604020202020204" pitchFamily="34" charset="0"/>
            </a:endParaRPr>
          </a:p>
          <a:p>
            <a:pPr eaLnBrk="1" hangingPunct="1"/>
            <a:r>
              <a:rPr lang="en-US" altLang="en-US" dirty="0">
                <a:latin typeface="Arial" panose="020B0604020202020204" pitchFamily="34" charset="0"/>
                <a:cs typeface="Arial" panose="020B0604020202020204" pitchFamily="34" charset="0"/>
              </a:rPr>
              <a:t>Tiny cameras are in millions of cellphones. </a:t>
            </a:r>
          </a:p>
          <a:p>
            <a:pPr eaLnBrk="1" hangingPunct="1"/>
            <a:endParaRPr lang="en-US" altLang="en-US" dirty="0">
              <a:latin typeface="Arial" panose="020B0604020202020204" pitchFamily="34" charset="0"/>
              <a:cs typeface="Arial" panose="020B0604020202020204" pitchFamily="34" charset="0"/>
            </a:endParaRPr>
          </a:p>
          <a:p>
            <a:pPr eaLnBrk="1" hangingPunct="1"/>
            <a:endParaRPr lang="en-US" altLang="en-US" dirty="0">
              <a:latin typeface="Arial" panose="020B0604020202020204" pitchFamily="34" charset="0"/>
              <a:cs typeface="Arial" panose="020B0604020202020204" pitchFamily="34" charset="0"/>
            </a:endParaRPr>
          </a:p>
        </p:txBody>
      </p:sp>
      <p:sp>
        <p:nvSpPr>
          <p:cNvPr id="11268" name="Slide Number Placeholder 3">
            <a:extLst>
              <a:ext uri="{FF2B5EF4-FFF2-40B4-BE49-F238E27FC236}">
                <a16:creationId xmlns:a16="http://schemas.microsoft.com/office/drawing/2014/main" id="{B8C8D46A-4E5B-DAA5-4F10-AFF984CA6015}"/>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CA01565-3B94-4619-A88B-0288FE64F749}" type="slidenum">
              <a:rPr lang="en-US" altLang="en-US"/>
              <a:pPr>
                <a:spcBef>
                  <a:spcPct val="0"/>
                </a:spcBef>
              </a:pPr>
              <a:t>15</a:t>
            </a:fld>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Image Placeholder 1">
            <a:extLst>
              <a:ext uri="{FF2B5EF4-FFF2-40B4-BE49-F238E27FC236}">
                <a16:creationId xmlns:a16="http://schemas.microsoft.com/office/drawing/2014/main" id="{720D3920-9572-EC26-A0E2-D30AE04D4360}"/>
              </a:ext>
            </a:extLst>
          </p:cNvPr>
          <p:cNvSpPr>
            <a:spLocks noGrp="1" noRot="1" noChangeAspect="1" noChangeArrowheads="1" noTextEdit="1"/>
          </p:cNvSpPr>
          <p:nvPr>
            <p:ph type="sldImg"/>
          </p:nvPr>
        </p:nvSpPr>
        <p:spPr>
          <a:ln/>
        </p:spPr>
      </p:sp>
      <p:sp>
        <p:nvSpPr>
          <p:cNvPr id="13315" name="Notes Placeholder 2">
            <a:extLst>
              <a:ext uri="{FF2B5EF4-FFF2-40B4-BE49-F238E27FC236}">
                <a16:creationId xmlns:a16="http://schemas.microsoft.com/office/drawing/2014/main" id="{DF39238C-A0C2-1381-FD52-BA65ED76BA57}"/>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Arial" panose="020B0604020202020204" pitchFamily="34" charset="0"/>
                <a:cs typeface="Arial" panose="020B0604020202020204" pitchFamily="34" charset="0"/>
              </a:rPr>
              <a:t>A terabyte is a trillion bytes.</a:t>
            </a:r>
          </a:p>
          <a:p>
            <a:pPr eaLnBrk="1" hangingPunct="1"/>
            <a:r>
              <a:rPr lang="en-US" altLang="en-US" dirty="0">
                <a:latin typeface="Arial" panose="020B0604020202020204" pitchFamily="34" charset="0"/>
                <a:cs typeface="Arial" panose="020B0604020202020204" pitchFamily="34" charset="0"/>
              </a:rPr>
              <a:t>Search query data can be subpoenaed in court.</a:t>
            </a:r>
          </a:p>
          <a:p>
            <a:pPr eaLnBrk="1" hangingPunct="1"/>
            <a:endParaRPr lang="en-US" altLang="en-US" dirty="0">
              <a:latin typeface="Arial" panose="020B0604020202020204" pitchFamily="34" charset="0"/>
              <a:cs typeface="Arial" panose="020B0604020202020204" pitchFamily="34" charset="0"/>
            </a:endParaRPr>
          </a:p>
        </p:txBody>
      </p:sp>
      <p:sp>
        <p:nvSpPr>
          <p:cNvPr id="13316" name="Slide Number Placeholder 3">
            <a:extLst>
              <a:ext uri="{FF2B5EF4-FFF2-40B4-BE49-F238E27FC236}">
                <a16:creationId xmlns:a16="http://schemas.microsoft.com/office/drawing/2014/main" id="{C7233D66-BE12-3B82-A673-B09E8D455A00}"/>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832ED4B-681A-4283-9F89-98DB0BE164D7}" type="slidenum">
              <a:rPr lang="en-US" altLang="en-US"/>
              <a:pPr>
                <a:spcBef>
                  <a:spcPct val="0"/>
                </a:spcBef>
              </a:pPr>
              <a:t>16</a:t>
            </a:fld>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Image Placeholder 1">
            <a:extLst>
              <a:ext uri="{FF2B5EF4-FFF2-40B4-BE49-F238E27FC236}">
                <a16:creationId xmlns:a16="http://schemas.microsoft.com/office/drawing/2014/main" id="{7014986F-2B65-37FA-BDDC-ACEED406213C}"/>
              </a:ext>
            </a:extLst>
          </p:cNvPr>
          <p:cNvSpPr>
            <a:spLocks noGrp="1" noRot="1" noChangeAspect="1" noChangeArrowheads="1" noTextEdit="1"/>
          </p:cNvSpPr>
          <p:nvPr>
            <p:ph type="sldImg"/>
          </p:nvPr>
        </p:nvSpPr>
        <p:spPr>
          <a:ln/>
        </p:spPr>
      </p:sp>
      <p:sp>
        <p:nvSpPr>
          <p:cNvPr id="15363" name="Notes Placeholder 2">
            <a:extLst>
              <a:ext uri="{FF2B5EF4-FFF2-40B4-BE49-F238E27FC236}">
                <a16:creationId xmlns:a16="http://schemas.microsoft.com/office/drawing/2014/main" id="{87D3C7A9-188D-E222-9B15-B3FFE3DCA5BB}"/>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cs typeface="Arial" panose="020B0604020202020204" pitchFamily="34" charset="0"/>
              </a:rPr>
              <a:t>Roughly half the apps in one test sent the smartphone’s ID number or location to other companies (in addition to the one that provided the app).</a:t>
            </a:r>
          </a:p>
          <a:p>
            <a:pPr eaLnBrk="1" hangingPunct="1"/>
            <a:endParaRPr lang="en-US" altLang="en-US">
              <a:latin typeface="Arial" panose="020B0604020202020204" pitchFamily="34" charset="0"/>
              <a:cs typeface="Arial" panose="020B0604020202020204" pitchFamily="34" charset="0"/>
            </a:endParaRPr>
          </a:p>
          <a:p>
            <a:pPr eaLnBrk="1" hangingPunct="1"/>
            <a:r>
              <a:rPr lang="en-US" altLang="en-US">
                <a:latin typeface="Arial" panose="020B0604020202020204" pitchFamily="34" charset="0"/>
                <a:cs typeface="Arial" panose="020B0604020202020204" pitchFamily="34" charset="0"/>
              </a:rPr>
              <a:t>Various apps copy the user’s contact list to remote servers. </a:t>
            </a:r>
          </a:p>
          <a:p>
            <a:pPr eaLnBrk="1" hangingPunct="1"/>
            <a:endParaRPr lang="en-US" altLang="en-US">
              <a:latin typeface="Arial" panose="020B0604020202020204" pitchFamily="34" charset="0"/>
              <a:cs typeface="Arial" panose="020B0604020202020204" pitchFamily="34" charset="0"/>
            </a:endParaRPr>
          </a:p>
          <a:p>
            <a:pPr eaLnBrk="1" hangingPunct="1"/>
            <a:r>
              <a:rPr lang="en-US" altLang="en-US">
                <a:latin typeface="Arial" panose="020B0604020202020204" pitchFamily="34" charset="0"/>
                <a:cs typeface="Arial" panose="020B0604020202020204" pitchFamily="34" charset="0"/>
              </a:rPr>
              <a:t>A major bank announced that its free mobile banking app inadvertently stored account numbers and security access codes in a hidden file on the user’s phone. Data in phones are vulnerable to loss, hacking, and misuse. This is a reminder that designers must regularly review and update security design decisions.</a:t>
            </a:r>
          </a:p>
          <a:p>
            <a:pPr eaLnBrk="1" hangingPunct="1"/>
            <a:endParaRPr lang="en-US" altLang="en-US">
              <a:latin typeface="Arial" panose="020B0604020202020204" pitchFamily="34" charset="0"/>
              <a:cs typeface="Arial" panose="020B0604020202020204" pitchFamily="34" charset="0"/>
            </a:endParaRPr>
          </a:p>
        </p:txBody>
      </p:sp>
      <p:sp>
        <p:nvSpPr>
          <p:cNvPr id="15364" name="Slide Number Placeholder 3">
            <a:extLst>
              <a:ext uri="{FF2B5EF4-FFF2-40B4-BE49-F238E27FC236}">
                <a16:creationId xmlns:a16="http://schemas.microsoft.com/office/drawing/2014/main" id="{DD1D997C-7155-174F-3F09-549409E7F5AE}"/>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D3D13CDA-FB58-467E-BDE4-C5F26D1BC614}" type="slidenum">
              <a:rPr lang="en-US" altLang="en-US"/>
              <a:pPr>
                <a:spcBef>
                  <a:spcPct val="0"/>
                </a:spcBef>
              </a:pPr>
              <a:t>17</a:t>
            </a:fld>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a:extLst>
              <a:ext uri="{FF2B5EF4-FFF2-40B4-BE49-F238E27FC236}">
                <a16:creationId xmlns:a16="http://schemas.microsoft.com/office/drawing/2014/main" id="{BEDBA0F2-D158-7D09-B16C-DB5B42697513}"/>
              </a:ext>
            </a:extLst>
          </p:cNvPr>
          <p:cNvSpPr>
            <a:spLocks noGrp="1" noRot="1" noChangeAspect="1" noChangeArrowheads="1" noTextEdit="1"/>
          </p:cNvSpPr>
          <p:nvPr>
            <p:ph type="sldImg"/>
          </p:nvPr>
        </p:nvSpPr>
        <p:spPr>
          <a:ln/>
        </p:spPr>
      </p:sp>
      <p:sp>
        <p:nvSpPr>
          <p:cNvPr id="17411" name="Notes Placeholder 2">
            <a:extLst>
              <a:ext uri="{FF2B5EF4-FFF2-40B4-BE49-F238E27FC236}">
                <a16:creationId xmlns:a16="http://schemas.microsoft.com/office/drawing/2014/main" id="{0A67DFD2-6D9A-50A8-EF8D-D513A86659BB}"/>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
        <p:nvSpPr>
          <p:cNvPr id="17412" name="Slide Number Placeholder 3">
            <a:extLst>
              <a:ext uri="{FF2B5EF4-FFF2-40B4-BE49-F238E27FC236}">
                <a16:creationId xmlns:a16="http://schemas.microsoft.com/office/drawing/2014/main" id="{A8593285-5A2A-26D4-9E72-DAA9763651B7}"/>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FECEC3F4-ED45-4E41-A13A-11522CF620F5}" type="slidenum">
              <a:rPr lang="en-US" altLang="en-US"/>
              <a:pPr>
                <a:spcBef>
                  <a:spcPct val="0"/>
                </a:spcBef>
              </a:pPr>
              <a:t>18</a:t>
            </a:fld>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009B98F4-6875-5181-8027-15D469A4B7CF}"/>
              </a:ext>
            </a:extLst>
          </p:cNvPr>
          <p:cNvSpPr>
            <a:spLocks noGrp="1" noRot="1" noChangeAspect="1" noChangeArrowheads="1" noTextEdit="1"/>
          </p:cNvSpPr>
          <p:nvPr>
            <p:ph type="sldImg"/>
          </p:nvPr>
        </p:nvSpPr>
        <p:spPr>
          <a:ln/>
        </p:spPr>
      </p:sp>
      <p:sp>
        <p:nvSpPr>
          <p:cNvPr id="19459" name="Notes Placeholder 2">
            <a:extLst>
              <a:ext uri="{FF2B5EF4-FFF2-40B4-BE49-F238E27FC236}">
                <a16:creationId xmlns:a16="http://schemas.microsoft.com/office/drawing/2014/main" id="{84B775FC-527E-D6CB-A09C-DF10A27C8EEA}"/>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
        <p:nvSpPr>
          <p:cNvPr id="19460" name="Slide Number Placeholder 3">
            <a:extLst>
              <a:ext uri="{FF2B5EF4-FFF2-40B4-BE49-F238E27FC236}">
                <a16:creationId xmlns:a16="http://schemas.microsoft.com/office/drawing/2014/main" id="{95A2165D-3F82-C9C9-1AC6-302E880177D6}"/>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663631D1-194C-4131-B3DB-902395477730}" type="slidenum">
              <a:rPr lang="en-US" altLang="en-US"/>
              <a:pPr>
                <a:spcBef>
                  <a:spcPct val="0"/>
                </a:spcBef>
              </a:pPr>
              <a:t>19</a:t>
            </a:fld>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a:extLst>
              <a:ext uri="{FF2B5EF4-FFF2-40B4-BE49-F238E27FC236}">
                <a16:creationId xmlns:a16="http://schemas.microsoft.com/office/drawing/2014/main" id="{9DADDAD9-46DD-C1E8-6D86-55F43CD6C943}"/>
              </a:ext>
            </a:extLst>
          </p:cNvPr>
          <p:cNvSpPr>
            <a:spLocks noGrp="1" noRot="1" noChangeAspect="1" noChangeArrowheads="1" noTextEdit="1"/>
          </p:cNvSpPr>
          <p:nvPr>
            <p:ph type="sldImg"/>
          </p:nvPr>
        </p:nvSpPr>
        <p:spPr>
          <a:ln/>
        </p:spPr>
      </p:sp>
      <p:sp>
        <p:nvSpPr>
          <p:cNvPr id="21507" name="Notes Placeholder 2">
            <a:extLst>
              <a:ext uri="{FF2B5EF4-FFF2-40B4-BE49-F238E27FC236}">
                <a16:creationId xmlns:a16="http://schemas.microsoft.com/office/drawing/2014/main" id="{1688CFFB-AE61-88A3-0551-0AA2F55399B9}"/>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
        <p:nvSpPr>
          <p:cNvPr id="21508" name="Slide Number Placeholder 3">
            <a:extLst>
              <a:ext uri="{FF2B5EF4-FFF2-40B4-BE49-F238E27FC236}">
                <a16:creationId xmlns:a16="http://schemas.microsoft.com/office/drawing/2014/main" id="{5ED07F30-FCB6-0917-283B-46C5A46DEC6F}"/>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0E7703AC-9317-4306-AEE4-54BED3A0A022}" type="slidenum">
              <a:rPr lang="en-US" altLang="en-US"/>
              <a:pPr>
                <a:spcBef>
                  <a:spcPct val="0"/>
                </a:spcBef>
              </a:pPr>
              <a:t>20</a:t>
            </a:fld>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a:extLst>
              <a:ext uri="{FF2B5EF4-FFF2-40B4-BE49-F238E27FC236}">
                <a16:creationId xmlns:a16="http://schemas.microsoft.com/office/drawing/2014/main" id="{7312AB80-B4CD-8ABF-6B24-DFF07C59932A}"/>
              </a:ext>
            </a:extLst>
          </p:cNvPr>
          <p:cNvSpPr>
            <a:spLocks noGrp="1" noRot="1" noChangeAspect="1" noChangeArrowheads="1" noTextEdit="1"/>
          </p:cNvSpPr>
          <p:nvPr>
            <p:ph type="sldImg"/>
          </p:nvPr>
        </p:nvSpPr>
        <p:spPr>
          <a:ln/>
        </p:spPr>
      </p:sp>
      <p:sp>
        <p:nvSpPr>
          <p:cNvPr id="23555" name="Notes Placeholder 2">
            <a:extLst>
              <a:ext uri="{FF2B5EF4-FFF2-40B4-BE49-F238E27FC236}">
                <a16:creationId xmlns:a16="http://schemas.microsoft.com/office/drawing/2014/main" id="{1965DBF1-7D59-15EF-A0CE-FF0BFC4913AA}"/>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
        <p:nvSpPr>
          <p:cNvPr id="23556" name="Slide Number Placeholder 3">
            <a:extLst>
              <a:ext uri="{FF2B5EF4-FFF2-40B4-BE49-F238E27FC236}">
                <a16:creationId xmlns:a16="http://schemas.microsoft.com/office/drawing/2014/main" id="{4C73BA5A-4576-A7A5-FE1E-9FCF44F2BC49}"/>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97AE5962-EB33-4494-9F49-DB8CE970732E}" type="slidenum">
              <a:rPr lang="en-US" altLang="en-US"/>
              <a:pPr>
                <a:spcBef>
                  <a:spcPct val="0"/>
                </a:spcBef>
              </a:pPr>
              <a:t>21</a:t>
            </a:fld>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a:extLst>
              <a:ext uri="{FF2B5EF4-FFF2-40B4-BE49-F238E27FC236}">
                <a16:creationId xmlns:a16="http://schemas.microsoft.com/office/drawing/2014/main" id="{B2FA88FF-32A0-B12E-D611-AEEB35F9BA9B}"/>
              </a:ext>
            </a:extLst>
          </p:cNvPr>
          <p:cNvSpPr>
            <a:spLocks noGrp="1" noRot="1" noChangeAspect="1" noChangeArrowheads="1" noTextEdit="1"/>
          </p:cNvSpPr>
          <p:nvPr>
            <p:ph type="sldImg"/>
          </p:nvPr>
        </p:nvSpPr>
        <p:spPr>
          <a:ln/>
        </p:spPr>
      </p:sp>
      <p:sp>
        <p:nvSpPr>
          <p:cNvPr id="26627" name="Notes Placeholder 2">
            <a:extLst>
              <a:ext uri="{FF2B5EF4-FFF2-40B4-BE49-F238E27FC236}">
                <a16:creationId xmlns:a16="http://schemas.microsoft.com/office/drawing/2014/main" id="{664FE051-FEEF-67F4-29D1-9378D3204D88}"/>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Arial" panose="020B0604020202020204" pitchFamily="34" charset="0"/>
                <a:cs typeface="Arial" panose="020B0604020202020204" pitchFamily="34" charset="0"/>
              </a:rPr>
              <a:t>Justice Louis Brandeis dissented, arguing that the authors of the Fourth Amendment did all they could to protect liberty and privacy – including privacy of conversations – from intrusions by government based on the technology available at the time. </a:t>
            </a:r>
          </a:p>
        </p:txBody>
      </p:sp>
      <p:sp>
        <p:nvSpPr>
          <p:cNvPr id="26628" name="Slide Number Placeholder 3">
            <a:extLst>
              <a:ext uri="{FF2B5EF4-FFF2-40B4-BE49-F238E27FC236}">
                <a16:creationId xmlns:a16="http://schemas.microsoft.com/office/drawing/2014/main" id="{CC11C6B1-F92C-44E0-D9B2-03E728D322A9}"/>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791AE47-E574-4DCF-B0B0-B741E06FA9BA}" type="slidenum">
              <a:rPr lang="en-US" altLang="en-US"/>
              <a:pPr>
                <a:spcBef>
                  <a:spcPct val="0"/>
                </a:spcBef>
              </a:pPr>
              <a:t>24</a:t>
            </a:fld>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a:extLst>
              <a:ext uri="{FF2B5EF4-FFF2-40B4-BE49-F238E27FC236}">
                <a16:creationId xmlns:a16="http://schemas.microsoft.com/office/drawing/2014/main" id="{A03BC4C7-3C0E-5F8C-A454-E402A46F9F06}"/>
              </a:ext>
            </a:extLst>
          </p:cNvPr>
          <p:cNvSpPr>
            <a:spLocks noGrp="1" noRot="1" noChangeAspect="1" noChangeArrowheads="1" noTextEdit="1"/>
          </p:cNvSpPr>
          <p:nvPr>
            <p:ph type="sldImg"/>
          </p:nvPr>
        </p:nvSpPr>
        <p:spPr>
          <a:ln/>
        </p:spPr>
      </p:sp>
      <p:sp>
        <p:nvSpPr>
          <p:cNvPr id="28675" name="Notes Placeholder 2">
            <a:extLst>
              <a:ext uri="{FF2B5EF4-FFF2-40B4-BE49-F238E27FC236}">
                <a16:creationId xmlns:a16="http://schemas.microsoft.com/office/drawing/2014/main" id="{1F6A01DA-127C-BF31-32DF-154713FD9100}"/>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cs typeface="Arial" panose="020B0604020202020204" pitchFamily="34" charset="0"/>
              </a:rPr>
              <a:t>In this case, law enforcement had attached a listening and recording device on the outside of a telephone booth to record a suspect’s conversation. </a:t>
            </a:r>
          </a:p>
          <a:p>
            <a:pPr eaLnBrk="1" hangingPunct="1"/>
            <a:endParaRPr lang="en-US" altLang="en-US">
              <a:latin typeface="Arial" panose="020B0604020202020204" pitchFamily="34" charset="0"/>
              <a:cs typeface="Arial" panose="020B0604020202020204" pitchFamily="34" charset="0"/>
            </a:endParaRPr>
          </a:p>
          <a:p>
            <a:pPr eaLnBrk="1" hangingPunct="1"/>
            <a:r>
              <a:rPr lang="en-US" altLang="en-US">
                <a:latin typeface="Arial" panose="020B0604020202020204" pitchFamily="34" charset="0"/>
                <a:cs typeface="Arial" panose="020B0604020202020204" pitchFamily="34" charset="0"/>
              </a:rPr>
              <a:t>Although </a:t>
            </a:r>
            <a:r>
              <a:rPr lang="en-US" altLang="en-US" i="1">
                <a:latin typeface="Arial" panose="020B0604020202020204" pitchFamily="34" charset="0"/>
                <a:cs typeface="Arial" panose="020B0604020202020204" pitchFamily="34" charset="0"/>
              </a:rPr>
              <a:t>Katz v United States</a:t>
            </a:r>
            <a:r>
              <a:rPr lang="en-US" altLang="en-US">
                <a:latin typeface="Arial" panose="020B0604020202020204" pitchFamily="34" charset="0"/>
                <a:cs typeface="Arial" panose="020B0604020202020204" pitchFamily="34" charset="0"/>
              </a:rPr>
              <a:t> strengthened the Fourth Amendment in some ways, there is a significant risk in relying on reasonable “expectation of privacy” to define the areas where law enforcement needs a court order. The Court has interpreted “expectation of privacy” in a very restrictive way. For example, it ruled that if we share information with businesses such as our bank, then we have no reasonable expectation of privacy for that information (</a:t>
            </a:r>
            <a:r>
              <a:rPr lang="en-US" altLang="en-US" i="1">
                <a:latin typeface="Arial" panose="020B0604020202020204" pitchFamily="34" charset="0"/>
                <a:cs typeface="Arial" panose="020B0604020202020204" pitchFamily="34" charset="0"/>
              </a:rPr>
              <a:t>United States v Miller, </a:t>
            </a:r>
            <a:r>
              <a:rPr lang="en-US" altLang="en-US">
                <a:latin typeface="Arial" panose="020B0604020202020204" pitchFamily="34" charset="0"/>
                <a:cs typeface="Arial" panose="020B0604020202020204" pitchFamily="34" charset="0"/>
              </a:rPr>
              <a:t>1976). We share many kinds of personal information at specific Web sites where we expect it to be private. Is it safe from warrantless search?</a:t>
            </a:r>
          </a:p>
        </p:txBody>
      </p:sp>
      <p:sp>
        <p:nvSpPr>
          <p:cNvPr id="28676" name="Slide Number Placeholder 3">
            <a:extLst>
              <a:ext uri="{FF2B5EF4-FFF2-40B4-BE49-F238E27FC236}">
                <a16:creationId xmlns:a16="http://schemas.microsoft.com/office/drawing/2014/main" id="{06565875-9EC1-93D8-DB49-FA78EBFC68FA}"/>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ADB53B9A-6867-4DD4-BE29-C50AA8495549}" type="slidenum">
              <a:rPr lang="en-US" altLang="en-US"/>
              <a:pPr>
                <a:spcBef>
                  <a:spcPct val="0"/>
                </a:spcBef>
              </a:pPr>
              <a:t>25</a:t>
            </a:fld>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a:extLst>
              <a:ext uri="{FF2B5EF4-FFF2-40B4-BE49-F238E27FC236}">
                <a16:creationId xmlns:a16="http://schemas.microsoft.com/office/drawing/2014/main" id="{2651AF16-1C4A-EDC3-5F43-79EA047FD812}"/>
              </a:ext>
            </a:extLst>
          </p:cNvPr>
          <p:cNvSpPr>
            <a:spLocks noGrp="1" noRot="1" noChangeAspect="1" noChangeArrowheads="1" noTextEdit="1"/>
          </p:cNvSpPr>
          <p:nvPr>
            <p:ph type="sldImg"/>
          </p:nvPr>
        </p:nvSpPr>
        <p:spPr>
          <a:ln/>
        </p:spPr>
      </p:sp>
      <p:sp>
        <p:nvSpPr>
          <p:cNvPr id="30723" name="Notes Placeholder 2">
            <a:extLst>
              <a:ext uri="{FF2B5EF4-FFF2-40B4-BE49-F238E27FC236}">
                <a16:creationId xmlns:a16="http://schemas.microsoft.com/office/drawing/2014/main" id="{8047032A-F45D-5655-1ADA-D55538A596AA}"/>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cs typeface="Arial" panose="020B0604020202020204" pitchFamily="34" charset="0"/>
              </a:rPr>
              <a:t>This reasoning suggests that when a technology becomes more widely used, the government may use it for surveillance without a warrant.</a:t>
            </a:r>
          </a:p>
        </p:txBody>
      </p:sp>
      <p:sp>
        <p:nvSpPr>
          <p:cNvPr id="30724" name="Slide Number Placeholder 3">
            <a:extLst>
              <a:ext uri="{FF2B5EF4-FFF2-40B4-BE49-F238E27FC236}">
                <a16:creationId xmlns:a16="http://schemas.microsoft.com/office/drawing/2014/main" id="{FDCF03EC-8A5F-F2E4-1678-5410224CF7B2}"/>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0099ABCA-E206-48BF-A590-5BD0029A577A}" type="slidenum">
              <a:rPr lang="en-US" altLang="en-US"/>
              <a:pPr>
                <a:spcBef>
                  <a:spcPct val="0"/>
                </a:spcBef>
              </a:pPr>
              <a:t>26</a:t>
            </a:fld>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Image Placeholder 1">
            <a:extLst>
              <a:ext uri="{FF2B5EF4-FFF2-40B4-BE49-F238E27FC236}">
                <a16:creationId xmlns:a16="http://schemas.microsoft.com/office/drawing/2014/main" id="{4135B125-7D61-15B5-0A11-C24B898EBD6D}"/>
              </a:ext>
            </a:extLst>
          </p:cNvPr>
          <p:cNvSpPr>
            <a:spLocks noGrp="1" noRot="1" noChangeAspect="1" noChangeArrowheads="1" noTextEdit="1"/>
          </p:cNvSpPr>
          <p:nvPr>
            <p:ph type="sldImg"/>
          </p:nvPr>
        </p:nvSpPr>
        <p:spPr>
          <a:ln/>
        </p:spPr>
      </p:sp>
      <p:sp>
        <p:nvSpPr>
          <p:cNvPr id="15363" name="Notes Placeholder 2">
            <a:extLst>
              <a:ext uri="{FF2B5EF4-FFF2-40B4-BE49-F238E27FC236}">
                <a16:creationId xmlns:a16="http://schemas.microsoft.com/office/drawing/2014/main" id="{225DAD8C-0FD2-ADCF-7ABC-1C65B0E3CF0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b="1" dirty="0">
                <a:solidFill>
                  <a:srgbClr val="1B1C32"/>
                </a:solidFill>
                <a:latin typeface="acumin-pro"/>
                <a:cs typeface="Arial" panose="020B0604020202020204" pitchFamily="34" charset="0"/>
              </a:rPr>
              <a:t>1. Unauthorised access to computer material</a:t>
            </a:r>
            <a:endParaRPr lang="en-GB" altLang="en-US" dirty="0">
              <a:solidFill>
                <a:srgbClr val="1B1C32"/>
              </a:solidFill>
              <a:latin typeface="acumin-pro"/>
              <a:cs typeface="Arial" panose="020B0604020202020204" pitchFamily="34" charset="0"/>
            </a:endParaRPr>
          </a:p>
          <a:p>
            <a:r>
              <a:rPr lang="en-GB" altLang="en-US" dirty="0">
                <a:solidFill>
                  <a:srgbClr val="1B1C32"/>
                </a:solidFill>
                <a:latin typeface="acumin-pro"/>
                <a:cs typeface="Arial" panose="020B0604020202020204" pitchFamily="34" charset="0"/>
              </a:rPr>
              <a:t>It is illegal to access a computing system unless authorised to do so and as such it makes the activity of ‘hacking’ a crime</a:t>
            </a:r>
          </a:p>
          <a:p>
            <a:pPr lvl="1"/>
            <a:r>
              <a:rPr lang="en-GB" altLang="en-US" dirty="0">
                <a:solidFill>
                  <a:srgbClr val="1B1C32"/>
                </a:solidFill>
                <a:latin typeface="acumin-pro"/>
                <a:cs typeface="Arial" panose="020B0604020202020204" pitchFamily="34" charset="0"/>
              </a:rPr>
              <a:t>It does not matter whether the hacker is remote, working from a distance over the remote area networks, or local, where persons such as staff or students who may have limited authorisation to use the computers knowingly exceed that authority. The hacking need not be directed at a particular computer, programme or data. For example, it is unlawful without proper authority:</a:t>
            </a:r>
          </a:p>
          <a:p>
            <a:pPr>
              <a:buFontTx/>
              <a:buChar char="•"/>
            </a:pPr>
            <a:r>
              <a:rPr lang="en-GB" altLang="en-US" dirty="0">
                <a:solidFill>
                  <a:srgbClr val="1B1C32"/>
                </a:solidFill>
                <a:latin typeface="acumin-pro"/>
                <a:cs typeface="Arial" panose="020B0604020202020204" pitchFamily="34" charset="0"/>
              </a:rPr>
              <a:t>To use another person’s ID and password in order to access a computer, use data or run a programme;</a:t>
            </a:r>
          </a:p>
          <a:p>
            <a:pPr>
              <a:buFontTx/>
              <a:buChar char="•"/>
            </a:pPr>
            <a:r>
              <a:rPr lang="en-GB" altLang="en-US" dirty="0">
                <a:solidFill>
                  <a:srgbClr val="1B1C32"/>
                </a:solidFill>
                <a:latin typeface="acumin-pro"/>
                <a:cs typeface="Arial" panose="020B0604020202020204" pitchFamily="34" charset="0"/>
              </a:rPr>
              <a:t>To alter, delete, copy, or move a programme or data, or simply to output a programme or data; or</a:t>
            </a:r>
          </a:p>
          <a:p>
            <a:pPr>
              <a:buFontTx/>
              <a:buChar char="•"/>
            </a:pPr>
            <a:r>
              <a:rPr lang="en-GB" altLang="en-US" dirty="0">
                <a:solidFill>
                  <a:srgbClr val="1B1C32"/>
                </a:solidFill>
                <a:latin typeface="acumin-pro"/>
                <a:cs typeface="Arial" panose="020B0604020202020204" pitchFamily="34" charset="0"/>
              </a:rPr>
              <a:t>To lay a trap to obtain a password.</a:t>
            </a:r>
          </a:p>
          <a:p>
            <a:r>
              <a:rPr lang="en-GB" altLang="en-US" b="1" dirty="0">
                <a:solidFill>
                  <a:srgbClr val="1B1C32"/>
                </a:solidFill>
                <a:latin typeface="acumin-pro"/>
                <a:cs typeface="Arial" panose="020B0604020202020204" pitchFamily="34" charset="0"/>
              </a:rPr>
              <a:t>2. Unauthorised access to a computer system with intent to commit or facilitate the commission of a further offence.</a:t>
            </a:r>
            <a:endParaRPr lang="en-GB" altLang="en-US" dirty="0">
              <a:solidFill>
                <a:srgbClr val="1B1C32"/>
              </a:solidFill>
              <a:latin typeface="acumin-pro"/>
              <a:cs typeface="Arial" panose="020B0604020202020204" pitchFamily="34" charset="0"/>
            </a:endParaRPr>
          </a:p>
          <a:p>
            <a:r>
              <a:rPr lang="en-GB" altLang="en-US" dirty="0">
                <a:solidFill>
                  <a:srgbClr val="1B1C32"/>
                </a:solidFill>
                <a:latin typeface="acumin-pro"/>
                <a:cs typeface="Arial" panose="020B0604020202020204" pitchFamily="34" charset="0"/>
              </a:rPr>
              <a:t>This covers the situation where unauthorised access is gained with intent to commit a further offence. For example, a person may gain unauthorised access to computer material in order to commit theft by re-directing funds from someone else’s bank account.</a:t>
            </a:r>
          </a:p>
          <a:p>
            <a:r>
              <a:rPr lang="en-GB" altLang="en-US" b="1" dirty="0">
                <a:solidFill>
                  <a:srgbClr val="1B1C32"/>
                </a:solidFill>
                <a:latin typeface="acumin-pro"/>
                <a:cs typeface="Arial" panose="020B0604020202020204" pitchFamily="34" charset="0"/>
              </a:rPr>
              <a:t>3. Unauthorised modification of computer material</a:t>
            </a:r>
            <a:endParaRPr lang="en-GB" altLang="en-US" dirty="0">
              <a:solidFill>
                <a:srgbClr val="1B1C32"/>
              </a:solidFill>
              <a:latin typeface="acumin-pro"/>
              <a:cs typeface="Arial" panose="020B0604020202020204" pitchFamily="34" charset="0"/>
            </a:endParaRPr>
          </a:p>
          <a:p>
            <a:r>
              <a:rPr lang="en-GB" altLang="en-US" dirty="0">
                <a:solidFill>
                  <a:srgbClr val="1B1C32"/>
                </a:solidFill>
                <a:latin typeface="acumin-pro"/>
                <a:cs typeface="Arial" panose="020B0604020202020204" pitchFamily="34" charset="0"/>
              </a:rPr>
              <a:t>This offence includes the deliberate deletion or corruption of programmes or data. It also includes the introduction of viruses etc., where these result in the modification or destruction of data.</a:t>
            </a:r>
          </a:p>
          <a:p>
            <a:r>
              <a:rPr lang="en-GB" altLang="en-US" dirty="0">
                <a:solidFill>
                  <a:srgbClr val="1B1C32"/>
                </a:solidFill>
                <a:latin typeface="acumin-pro"/>
                <a:cs typeface="Arial" panose="020B0604020202020204" pitchFamily="34" charset="0"/>
              </a:rPr>
              <a:t>Please note that University College Birmingham will take very seriously any attempts at ‘hacking’ internal/external systems. Any such actions will be reported to the appropriate authorities immediately.</a:t>
            </a:r>
          </a:p>
          <a:p>
            <a:endParaRPr lang="en-GB" altLang="en-US" dirty="0">
              <a:latin typeface="Times New Roman" panose="02020603050405020304" pitchFamily="18" charset="0"/>
              <a:cs typeface="Arial" panose="020B0604020202020204" pitchFamily="34" charset="0"/>
            </a:endParaRPr>
          </a:p>
          <a:p>
            <a:r>
              <a:rPr lang="en-GB" altLang="en-US" dirty="0">
                <a:solidFill>
                  <a:srgbClr val="202122"/>
                </a:solidFill>
                <a:latin typeface="Times New Roman" panose="02020603050405020304" pitchFamily="18" charset="0"/>
                <a:cs typeface="Arial" panose="020B0604020202020204" pitchFamily="34" charset="0"/>
              </a:rPr>
              <a:t>The sections 2 and 3 offences are intended to deter the more serious criminals from using a computer to assist in the commission of a criminal offence or from impairing or hindering access to data stored in a computer. </a:t>
            </a:r>
          </a:p>
          <a:p>
            <a:r>
              <a:rPr lang="en-GB" altLang="en-US" dirty="0">
                <a:solidFill>
                  <a:srgbClr val="202122"/>
                </a:solidFill>
                <a:latin typeface="Times New Roman" panose="02020603050405020304" pitchFamily="18" charset="0"/>
                <a:cs typeface="Arial" panose="020B0604020202020204" pitchFamily="34" charset="0"/>
              </a:rPr>
              <a:t>The basic section 1 offence is to attempt or achieve access to a computer or the data it stores, by inducing a computer to perform any function with intent to secure access. </a:t>
            </a:r>
          </a:p>
          <a:p>
            <a:endParaRPr lang="en-GB" altLang="en-US" dirty="0">
              <a:solidFill>
                <a:srgbClr val="202122"/>
              </a:solidFill>
              <a:latin typeface="Times New Roman" panose="02020603050405020304" pitchFamily="18" charset="0"/>
              <a:cs typeface="Arial" panose="020B0604020202020204" pitchFamily="34" charset="0"/>
              <a:hlinkClick r:id="rId3" tooltip="Hacker (computer security)"/>
            </a:endParaRPr>
          </a:p>
          <a:p>
            <a:endParaRPr lang="en-GB" altLang="en-US" dirty="0">
              <a:latin typeface="Times New Roman" panose="02020603050405020304" pitchFamily="18" charset="0"/>
              <a:cs typeface="Arial" panose="020B0604020202020204" pitchFamily="34" charset="0"/>
            </a:endParaRPr>
          </a:p>
        </p:txBody>
      </p:sp>
      <p:sp>
        <p:nvSpPr>
          <p:cNvPr id="15364" name="Slide Number Placeholder 3">
            <a:extLst>
              <a:ext uri="{FF2B5EF4-FFF2-40B4-BE49-F238E27FC236}">
                <a16:creationId xmlns:a16="http://schemas.microsoft.com/office/drawing/2014/main" id="{002BB15A-FF09-2AAA-EC67-5C0C42FAAF9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imes New Roman" panose="02020603050405020304" pitchFamily="18" charset="0"/>
                <a:cs typeface="Arial" panose="020B0604020202020204" pitchFamily="34" charset="0"/>
              </a:defRPr>
            </a:lvl1pPr>
            <a:lvl2pPr marL="742950" indent="-285750">
              <a:defRPr>
                <a:solidFill>
                  <a:schemeClr val="tx1"/>
                </a:solidFill>
                <a:latin typeface="Times New Roman" panose="02020603050405020304" pitchFamily="18" charset="0"/>
                <a:cs typeface="Arial" panose="020B0604020202020204" pitchFamily="34" charset="0"/>
              </a:defRPr>
            </a:lvl2pPr>
            <a:lvl3pPr marL="1143000" indent="-228600">
              <a:defRPr>
                <a:solidFill>
                  <a:schemeClr val="tx1"/>
                </a:solidFill>
                <a:latin typeface="Times New Roman" panose="02020603050405020304" pitchFamily="18" charset="0"/>
                <a:cs typeface="Arial" panose="020B0604020202020204" pitchFamily="34" charset="0"/>
              </a:defRPr>
            </a:lvl3pPr>
            <a:lvl4pPr marL="1600200" indent="-228600">
              <a:defRPr>
                <a:solidFill>
                  <a:schemeClr val="tx1"/>
                </a:solidFill>
                <a:latin typeface="Times New Roman" panose="02020603050405020304" pitchFamily="18" charset="0"/>
                <a:cs typeface="Arial" panose="020B0604020202020204" pitchFamily="34" charset="0"/>
              </a:defRPr>
            </a:lvl4pPr>
            <a:lvl5pPr marL="2057400" indent="-228600">
              <a:defRPr>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cs typeface="Arial" panose="020B0604020202020204" pitchFamily="34" charset="0"/>
              </a:defRPr>
            </a:lvl9pPr>
          </a:lstStyle>
          <a:p>
            <a:fld id="{0EF4CA68-1E68-48AE-AB0B-5004397A94C7}" type="slidenum">
              <a:rPr lang="en-US" altLang="en-US" smtClean="0">
                <a:latin typeface="Arial" panose="020B0604020202020204" pitchFamily="34" charset="0"/>
              </a:rPr>
              <a:pPr/>
              <a:t>29</a:t>
            </a:fld>
            <a:endParaRPr lang="en-US" altLang="en-US">
              <a:latin typeface="Arial" panose="020B0604020202020204" pitchFamily="3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a:extLst>
              <a:ext uri="{FF2B5EF4-FFF2-40B4-BE49-F238E27FC236}">
                <a16:creationId xmlns:a16="http://schemas.microsoft.com/office/drawing/2014/main" id="{DDB23FE6-8396-D786-C549-CDA0A2A8CBA8}"/>
              </a:ext>
            </a:extLst>
          </p:cNvPr>
          <p:cNvSpPr>
            <a:spLocks noGrp="1" noRot="1" noChangeAspect="1" noChangeArrowheads="1" noTextEdit="1"/>
          </p:cNvSpPr>
          <p:nvPr>
            <p:ph type="sldImg"/>
          </p:nvPr>
        </p:nvSpPr>
        <p:spPr>
          <a:ln/>
        </p:spPr>
      </p:sp>
      <p:sp>
        <p:nvSpPr>
          <p:cNvPr id="17411" name="Notes Placeholder 2">
            <a:extLst>
              <a:ext uri="{FF2B5EF4-FFF2-40B4-BE49-F238E27FC236}">
                <a16:creationId xmlns:a16="http://schemas.microsoft.com/office/drawing/2014/main" id="{B80A387A-102E-65BC-EB76-CFCBEA81C78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a:solidFill>
                  <a:srgbClr val="202122"/>
                </a:solidFill>
                <a:latin typeface="Times New Roman" panose="02020603050405020304" pitchFamily="18" charset="0"/>
                <a:cs typeface="Arial" panose="020B0604020202020204" pitchFamily="34" charset="0"/>
              </a:rPr>
              <a:t>So a hacker who obtains access to a system intending to transfer money or shares, intends to commit </a:t>
            </a:r>
            <a:r>
              <a:rPr lang="en-GB" altLang="en-US">
                <a:solidFill>
                  <a:srgbClr val="3366CC"/>
                </a:solidFill>
                <a:latin typeface="Times New Roman" panose="02020603050405020304" pitchFamily="18" charset="0"/>
                <a:cs typeface="Arial" panose="020B0604020202020204" pitchFamily="34" charset="0"/>
                <a:hlinkClick r:id="rId3" tooltip="Theft"/>
              </a:rPr>
              <a:t>theft</a:t>
            </a:r>
            <a:r>
              <a:rPr lang="en-GB" altLang="en-US">
                <a:solidFill>
                  <a:srgbClr val="202122"/>
                </a:solidFill>
                <a:latin typeface="Times New Roman" panose="02020603050405020304" pitchFamily="18" charset="0"/>
                <a:cs typeface="Arial" panose="020B0604020202020204" pitchFamily="34" charset="0"/>
              </a:rPr>
              <a:t>, or to obtain confidential information for </a:t>
            </a:r>
            <a:r>
              <a:rPr lang="en-GB" altLang="en-US">
                <a:solidFill>
                  <a:srgbClr val="3366CC"/>
                </a:solidFill>
                <a:latin typeface="Times New Roman" panose="02020603050405020304" pitchFamily="18" charset="0"/>
                <a:cs typeface="Arial" panose="020B0604020202020204" pitchFamily="34" charset="0"/>
                <a:hlinkClick r:id="rId4" tooltip="Blackmail"/>
              </a:rPr>
              <a:t>blackmail</a:t>
            </a:r>
            <a:r>
              <a:rPr lang="en-GB" altLang="en-US">
                <a:solidFill>
                  <a:srgbClr val="202122"/>
                </a:solidFill>
                <a:latin typeface="Times New Roman" panose="02020603050405020304" pitchFamily="18" charset="0"/>
                <a:cs typeface="Arial" panose="020B0604020202020204" pitchFamily="34" charset="0"/>
              </a:rPr>
              <a:t> or </a:t>
            </a:r>
            <a:r>
              <a:rPr lang="en-GB" altLang="en-US">
                <a:solidFill>
                  <a:srgbClr val="3366CC"/>
                </a:solidFill>
                <a:latin typeface="Times New Roman" panose="02020603050405020304" pitchFamily="18" charset="0"/>
                <a:cs typeface="Arial" panose="020B0604020202020204" pitchFamily="34" charset="0"/>
                <a:hlinkClick r:id="rId5" tooltip="Extortion"/>
              </a:rPr>
              <a:t>extortion</a:t>
            </a:r>
            <a:r>
              <a:rPr lang="en-GB" altLang="en-US">
                <a:solidFill>
                  <a:srgbClr val="202122"/>
                </a:solidFill>
                <a:latin typeface="Times New Roman" panose="02020603050405020304" pitchFamily="18" charset="0"/>
                <a:cs typeface="Arial" panose="020B0604020202020204" pitchFamily="34" charset="0"/>
              </a:rPr>
              <a:t>. Thus, the §1 offence is committed as soon as the unauthorised access is attempted, and the §2 offence overtakes liability as soon as specific access is made for the criminal purpose. The §3 offence is specifically aimed at those who write and circulate a </a:t>
            </a:r>
            <a:r>
              <a:rPr lang="en-GB" altLang="en-US">
                <a:solidFill>
                  <a:srgbClr val="3366CC"/>
                </a:solidFill>
                <a:latin typeface="Times New Roman" panose="02020603050405020304" pitchFamily="18" charset="0"/>
                <a:cs typeface="Arial" panose="020B0604020202020204" pitchFamily="34" charset="0"/>
                <a:hlinkClick r:id="rId6" tooltip="Computer virus"/>
              </a:rPr>
              <a:t>computer virus</a:t>
            </a:r>
            <a:r>
              <a:rPr lang="en-GB" altLang="en-US">
                <a:solidFill>
                  <a:srgbClr val="202122"/>
                </a:solidFill>
                <a:latin typeface="Times New Roman" panose="02020603050405020304" pitchFamily="18" charset="0"/>
                <a:cs typeface="Arial" panose="020B0604020202020204" pitchFamily="34" charset="0"/>
              </a:rPr>
              <a:t> or </a:t>
            </a:r>
            <a:r>
              <a:rPr lang="en-GB" altLang="en-US">
                <a:solidFill>
                  <a:srgbClr val="3366CC"/>
                </a:solidFill>
                <a:latin typeface="Times New Roman" panose="02020603050405020304" pitchFamily="18" charset="0"/>
                <a:cs typeface="Arial" panose="020B0604020202020204" pitchFamily="34" charset="0"/>
                <a:hlinkClick r:id="rId7" tooltip="Computer worm"/>
              </a:rPr>
              <a:t>worm</a:t>
            </a:r>
            <a:r>
              <a:rPr lang="en-GB" altLang="en-US">
                <a:solidFill>
                  <a:srgbClr val="202122"/>
                </a:solidFill>
                <a:latin typeface="Times New Roman" panose="02020603050405020304" pitchFamily="18" charset="0"/>
                <a:cs typeface="Arial" panose="020B0604020202020204" pitchFamily="34" charset="0"/>
              </a:rPr>
              <a:t>, whether on a </a:t>
            </a:r>
            <a:r>
              <a:rPr lang="en-GB" altLang="en-US">
                <a:solidFill>
                  <a:srgbClr val="3366CC"/>
                </a:solidFill>
                <a:latin typeface="Times New Roman" panose="02020603050405020304" pitchFamily="18" charset="0"/>
                <a:cs typeface="Arial" panose="020B0604020202020204" pitchFamily="34" charset="0"/>
                <a:hlinkClick r:id="rId8" tooltip="Local area network"/>
              </a:rPr>
              <a:t>LAN</a:t>
            </a:r>
            <a:r>
              <a:rPr lang="en-GB" altLang="en-US">
                <a:solidFill>
                  <a:srgbClr val="202122"/>
                </a:solidFill>
                <a:latin typeface="Times New Roman" panose="02020603050405020304" pitchFamily="18" charset="0"/>
                <a:cs typeface="Arial" panose="020B0604020202020204" pitchFamily="34" charset="0"/>
              </a:rPr>
              <a:t> or across </a:t>
            </a:r>
            <a:r>
              <a:rPr lang="en-GB" altLang="en-US">
                <a:solidFill>
                  <a:srgbClr val="3366CC"/>
                </a:solidFill>
                <a:latin typeface="Times New Roman" panose="02020603050405020304" pitchFamily="18" charset="0"/>
                <a:cs typeface="Arial" panose="020B0604020202020204" pitchFamily="34" charset="0"/>
                <a:hlinkClick r:id="rId9" tooltip="Computer network"/>
              </a:rPr>
              <a:t>networks</a:t>
            </a:r>
            <a:r>
              <a:rPr lang="en-GB" altLang="en-US">
                <a:solidFill>
                  <a:srgbClr val="202122"/>
                </a:solidFill>
                <a:latin typeface="Times New Roman" panose="02020603050405020304" pitchFamily="18" charset="0"/>
                <a:cs typeface="Arial" panose="020B0604020202020204" pitchFamily="34" charset="0"/>
              </a:rPr>
              <a:t>. Similarly, using </a:t>
            </a:r>
            <a:r>
              <a:rPr lang="en-GB" altLang="en-US">
                <a:solidFill>
                  <a:srgbClr val="3366CC"/>
                </a:solidFill>
                <a:latin typeface="Times New Roman" panose="02020603050405020304" pitchFamily="18" charset="0"/>
                <a:cs typeface="Arial" panose="020B0604020202020204" pitchFamily="34" charset="0"/>
                <a:hlinkClick r:id="rId10" tooltip="Phishing"/>
              </a:rPr>
              <a:t>phishing</a:t>
            </a:r>
            <a:r>
              <a:rPr lang="en-GB" altLang="en-US">
                <a:solidFill>
                  <a:srgbClr val="202122"/>
                </a:solidFill>
                <a:latin typeface="Times New Roman" panose="02020603050405020304" pitchFamily="18" charset="0"/>
                <a:cs typeface="Arial" panose="020B0604020202020204" pitchFamily="34" charset="0"/>
              </a:rPr>
              <a:t> techniques or a </a:t>
            </a:r>
            <a:r>
              <a:rPr lang="en-GB" altLang="en-US">
                <a:solidFill>
                  <a:srgbClr val="3366CC"/>
                </a:solidFill>
                <a:latin typeface="Times New Roman" panose="02020603050405020304" pitchFamily="18" charset="0"/>
                <a:cs typeface="Arial" panose="020B0604020202020204" pitchFamily="34" charset="0"/>
                <a:hlinkClick r:id="rId11" tooltip="Trojan horse (computing)"/>
              </a:rPr>
              <a:t>Trojan horse</a:t>
            </a:r>
            <a:r>
              <a:rPr lang="en-GB" altLang="en-US">
                <a:solidFill>
                  <a:srgbClr val="202122"/>
                </a:solidFill>
                <a:latin typeface="Times New Roman" panose="02020603050405020304" pitchFamily="18" charset="0"/>
                <a:cs typeface="Arial" panose="020B0604020202020204" pitchFamily="34" charset="0"/>
              </a:rPr>
              <a:t> to obtain identity data or to acquire any other data from an unauthorised source, or modifying the operating system files or some aspect of the computer's functions to interfere with its operation or prevent access to any data, including the destruction of files, or deliberately generating code to cause a complete system malfunction, are all criminal "modifications". In 2004, John Thornley pleaded guilty to four offences under §3, having mounted an attack on a rival site, and introduced a Trojan horse to bring it down on several occasions, but it was recognized that the wording of the offence needed to be clarified to confirm that all forms of </a:t>
            </a:r>
            <a:r>
              <a:rPr lang="en-GB" altLang="en-US">
                <a:solidFill>
                  <a:srgbClr val="3366CC"/>
                </a:solidFill>
                <a:latin typeface="Times New Roman" panose="02020603050405020304" pitchFamily="18" charset="0"/>
                <a:cs typeface="Arial" panose="020B0604020202020204" pitchFamily="34" charset="0"/>
                <a:hlinkClick r:id="rId12" tooltip="Denial of service"/>
              </a:rPr>
              <a:t>denial of service</a:t>
            </a:r>
            <a:r>
              <a:rPr lang="en-GB" altLang="en-US">
                <a:solidFill>
                  <a:srgbClr val="202122"/>
                </a:solidFill>
                <a:latin typeface="Times New Roman" panose="02020603050405020304" pitchFamily="18" charset="0"/>
                <a:cs typeface="Arial" panose="020B0604020202020204" pitchFamily="34" charset="0"/>
              </a:rPr>
              <a:t> attack are included.</a:t>
            </a:r>
            <a:r>
              <a:rPr lang="en-GB" altLang="en-US" baseline="30000">
                <a:solidFill>
                  <a:srgbClr val="202122"/>
                </a:solidFill>
                <a:latin typeface="Times New Roman" panose="02020603050405020304" pitchFamily="18" charset="0"/>
                <a:cs typeface="Arial" panose="020B0604020202020204" pitchFamily="34" charset="0"/>
              </a:rPr>
              <a:t>[</a:t>
            </a:r>
            <a:r>
              <a:rPr lang="en-GB" altLang="en-US" i="1" baseline="30000">
                <a:solidFill>
                  <a:srgbClr val="3366CC"/>
                </a:solidFill>
                <a:latin typeface="Times New Roman" panose="02020603050405020304" pitchFamily="18" charset="0"/>
                <a:cs typeface="Arial" panose="020B0604020202020204" pitchFamily="34" charset="0"/>
                <a:hlinkClick r:id="rId13" tooltip="Wikipedia:Citation needed"/>
              </a:rPr>
              <a:t>citation needed</a:t>
            </a:r>
            <a:r>
              <a:rPr lang="en-GB" altLang="en-US" baseline="30000">
                <a:solidFill>
                  <a:srgbClr val="202122"/>
                </a:solidFill>
                <a:latin typeface="Times New Roman" panose="02020603050405020304" pitchFamily="18" charset="0"/>
                <a:cs typeface="Arial" panose="020B0604020202020204" pitchFamily="34" charset="0"/>
              </a:rPr>
              <a:t>]</a:t>
            </a:r>
            <a:endParaRPr lang="en-GB" altLang="en-US">
              <a:latin typeface="Times New Roman" panose="02020603050405020304" pitchFamily="18" charset="0"/>
              <a:cs typeface="Arial" panose="020B0604020202020204" pitchFamily="34" charset="0"/>
            </a:endParaRPr>
          </a:p>
        </p:txBody>
      </p:sp>
      <p:sp>
        <p:nvSpPr>
          <p:cNvPr id="17412" name="Slide Number Placeholder 3">
            <a:extLst>
              <a:ext uri="{FF2B5EF4-FFF2-40B4-BE49-F238E27FC236}">
                <a16:creationId xmlns:a16="http://schemas.microsoft.com/office/drawing/2014/main" id="{DF6F233A-FA85-98A6-422B-0F67F1068E4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imes New Roman" panose="02020603050405020304" pitchFamily="18" charset="0"/>
                <a:cs typeface="Arial" panose="020B0604020202020204" pitchFamily="34" charset="0"/>
              </a:defRPr>
            </a:lvl1pPr>
            <a:lvl2pPr marL="742950" indent="-285750">
              <a:defRPr>
                <a:solidFill>
                  <a:schemeClr val="tx1"/>
                </a:solidFill>
                <a:latin typeface="Times New Roman" panose="02020603050405020304" pitchFamily="18" charset="0"/>
                <a:cs typeface="Arial" panose="020B0604020202020204" pitchFamily="34" charset="0"/>
              </a:defRPr>
            </a:lvl2pPr>
            <a:lvl3pPr marL="1143000" indent="-228600">
              <a:defRPr>
                <a:solidFill>
                  <a:schemeClr val="tx1"/>
                </a:solidFill>
                <a:latin typeface="Times New Roman" panose="02020603050405020304" pitchFamily="18" charset="0"/>
                <a:cs typeface="Arial" panose="020B0604020202020204" pitchFamily="34" charset="0"/>
              </a:defRPr>
            </a:lvl3pPr>
            <a:lvl4pPr marL="1600200" indent="-228600">
              <a:defRPr>
                <a:solidFill>
                  <a:schemeClr val="tx1"/>
                </a:solidFill>
                <a:latin typeface="Times New Roman" panose="02020603050405020304" pitchFamily="18" charset="0"/>
                <a:cs typeface="Arial" panose="020B0604020202020204" pitchFamily="34" charset="0"/>
              </a:defRPr>
            </a:lvl4pPr>
            <a:lvl5pPr marL="2057400" indent="-228600">
              <a:defRPr>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cs typeface="Arial" panose="020B0604020202020204" pitchFamily="34" charset="0"/>
              </a:defRPr>
            </a:lvl9pPr>
          </a:lstStyle>
          <a:p>
            <a:fld id="{0399D679-F127-4E4E-8AF4-99D7285C3E69}" type="slidenum">
              <a:rPr lang="en-US" altLang="en-US" smtClean="0">
                <a:latin typeface="Arial" panose="020B0604020202020204" pitchFamily="34" charset="0"/>
              </a:rPr>
              <a:pPr/>
              <a:t>30</a:t>
            </a:fld>
            <a:endParaRPr lang="en-US" altLang="en-US">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C50669A-91B2-BAE0-4128-1977855DF14F}"/>
              </a:ext>
            </a:extLst>
          </p:cNvPr>
          <p:cNvSpPr txBox="1">
            <a:spLocks noChangeArrowheads="1"/>
          </p:cNvSpPr>
          <p:nvPr userDrawn="1"/>
        </p:nvSpPr>
        <p:spPr bwMode="auto">
          <a:xfrm>
            <a:off x="990600" y="6324600"/>
            <a:ext cx="7543800" cy="307975"/>
          </a:xfrm>
          <a:prstGeom prst="rect">
            <a:avLst/>
          </a:prstGeom>
          <a:noFill/>
          <a:ln>
            <a:noFill/>
          </a:ln>
        </p:spPr>
        <p:txBody>
          <a:bodyPr>
            <a:spAutoFit/>
          </a:bodyPr>
          <a:lstStyle>
            <a:lvl1pPr>
              <a:defRPr>
                <a:solidFill>
                  <a:schemeClr val="tx1"/>
                </a:solidFill>
                <a:latin typeface="Times New Roman" panose="02020603050405020304" pitchFamily="18" charset="0"/>
                <a:cs typeface="Arial" panose="020B0604020202020204" pitchFamily="34" charset="0"/>
              </a:defRPr>
            </a:lvl1pPr>
            <a:lvl2pPr marL="742950" indent="-285750">
              <a:defRPr>
                <a:solidFill>
                  <a:schemeClr val="tx1"/>
                </a:solidFill>
                <a:latin typeface="Times New Roman" panose="02020603050405020304" pitchFamily="18" charset="0"/>
                <a:cs typeface="Arial" panose="020B0604020202020204" pitchFamily="34" charset="0"/>
              </a:defRPr>
            </a:lvl2pPr>
            <a:lvl3pPr marL="1143000" indent="-228600">
              <a:defRPr>
                <a:solidFill>
                  <a:schemeClr val="tx1"/>
                </a:solidFill>
                <a:latin typeface="Times New Roman" panose="02020603050405020304" pitchFamily="18" charset="0"/>
                <a:cs typeface="Arial" panose="020B0604020202020204" pitchFamily="34" charset="0"/>
              </a:defRPr>
            </a:lvl3pPr>
            <a:lvl4pPr marL="1600200" indent="-228600">
              <a:defRPr>
                <a:solidFill>
                  <a:schemeClr val="tx1"/>
                </a:solidFill>
                <a:latin typeface="Times New Roman" panose="02020603050405020304" pitchFamily="18" charset="0"/>
                <a:cs typeface="Arial" panose="020B0604020202020204" pitchFamily="34" charset="0"/>
              </a:defRPr>
            </a:lvl4pPr>
            <a:lvl5pPr marL="2057400" indent="-228600">
              <a:defRPr>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cs typeface="Arial" panose="020B0604020202020204" pitchFamily="34" charset="0"/>
              </a:defRPr>
            </a:lvl9pPr>
          </a:lstStyle>
          <a:p>
            <a:pPr eaLnBrk="1" hangingPunct="1">
              <a:defRPr/>
            </a:pPr>
            <a:r>
              <a:rPr lang="en-US" altLang="en-US" sz="1400">
                <a:latin typeface="Calibri" panose="020F0502020204030204" pitchFamily="34" charset="0"/>
              </a:rPr>
              <a:t>Slides prepared by Cyndi Chie and Sarah Frye.  Fourth edition revisions by Sharon Gray.</a:t>
            </a:r>
          </a:p>
        </p:txBody>
      </p:sp>
      <p:sp>
        <p:nvSpPr>
          <p:cNvPr id="2" name="Title 1"/>
          <p:cNvSpPr>
            <a:spLocks noGrp="1"/>
          </p:cNvSpPr>
          <p:nvPr>
            <p:ph type="ctrTitle"/>
          </p:nvPr>
        </p:nvSpPr>
        <p:spPr>
          <a:xfrm>
            <a:off x="990600" y="2819400"/>
            <a:ext cx="6705600" cy="1470025"/>
          </a:xfrm>
        </p:spPr>
        <p:txBody>
          <a:bodyPr/>
          <a:lstStyle>
            <a:lvl1pPr algn="l">
              <a:defRPr/>
            </a:lvl1pPr>
          </a:lstStyle>
          <a:p>
            <a:r>
              <a:rPr lang="en-US"/>
              <a:t>Click to edit Master title style</a:t>
            </a:r>
            <a:endParaRPr lang="en-US" dirty="0"/>
          </a:p>
        </p:txBody>
      </p:sp>
      <p:sp>
        <p:nvSpPr>
          <p:cNvPr id="3" name="Subtitle 2"/>
          <p:cNvSpPr>
            <a:spLocks noGrp="1"/>
          </p:cNvSpPr>
          <p:nvPr>
            <p:ph type="subTitle" idx="1"/>
          </p:nvPr>
        </p:nvSpPr>
        <p:spPr>
          <a:xfrm>
            <a:off x="990600" y="4267200"/>
            <a:ext cx="4419600" cy="1752600"/>
          </a:xfrm>
          <a:noFill/>
        </p:spPr>
        <p:txBody>
          <a:bodyPr/>
          <a:lstStyle>
            <a:lvl1pPr marL="0" indent="0" algn="l">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29517959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1219200" y="1371600"/>
            <a:ext cx="7620000" cy="4876800"/>
          </a:xfrm>
        </p:spPr>
        <p:txBody>
          <a:bodyPr/>
          <a:lstStyle>
            <a:lvl1pPr marL="342900" indent="-342900">
              <a:buClr>
                <a:schemeClr val="bg1">
                  <a:lumMod val="65000"/>
                </a:schemeClr>
              </a:buClr>
              <a:buFont typeface="Wingdings" pitchFamily="2" charset="2"/>
              <a:buChar char="§"/>
              <a:defRPr/>
            </a:lvl1pPr>
            <a:lvl2pPr marL="742950" indent="-285750">
              <a:buClr>
                <a:schemeClr val="bg1">
                  <a:lumMod val="65000"/>
                </a:schemeClr>
              </a:buClr>
              <a:buFont typeface="Wingdings" pitchFamily="2" charset="2"/>
              <a:buChar char="§"/>
              <a:defRPr/>
            </a:lvl2pPr>
            <a:lvl3pPr marL="1143000" indent="-228600">
              <a:buClr>
                <a:schemeClr val="bg1">
                  <a:lumMod val="65000"/>
                </a:schemeClr>
              </a:buClr>
              <a:buFont typeface="Wingdings" pitchFamily="2" charset="2"/>
              <a:buChar char="§"/>
              <a:defRPr/>
            </a:lvl3pPr>
            <a:lvl4pPr marL="1600200" indent="-228600">
              <a:buClr>
                <a:schemeClr val="bg1">
                  <a:lumMod val="65000"/>
                </a:schemeClr>
              </a:buClr>
              <a:buFont typeface="Wingdings" pitchFamily="2" charset="2"/>
              <a:buChar char="§"/>
              <a:defRPr/>
            </a:lvl4pPr>
            <a:lvl5pPr marL="2057400" indent="-228600">
              <a:buClr>
                <a:schemeClr val="bg1">
                  <a:lumMod val="65000"/>
                </a:schemeClr>
              </a:buClr>
              <a:buFont typeface="Wingdings" pitchFamily="2" charset="2"/>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itle 5"/>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3530574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1219200" y="1371600"/>
            <a:ext cx="7467600" cy="2590800"/>
          </a:xfrm>
        </p:spPr>
        <p:txBody>
          <a:bodyPr>
            <a:normAutofit/>
          </a:bodyPr>
          <a:lstStyle>
            <a:lvl1pPr marL="0" indent="0">
              <a:buNone/>
              <a:defRPr sz="2400" i="1">
                <a:latin typeface="Times New Roman" pitchFamily="18" charset="0"/>
                <a:cs typeface="Times New Roman" pitchFamily="18" charset="0"/>
              </a:defRPr>
            </a:lvl1pPr>
          </a:lstStyle>
          <a:p>
            <a:pPr lvl="0"/>
            <a:r>
              <a:rPr lang="en-US"/>
              <a:t>Click to edit Master text styles</a:t>
            </a:r>
          </a:p>
        </p:txBody>
      </p:sp>
    </p:spTree>
    <p:extLst>
      <p:ext uri="{BB962C8B-B14F-4D97-AF65-F5344CB8AC3E}">
        <p14:creationId xmlns:p14="http://schemas.microsoft.com/office/powerpoint/2010/main" val="41589772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7566210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07704" y="-239679"/>
            <a:ext cx="7696200" cy="1143000"/>
          </a:xfrm>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8473834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1219200" y="1371600"/>
            <a:ext cx="7620000" cy="4876800"/>
          </a:xfrm>
        </p:spPr>
        <p:txBody>
          <a:bodyPr/>
          <a:lstStyle>
            <a:lvl1pPr marL="342900" indent="-342900">
              <a:buClr>
                <a:schemeClr val="bg1">
                  <a:lumMod val="65000"/>
                </a:schemeClr>
              </a:buClr>
              <a:buFont typeface="Wingdings" pitchFamily="2" charset="2"/>
              <a:buChar char="§"/>
              <a:defRPr/>
            </a:lvl1pPr>
            <a:lvl2pPr marL="742950" indent="-285750">
              <a:buClr>
                <a:schemeClr val="bg1">
                  <a:lumMod val="65000"/>
                </a:schemeClr>
              </a:buClr>
              <a:buFont typeface="Wingdings" pitchFamily="2" charset="2"/>
              <a:buChar char="§"/>
              <a:defRPr/>
            </a:lvl2pPr>
            <a:lvl3pPr marL="1143000" indent="-228600">
              <a:buClr>
                <a:schemeClr val="bg1">
                  <a:lumMod val="65000"/>
                </a:schemeClr>
              </a:buClr>
              <a:buFont typeface="Wingdings" pitchFamily="2" charset="2"/>
              <a:buChar char="§"/>
              <a:defRPr/>
            </a:lvl3pPr>
            <a:lvl4pPr marL="1600200" indent="-228600">
              <a:buClr>
                <a:schemeClr val="bg1">
                  <a:lumMod val="65000"/>
                </a:schemeClr>
              </a:buClr>
              <a:buFont typeface="Wingdings" pitchFamily="2" charset="2"/>
              <a:buChar char="§"/>
              <a:defRPr/>
            </a:lvl4pPr>
            <a:lvl5pPr marL="2057400" indent="-228600">
              <a:buClr>
                <a:schemeClr val="bg1">
                  <a:lumMod val="65000"/>
                </a:schemeClr>
              </a:buClr>
              <a:buFont typeface="Wingdings" pitchFamily="2" charset="2"/>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itle 5"/>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5812093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8"/>
          <a:srcRect/>
          <a:stretch>
            <a:fillRect/>
          </a:stretch>
        </a:blip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7B3406-8DE5-6E84-0681-D80CFD78F0E3}"/>
              </a:ext>
            </a:extLst>
          </p:cNvPr>
          <p:cNvSpPr/>
          <p:nvPr userDrawn="1"/>
        </p:nvSpPr>
        <p:spPr>
          <a:xfrm>
            <a:off x="0" y="0"/>
            <a:ext cx="9144000" cy="68580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2" name="Title Placeholder 1">
            <a:extLst>
              <a:ext uri="{FF2B5EF4-FFF2-40B4-BE49-F238E27FC236}">
                <a16:creationId xmlns:a16="http://schemas.microsoft.com/office/drawing/2014/main" id="{30D92C42-1C28-460D-DD0F-B1D4DDB5A5F4}"/>
              </a:ext>
            </a:extLst>
          </p:cNvPr>
          <p:cNvSpPr>
            <a:spLocks noGrp="1"/>
          </p:cNvSpPr>
          <p:nvPr>
            <p:ph type="title"/>
          </p:nvPr>
        </p:nvSpPr>
        <p:spPr>
          <a:xfrm>
            <a:off x="1219200" y="228600"/>
            <a:ext cx="7162800" cy="1143000"/>
          </a:xfrm>
          <a:prstGeom prst="rect">
            <a:avLst/>
          </a:prstGeom>
          <a:no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vert="horz" lIns="91440" tIns="45720" rIns="91440" bIns="45720" rtlCol="0" anchor="ctr">
            <a:normAutofit/>
          </a:bodyPr>
          <a:lstStyle/>
          <a:p>
            <a:r>
              <a:rPr lang="en-US"/>
              <a:t>Click to edit Master title style</a:t>
            </a:r>
            <a:endParaRPr lang="en-US" dirty="0"/>
          </a:p>
        </p:txBody>
      </p:sp>
      <p:sp>
        <p:nvSpPr>
          <p:cNvPr id="1028" name="Text Placeholder 2">
            <a:extLst>
              <a:ext uri="{FF2B5EF4-FFF2-40B4-BE49-F238E27FC236}">
                <a16:creationId xmlns:a16="http://schemas.microsoft.com/office/drawing/2014/main" id="{D46554C7-523C-105D-B614-D3695286835C}"/>
              </a:ext>
            </a:extLst>
          </p:cNvPr>
          <p:cNvSpPr>
            <a:spLocks noGrp="1"/>
          </p:cNvSpPr>
          <p:nvPr>
            <p:ph type="body" idx="1"/>
          </p:nvPr>
        </p:nvSpPr>
        <p:spPr bwMode="auto">
          <a:xfrm>
            <a:off x="1219200" y="1371600"/>
            <a:ext cx="76200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Tree>
  </p:cSld>
  <p:clrMap bg1="lt1" tx1="dk1" bg2="lt2" tx2="dk2" accent1="accent1" accent2="accent2" accent3="accent3" accent4="accent4" accent5="accent5" accent6="accent6" hlink="hlink" folHlink="folHlink"/>
  <p:sldLayoutIdLst>
    <p:sldLayoutId id="2147483881" r:id="rId1"/>
    <p:sldLayoutId id="2147483882" r:id="rId2"/>
    <p:sldLayoutId id="2147483878" r:id="rId3"/>
    <p:sldLayoutId id="2147483879" r:id="rId4"/>
    <p:sldLayoutId id="2147483880" r:id="rId5"/>
    <p:sldLayoutId id="2147483883" r:id="rId6"/>
  </p:sldLayoutIdLst>
  <p:hf sldNum="0" hdr="0" ftr="0" dt="0"/>
  <p:txStyles>
    <p:titleStyle>
      <a:lvl1pPr algn="l" rtl="0" eaLnBrk="0" fontAlgn="base" hangingPunct="0">
        <a:spcBef>
          <a:spcPct val="0"/>
        </a:spcBef>
        <a:spcAft>
          <a:spcPct val="0"/>
        </a:spcAft>
        <a:defRPr sz="4200" kern="1200">
          <a:solidFill>
            <a:schemeClr val="tx1"/>
          </a:solidFill>
          <a:latin typeface="+mj-lt"/>
          <a:ea typeface="+mj-ea"/>
          <a:cs typeface="+mj-cs"/>
        </a:defRPr>
      </a:lvl1pPr>
      <a:lvl2pPr algn="l" rtl="0" eaLnBrk="0" fontAlgn="base" hangingPunct="0">
        <a:spcBef>
          <a:spcPct val="0"/>
        </a:spcBef>
        <a:spcAft>
          <a:spcPct val="0"/>
        </a:spcAft>
        <a:defRPr sz="4200">
          <a:solidFill>
            <a:schemeClr val="tx1"/>
          </a:solidFill>
          <a:latin typeface="Calibri" pitchFamily="34" charset="0"/>
        </a:defRPr>
      </a:lvl2pPr>
      <a:lvl3pPr algn="l" rtl="0" eaLnBrk="0" fontAlgn="base" hangingPunct="0">
        <a:spcBef>
          <a:spcPct val="0"/>
        </a:spcBef>
        <a:spcAft>
          <a:spcPct val="0"/>
        </a:spcAft>
        <a:defRPr sz="4200">
          <a:solidFill>
            <a:schemeClr val="tx1"/>
          </a:solidFill>
          <a:latin typeface="Calibri" pitchFamily="34" charset="0"/>
        </a:defRPr>
      </a:lvl3pPr>
      <a:lvl4pPr algn="l" rtl="0" eaLnBrk="0" fontAlgn="base" hangingPunct="0">
        <a:spcBef>
          <a:spcPct val="0"/>
        </a:spcBef>
        <a:spcAft>
          <a:spcPct val="0"/>
        </a:spcAft>
        <a:defRPr sz="4200">
          <a:solidFill>
            <a:schemeClr val="tx1"/>
          </a:solidFill>
          <a:latin typeface="Calibri" pitchFamily="34" charset="0"/>
        </a:defRPr>
      </a:lvl4pPr>
      <a:lvl5pPr algn="l" rtl="0" eaLnBrk="0" fontAlgn="base" hangingPunct="0">
        <a:spcBef>
          <a:spcPct val="0"/>
        </a:spcBef>
        <a:spcAft>
          <a:spcPct val="0"/>
        </a:spcAft>
        <a:defRPr sz="4200">
          <a:solidFill>
            <a:schemeClr val="tx1"/>
          </a:solidFill>
          <a:latin typeface="Calibri" pitchFamily="34" charset="0"/>
        </a:defRPr>
      </a:lvl5pPr>
      <a:lvl6pPr marL="457200" algn="l" rtl="0" fontAlgn="base">
        <a:spcBef>
          <a:spcPct val="0"/>
        </a:spcBef>
        <a:spcAft>
          <a:spcPct val="0"/>
        </a:spcAft>
        <a:defRPr sz="4200">
          <a:solidFill>
            <a:schemeClr val="tx1"/>
          </a:solidFill>
          <a:latin typeface="Calibri" pitchFamily="34" charset="0"/>
        </a:defRPr>
      </a:lvl6pPr>
      <a:lvl7pPr marL="914400" algn="l" rtl="0" fontAlgn="base">
        <a:spcBef>
          <a:spcPct val="0"/>
        </a:spcBef>
        <a:spcAft>
          <a:spcPct val="0"/>
        </a:spcAft>
        <a:defRPr sz="4200">
          <a:solidFill>
            <a:schemeClr val="tx1"/>
          </a:solidFill>
          <a:latin typeface="Calibri" pitchFamily="34" charset="0"/>
        </a:defRPr>
      </a:lvl7pPr>
      <a:lvl8pPr marL="1371600" algn="l" rtl="0" fontAlgn="base">
        <a:spcBef>
          <a:spcPct val="0"/>
        </a:spcBef>
        <a:spcAft>
          <a:spcPct val="0"/>
        </a:spcAft>
        <a:defRPr sz="4200">
          <a:solidFill>
            <a:schemeClr val="tx1"/>
          </a:solidFill>
          <a:latin typeface="Calibri" pitchFamily="34" charset="0"/>
        </a:defRPr>
      </a:lvl8pPr>
      <a:lvl9pPr marL="1828800" algn="l" rtl="0" fontAlgn="base">
        <a:spcBef>
          <a:spcPct val="0"/>
        </a:spcBef>
        <a:spcAft>
          <a:spcPct val="0"/>
        </a:spcAft>
        <a:defRPr sz="42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Wingdings" panose="05000000000000000000" pitchFamily="2" charset="2"/>
        <a:buChar char="§"/>
        <a:defRPr sz="3000" kern="1200">
          <a:solidFill>
            <a:schemeClr val="tx1"/>
          </a:solidFill>
          <a:latin typeface="+mn-lt"/>
          <a:ea typeface="+mn-ea"/>
          <a:cs typeface="+mn-cs"/>
        </a:defRPr>
      </a:lvl1pPr>
      <a:lvl2pPr marL="742950" indent="-285750" algn="l" rtl="0" eaLnBrk="0" fontAlgn="base" hangingPunct="0">
        <a:spcBef>
          <a:spcPct val="20000"/>
        </a:spcBef>
        <a:spcAft>
          <a:spcPct val="0"/>
        </a:spcAft>
        <a:buSzPct val="50000"/>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SzPct val="75000"/>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www.classmates.com/"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hyperlink" Target="http://myspace.com/" TargetMode="Externa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B74C7-3BBF-B108-613E-83997209F258}"/>
              </a:ext>
            </a:extLst>
          </p:cNvPr>
          <p:cNvSpPr>
            <a:spLocks noGrp="1"/>
          </p:cNvSpPr>
          <p:nvPr>
            <p:ph type="title"/>
          </p:nvPr>
        </p:nvSpPr>
        <p:spPr>
          <a:xfrm>
            <a:off x="533400" y="2819400"/>
            <a:ext cx="8153400" cy="994172"/>
          </a:xfrm>
        </p:spPr>
        <p:txBody>
          <a:bodyPr>
            <a:normAutofit fontScale="90000"/>
          </a:bodyPr>
          <a:lstStyle/>
          <a:p>
            <a:pPr algn="ctr">
              <a:defRPr/>
            </a:pPr>
            <a:r>
              <a:rPr lang="en-GB" sz="3400" b="1" dirty="0"/>
              <a:t>Ethical, Social and Legal Issues In Networking</a:t>
            </a:r>
            <a:endParaRPr lang="en-GB" sz="3400" dirty="0"/>
          </a:p>
        </p:txBody>
      </p:sp>
      <p:sp>
        <p:nvSpPr>
          <p:cNvPr id="3" name="Title 1">
            <a:extLst>
              <a:ext uri="{FF2B5EF4-FFF2-40B4-BE49-F238E27FC236}">
                <a16:creationId xmlns:a16="http://schemas.microsoft.com/office/drawing/2014/main" id="{A704CD26-CE9D-5243-75EF-8D3CF635594D}"/>
              </a:ext>
            </a:extLst>
          </p:cNvPr>
          <p:cNvSpPr txBox="1">
            <a:spLocks/>
          </p:cNvSpPr>
          <p:nvPr/>
        </p:nvSpPr>
        <p:spPr>
          <a:xfrm>
            <a:off x="762000" y="838200"/>
            <a:ext cx="7399421" cy="1790700"/>
          </a:xfrm>
          <a:prstGeom prst="rect">
            <a:avLst/>
          </a:prstGeom>
          <a:no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vert="horz" lIns="91440" tIns="45720" rIns="91440" bIns="45720" rtlCol="0" anchor="ctr">
            <a:normAutofit/>
          </a:bodyPr>
          <a:lstStyle>
            <a:lvl1pPr algn="l" rtl="0" eaLnBrk="0" fontAlgn="base" hangingPunct="0">
              <a:spcBef>
                <a:spcPct val="0"/>
              </a:spcBef>
              <a:spcAft>
                <a:spcPct val="0"/>
              </a:spcAft>
              <a:defRPr sz="4200" kern="1200">
                <a:solidFill>
                  <a:schemeClr val="tx1"/>
                </a:solidFill>
                <a:latin typeface="+mj-lt"/>
                <a:ea typeface="+mj-ea"/>
                <a:cs typeface="+mj-cs"/>
              </a:defRPr>
            </a:lvl1pPr>
            <a:lvl2pPr algn="l" rtl="0" eaLnBrk="0" fontAlgn="base" hangingPunct="0">
              <a:spcBef>
                <a:spcPct val="0"/>
              </a:spcBef>
              <a:spcAft>
                <a:spcPct val="0"/>
              </a:spcAft>
              <a:defRPr sz="4200">
                <a:solidFill>
                  <a:schemeClr val="tx1"/>
                </a:solidFill>
                <a:latin typeface="Calibri" pitchFamily="34" charset="0"/>
              </a:defRPr>
            </a:lvl2pPr>
            <a:lvl3pPr algn="l" rtl="0" eaLnBrk="0" fontAlgn="base" hangingPunct="0">
              <a:spcBef>
                <a:spcPct val="0"/>
              </a:spcBef>
              <a:spcAft>
                <a:spcPct val="0"/>
              </a:spcAft>
              <a:defRPr sz="4200">
                <a:solidFill>
                  <a:schemeClr val="tx1"/>
                </a:solidFill>
                <a:latin typeface="Calibri" pitchFamily="34" charset="0"/>
              </a:defRPr>
            </a:lvl3pPr>
            <a:lvl4pPr algn="l" rtl="0" eaLnBrk="0" fontAlgn="base" hangingPunct="0">
              <a:spcBef>
                <a:spcPct val="0"/>
              </a:spcBef>
              <a:spcAft>
                <a:spcPct val="0"/>
              </a:spcAft>
              <a:defRPr sz="4200">
                <a:solidFill>
                  <a:schemeClr val="tx1"/>
                </a:solidFill>
                <a:latin typeface="Calibri" pitchFamily="34" charset="0"/>
              </a:defRPr>
            </a:lvl4pPr>
            <a:lvl5pPr algn="l" rtl="0" eaLnBrk="0" fontAlgn="base" hangingPunct="0">
              <a:spcBef>
                <a:spcPct val="0"/>
              </a:spcBef>
              <a:spcAft>
                <a:spcPct val="0"/>
              </a:spcAft>
              <a:defRPr sz="4200">
                <a:solidFill>
                  <a:schemeClr val="tx1"/>
                </a:solidFill>
                <a:latin typeface="Calibri" pitchFamily="34" charset="0"/>
              </a:defRPr>
            </a:lvl5pPr>
            <a:lvl6pPr marL="457200" algn="l" rtl="0" fontAlgn="base">
              <a:spcBef>
                <a:spcPct val="0"/>
              </a:spcBef>
              <a:spcAft>
                <a:spcPct val="0"/>
              </a:spcAft>
              <a:defRPr sz="4200">
                <a:solidFill>
                  <a:schemeClr val="tx1"/>
                </a:solidFill>
                <a:latin typeface="Calibri" pitchFamily="34" charset="0"/>
              </a:defRPr>
            </a:lvl6pPr>
            <a:lvl7pPr marL="914400" algn="l" rtl="0" fontAlgn="base">
              <a:spcBef>
                <a:spcPct val="0"/>
              </a:spcBef>
              <a:spcAft>
                <a:spcPct val="0"/>
              </a:spcAft>
              <a:defRPr sz="4200">
                <a:solidFill>
                  <a:schemeClr val="tx1"/>
                </a:solidFill>
                <a:latin typeface="Calibri" pitchFamily="34" charset="0"/>
              </a:defRPr>
            </a:lvl7pPr>
            <a:lvl8pPr marL="1371600" algn="l" rtl="0" fontAlgn="base">
              <a:spcBef>
                <a:spcPct val="0"/>
              </a:spcBef>
              <a:spcAft>
                <a:spcPct val="0"/>
              </a:spcAft>
              <a:defRPr sz="4200">
                <a:solidFill>
                  <a:schemeClr val="tx1"/>
                </a:solidFill>
                <a:latin typeface="Calibri" pitchFamily="34" charset="0"/>
              </a:defRPr>
            </a:lvl8pPr>
            <a:lvl9pPr marL="1828800" algn="l" rtl="0" fontAlgn="base">
              <a:spcBef>
                <a:spcPct val="0"/>
              </a:spcBef>
              <a:spcAft>
                <a:spcPct val="0"/>
              </a:spcAft>
              <a:defRPr sz="4200">
                <a:solidFill>
                  <a:schemeClr val="tx1"/>
                </a:solidFill>
                <a:latin typeface="Calibri" pitchFamily="34" charset="0"/>
              </a:defRPr>
            </a:lvl9pPr>
          </a:lstStyle>
          <a:p>
            <a:r>
              <a:rPr lang="en-US" dirty="0"/>
              <a:t>CMP301 – Computer Networking</a:t>
            </a:r>
            <a:br>
              <a:rPr lang="en-US" dirty="0"/>
            </a:br>
            <a:r>
              <a:rPr lang="en-US" dirty="0"/>
              <a:t>Lecture Week 6</a:t>
            </a:r>
            <a:endParaRPr lang="en-GB" dirty="0"/>
          </a:p>
        </p:txBody>
      </p:sp>
      <p:sp>
        <p:nvSpPr>
          <p:cNvPr id="4" name="Subtitle 2">
            <a:extLst>
              <a:ext uri="{FF2B5EF4-FFF2-40B4-BE49-F238E27FC236}">
                <a16:creationId xmlns:a16="http://schemas.microsoft.com/office/drawing/2014/main" id="{BD3FC9C1-28B2-3870-65F7-40A5681DEB2B}"/>
              </a:ext>
            </a:extLst>
          </p:cNvPr>
          <p:cNvSpPr txBox="1">
            <a:spLocks/>
          </p:cNvSpPr>
          <p:nvPr/>
        </p:nvSpPr>
        <p:spPr>
          <a:xfrm>
            <a:off x="990600" y="4267200"/>
            <a:ext cx="4419600" cy="1752600"/>
          </a:xfrm>
          <a:prstGeom prst="rect">
            <a:avLst/>
          </a:prstGeom>
        </p:spPr>
        <p:txBody>
          <a:bodyPr/>
          <a:lstStyle>
            <a:lvl1pPr marL="342900" indent="-342900" algn="l" rtl="0" eaLnBrk="0" fontAlgn="base" hangingPunct="0">
              <a:spcBef>
                <a:spcPct val="20000"/>
              </a:spcBef>
              <a:spcAft>
                <a:spcPct val="0"/>
              </a:spcAft>
              <a:buFont typeface="Wingdings" panose="05000000000000000000" pitchFamily="2" charset="2"/>
              <a:buChar char="§"/>
              <a:defRPr sz="3000" kern="1200">
                <a:solidFill>
                  <a:schemeClr val="tx1"/>
                </a:solidFill>
                <a:latin typeface="+mn-lt"/>
                <a:ea typeface="+mn-ea"/>
                <a:cs typeface="+mn-cs"/>
              </a:defRPr>
            </a:lvl1pPr>
            <a:lvl2pPr marL="742950" indent="-285750" algn="l" rtl="0" eaLnBrk="0" fontAlgn="base" hangingPunct="0">
              <a:spcBef>
                <a:spcPct val="20000"/>
              </a:spcBef>
              <a:spcAft>
                <a:spcPct val="0"/>
              </a:spcAft>
              <a:buSzPct val="50000"/>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SzPct val="75000"/>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dirty="0"/>
              <a:t>Dr. Godwin </a:t>
            </a:r>
            <a:r>
              <a:rPr lang="en-US" dirty="0" err="1"/>
              <a:t>Idoje</a:t>
            </a:r>
            <a:endParaRPr lang="en-GB"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E1963F5-7709-D97D-1CEB-CE2375C66CFC}"/>
              </a:ext>
            </a:extLst>
          </p:cNvPr>
          <p:cNvSpPr>
            <a:spLocks noGrp="1"/>
          </p:cNvSpPr>
          <p:nvPr>
            <p:ph idx="1"/>
          </p:nvPr>
        </p:nvSpPr>
        <p:spPr>
          <a:xfrm>
            <a:off x="685800" y="1254125"/>
            <a:ext cx="7620000" cy="2286000"/>
          </a:xfrm>
        </p:spPr>
        <p:txBody>
          <a:bodyPr rtlCol="0">
            <a:normAutofit/>
          </a:bodyPr>
          <a:lstStyle/>
          <a:p>
            <a:pPr marL="0" indent="0" eaLnBrk="1" fontAlgn="auto" hangingPunct="1">
              <a:spcAft>
                <a:spcPts val="600"/>
              </a:spcAft>
              <a:buFont typeface="Wingdings" pitchFamily="2" charset="2"/>
              <a:buNone/>
              <a:defRPr/>
            </a:pPr>
            <a:r>
              <a:rPr lang="en-US" sz="2400" i="1" dirty="0">
                <a:latin typeface="Times New Roman" pitchFamily="18" charset="0"/>
                <a:cs typeface="Times New Roman" pitchFamily="18" charset="0"/>
              </a:rPr>
              <a:t>“In a way not seen since Gutenberg’s printing press </a:t>
            </a:r>
            <a:br>
              <a:rPr lang="en-US" sz="2400" i="1" dirty="0">
                <a:latin typeface="Times New Roman" pitchFamily="18" charset="0"/>
                <a:cs typeface="Times New Roman" pitchFamily="18" charset="0"/>
              </a:rPr>
            </a:br>
            <a:r>
              <a:rPr lang="en-US" sz="2400" i="1" dirty="0">
                <a:latin typeface="Times New Roman" pitchFamily="18" charset="0"/>
                <a:cs typeface="Times New Roman" pitchFamily="18" charset="0"/>
              </a:rPr>
              <a:t>that ended the Dark Ages and ignited the Renaissance, </a:t>
            </a:r>
            <a:br>
              <a:rPr lang="en-US" sz="2400" i="1" dirty="0">
                <a:latin typeface="Times New Roman" pitchFamily="18" charset="0"/>
                <a:cs typeface="Times New Roman" pitchFamily="18" charset="0"/>
              </a:rPr>
            </a:br>
            <a:r>
              <a:rPr lang="en-US" sz="2400" i="1" dirty="0">
                <a:latin typeface="Times New Roman" pitchFamily="18" charset="0"/>
                <a:cs typeface="Times New Roman" pitchFamily="18" charset="0"/>
              </a:rPr>
              <a:t>the microchip is an epochal technology with unimaginably far-reaching economic, social, and political consequences.”</a:t>
            </a:r>
          </a:p>
          <a:p>
            <a:pPr marL="0" indent="0" algn="r" eaLnBrk="1" fontAlgn="auto" hangingPunct="1">
              <a:lnSpc>
                <a:spcPct val="90000"/>
              </a:lnSpc>
              <a:spcAft>
                <a:spcPts val="600"/>
              </a:spcAft>
              <a:buFont typeface="Wingdings" pitchFamily="2" charset="2"/>
              <a:buNone/>
              <a:defRPr/>
            </a:pPr>
            <a:br>
              <a:rPr lang="en-US" sz="2000" dirty="0">
                <a:latin typeface="Times New Roman" pitchFamily="18" charset="0"/>
                <a:cs typeface="Times New Roman" pitchFamily="18" charset="0"/>
              </a:rPr>
            </a:br>
            <a:r>
              <a:rPr lang="en-US" sz="2000" dirty="0">
                <a:cs typeface="Times New Roman" pitchFamily="18" charset="0"/>
              </a:rPr>
              <a:t>̶  Michael Rothschild</a:t>
            </a:r>
            <a:endParaRPr lang="en-US" sz="2000" baseline="30000" dirty="0">
              <a:cs typeface="Times New Roman" pitchFamily="18" charset="0"/>
            </a:endParaRPr>
          </a:p>
        </p:txBody>
      </p:sp>
      <p:sp>
        <p:nvSpPr>
          <p:cNvPr id="3" name="Title 2">
            <a:extLst>
              <a:ext uri="{FF2B5EF4-FFF2-40B4-BE49-F238E27FC236}">
                <a16:creationId xmlns:a16="http://schemas.microsoft.com/office/drawing/2014/main" id="{41A4E9C0-4FB8-27E4-86DC-129B2EFF0C70}"/>
              </a:ext>
            </a:extLst>
          </p:cNvPr>
          <p:cNvSpPr>
            <a:spLocks noGrp="1"/>
          </p:cNvSpPr>
          <p:nvPr>
            <p:ph type="title"/>
          </p:nvPr>
        </p:nvSpPr>
        <p:spPr>
          <a:xfrm>
            <a:off x="990600" y="111125"/>
            <a:ext cx="7734300" cy="1143000"/>
          </a:xfrm>
        </p:spPr>
        <p:txBody>
          <a:bodyPr>
            <a:normAutofit fontScale="90000"/>
          </a:bodyPr>
          <a:lstStyle/>
          <a:p>
            <a:pPr eaLnBrk="1" fontAlgn="auto" hangingPunct="1">
              <a:spcAft>
                <a:spcPts val="0"/>
              </a:spcAft>
              <a:defRPr/>
            </a:pPr>
            <a:r>
              <a:rPr lang="en-US" dirty="0"/>
              <a:t>Developments, themes and ethics (1)</a:t>
            </a:r>
          </a:p>
        </p:txBody>
      </p:sp>
      <p:sp>
        <p:nvSpPr>
          <p:cNvPr id="20485" name="Content Placeholder 1">
            <a:extLst>
              <a:ext uri="{FF2B5EF4-FFF2-40B4-BE49-F238E27FC236}">
                <a16:creationId xmlns:a16="http://schemas.microsoft.com/office/drawing/2014/main" id="{BC9712DA-347D-1526-EFAA-A9FD51ED4184}"/>
              </a:ext>
            </a:extLst>
          </p:cNvPr>
          <p:cNvSpPr txBox="1">
            <a:spLocks/>
          </p:cNvSpPr>
          <p:nvPr/>
        </p:nvSpPr>
        <p:spPr bwMode="auto">
          <a:xfrm>
            <a:off x="685800" y="3532378"/>
            <a:ext cx="8039100"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Wingdings" panose="05000000000000000000" pitchFamily="2" charset="2"/>
              <a:buChar char="§"/>
              <a:defRPr sz="3000">
                <a:solidFill>
                  <a:schemeClr val="tx1"/>
                </a:solidFill>
                <a:latin typeface="Calibri" panose="020F0502020204030204" pitchFamily="34" charset="0"/>
              </a:defRPr>
            </a:lvl1pPr>
            <a:lvl2pPr marL="742950" indent="-285750">
              <a:spcBef>
                <a:spcPct val="20000"/>
              </a:spcBef>
              <a:buSzPct val="50000"/>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SzPct val="75000"/>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buClr>
                <a:srgbClr val="A6A6A6"/>
              </a:buClr>
            </a:pPr>
            <a:r>
              <a:rPr lang="en-US" altLang="en-US" dirty="0"/>
              <a:t>1940s: First computer was built.</a:t>
            </a:r>
          </a:p>
          <a:p>
            <a:pPr eaLnBrk="1" hangingPunct="1">
              <a:buClr>
                <a:srgbClr val="A6A6A6"/>
              </a:buClr>
            </a:pPr>
            <a:r>
              <a:rPr lang="en-US" altLang="en-US" dirty="0"/>
              <a:t>1991: Space shuttle had a one-megahertz computer. Ten years later, some automobiles had 100-megahertz computers. Speeds of several gigahertz are now common.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AFC6551-3BB5-547A-6851-D93161BF8ECA}"/>
              </a:ext>
            </a:extLst>
          </p:cNvPr>
          <p:cNvSpPr>
            <a:spLocks noGrp="1"/>
          </p:cNvSpPr>
          <p:nvPr>
            <p:ph idx="1"/>
          </p:nvPr>
        </p:nvSpPr>
        <p:spPr>
          <a:xfrm>
            <a:off x="990600" y="2133600"/>
            <a:ext cx="7620000" cy="2895600"/>
          </a:xfrm>
        </p:spPr>
        <p:txBody>
          <a:bodyPr rtlCol="0">
            <a:normAutofit lnSpcReduction="10000"/>
          </a:bodyPr>
          <a:lstStyle/>
          <a:p>
            <a:pPr marL="0" indent="0" eaLnBrk="1" fontAlgn="auto" hangingPunct="1">
              <a:spcAft>
                <a:spcPts val="600"/>
              </a:spcAft>
              <a:buFont typeface="Wingdings" pitchFamily="2" charset="2"/>
              <a:buNone/>
              <a:defRPr/>
            </a:pPr>
            <a:r>
              <a:rPr lang="en-US" sz="2400" i="1" dirty="0">
                <a:latin typeface="Times New Roman" pitchFamily="18" charset="0"/>
                <a:cs typeface="Times New Roman" pitchFamily="18" charset="0"/>
              </a:rPr>
              <a:t>“It is precisely this unique human capacity to transcend </a:t>
            </a:r>
            <a:br>
              <a:rPr lang="en-US" sz="2400" i="1" dirty="0">
                <a:latin typeface="Times New Roman" pitchFamily="18" charset="0"/>
                <a:cs typeface="Times New Roman" pitchFamily="18" charset="0"/>
              </a:rPr>
            </a:br>
            <a:r>
              <a:rPr lang="en-US" sz="2400" i="1" dirty="0">
                <a:latin typeface="Times New Roman" pitchFamily="18" charset="0"/>
                <a:cs typeface="Times New Roman" pitchFamily="18" charset="0"/>
              </a:rPr>
              <a:t>the present, to live one’s life by purposes stretching into </a:t>
            </a:r>
            <a:br>
              <a:rPr lang="en-US" sz="2400" i="1" dirty="0">
                <a:latin typeface="Times New Roman" pitchFamily="18" charset="0"/>
                <a:cs typeface="Times New Roman" pitchFamily="18" charset="0"/>
              </a:rPr>
            </a:br>
            <a:r>
              <a:rPr lang="en-US" sz="2400" i="1" dirty="0">
                <a:latin typeface="Times New Roman" pitchFamily="18" charset="0"/>
                <a:cs typeface="Times New Roman" pitchFamily="18" charset="0"/>
              </a:rPr>
              <a:t>the future – to live not at the mercy of the world, but as a builder and designer of that world – that is the distinction between human and animal behavior, or between the </a:t>
            </a:r>
            <a:br>
              <a:rPr lang="en-US" sz="2400" i="1" dirty="0">
                <a:latin typeface="Times New Roman" pitchFamily="18" charset="0"/>
                <a:cs typeface="Times New Roman" pitchFamily="18" charset="0"/>
              </a:rPr>
            </a:br>
            <a:r>
              <a:rPr lang="en-US" sz="2400" i="1" dirty="0">
                <a:latin typeface="Times New Roman" pitchFamily="18" charset="0"/>
                <a:cs typeface="Times New Roman" pitchFamily="18" charset="0"/>
              </a:rPr>
              <a:t>human being and the machine.”</a:t>
            </a:r>
          </a:p>
          <a:p>
            <a:pPr marL="0" indent="0" algn="r" eaLnBrk="1" fontAlgn="auto" hangingPunct="1">
              <a:lnSpc>
                <a:spcPct val="90000"/>
              </a:lnSpc>
              <a:spcAft>
                <a:spcPts val="600"/>
              </a:spcAft>
              <a:buFont typeface="Wingdings" pitchFamily="2" charset="2"/>
              <a:buNone/>
              <a:defRPr/>
            </a:pPr>
            <a:br>
              <a:rPr lang="en-US" sz="2000" dirty="0">
                <a:latin typeface="Times New Roman" pitchFamily="18" charset="0"/>
                <a:cs typeface="Times New Roman" pitchFamily="18" charset="0"/>
              </a:rPr>
            </a:br>
            <a:r>
              <a:rPr lang="en-US" sz="2000" dirty="0">
                <a:cs typeface="Times New Roman" pitchFamily="18" charset="0"/>
              </a:rPr>
              <a:t>Betty Friedan</a:t>
            </a:r>
            <a:endParaRPr lang="en-US" sz="2000" baseline="30000" dirty="0">
              <a:cs typeface="Times New Roman" pitchFamily="18" charset="0"/>
            </a:endParaRPr>
          </a:p>
          <a:p>
            <a:pPr marL="0" indent="0" eaLnBrk="1" fontAlgn="auto" hangingPunct="1">
              <a:lnSpc>
                <a:spcPct val="90000"/>
              </a:lnSpc>
              <a:spcAft>
                <a:spcPts val="0"/>
              </a:spcAft>
              <a:buFont typeface="Wingdings" pitchFamily="2" charset="2"/>
              <a:buNone/>
              <a:defRPr/>
            </a:pPr>
            <a:endParaRPr lang="en-US" sz="2800" dirty="0"/>
          </a:p>
        </p:txBody>
      </p:sp>
      <p:sp>
        <p:nvSpPr>
          <p:cNvPr id="8" name="Title 2">
            <a:extLst>
              <a:ext uri="{FF2B5EF4-FFF2-40B4-BE49-F238E27FC236}">
                <a16:creationId xmlns:a16="http://schemas.microsoft.com/office/drawing/2014/main" id="{10F5DAE7-15DB-D3A4-018B-92E1FCC0F379}"/>
              </a:ext>
            </a:extLst>
          </p:cNvPr>
          <p:cNvSpPr>
            <a:spLocks noGrp="1"/>
          </p:cNvSpPr>
          <p:nvPr>
            <p:ph type="title"/>
          </p:nvPr>
        </p:nvSpPr>
        <p:spPr>
          <a:xfrm>
            <a:off x="685800" y="228600"/>
            <a:ext cx="7696200" cy="1143000"/>
          </a:xfrm>
        </p:spPr>
        <p:txBody>
          <a:bodyPr>
            <a:normAutofit fontScale="90000"/>
          </a:bodyPr>
          <a:lstStyle/>
          <a:p>
            <a:pPr eaLnBrk="1" fontAlgn="auto" hangingPunct="1">
              <a:spcAft>
                <a:spcPts val="0"/>
              </a:spcAft>
              <a:defRPr/>
            </a:pPr>
            <a:r>
              <a:rPr lang="en-US" dirty="0"/>
              <a:t>Developments, themes and ethics (2)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E0D385C-1C06-C988-7515-8C6C4EC3613A}"/>
              </a:ext>
            </a:extLst>
          </p:cNvPr>
          <p:cNvSpPr>
            <a:spLocks noGrp="1"/>
          </p:cNvSpPr>
          <p:nvPr>
            <p:ph idx="1"/>
          </p:nvPr>
        </p:nvSpPr>
        <p:spPr>
          <a:xfrm>
            <a:off x="1219200" y="1371600"/>
            <a:ext cx="7620000" cy="2286000"/>
          </a:xfrm>
        </p:spPr>
        <p:txBody>
          <a:bodyPr rtlCol="0">
            <a:normAutofit/>
          </a:bodyPr>
          <a:lstStyle/>
          <a:p>
            <a:pPr marL="0" indent="0" eaLnBrk="1" fontAlgn="auto" hangingPunct="1">
              <a:spcAft>
                <a:spcPts val="600"/>
              </a:spcAft>
              <a:buFont typeface="Wingdings" pitchFamily="2" charset="2"/>
              <a:buNone/>
              <a:defRPr/>
            </a:pPr>
            <a:r>
              <a:rPr lang="en-US" sz="2400" i="1" dirty="0">
                <a:latin typeface="Times New Roman" pitchFamily="18" charset="0"/>
                <a:cs typeface="Times New Roman" pitchFamily="18" charset="0"/>
              </a:rPr>
              <a:t>“While all this razzle-dazzle connects us electronically, it disconnects us from each other, having us “interfacing” more with computers and TV screens than looking in the face of our fellow human beings. Is this progress?”</a:t>
            </a:r>
          </a:p>
          <a:p>
            <a:pPr marL="0" indent="0" algn="r" eaLnBrk="1" fontAlgn="auto" hangingPunct="1">
              <a:lnSpc>
                <a:spcPct val="90000"/>
              </a:lnSpc>
              <a:spcAft>
                <a:spcPts val="600"/>
              </a:spcAft>
              <a:buFont typeface="Wingdings" pitchFamily="2" charset="2"/>
              <a:buNone/>
              <a:defRPr/>
            </a:pPr>
            <a:br>
              <a:rPr lang="en-US" sz="2000" dirty="0">
                <a:latin typeface="Times New Roman" pitchFamily="18" charset="0"/>
                <a:cs typeface="Times New Roman" pitchFamily="18" charset="0"/>
              </a:rPr>
            </a:br>
            <a:r>
              <a:rPr lang="en-US" sz="2000" dirty="0">
                <a:cs typeface="Times New Roman" pitchFamily="18" charset="0"/>
              </a:rPr>
              <a:t>̶  Jim Hightower, radio commentator</a:t>
            </a:r>
            <a:endParaRPr lang="en-US" sz="2000" baseline="30000" dirty="0">
              <a:cs typeface="Times New Roman" pitchFamily="18" charset="0"/>
            </a:endParaRPr>
          </a:p>
        </p:txBody>
      </p:sp>
      <p:sp>
        <p:nvSpPr>
          <p:cNvPr id="6" name="Title 2">
            <a:extLst>
              <a:ext uri="{FF2B5EF4-FFF2-40B4-BE49-F238E27FC236}">
                <a16:creationId xmlns:a16="http://schemas.microsoft.com/office/drawing/2014/main" id="{B3D0043E-A981-36A2-E218-A05AB243F1CD}"/>
              </a:ext>
            </a:extLst>
          </p:cNvPr>
          <p:cNvSpPr>
            <a:spLocks noGrp="1"/>
          </p:cNvSpPr>
          <p:nvPr>
            <p:ph type="title"/>
          </p:nvPr>
        </p:nvSpPr>
        <p:spPr>
          <a:xfrm>
            <a:off x="1219200" y="228600"/>
            <a:ext cx="7620000" cy="1143000"/>
          </a:xfrm>
        </p:spPr>
        <p:txBody>
          <a:bodyPr>
            <a:normAutofit fontScale="90000"/>
          </a:bodyPr>
          <a:lstStyle/>
          <a:p>
            <a:pPr eaLnBrk="1" fontAlgn="auto" hangingPunct="1">
              <a:spcAft>
                <a:spcPts val="0"/>
              </a:spcAft>
              <a:defRPr/>
            </a:pPr>
            <a:r>
              <a:rPr lang="en-US" dirty="0"/>
              <a:t>Developments, themes and ethics (3)</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2059847-EC54-C90D-DB6B-DD2C001BC4FF}"/>
              </a:ext>
            </a:extLst>
          </p:cNvPr>
          <p:cNvSpPr>
            <a:spLocks noGrp="1"/>
          </p:cNvSpPr>
          <p:nvPr>
            <p:ph idx="1"/>
          </p:nvPr>
        </p:nvSpPr>
        <p:spPr>
          <a:xfrm>
            <a:off x="1143000" y="1371600"/>
            <a:ext cx="7620000" cy="4876800"/>
          </a:xfrm>
        </p:spPr>
        <p:txBody>
          <a:bodyPr rtlCol="0">
            <a:normAutofit/>
          </a:bodyPr>
          <a:lstStyle/>
          <a:p>
            <a:pPr eaLnBrk="1" fontAlgn="auto" hangingPunct="1">
              <a:spcAft>
                <a:spcPts val="0"/>
              </a:spcAft>
              <a:buFontTx/>
              <a:buNone/>
              <a:defRPr/>
            </a:pPr>
            <a:r>
              <a:rPr lang="en-US" dirty="0"/>
              <a:t>Social Networking:</a:t>
            </a:r>
          </a:p>
          <a:p>
            <a:pPr eaLnBrk="1" fontAlgn="auto" hangingPunct="1">
              <a:spcAft>
                <a:spcPts val="0"/>
              </a:spcAft>
              <a:defRPr/>
            </a:pPr>
            <a:r>
              <a:rPr lang="en-US" sz="2800" dirty="0"/>
              <a:t>First online social networking site was </a:t>
            </a:r>
            <a:r>
              <a:rPr lang="en-US" sz="2800" dirty="0">
                <a:hlinkClick r:id="rId3"/>
              </a:rPr>
              <a:t>www.classmates.com</a:t>
            </a:r>
            <a:r>
              <a:rPr lang="en-US" sz="2800" dirty="0"/>
              <a:t> in 1995.</a:t>
            </a:r>
          </a:p>
          <a:p>
            <a:pPr eaLnBrk="1" fontAlgn="auto" hangingPunct="1">
              <a:spcAft>
                <a:spcPts val="0"/>
              </a:spcAft>
              <a:defRPr/>
            </a:pPr>
            <a:r>
              <a:rPr lang="en-US" sz="2800" dirty="0"/>
              <a:t>Founded in 2003, </a:t>
            </a:r>
            <a:r>
              <a:rPr lang="en-US" sz="2800" dirty="0">
                <a:hlinkClick r:id="rId4"/>
              </a:rPr>
              <a:t>Myspace</a:t>
            </a:r>
            <a:r>
              <a:rPr lang="en-US" sz="2800" dirty="0"/>
              <a:t> had roughly 100-million-member profiles by 2006.</a:t>
            </a:r>
          </a:p>
          <a:p>
            <a:pPr eaLnBrk="1" fontAlgn="auto" hangingPunct="1">
              <a:spcAft>
                <a:spcPts val="0"/>
              </a:spcAft>
              <a:defRPr/>
            </a:pPr>
            <a:r>
              <a:rPr lang="en-US" sz="2800" dirty="0"/>
              <a:t>Facebook was started at Harvard as an online version of student directories</a:t>
            </a:r>
          </a:p>
          <a:p>
            <a:pPr eaLnBrk="1" fontAlgn="auto" hangingPunct="1">
              <a:spcAft>
                <a:spcPts val="0"/>
              </a:spcAft>
              <a:defRPr/>
            </a:pPr>
            <a:r>
              <a:rPr lang="en-US" sz="2800" dirty="0"/>
              <a:t>Social networking is popular with hundreds of millions of people because of the ease with which they can share aspects of their lives.</a:t>
            </a:r>
          </a:p>
        </p:txBody>
      </p:sp>
      <p:sp>
        <p:nvSpPr>
          <p:cNvPr id="8" name="Title 2">
            <a:extLst>
              <a:ext uri="{FF2B5EF4-FFF2-40B4-BE49-F238E27FC236}">
                <a16:creationId xmlns:a16="http://schemas.microsoft.com/office/drawing/2014/main" id="{F85E84E7-220A-6FF0-2B3E-F37211148E25}"/>
              </a:ext>
            </a:extLst>
          </p:cNvPr>
          <p:cNvSpPr>
            <a:spLocks noGrp="1"/>
          </p:cNvSpPr>
          <p:nvPr>
            <p:ph type="title"/>
          </p:nvPr>
        </p:nvSpPr>
        <p:spPr>
          <a:xfrm>
            <a:off x="762000" y="228600"/>
            <a:ext cx="7620000" cy="1143000"/>
          </a:xfrm>
        </p:spPr>
        <p:txBody>
          <a:bodyPr>
            <a:normAutofit fontScale="90000"/>
          </a:bodyPr>
          <a:lstStyle/>
          <a:p>
            <a:pPr eaLnBrk="1" fontAlgn="auto" hangingPunct="1">
              <a:spcAft>
                <a:spcPts val="0"/>
              </a:spcAft>
              <a:defRPr/>
            </a:pPr>
            <a:r>
              <a:rPr lang="en-US" dirty="0"/>
              <a:t>Developments, themes and ethics (4)</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7DDE517-151E-AF76-5DF0-D45E12EFDA60}"/>
              </a:ext>
            </a:extLst>
          </p:cNvPr>
          <p:cNvSpPr>
            <a:spLocks noGrp="1"/>
          </p:cNvSpPr>
          <p:nvPr>
            <p:ph idx="1"/>
          </p:nvPr>
        </p:nvSpPr>
        <p:spPr>
          <a:xfrm>
            <a:off x="685800" y="1371600"/>
            <a:ext cx="7620000" cy="4876800"/>
          </a:xfrm>
        </p:spPr>
        <p:txBody>
          <a:bodyPr rtlCol="0">
            <a:normAutofit fontScale="92500" lnSpcReduction="10000"/>
          </a:bodyPr>
          <a:lstStyle/>
          <a:p>
            <a:pPr marL="0" indent="0" eaLnBrk="1" fontAlgn="auto" hangingPunct="1">
              <a:spcAft>
                <a:spcPts val="0"/>
              </a:spcAft>
              <a:buFont typeface="Wingdings" pitchFamily="2" charset="2"/>
              <a:buNone/>
              <a:defRPr/>
            </a:pPr>
            <a:r>
              <a:rPr lang="en-US" dirty="0"/>
              <a:t>Communication and the Web</a:t>
            </a:r>
          </a:p>
          <a:p>
            <a:pPr eaLnBrk="1" fontAlgn="auto" hangingPunct="1">
              <a:spcAft>
                <a:spcPts val="0"/>
              </a:spcAft>
              <a:defRPr/>
            </a:pPr>
            <a:r>
              <a:rPr lang="en-US" sz="2800" dirty="0"/>
              <a:t>In the 1980s, email messages were short and contained only text.</a:t>
            </a:r>
          </a:p>
          <a:p>
            <a:pPr eaLnBrk="1" fontAlgn="auto" hangingPunct="1">
              <a:spcAft>
                <a:spcPts val="0"/>
              </a:spcAft>
              <a:defRPr/>
            </a:pPr>
            <a:r>
              <a:rPr lang="en-US" sz="2800" dirty="0"/>
              <a:t>Blogs (“Web log”) began as outlets for amateurs wanting to express ideas, but they have become significant source of news and entertainment. </a:t>
            </a:r>
          </a:p>
          <a:p>
            <a:pPr eaLnBrk="1" fontAlgn="auto" hangingPunct="1">
              <a:spcAft>
                <a:spcPts val="0"/>
              </a:spcAft>
              <a:defRPr/>
            </a:pPr>
            <a:r>
              <a:rPr lang="en-US" sz="2800" dirty="0"/>
              <a:t>Inexpensive video cameras and video-manipulation tools have resulted in a burst </a:t>
            </a:r>
            <a:br>
              <a:rPr lang="en-US" sz="2800" dirty="0"/>
            </a:br>
            <a:r>
              <a:rPr lang="en-US" sz="2800" dirty="0"/>
              <a:t>of amateur videos. </a:t>
            </a:r>
          </a:p>
          <a:p>
            <a:pPr eaLnBrk="1" fontAlgn="auto" hangingPunct="1">
              <a:spcAft>
                <a:spcPts val="0"/>
              </a:spcAft>
              <a:defRPr/>
            </a:pPr>
            <a:r>
              <a:rPr lang="en-US" sz="2800" dirty="0"/>
              <a:t>Many videos on the Web can infringe copyrights owned by entertainment companies.</a:t>
            </a:r>
          </a:p>
          <a:p>
            <a:pPr eaLnBrk="1" fontAlgn="auto" hangingPunct="1">
              <a:spcAft>
                <a:spcPts val="0"/>
              </a:spcAft>
              <a:defRPr/>
            </a:pPr>
            <a:r>
              <a:rPr lang="en-US" sz="2800" dirty="0"/>
              <a:t>E-commerce and trust concerns</a:t>
            </a:r>
          </a:p>
          <a:p>
            <a:pPr eaLnBrk="1" fontAlgn="auto" hangingPunct="1">
              <a:spcAft>
                <a:spcPts val="0"/>
              </a:spcAft>
              <a:defRPr/>
            </a:pPr>
            <a:endParaRPr lang="en-US" sz="2800" dirty="0"/>
          </a:p>
          <a:p>
            <a:pPr eaLnBrk="1" fontAlgn="auto" hangingPunct="1">
              <a:spcAft>
                <a:spcPts val="0"/>
              </a:spcAft>
              <a:defRPr/>
            </a:pPr>
            <a:endParaRPr lang="en-US" dirty="0"/>
          </a:p>
        </p:txBody>
      </p:sp>
      <p:sp>
        <p:nvSpPr>
          <p:cNvPr id="7" name="Title 2">
            <a:extLst>
              <a:ext uri="{FF2B5EF4-FFF2-40B4-BE49-F238E27FC236}">
                <a16:creationId xmlns:a16="http://schemas.microsoft.com/office/drawing/2014/main" id="{09062523-11F5-9BFC-7B5D-061753243C93}"/>
              </a:ext>
            </a:extLst>
          </p:cNvPr>
          <p:cNvSpPr>
            <a:spLocks noGrp="1"/>
          </p:cNvSpPr>
          <p:nvPr>
            <p:ph type="title"/>
          </p:nvPr>
        </p:nvSpPr>
        <p:spPr>
          <a:xfrm>
            <a:off x="609600" y="228600"/>
            <a:ext cx="7772400" cy="1143000"/>
          </a:xfrm>
        </p:spPr>
        <p:txBody>
          <a:bodyPr>
            <a:normAutofit fontScale="90000"/>
          </a:bodyPr>
          <a:lstStyle/>
          <a:p>
            <a:pPr eaLnBrk="1" fontAlgn="auto" hangingPunct="1">
              <a:spcAft>
                <a:spcPts val="0"/>
              </a:spcAft>
              <a:defRPr/>
            </a:pPr>
            <a:r>
              <a:rPr lang="en-US" dirty="0"/>
              <a:t>Developments, themes and ethics (5)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3469A28-F1C3-662B-1579-9FF738794934}"/>
              </a:ext>
            </a:extLst>
          </p:cNvPr>
          <p:cNvSpPr>
            <a:spLocks noGrp="1"/>
          </p:cNvSpPr>
          <p:nvPr>
            <p:ph idx="1"/>
          </p:nvPr>
        </p:nvSpPr>
        <p:spPr/>
        <p:txBody>
          <a:bodyPr rtlCol="0">
            <a:normAutofit/>
          </a:bodyPr>
          <a:lstStyle/>
          <a:p>
            <a:pPr marL="0" indent="0" eaLnBrk="1" fontAlgn="auto" hangingPunct="1">
              <a:spcAft>
                <a:spcPts val="0"/>
              </a:spcAft>
              <a:buFont typeface="Wingdings" pitchFamily="2" charset="2"/>
              <a:buNone/>
              <a:defRPr/>
            </a:pPr>
            <a:r>
              <a:rPr lang="en-US" dirty="0"/>
              <a:t>Artificial intelligence</a:t>
            </a:r>
          </a:p>
          <a:p>
            <a:pPr eaLnBrk="1" fontAlgn="auto" hangingPunct="1">
              <a:spcAft>
                <a:spcPts val="0"/>
              </a:spcAft>
              <a:defRPr/>
            </a:pPr>
            <a:r>
              <a:rPr lang="en-US" sz="2800" dirty="0"/>
              <a:t>A branch of computer science that makes computers perform tasks normally requiring human intelligence.</a:t>
            </a:r>
          </a:p>
          <a:p>
            <a:pPr eaLnBrk="1" fontAlgn="auto" hangingPunct="1">
              <a:spcAft>
                <a:spcPts val="0"/>
              </a:spcAft>
              <a:defRPr/>
            </a:pPr>
            <a:r>
              <a:rPr lang="en-US" sz="2800" dirty="0"/>
              <a:t>Researchers realized that narrow, specialized skills were easier for computers than what a five-year-old does: recognize people, carry on a conversation, respond intelligently to the environment. </a:t>
            </a:r>
          </a:p>
          <a:p>
            <a:pPr eaLnBrk="1" fontAlgn="auto" hangingPunct="1">
              <a:spcAft>
                <a:spcPts val="0"/>
              </a:spcAft>
              <a:defRPr/>
            </a:pPr>
            <a:endParaRPr lang="en-US" sz="2800" dirty="0"/>
          </a:p>
          <a:p>
            <a:pPr eaLnBrk="1" fontAlgn="auto" hangingPunct="1">
              <a:spcAft>
                <a:spcPts val="0"/>
              </a:spcAft>
              <a:defRPr/>
            </a:pPr>
            <a:endParaRPr lang="en-US" sz="2800" dirty="0"/>
          </a:p>
        </p:txBody>
      </p:sp>
      <p:sp>
        <p:nvSpPr>
          <p:cNvPr id="6" name="Title 2">
            <a:extLst>
              <a:ext uri="{FF2B5EF4-FFF2-40B4-BE49-F238E27FC236}">
                <a16:creationId xmlns:a16="http://schemas.microsoft.com/office/drawing/2014/main" id="{22838366-2434-B81C-B91C-53F9698DA1BB}"/>
              </a:ext>
            </a:extLst>
          </p:cNvPr>
          <p:cNvSpPr>
            <a:spLocks noGrp="1"/>
          </p:cNvSpPr>
          <p:nvPr>
            <p:ph type="title"/>
          </p:nvPr>
        </p:nvSpPr>
        <p:spPr>
          <a:xfrm>
            <a:off x="1066800" y="228600"/>
            <a:ext cx="8077200" cy="1143000"/>
          </a:xfrm>
        </p:spPr>
        <p:txBody>
          <a:bodyPr>
            <a:normAutofit fontScale="90000"/>
          </a:bodyPr>
          <a:lstStyle/>
          <a:p>
            <a:pPr eaLnBrk="1" fontAlgn="auto" hangingPunct="1">
              <a:spcAft>
                <a:spcPts val="0"/>
              </a:spcAft>
              <a:defRPr/>
            </a:pPr>
            <a:r>
              <a:rPr lang="en-US" dirty="0"/>
              <a:t>Developments, themes and ethics (6)</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66423D0-C0D6-053E-4234-FDD5F77E2788}"/>
              </a:ext>
            </a:extLst>
          </p:cNvPr>
          <p:cNvSpPr>
            <a:spLocks noGrp="1"/>
          </p:cNvSpPr>
          <p:nvPr>
            <p:ph idx="1"/>
          </p:nvPr>
        </p:nvSpPr>
        <p:spPr>
          <a:xfrm>
            <a:off x="457200" y="1951038"/>
            <a:ext cx="8534400" cy="3835400"/>
          </a:xfrm>
        </p:spPr>
        <p:txBody>
          <a:bodyPr rtlCol="0">
            <a:normAutofit/>
          </a:bodyPr>
          <a:lstStyle/>
          <a:p>
            <a:pPr eaLnBrk="1" fontAlgn="auto" hangingPunct="1">
              <a:spcAft>
                <a:spcPts val="0"/>
              </a:spcAft>
              <a:defRPr/>
            </a:pPr>
            <a:r>
              <a:rPr lang="en-US" sz="3200" b="1" dirty="0">
                <a:solidFill>
                  <a:srgbClr val="FF0000"/>
                </a:solidFill>
              </a:rPr>
              <a:t>Themes: </a:t>
            </a:r>
          </a:p>
          <a:p>
            <a:pPr lvl="1" eaLnBrk="1" fontAlgn="auto" hangingPunct="1">
              <a:spcAft>
                <a:spcPts val="0"/>
              </a:spcAft>
              <a:defRPr/>
            </a:pPr>
            <a:r>
              <a:rPr lang="en-US" sz="2600" dirty="0"/>
              <a:t>Old problems in a new context: crime, pornography, violent fiction</a:t>
            </a:r>
          </a:p>
          <a:p>
            <a:pPr lvl="1" eaLnBrk="1" fontAlgn="auto" hangingPunct="1">
              <a:spcAft>
                <a:spcPts val="0"/>
              </a:spcAft>
              <a:defRPr/>
            </a:pPr>
            <a:r>
              <a:rPr lang="en-US" sz="2600" dirty="0"/>
              <a:t>Adapting to new technology: thinking in a new way</a:t>
            </a:r>
          </a:p>
          <a:p>
            <a:pPr lvl="1" eaLnBrk="1" fontAlgn="auto" hangingPunct="1">
              <a:spcAft>
                <a:spcPts val="0"/>
              </a:spcAft>
              <a:defRPr/>
            </a:pPr>
            <a:r>
              <a:rPr lang="en-US" sz="2600" dirty="0"/>
              <a:t>Varied sources of solutions to problems: natural part of change and life</a:t>
            </a:r>
          </a:p>
          <a:p>
            <a:pPr lvl="1" eaLnBrk="1" fontAlgn="auto" hangingPunct="1">
              <a:spcAft>
                <a:spcPts val="0"/>
              </a:spcAft>
              <a:defRPr/>
            </a:pPr>
            <a:r>
              <a:rPr lang="en-US" sz="2600" dirty="0"/>
              <a:t>Global reach of Net: ease of communication with distant countries</a:t>
            </a:r>
          </a:p>
          <a:p>
            <a:pPr eaLnBrk="1" fontAlgn="auto" hangingPunct="1">
              <a:spcAft>
                <a:spcPts val="0"/>
              </a:spcAft>
              <a:defRPr/>
            </a:pPr>
            <a:endParaRPr lang="en-US" sz="2400" dirty="0"/>
          </a:p>
        </p:txBody>
      </p:sp>
      <p:sp>
        <p:nvSpPr>
          <p:cNvPr id="5" name="Title 2">
            <a:extLst>
              <a:ext uri="{FF2B5EF4-FFF2-40B4-BE49-F238E27FC236}">
                <a16:creationId xmlns:a16="http://schemas.microsoft.com/office/drawing/2014/main" id="{964A77F8-92E3-7255-27C3-040C82BFE986}"/>
              </a:ext>
            </a:extLst>
          </p:cNvPr>
          <p:cNvSpPr txBox="1">
            <a:spLocks/>
          </p:cNvSpPr>
          <p:nvPr/>
        </p:nvSpPr>
        <p:spPr>
          <a:xfrm>
            <a:off x="533400" y="304800"/>
            <a:ext cx="8077200" cy="1143000"/>
          </a:xfrm>
          <a:prstGeom prst="rect">
            <a:avLst/>
          </a:prstGeom>
          <a:no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anchor="ctr">
            <a:normAutofit fontScale="97500"/>
          </a:bodyPr>
          <a:lstStyle>
            <a:lvl1pPr algn="l" rtl="0" eaLnBrk="0" fontAlgn="base" hangingPunct="0">
              <a:spcBef>
                <a:spcPct val="0"/>
              </a:spcBef>
              <a:spcAft>
                <a:spcPct val="0"/>
              </a:spcAft>
              <a:defRPr sz="4200" kern="1200">
                <a:solidFill>
                  <a:schemeClr val="tx1"/>
                </a:solidFill>
                <a:latin typeface="+mj-lt"/>
                <a:ea typeface="+mj-ea"/>
                <a:cs typeface="+mj-cs"/>
              </a:defRPr>
            </a:lvl1pPr>
            <a:lvl2pPr algn="l" rtl="0" eaLnBrk="0" fontAlgn="base" hangingPunct="0">
              <a:spcBef>
                <a:spcPct val="0"/>
              </a:spcBef>
              <a:spcAft>
                <a:spcPct val="0"/>
              </a:spcAft>
              <a:defRPr sz="4200">
                <a:solidFill>
                  <a:schemeClr val="tx1"/>
                </a:solidFill>
                <a:latin typeface="Calibri" pitchFamily="34" charset="0"/>
              </a:defRPr>
            </a:lvl2pPr>
            <a:lvl3pPr algn="l" rtl="0" eaLnBrk="0" fontAlgn="base" hangingPunct="0">
              <a:spcBef>
                <a:spcPct val="0"/>
              </a:spcBef>
              <a:spcAft>
                <a:spcPct val="0"/>
              </a:spcAft>
              <a:defRPr sz="4200">
                <a:solidFill>
                  <a:schemeClr val="tx1"/>
                </a:solidFill>
                <a:latin typeface="Calibri" pitchFamily="34" charset="0"/>
              </a:defRPr>
            </a:lvl3pPr>
            <a:lvl4pPr algn="l" rtl="0" eaLnBrk="0" fontAlgn="base" hangingPunct="0">
              <a:spcBef>
                <a:spcPct val="0"/>
              </a:spcBef>
              <a:spcAft>
                <a:spcPct val="0"/>
              </a:spcAft>
              <a:defRPr sz="4200">
                <a:solidFill>
                  <a:schemeClr val="tx1"/>
                </a:solidFill>
                <a:latin typeface="Calibri" pitchFamily="34" charset="0"/>
              </a:defRPr>
            </a:lvl4pPr>
            <a:lvl5pPr algn="l" rtl="0" eaLnBrk="0" fontAlgn="base" hangingPunct="0">
              <a:spcBef>
                <a:spcPct val="0"/>
              </a:spcBef>
              <a:spcAft>
                <a:spcPct val="0"/>
              </a:spcAft>
              <a:defRPr sz="4200">
                <a:solidFill>
                  <a:schemeClr val="tx1"/>
                </a:solidFill>
                <a:latin typeface="Calibri" pitchFamily="34" charset="0"/>
              </a:defRPr>
            </a:lvl5pPr>
            <a:lvl6pPr marL="457200" algn="l" rtl="0" fontAlgn="base">
              <a:spcBef>
                <a:spcPct val="0"/>
              </a:spcBef>
              <a:spcAft>
                <a:spcPct val="0"/>
              </a:spcAft>
              <a:defRPr sz="4200">
                <a:solidFill>
                  <a:schemeClr val="tx1"/>
                </a:solidFill>
                <a:latin typeface="Calibri" pitchFamily="34" charset="0"/>
              </a:defRPr>
            </a:lvl6pPr>
            <a:lvl7pPr marL="914400" algn="l" rtl="0" fontAlgn="base">
              <a:spcBef>
                <a:spcPct val="0"/>
              </a:spcBef>
              <a:spcAft>
                <a:spcPct val="0"/>
              </a:spcAft>
              <a:defRPr sz="4200">
                <a:solidFill>
                  <a:schemeClr val="tx1"/>
                </a:solidFill>
                <a:latin typeface="Calibri" pitchFamily="34" charset="0"/>
              </a:defRPr>
            </a:lvl7pPr>
            <a:lvl8pPr marL="1371600" algn="l" rtl="0" fontAlgn="base">
              <a:spcBef>
                <a:spcPct val="0"/>
              </a:spcBef>
              <a:spcAft>
                <a:spcPct val="0"/>
              </a:spcAft>
              <a:defRPr sz="4200">
                <a:solidFill>
                  <a:schemeClr val="tx1"/>
                </a:solidFill>
                <a:latin typeface="Calibri" pitchFamily="34" charset="0"/>
              </a:defRPr>
            </a:lvl8pPr>
            <a:lvl9pPr marL="1828800" algn="l" rtl="0" fontAlgn="base">
              <a:spcBef>
                <a:spcPct val="0"/>
              </a:spcBef>
              <a:spcAft>
                <a:spcPct val="0"/>
              </a:spcAft>
              <a:defRPr sz="4200">
                <a:solidFill>
                  <a:schemeClr val="tx1"/>
                </a:solidFill>
                <a:latin typeface="Calibri" pitchFamily="34" charset="0"/>
              </a:defRPr>
            </a:lvl9pPr>
          </a:lstStyle>
          <a:p>
            <a:pPr eaLnBrk="1" fontAlgn="auto" hangingPunct="1">
              <a:spcAft>
                <a:spcPts val="0"/>
              </a:spcAft>
              <a:defRPr/>
            </a:pPr>
            <a:r>
              <a:rPr lang="en-US" dirty="0"/>
              <a:t>Developments, themes and ethics (7)</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7804639-31AD-8980-4C0F-83E0FC871CC5}"/>
              </a:ext>
            </a:extLst>
          </p:cNvPr>
          <p:cNvSpPr>
            <a:spLocks noGrp="1"/>
          </p:cNvSpPr>
          <p:nvPr>
            <p:ph idx="1"/>
          </p:nvPr>
        </p:nvSpPr>
        <p:spPr>
          <a:xfrm>
            <a:off x="381000" y="1371600"/>
            <a:ext cx="8458200" cy="4876800"/>
          </a:xfrm>
        </p:spPr>
        <p:txBody>
          <a:bodyPr rtlCol="0">
            <a:normAutofit/>
          </a:bodyPr>
          <a:lstStyle/>
          <a:p>
            <a:pPr eaLnBrk="1" fontAlgn="auto" hangingPunct="1">
              <a:spcAft>
                <a:spcPts val="0"/>
              </a:spcAft>
              <a:buFontTx/>
              <a:buNone/>
              <a:defRPr/>
            </a:pPr>
            <a:r>
              <a:rPr lang="en-US" b="1" dirty="0">
                <a:solidFill>
                  <a:srgbClr val="FF0000"/>
                </a:solidFill>
              </a:rPr>
              <a:t>What is ‘Ethics’:</a:t>
            </a:r>
          </a:p>
          <a:p>
            <a:pPr eaLnBrk="1" fontAlgn="auto" hangingPunct="1">
              <a:spcAft>
                <a:spcPts val="0"/>
              </a:spcAft>
              <a:defRPr/>
            </a:pPr>
            <a:r>
              <a:rPr lang="en-US" sz="2800" dirty="0"/>
              <a:t>Study of what it means to “do the right thing”.</a:t>
            </a:r>
          </a:p>
          <a:p>
            <a:pPr eaLnBrk="1" fontAlgn="auto" hangingPunct="1">
              <a:spcAft>
                <a:spcPts val="0"/>
              </a:spcAft>
              <a:defRPr/>
            </a:pPr>
            <a:r>
              <a:rPr lang="en-US" sz="2800" dirty="0"/>
              <a:t>Assumes people are rational and make free choices.</a:t>
            </a:r>
          </a:p>
          <a:p>
            <a:pPr eaLnBrk="1" fontAlgn="auto" hangingPunct="1">
              <a:spcAft>
                <a:spcPts val="0"/>
              </a:spcAft>
              <a:defRPr/>
            </a:pPr>
            <a:r>
              <a:rPr lang="en-US" sz="2800" dirty="0"/>
              <a:t>Rules to follow in our interactions and our actions that affect others.</a:t>
            </a:r>
          </a:p>
          <a:p>
            <a:pPr eaLnBrk="1" fontAlgn="auto" hangingPunct="1">
              <a:spcAft>
                <a:spcPts val="0"/>
              </a:spcAft>
              <a:defRPr/>
            </a:pPr>
            <a:r>
              <a:rPr lang="en-US" altLang="en-US" sz="2800" dirty="0">
                <a:cs typeface="Arial" panose="020B0604020202020204" pitchFamily="34" charset="0"/>
              </a:rPr>
              <a:t>Ethical theories do not provide clear, incontrovertibly correct positions on most issues. </a:t>
            </a:r>
            <a:endParaRPr lang="en-US" sz="2800" dirty="0"/>
          </a:p>
        </p:txBody>
      </p:sp>
      <p:sp>
        <p:nvSpPr>
          <p:cNvPr id="7" name="Title 2">
            <a:extLst>
              <a:ext uri="{FF2B5EF4-FFF2-40B4-BE49-F238E27FC236}">
                <a16:creationId xmlns:a16="http://schemas.microsoft.com/office/drawing/2014/main" id="{887DC752-0BF7-47A8-2F86-139505A5E5FA}"/>
              </a:ext>
            </a:extLst>
          </p:cNvPr>
          <p:cNvSpPr txBox="1">
            <a:spLocks noGrp="1"/>
          </p:cNvSpPr>
          <p:nvPr>
            <p:ph type="title"/>
          </p:nvPr>
        </p:nvSpPr>
        <p:spPr>
          <a:xfrm>
            <a:off x="762000" y="228600"/>
            <a:ext cx="7620000" cy="1143000"/>
          </a:xfrm>
        </p:spPr>
        <p:txBody>
          <a:bodyPr>
            <a:normAutofit fontScale="90000"/>
          </a:bodyPr>
          <a:lstStyle>
            <a:lvl1pPr algn="l" rtl="0" eaLnBrk="0" fontAlgn="base" hangingPunct="0">
              <a:spcBef>
                <a:spcPct val="0"/>
              </a:spcBef>
              <a:spcAft>
                <a:spcPct val="0"/>
              </a:spcAft>
              <a:defRPr sz="4200" kern="1200">
                <a:solidFill>
                  <a:schemeClr val="tx1"/>
                </a:solidFill>
                <a:latin typeface="+mj-lt"/>
                <a:ea typeface="+mj-ea"/>
                <a:cs typeface="+mj-cs"/>
              </a:defRPr>
            </a:lvl1pPr>
            <a:lvl2pPr algn="l" rtl="0" eaLnBrk="0" fontAlgn="base" hangingPunct="0">
              <a:spcBef>
                <a:spcPct val="0"/>
              </a:spcBef>
              <a:spcAft>
                <a:spcPct val="0"/>
              </a:spcAft>
              <a:defRPr sz="4200">
                <a:solidFill>
                  <a:schemeClr val="tx1"/>
                </a:solidFill>
                <a:latin typeface="Calibri" pitchFamily="34" charset="0"/>
              </a:defRPr>
            </a:lvl2pPr>
            <a:lvl3pPr algn="l" rtl="0" eaLnBrk="0" fontAlgn="base" hangingPunct="0">
              <a:spcBef>
                <a:spcPct val="0"/>
              </a:spcBef>
              <a:spcAft>
                <a:spcPct val="0"/>
              </a:spcAft>
              <a:defRPr sz="4200">
                <a:solidFill>
                  <a:schemeClr val="tx1"/>
                </a:solidFill>
                <a:latin typeface="Calibri" pitchFamily="34" charset="0"/>
              </a:defRPr>
            </a:lvl3pPr>
            <a:lvl4pPr algn="l" rtl="0" eaLnBrk="0" fontAlgn="base" hangingPunct="0">
              <a:spcBef>
                <a:spcPct val="0"/>
              </a:spcBef>
              <a:spcAft>
                <a:spcPct val="0"/>
              </a:spcAft>
              <a:defRPr sz="4200">
                <a:solidFill>
                  <a:schemeClr val="tx1"/>
                </a:solidFill>
                <a:latin typeface="Calibri" pitchFamily="34" charset="0"/>
              </a:defRPr>
            </a:lvl4pPr>
            <a:lvl5pPr algn="l" rtl="0" eaLnBrk="0" fontAlgn="base" hangingPunct="0">
              <a:spcBef>
                <a:spcPct val="0"/>
              </a:spcBef>
              <a:spcAft>
                <a:spcPct val="0"/>
              </a:spcAft>
              <a:defRPr sz="4200">
                <a:solidFill>
                  <a:schemeClr val="tx1"/>
                </a:solidFill>
                <a:latin typeface="Calibri" pitchFamily="34" charset="0"/>
              </a:defRPr>
            </a:lvl5pPr>
            <a:lvl6pPr marL="457200" algn="l" rtl="0" fontAlgn="base">
              <a:spcBef>
                <a:spcPct val="0"/>
              </a:spcBef>
              <a:spcAft>
                <a:spcPct val="0"/>
              </a:spcAft>
              <a:defRPr sz="4200">
                <a:solidFill>
                  <a:schemeClr val="tx1"/>
                </a:solidFill>
                <a:latin typeface="Calibri" pitchFamily="34" charset="0"/>
              </a:defRPr>
            </a:lvl6pPr>
            <a:lvl7pPr marL="914400" algn="l" rtl="0" fontAlgn="base">
              <a:spcBef>
                <a:spcPct val="0"/>
              </a:spcBef>
              <a:spcAft>
                <a:spcPct val="0"/>
              </a:spcAft>
              <a:defRPr sz="4200">
                <a:solidFill>
                  <a:schemeClr val="tx1"/>
                </a:solidFill>
                <a:latin typeface="Calibri" pitchFamily="34" charset="0"/>
              </a:defRPr>
            </a:lvl7pPr>
            <a:lvl8pPr marL="1371600" algn="l" rtl="0" fontAlgn="base">
              <a:spcBef>
                <a:spcPct val="0"/>
              </a:spcBef>
              <a:spcAft>
                <a:spcPct val="0"/>
              </a:spcAft>
              <a:defRPr sz="4200">
                <a:solidFill>
                  <a:schemeClr val="tx1"/>
                </a:solidFill>
                <a:latin typeface="Calibri" pitchFamily="34" charset="0"/>
              </a:defRPr>
            </a:lvl8pPr>
            <a:lvl9pPr marL="1828800" algn="l" rtl="0" fontAlgn="base">
              <a:spcBef>
                <a:spcPct val="0"/>
              </a:spcBef>
              <a:spcAft>
                <a:spcPct val="0"/>
              </a:spcAft>
              <a:defRPr sz="4200">
                <a:solidFill>
                  <a:schemeClr val="tx1"/>
                </a:solidFill>
                <a:latin typeface="Calibri" pitchFamily="34" charset="0"/>
              </a:defRPr>
            </a:lvl9pPr>
          </a:lstStyle>
          <a:p>
            <a:pPr eaLnBrk="1" fontAlgn="auto" hangingPunct="1">
              <a:spcAft>
                <a:spcPts val="0"/>
              </a:spcAft>
              <a:defRPr/>
            </a:pPr>
            <a:r>
              <a:rPr lang="en-US" dirty="0"/>
              <a:t>Developments, themes and ethics (8)</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7BB721C-3C64-1468-C182-03733F0577BF}"/>
              </a:ext>
            </a:extLst>
          </p:cNvPr>
          <p:cNvSpPr>
            <a:spLocks noGrp="1"/>
          </p:cNvSpPr>
          <p:nvPr>
            <p:ph idx="1"/>
          </p:nvPr>
        </p:nvSpPr>
        <p:spPr>
          <a:xfrm>
            <a:off x="381000" y="1679575"/>
            <a:ext cx="8382000" cy="5026025"/>
          </a:xfrm>
        </p:spPr>
        <p:txBody>
          <a:bodyPr rtlCol="0">
            <a:normAutofit/>
          </a:bodyPr>
          <a:lstStyle/>
          <a:p>
            <a:pPr eaLnBrk="1" fontAlgn="auto" hangingPunct="1">
              <a:spcAft>
                <a:spcPts val="0"/>
              </a:spcAft>
              <a:buFontTx/>
              <a:buNone/>
              <a:defRPr/>
            </a:pPr>
            <a:r>
              <a:rPr lang="en-US" dirty="0"/>
              <a:t>A variety of ethical views (cont.):</a:t>
            </a:r>
          </a:p>
          <a:p>
            <a:pPr eaLnBrk="1" fontAlgn="auto" hangingPunct="1">
              <a:spcAft>
                <a:spcPts val="0"/>
              </a:spcAft>
              <a:defRPr/>
            </a:pPr>
            <a:r>
              <a:rPr lang="en-US" sz="2800" dirty="0"/>
              <a:t>Negative rights (liberties)</a:t>
            </a:r>
          </a:p>
          <a:p>
            <a:pPr lvl="1" eaLnBrk="1" fontAlgn="auto" hangingPunct="1">
              <a:spcAft>
                <a:spcPts val="0"/>
              </a:spcAft>
              <a:defRPr/>
            </a:pPr>
            <a:r>
              <a:rPr lang="en-US" sz="2400" dirty="0"/>
              <a:t>The right to act without interference</a:t>
            </a:r>
          </a:p>
          <a:p>
            <a:pPr eaLnBrk="1" fontAlgn="auto" hangingPunct="1">
              <a:spcAft>
                <a:spcPts val="0"/>
              </a:spcAft>
              <a:defRPr/>
            </a:pPr>
            <a:r>
              <a:rPr lang="en-US" sz="2800" dirty="0"/>
              <a:t>Positive rights (claim-rights)</a:t>
            </a:r>
          </a:p>
          <a:p>
            <a:pPr lvl="1" eaLnBrk="1" fontAlgn="auto" hangingPunct="1">
              <a:spcAft>
                <a:spcPts val="0"/>
              </a:spcAft>
              <a:defRPr/>
            </a:pPr>
            <a:r>
              <a:rPr lang="en-US" sz="2400" dirty="0"/>
              <a:t>An obligation of some people to provide certain things for others</a:t>
            </a:r>
          </a:p>
          <a:p>
            <a:pPr eaLnBrk="1" fontAlgn="auto" hangingPunct="1">
              <a:spcAft>
                <a:spcPts val="0"/>
              </a:spcAft>
              <a:defRPr/>
            </a:pPr>
            <a:endParaRPr lang="en-US" dirty="0"/>
          </a:p>
        </p:txBody>
      </p:sp>
      <p:sp>
        <p:nvSpPr>
          <p:cNvPr id="8" name="Title 2">
            <a:extLst>
              <a:ext uri="{FF2B5EF4-FFF2-40B4-BE49-F238E27FC236}">
                <a16:creationId xmlns:a16="http://schemas.microsoft.com/office/drawing/2014/main" id="{BF9168CC-3465-25B7-2A20-C2CD3C830E0A}"/>
              </a:ext>
            </a:extLst>
          </p:cNvPr>
          <p:cNvSpPr txBox="1">
            <a:spLocks/>
          </p:cNvSpPr>
          <p:nvPr/>
        </p:nvSpPr>
        <p:spPr>
          <a:xfrm>
            <a:off x="914400" y="381000"/>
            <a:ext cx="7620000" cy="1143000"/>
          </a:xfrm>
          <a:prstGeom prst="rect">
            <a:avLst/>
          </a:prstGeom>
          <a:no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anchor="ctr">
            <a:normAutofit fontScale="90000"/>
          </a:bodyPr>
          <a:lstStyle>
            <a:lvl1pPr algn="l" rtl="0" eaLnBrk="0" fontAlgn="base" hangingPunct="0">
              <a:spcBef>
                <a:spcPct val="0"/>
              </a:spcBef>
              <a:spcAft>
                <a:spcPct val="0"/>
              </a:spcAft>
              <a:defRPr sz="4200" kern="1200">
                <a:solidFill>
                  <a:schemeClr val="tx1"/>
                </a:solidFill>
                <a:latin typeface="+mj-lt"/>
                <a:ea typeface="+mj-ea"/>
                <a:cs typeface="+mj-cs"/>
              </a:defRPr>
            </a:lvl1pPr>
            <a:lvl2pPr algn="l" rtl="0" eaLnBrk="0" fontAlgn="base" hangingPunct="0">
              <a:spcBef>
                <a:spcPct val="0"/>
              </a:spcBef>
              <a:spcAft>
                <a:spcPct val="0"/>
              </a:spcAft>
              <a:defRPr sz="4200">
                <a:solidFill>
                  <a:schemeClr val="tx1"/>
                </a:solidFill>
                <a:latin typeface="Calibri" pitchFamily="34" charset="0"/>
              </a:defRPr>
            </a:lvl2pPr>
            <a:lvl3pPr algn="l" rtl="0" eaLnBrk="0" fontAlgn="base" hangingPunct="0">
              <a:spcBef>
                <a:spcPct val="0"/>
              </a:spcBef>
              <a:spcAft>
                <a:spcPct val="0"/>
              </a:spcAft>
              <a:defRPr sz="4200">
                <a:solidFill>
                  <a:schemeClr val="tx1"/>
                </a:solidFill>
                <a:latin typeface="Calibri" pitchFamily="34" charset="0"/>
              </a:defRPr>
            </a:lvl3pPr>
            <a:lvl4pPr algn="l" rtl="0" eaLnBrk="0" fontAlgn="base" hangingPunct="0">
              <a:spcBef>
                <a:spcPct val="0"/>
              </a:spcBef>
              <a:spcAft>
                <a:spcPct val="0"/>
              </a:spcAft>
              <a:defRPr sz="4200">
                <a:solidFill>
                  <a:schemeClr val="tx1"/>
                </a:solidFill>
                <a:latin typeface="Calibri" pitchFamily="34" charset="0"/>
              </a:defRPr>
            </a:lvl4pPr>
            <a:lvl5pPr algn="l" rtl="0" eaLnBrk="0" fontAlgn="base" hangingPunct="0">
              <a:spcBef>
                <a:spcPct val="0"/>
              </a:spcBef>
              <a:spcAft>
                <a:spcPct val="0"/>
              </a:spcAft>
              <a:defRPr sz="4200">
                <a:solidFill>
                  <a:schemeClr val="tx1"/>
                </a:solidFill>
                <a:latin typeface="Calibri" pitchFamily="34" charset="0"/>
              </a:defRPr>
            </a:lvl5pPr>
            <a:lvl6pPr marL="457200" algn="l" rtl="0" fontAlgn="base">
              <a:spcBef>
                <a:spcPct val="0"/>
              </a:spcBef>
              <a:spcAft>
                <a:spcPct val="0"/>
              </a:spcAft>
              <a:defRPr sz="4200">
                <a:solidFill>
                  <a:schemeClr val="tx1"/>
                </a:solidFill>
                <a:latin typeface="Calibri" pitchFamily="34" charset="0"/>
              </a:defRPr>
            </a:lvl6pPr>
            <a:lvl7pPr marL="914400" algn="l" rtl="0" fontAlgn="base">
              <a:spcBef>
                <a:spcPct val="0"/>
              </a:spcBef>
              <a:spcAft>
                <a:spcPct val="0"/>
              </a:spcAft>
              <a:defRPr sz="4200">
                <a:solidFill>
                  <a:schemeClr val="tx1"/>
                </a:solidFill>
                <a:latin typeface="Calibri" pitchFamily="34" charset="0"/>
              </a:defRPr>
            </a:lvl7pPr>
            <a:lvl8pPr marL="1371600" algn="l" rtl="0" fontAlgn="base">
              <a:spcBef>
                <a:spcPct val="0"/>
              </a:spcBef>
              <a:spcAft>
                <a:spcPct val="0"/>
              </a:spcAft>
              <a:defRPr sz="4200">
                <a:solidFill>
                  <a:schemeClr val="tx1"/>
                </a:solidFill>
                <a:latin typeface="Calibri" pitchFamily="34" charset="0"/>
              </a:defRPr>
            </a:lvl8pPr>
            <a:lvl9pPr marL="1828800" algn="l" rtl="0" fontAlgn="base">
              <a:spcBef>
                <a:spcPct val="0"/>
              </a:spcBef>
              <a:spcAft>
                <a:spcPct val="0"/>
              </a:spcAft>
              <a:defRPr sz="4200">
                <a:solidFill>
                  <a:schemeClr val="tx1"/>
                </a:solidFill>
                <a:latin typeface="Calibri" pitchFamily="34" charset="0"/>
              </a:defRPr>
            </a:lvl9pPr>
          </a:lstStyle>
          <a:p>
            <a:pPr eaLnBrk="1" fontAlgn="auto" hangingPunct="1">
              <a:spcAft>
                <a:spcPts val="0"/>
              </a:spcAft>
              <a:defRPr/>
            </a:pPr>
            <a:r>
              <a:rPr lang="en-US" dirty="0"/>
              <a:t>Developments, themes and ethics  (9)</a:t>
            </a:r>
          </a:p>
        </p:txBody>
      </p:sp>
      <p:sp>
        <p:nvSpPr>
          <p:cNvPr id="36869" name="TextBox 9">
            <a:extLst>
              <a:ext uri="{FF2B5EF4-FFF2-40B4-BE49-F238E27FC236}">
                <a16:creationId xmlns:a16="http://schemas.microsoft.com/office/drawing/2014/main" id="{E1A99525-0A57-88C3-C5BF-2AD2930478B9}"/>
              </a:ext>
            </a:extLst>
          </p:cNvPr>
          <p:cNvSpPr txBox="1">
            <a:spLocks noChangeArrowheads="1"/>
          </p:cNvSpPr>
          <p:nvPr/>
        </p:nvSpPr>
        <p:spPr bwMode="auto">
          <a:xfrm>
            <a:off x="1123950" y="4673600"/>
            <a:ext cx="7315200" cy="169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cs typeface="Arial" panose="020B0604020202020204" pitchFamily="34" charset="0"/>
              </a:defRPr>
            </a:lvl1pPr>
            <a:lvl2pPr marL="742950" indent="-285750">
              <a:defRPr>
                <a:solidFill>
                  <a:schemeClr val="tx1"/>
                </a:solidFill>
                <a:latin typeface="Times New Roman" panose="02020603050405020304" pitchFamily="18" charset="0"/>
                <a:cs typeface="Arial" panose="020B0604020202020204" pitchFamily="34" charset="0"/>
              </a:defRPr>
            </a:lvl2pPr>
            <a:lvl3pPr marL="1143000" indent="-228600">
              <a:defRPr>
                <a:solidFill>
                  <a:schemeClr val="tx1"/>
                </a:solidFill>
                <a:latin typeface="Times New Roman" panose="02020603050405020304" pitchFamily="18" charset="0"/>
                <a:cs typeface="Arial" panose="020B0604020202020204" pitchFamily="34" charset="0"/>
              </a:defRPr>
            </a:lvl3pPr>
            <a:lvl4pPr marL="1600200" indent="-228600">
              <a:defRPr>
                <a:solidFill>
                  <a:schemeClr val="tx1"/>
                </a:solidFill>
                <a:latin typeface="Times New Roman" panose="02020603050405020304" pitchFamily="18" charset="0"/>
                <a:cs typeface="Arial" panose="020B0604020202020204" pitchFamily="34" charset="0"/>
              </a:defRPr>
            </a:lvl4pPr>
            <a:lvl5pPr marL="2057400" indent="-228600">
              <a:defRPr>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cs typeface="Arial" panose="020B0604020202020204" pitchFamily="34" charset="0"/>
              </a:defRPr>
            </a:lvl9pPr>
          </a:lstStyle>
          <a:p>
            <a:pPr eaLnBrk="1" hangingPunct="1"/>
            <a:r>
              <a:rPr lang="en-US" altLang="en-US" sz="2800" dirty="0">
                <a:latin typeface="+mn-lt"/>
              </a:rPr>
              <a:t>Golden rules: </a:t>
            </a:r>
            <a:r>
              <a:rPr lang="en-US" altLang="en-US" sz="2400" dirty="0">
                <a:latin typeface="+mn-lt"/>
              </a:rPr>
              <a:t>Treat others as you would want them to treat you. </a:t>
            </a:r>
          </a:p>
          <a:p>
            <a:pPr eaLnBrk="1" hangingPunct="1"/>
            <a:r>
              <a:rPr lang="en-US" altLang="en-US" sz="2800" dirty="0">
                <a:latin typeface="+mn-lt"/>
              </a:rPr>
              <a:t>Contributing to society: </a:t>
            </a:r>
            <a:r>
              <a:rPr lang="en-US" altLang="en-US" sz="2400" dirty="0">
                <a:latin typeface="+mn-lt"/>
              </a:rPr>
              <a:t>Doing one’s work honestly, responsibly, ethically, creatively, and well is virtuous.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2DAB82A-7E3B-D182-8410-88F5B6019539}"/>
              </a:ext>
            </a:extLst>
          </p:cNvPr>
          <p:cNvSpPr>
            <a:spLocks noGrp="1"/>
          </p:cNvSpPr>
          <p:nvPr>
            <p:ph idx="1"/>
          </p:nvPr>
        </p:nvSpPr>
        <p:spPr>
          <a:xfrm>
            <a:off x="1066800" y="2514600"/>
            <a:ext cx="7620000" cy="3657600"/>
          </a:xfrm>
        </p:spPr>
        <p:txBody>
          <a:bodyPr rtlCol="0">
            <a:normAutofit/>
          </a:bodyPr>
          <a:lstStyle/>
          <a:p>
            <a:pPr eaLnBrk="1" fontAlgn="auto" hangingPunct="1">
              <a:spcAft>
                <a:spcPts val="0"/>
              </a:spcAft>
              <a:buFontTx/>
              <a:buNone/>
              <a:defRPr/>
            </a:pPr>
            <a:r>
              <a:rPr lang="en-US" dirty="0"/>
              <a:t>Some important distinctions:</a:t>
            </a:r>
          </a:p>
          <a:p>
            <a:pPr eaLnBrk="1" fontAlgn="auto" hangingPunct="1">
              <a:spcAft>
                <a:spcPts val="0"/>
              </a:spcAft>
              <a:defRPr/>
            </a:pPr>
            <a:r>
              <a:rPr lang="en-US" sz="2800" dirty="0"/>
              <a:t>Right, wrong, and okay</a:t>
            </a:r>
          </a:p>
          <a:p>
            <a:pPr eaLnBrk="1" fontAlgn="auto" hangingPunct="1">
              <a:spcAft>
                <a:spcPts val="0"/>
              </a:spcAft>
              <a:defRPr/>
            </a:pPr>
            <a:r>
              <a:rPr lang="en-US" sz="2800" dirty="0"/>
              <a:t>Distinguishing  wrong and harm</a:t>
            </a:r>
          </a:p>
          <a:p>
            <a:pPr eaLnBrk="1" fontAlgn="auto" hangingPunct="1">
              <a:spcAft>
                <a:spcPts val="0"/>
              </a:spcAft>
              <a:defRPr/>
            </a:pPr>
            <a:r>
              <a:rPr lang="en-US" sz="2800" dirty="0"/>
              <a:t>Separating goals from constraints</a:t>
            </a:r>
          </a:p>
          <a:p>
            <a:pPr eaLnBrk="1" fontAlgn="auto" hangingPunct="1">
              <a:spcAft>
                <a:spcPts val="0"/>
              </a:spcAft>
              <a:defRPr/>
            </a:pPr>
            <a:r>
              <a:rPr lang="en-US" sz="2800" dirty="0"/>
              <a:t>Personal preference and ethics</a:t>
            </a:r>
          </a:p>
          <a:p>
            <a:pPr eaLnBrk="1" fontAlgn="auto" hangingPunct="1">
              <a:spcAft>
                <a:spcPts val="0"/>
              </a:spcAft>
              <a:defRPr/>
            </a:pPr>
            <a:r>
              <a:rPr lang="en-US" sz="2800" dirty="0"/>
              <a:t>Law and ethics</a:t>
            </a:r>
          </a:p>
          <a:p>
            <a:pPr eaLnBrk="1" fontAlgn="auto" hangingPunct="1">
              <a:spcAft>
                <a:spcPts val="0"/>
              </a:spcAft>
              <a:defRPr/>
            </a:pPr>
            <a:endParaRPr lang="en-US" dirty="0"/>
          </a:p>
        </p:txBody>
      </p:sp>
      <p:sp>
        <p:nvSpPr>
          <p:cNvPr id="3" name="Title 2">
            <a:extLst>
              <a:ext uri="{FF2B5EF4-FFF2-40B4-BE49-F238E27FC236}">
                <a16:creationId xmlns:a16="http://schemas.microsoft.com/office/drawing/2014/main" id="{6EC92E24-F1C9-A77D-E7BA-9264A1099E36}"/>
              </a:ext>
            </a:extLst>
          </p:cNvPr>
          <p:cNvSpPr>
            <a:spLocks noGrp="1"/>
          </p:cNvSpPr>
          <p:nvPr>
            <p:ph type="title"/>
          </p:nvPr>
        </p:nvSpPr>
        <p:spPr>
          <a:xfrm>
            <a:off x="457200" y="741363"/>
            <a:ext cx="8001000" cy="1143000"/>
          </a:xfrm>
        </p:spPr>
        <p:txBody>
          <a:bodyPr>
            <a:normAutofit fontScale="90000"/>
          </a:bodyPr>
          <a:lstStyle/>
          <a:p>
            <a:pPr eaLnBrk="1" fontAlgn="auto" hangingPunct="1">
              <a:spcAft>
                <a:spcPts val="0"/>
              </a:spcAft>
              <a:defRPr/>
            </a:pPr>
            <a:r>
              <a:rPr lang="en-US" dirty="0"/>
              <a:t>Developments, themes and ethics (10)</a:t>
            </a:r>
            <a:br>
              <a:rPr lang="en-US" dirty="0"/>
            </a:b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DF8F43E-8DD9-583F-227B-3179EF92A06D}"/>
              </a:ext>
            </a:extLst>
          </p:cNvPr>
          <p:cNvSpPr>
            <a:spLocks noGrp="1"/>
          </p:cNvSpPr>
          <p:nvPr>
            <p:ph idx="1"/>
          </p:nvPr>
        </p:nvSpPr>
        <p:spPr>
          <a:xfrm>
            <a:off x="228600" y="1741044"/>
            <a:ext cx="8172450" cy="4812156"/>
          </a:xfrm>
        </p:spPr>
        <p:txBody>
          <a:bodyPr rtlCol="0">
            <a:normAutofit fontScale="77500" lnSpcReduction="20000"/>
          </a:bodyPr>
          <a:lstStyle/>
          <a:p>
            <a:pPr marL="0" indent="0" eaLnBrk="1" fontAlgn="auto" hangingPunct="1">
              <a:spcAft>
                <a:spcPts val="0"/>
              </a:spcAft>
              <a:buFont typeface="Wingdings" pitchFamily="2" charset="2"/>
              <a:buNone/>
              <a:defRPr/>
            </a:pPr>
            <a:r>
              <a:rPr lang="en-US" sz="4000" dirty="0"/>
              <a:t>A variety of ethical views (cont.):</a:t>
            </a:r>
          </a:p>
          <a:p>
            <a:pPr eaLnBrk="1" fontAlgn="auto" hangingPunct="1">
              <a:spcAft>
                <a:spcPts val="0"/>
              </a:spcAft>
              <a:defRPr/>
            </a:pPr>
            <a:r>
              <a:rPr lang="en-US" sz="4000" dirty="0"/>
              <a:t>Do organizations have ethics?</a:t>
            </a:r>
          </a:p>
          <a:p>
            <a:pPr lvl="1" eaLnBrk="1" fontAlgn="auto" hangingPunct="1">
              <a:spcAft>
                <a:spcPts val="0"/>
              </a:spcAft>
              <a:defRPr/>
            </a:pPr>
            <a:r>
              <a:rPr lang="en-US" sz="4000" dirty="0"/>
              <a:t>Ultimately, it is individuals who are making decisions and taking actions. We can hold both the individuals and the organization responsible for their acts.</a:t>
            </a:r>
          </a:p>
          <a:p>
            <a:pPr lvl="1" eaLnBrk="1" fontAlgn="auto" hangingPunct="1">
              <a:spcAft>
                <a:spcPts val="0"/>
              </a:spcAft>
              <a:defRPr/>
            </a:pPr>
            <a:endParaRPr lang="en-US" sz="4000" dirty="0"/>
          </a:p>
          <a:p>
            <a:pPr eaLnBrk="1" hangingPunct="1">
              <a:lnSpc>
                <a:spcPct val="90000"/>
              </a:lnSpc>
            </a:pPr>
            <a:r>
              <a:rPr lang="en-US" altLang="en-US" sz="4000" dirty="0"/>
              <a:t>Computer Network Ethics resulted from the growth of the Internet</a:t>
            </a:r>
          </a:p>
          <a:p>
            <a:pPr lvl="1" eaLnBrk="1" hangingPunct="1">
              <a:lnSpc>
                <a:spcPct val="90000"/>
              </a:lnSpc>
            </a:pPr>
            <a:r>
              <a:rPr lang="en-US" altLang="en-US" sz="3800" dirty="0"/>
              <a:t>How computing professionals should make decisions regarding professional and social conduct</a:t>
            </a:r>
          </a:p>
          <a:p>
            <a:pPr marL="457200" lvl="1" indent="0" eaLnBrk="1" fontAlgn="auto" hangingPunct="1">
              <a:spcAft>
                <a:spcPts val="0"/>
              </a:spcAft>
              <a:buNone/>
              <a:defRPr/>
            </a:pPr>
            <a:endParaRPr lang="en-US" sz="2400" dirty="0"/>
          </a:p>
        </p:txBody>
      </p:sp>
      <p:sp>
        <p:nvSpPr>
          <p:cNvPr id="7" name="Title 2">
            <a:extLst>
              <a:ext uri="{FF2B5EF4-FFF2-40B4-BE49-F238E27FC236}">
                <a16:creationId xmlns:a16="http://schemas.microsoft.com/office/drawing/2014/main" id="{6D9D2111-A2E8-FF75-63D4-F190D4DC7FC7}"/>
              </a:ext>
            </a:extLst>
          </p:cNvPr>
          <p:cNvSpPr>
            <a:spLocks noGrp="1"/>
          </p:cNvSpPr>
          <p:nvPr>
            <p:ph type="title"/>
          </p:nvPr>
        </p:nvSpPr>
        <p:spPr>
          <a:xfrm>
            <a:off x="685800" y="625476"/>
            <a:ext cx="7810500" cy="1143000"/>
          </a:xfrm>
        </p:spPr>
        <p:txBody>
          <a:bodyPr>
            <a:normAutofit fontScale="90000"/>
          </a:bodyPr>
          <a:lstStyle/>
          <a:p>
            <a:pPr eaLnBrk="1" fontAlgn="auto" hangingPunct="1">
              <a:spcAft>
                <a:spcPts val="0"/>
              </a:spcAft>
              <a:defRPr/>
            </a:pPr>
            <a:r>
              <a:rPr lang="en-US" dirty="0"/>
              <a:t>Developments, themes and ethics (11)</a:t>
            </a:r>
            <a:br>
              <a:rPr lang="en-US" dirty="0"/>
            </a:b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3">
            <a:extLst>
              <a:ext uri="{FF2B5EF4-FFF2-40B4-BE49-F238E27FC236}">
                <a16:creationId xmlns:a16="http://schemas.microsoft.com/office/drawing/2014/main" id="{B89FDD3D-7FC7-1EAD-2D29-3FB530C839BC}"/>
              </a:ext>
            </a:extLst>
          </p:cNvPr>
          <p:cNvSpPr>
            <a:spLocks noGrp="1" noChangeArrowheads="1"/>
          </p:cNvSpPr>
          <p:nvPr>
            <p:ph idx="1"/>
          </p:nvPr>
        </p:nvSpPr>
        <p:spPr/>
        <p:txBody>
          <a:bodyPr rtlCol="0">
            <a:normAutofit/>
          </a:bodyPr>
          <a:lstStyle/>
          <a:p>
            <a:pPr eaLnBrk="1" fontAlgn="auto" hangingPunct="1">
              <a:spcAft>
                <a:spcPts val="0"/>
              </a:spcAft>
              <a:buFontTx/>
              <a:buNone/>
              <a:defRPr/>
            </a:pPr>
            <a:r>
              <a:rPr lang="en-US" dirty="0"/>
              <a:t>Key Aspects of Privacy:</a:t>
            </a:r>
          </a:p>
          <a:p>
            <a:pPr eaLnBrk="1" fontAlgn="auto" hangingPunct="1">
              <a:spcAft>
                <a:spcPts val="0"/>
              </a:spcAft>
              <a:defRPr/>
            </a:pPr>
            <a:r>
              <a:rPr lang="en-US" dirty="0"/>
              <a:t>Freedom from intrusion (being left alone)</a:t>
            </a:r>
          </a:p>
          <a:p>
            <a:pPr eaLnBrk="1" fontAlgn="auto" hangingPunct="1">
              <a:spcAft>
                <a:spcPts val="0"/>
              </a:spcAft>
              <a:defRPr/>
            </a:pPr>
            <a:r>
              <a:rPr lang="en-US" dirty="0"/>
              <a:t>Control of information about oneself</a:t>
            </a:r>
          </a:p>
          <a:p>
            <a:pPr eaLnBrk="1" fontAlgn="auto" hangingPunct="1">
              <a:spcAft>
                <a:spcPts val="0"/>
              </a:spcAft>
              <a:defRPr/>
            </a:pPr>
            <a:r>
              <a:rPr lang="en-US" dirty="0"/>
              <a:t>Freedom from surveillance (from being tracked, followed, watched)</a:t>
            </a:r>
          </a:p>
          <a:p>
            <a:pPr eaLnBrk="1" fontAlgn="auto" hangingPunct="1">
              <a:spcAft>
                <a:spcPts val="0"/>
              </a:spcAft>
              <a:defRPr/>
            </a:pPr>
            <a:endParaRPr lang="en-US" dirty="0"/>
          </a:p>
        </p:txBody>
      </p:sp>
      <p:sp>
        <p:nvSpPr>
          <p:cNvPr id="39938" name="Rectangle 2">
            <a:extLst>
              <a:ext uri="{FF2B5EF4-FFF2-40B4-BE49-F238E27FC236}">
                <a16:creationId xmlns:a16="http://schemas.microsoft.com/office/drawing/2014/main" id="{854DC542-0DB1-86E7-4CA7-8893870DF4AD}"/>
              </a:ext>
            </a:extLst>
          </p:cNvPr>
          <p:cNvSpPr>
            <a:spLocks noGrp="1" noChangeArrowheads="1"/>
          </p:cNvSpPr>
          <p:nvPr>
            <p:ph type="title"/>
          </p:nvPr>
        </p:nvSpPr>
        <p:spPr/>
        <p:txBody>
          <a:bodyPr/>
          <a:lstStyle/>
          <a:p>
            <a:pPr eaLnBrk="1" fontAlgn="auto" hangingPunct="1">
              <a:spcAft>
                <a:spcPts val="0"/>
              </a:spcAft>
              <a:defRPr/>
            </a:pPr>
            <a:r>
              <a:rPr lang="en-US" dirty="0"/>
              <a:t>Privacy Risks and Principles (1)</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3">
            <a:extLst>
              <a:ext uri="{FF2B5EF4-FFF2-40B4-BE49-F238E27FC236}">
                <a16:creationId xmlns:a16="http://schemas.microsoft.com/office/drawing/2014/main" id="{C5220808-BB74-DEE9-6BC2-DF4F0FC839BE}"/>
              </a:ext>
            </a:extLst>
          </p:cNvPr>
          <p:cNvSpPr>
            <a:spLocks noGrp="1" noChangeArrowheads="1"/>
          </p:cNvSpPr>
          <p:nvPr>
            <p:ph idx="1"/>
          </p:nvPr>
        </p:nvSpPr>
        <p:spPr/>
        <p:txBody>
          <a:bodyPr rtlCol="0">
            <a:normAutofit/>
          </a:bodyPr>
          <a:lstStyle/>
          <a:p>
            <a:pPr eaLnBrk="1" fontAlgn="auto" hangingPunct="1">
              <a:spcAft>
                <a:spcPts val="0"/>
              </a:spcAft>
              <a:buFontTx/>
              <a:buNone/>
              <a:defRPr/>
            </a:pPr>
            <a:r>
              <a:rPr lang="en-US" dirty="0"/>
              <a:t>Privacy threats come in several categories:</a:t>
            </a:r>
          </a:p>
          <a:p>
            <a:pPr eaLnBrk="1" fontAlgn="auto" hangingPunct="1">
              <a:spcAft>
                <a:spcPts val="0"/>
              </a:spcAft>
              <a:defRPr/>
            </a:pPr>
            <a:r>
              <a:rPr lang="en-US" dirty="0"/>
              <a:t>Intentional, institutional uses of personal information</a:t>
            </a:r>
          </a:p>
          <a:p>
            <a:pPr eaLnBrk="1" fontAlgn="auto" hangingPunct="1">
              <a:spcAft>
                <a:spcPts val="0"/>
              </a:spcAft>
              <a:defRPr/>
            </a:pPr>
            <a:r>
              <a:rPr lang="en-US" dirty="0"/>
              <a:t>Unauthorized use or release by “insiders”</a:t>
            </a:r>
          </a:p>
          <a:p>
            <a:pPr eaLnBrk="1" fontAlgn="auto" hangingPunct="1">
              <a:spcAft>
                <a:spcPts val="0"/>
              </a:spcAft>
              <a:defRPr/>
            </a:pPr>
            <a:r>
              <a:rPr lang="en-US" dirty="0"/>
              <a:t>Theft of information</a:t>
            </a:r>
          </a:p>
          <a:p>
            <a:pPr eaLnBrk="1" fontAlgn="auto" hangingPunct="1">
              <a:spcAft>
                <a:spcPts val="0"/>
              </a:spcAft>
              <a:defRPr/>
            </a:pPr>
            <a:r>
              <a:rPr lang="en-US" dirty="0"/>
              <a:t>Inadvertent leakage of information</a:t>
            </a:r>
          </a:p>
          <a:p>
            <a:pPr eaLnBrk="1" fontAlgn="auto" hangingPunct="1">
              <a:spcAft>
                <a:spcPts val="0"/>
              </a:spcAft>
              <a:defRPr/>
            </a:pPr>
            <a:r>
              <a:rPr lang="en-US" dirty="0"/>
              <a:t>Our own actions</a:t>
            </a:r>
          </a:p>
          <a:p>
            <a:pPr eaLnBrk="1" fontAlgn="auto" hangingPunct="1">
              <a:spcAft>
                <a:spcPts val="0"/>
              </a:spcAft>
              <a:defRPr/>
            </a:pPr>
            <a:endParaRPr lang="en-US" dirty="0"/>
          </a:p>
        </p:txBody>
      </p:sp>
      <p:sp>
        <p:nvSpPr>
          <p:cNvPr id="39938" name="Rectangle 2">
            <a:extLst>
              <a:ext uri="{FF2B5EF4-FFF2-40B4-BE49-F238E27FC236}">
                <a16:creationId xmlns:a16="http://schemas.microsoft.com/office/drawing/2014/main" id="{53606740-E6D8-879B-CAB9-C8167929208E}"/>
              </a:ext>
            </a:extLst>
          </p:cNvPr>
          <p:cNvSpPr>
            <a:spLocks noGrp="1" noChangeArrowheads="1"/>
          </p:cNvSpPr>
          <p:nvPr>
            <p:ph type="title"/>
          </p:nvPr>
        </p:nvSpPr>
        <p:spPr/>
        <p:txBody>
          <a:bodyPr/>
          <a:lstStyle/>
          <a:p>
            <a:pPr eaLnBrk="1" fontAlgn="auto" hangingPunct="1">
              <a:spcAft>
                <a:spcPts val="0"/>
              </a:spcAft>
              <a:defRPr/>
            </a:pPr>
            <a:r>
              <a:rPr lang="en-US" dirty="0"/>
              <a:t>Privacy Risks and Principles (2)</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3">
            <a:extLst>
              <a:ext uri="{FF2B5EF4-FFF2-40B4-BE49-F238E27FC236}">
                <a16:creationId xmlns:a16="http://schemas.microsoft.com/office/drawing/2014/main" id="{CB2E3F79-F906-B3C3-43E6-4105EAFF82BF}"/>
              </a:ext>
            </a:extLst>
          </p:cNvPr>
          <p:cNvSpPr>
            <a:spLocks noGrp="1" noChangeArrowheads="1"/>
          </p:cNvSpPr>
          <p:nvPr>
            <p:ph idx="1"/>
          </p:nvPr>
        </p:nvSpPr>
        <p:spPr/>
        <p:txBody>
          <a:bodyPr rtlCol="0">
            <a:normAutofit/>
          </a:bodyPr>
          <a:lstStyle/>
          <a:p>
            <a:pPr eaLnBrk="1" fontAlgn="auto" hangingPunct="1">
              <a:spcAft>
                <a:spcPts val="0"/>
              </a:spcAft>
              <a:buFontTx/>
              <a:buNone/>
              <a:defRPr/>
            </a:pPr>
            <a:r>
              <a:rPr lang="en-US" dirty="0"/>
              <a:t>New Technology, New Risks:</a:t>
            </a:r>
          </a:p>
          <a:p>
            <a:pPr eaLnBrk="1" fontAlgn="auto" hangingPunct="1">
              <a:spcAft>
                <a:spcPts val="0"/>
              </a:spcAft>
              <a:defRPr/>
            </a:pPr>
            <a:r>
              <a:rPr lang="en-US" dirty="0"/>
              <a:t>Government and private databases</a:t>
            </a:r>
          </a:p>
          <a:p>
            <a:pPr eaLnBrk="1" fontAlgn="auto" hangingPunct="1">
              <a:spcAft>
                <a:spcPts val="0"/>
              </a:spcAft>
              <a:defRPr/>
            </a:pPr>
            <a:r>
              <a:rPr lang="en-US" dirty="0"/>
              <a:t>Sophisticated tools for surveillance and data analysis</a:t>
            </a:r>
          </a:p>
          <a:p>
            <a:pPr eaLnBrk="1" fontAlgn="auto" hangingPunct="1">
              <a:spcAft>
                <a:spcPts val="0"/>
              </a:spcAft>
              <a:defRPr/>
            </a:pPr>
            <a:r>
              <a:rPr lang="en-US" dirty="0"/>
              <a:t>Vulnerability of data</a:t>
            </a:r>
          </a:p>
        </p:txBody>
      </p:sp>
      <p:sp>
        <p:nvSpPr>
          <p:cNvPr id="41986" name="Rectangle 2">
            <a:extLst>
              <a:ext uri="{FF2B5EF4-FFF2-40B4-BE49-F238E27FC236}">
                <a16:creationId xmlns:a16="http://schemas.microsoft.com/office/drawing/2014/main" id="{F87C97F7-F182-4C3B-5867-993FC10737D7}"/>
              </a:ext>
            </a:extLst>
          </p:cNvPr>
          <p:cNvSpPr>
            <a:spLocks noGrp="1" noChangeArrowheads="1"/>
          </p:cNvSpPr>
          <p:nvPr>
            <p:ph type="title"/>
          </p:nvPr>
        </p:nvSpPr>
        <p:spPr/>
        <p:txBody>
          <a:bodyPr/>
          <a:lstStyle/>
          <a:p>
            <a:pPr eaLnBrk="1" fontAlgn="auto" hangingPunct="1">
              <a:spcAft>
                <a:spcPts val="0"/>
              </a:spcAft>
              <a:defRPr/>
            </a:pPr>
            <a:r>
              <a:rPr lang="en-US" dirty="0"/>
              <a:t>Privacy Risks and Principles (3)</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3">
            <a:extLst>
              <a:ext uri="{FF2B5EF4-FFF2-40B4-BE49-F238E27FC236}">
                <a16:creationId xmlns:a16="http://schemas.microsoft.com/office/drawing/2014/main" id="{2B8A7FE7-B4E1-085F-8BB4-AC76DCB1848E}"/>
              </a:ext>
            </a:extLst>
          </p:cNvPr>
          <p:cNvSpPr>
            <a:spLocks noGrp="1" noChangeArrowheads="1"/>
          </p:cNvSpPr>
          <p:nvPr>
            <p:ph idx="1"/>
          </p:nvPr>
        </p:nvSpPr>
        <p:spPr>
          <a:xfrm>
            <a:off x="0" y="1371600"/>
            <a:ext cx="8839200" cy="4876800"/>
          </a:xfrm>
        </p:spPr>
        <p:txBody>
          <a:bodyPr rtlCol="0">
            <a:normAutofit/>
          </a:bodyPr>
          <a:lstStyle/>
          <a:p>
            <a:pPr eaLnBrk="1" fontAlgn="auto" hangingPunct="1">
              <a:spcAft>
                <a:spcPts val="0"/>
              </a:spcAft>
              <a:buFontTx/>
              <a:buNone/>
              <a:defRPr/>
            </a:pPr>
            <a:r>
              <a:rPr lang="en-US" dirty="0"/>
              <a:t>New Technology, New Risks – Examples:  </a:t>
            </a:r>
          </a:p>
          <a:p>
            <a:pPr eaLnBrk="1" fontAlgn="auto" hangingPunct="1">
              <a:spcAft>
                <a:spcPts val="0"/>
              </a:spcAft>
              <a:buFontTx/>
              <a:buNone/>
              <a:defRPr/>
            </a:pPr>
            <a:r>
              <a:rPr lang="en-US" dirty="0"/>
              <a:t>Search query data</a:t>
            </a:r>
          </a:p>
          <a:p>
            <a:pPr lvl="1" eaLnBrk="1" fontAlgn="auto" hangingPunct="1">
              <a:spcAft>
                <a:spcPts val="0"/>
              </a:spcAft>
              <a:defRPr/>
            </a:pPr>
            <a:r>
              <a:rPr lang="en-US" dirty="0"/>
              <a:t>Search engines collect many terabytes of data daily.</a:t>
            </a:r>
          </a:p>
          <a:p>
            <a:pPr lvl="1" eaLnBrk="1" fontAlgn="auto" hangingPunct="1">
              <a:spcAft>
                <a:spcPts val="0"/>
              </a:spcAft>
              <a:defRPr/>
            </a:pPr>
            <a:r>
              <a:rPr lang="en-US" dirty="0"/>
              <a:t>Data is analyzed to target advertising and develop new services.</a:t>
            </a:r>
          </a:p>
          <a:p>
            <a:pPr lvl="1" eaLnBrk="1" fontAlgn="auto" hangingPunct="1">
              <a:spcAft>
                <a:spcPts val="0"/>
              </a:spcAft>
              <a:defRPr/>
            </a:pPr>
            <a:r>
              <a:rPr lang="en-US" dirty="0"/>
              <a:t>Who gets to see this data? Why should we care?</a:t>
            </a:r>
          </a:p>
        </p:txBody>
      </p:sp>
      <p:sp>
        <p:nvSpPr>
          <p:cNvPr id="41986" name="Rectangle 2">
            <a:extLst>
              <a:ext uri="{FF2B5EF4-FFF2-40B4-BE49-F238E27FC236}">
                <a16:creationId xmlns:a16="http://schemas.microsoft.com/office/drawing/2014/main" id="{F37223D7-76B3-DBA4-27EE-616F0AC50970}"/>
              </a:ext>
            </a:extLst>
          </p:cNvPr>
          <p:cNvSpPr>
            <a:spLocks noGrp="1" noChangeArrowheads="1"/>
          </p:cNvSpPr>
          <p:nvPr>
            <p:ph type="title"/>
          </p:nvPr>
        </p:nvSpPr>
        <p:spPr/>
        <p:txBody>
          <a:bodyPr/>
          <a:lstStyle/>
          <a:p>
            <a:pPr eaLnBrk="1" fontAlgn="auto" hangingPunct="1">
              <a:spcAft>
                <a:spcPts val="0"/>
              </a:spcAft>
              <a:defRPr/>
            </a:pPr>
            <a:r>
              <a:rPr lang="en-US" dirty="0"/>
              <a:t>Privacy Risks and Principles (4)</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3">
            <a:extLst>
              <a:ext uri="{FF2B5EF4-FFF2-40B4-BE49-F238E27FC236}">
                <a16:creationId xmlns:a16="http://schemas.microsoft.com/office/drawing/2014/main" id="{E73DE2BF-7AA7-A6B3-C3A1-93D4A1104073}"/>
              </a:ext>
            </a:extLst>
          </p:cNvPr>
          <p:cNvSpPr>
            <a:spLocks noGrp="1" noChangeArrowheads="1"/>
          </p:cNvSpPr>
          <p:nvPr>
            <p:ph idx="1"/>
          </p:nvPr>
        </p:nvSpPr>
        <p:spPr/>
        <p:txBody>
          <a:bodyPr rtlCol="0">
            <a:normAutofit/>
          </a:bodyPr>
          <a:lstStyle/>
          <a:p>
            <a:pPr eaLnBrk="1" fontAlgn="auto" hangingPunct="1">
              <a:spcAft>
                <a:spcPts val="0"/>
              </a:spcAft>
              <a:buFontTx/>
              <a:buNone/>
              <a:defRPr/>
            </a:pPr>
            <a:r>
              <a:rPr lang="en-US" dirty="0"/>
              <a:t>New Technology, New Risks – Examples:  </a:t>
            </a:r>
          </a:p>
          <a:p>
            <a:pPr eaLnBrk="1" fontAlgn="auto" hangingPunct="1">
              <a:spcAft>
                <a:spcPts val="0"/>
              </a:spcAft>
              <a:buFontTx/>
              <a:buNone/>
              <a:defRPr/>
            </a:pPr>
            <a:r>
              <a:rPr lang="en-US" dirty="0"/>
              <a:t>Smartphones</a:t>
            </a:r>
          </a:p>
          <a:p>
            <a:pPr lvl="1" eaLnBrk="1" fontAlgn="auto" hangingPunct="1">
              <a:spcAft>
                <a:spcPts val="0"/>
              </a:spcAft>
              <a:defRPr/>
            </a:pPr>
            <a:r>
              <a:rPr lang="en-US" dirty="0"/>
              <a:t>Location apps</a:t>
            </a:r>
          </a:p>
          <a:p>
            <a:pPr lvl="1" eaLnBrk="1" fontAlgn="auto" hangingPunct="1">
              <a:spcAft>
                <a:spcPts val="0"/>
              </a:spcAft>
              <a:defRPr/>
            </a:pPr>
            <a:r>
              <a:rPr lang="en-US" dirty="0"/>
              <a:t>Data sometimes stored and sent without user’s knowledge</a:t>
            </a:r>
          </a:p>
          <a:p>
            <a:pPr lvl="1" eaLnBrk="1" fontAlgn="auto" hangingPunct="1">
              <a:spcAft>
                <a:spcPts val="0"/>
              </a:spcAft>
              <a:defRPr/>
            </a:pPr>
            <a:endParaRPr lang="en-US" dirty="0"/>
          </a:p>
          <a:p>
            <a:pPr lvl="1" eaLnBrk="1" fontAlgn="auto" hangingPunct="1">
              <a:spcAft>
                <a:spcPts val="0"/>
              </a:spcAft>
              <a:defRPr/>
            </a:pPr>
            <a:endParaRPr lang="en-US" dirty="0"/>
          </a:p>
        </p:txBody>
      </p:sp>
      <p:sp>
        <p:nvSpPr>
          <p:cNvPr id="41986" name="Rectangle 2">
            <a:extLst>
              <a:ext uri="{FF2B5EF4-FFF2-40B4-BE49-F238E27FC236}">
                <a16:creationId xmlns:a16="http://schemas.microsoft.com/office/drawing/2014/main" id="{D9438AD2-F24D-A776-BB0A-6EF49F20D73B}"/>
              </a:ext>
            </a:extLst>
          </p:cNvPr>
          <p:cNvSpPr>
            <a:spLocks noGrp="1" noChangeArrowheads="1"/>
          </p:cNvSpPr>
          <p:nvPr>
            <p:ph type="title"/>
          </p:nvPr>
        </p:nvSpPr>
        <p:spPr/>
        <p:txBody>
          <a:bodyPr/>
          <a:lstStyle/>
          <a:p>
            <a:pPr eaLnBrk="1" fontAlgn="auto" hangingPunct="1">
              <a:spcAft>
                <a:spcPts val="0"/>
              </a:spcAft>
              <a:defRPr/>
            </a:pPr>
            <a:r>
              <a:rPr lang="en-US" dirty="0"/>
              <a:t>Privacy Risks and Principles (5)</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3">
            <a:extLst>
              <a:ext uri="{FF2B5EF4-FFF2-40B4-BE49-F238E27FC236}">
                <a16:creationId xmlns:a16="http://schemas.microsoft.com/office/drawing/2014/main" id="{02674460-5E52-6E91-19E3-39ECCE217984}"/>
              </a:ext>
            </a:extLst>
          </p:cNvPr>
          <p:cNvSpPr>
            <a:spLocks noGrp="1" noChangeArrowheads="1"/>
          </p:cNvSpPr>
          <p:nvPr>
            <p:ph idx="1"/>
          </p:nvPr>
        </p:nvSpPr>
        <p:spPr>
          <a:xfrm>
            <a:off x="1219200" y="1371600"/>
            <a:ext cx="7924800" cy="4876800"/>
          </a:xfrm>
        </p:spPr>
        <p:txBody>
          <a:bodyPr rtlCol="0">
            <a:normAutofit/>
          </a:bodyPr>
          <a:lstStyle/>
          <a:p>
            <a:pPr eaLnBrk="1" fontAlgn="auto" hangingPunct="1">
              <a:spcAft>
                <a:spcPts val="0"/>
              </a:spcAft>
              <a:buFontTx/>
              <a:buNone/>
              <a:defRPr/>
            </a:pPr>
            <a:r>
              <a:rPr lang="en-US" dirty="0"/>
              <a:t>New Technology, New Risks – Summary of Risks:</a:t>
            </a:r>
          </a:p>
          <a:p>
            <a:pPr eaLnBrk="1" fontAlgn="auto" hangingPunct="1">
              <a:spcAft>
                <a:spcPts val="0"/>
              </a:spcAft>
              <a:defRPr/>
            </a:pPr>
            <a:r>
              <a:rPr lang="en-US" dirty="0"/>
              <a:t>Anything we do in cyberspace is recorded.</a:t>
            </a:r>
          </a:p>
          <a:p>
            <a:pPr eaLnBrk="1" fontAlgn="auto" hangingPunct="1">
              <a:spcAft>
                <a:spcPts val="0"/>
              </a:spcAft>
              <a:defRPr/>
            </a:pPr>
            <a:r>
              <a:rPr lang="en-US" dirty="0"/>
              <a:t>Huge amounts of data are stored.</a:t>
            </a:r>
          </a:p>
          <a:p>
            <a:pPr eaLnBrk="1" fontAlgn="auto" hangingPunct="1">
              <a:spcAft>
                <a:spcPts val="0"/>
              </a:spcAft>
              <a:defRPr/>
            </a:pPr>
            <a:r>
              <a:rPr lang="en-US" dirty="0"/>
              <a:t>People are not aware of collection of data.</a:t>
            </a:r>
          </a:p>
          <a:p>
            <a:pPr eaLnBrk="1" fontAlgn="auto" hangingPunct="1">
              <a:spcAft>
                <a:spcPts val="0"/>
              </a:spcAft>
              <a:defRPr/>
            </a:pPr>
            <a:r>
              <a:rPr lang="en-US" dirty="0"/>
              <a:t>Software is complex. </a:t>
            </a:r>
          </a:p>
          <a:p>
            <a:pPr eaLnBrk="1" fontAlgn="auto" hangingPunct="1">
              <a:spcAft>
                <a:spcPts val="0"/>
              </a:spcAft>
              <a:defRPr/>
            </a:pPr>
            <a:r>
              <a:rPr lang="en-US" dirty="0"/>
              <a:t>Leaks happen.</a:t>
            </a:r>
          </a:p>
          <a:p>
            <a:pPr eaLnBrk="1" fontAlgn="auto" hangingPunct="1">
              <a:spcAft>
                <a:spcPts val="0"/>
              </a:spcAft>
              <a:defRPr/>
            </a:pPr>
            <a:endParaRPr lang="en-US" dirty="0"/>
          </a:p>
          <a:p>
            <a:pPr lvl="1" eaLnBrk="1" fontAlgn="auto" hangingPunct="1">
              <a:spcAft>
                <a:spcPts val="0"/>
              </a:spcAft>
              <a:defRPr/>
            </a:pPr>
            <a:endParaRPr lang="en-US" dirty="0"/>
          </a:p>
          <a:p>
            <a:pPr eaLnBrk="1" fontAlgn="auto" hangingPunct="1">
              <a:spcAft>
                <a:spcPts val="0"/>
              </a:spcAft>
              <a:defRPr/>
            </a:pPr>
            <a:endParaRPr lang="en-US" dirty="0"/>
          </a:p>
        </p:txBody>
      </p:sp>
      <p:sp>
        <p:nvSpPr>
          <p:cNvPr id="41986" name="Rectangle 2">
            <a:extLst>
              <a:ext uri="{FF2B5EF4-FFF2-40B4-BE49-F238E27FC236}">
                <a16:creationId xmlns:a16="http://schemas.microsoft.com/office/drawing/2014/main" id="{019DC59A-4258-C59B-B6FC-1378C5D59300}"/>
              </a:ext>
            </a:extLst>
          </p:cNvPr>
          <p:cNvSpPr>
            <a:spLocks noGrp="1" noChangeArrowheads="1"/>
          </p:cNvSpPr>
          <p:nvPr>
            <p:ph type="title"/>
          </p:nvPr>
        </p:nvSpPr>
        <p:spPr/>
        <p:txBody>
          <a:bodyPr/>
          <a:lstStyle/>
          <a:p>
            <a:pPr eaLnBrk="1" fontAlgn="auto" hangingPunct="1">
              <a:spcAft>
                <a:spcPts val="0"/>
              </a:spcAft>
              <a:defRPr/>
            </a:pPr>
            <a:r>
              <a:rPr lang="en-US" dirty="0"/>
              <a:t>Privacy Risks and Principles (6)</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3">
            <a:extLst>
              <a:ext uri="{FF2B5EF4-FFF2-40B4-BE49-F238E27FC236}">
                <a16:creationId xmlns:a16="http://schemas.microsoft.com/office/drawing/2014/main" id="{76362599-4161-9EC8-1CFB-D9C2EC60B6C0}"/>
              </a:ext>
            </a:extLst>
          </p:cNvPr>
          <p:cNvSpPr>
            <a:spLocks noGrp="1" noChangeArrowheads="1"/>
          </p:cNvSpPr>
          <p:nvPr>
            <p:ph idx="1"/>
          </p:nvPr>
        </p:nvSpPr>
        <p:spPr>
          <a:xfrm>
            <a:off x="1219200" y="1371600"/>
            <a:ext cx="7772400" cy="4953000"/>
          </a:xfrm>
        </p:spPr>
        <p:txBody>
          <a:bodyPr rtlCol="0">
            <a:normAutofit/>
          </a:bodyPr>
          <a:lstStyle/>
          <a:p>
            <a:pPr eaLnBrk="1" fontAlgn="auto" hangingPunct="1">
              <a:spcAft>
                <a:spcPts val="0"/>
              </a:spcAft>
              <a:buFontTx/>
              <a:buNone/>
              <a:defRPr/>
            </a:pPr>
            <a:r>
              <a:rPr lang="en-US" dirty="0"/>
              <a:t>New Technology, New Risks – Summary of Risks</a:t>
            </a:r>
          </a:p>
          <a:p>
            <a:pPr eaLnBrk="1" fontAlgn="auto" hangingPunct="1">
              <a:spcAft>
                <a:spcPts val="0"/>
              </a:spcAft>
              <a:buFontTx/>
              <a:buNone/>
              <a:defRPr/>
            </a:pPr>
            <a:r>
              <a:rPr lang="en-US" dirty="0"/>
              <a:t>(cont.):</a:t>
            </a:r>
          </a:p>
          <a:p>
            <a:pPr eaLnBrk="1" fontAlgn="auto" hangingPunct="1">
              <a:spcAft>
                <a:spcPts val="0"/>
              </a:spcAft>
              <a:defRPr/>
            </a:pPr>
            <a:r>
              <a:rPr lang="en-US" dirty="0"/>
              <a:t>A collection of small items can provide a detailed picture.</a:t>
            </a:r>
          </a:p>
          <a:p>
            <a:pPr eaLnBrk="1" fontAlgn="auto" hangingPunct="1">
              <a:spcAft>
                <a:spcPts val="0"/>
              </a:spcAft>
              <a:defRPr/>
            </a:pPr>
            <a:r>
              <a:rPr lang="en-US" dirty="0"/>
              <a:t>Re-identification has become much easier due to the quantity of information and power of data search and analysis tools.</a:t>
            </a:r>
          </a:p>
          <a:p>
            <a:pPr eaLnBrk="1" fontAlgn="auto" hangingPunct="1">
              <a:spcAft>
                <a:spcPts val="0"/>
              </a:spcAft>
              <a:defRPr/>
            </a:pPr>
            <a:r>
              <a:rPr lang="en-US" dirty="0"/>
              <a:t>If information is on a public Web site, it is available to everyone.</a:t>
            </a:r>
          </a:p>
          <a:p>
            <a:pPr lvl="1" eaLnBrk="1" fontAlgn="auto" hangingPunct="1">
              <a:spcAft>
                <a:spcPts val="0"/>
              </a:spcAft>
              <a:defRPr/>
            </a:pPr>
            <a:endParaRPr lang="en-US" dirty="0"/>
          </a:p>
          <a:p>
            <a:pPr eaLnBrk="1" fontAlgn="auto" hangingPunct="1">
              <a:spcAft>
                <a:spcPts val="0"/>
              </a:spcAft>
              <a:defRPr/>
            </a:pPr>
            <a:endParaRPr lang="en-US" dirty="0"/>
          </a:p>
        </p:txBody>
      </p:sp>
      <p:sp>
        <p:nvSpPr>
          <p:cNvPr id="41986" name="Rectangle 2">
            <a:extLst>
              <a:ext uri="{FF2B5EF4-FFF2-40B4-BE49-F238E27FC236}">
                <a16:creationId xmlns:a16="http://schemas.microsoft.com/office/drawing/2014/main" id="{BB49B1FF-CFA5-7F9F-D346-3AA2FF7B371B}"/>
              </a:ext>
            </a:extLst>
          </p:cNvPr>
          <p:cNvSpPr>
            <a:spLocks noGrp="1" noChangeArrowheads="1"/>
          </p:cNvSpPr>
          <p:nvPr>
            <p:ph type="title"/>
          </p:nvPr>
        </p:nvSpPr>
        <p:spPr/>
        <p:txBody>
          <a:bodyPr/>
          <a:lstStyle/>
          <a:p>
            <a:pPr eaLnBrk="1" fontAlgn="auto" hangingPunct="1">
              <a:spcAft>
                <a:spcPts val="0"/>
              </a:spcAft>
              <a:defRPr/>
            </a:pPr>
            <a:r>
              <a:rPr lang="en-US" dirty="0"/>
              <a:t>Privacy Risks and Principles (7)</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3">
            <a:extLst>
              <a:ext uri="{FF2B5EF4-FFF2-40B4-BE49-F238E27FC236}">
                <a16:creationId xmlns:a16="http://schemas.microsoft.com/office/drawing/2014/main" id="{FDB821E7-DBF7-76E3-9F63-29DFF295EAFD}"/>
              </a:ext>
            </a:extLst>
          </p:cNvPr>
          <p:cNvSpPr>
            <a:spLocks noGrp="1" noChangeArrowheads="1"/>
          </p:cNvSpPr>
          <p:nvPr>
            <p:ph idx="1"/>
          </p:nvPr>
        </p:nvSpPr>
        <p:spPr>
          <a:xfrm>
            <a:off x="1219200" y="1371600"/>
            <a:ext cx="7772400" cy="4876800"/>
          </a:xfrm>
        </p:spPr>
        <p:txBody>
          <a:bodyPr rtlCol="0">
            <a:normAutofit fontScale="92500"/>
          </a:bodyPr>
          <a:lstStyle/>
          <a:p>
            <a:pPr eaLnBrk="1" fontAlgn="auto" hangingPunct="1">
              <a:spcAft>
                <a:spcPts val="0"/>
              </a:spcAft>
              <a:buFontTx/>
              <a:buNone/>
              <a:defRPr/>
            </a:pPr>
            <a:r>
              <a:rPr lang="en-US" dirty="0"/>
              <a:t>New Technology, New Risks – Summary of Risks</a:t>
            </a:r>
          </a:p>
          <a:p>
            <a:pPr eaLnBrk="1" fontAlgn="auto" hangingPunct="1">
              <a:spcAft>
                <a:spcPts val="0"/>
              </a:spcAft>
              <a:buFontTx/>
              <a:buNone/>
              <a:defRPr/>
            </a:pPr>
            <a:r>
              <a:rPr lang="en-US" dirty="0"/>
              <a:t>(cont.):</a:t>
            </a:r>
          </a:p>
          <a:p>
            <a:pPr eaLnBrk="1" fontAlgn="auto" hangingPunct="1">
              <a:spcAft>
                <a:spcPts val="0"/>
              </a:spcAft>
              <a:defRPr/>
            </a:pPr>
            <a:r>
              <a:rPr lang="en-US" dirty="0"/>
              <a:t>Information on the Internet seems to last forever.</a:t>
            </a:r>
          </a:p>
          <a:p>
            <a:pPr eaLnBrk="1" fontAlgn="auto" hangingPunct="1">
              <a:spcAft>
                <a:spcPts val="0"/>
              </a:spcAft>
              <a:defRPr/>
            </a:pPr>
            <a:r>
              <a:rPr lang="en-US" dirty="0"/>
              <a:t>Data collected for one purpose will find other uses.</a:t>
            </a:r>
          </a:p>
          <a:p>
            <a:pPr eaLnBrk="1" fontAlgn="auto" hangingPunct="1">
              <a:spcAft>
                <a:spcPts val="0"/>
              </a:spcAft>
              <a:defRPr/>
            </a:pPr>
            <a:r>
              <a:rPr lang="en-US" dirty="0"/>
              <a:t>Government can request sensitive personal data held by businesses or organizations.</a:t>
            </a:r>
          </a:p>
          <a:p>
            <a:pPr eaLnBrk="1" fontAlgn="auto" hangingPunct="1">
              <a:spcAft>
                <a:spcPts val="0"/>
              </a:spcAft>
              <a:defRPr/>
            </a:pPr>
            <a:r>
              <a:rPr lang="en-US" dirty="0"/>
              <a:t>We cannot directly protect information about ourselves. We depend upon businesses and organizations to protect it.</a:t>
            </a:r>
          </a:p>
          <a:p>
            <a:pPr lvl="1" eaLnBrk="1" fontAlgn="auto" hangingPunct="1">
              <a:spcAft>
                <a:spcPts val="0"/>
              </a:spcAft>
              <a:defRPr/>
            </a:pPr>
            <a:endParaRPr lang="en-US" dirty="0"/>
          </a:p>
          <a:p>
            <a:pPr eaLnBrk="1" fontAlgn="auto" hangingPunct="1">
              <a:spcAft>
                <a:spcPts val="0"/>
              </a:spcAft>
              <a:defRPr/>
            </a:pPr>
            <a:endParaRPr lang="en-US" dirty="0"/>
          </a:p>
        </p:txBody>
      </p:sp>
      <p:sp>
        <p:nvSpPr>
          <p:cNvPr id="41986" name="Rectangle 2">
            <a:extLst>
              <a:ext uri="{FF2B5EF4-FFF2-40B4-BE49-F238E27FC236}">
                <a16:creationId xmlns:a16="http://schemas.microsoft.com/office/drawing/2014/main" id="{A50D53CD-366E-4B7E-90E4-6ACCFE1A009B}"/>
              </a:ext>
            </a:extLst>
          </p:cNvPr>
          <p:cNvSpPr>
            <a:spLocks noGrp="1" noChangeArrowheads="1"/>
          </p:cNvSpPr>
          <p:nvPr>
            <p:ph type="title"/>
          </p:nvPr>
        </p:nvSpPr>
        <p:spPr/>
        <p:txBody>
          <a:bodyPr/>
          <a:lstStyle/>
          <a:p>
            <a:pPr eaLnBrk="1" fontAlgn="auto" hangingPunct="1">
              <a:spcAft>
                <a:spcPts val="0"/>
              </a:spcAft>
              <a:defRPr/>
            </a:pPr>
            <a:r>
              <a:rPr lang="en-US" dirty="0"/>
              <a:t>Privacy Risks and Principles (8)</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F509C37-85AE-4B87-AFD6-01D0B73D0AFE}"/>
              </a:ext>
            </a:extLst>
          </p:cNvPr>
          <p:cNvSpPr>
            <a:spLocks noGrp="1"/>
          </p:cNvSpPr>
          <p:nvPr>
            <p:ph idx="1"/>
          </p:nvPr>
        </p:nvSpPr>
        <p:spPr/>
        <p:txBody>
          <a:bodyPr rtlCol="0">
            <a:normAutofit/>
          </a:bodyPr>
          <a:lstStyle/>
          <a:p>
            <a:pPr marL="0" indent="0" eaLnBrk="1" fontAlgn="auto" hangingPunct="1">
              <a:spcAft>
                <a:spcPts val="0"/>
              </a:spcAft>
              <a:buFont typeface="Wingdings" pitchFamily="2" charset="2"/>
              <a:buNone/>
              <a:defRPr/>
            </a:pPr>
            <a:r>
              <a:rPr lang="en-US" dirty="0"/>
              <a:t>Fair information principles</a:t>
            </a:r>
          </a:p>
          <a:p>
            <a:pPr marL="514350" indent="-514350" eaLnBrk="1" fontAlgn="auto" hangingPunct="1">
              <a:spcAft>
                <a:spcPts val="0"/>
              </a:spcAft>
              <a:buClr>
                <a:schemeClr val="bg1">
                  <a:lumMod val="50000"/>
                </a:schemeClr>
              </a:buClr>
              <a:buFont typeface="+mj-lt"/>
              <a:buAutoNum type="arabicPeriod"/>
              <a:defRPr/>
            </a:pPr>
            <a:r>
              <a:rPr lang="en-US" dirty="0"/>
              <a:t>Inform people when you collect information.</a:t>
            </a:r>
          </a:p>
          <a:p>
            <a:pPr marL="514350" indent="-514350" eaLnBrk="1" fontAlgn="auto" hangingPunct="1">
              <a:spcAft>
                <a:spcPts val="0"/>
              </a:spcAft>
              <a:buClr>
                <a:schemeClr val="bg1">
                  <a:lumMod val="50000"/>
                </a:schemeClr>
              </a:buClr>
              <a:buFont typeface="+mj-lt"/>
              <a:buAutoNum type="arabicPeriod"/>
              <a:defRPr/>
            </a:pPr>
            <a:r>
              <a:rPr lang="en-US" dirty="0"/>
              <a:t>Collect only the data needed.</a:t>
            </a:r>
          </a:p>
          <a:p>
            <a:pPr marL="514350" indent="-514350" eaLnBrk="1" fontAlgn="auto" hangingPunct="1">
              <a:spcAft>
                <a:spcPts val="0"/>
              </a:spcAft>
              <a:buClr>
                <a:schemeClr val="bg1">
                  <a:lumMod val="50000"/>
                </a:schemeClr>
              </a:buClr>
              <a:buFont typeface="+mj-lt"/>
              <a:buAutoNum type="arabicPeriod"/>
              <a:defRPr/>
            </a:pPr>
            <a:r>
              <a:rPr lang="en-US" dirty="0"/>
              <a:t>Offer a way for people to opt out.</a:t>
            </a:r>
          </a:p>
          <a:p>
            <a:pPr marL="514350" indent="-514350" eaLnBrk="1" fontAlgn="auto" hangingPunct="1">
              <a:spcAft>
                <a:spcPts val="0"/>
              </a:spcAft>
              <a:buClr>
                <a:schemeClr val="bg1">
                  <a:lumMod val="50000"/>
                </a:schemeClr>
              </a:buClr>
              <a:buFont typeface="+mj-lt"/>
              <a:buAutoNum type="arabicPeriod"/>
              <a:defRPr/>
            </a:pPr>
            <a:r>
              <a:rPr lang="en-US" dirty="0"/>
              <a:t>Keep data only as long as needed.</a:t>
            </a:r>
          </a:p>
          <a:p>
            <a:pPr marL="514350" indent="-514350" eaLnBrk="1" fontAlgn="auto" hangingPunct="1">
              <a:spcAft>
                <a:spcPts val="0"/>
              </a:spcAft>
              <a:buClr>
                <a:schemeClr val="bg1">
                  <a:lumMod val="50000"/>
                </a:schemeClr>
              </a:buClr>
              <a:buFont typeface="+mj-lt"/>
              <a:buAutoNum type="arabicPeriod"/>
              <a:defRPr/>
            </a:pPr>
            <a:r>
              <a:rPr lang="en-US" dirty="0"/>
              <a:t>Maintain accuracy of data.</a:t>
            </a:r>
          </a:p>
          <a:p>
            <a:pPr marL="514350" indent="-514350" eaLnBrk="1" fontAlgn="auto" hangingPunct="1">
              <a:spcAft>
                <a:spcPts val="0"/>
              </a:spcAft>
              <a:buClr>
                <a:schemeClr val="bg1">
                  <a:lumMod val="50000"/>
                </a:schemeClr>
              </a:buClr>
              <a:buFont typeface="+mj-lt"/>
              <a:buAutoNum type="arabicPeriod"/>
              <a:defRPr/>
            </a:pPr>
            <a:r>
              <a:rPr lang="en-US" dirty="0"/>
              <a:t>Protect security of data.</a:t>
            </a:r>
          </a:p>
          <a:p>
            <a:pPr marL="514350" indent="-514350" eaLnBrk="1" fontAlgn="auto" hangingPunct="1">
              <a:spcAft>
                <a:spcPts val="0"/>
              </a:spcAft>
              <a:buClr>
                <a:schemeClr val="bg1">
                  <a:lumMod val="50000"/>
                </a:schemeClr>
              </a:buClr>
              <a:buFont typeface="+mj-lt"/>
              <a:buAutoNum type="arabicPeriod"/>
              <a:defRPr/>
            </a:pPr>
            <a:r>
              <a:rPr lang="en-US" dirty="0"/>
              <a:t>Develop policies for responding to law enforcement requests for data.</a:t>
            </a:r>
          </a:p>
        </p:txBody>
      </p:sp>
      <p:sp>
        <p:nvSpPr>
          <p:cNvPr id="3" name="Title 2">
            <a:extLst>
              <a:ext uri="{FF2B5EF4-FFF2-40B4-BE49-F238E27FC236}">
                <a16:creationId xmlns:a16="http://schemas.microsoft.com/office/drawing/2014/main" id="{A9B8B162-B0F6-34DA-CA36-B4422F168F35}"/>
              </a:ext>
            </a:extLst>
          </p:cNvPr>
          <p:cNvSpPr>
            <a:spLocks noGrp="1"/>
          </p:cNvSpPr>
          <p:nvPr>
            <p:ph type="title"/>
          </p:nvPr>
        </p:nvSpPr>
        <p:spPr/>
        <p:txBody>
          <a:bodyPr/>
          <a:lstStyle/>
          <a:p>
            <a:pPr eaLnBrk="1" fontAlgn="auto" hangingPunct="1">
              <a:spcAft>
                <a:spcPts val="0"/>
              </a:spcAft>
              <a:defRPr/>
            </a:pPr>
            <a:r>
              <a:rPr lang="en-US" dirty="0"/>
              <a:t>Privacy Risks and Principles (9)</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2">
            <a:extLst>
              <a:ext uri="{FF2B5EF4-FFF2-40B4-BE49-F238E27FC236}">
                <a16:creationId xmlns:a16="http://schemas.microsoft.com/office/drawing/2014/main" id="{116C9400-8196-61F8-34A0-AF42800A6211}"/>
              </a:ext>
            </a:extLst>
          </p:cNvPr>
          <p:cNvSpPr>
            <a:spLocks noGrp="1" noChangeArrowheads="1"/>
          </p:cNvSpPr>
          <p:nvPr>
            <p:ph type="title"/>
          </p:nvPr>
        </p:nvSpPr>
        <p:spPr>
          <a:xfrm>
            <a:off x="1524000" y="533400"/>
            <a:ext cx="5788496" cy="914400"/>
          </a:xfrm>
        </p:spPr>
        <p:txBody>
          <a:bodyPr/>
          <a:lstStyle/>
          <a:p>
            <a:pPr eaLnBrk="1" hangingPunct="1"/>
            <a:r>
              <a:rPr lang="en-US" altLang="en-US" sz="4000" dirty="0">
                <a:latin typeface="+mn-lt"/>
              </a:rPr>
              <a:t>Whose Law Rule the Web?</a:t>
            </a:r>
          </a:p>
        </p:txBody>
      </p:sp>
      <p:sp>
        <p:nvSpPr>
          <p:cNvPr id="26628" name="Rectangle 3">
            <a:extLst>
              <a:ext uri="{FF2B5EF4-FFF2-40B4-BE49-F238E27FC236}">
                <a16:creationId xmlns:a16="http://schemas.microsoft.com/office/drawing/2014/main" id="{3F29472C-0509-EFF5-507D-ECAF757C1FCF}"/>
              </a:ext>
            </a:extLst>
          </p:cNvPr>
          <p:cNvSpPr>
            <a:spLocks noGrp="1" noChangeArrowheads="1"/>
          </p:cNvSpPr>
          <p:nvPr>
            <p:ph type="body" idx="1"/>
          </p:nvPr>
        </p:nvSpPr>
        <p:spPr>
          <a:xfrm>
            <a:off x="533400" y="2362200"/>
            <a:ext cx="8229600" cy="1905000"/>
          </a:xfrm>
        </p:spPr>
        <p:txBody>
          <a:bodyPr/>
          <a:lstStyle/>
          <a:p>
            <a:pPr eaLnBrk="1" hangingPunct="1">
              <a:lnSpc>
                <a:spcPct val="80000"/>
              </a:lnSpc>
            </a:pPr>
            <a:r>
              <a:rPr lang="en-US" altLang="en-US" dirty="0"/>
              <a:t>Different countries have different law ruling the Web</a:t>
            </a:r>
          </a:p>
          <a:p>
            <a:pPr eaLnBrk="1" hangingPunct="1">
              <a:lnSpc>
                <a:spcPct val="80000"/>
              </a:lnSpc>
            </a:pPr>
            <a:r>
              <a:rPr lang="en-US" altLang="en-US" dirty="0"/>
              <a:t>Some countries ban all or certain types of access to the Internet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3">
            <a:extLst>
              <a:ext uri="{FF2B5EF4-FFF2-40B4-BE49-F238E27FC236}">
                <a16:creationId xmlns:a16="http://schemas.microsoft.com/office/drawing/2014/main" id="{B0CF1EEA-F042-64B8-180A-1DFAC70CFC1E}"/>
              </a:ext>
            </a:extLst>
          </p:cNvPr>
          <p:cNvSpPr>
            <a:spLocks noGrp="1" noChangeArrowheads="1"/>
          </p:cNvSpPr>
          <p:nvPr>
            <p:ph idx="1"/>
          </p:nvPr>
        </p:nvSpPr>
        <p:spPr/>
        <p:txBody>
          <a:bodyPr rtlCol="0">
            <a:normAutofit/>
          </a:bodyPr>
          <a:lstStyle/>
          <a:p>
            <a:pPr marL="0" indent="0" eaLnBrk="1" fontAlgn="auto" hangingPunct="1">
              <a:spcAft>
                <a:spcPts val="0"/>
              </a:spcAft>
              <a:buFont typeface="Wingdings" pitchFamily="2" charset="2"/>
              <a:buNone/>
              <a:defRPr/>
            </a:pPr>
            <a:r>
              <a:rPr lang="en-US" sz="2400" i="1" dirty="0">
                <a:latin typeface="Times New Roman" pitchFamily="18" charset="0"/>
                <a:cs typeface="Times New Roman" pitchFamily="18" charset="0"/>
              </a:rPr>
              <a:t>The right of the people to be secure in their person, houses, papers, and effects, against unreasonable searches and seizures, shall not be violated, and no Warrants shall issue, but upon probable cause, supported by Oath or affirmation, and particularly describing the place to be searched, and the persons or things to be seized.</a:t>
            </a:r>
          </a:p>
          <a:p>
            <a:pPr marL="0" indent="0" algn="r" eaLnBrk="1" fontAlgn="auto" hangingPunct="1">
              <a:spcAft>
                <a:spcPts val="0"/>
              </a:spcAft>
              <a:buFont typeface="Wingdings" pitchFamily="2" charset="2"/>
              <a:buNone/>
              <a:defRPr/>
            </a:pPr>
            <a:r>
              <a:rPr lang="en-US" sz="2400" dirty="0"/>
              <a:t>—4</a:t>
            </a:r>
            <a:r>
              <a:rPr lang="en-US" sz="2400" baseline="30000" dirty="0"/>
              <a:t>th</a:t>
            </a:r>
            <a:r>
              <a:rPr lang="en-US" sz="2400" dirty="0"/>
              <a:t> Amendment, U.S. Constitution </a:t>
            </a:r>
          </a:p>
        </p:txBody>
      </p:sp>
      <p:sp>
        <p:nvSpPr>
          <p:cNvPr id="52226" name="Rectangle 2">
            <a:extLst>
              <a:ext uri="{FF2B5EF4-FFF2-40B4-BE49-F238E27FC236}">
                <a16:creationId xmlns:a16="http://schemas.microsoft.com/office/drawing/2014/main" id="{5528BFFF-4E7C-0F85-7273-3BE8945984DA}"/>
              </a:ext>
            </a:extLst>
          </p:cNvPr>
          <p:cNvSpPr>
            <a:spLocks noGrp="1" noChangeArrowheads="1"/>
          </p:cNvSpPr>
          <p:nvPr>
            <p:ph type="title"/>
          </p:nvPr>
        </p:nvSpPr>
        <p:spPr>
          <a:xfrm>
            <a:off x="1219200" y="228600"/>
            <a:ext cx="7772400" cy="1143000"/>
          </a:xfrm>
        </p:spPr>
        <p:txBody>
          <a:bodyPr/>
          <a:lstStyle/>
          <a:p>
            <a:pPr eaLnBrk="1" fontAlgn="auto" hangingPunct="1">
              <a:spcAft>
                <a:spcPts val="0"/>
              </a:spcAft>
              <a:defRPr/>
            </a:pPr>
            <a:r>
              <a:rPr lang="en-US" dirty="0"/>
              <a:t>The US Fourth Amendment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3">
            <a:extLst>
              <a:ext uri="{FF2B5EF4-FFF2-40B4-BE49-F238E27FC236}">
                <a16:creationId xmlns:a16="http://schemas.microsoft.com/office/drawing/2014/main" id="{851B7846-8458-B79F-5F0A-8982ED0CF5D5}"/>
              </a:ext>
            </a:extLst>
          </p:cNvPr>
          <p:cNvSpPr>
            <a:spLocks noGrp="1" noChangeArrowheads="1"/>
          </p:cNvSpPr>
          <p:nvPr>
            <p:ph idx="1"/>
          </p:nvPr>
        </p:nvSpPr>
        <p:spPr/>
        <p:txBody>
          <a:bodyPr rtlCol="0">
            <a:normAutofit/>
          </a:bodyPr>
          <a:lstStyle/>
          <a:p>
            <a:pPr eaLnBrk="1" fontAlgn="auto" hangingPunct="1">
              <a:spcAft>
                <a:spcPts val="0"/>
              </a:spcAft>
              <a:defRPr/>
            </a:pPr>
            <a:r>
              <a:rPr lang="en-US" i="1" dirty="0"/>
              <a:t>Olmstead v. United States </a:t>
            </a:r>
            <a:r>
              <a:rPr lang="en-US" dirty="0"/>
              <a:t>(1928)</a:t>
            </a:r>
          </a:p>
          <a:p>
            <a:pPr lvl="1" eaLnBrk="1" fontAlgn="auto" hangingPunct="1">
              <a:spcAft>
                <a:spcPts val="0"/>
              </a:spcAft>
              <a:defRPr/>
            </a:pPr>
            <a:r>
              <a:rPr lang="en-US" b="1" i="1" dirty="0">
                <a:solidFill>
                  <a:srgbClr val="FF0000"/>
                </a:solidFill>
              </a:rPr>
              <a:t>Supreme Court allowed the use of wiretaps on telephone lines without a court order.</a:t>
            </a:r>
          </a:p>
          <a:p>
            <a:pPr lvl="1" eaLnBrk="1" fontAlgn="auto" hangingPunct="1">
              <a:spcAft>
                <a:spcPts val="0"/>
              </a:spcAft>
              <a:defRPr/>
            </a:pPr>
            <a:r>
              <a:rPr lang="en-US" dirty="0"/>
              <a:t>Interpreted the Fourth Amendment to apply only to physical intrusion and only to the search or seizure of material things, not conversations. </a:t>
            </a:r>
          </a:p>
          <a:p>
            <a:pPr lvl="1" eaLnBrk="1" fontAlgn="auto" hangingPunct="1">
              <a:spcAft>
                <a:spcPts val="0"/>
              </a:spcAft>
              <a:defRPr/>
            </a:pPr>
            <a:endParaRPr lang="en-US" sz="3200" i="1" dirty="0"/>
          </a:p>
        </p:txBody>
      </p:sp>
      <p:sp>
        <p:nvSpPr>
          <p:cNvPr id="52226" name="Rectangle 2">
            <a:extLst>
              <a:ext uri="{FF2B5EF4-FFF2-40B4-BE49-F238E27FC236}">
                <a16:creationId xmlns:a16="http://schemas.microsoft.com/office/drawing/2014/main" id="{5FBCFA29-541A-391B-761E-338F40D9489A}"/>
              </a:ext>
            </a:extLst>
          </p:cNvPr>
          <p:cNvSpPr>
            <a:spLocks noGrp="1" noChangeArrowheads="1"/>
          </p:cNvSpPr>
          <p:nvPr>
            <p:ph type="title"/>
          </p:nvPr>
        </p:nvSpPr>
        <p:spPr>
          <a:xfrm>
            <a:off x="1219200" y="228600"/>
            <a:ext cx="7772400" cy="1143000"/>
          </a:xfrm>
        </p:spPr>
        <p:txBody>
          <a:bodyPr>
            <a:normAutofit fontScale="90000"/>
          </a:bodyPr>
          <a:lstStyle/>
          <a:p>
            <a:pPr eaLnBrk="1" fontAlgn="auto" hangingPunct="1">
              <a:spcAft>
                <a:spcPts val="0"/>
              </a:spcAft>
              <a:defRPr/>
            </a:pPr>
            <a:r>
              <a:rPr lang="en-US" dirty="0"/>
              <a:t>US Supreme Court Decisions and Expectation of Privacy (1)</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3">
            <a:extLst>
              <a:ext uri="{FF2B5EF4-FFF2-40B4-BE49-F238E27FC236}">
                <a16:creationId xmlns:a16="http://schemas.microsoft.com/office/drawing/2014/main" id="{C2F9CD9D-4802-B23B-7FA2-667BC8E698FA}"/>
              </a:ext>
            </a:extLst>
          </p:cNvPr>
          <p:cNvSpPr>
            <a:spLocks noGrp="1" noChangeArrowheads="1"/>
          </p:cNvSpPr>
          <p:nvPr>
            <p:ph idx="1"/>
          </p:nvPr>
        </p:nvSpPr>
        <p:spPr/>
        <p:txBody>
          <a:bodyPr rtlCol="0">
            <a:normAutofit/>
          </a:bodyPr>
          <a:lstStyle/>
          <a:p>
            <a:pPr eaLnBrk="1" fontAlgn="auto" hangingPunct="1">
              <a:spcAft>
                <a:spcPts val="0"/>
              </a:spcAft>
              <a:defRPr/>
            </a:pPr>
            <a:r>
              <a:rPr lang="en-US" i="1" dirty="0"/>
              <a:t>Katz v United States </a:t>
            </a:r>
            <a:r>
              <a:rPr lang="en-US" dirty="0"/>
              <a:t>(1967)</a:t>
            </a:r>
          </a:p>
          <a:p>
            <a:pPr lvl="1" eaLnBrk="1" fontAlgn="auto" hangingPunct="1">
              <a:spcAft>
                <a:spcPts val="0"/>
              </a:spcAft>
              <a:defRPr/>
            </a:pPr>
            <a:r>
              <a:rPr lang="en-US" b="1" i="1" dirty="0">
                <a:solidFill>
                  <a:srgbClr val="FF0000"/>
                </a:solidFill>
              </a:rPr>
              <a:t>Supreme Court reversed its position and </a:t>
            </a:r>
            <a:br>
              <a:rPr lang="en-US" b="1" i="1" dirty="0">
                <a:solidFill>
                  <a:srgbClr val="FF0000"/>
                </a:solidFill>
              </a:rPr>
            </a:br>
            <a:r>
              <a:rPr lang="en-US" b="1" i="1" dirty="0">
                <a:solidFill>
                  <a:srgbClr val="FF0000"/>
                </a:solidFill>
              </a:rPr>
              <a:t>ruled that the Fourth Amendment does apply to conversations. </a:t>
            </a:r>
          </a:p>
          <a:p>
            <a:pPr lvl="1" eaLnBrk="1" fontAlgn="auto" hangingPunct="1">
              <a:spcAft>
                <a:spcPts val="0"/>
              </a:spcAft>
              <a:defRPr/>
            </a:pPr>
            <a:r>
              <a:rPr lang="en-US" dirty="0"/>
              <a:t>Court said that the Fourth Amendment protects people, not places. To intrude in a place where reasonable person has a reasonable expectation of privacy requires a court order.</a:t>
            </a:r>
          </a:p>
          <a:p>
            <a:pPr lvl="1" eaLnBrk="1" fontAlgn="auto" hangingPunct="1">
              <a:spcAft>
                <a:spcPts val="0"/>
              </a:spcAft>
              <a:defRPr/>
            </a:pPr>
            <a:endParaRPr lang="en-US" i="1" dirty="0"/>
          </a:p>
        </p:txBody>
      </p:sp>
      <p:sp>
        <p:nvSpPr>
          <p:cNvPr id="52226" name="Rectangle 2">
            <a:extLst>
              <a:ext uri="{FF2B5EF4-FFF2-40B4-BE49-F238E27FC236}">
                <a16:creationId xmlns:a16="http://schemas.microsoft.com/office/drawing/2014/main" id="{F5EE063E-AA9B-9108-C8CA-46ABBCC18937}"/>
              </a:ext>
            </a:extLst>
          </p:cNvPr>
          <p:cNvSpPr>
            <a:spLocks noGrp="1" noChangeArrowheads="1"/>
          </p:cNvSpPr>
          <p:nvPr>
            <p:ph type="title"/>
          </p:nvPr>
        </p:nvSpPr>
        <p:spPr>
          <a:xfrm>
            <a:off x="1219200" y="228600"/>
            <a:ext cx="7772400" cy="1143000"/>
          </a:xfrm>
        </p:spPr>
        <p:txBody>
          <a:bodyPr>
            <a:normAutofit fontScale="90000"/>
          </a:bodyPr>
          <a:lstStyle/>
          <a:p>
            <a:pPr eaLnBrk="1" fontAlgn="auto" hangingPunct="1">
              <a:spcAft>
                <a:spcPts val="0"/>
              </a:spcAft>
              <a:defRPr/>
            </a:pPr>
            <a:r>
              <a:rPr lang="en-US" dirty="0"/>
              <a:t>US Supreme Court Decisions and Expectation of Privacy (2)</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3">
            <a:extLst>
              <a:ext uri="{FF2B5EF4-FFF2-40B4-BE49-F238E27FC236}">
                <a16:creationId xmlns:a16="http://schemas.microsoft.com/office/drawing/2014/main" id="{C19805F9-8A22-35A0-9C1B-D8898A71A3AD}"/>
              </a:ext>
            </a:extLst>
          </p:cNvPr>
          <p:cNvSpPr>
            <a:spLocks noGrp="1" noChangeArrowheads="1"/>
          </p:cNvSpPr>
          <p:nvPr>
            <p:ph idx="1"/>
          </p:nvPr>
        </p:nvSpPr>
        <p:spPr/>
        <p:txBody>
          <a:bodyPr rtlCol="0">
            <a:normAutofit lnSpcReduction="10000"/>
          </a:bodyPr>
          <a:lstStyle/>
          <a:p>
            <a:pPr eaLnBrk="1" fontAlgn="auto" hangingPunct="1">
              <a:spcAft>
                <a:spcPts val="0"/>
              </a:spcAft>
              <a:defRPr/>
            </a:pPr>
            <a:r>
              <a:rPr lang="en-US" i="1" dirty="0" err="1"/>
              <a:t>Kyllo</a:t>
            </a:r>
            <a:r>
              <a:rPr lang="en-US" i="1" dirty="0"/>
              <a:t> v United States </a:t>
            </a:r>
            <a:r>
              <a:rPr lang="en-US" dirty="0"/>
              <a:t>(2001)</a:t>
            </a:r>
            <a:endParaRPr lang="en-US" i="1" dirty="0"/>
          </a:p>
          <a:p>
            <a:pPr lvl="1" eaLnBrk="1" fontAlgn="auto" hangingPunct="1">
              <a:spcAft>
                <a:spcPts val="0"/>
              </a:spcAft>
              <a:defRPr/>
            </a:pPr>
            <a:r>
              <a:rPr lang="en-US" b="1" i="1" dirty="0">
                <a:solidFill>
                  <a:srgbClr val="FF0000"/>
                </a:solidFill>
              </a:rPr>
              <a:t>Supreme Court ruled that police could not use thermal-imaging devices to search a home from the outside without a search warrant. </a:t>
            </a:r>
          </a:p>
          <a:p>
            <a:pPr lvl="1" eaLnBrk="1" fontAlgn="auto" hangingPunct="1">
              <a:spcAft>
                <a:spcPts val="0"/>
              </a:spcAft>
              <a:defRPr/>
            </a:pPr>
            <a:r>
              <a:rPr lang="en-US" dirty="0"/>
              <a:t>Court stated that where “government uses a device that is not in general public use, to explore details of the home that would previously have been unknowable without physical intrusion, the surveillance is a ‘search.’”</a:t>
            </a:r>
          </a:p>
          <a:p>
            <a:pPr lvl="1" eaLnBrk="1" fontAlgn="auto" hangingPunct="1">
              <a:spcAft>
                <a:spcPts val="0"/>
              </a:spcAft>
              <a:defRPr/>
            </a:pPr>
            <a:endParaRPr lang="en-US" dirty="0"/>
          </a:p>
          <a:p>
            <a:pPr lvl="1" eaLnBrk="1" fontAlgn="auto" hangingPunct="1">
              <a:spcAft>
                <a:spcPts val="0"/>
              </a:spcAft>
              <a:defRPr/>
            </a:pPr>
            <a:endParaRPr lang="en-US" i="1" dirty="0"/>
          </a:p>
        </p:txBody>
      </p:sp>
      <p:sp>
        <p:nvSpPr>
          <p:cNvPr id="52226" name="Rectangle 2">
            <a:extLst>
              <a:ext uri="{FF2B5EF4-FFF2-40B4-BE49-F238E27FC236}">
                <a16:creationId xmlns:a16="http://schemas.microsoft.com/office/drawing/2014/main" id="{FAB41385-F17C-50B0-3483-12A49C78D9B2}"/>
              </a:ext>
            </a:extLst>
          </p:cNvPr>
          <p:cNvSpPr>
            <a:spLocks noGrp="1" noChangeArrowheads="1"/>
          </p:cNvSpPr>
          <p:nvPr>
            <p:ph type="title"/>
          </p:nvPr>
        </p:nvSpPr>
        <p:spPr>
          <a:xfrm>
            <a:off x="1219200" y="228600"/>
            <a:ext cx="7772400" cy="1143000"/>
          </a:xfrm>
        </p:spPr>
        <p:txBody>
          <a:bodyPr>
            <a:normAutofit fontScale="90000"/>
          </a:bodyPr>
          <a:lstStyle/>
          <a:p>
            <a:pPr eaLnBrk="1" fontAlgn="auto" hangingPunct="1">
              <a:spcAft>
                <a:spcPts val="0"/>
              </a:spcAft>
              <a:defRPr/>
            </a:pPr>
            <a:r>
              <a:rPr lang="en-US" dirty="0"/>
              <a:t>Supreme Court Decisions and Expectation of Privacy (3)</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D35E5CB5-0F4F-7956-B69A-18A6654FE29E}"/>
              </a:ext>
            </a:extLst>
          </p:cNvPr>
          <p:cNvSpPr>
            <a:spLocks noGrp="1" noChangeArrowheads="1"/>
          </p:cNvSpPr>
          <p:nvPr>
            <p:ph type="title"/>
          </p:nvPr>
        </p:nvSpPr>
        <p:spPr>
          <a:xfrm>
            <a:off x="723900" y="476250"/>
            <a:ext cx="7696200" cy="1143000"/>
          </a:xfrm>
        </p:spPr>
        <p:txBody>
          <a:bodyPr>
            <a:normAutofit fontScale="90000"/>
          </a:bodyPr>
          <a:lstStyle/>
          <a:p>
            <a:pPr eaLnBrk="1" hangingPunct="1">
              <a:defRPr/>
            </a:pPr>
            <a:r>
              <a:rPr lang="en-GB" altLang="en-US" dirty="0">
                <a:latin typeface="+mn-lt"/>
              </a:rPr>
              <a:t>The law in the UK - </a:t>
            </a:r>
            <a:r>
              <a:rPr lang="en-GB" sz="3600" dirty="0">
                <a:solidFill>
                  <a:srgbClr val="FF0000"/>
                </a:solidFill>
                <a:latin typeface="+mn-lt"/>
              </a:rPr>
              <a:t>The Computer Misuse Act 1990 </a:t>
            </a:r>
            <a:endParaRPr lang="en-GB" altLang="en-US" dirty="0">
              <a:solidFill>
                <a:srgbClr val="FF0000"/>
              </a:solidFill>
              <a:latin typeface="+mn-lt"/>
            </a:endParaRPr>
          </a:p>
        </p:txBody>
      </p:sp>
      <p:sp>
        <p:nvSpPr>
          <p:cNvPr id="4099" name="Content Placeholder 2">
            <a:extLst>
              <a:ext uri="{FF2B5EF4-FFF2-40B4-BE49-F238E27FC236}">
                <a16:creationId xmlns:a16="http://schemas.microsoft.com/office/drawing/2014/main" id="{D3450BC2-5822-6486-26A0-0044E2B281D6}"/>
              </a:ext>
            </a:extLst>
          </p:cNvPr>
          <p:cNvSpPr>
            <a:spLocks noGrp="1"/>
          </p:cNvSpPr>
          <p:nvPr>
            <p:ph idx="1"/>
          </p:nvPr>
        </p:nvSpPr>
        <p:spPr>
          <a:xfrm>
            <a:off x="457200" y="1638742"/>
            <a:ext cx="8458200" cy="4914457"/>
          </a:xfrm>
        </p:spPr>
        <p:txBody>
          <a:bodyPr/>
          <a:lstStyle/>
          <a:p>
            <a:pPr eaLnBrk="1" hangingPunct="1">
              <a:defRPr/>
            </a:pPr>
            <a:r>
              <a:rPr lang="en-GB" sz="2000" dirty="0"/>
              <a:t>The Computer Misuse Act 1990 (CMA) is an act of the UK Parliament passed in 1990.</a:t>
            </a:r>
          </a:p>
          <a:p>
            <a:pPr eaLnBrk="1" hangingPunct="1">
              <a:defRPr/>
            </a:pPr>
            <a:r>
              <a:rPr lang="en-GB" sz="2000" dirty="0"/>
              <a:t>CMA is designed to frame legislation and controls over computer crime and Internet fraud.</a:t>
            </a:r>
          </a:p>
          <a:p>
            <a:pPr eaLnBrk="1" hangingPunct="1">
              <a:defRPr/>
            </a:pPr>
            <a:r>
              <a:rPr lang="en-GB" sz="2000" dirty="0"/>
              <a:t>The legislation criminalises unauthorised access to computer systems. </a:t>
            </a:r>
          </a:p>
          <a:p>
            <a:pPr marL="0" indent="0" eaLnBrk="1" hangingPunct="1">
              <a:buNone/>
              <a:defRPr/>
            </a:pPr>
            <a:endParaRPr lang="en-GB" sz="2000" dirty="0"/>
          </a:p>
          <a:p>
            <a:pPr eaLnBrk="1" hangingPunct="1">
              <a:defRPr/>
            </a:pPr>
            <a:r>
              <a:rPr lang="en-US" sz="2000" dirty="0"/>
              <a:t>The UK GDPR (United Kingdom General Data Protection Regulation) is the primary data protection law in the UK, governing how organizations handle personal data. It's essentially the UK's version of the EU GDPR, transposed into UK law after Brexit. The UK GDPR, along with the Data Protection Act 2018, sets out the rules and principles for processing personal data, ensuring individuals' rights and freedoms are protected</a:t>
            </a:r>
            <a:endParaRPr lang="en-GB" sz="2000" dirty="0">
              <a:solidFill>
                <a:schemeClr val="accent4"/>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a:extLst>
              <a:ext uri="{FF2B5EF4-FFF2-40B4-BE49-F238E27FC236}">
                <a16:creationId xmlns:a16="http://schemas.microsoft.com/office/drawing/2014/main" id="{273F9701-70DE-A5D8-322D-98BDFC2E0285}"/>
              </a:ext>
            </a:extLst>
          </p:cNvPr>
          <p:cNvSpPr>
            <a:spLocks noGrp="1" noChangeArrowheads="1"/>
          </p:cNvSpPr>
          <p:nvPr>
            <p:ph type="title"/>
          </p:nvPr>
        </p:nvSpPr>
        <p:spPr>
          <a:xfrm>
            <a:off x="723900" y="692150"/>
            <a:ext cx="7696200" cy="568325"/>
          </a:xfrm>
        </p:spPr>
        <p:txBody>
          <a:bodyPr>
            <a:normAutofit fontScale="90000"/>
          </a:bodyPr>
          <a:lstStyle/>
          <a:p>
            <a:pPr>
              <a:defRPr/>
            </a:pPr>
            <a:r>
              <a:rPr lang="en-GB" altLang="en-US" dirty="0">
                <a:latin typeface="+mn-lt"/>
              </a:rPr>
              <a:t>The original case: a bit of history!</a:t>
            </a:r>
          </a:p>
        </p:txBody>
      </p:sp>
      <p:sp>
        <p:nvSpPr>
          <p:cNvPr id="13315" name="Rectangle 2">
            <a:extLst>
              <a:ext uri="{FF2B5EF4-FFF2-40B4-BE49-F238E27FC236}">
                <a16:creationId xmlns:a16="http://schemas.microsoft.com/office/drawing/2014/main" id="{C71B706B-2289-DE04-087D-3FB124BE6764}"/>
              </a:ext>
            </a:extLst>
          </p:cNvPr>
          <p:cNvSpPr>
            <a:spLocks noGrp="1"/>
          </p:cNvSpPr>
          <p:nvPr>
            <p:ph idx="1"/>
          </p:nvPr>
        </p:nvSpPr>
        <p:spPr>
          <a:xfrm>
            <a:off x="323850" y="2057400"/>
            <a:ext cx="8424863" cy="3968750"/>
          </a:xfrm>
          <a:solidFill>
            <a:srgbClr val="FFFFFF"/>
          </a:solidFill>
        </p:spPr>
        <p:txBody>
          <a:bodyPr anchor="ctr">
            <a:spAutoFit/>
          </a:bodyPr>
          <a:lstStyle/>
          <a:p>
            <a:pPr>
              <a:spcBef>
                <a:spcPct val="0"/>
              </a:spcBef>
            </a:pPr>
            <a:r>
              <a:rPr lang="en-GB" altLang="en-US" sz="1400" dirty="0">
                <a:cs typeface="Arial" panose="020B0604020202020204" pitchFamily="34" charset="0"/>
              </a:rPr>
              <a:t>In / around1984 -1985, two people gained unauthorised access to a British Telecom service: using </a:t>
            </a:r>
            <a:r>
              <a:rPr lang="en-GB" altLang="en-US" sz="1400" dirty="0">
                <a:solidFill>
                  <a:srgbClr val="FF0000"/>
                </a:solidFill>
                <a:cs typeface="Arial" panose="020B0604020202020204" pitchFamily="34" charset="0"/>
              </a:rPr>
              <a:t>the password of a company engineer</a:t>
            </a:r>
            <a:r>
              <a:rPr lang="en-GB" altLang="en-US" sz="1400" dirty="0">
                <a:cs typeface="Arial" panose="020B0604020202020204" pitchFamily="34" charset="0"/>
              </a:rPr>
              <a:t>.</a:t>
            </a:r>
          </a:p>
          <a:p>
            <a:pPr>
              <a:spcBef>
                <a:spcPct val="0"/>
              </a:spcBef>
            </a:pPr>
            <a:r>
              <a:rPr lang="en-GB" altLang="en-US" sz="1400" dirty="0">
                <a:cs typeface="Arial" panose="020B0604020202020204" pitchFamily="34" charset="0"/>
              </a:rPr>
              <a:t>The pair explored the system, even gaining access to the personal message box of the </a:t>
            </a:r>
            <a:r>
              <a:rPr lang="en-GB" altLang="en-US" sz="1400" dirty="0">
                <a:solidFill>
                  <a:srgbClr val="FF0000"/>
                </a:solidFill>
                <a:cs typeface="Arial" panose="020B0604020202020204" pitchFamily="34" charset="0"/>
              </a:rPr>
              <a:t>late Prince Philip</a:t>
            </a:r>
            <a:r>
              <a:rPr lang="en-GB" altLang="en-US" sz="1400" dirty="0">
                <a:cs typeface="Arial" panose="020B0604020202020204" pitchFamily="34" charset="0"/>
              </a:rPr>
              <a:t>.</a:t>
            </a:r>
          </a:p>
          <a:p>
            <a:pPr>
              <a:spcBef>
                <a:spcPct val="0"/>
              </a:spcBef>
            </a:pPr>
            <a:endParaRPr lang="en-GB" altLang="en-US" sz="1400" dirty="0">
              <a:cs typeface="Arial" panose="020B0604020202020204" pitchFamily="34" charset="0"/>
            </a:endParaRPr>
          </a:p>
          <a:p>
            <a:pPr>
              <a:spcBef>
                <a:spcPct val="0"/>
              </a:spcBef>
            </a:pPr>
            <a:r>
              <a:rPr lang="en-GB" altLang="en-US" sz="1400" dirty="0">
                <a:cs typeface="Arial" panose="020B0604020202020204" pitchFamily="34" charset="0"/>
              </a:rPr>
              <a:t>The pair were charged under section 1 of the Forgery and Counterfeiting Act 1981 with defrauding BT by manufacturing a "false instrument", namely the internal condition of BT's equipment: the two people were originally convicted – and </a:t>
            </a:r>
            <a:r>
              <a:rPr lang="en-GB" altLang="en-US" sz="1400" dirty="0">
                <a:solidFill>
                  <a:srgbClr val="FF0000"/>
                </a:solidFill>
                <a:cs typeface="Arial" panose="020B0604020202020204" pitchFamily="34" charset="0"/>
              </a:rPr>
              <a:t>fined</a:t>
            </a:r>
            <a:r>
              <a:rPr lang="en-GB" altLang="en-US" sz="1400" dirty="0">
                <a:cs typeface="Arial" panose="020B0604020202020204" pitchFamily="34" charset="0"/>
              </a:rPr>
              <a:t>.</a:t>
            </a:r>
          </a:p>
          <a:p>
            <a:pPr>
              <a:spcBef>
                <a:spcPct val="0"/>
              </a:spcBef>
            </a:pPr>
            <a:endParaRPr lang="en-GB" altLang="en-US" sz="1400" dirty="0">
              <a:cs typeface="Arial" panose="020B0604020202020204" pitchFamily="34" charset="0"/>
            </a:endParaRPr>
          </a:p>
          <a:p>
            <a:pPr>
              <a:spcBef>
                <a:spcPct val="0"/>
              </a:spcBef>
            </a:pPr>
            <a:r>
              <a:rPr lang="en-GB" altLang="en-US" sz="1400" dirty="0">
                <a:cs typeface="Arial" panose="020B0604020202020204" pitchFamily="34" charset="0"/>
              </a:rPr>
              <a:t>The pair then appealed: and finally were acquitted by the </a:t>
            </a:r>
            <a:r>
              <a:rPr lang="en-GB" altLang="en-US" sz="1400" i="1" dirty="0">
                <a:cs typeface="Arial" panose="020B0604020202020204" pitchFamily="34" charset="0"/>
              </a:rPr>
              <a:t>Lords</a:t>
            </a:r>
            <a:r>
              <a:rPr lang="en-GB" altLang="en-US" sz="1400" dirty="0">
                <a:cs typeface="Arial" panose="020B0604020202020204" pitchFamily="34" charset="0"/>
              </a:rPr>
              <a:t> (the House of Lords is the highest court in the land—the supreme court of appeal. It acts as the final court on points of law for the whole of the United Kingdom in civil cases. Its decisions bind all courts below)</a:t>
            </a:r>
          </a:p>
          <a:p>
            <a:pPr>
              <a:spcBef>
                <a:spcPct val="0"/>
              </a:spcBef>
            </a:pPr>
            <a:endParaRPr lang="en-GB" altLang="en-US" sz="1400" dirty="0">
              <a:cs typeface="Arial" panose="020B0604020202020204" pitchFamily="34" charset="0"/>
            </a:endParaRPr>
          </a:p>
          <a:p>
            <a:pPr>
              <a:spcBef>
                <a:spcPct val="0"/>
              </a:spcBef>
            </a:pPr>
            <a:r>
              <a:rPr lang="en-GB" altLang="en-US" sz="1400" dirty="0">
                <a:cs typeface="Arial" panose="020B0604020202020204" pitchFamily="34" charset="0"/>
              </a:rPr>
              <a:t>Lord Justice Brandon said: “….we have accordingly come to the conclusion that the language of the Act </a:t>
            </a:r>
            <a:r>
              <a:rPr lang="en-GB" altLang="en-US" sz="1400" dirty="0">
                <a:solidFill>
                  <a:srgbClr val="FF0000"/>
                </a:solidFill>
                <a:cs typeface="Arial" panose="020B0604020202020204" pitchFamily="34" charset="0"/>
              </a:rPr>
              <a:t>was not intended to apply to the situation which was shown to exist in this case</a:t>
            </a:r>
            <a:r>
              <a:rPr lang="en-GB" altLang="en-US" sz="1400" dirty="0">
                <a:cs typeface="Arial" panose="020B0604020202020204" pitchFamily="34" charset="0"/>
              </a:rPr>
              <a:t>…”.</a:t>
            </a:r>
          </a:p>
          <a:p>
            <a:pPr>
              <a:spcBef>
                <a:spcPct val="0"/>
              </a:spcBef>
            </a:pPr>
            <a:endParaRPr lang="en-GB" altLang="en-US" sz="1400" dirty="0">
              <a:cs typeface="Arial" panose="020B0604020202020204" pitchFamily="34" charset="0"/>
            </a:endParaRPr>
          </a:p>
          <a:p>
            <a:pPr>
              <a:spcBef>
                <a:spcPct val="0"/>
              </a:spcBef>
            </a:pPr>
            <a:r>
              <a:rPr lang="en-GB" altLang="en-US" sz="1400" dirty="0">
                <a:cs typeface="Arial" panose="020B0604020202020204" pitchFamily="34" charset="0"/>
              </a:rPr>
              <a:t>The Law Lords' ruling led many legal scholars to believe that hacking was not unlawful as the law then stood: a new law was necessary.</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C19CBD79-9D1F-05EA-B730-2723EFFEC66D}"/>
              </a:ext>
            </a:extLst>
          </p:cNvPr>
          <p:cNvSpPr>
            <a:spLocks noGrp="1" noChangeArrowheads="1"/>
          </p:cNvSpPr>
          <p:nvPr>
            <p:ph type="title"/>
          </p:nvPr>
        </p:nvSpPr>
        <p:spPr>
          <a:xfrm>
            <a:off x="228600" y="228600"/>
            <a:ext cx="8686800" cy="792162"/>
          </a:xfrm>
        </p:spPr>
        <p:txBody>
          <a:bodyPr>
            <a:normAutofit/>
          </a:bodyPr>
          <a:lstStyle/>
          <a:p>
            <a:pPr>
              <a:defRPr/>
            </a:pPr>
            <a:r>
              <a:rPr lang="en-GB" altLang="en-US" sz="3600" dirty="0">
                <a:solidFill>
                  <a:srgbClr val="00B050"/>
                </a:solidFill>
                <a:latin typeface="+mn-lt"/>
              </a:rPr>
              <a:t>The Computer Misuse Act (The law in the UK)</a:t>
            </a:r>
          </a:p>
        </p:txBody>
      </p:sp>
      <p:sp>
        <p:nvSpPr>
          <p:cNvPr id="3" name="Content Placeholder 2">
            <a:extLst>
              <a:ext uri="{FF2B5EF4-FFF2-40B4-BE49-F238E27FC236}">
                <a16:creationId xmlns:a16="http://schemas.microsoft.com/office/drawing/2014/main" id="{EBDCF2C2-D728-7EBD-774A-AE6E5C91381A}"/>
              </a:ext>
            </a:extLst>
          </p:cNvPr>
          <p:cNvSpPr>
            <a:spLocks noGrp="1"/>
          </p:cNvSpPr>
          <p:nvPr>
            <p:ph idx="1"/>
          </p:nvPr>
        </p:nvSpPr>
        <p:spPr>
          <a:xfrm>
            <a:off x="611560" y="1628800"/>
            <a:ext cx="7696200" cy="4320480"/>
          </a:xfrm>
        </p:spPr>
        <p:txBody>
          <a:bodyPr/>
          <a:lstStyle/>
          <a:p>
            <a:pPr>
              <a:defRPr/>
            </a:pPr>
            <a:r>
              <a:rPr lang="en-GB" sz="2800" dirty="0">
                <a:solidFill>
                  <a:srgbClr val="202122"/>
                </a:solidFill>
                <a:latin typeface="Abadi" panose="020B0604020202020204" pitchFamily="34" charset="0"/>
              </a:rPr>
              <a:t>A new bill was introduced, and supported by the government, it came into effect in 1990. </a:t>
            </a:r>
          </a:p>
          <a:p>
            <a:pPr>
              <a:defRPr/>
            </a:pPr>
            <a:r>
              <a:rPr lang="en-GB" sz="2800" dirty="0">
                <a:solidFill>
                  <a:srgbClr val="202122"/>
                </a:solidFill>
                <a:latin typeface="Abadi" panose="020B0604020202020204" pitchFamily="34" charset="0"/>
              </a:rPr>
              <a:t>Sections 1-3 of the Act introduced three criminal offences:</a:t>
            </a:r>
          </a:p>
          <a:p>
            <a:pPr lvl="1">
              <a:defRPr/>
            </a:pPr>
            <a:r>
              <a:rPr lang="en-GB" sz="2300" dirty="0">
                <a:solidFill>
                  <a:srgbClr val="202122"/>
                </a:solidFill>
                <a:latin typeface="Abadi" panose="020B0604020202020204" pitchFamily="34" charset="0"/>
              </a:rPr>
              <a:t>Unauthorised access to computer material (punishable by imprisonment and/or a fine – but </a:t>
            </a:r>
            <a:r>
              <a:rPr lang="en-GB" sz="2300" dirty="0">
                <a:solidFill>
                  <a:srgbClr val="202122"/>
                </a:solidFill>
                <a:highlight>
                  <a:srgbClr val="FF0000"/>
                </a:highlight>
                <a:latin typeface="Abadi" panose="020B0604020202020204" pitchFamily="34" charset="0"/>
              </a:rPr>
              <a:t>amended</a:t>
            </a:r>
            <a:r>
              <a:rPr lang="en-GB" sz="2300" dirty="0">
                <a:solidFill>
                  <a:srgbClr val="202122"/>
                </a:solidFill>
                <a:latin typeface="Abadi" panose="020B0604020202020204" pitchFamily="34" charset="0"/>
              </a:rPr>
              <a:t> in 2015 to become </a:t>
            </a:r>
            <a:r>
              <a:rPr lang="en-GB" sz="2300" i="1" dirty="0">
                <a:solidFill>
                  <a:srgbClr val="202122"/>
                </a:solidFill>
                <a:latin typeface="Abadi" panose="020B0604020202020204" pitchFamily="34" charset="0"/>
              </a:rPr>
              <a:t>unlimited</a:t>
            </a:r>
            <a:r>
              <a:rPr lang="en-GB" sz="2300" dirty="0">
                <a:solidFill>
                  <a:srgbClr val="202122"/>
                </a:solidFill>
                <a:latin typeface="Abadi" panose="020B0604020202020204" pitchFamily="34" charset="0"/>
              </a:rPr>
              <a:t>)</a:t>
            </a:r>
          </a:p>
          <a:p>
            <a:pPr lvl="1">
              <a:defRPr/>
            </a:pPr>
            <a:r>
              <a:rPr lang="en-GB" sz="2300" dirty="0">
                <a:solidFill>
                  <a:srgbClr val="202122"/>
                </a:solidFill>
                <a:latin typeface="Abadi" panose="020B0604020202020204" pitchFamily="34" charset="0"/>
              </a:rPr>
              <a:t>Unauthorised access with intent to commit or facilitate commission of further offences,</a:t>
            </a:r>
          </a:p>
          <a:p>
            <a:pPr lvl="1">
              <a:defRPr/>
            </a:pPr>
            <a:r>
              <a:rPr lang="en-GB" sz="2300" dirty="0">
                <a:solidFill>
                  <a:srgbClr val="202122"/>
                </a:solidFill>
                <a:latin typeface="Abadi" panose="020B0604020202020204" pitchFamily="34" charset="0"/>
              </a:rPr>
              <a:t>Unauthorised modification of computer material</a:t>
            </a:r>
            <a:endParaRPr lang="en-GB" sz="2300" dirty="0">
              <a:latin typeface="Abadi" panose="020B0604020202020204" pitchFamily="34"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6428AFDB-C8DA-990A-7D53-D5A7580E3371}"/>
              </a:ext>
            </a:extLst>
          </p:cNvPr>
          <p:cNvSpPr>
            <a:spLocks noGrp="1" noChangeArrowheads="1"/>
          </p:cNvSpPr>
          <p:nvPr>
            <p:ph type="title"/>
          </p:nvPr>
        </p:nvSpPr>
        <p:spPr>
          <a:xfrm>
            <a:off x="722313" y="549275"/>
            <a:ext cx="7696200" cy="487363"/>
          </a:xfrm>
        </p:spPr>
        <p:txBody>
          <a:bodyPr>
            <a:normAutofit fontScale="90000"/>
          </a:bodyPr>
          <a:lstStyle/>
          <a:p>
            <a:pPr eaLnBrk="1" hangingPunct="1">
              <a:defRPr/>
            </a:pPr>
            <a:r>
              <a:rPr lang="en-GB" altLang="en-US"/>
              <a:t>Example</a:t>
            </a:r>
          </a:p>
        </p:txBody>
      </p:sp>
      <p:sp>
        <p:nvSpPr>
          <p:cNvPr id="162829" name="Rectangle 13">
            <a:extLst>
              <a:ext uri="{FF2B5EF4-FFF2-40B4-BE49-F238E27FC236}">
                <a16:creationId xmlns:a16="http://schemas.microsoft.com/office/drawing/2014/main" id="{5CC9F65D-C770-0194-2245-8182C4D6A055}"/>
              </a:ext>
            </a:extLst>
          </p:cNvPr>
          <p:cNvSpPr>
            <a:spLocks noChangeArrowheads="1"/>
          </p:cNvSpPr>
          <p:nvPr/>
        </p:nvSpPr>
        <p:spPr bwMode="auto">
          <a:xfrm>
            <a:off x="611188" y="1155700"/>
            <a:ext cx="7489825" cy="769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Font typeface="Wingdings" panose="05000000000000000000" pitchFamily="2" charset="2"/>
              <a:buChar char="§"/>
              <a:defRPr sz="3000">
                <a:solidFill>
                  <a:schemeClr val="tx1"/>
                </a:solidFill>
                <a:latin typeface="Calibri" panose="020F0502020204030204" pitchFamily="34" charset="0"/>
              </a:defRPr>
            </a:lvl1pPr>
            <a:lvl2pPr marL="742950" indent="-285750">
              <a:spcBef>
                <a:spcPct val="20000"/>
              </a:spcBef>
              <a:buSzPct val="50000"/>
              <a:buFont typeface="Arial" panose="020B0604020202020204" pitchFamily="34" charset="0"/>
              <a:buChar char="–"/>
              <a:defRPr sz="2800">
                <a:solidFill>
                  <a:schemeClr val="tx1"/>
                </a:solidFill>
                <a:latin typeface="Calibri" panose="020F0502020204030204" pitchFamily="34" charset="0"/>
              </a:defRPr>
            </a:lvl2pPr>
            <a:lvl3pPr marL="358775">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SzPct val="75000"/>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2" eaLnBrk="1" hangingPunct="1">
              <a:buClr>
                <a:schemeClr val="tx1"/>
              </a:buClr>
              <a:buSzPct val="150000"/>
              <a:buFontTx/>
              <a:buNone/>
            </a:pPr>
            <a:r>
              <a:rPr lang="en-GB" altLang="en-US" sz="2200" b="1">
                <a:latin typeface="Arial" panose="020B0604020202020204" pitchFamily="34" charset="0"/>
              </a:rPr>
              <a:t>First step: a student hacks into a college database: this is </a:t>
            </a:r>
            <a:r>
              <a:rPr lang="en-GB" altLang="en-US" sz="2200" b="1">
                <a:solidFill>
                  <a:schemeClr val="hlink"/>
                </a:solidFill>
                <a:latin typeface="Arial" panose="020B0604020202020204" pitchFamily="34" charset="0"/>
              </a:rPr>
              <a:t>unauthorised access</a:t>
            </a:r>
          </a:p>
        </p:txBody>
      </p:sp>
      <p:sp>
        <p:nvSpPr>
          <p:cNvPr id="162830" name="Rectangle 14">
            <a:extLst>
              <a:ext uri="{FF2B5EF4-FFF2-40B4-BE49-F238E27FC236}">
                <a16:creationId xmlns:a16="http://schemas.microsoft.com/office/drawing/2014/main" id="{359D581B-F881-004C-61AC-EBAAC0AF13DE}"/>
              </a:ext>
            </a:extLst>
          </p:cNvPr>
          <p:cNvSpPr>
            <a:spLocks noChangeArrowheads="1"/>
          </p:cNvSpPr>
          <p:nvPr/>
        </p:nvSpPr>
        <p:spPr bwMode="auto">
          <a:xfrm>
            <a:off x="436563" y="3360738"/>
            <a:ext cx="8456612" cy="768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Font typeface="Wingdings" panose="05000000000000000000" pitchFamily="2" charset="2"/>
              <a:buChar char="§"/>
              <a:defRPr sz="3000">
                <a:solidFill>
                  <a:schemeClr val="tx1"/>
                </a:solidFill>
                <a:latin typeface="Calibri" panose="020F0502020204030204" pitchFamily="34" charset="0"/>
              </a:defRPr>
            </a:lvl1pPr>
            <a:lvl2pPr marL="742950" indent="-285750">
              <a:spcBef>
                <a:spcPct val="20000"/>
              </a:spcBef>
              <a:buSzPct val="50000"/>
              <a:buFont typeface="Arial" panose="020B0604020202020204" pitchFamily="34" charset="0"/>
              <a:buChar char="–"/>
              <a:defRPr sz="2800">
                <a:solidFill>
                  <a:schemeClr val="tx1"/>
                </a:solidFill>
                <a:latin typeface="Calibri" panose="020F0502020204030204" pitchFamily="34" charset="0"/>
              </a:defRPr>
            </a:lvl2pPr>
            <a:lvl3pPr marL="358775">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SzPct val="75000"/>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2" eaLnBrk="1" hangingPunct="1">
              <a:buClr>
                <a:schemeClr val="tx1"/>
              </a:buClr>
              <a:buSzPct val="150000"/>
              <a:buFontTx/>
              <a:buNone/>
            </a:pPr>
            <a:r>
              <a:rPr lang="en-GB" altLang="en-US" sz="2200" b="1">
                <a:latin typeface="Arial" panose="020B0604020202020204" pitchFamily="34" charset="0"/>
              </a:rPr>
              <a:t>Then, the hacker attempts to  alter his grades, but cannot find the correct file: this is </a:t>
            </a:r>
            <a:r>
              <a:rPr lang="en-GB" altLang="en-US" sz="2200" b="1">
                <a:solidFill>
                  <a:schemeClr val="tx2"/>
                </a:solidFill>
                <a:latin typeface="Arial" panose="020B0604020202020204" pitchFamily="34" charset="0"/>
              </a:rPr>
              <a:t>unauthorised access with intent</a:t>
            </a:r>
          </a:p>
        </p:txBody>
      </p:sp>
      <p:sp>
        <p:nvSpPr>
          <p:cNvPr id="162831" name="Rectangle 15">
            <a:extLst>
              <a:ext uri="{FF2B5EF4-FFF2-40B4-BE49-F238E27FC236}">
                <a16:creationId xmlns:a16="http://schemas.microsoft.com/office/drawing/2014/main" id="{A814F9C5-10E5-DD80-1117-92D47750576E}"/>
              </a:ext>
            </a:extLst>
          </p:cNvPr>
          <p:cNvSpPr>
            <a:spLocks noChangeArrowheads="1"/>
          </p:cNvSpPr>
          <p:nvPr/>
        </p:nvSpPr>
        <p:spPr bwMode="auto">
          <a:xfrm>
            <a:off x="611188" y="4221163"/>
            <a:ext cx="7807325" cy="769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Font typeface="Wingdings" panose="05000000000000000000" pitchFamily="2" charset="2"/>
              <a:buChar char="§"/>
              <a:defRPr sz="3000">
                <a:solidFill>
                  <a:schemeClr val="tx1"/>
                </a:solidFill>
                <a:latin typeface="Calibri" panose="020F0502020204030204" pitchFamily="34" charset="0"/>
              </a:defRPr>
            </a:lvl1pPr>
            <a:lvl2pPr marL="742950" indent="-285750">
              <a:spcBef>
                <a:spcPct val="20000"/>
              </a:spcBef>
              <a:buSzPct val="50000"/>
              <a:buFont typeface="Arial" panose="020B0604020202020204" pitchFamily="34" charset="0"/>
              <a:buChar char="–"/>
              <a:defRPr sz="2800">
                <a:solidFill>
                  <a:schemeClr val="tx1"/>
                </a:solidFill>
                <a:latin typeface="Calibri" panose="020F0502020204030204" pitchFamily="34" charset="0"/>
              </a:defRPr>
            </a:lvl2pPr>
            <a:lvl3pPr marL="358775">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SzPct val="75000"/>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2" eaLnBrk="1" hangingPunct="1">
              <a:buClr>
                <a:schemeClr val="tx1"/>
              </a:buClr>
              <a:buSzPct val="150000"/>
              <a:buFontTx/>
              <a:buNone/>
            </a:pPr>
            <a:r>
              <a:rPr lang="en-GB" altLang="en-US" sz="2200" b="1">
                <a:latin typeface="Arial" panose="020B0604020202020204" pitchFamily="34" charset="0"/>
              </a:rPr>
              <a:t>At some stage, he succeeds and alters his grades:  this is </a:t>
            </a:r>
            <a:r>
              <a:rPr lang="en-GB" altLang="en-US" sz="2200" b="1">
                <a:solidFill>
                  <a:srgbClr val="FF0000"/>
                </a:solidFill>
                <a:latin typeface="Arial" panose="020B0604020202020204" pitchFamily="34" charset="0"/>
              </a:rPr>
              <a:t>unauthorised modification of data</a:t>
            </a:r>
          </a:p>
        </p:txBody>
      </p:sp>
      <p:sp>
        <p:nvSpPr>
          <p:cNvPr id="16390" name="TextBox 2">
            <a:extLst>
              <a:ext uri="{FF2B5EF4-FFF2-40B4-BE49-F238E27FC236}">
                <a16:creationId xmlns:a16="http://schemas.microsoft.com/office/drawing/2014/main" id="{C486C29A-8C75-A4F9-3A9D-83C881629C02}"/>
              </a:ext>
            </a:extLst>
          </p:cNvPr>
          <p:cNvSpPr txBox="1">
            <a:spLocks noChangeArrowheads="1"/>
          </p:cNvSpPr>
          <p:nvPr/>
        </p:nvSpPr>
        <p:spPr bwMode="auto">
          <a:xfrm>
            <a:off x="766763" y="1993900"/>
            <a:ext cx="8126412"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Wingdings" panose="05000000000000000000" pitchFamily="2" charset="2"/>
              <a:buChar char="§"/>
              <a:defRPr sz="3000">
                <a:solidFill>
                  <a:schemeClr val="tx1"/>
                </a:solidFill>
                <a:latin typeface="Calibri" panose="020F0502020204030204" pitchFamily="34" charset="0"/>
              </a:defRPr>
            </a:lvl1pPr>
            <a:lvl2pPr marL="742950" indent="-285750">
              <a:spcBef>
                <a:spcPct val="20000"/>
              </a:spcBef>
              <a:buSzPct val="50000"/>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SzPct val="75000"/>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GB" altLang="en-US" sz="1800">
                <a:solidFill>
                  <a:srgbClr val="202122"/>
                </a:solidFill>
                <a:latin typeface="Arial" panose="020B0604020202020204" pitchFamily="34" charset="0"/>
              </a:rPr>
              <a:t>The sections 2–3 offences are aggravated offences, requiring a specific intent to commit another offence (for these purposes, the other offences are to be </a:t>
            </a:r>
            <a:r>
              <a:rPr lang="en-GB" altLang="en-US" sz="1800">
                <a:solidFill>
                  <a:srgbClr val="3366CC"/>
                </a:solidFill>
                <a:latin typeface="Arial" panose="020B0604020202020204" pitchFamily="34" charset="0"/>
              </a:rPr>
              <a:t>arrestable</a:t>
            </a:r>
            <a:r>
              <a:rPr lang="en-GB" altLang="en-US" sz="1800">
                <a:solidFill>
                  <a:srgbClr val="202122"/>
                </a:solidFill>
                <a:latin typeface="Arial" panose="020B0604020202020204" pitchFamily="34" charset="0"/>
              </a:rPr>
              <a:t>, and so include all the major </a:t>
            </a:r>
            <a:r>
              <a:rPr lang="en-GB" altLang="en-US" sz="1800">
                <a:solidFill>
                  <a:srgbClr val="3366CC"/>
                </a:solidFill>
                <a:latin typeface="Arial" panose="020B0604020202020204" pitchFamily="34" charset="0"/>
              </a:rPr>
              <a:t>common law</a:t>
            </a:r>
            <a:r>
              <a:rPr lang="en-GB" altLang="en-US" sz="1800">
                <a:solidFill>
                  <a:srgbClr val="202122"/>
                </a:solidFill>
                <a:latin typeface="Arial" panose="020B0604020202020204" pitchFamily="34" charset="0"/>
              </a:rPr>
              <a:t> and </a:t>
            </a:r>
            <a:r>
              <a:rPr lang="en-GB" altLang="en-US" sz="1800">
                <a:solidFill>
                  <a:srgbClr val="3366CC"/>
                </a:solidFill>
                <a:latin typeface="Arial" panose="020B0604020202020204" pitchFamily="34" charset="0"/>
              </a:rPr>
              <a:t>statutory</a:t>
            </a:r>
            <a:r>
              <a:rPr lang="en-GB" altLang="en-US" sz="1800">
                <a:solidFill>
                  <a:srgbClr val="202122"/>
                </a:solidFill>
                <a:latin typeface="Arial" panose="020B0604020202020204" pitchFamily="34" charset="0"/>
              </a:rPr>
              <a:t> offences of </a:t>
            </a:r>
            <a:r>
              <a:rPr lang="en-GB" altLang="en-US" sz="1800">
                <a:solidFill>
                  <a:srgbClr val="3366CC"/>
                </a:solidFill>
                <a:latin typeface="Arial" panose="020B0604020202020204" pitchFamily="34" charset="0"/>
              </a:rPr>
              <a:t>fraud</a:t>
            </a:r>
            <a:r>
              <a:rPr lang="en-GB" altLang="en-US" sz="1800">
                <a:solidFill>
                  <a:srgbClr val="202122"/>
                </a:solidFill>
                <a:latin typeface="Arial" panose="020B0604020202020204" pitchFamily="34" charset="0"/>
              </a:rPr>
              <a:t> and </a:t>
            </a:r>
            <a:r>
              <a:rPr lang="en-GB" altLang="en-US" sz="1800">
                <a:solidFill>
                  <a:srgbClr val="3366CC"/>
                </a:solidFill>
                <a:latin typeface="Arial" panose="020B0604020202020204" pitchFamily="34" charset="0"/>
              </a:rPr>
              <a:t>dishonesty</a:t>
            </a:r>
            <a:r>
              <a:rPr lang="en-GB" altLang="en-US" sz="1800">
                <a:solidFill>
                  <a:srgbClr val="202122"/>
                </a:solidFill>
                <a:latin typeface="Arial" panose="020B0604020202020204" pitchFamily="34" charset="0"/>
              </a:rPr>
              <a:t>). </a:t>
            </a:r>
            <a:endParaRPr lang="en-GB" altLang="en-US" sz="180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62829"/>
                                        </p:tgtEl>
                                        <p:attrNameLst>
                                          <p:attrName>style.visibility</p:attrName>
                                        </p:attrNameLst>
                                      </p:cBhvr>
                                      <p:to>
                                        <p:strVal val="visible"/>
                                      </p:to>
                                    </p:set>
                                    <p:animEffect transition="in" filter="dissolve">
                                      <p:cBhvr>
                                        <p:cTn id="7" dur="1000"/>
                                        <p:tgtEl>
                                          <p:spTgt spid="16282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162830"/>
                                        </p:tgtEl>
                                        <p:attrNameLst>
                                          <p:attrName>style.visibility</p:attrName>
                                        </p:attrNameLst>
                                      </p:cBhvr>
                                      <p:to>
                                        <p:strVal val="visible"/>
                                      </p:to>
                                    </p:set>
                                    <p:animEffect transition="in" filter="dissolve">
                                      <p:cBhvr>
                                        <p:cTn id="12" dur="1000"/>
                                        <p:tgtEl>
                                          <p:spTgt spid="16283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162831"/>
                                        </p:tgtEl>
                                        <p:attrNameLst>
                                          <p:attrName>style.visibility</p:attrName>
                                        </p:attrNameLst>
                                      </p:cBhvr>
                                      <p:to>
                                        <p:strVal val="visible"/>
                                      </p:to>
                                    </p:set>
                                    <p:animEffect transition="in" filter="dissolve">
                                      <p:cBhvr>
                                        <p:cTn id="17" dur="1000"/>
                                        <p:tgtEl>
                                          <p:spTgt spid="1628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2829" grpId="0"/>
      <p:bldP spid="162830" grpId="0"/>
      <p:bldP spid="162831"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030595E8-2CD2-DFAA-08C6-3B85FDF41949}"/>
              </a:ext>
            </a:extLst>
          </p:cNvPr>
          <p:cNvSpPr>
            <a:spLocks noGrp="1" noChangeArrowheads="1"/>
          </p:cNvSpPr>
          <p:nvPr>
            <p:ph type="title"/>
          </p:nvPr>
        </p:nvSpPr>
        <p:spPr>
          <a:xfrm>
            <a:off x="1908175" y="-239713"/>
            <a:ext cx="7696200" cy="1143001"/>
          </a:xfrm>
        </p:spPr>
        <p:txBody>
          <a:bodyPr/>
          <a:lstStyle/>
          <a:p>
            <a:pPr eaLnBrk="1" hangingPunct="1">
              <a:defRPr/>
            </a:pPr>
            <a:r>
              <a:rPr lang="en-GB" altLang="en-US"/>
              <a:t>Problems </a:t>
            </a:r>
          </a:p>
        </p:txBody>
      </p:sp>
      <p:sp>
        <p:nvSpPr>
          <p:cNvPr id="18435" name="Rectangle 3">
            <a:extLst>
              <a:ext uri="{FF2B5EF4-FFF2-40B4-BE49-F238E27FC236}">
                <a16:creationId xmlns:a16="http://schemas.microsoft.com/office/drawing/2014/main" id="{4C608D23-31FA-0575-2179-6586096E4FD2}"/>
              </a:ext>
            </a:extLst>
          </p:cNvPr>
          <p:cNvSpPr>
            <a:spLocks noChangeArrowheads="1"/>
          </p:cNvSpPr>
          <p:nvPr/>
        </p:nvSpPr>
        <p:spPr bwMode="auto">
          <a:xfrm>
            <a:off x="539750" y="1844675"/>
            <a:ext cx="8353425" cy="1223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Font typeface="Wingdings" panose="05000000000000000000" pitchFamily="2" charset="2"/>
              <a:buChar char="§"/>
              <a:defRPr sz="3000">
                <a:solidFill>
                  <a:schemeClr val="tx1"/>
                </a:solidFill>
                <a:latin typeface="Calibri" panose="020F0502020204030204" pitchFamily="34" charset="0"/>
              </a:defRPr>
            </a:lvl1pPr>
            <a:lvl2pPr marL="742950" indent="-285750">
              <a:spcBef>
                <a:spcPct val="20000"/>
              </a:spcBef>
              <a:buSzPct val="50000"/>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SzPct val="75000"/>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buClr>
                <a:schemeClr val="bg2"/>
              </a:buClr>
              <a:buSzPct val="70000"/>
              <a:buFont typeface="Wingdings" panose="05000000000000000000" pitchFamily="2" charset="2"/>
              <a:buChar char="l"/>
            </a:pPr>
            <a:r>
              <a:rPr lang="en-GB" altLang="en-US" sz="2400">
                <a:latin typeface="Arial" panose="020B0604020202020204" pitchFamily="34" charset="0"/>
              </a:rPr>
              <a:t>However, prosecutions under the Computer Misuse Act are rare for a number of reasons</a:t>
            </a:r>
          </a:p>
        </p:txBody>
      </p:sp>
      <p:sp>
        <p:nvSpPr>
          <p:cNvPr id="168964" name="Rectangle 4">
            <a:extLst>
              <a:ext uri="{FF2B5EF4-FFF2-40B4-BE49-F238E27FC236}">
                <a16:creationId xmlns:a16="http://schemas.microsoft.com/office/drawing/2014/main" id="{B2C8D73C-7A9F-2585-C95D-E21A63A56CB4}"/>
              </a:ext>
            </a:extLst>
          </p:cNvPr>
          <p:cNvSpPr>
            <a:spLocks noChangeArrowheads="1"/>
          </p:cNvSpPr>
          <p:nvPr/>
        </p:nvSpPr>
        <p:spPr bwMode="auto">
          <a:xfrm>
            <a:off x="395288" y="2924175"/>
            <a:ext cx="4141787" cy="2160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Font typeface="Wingdings" panose="05000000000000000000" pitchFamily="2" charset="2"/>
              <a:buChar char="§"/>
              <a:defRPr sz="3000">
                <a:solidFill>
                  <a:schemeClr val="tx1"/>
                </a:solidFill>
                <a:latin typeface="Calibri" panose="020F0502020204030204" pitchFamily="34" charset="0"/>
              </a:defRPr>
            </a:lvl1pPr>
            <a:lvl2pPr marL="742950" indent="-285750">
              <a:spcBef>
                <a:spcPct val="20000"/>
              </a:spcBef>
              <a:buSzPct val="50000"/>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SzPct val="75000"/>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buClr>
                <a:schemeClr val="accent1"/>
              </a:buClr>
              <a:buSzPct val="150000"/>
              <a:buFontTx/>
              <a:buChar char="•"/>
            </a:pPr>
            <a:r>
              <a:rPr lang="en-GB" altLang="en-US" sz="2000">
                <a:latin typeface="Arial" panose="020B0604020202020204" pitchFamily="34" charset="0"/>
              </a:rPr>
              <a:t>Offences difficult to prove</a:t>
            </a:r>
            <a:br>
              <a:rPr lang="en-GB" altLang="en-US" sz="2000">
                <a:latin typeface="Arial" panose="020B0604020202020204" pitchFamily="34" charset="0"/>
              </a:rPr>
            </a:br>
            <a:endParaRPr lang="en-GB" altLang="en-US" sz="2000">
              <a:latin typeface="Arial" panose="020B0604020202020204" pitchFamily="34" charset="0"/>
            </a:endParaRPr>
          </a:p>
          <a:p>
            <a:pPr lvl="1" eaLnBrk="1" hangingPunct="1">
              <a:buClr>
                <a:schemeClr val="accent1"/>
              </a:buClr>
              <a:buSzPct val="150000"/>
              <a:buFontTx/>
              <a:buChar char="•"/>
            </a:pPr>
            <a:r>
              <a:rPr lang="en-GB" altLang="en-US" sz="2000">
                <a:latin typeface="Arial" panose="020B0604020202020204" pitchFamily="34" charset="0"/>
              </a:rPr>
              <a:t>Evidence difficult to collect - firms do not co-operate with police</a:t>
            </a:r>
            <a:br>
              <a:rPr lang="en-GB" altLang="en-US" sz="2000">
                <a:latin typeface="Arial" panose="020B0604020202020204" pitchFamily="34" charset="0"/>
              </a:rPr>
            </a:br>
            <a:endParaRPr lang="en-GB" altLang="en-US" sz="2000">
              <a:latin typeface="Arial" panose="020B0604020202020204" pitchFamily="34" charset="0"/>
            </a:endParaRPr>
          </a:p>
          <a:p>
            <a:pPr lvl="1" eaLnBrk="1" hangingPunct="1">
              <a:buClr>
                <a:schemeClr val="accent1"/>
              </a:buClr>
              <a:buSzPct val="150000"/>
              <a:buFontTx/>
              <a:buChar char="•"/>
            </a:pPr>
            <a:r>
              <a:rPr lang="en-GB" altLang="en-US" sz="2000">
                <a:latin typeface="Arial" panose="020B0604020202020204" pitchFamily="34" charset="0"/>
              </a:rPr>
              <a:t>Firms embarrassed by hacking - particularly banks</a:t>
            </a:r>
            <a:br>
              <a:rPr lang="en-GB" altLang="en-US" sz="2000">
                <a:latin typeface="Arial" panose="020B0604020202020204" pitchFamily="34" charset="0"/>
              </a:rPr>
            </a:br>
            <a:endParaRPr lang="en-GB" altLang="en-US" sz="2000">
              <a:latin typeface="Arial" panose="020B0604020202020204" pitchFamily="34" charset="0"/>
            </a:endParaRPr>
          </a:p>
        </p:txBody>
      </p:sp>
      <p:sp>
        <p:nvSpPr>
          <p:cNvPr id="168965" name="Rectangle 5">
            <a:extLst>
              <a:ext uri="{FF2B5EF4-FFF2-40B4-BE49-F238E27FC236}">
                <a16:creationId xmlns:a16="http://schemas.microsoft.com/office/drawing/2014/main" id="{66AD8568-E24A-C443-D9BB-1F21F97D2C7E}"/>
              </a:ext>
            </a:extLst>
          </p:cNvPr>
          <p:cNvSpPr>
            <a:spLocks noChangeArrowheads="1"/>
          </p:cNvSpPr>
          <p:nvPr/>
        </p:nvSpPr>
        <p:spPr bwMode="auto">
          <a:xfrm>
            <a:off x="4500563" y="2997200"/>
            <a:ext cx="4141787" cy="2160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Font typeface="Wingdings" panose="05000000000000000000" pitchFamily="2" charset="2"/>
              <a:buChar char="§"/>
              <a:defRPr sz="3000">
                <a:solidFill>
                  <a:schemeClr val="tx1"/>
                </a:solidFill>
                <a:latin typeface="Calibri" panose="020F0502020204030204" pitchFamily="34" charset="0"/>
              </a:defRPr>
            </a:lvl1pPr>
            <a:lvl2pPr marL="742950" indent="-285750">
              <a:spcBef>
                <a:spcPct val="20000"/>
              </a:spcBef>
              <a:buSzPct val="50000"/>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SzPct val="75000"/>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buClr>
                <a:schemeClr val="accent1"/>
              </a:buClr>
              <a:buSzPct val="150000"/>
              <a:buFontTx/>
              <a:buChar char="•"/>
            </a:pPr>
            <a:r>
              <a:rPr lang="en-GB" altLang="en-US" sz="2000">
                <a:latin typeface="Arial" panose="020B0604020202020204" pitchFamily="34" charset="0"/>
              </a:rPr>
              <a:t>Employees often simply sacked/demoted</a:t>
            </a:r>
            <a:br>
              <a:rPr lang="en-GB" altLang="en-US" sz="2000">
                <a:latin typeface="Arial" panose="020B0604020202020204" pitchFamily="34" charset="0"/>
              </a:rPr>
            </a:br>
            <a:endParaRPr lang="en-GB" altLang="en-US" sz="2000">
              <a:latin typeface="Arial" panose="020B0604020202020204" pitchFamily="34" charset="0"/>
            </a:endParaRPr>
          </a:p>
          <a:p>
            <a:pPr lvl="1" eaLnBrk="1" hangingPunct="1">
              <a:buClr>
                <a:schemeClr val="accent1"/>
              </a:buClr>
              <a:buSzPct val="150000"/>
              <a:buFontTx/>
              <a:buChar char="•"/>
            </a:pPr>
            <a:r>
              <a:rPr lang="en-GB" altLang="en-US" sz="2000">
                <a:latin typeface="Arial" panose="020B0604020202020204" pitchFamily="34" charset="0"/>
              </a:rPr>
              <a:t>Police lack expertise; time; money</a:t>
            </a:r>
            <a:br>
              <a:rPr lang="en-GB" altLang="en-US" sz="2000">
                <a:latin typeface="Arial" panose="020B0604020202020204" pitchFamily="34" charset="0"/>
              </a:rPr>
            </a:br>
            <a:endParaRPr lang="en-GB" altLang="en-US" sz="2000">
              <a:latin typeface="Arial" panose="020B0604020202020204" pitchFamily="34" charset="0"/>
            </a:endParaRPr>
          </a:p>
          <a:p>
            <a:pPr lvl="1" eaLnBrk="1" hangingPunct="1">
              <a:buClr>
                <a:schemeClr val="accent1"/>
              </a:buClr>
              <a:buSzPct val="150000"/>
              <a:buFontTx/>
              <a:buChar char="•"/>
            </a:pPr>
            <a:r>
              <a:rPr lang="en-GB" altLang="en-US" sz="2000">
                <a:latin typeface="Arial" panose="020B0604020202020204" pitchFamily="34" charset="0"/>
              </a:rPr>
              <a:t>Offence perceived as ‘soft crime’ no one injured/hurt</a:t>
            </a:r>
          </a:p>
          <a:p>
            <a:pPr eaLnBrk="1" hangingPunct="1">
              <a:buClr>
                <a:schemeClr val="bg2"/>
              </a:buClr>
              <a:buSzPct val="70000"/>
              <a:buFont typeface="Wingdings" panose="05000000000000000000" pitchFamily="2" charset="2"/>
              <a:buChar char="l"/>
            </a:pPr>
            <a:endParaRPr lang="en-GB" altLang="en-US" sz="200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68964">
                                            <p:txEl>
                                              <p:pRg st="0" end="0"/>
                                            </p:txEl>
                                          </p:spTgt>
                                        </p:tgtEl>
                                        <p:attrNameLst>
                                          <p:attrName>style.visibility</p:attrName>
                                        </p:attrNameLst>
                                      </p:cBhvr>
                                      <p:to>
                                        <p:strVal val="visible"/>
                                      </p:to>
                                    </p:set>
                                    <p:animEffect transition="in" filter="dissolve">
                                      <p:cBhvr>
                                        <p:cTn id="7" dur="1000"/>
                                        <p:tgtEl>
                                          <p:spTgt spid="16896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168964">
                                            <p:txEl>
                                              <p:pRg st="1" end="1"/>
                                            </p:txEl>
                                          </p:spTgt>
                                        </p:tgtEl>
                                        <p:attrNameLst>
                                          <p:attrName>style.visibility</p:attrName>
                                        </p:attrNameLst>
                                      </p:cBhvr>
                                      <p:to>
                                        <p:strVal val="visible"/>
                                      </p:to>
                                    </p:set>
                                    <p:animEffect transition="in" filter="dissolve">
                                      <p:cBhvr>
                                        <p:cTn id="12" dur="1000"/>
                                        <p:tgtEl>
                                          <p:spTgt spid="168964">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168964">
                                            <p:txEl>
                                              <p:pRg st="2" end="2"/>
                                            </p:txEl>
                                          </p:spTgt>
                                        </p:tgtEl>
                                        <p:attrNameLst>
                                          <p:attrName>style.visibility</p:attrName>
                                        </p:attrNameLst>
                                      </p:cBhvr>
                                      <p:to>
                                        <p:strVal val="visible"/>
                                      </p:to>
                                    </p:set>
                                    <p:animEffect transition="in" filter="dissolve">
                                      <p:cBhvr>
                                        <p:cTn id="17" dur="1000"/>
                                        <p:tgtEl>
                                          <p:spTgt spid="168964">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168965">
                                            <p:txEl>
                                              <p:pRg st="0" end="0"/>
                                            </p:txEl>
                                          </p:spTgt>
                                        </p:tgtEl>
                                        <p:attrNameLst>
                                          <p:attrName>style.visibility</p:attrName>
                                        </p:attrNameLst>
                                      </p:cBhvr>
                                      <p:to>
                                        <p:strVal val="visible"/>
                                      </p:to>
                                    </p:set>
                                    <p:animEffect transition="in" filter="dissolve">
                                      <p:cBhvr>
                                        <p:cTn id="22" dur="1000"/>
                                        <p:tgtEl>
                                          <p:spTgt spid="168965">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168965">
                                            <p:txEl>
                                              <p:pRg st="1" end="1"/>
                                            </p:txEl>
                                          </p:spTgt>
                                        </p:tgtEl>
                                        <p:attrNameLst>
                                          <p:attrName>style.visibility</p:attrName>
                                        </p:attrNameLst>
                                      </p:cBhvr>
                                      <p:to>
                                        <p:strVal val="visible"/>
                                      </p:to>
                                    </p:set>
                                    <p:animEffect transition="in" filter="dissolve">
                                      <p:cBhvr>
                                        <p:cTn id="27" dur="1000"/>
                                        <p:tgtEl>
                                          <p:spTgt spid="168965">
                                            <p:txEl>
                                              <p:pRg st="1" end="1"/>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nodeType="clickEffect">
                                  <p:stCondLst>
                                    <p:cond delay="0"/>
                                  </p:stCondLst>
                                  <p:childTnLst>
                                    <p:set>
                                      <p:cBhvr>
                                        <p:cTn id="31" dur="1" fill="hold">
                                          <p:stCondLst>
                                            <p:cond delay="0"/>
                                          </p:stCondLst>
                                        </p:cTn>
                                        <p:tgtEl>
                                          <p:spTgt spid="168965">
                                            <p:txEl>
                                              <p:pRg st="2" end="2"/>
                                            </p:txEl>
                                          </p:spTgt>
                                        </p:tgtEl>
                                        <p:attrNameLst>
                                          <p:attrName>style.visibility</p:attrName>
                                        </p:attrNameLst>
                                      </p:cBhvr>
                                      <p:to>
                                        <p:strVal val="visible"/>
                                      </p:to>
                                    </p:set>
                                    <p:animEffect transition="in" filter="dissolve">
                                      <p:cBhvr>
                                        <p:cTn id="32" dur="1000"/>
                                        <p:tgtEl>
                                          <p:spTgt spid="16896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4D7A12F5-CF22-293A-9737-67550E3F5677}"/>
              </a:ext>
            </a:extLst>
          </p:cNvPr>
          <p:cNvSpPr>
            <a:spLocks noGrp="1" noChangeArrowheads="1"/>
          </p:cNvSpPr>
          <p:nvPr>
            <p:ph type="title"/>
          </p:nvPr>
        </p:nvSpPr>
        <p:spPr>
          <a:xfrm>
            <a:off x="827088" y="115888"/>
            <a:ext cx="7696200" cy="711200"/>
          </a:xfrm>
        </p:spPr>
        <p:txBody>
          <a:bodyPr/>
          <a:lstStyle/>
          <a:p>
            <a:pPr>
              <a:defRPr/>
            </a:pPr>
            <a:r>
              <a:rPr lang="en-GB" altLang="en-US" sz="3600" b="1">
                <a:solidFill>
                  <a:srgbClr val="000000"/>
                </a:solidFill>
                <a:latin typeface="Arial" panose="020B0604020202020204" pitchFamily="34" charset="0"/>
              </a:rPr>
              <a:t>The amendments</a:t>
            </a:r>
            <a:endParaRPr lang="en-GB" altLang="en-US"/>
          </a:p>
        </p:txBody>
      </p:sp>
      <p:sp>
        <p:nvSpPr>
          <p:cNvPr id="19459" name="Content Placeholder 2">
            <a:extLst>
              <a:ext uri="{FF2B5EF4-FFF2-40B4-BE49-F238E27FC236}">
                <a16:creationId xmlns:a16="http://schemas.microsoft.com/office/drawing/2014/main" id="{ADA96960-EAC9-AC9E-756B-79EDB3B311D0}"/>
              </a:ext>
            </a:extLst>
          </p:cNvPr>
          <p:cNvSpPr>
            <a:spLocks noGrp="1"/>
          </p:cNvSpPr>
          <p:nvPr>
            <p:ph idx="1"/>
          </p:nvPr>
        </p:nvSpPr>
        <p:spPr>
          <a:xfrm>
            <a:off x="143669" y="1066800"/>
            <a:ext cx="8856662" cy="4125912"/>
          </a:xfrm>
        </p:spPr>
        <p:txBody>
          <a:bodyPr/>
          <a:lstStyle/>
          <a:p>
            <a:r>
              <a:rPr lang="en-GB" altLang="en-US" sz="2000" dirty="0">
                <a:solidFill>
                  <a:srgbClr val="202122"/>
                </a:solidFill>
              </a:rPr>
              <a:t>The amendments to the Computer Misuse Act 1990 by the Police and Justice Act 2006: </a:t>
            </a:r>
          </a:p>
          <a:p>
            <a:pPr lvl="1"/>
            <a:r>
              <a:rPr lang="en-GB" altLang="en-US" sz="2000" dirty="0">
                <a:solidFill>
                  <a:srgbClr val="202122"/>
                </a:solidFill>
              </a:rPr>
              <a:t>unauthorised access to computer material, punishable by up to two years in prison or a fine or both.</a:t>
            </a:r>
          </a:p>
          <a:p>
            <a:pPr lvl="1"/>
            <a:r>
              <a:rPr lang="en-GB" altLang="en-US" sz="2000" dirty="0">
                <a:solidFill>
                  <a:srgbClr val="202122"/>
                </a:solidFill>
              </a:rPr>
              <a:t>unauthorised acts with intent to impair operation of computer, etc. punishable by up to ten years in prison or a fine or both.</a:t>
            </a:r>
          </a:p>
          <a:p>
            <a:pPr lvl="1"/>
            <a:r>
              <a:rPr lang="en-GB" altLang="en-US" sz="2000" dirty="0">
                <a:solidFill>
                  <a:srgbClr val="202122"/>
                </a:solidFill>
              </a:rPr>
              <a:t>making, supplying or obtaining articles for use in computer misuse offences, punishable by up to two years in prison or a fine or both.</a:t>
            </a:r>
          </a:p>
          <a:p>
            <a:endParaRPr lang="en-GB" altLang="en-US" sz="2000" dirty="0">
              <a:solidFill>
                <a:srgbClr val="202122"/>
              </a:solidFill>
            </a:endParaRPr>
          </a:p>
          <a:p>
            <a:r>
              <a:rPr lang="en-GB" altLang="en-US" sz="2000" dirty="0">
                <a:solidFill>
                  <a:srgbClr val="202122"/>
                </a:solidFill>
              </a:rPr>
              <a:t>The amendments to the Computer Misuse Act 1990 by Part 2 of the Serious Crime Act 2015.</a:t>
            </a:r>
          </a:p>
          <a:p>
            <a:pPr marL="0" indent="0">
              <a:buNone/>
            </a:pPr>
            <a:endParaRPr lang="en-GB" altLang="en-US" sz="2000" dirty="0">
              <a:solidFill>
                <a:srgbClr val="202122"/>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9A7A9-6FC3-6BDF-4199-E4579138B59A}"/>
              </a:ext>
            </a:extLst>
          </p:cNvPr>
          <p:cNvSpPr>
            <a:spLocks noGrp="1"/>
          </p:cNvSpPr>
          <p:nvPr>
            <p:ph type="title"/>
          </p:nvPr>
        </p:nvSpPr>
        <p:spPr>
          <a:xfrm>
            <a:off x="628649" y="920845"/>
            <a:ext cx="7886700" cy="994172"/>
          </a:xfrm>
        </p:spPr>
        <p:txBody>
          <a:bodyPr/>
          <a:lstStyle/>
          <a:p>
            <a:pPr>
              <a:defRPr/>
            </a:pPr>
            <a:r>
              <a:rPr lang="en-GB" dirty="0">
                <a:latin typeface="+mn-lt"/>
              </a:rPr>
              <a:t>Common networking points (1)</a:t>
            </a:r>
          </a:p>
        </p:txBody>
      </p:sp>
      <p:sp>
        <p:nvSpPr>
          <p:cNvPr id="6147" name="Rectangle 2">
            <a:extLst>
              <a:ext uri="{FF2B5EF4-FFF2-40B4-BE49-F238E27FC236}">
                <a16:creationId xmlns:a16="http://schemas.microsoft.com/office/drawing/2014/main" id="{3BDEDFB7-84A9-E2BC-C20F-DFA0B3BDF72E}"/>
              </a:ext>
            </a:extLst>
          </p:cNvPr>
          <p:cNvSpPr>
            <a:spLocks noChangeArrowheads="1"/>
          </p:cNvSpPr>
          <p:nvPr/>
        </p:nvSpPr>
        <p:spPr bwMode="auto">
          <a:xfrm>
            <a:off x="393700" y="1806575"/>
            <a:ext cx="8356600" cy="3693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57175" indent="-257175">
              <a:defRPr>
                <a:solidFill>
                  <a:schemeClr val="tx1"/>
                </a:solidFill>
                <a:latin typeface="Times New Roman" panose="02020603050405020304" pitchFamily="18" charset="0"/>
                <a:cs typeface="Arial" panose="020B0604020202020204" pitchFamily="34" charset="0"/>
              </a:defRPr>
            </a:lvl1pPr>
            <a:lvl2pPr marL="742950" indent="-285750">
              <a:defRPr>
                <a:solidFill>
                  <a:schemeClr val="tx1"/>
                </a:solidFill>
                <a:latin typeface="Times New Roman" panose="02020603050405020304" pitchFamily="18" charset="0"/>
                <a:cs typeface="Arial" panose="020B0604020202020204" pitchFamily="34" charset="0"/>
              </a:defRPr>
            </a:lvl2pPr>
            <a:lvl3pPr marL="1143000" indent="-228600">
              <a:defRPr>
                <a:solidFill>
                  <a:schemeClr val="tx1"/>
                </a:solidFill>
                <a:latin typeface="Times New Roman" panose="02020603050405020304" pitchFamily="18" charset="0"/>
                <a:cs typeface="Arial" panose="020B0604020202020204" pitchFamily="34" charset="0"/>
              </a:defRPr>
            </a:lvl3pPr>
            <a:lvl4pPr marL="1600200" indent="-228600">
              <a:defRPr>
                <a:solidFill>
                  <a:schemeClr val="tx1"/>
                </a:solidFill>
                <a:latin typeface="Times New Roman" panose="02020603050405020304" pitchFamily="18" charset="0"/>
                <a:cs typeface="Arial" panose="020B0604020202020204" pitchFamily="34" charset="0"/>
              </a:defRPr>
            </a:lvl4pPr>
            <a:lvl5pPr marL="2057400" indent="-228600">
              <a:defRPr>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cs typeface="Arial" panose="020B0604020202020204" pitchFamily="34" charset="0"/>
              </a:defRPr>
            </a:lvl9pPr>
          </a:lstStyle>
          <a:p>
            <a:pPr>
              <a:buFont typeface="Arial" panose="020B0604020202020204" pitchFamily="34" charset="0"/>
              <a:buChar char="•"/>
            </a:pPr>
            <a:r>
              <a:rPr lang="en-GB" altLang="en-US" dirty="0">
                <a:latin typeface="+mj-lt"/>
              </a:rPr>
              <a:t>Views that are publicly posted may be deeply offensive to some people.</a:t>
            </a:r>
          </a:p>
          <a:p>
            <a:pPr>
              <a:buFont typeface="Arial" panose="020B0604020202020204" pitchFamily="34" charset="0"/>
              <a:buChar char="•"/>
            </a:pPr>
            <a:endParaRPr lang="en-GB" altLang="en-US" dirty="0">
              <a:latin typeface="+mj-lt"/>
            </a:endParaRPr>
          </a:p>
          <a:p>
            <a:pPr>
              <a:buFont typeface="Arial" panose="020B0604020202020204" pitchFamily="34" charset="0"/>
              <a:buChar char="•"/>
            </a:pPr>
            <a:r>
              <a:rPr lang="en-GB" altLang="en-US" dirty="0">
                <a:latin typeface="+mj-lt"/>
              </a:rPr>
              <a:t>The inevitable response is that a network is like a telephone company or the post office and cannot be expected to police what its users say.</a:t>
            </a:r>
          </a:p>
          <a:p>
            <a:pPr>
              <a:buFont typeface="Arial" panose="020B0604020202020204" pitchFamily="34" charset="0"/>
              <a:buChar char="•"/>
            </a:pPr>
            <a:endParaRPr lang="en-GB" altLang="en-US" dirty="0">
              <a:latin typeface="+mj-lt"/>
            </a:endParaRPr>
          </a:p>
          <a:p>
            <a:pPr>
              <a:buFont typeface="Arial" panose="020B0604020202020204" pitchFamily="34" charset="0"/>
              <a:buChar char="•"/>
            </a:pPr>
            <a:r>
              <a:rPr lang="en-GB" altLang="en-US" dirty="0">
                <a:latin typeface="+mj-lt"/>
              </a:rPr>
              <a:t>Some users of peer-to-peer applications had their network service cut off because the network operators did not find it profitable to carry the large amounts of traffic sent by those applications. </a:t>
            </a:r>
          </a:p>
          <a:p>
            <a:pPr>
              <a:buFont typeface="Arial" panose="020B0604020202020204" pitchFamily="34" charset="0"/>
              <a:buChar char="•"/>
            </a:pPr>
            <a:endParaRPr lang="en-GB" altLang="en-US" dirty="0">
              <a:latin typeface="+mj-lt"/>
            </a:endParaRPr>
          </a:p>
          <a:p>
            <a:pPr>
              <a:buFont typeface="Arial" panose="020B0604020202020204" pitchFamily="34" charset="0"/>
              <a:buChar char="•"/>
            </a:pPr>
            <a:r>
              <a:rPr lang="en-GB" altLang="en-US" dirty="0">
                <a:latin typeface="+mj-lt"/>
              </a:rPr>
              <a:t>Those same operators would probably like to treat different companies differently. </a:t>
            </a:r>
          </a:p>
          <a:p>
            <a:pPr>
              <a:buFont typeface="Arial" panose="020B0604020202020204" pitchFamily="34" charset="0"/>
              <a:buChar char="•"/>
            </a:pPr>
            <a:endParaRPr lang="en-GB" altLang="en-US" dirty="0">
              <a:latin typeface="+mj-lt"/>
            </a:endParaRPr>
          </a:p>
          <a:p>
            <a:pPr>
              <a:buFont typeface="Arial" panose="020B0604020202020204" pitchFamily="34" charset="0"/>
              <a:buChar char="•"/>
            </a:pPr>
            <a:r>
              <a:rPr lang="en-GB" altLang="en-US" dirty="0">
                <a:latin typeface="+mj-lt"/>
              </a:rPr>
              <a:t>This argument for communications that are not differentiated by their content or source or who is providing the content is known as </a:t>
            </a:r>
            <a:r>
              <a:rPr lang="en-GB" altLang="en-US" b="1" dirty="0">
                <a:latin typeface="+mj-lt"/>
              </a:rPr>
              <a:t>network neutrality</a:t>
            </a:r>
            <a:r>
              <a:rPr lang="en-GB" altLang="en-US" dirty="0">
                <a:latin typeface="+mj-lt"/>
              </a:rPr>
              <a: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ACCFE-A258-B765-4840-6DE333BE23F0}"/>
              </a:ext>
            </a:extLst>
          </p:cNvPr>
          <p:cNvSpPr>
            <a:spLocks noGrp="1"/>
          </p:cNvSpPr>
          <p:nvPr>
            <p:ph type="title"/>
          </p:nvPr>
        </p:nvSpPr>
        <p:spPr>
          <a:xfrm>
            <a:off x="432707" y="857251"/>
            <a:ext cx="7886700" cy="994172"/>
          </a:xfrm>
        </p:spPr>
        <p:txBody>
          <a:bodyPr/>
          <a:lstStyle/>
          <a:p>
            <a:pPr>
              <a:defRPr/>
            </a:pPr>
            <a:r>
              <a:rPr lang="en-GB" dirty="0">
                <a:latin typeface="+mn-lt"/>
              </a:rPr>
              <a:t>Common networking points (2)</a:t>
            </a:r>
          </a:p>
        </p:txBody>
      </p:sp>
      <p:sp>
        <p:nvSpPr>
          <p:cNvPr id="7171" name="Rectangle 2">
            <a:extLst>
              <a:ext uri="{FF2B5EF4-FFF2-40B4-BE49-F238E27FC236}">
                <a16:creationId xmlns:a16="http://schemas.microsoft.com/office/drawing/2014/main" id="{8D62BE11-5AB3-7C2A-5C08-98D3EF5BD312}"/>
              </a:ext>
            </a:extLst>
          </p:cNvPr>
          <p:cNvSpPr>
            <a:spLocks noChangeArrowheads="1"/>
          </p:cNvSpPr>
          <p:nvPr/>
        </p:nvSpPr>
        <p:spPr bwMode="auto">
          <a:xfrm>
            <a:off x="239713" y="1773238"/>
            <a:ext cx="8488362" cy="3970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14313" indent="-214313">
              <a:defRPr>
                <a:solidFill>
                  <a:schemeClr val="tx1"/>
                </a:solidFill>
                <a:latin typeface="Times New Roman" panose="02020603050405020304" pitchFamily="18" charset="0"/>
                <a:cs typeface="Arial" panose="020B0604020202020204" pitchFamily="34" charset="0"/>
              </a:defRPr>
            </a:lvl1pPr>
            <a:lvl2pPr marL="742950" indent="-285750">
              <a:defRPr>
                <a:solidFill>
                  <a:schemeClr val="tx1"/>
                </a:solidFill>
                <a:latin typeface="Times New Roman" panose="02020603050405020304" pitchFamily="18" charset="0"/>
                <a:cs typeface="Arial" panose="020B0604020202020204" pitchFamily="34" charset="0"/>
              </a:defRPr>
            </a:lvl2pPr>
            <a:lvl3pPr marL="1143000" indent="-228600">
              <a:defRPr>
                <a:solidFill>
                  <a:schemeClr val="tx1"/>
                </a:solidFill>
                <a:latin typeface="Times New Roman" panose="02020603050405020304" pitchFamily="18" charset="0"/>
                <a:cs typeface="Arial" panose="020B0604020202020204" pitchFamily="34" charset="0"/>
              </a:defRPr>
            </a:lvl3pPr>
            <a:lvl4pPr marL="1600200" indent="-228600">
              <a:defRPr>
                <a:solidFill>
                  <a:schemeClr val="tx1"/>
                </a:solidFill>
                <a:latin typeface="Times New Roman" panose="02020603050405020304" pitchFamily="18" charset="0"/>
                <a:cs typeface="Arial" panose="020B0604020202020204" pitchFamily="34" charset="0"/>
              </a:defRPr>
            </a:lvl4pPr>
            <a:lvl5pPr marL="2057400" indent="-228600">
              <a:defRPr>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cs typeface="Arial" panose="020B0604020202020204" pitchFamily="34" charset="0"/>
              </a:defRPr>
            </a:lvl9pPr>
          </a:lstStyle>
          <a:p>
            <a:pPr algn="just">
              <a:buFont typeface="Arial" panose="020B0604020202020204" pitchFamily="34" charset="0"/>
              <a:buChar char="•"/>
            </a:pPr>
            <a:r>
              <a:rPr lang="en-GB" altLang="en-US" dirty="0">
                <a:latin typeface="+mn-lt"/>
              </a:rPr>
              <a:t>Music and movies sharing fuelled the massive growth of peer-to-peer networks.</a:t>
            </a:r>
          </a:p>
          <a:p>
            <a:pPr algn="just">
              <a:buFont typeface="Arial" panose="020B0604020202020204" pitchFamily="34" charset="0"/>
              <a:buChar char="•"/>
            </a:pPr>
            <a:endParaRPr lang="en-GB" altLang="en-US" dirty="0">
              <a:latin typeface="+mn-lt"/>
            </a:endParaRPr>
          </a:p>
          <a:p>
            <a:pPr algn="just">
              <a:buFont typeface="Arial" panose="020B0604020202020204" pitchFamily="34" charset="0"/>
              <a:buChar char="•"/>
            </a:pPr>
            <a:r>
              <a:rPr lang="en-GB" altLang="en-US" dirty="0">
                <a:latin typeface="+mn-lt"/>
              </a:rPr>
              <a:t>Copyright holders have threatened (and sometimes taken) legal action. </a:t>
            </a:r>
          </a:p>
          <a:p>
            <a:pPr algn="just">
              <a:buFont typeface="Arial" panose="020B0604020202020204" pitchFamily="34" charset="0"/>
              <a:buChar char="•"/>
            </a:pPr>
            <a:endParaRPr lang="en-GB" altLang="en-US" dirty="0">
              <a:latin typeface="+mn-lt"/>
            </a:endParaRPr>
          </a:p>
          <a:p>
            <a:pPr algn="just">
              <a:buFont typeface="Arial" panose="020B0604020202020204" pitchFamily="34" charset="0"/>
              <a:buChar char="•"/>
            </a:pPr>
            <a:r>
              <a:rPr lang="en-GB" altLang="en-US" dirty="0">
                <a:latin typeface="+mn-lt"/>
              </a:rPr>
              <a:t>The </a:t>
            </a:r>
            <a:r>
              <a:rPr lang="en-GB" altLang="en-US" b="1" dirty="0">
                <a:latin typeface="+mn-lt"/>
              </a:rPr>
              <a:t>Digital Millennium Copyright Act</a:t>
            </a:r>
            <a:r>
              <a:rPr lang="en-GB" altLang="en-US" dirty="0">
                <a:latin typeface="+mn-lt"/>
              </a:rPr>
              <a:t> to protect against copyright infringement (colloquially referred to as piracy)</a:t>
            </a:r>
          </a:p>
          <a:p>
            <a:pPr algn="just">
              <a:buFont typeface="Arial" panose="020B0604020202020204" pitchFamily="34" charset="0"/>
              <a:buChar char="•"/>
            </a:pPr>
            <a:endParaRPr lang="en-GB" altLang="en-US" dirty="0">
              <a:latin typeface="+mn-lt"/>
            </a:endParaRPr>
          </a:p>
          <a:p>
            <a:pPr algn="just">
              <a:buFont typeface="Arial" panose="020B0604020202020204" pitchFamily="34" charset="0"/>
              <a:buChar char="•"/>
            </a:pPr>
            <a:r>
              <a:rPr lang="en-GB" altLang="en-US" dirty="0">
                <a:latin typeface="+mn-lt"/>
              </a:rPr>
              <a:t>Small files called </a:t>
            </a:r>
            <a:r>
              <a:rPr lang="en-GB" altLang="en-US" b="1" dirty="0">
                <a:latin typeface="+mn-lt"/>
              </a:rPr>
              <a:t>cookies </a:t>
            </a:r>
            <a:r>
              <a:rPr lang="en-GB" altLang="en-US" dirty="0">
                <a:latin typeface="+mn-lt"/>
              </a:rPr>
              <a:t>that Web browsers store on users’ computers allow companies to track users’ activities in cyberspace.</a:t>
            </a:r>
          </a:p>
          <a:p>
            <a:pPr algn="just">
              <a:buFont typeface="Arial" panose="020B0604020202020204" pitchFamily="34" charset="0"/>
              <a:buChar char="•"/>
            </a:pPr>
            <a:endParaRPr lang="en-GB" altLang="en-US" dirty="0">
              <a:latin typeface="+mn-lt"/>
            </a:endParaRPr>
          </a:p>
          <a:p>
            <a:pPr algn="just">
              <a:buFont typeface="Arial" panose="020B0604020202020204" pitchFamily="34" charset="0"/>
              <a:buChar char="•"/>
            </a:pPr>
            <a:r>
              <a:rPr lang="en-GB" altLang="en-US" dirty="0">
                <a:latin typeface="+mn-lt"/>
              </a:rPr>
              <a:t>Companies that provide Web-based services may maintain large amounts of personal information about their users that allows them to study user activities directly.</a:t>
            </a:r>
          </a:p>
          <a:p>
            <a:pPr algn="just">
              <a:buFont typeface="Arial" panose="020B0604020202020204" pitchFamily="34" charset="0"/>
              <a:buChar char="•"/>
            </a:pPr>
            <a:endParaRPr lang="en-GB" altLang="en-US" dirty="0">
              <a:latin typeface="+mn-lt"/>
            </a:endParaRPr>
          </a:p>
          <a:p>
            <a:pPr algn="just">
              <a:buFont typeface="Arial" panose="020B0604020202020204" pitchFamily="34" charset="0"/>
              <a:buChar char="•"/>
            </a:pPr>
            <a:r>
              <a:rPr lang="en-GB" altLang="en-US" dirty="0">
                <a:latin typeface="+mn-lt"/>
              </a:rPr>
              <a:t>This activity by the private sector is termed </a:t>
            </a:r>
            <a:r>
              <a:rPr lang="en-GB" altLang="en-US" b="1" dirty="0">
                <a:latin typeface="+mn-lt"/>
              </a:rPr>
              <a:t>profiling </a:t>
            </a:r>
            <a:r>
              <a:rPr lang="en-GB" altLang="en-US" dirty="0">
                <a:latin typeface="+mn-lt"/>
              </a:rPr>
              <a:t>users. </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E4ED6-1FD0-DC30-10C6-CB5A3D8CA713}"/>
              </a:ext>
            </a:extLst>
          </p:cNvPr>
          <p:cNvSpPr>
            <a:spLocks noGrp="1"/>
          </p:cNvSpPr>
          <p:nvPr>
            <p:ph type="title"/>
          </p:nvPr>
        </p:nvSpPr>
        <p:spPr>
          <a:xfrm>
            <a:off x="628649" y="0"/>
            <a:ext cx="7886700" cy="994172"/>
          </a:xfrm>
        </p:spPr>
        <p:txBody>
          <a:bodyPr/>
          <a:lstStyle/>
          <a:p>
            <a:pPr>
              <a:defRPr/>
            </a:pPr>
            <a:r>
              <a:rPr lang="en-GB" dirty="0">
                <a:latin typeface="+mn-lt"/>
              </a:rPr>
              <a:t>Common networking points (3)</a:t>
            </a:r>
          </a:p>
        </p:txBody>
      </p:sp>
      <p:sp>
        <p:nvSpPr>
          <p:cNvPr id="8195" name="Rectangle 2">
            <a:extLst>
              <a:ext uri="{FF2B5EF4-FFF2-40B4-BE49-F238E27FC236}">
                <a16:creationId xmlns:a16="http://schemas.microsoft.com/office/drawing/2014/main" id="{D20BE5CE-7DAE-BFED-7A91-E413453ACEE6}"/>
              </a:ext>
            </a:extLst>
          </p:cNvPr>
          <p:cNvSpPr>
            <a:spLocks noChangeArrowheads="1"/>
          </p:cNvSpPr>
          <p:nvPr/>
        </p:nvSpPr>
        <p:spPr bwMode="auto">
          <a:xfrm>
            <a:off x="250030" y="1752600"/>
            <a:ext cx="8643937" cy="449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57175" indent="-257175">
              <a:defRPr>
                <a:solidFill>
                  <a:schemeClr val="tx1"/>
                </a:solidFill>
                <a:latin typeface="Times New Roman" panose="02020603050405020304" pitchFamily="18" charset="0"/>
                <a:cs typeface="Arial" panose="020B0604020202020204" pitchFamily="34" charset="0"/>
              </a:defRPr>
            </a:lvl1pPr>
            <a:lvl2pPr marL="742950" indent="-285750">
              <a:defRPr>
                <a:solidFill>
                  <a:schemeClr val="tx1"/>
                </a:solidFill>
                <a:latin typeface="Times New Roman" panose="02020603050405020304" pitchFamily="18" charset="0"/>
                <a:cs typeface="Arial" panose="020B0604020202020204" pitchFamily="34" charset="0"/>
              </a:defRPr>
            </a:lvl2pPr>
            <a:lvl3pPr marL="1143000" indent="-228600">
              <a:defRPr>
                <a:solidFill>
                  <a:schemeClr val="tx1"/>
                </a:solidFill>
                <a:latin typeface="Times New Roman" panose="02020603050405020304" pitchFamily="18" charset="0"/>
                <a:cs typeface="Arial" panose="020B0604020202020204" pitchFamily="34" charset="0"/>
              </a:defRPr>
            </a:lvl3pPr>
            <a:lvl4pPr marL="1600200" indent="-228600">
              <a:defRPr>
                <a:solidFill>
                  <a:schemeClr val="tx1"/>
                </a:solidFill>
                <a:latin typeface="Times New Roman" panose="02020603050405020304" pitchFamily="18" charset="0"/>
                <a:cs typeface="Arial" panose="020B0604020202020204" pitchFamily="34" charset="0"/>
              </a:defRPr>
            </a:lvl4pPr>
            <a:lvl5pPr marL="2057400" indent="-228600">
              <a:defRPr>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imes New Roman" panose="02020603050405020304" pitchFamily="18" charset="0"/>
                <a:cs typeface="Arial" panose="020B0604020202020204" pitchFamily="34" charset="0"/>
              </a:defRPr>
            </a:lvl9pPr>
          </a:lstStyle>
          <a:p>
            <a:pPr>
              <a:buFont typeface="Arial" panose="020B0604020202020204" pitchFamily="34" charset="0"/>
              <a:buChar char="•"/>
            </a:pPr>
            <a:r>
              <a:rPr lang="en-GB" altLang="en-US" sz="2200" dirty="0">
                <a:latin typeface="+mj-lt"/>
              </a:rPr>
              <a:t>Electronic junk mail (</a:t>
            </a:r>
            <a:r>
              <a:rPr lang="en-GB" altLang="en-US" sz="2200" b="1" dirty="0">
                <a:latin typeface="+mj-lt"/>
              </a:rPr>
              <a:t>spam</a:t>
            </a:r>
            <a:r>
              <a:rPr lang="en-GB" altLang="en-US" sz="2200" dirty="0">
                <a:latin typeface="+mj-lt"/>
              </a:rPr>
              <a:t>) has become a part of life because marketers can cheaply send computer-generated messages to them. </a:t>
            </a:r>
          </a:p>
          <a:p>
            <a:pPr>
              <a:buFont typeface="Arial" panose="020B0604020202020204" pitchFamily="34" charset="0"/>
              <a:buChar char="•"/>
            </a:pPr>
            <a:r>
              <a:rPr lang="en-GB" altLang="en-US" sz="2200" dirty="0">
                <a:latin typeface="+mj-lt"/>
              </a:rPr>
              <a:t>Filtering software may be able to read and discard some spam.</a:t>
            </a:r>
          </a:p>
          <a:p>
            <a:pPr>
              <a:buFont typeface="Arial" panose="020B0604020202020204" pitchFamily="34" charset="0"/>
              <a:buChar char="•"/>
            </a:pPr>
            <a:r>
              <a:rPr lang="en-GB" altLang="en-US" sz="2200" dirty="0">
                <a:latin typeface="+mj-lt"/>
              </a:rPr>
              <a:t>Web pages and email messages may contain active content (basically, programs or macros that execute on the receiver’s machine): viruses. </a:t>
            </a:r>
          </a:p>
          <a:p>
            <a:pPr>
              <a:buFont typeface="Arial" panose="020B0604020202020204" pitchFamily="34" charset="0"/>
              <a:buChar char="•"/>
            </a:pPr>
            <a:r>
              <a:rPr lang="en-GB" altLang="en-US" sz="2200" b="1" dirty="0">
                <a:latin typeface="+mj-lt"/>
              </a:rPr>
              <a:t>Phishing </a:t>
            </a:r>
            <a:r>
              <a:rPr lang="en-GB" altLang="en-US" sz="2200" dirty="0">
                <a:latin typeface="+mj-lt"/>
              </a:rPr>
              <a:t>messages masquerade as originating from a trustworthy party to try to trick you into revealing sensitive information.</a:t>
            </a:r>
          </a:p>
          <a:p>
            <a:pPr>
              <a:buFont typeface="Arial" panose="020B0604020202020204" pitchFamily="34" charset="0"/>
              <a:buChar char="•"/>
            </a:pPr>
            <a:r>
              <a:rPr lang="en-GB" altLang="en-US" sz="2200" dirty="0">
                <a:latin typeface="+mj-lt"/>
              </a:rPr>
              <a:t>Identity theft is a serious problem as thieves collect enough information about a victim to obtain documents in the victim’s name.</a:t>
            </a:r>
          </a:p>
          <a:p>
            <a:pPr>
              <a:buFont typeface="Arial" panose="020B0604020202020204" pitchFamily="34" charset="0"/>
              <a:buChar char="•"/>
            </a:pPr>
            <a:r>
              <a:rPr lang="en-GB" altLang="en-US" sz="2200" dirty="0">
                <a:latin typeface="+mj-lt"/>
              </a:rPr>
              <a:t>It can be difficult to prevent computers from impersonating people on the Internet.</a:t>
            </a:r>
          </a:p>
          <a:p>
            <a:pPr>
              <a:buFont typeface="Arial" panose="020B0604020202020204" pitchFamily="34" charset="0"/>
              <a:buChar char="•"/>
            </a:pPr>
            <a:r>
              <a:rPr lang="en-GB" altLang="en-US" sz="2200" dirty="0">
                <a:latin typeface="+mj-lt"/>
              </a:rPr>
              <a:t>This problem has led to the development of </a:t>
            </a:r>
            <a:r>
              <a:rPr lang="en-GB" altLang="en-US" sz="2200" b="1" dirty="0">
                <a:latin typeface="+mj-lt"/>
              </a:rPr>
              <a:t>CAPTCHAs</a:t>
            </a:r>
            <a:r>
              <a:rPr lang="en-GB" altLang="en-US" sz="2200" dirty="0">
                <a:latin typeface="+mj-lt"/>
              </a:rPr>
              <a:t>, in which a computer asks a person to solve a short recognition task.</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B7838-A5E6-E094-8FB3-A5FC2EF504D6}"/>
              </a:ext>
            </a:extLst>
          </p:cNvPr>
          <p:cNvSpPr>
            <a:spLocks noGrp="1"/>
          </p:cNvSpPr>
          <p:nvPr>
            <p:ph type="title"/>
          </p:nvPr>
        </p:nvSpPr>
        <p:spPr/>
        <p:txBody>
          <a:bodyPr/>
          <a:lstStyle/>
          <a:p>
            <a:pPr>
              <a:defRPr/>
            </a:pPr>
            <a:r>
              <a:rPr lang="en-GB" dirty="0">
                <a:latin typeface="+mn-lt"/>
              </a:rPr>
              <a:t>Common networking points (4)</a:t>
            </a:r>
          </a:p>
        </p:txBody>
      </p:sp>
      <p:sp>
        <p:nvSpPr>
          <p:cNvPr id="3" name="Rectangle 2">
            <a:extLst>
              <a:ext uri="{FF2B5EF4-FFF2-40B4-BE49-F238E27FC236}">
                <a16:creationId xmlns:a16="http://schemas.microsoft.com/office/drawing/2014/main" id="{940C6668-A86E-BBD9-0F21-1E9D8D008EC0}"/>
              </a:ext>
            </a:extLst>
          </p:cNvPr>
          <p:cNvSpPr/>
          <p:nvPr/>
        </p:nvSpPr>
        <p:spPr>
          <a:xfrm>
            <a:off x="411163" y="1402080"/>
            <a:ext cx="7970837" cy="4370427"/>
          </a:xfrm>
          <a:prstGeom prst="rect">
            <a:avLst/>
          </a:prstGeom>
        </p:spPr>
        <p:txBody>
          <a:bodyPr>
            <a:spAutoFit/>
          </a:bodyPr>
          <a:lstStyle/>
          <a:p>
            <a:pPr marL="257175" indent="-257175">
              <a:buFont typeface="Arial" panose="020B0604020202020204" pitchFamily="34" charset="0"/>
              <a:buChar char="•"/>
              <a:defRPr/>
            </a:pPr>
            <a:r>
              <a:rPr lang="en-GB" sz="2000" b="1" dirty="0">
                <a:latin typeface="+mn-lt"/>
              </a:rPr>
              <a:t>Freedom of Speech</a:t>
            </a:r>
            <a:endParaRPr lang="en-GB" sz="2000" dirty="0">
              <a:latin typeface="+mn-lt"/>
            </a:endParaRPr>
          </a:p>
          <a:p>
            <a:pPr>
              <a:defRPr/>
            </a:pPr>
            <a:r>
              <a:rPr lang="en-GB" sz="2000" dirty="0">
                <a:latin typeface="+mn-lt"/>
              </a:rPr>
              <a:t>With the Web of millions (and millions of pages) has become a censor’s (and a publisher’s) paradise. </a:t>
            </a:r>
          </a:p>
          <a:p>
            <a:pPr marL="257175" indent="-257175">
              <a:buFont typeface="Arial" panose="020B0604020202020204" pitchFamily="34" charset="0"/>
              <a:buChar char="•"/>
              <a:defRPr/>
            </a:pPr>
            <a:r>
              <a:rPr lang="en-GB" sz="2000" dirty="0">
                <a:latin typeface="+mn-lt"/>
              </a:rPr>
              <a:t>Depending on the nature and ideology of the regime, the following can be banned (the usual response point of view is that bad sites are banned - not all countries agree on what should be allowed on the Web):</a:t>
            </a:r>
          </a:p>
          <a:p>
            <a:pPr lvl="1">
              <a:defRPr/>
            </a:pPr>
            <a:r>
              <a:rPr lang="en-GB" sz="2000" dirty="0">
                <a:latin typeface="+mn-lt"/>
              </a:rPr>
              <a:t>1. Material inappropriate for children or teenagers.</a:t>
            </a:r>
          </a:p>
          <a:p>
            <a:pPr lvl="1">
              <a:defRPr/>
            </a:pPr>
            <a:r>
              <a:rPr lang="en-GB" sz="2000" dirty="0">
                <a:latin typeface="+mn-lt"/>
              </a:rPr>
              <a:t>2. Hate aimed at various ethnic, religious, sexual or other groups.</a:t>
            </a:r>
          </a:p>
          <a:p>
            <a:pPr lvl="1">
              <a:defRPr/>
            </a:pPr>
            <a:r>
              <a:rPr lang="en-GB" sz="2000" dirty="0">
                <a:latin typeface="+mn-lt"/>
              </a:rPr>
              <a:t>3. Information about democracy and democratic values.</a:t>
            </a:r>
          </a:p>
          <a:p>
            <a:pPr lvl="1">
              <a:defRPr/>
            </a:pPr>
            <a:r>
              <a:rPr lang="en-GB" sz="2000" dirty="0">
                <a:latin typeface="+mn-lt"/>
              </a:rPr>
              <a:t>4. Accounts of historical events contradicting the government’s version.</a:t>
            </a:r>
          </a:p>
          <a:p>
            <a:pPr lvl="1">
              <a:defRPr/>
            </a:pPr>
            <a:r>
              <a:rPr lang="en-GB" sz="2000" dirty="0">
                <a:latin typeface="+mn-lt"/>
              </a:rPr>
              <a:t>5. Manuals for picking locks, building weapons, encrypting messages, etc.</a:t>
            </a:r>
          </a:p>
          <a:p>
            <a:pPr>
              <a:defRPr/>
            </a:pPr>
            <a:endParaRPr lang="en-GB" dirty="0">
              <a:latin typeface="+mn-lt"/>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Number Placeholder 5">
            <a:extLst>
              <a:ext uri="{FF2B5EF4-FFF2-40B4-BE49-F238E27FC236}">
                <a16:creationId xmlns:a16="http://schemas.microsoft.com/office/drawing/2014/main" id="{3BD8B769-3F17-49A0-FC96-65B5DC811077}"/>
              </a:ext>
            </a:extLst>
          </p:cNvPr>
          <p:cNvSpPr>
            <a:spLocks noGrp="1"/>
          </p:cNvSpPr>
          <p:nvPr>
            <p:ph type="sldNum" sz="quarter" idx="12"/>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defRPr sz="1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defRPr/>
            </a:pPr>
            <a:fld id="{913DD7F1-9268-42F2-A13E-DDCF3C7BE443}" type="slidenum">
              <a:rPr lang="en-US" altLang="en-US" smtClean="0"/>
              <a:pPr>
                <a:defRPr/>
              </a:pPr>
              <a:t>37</a:t>
            </a:fld>
            <a:endParaRPr lang="en-US" altLang="en-US"/>
          </a:p>
        </p:txBody>
      </p:sp>
      <p:sp>
        <p:nvSpPr>
          <p:cNvPr id="27651" name="Rectangle 2">
            <a:extLst>
              <a:ext uri="{FF2B5EF4-FFF2-40B4-BE49-F238E27FC236}">
                <a16:creationId xmlns:a16="http://schemas.microsoft.com/office/drawing/2014/main" id="{AD711D59-21CD-8556-AACC-E4359B3623D1}"/>
              </a:ext>
            </a:extLst>
          </p:cNvPr>
          <p:cNvSpPr>
            <a:spLocks noGrp="1" noChangeArrowheads="1"/>
          </p:cNvSpPr>
          <p:nvPr>
            <p:ph type="title"/>
          </p:nvPr>
        </p:nvSpPr>
        <p:spPr/>
        <p:txBody>
          <a:bodyPr/>
          <a:lstStyle/>
          <a:p>
            <a:pPr eaLnBrk="1" hangingPunct="1"/>
            <a:r>
              <a:rPr lang="en-US" altLang="en-US" sz="4000" dirty="0"/>
              <a:t>References</a:t>
            </a:r>
          </a:p>
        </p:txBody>
      </p:sp>
      <p:sp>
        <p:nvSpPr>
          <p:cNvPr id="27652" name="Rectangle 3">
            <a:extLst>
              <a:ext uri="{FF2B5EF4-FFF2-40B4-BE49-F238E27FC236}">
                <a16:creationId xmlns:a16="http://schemas.microsoft.com/office/drawing/2014/main" id="{A340B4B0-F79A-B3B7-42A3-E2FC3C8155DA}"/>
              </a:ext>
            </a:extLst>
          </p:cNvPr>
          <p:cNvSpPr>
            <a:spLocks noGrp="1" noChangeArrowheads="1"/>
          </p:cNvSpPr>
          <p:nvPr>
            <p:ph type="body" idx="1"/>
          </p:nvPr>
        </p:nvSpPr>
        <p:spPr>
          <a:xfrm>
            <a:off x="0" y="1371600"/>
            <a:ext cx="8991600" cy="4876800"/>
          </a:xfrm>
        </p:spPr>
        <p:txBody>
          <a:bodyPr/>
          <a:lstStyle/>
          <a:p>
            <a:r>
              <a:rPr lang="en-GB" dirty="0">
                <a:latin typeface="+mj-lt"/>
              </a:rPr>
              <a:t>Mainly:</a:t>
            </a:r>
          </a:p>
          <a:p>
            <a:pPr lvl="1"/>
            <a:r>
              <a:rPr lang="en-GB" dirty="0"/>
              <a:t>Sara </a:t>
            </a:r>
            <a:r>
              <a:rPr lang="en-GB" dirty="0" err="1"/>
              <a:t>Baase</a:t>
            </a:r>
            <a:r>
              <a:rPr lang="en-GB" dirty="0"/>
              <a:t>, A </a:t>
            </a:r>
            <a:r>
              <a:rPr lang="en-GB" i="0" dirty="0">
                <a:effectLst/>
              </a:rPr>
              <a:t>Gift of Fire: Social, Legal, and Ethical Issues for Computing and the Internet, International Edition (Published by Pearson (November 6, 2013), 4th Edition. Available as hard copy –on shelf </a:t>
            </a:r>
            <a:r>
              <a:rPr lang="en-GB" b="0" dirty="0">
                <a:effectLst/>
                <a:latin typeface="inherit"/>
              </a:rPr>
              <a:t>303.4834/BAA </a:t>
            </a:r>
            <a:r>
              <a:rPr lang="en-GB" dirty="0">
                <a:latin typeface="inherit"/>
              </a:rPr>
              <a:t>at Belfast campus library</a:t>
            </a:r>
            <a:endParaRPr lang="en-GB" i="0" dirty="0">
              <a:effectLst/>
            </a:endParaRPr>
          </a:p>
          <a:p>
            <a:pPr lvl="1"/>
            <a:r>
              <a:rPr lang="en-GB" dirty="0"/>
              <a:t>Tanenbaum, A.S. and </a:t>
            </a:r>
            <a:r>
              <a:rPr lang="en-GB" dirty="0" err="1"/>
              <a:t>Wetheral</a:t>
            </a:r>
            <a:r>
              <a:rPr lang="en-GB" dirty="0"/>
              <a:t>, D.J. (2013) Computer Networks, 5</a:t>
            </a:r>
            <a:r>
              <a:rPr lang="en-GB" baseline="30000" dirty="0"/>
              <a:t>th</a:t>
            </a:r>
            <a:r>
              <a:rPr lang="en-GB" dirty="0"/>
              <a:t> edition, Prentice Hall.</a:t>
            </a:r>
          </a:p>
          <a:p>
            <a:pPr marL="457200" lvl="1" indent="0">
              <a:buNone/>
            </a:pPr>
            <a:endParaRPr lang="en-GB" dirty="0"/>
          </a:p>
          <a:p>
            <a:pPr marL="457200" lvl="1" indent="0">
              <a:buNone/>
            </a:pPr>
            <a:endParaRPr lang="en-GB" dirty="0"/>
          </a:p>
          <a:p>
            <a:pPr eaLnBrk="1" hangingPunct="1"/>
            <a:endParaRPr lang="en-US" altLang="en-US" dirty="0">
              <a:latin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BaaseTemplate">
  <a:themeElements>
    <a:clrScheme name="Adjacency">
      <a:dk1>
        <a:srgbClr val="2F2B20"/>
      </a:dk1>
      <a:lt1>
        <a:srgbClr val="FFFFFF"/>
      </a:lt1>
      <a:dk2>
        <a:srgbClr val="675E47"/>
      </a:dk2>
      <a:lt2>
        <a:srgbClr val="DFDCB7"/>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BaaseTemplate</Template>
  <TotalTime>0</TotalTime>
  <Words>5044</Words>
  <Application>Microsoft Office PowerPoint</Application>
  <PresentationFormat>On-screen Show (4:3)</PresentationFormat>
  <Paragraphs>361</Paragraphs>
  <Slides>37</Slides>
  <Notes>24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37</vt:i4>
      </vt:variant>
    </vt:vector>
  </HeadingPairs>
  <TitlesOfParts>
    <vt:vector size="45" baseType="lpstr">
      <vt:lpstr>Abadi</vt:lpstr>
      <vt:lpstr>acumin-pro</vt:lpstr>
      <vt:lpstr>Arial</vt:lpstr>
      <vt:lpstr>Calibri</vt:lpstr>
      <vt:lpstr>inherit</vt:lpstr>
      <vt:lpstr>Times New Roman</vt:lpstr>
      <vt:lpstr>Wingdings</vt:lpstr>
      <vt:lpstr>BaaseTemplate</vt:lpstr>
      <vt:lpstr>Ethical, Social and Legal Issues In Networking</vt:lpstr>
      <vt:lpstr>Developments, themes and ethics (1)</vt:lpstr>
      <vt:lpstr>Developments, themes and ethics (2)</vt:lpstr>
      <vt:lpstr>Developments, themes and ethics (3)</vt:lpstr>
      <vt:lpstr>Developments, themes and ethics (4)</vt:lpstr>
      <vt:lpstr>Developments, themes and ethics (5)</vt:lpstr>
      <vt:lpstr>Developments, themes and ethics (6)</vt:lpstr>
      <vt:lpstr>PowerPoint Presentation</vt:lpstr>
      <vt:lpstr>Developments, themes and ethics (8)</vt:lpstr>
      <vt:lpstr>PowerPoint Presentation</vt:lpstr>
      <vt:lpstr>Developments, themes and ethics (10) </vt:lpstr>
      <vt:lpstr>Developments, themes and ethics (11) </vt:lpstr>
      <vt:lpstr>Privacy Risks and Principles (1)</vt:lpstr>
      <vt:lpstr>Privacy Risks and Principles (2)</vt:lpstr>
      <vt:lpstr>Privacy Risks and Principles (3)</vt:lpstr>
      <vt:lpstr>Privacy Risks and Principles (4)</vt:lpstr>
      <vt:lpstr>Privacy Risks and Principles (5)</vt:lpstr>
      <vt:lpstr>Privacy Risks and Principles (6)</vt:lpstr>
      <vt:lpstr>Privacy Risks and Principles (7)</vt:lpstr>
      <vt:lpstr>Privacy Risks and Principles (8)</vt:lpstr>
      <vt:lpstr>Privacy Risks and Principles (9)</vt:lpstr>
      <vt:lpstr>Whose Law Rule the Web?</vt:lpstr>
      <vt:lpstr>The US Fourth Amendment</vt:lpstr>
      <vt:lpstr>US Supreme Court Decisions and Expectation of Privacy (1)</vt:lpstr>
      <vt:lpstr>US Supreme Court Decisions and Expectation of Privacy (2)</vt:lpstr>
      <vt:lpstr>Supreme Court Decisions and Expectation of Privacy (3)</vt:lpstr>
      <vt:lpstr>The law in the UK - The Computer Misuse Act 1990 </vt:lpstr>
      <vt:lpstr>The original case: a bit of history!</vt:lpstr>
      <vt:lpstr>The Computer Misuse Act (The law in the UK)</vt:lpstr>
      <vt:lpstr>Example</vt:lpstr>
      <vt:lpstr>Problems </vt:lpstr>
      <vt:lpstr>The amendments</vt:lpstr>
      <vt:lpstr>Common networking points (1)</vt:lpstr>
      <vt:lpstr>Common networking points (2)</vt:lpstr>
      <vt:lpstr>Common networking points (3)</vt:lpstr>
      <vt:lpstr>Common networking points (4)</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
  <cp:lastModifiedBy/>
  <cp:revision>1</cp:revision>
  <dcterms:created xsi:type="dcterms:W3CDTF">2012-08-27T15:56:47Z</dcterms:created>
  <dcterms:modified xsi:type="dcterms:W3CDTF">2025-07-06T18:04:54Z</dcterms:modified>
</cp:coreProperties>
</file>