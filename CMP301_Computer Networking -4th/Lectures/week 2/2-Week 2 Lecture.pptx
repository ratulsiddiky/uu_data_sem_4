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sldIdLst>
    <p:sldId id="1045" r:id="rId5"/>
    <p:sldId id="956" r:id="rId6"/>
    <p:sldId id="1058" r:id="rId7"/>
    <p:sldId id="1046" r:id="rId8"/>
    <p:sldId id="1047" r:id="rId9"/>
    <p:sldId id="1048" r:id="rId10"/>
    <p:sldId id="1049" r:id="rId11"/>
    <p:sldId id="1050" r:id="rId12"/>
    <p:sldId id="1051" r:id="rId13"/>
    <p:sldId id="1052" r:id="rId14"/>
    <p:sldId id="1053" r:id="rId15"/>
    <p:sldId id="1054" r:id="rId16"/>
    <p:sldId id="1055" r:id="rId17"/>
    <p:sldId id="1056" r:id="rId18"/>
    <p:sldId id="1057" r:id="rId19"/>
    <p:sldId id="1059" r:id="rId20"/>
    <p:sldId id="318" r:id="rId21"/>
    <p:sldId id="443" r:id="rId22"/>
    <p:sldId id="560" r:id="rId23"/>
    <p:sldId id="585" r:id="rId24"/>
    <p:sldId id="407" r:id="rId25"/>
    <p:sldId id="408" r:id="rId26"/>
    <p:sldId id="978" r:id="rId27"/>
    <p:sldId id="979" r:id="rId28"/>
    <p:sldId id="980" r:id="rId29"/>
    <p:sldId id="495" r:id="rId30"/>
    <p:sldId id="565" r:id="rId31"/>
    <p:sldId id="592" r:id="rId32"/>
    <p:sldId id="593" r:id="rId33"/>
    <p:sldId id="598" r:id="rId34"/>
    <p:sldId id="589" r:id="rId35"/>
    <p:sldId id="505" r:id="rId36"/>
    <p:sldId id="508" r:id="rId37"/>
    <p:sldId id="582" r:id="rId38"/>
    <p:sldId id="619" r:id="rId39"/>
    <p:sldId id="621" r:id="rId40"/>
    <p:sldId id="622" r:id="rId41"/>
    <p:sldId id="623" r:id="rId42"/>
    <p:sldId id="624" r:id="rId43"/>
    <p:sldId id="625"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56" userDrawn="1">
          <p15:clr>
            <a:srgbClr val="A4A3A4"/>
          </p15:clr>
        </p15:guide>
        <p15:guide id="2" pos="5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8"/>
    <a:srgbClr val="3C6CDF"/>
    <a:srgbClr val="9CDFF9"/>
    <a:srgbClr val="B8C2C9"/>
    <a:srgbClr val="D6DCE0"/>
    <a:srgbClr val="0000A3"/>
    <a:srgbClr val="010086"/>
    <a:srgbClr val="01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82931" autoAdjust="0"/>
  </p:normalViewPr>
  <p:slideViewPr>
    <p:cSldViewPr snapToGrid="0" snapToObjects="1">
      <p:cViewPr varScale="1">
        <p:scale>
          <a:sx n="111" d="100"/>
          <a:sy n="111" d="100"/>
        </p:scale>
        <p:origin x="480" y="96"/>
      </p:cViewPr>
      <p:guideLst>
        <p:guide orient="horz" pos="1056"/>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2616235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8B2A-6717-3478-58F9-D6BA0D4F1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70C1E-FEF4-894E-FD57-1AC152638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A7C6D-889A-E932-998F-CE15C7D678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2ED492-3AA0-9826-E77B-4ADDDE7EE1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523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C04B6-B7F6-DD02-2E82-6E5021220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5FB9B-3FD8-0E08-64A1-62D7B2CCB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2880B-3F1D-5C85-7998-5DD9AE21EF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263812-9D04-2570-2065-01B10D9CAB88}"/>
              </a:ext>
            </a:extLst>
          </p:cNvPr>
          <p:cNvSpPr>
            <a:spLocks noGrp="1"/>
          </p:cNvSpPr>
          <p:nvPr>
            <p:ph type="sldNum" sz="quarter" idx="5"/>
          </p:nvPr>
        </p:nvSpPr>
        <p:spPr/>
        <p:txBody>
          <a:bodyPr/>
          <a:lstStyle/>
          <a:p>
            <a:fld id="{3D91EEAC-CFEF-9647-876F-EABC6B8338D7}" type="slidenum">
              <a:rPr lang="en-US" smtClean="0"/>
              <a:t>5</a:t>
            </a:fld>
            <a:endParaRPr lang="en-US"/>
          </a:p>
        </p:txBody>
      </p:sp>
    </p:spTree>
    <p:extLst>
      <p:ext uri="{BB962C8B-B14F-4D97-AF65-F5344CB8AC3E}">
        <p14:creationId xmlns:p14="http://schemas.microsoft.com/office/powerpoint/2010/main" val="3455535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CA2D-48AB-2777-1F4A-0945610CF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69352-7FCE-B775-C471-3728D40DC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F0978-6617-473E-925C-AA708C8CE2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61B50-9938-64CF-8D74-7268A7BF633F}"/>
              </a:ext>
            </a:extLst>
          </p:cNvPr>
          <p:cNvSpPr>
            <a:spLocks noGrp="1"/>
          </p:cNvSpPr>
          <p:nvPr>
            <p:ph type="sldNum" sz="quarter" idx="5"/>
          </p:nvPr>
        </p:nvSpPr>
        <p:spPr/>
        <p:txBody>
          <a:bodyPr/>
          <a:lstStyle/>
          <a:p>
            <a:fld id="{3D91EEAC-CFEF-9647-876F-EABC6B8338D7}" type="slidenum">
              <a:rPr lang="en-US" smtClean="0"/>
              <a:t>6</a:t>
            </a:fld>
            <a:endParaRPr lang="en-US"/>
          </a:p>
        </p:txBody>
      </p:sp>
    </p:spTree>
    <p:extLst>
      <p:ext uri="{BB962C8B-B14F-4D97-AF65-F5344CB8AC3E}">
        <p14:creationId xmlns:p14="http://schemas.microsoft.com/office/powerpoint/2010/main" val="794234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EFBCF-C9E2-F7B0-C19A-84C61CD2A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524B4-516E-D054-82AD-5A5525B2F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3F8CE-62EF-F6A2-F8E9-13929D3767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A5ECC3-F32F-C3B7-84FA-EF78FCC55EA7}"/>
              </a:ext>
            </a:extLst>
          </p:cNvPr>
          <p:cNvSpPr>
            <a:spLocks noGrp="1"/>
          </p:cNvSpPr>
          <p:nvPr>
            <p:ph type="sldNum" sz="quarter" idx="5"/>
          </p:nvPr>
        </p:nvSpPr>
        <p:spPr/>
        <p:txBody>
          <a:bodyPr/>
          <a:lstStyle/>
          <a:p>
            <a:fld id="{3D91EEAC-CFEF-9647-876F-EABC6B8338D7}" type="slidenum">
              <a:rPr lang="en-US" smtClean="0"/>
              <a:t>7</a:t>
            </a:fld>
            <a:endParaRPr lang="en-US"/>
          </a:p>
        </p:txBody>
      </p:sp>
    </p:spTree>
    <p:extLst>
      <p:ext uri="{BB962C8B-B14F-4D97-AF65-F5344CB8AC3E}">
        <p14:creationId xmlns:p14="http://schemas.microsoft.com/office/powerpoint/2010/main" val="1794816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9B92C-521D-6281-8ADE-A63BEFC91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FA0F5-A521-4015-9BDD-866FB0DC3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BE0D9-105F-CAD4-6408-29A1E8CDD1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FE55D5-78DD-2251-D7DB-62A02059D45A}"/>
              </a:ext>
            </a:extLst>
          </p:cNvPr>
          <p:cNvSpPr>
            <a:spLocks noGrp="1"/>
          </p:cNvSpPr>
          <p:nvPr>
            <p:ph type="sldNum" sz="quarter" idx="5"/>
          </p:nvPr>
        </p:nvSpPr>
        <p:spPr/>
        <p:txBody>
          <a:bodyPr/>
          <a:lstStyle/>
          <a:p>
            <a:fld id="{3D91EEAC-CFEF-9647-876F-EABC6B8338D7}" type="slidenum">
              <a:rPr lang="en-US" smtClean="0"/>
              <a:t>8</a:t>
            </a:fld>
            <a:endParaRPr lang="en-US"/>
          </a:p>
        </p:txBody>
      </p:sp>
    </p:spTree>
    <p:extLst>
      <p:ext uri="{BB962C8B-B14F-4D97-AF65-F5344CB8AC3E}">
        <p14:creationId xmlns:p14="http://schemas.microsoft.com/office/powerpoint/2010/main" val="97338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54A37-B300-5B49-DCCB-0235D801C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D06FF-067C-242F-B570-5D510F8E2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B5B93-1C4D-BEB9-28B7-A5B0115268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5CF1C2-4CC8-4774-7766-CEAFEDAA5BC9}"/>
              </a:ext>
            </a:extLst>
          </p:cNvPr>
          <p:cNvSpPr>
            <a:spLocks noGrp="1"/>
          </p:cNvSpPr>
          <p:nvPr>
            <p:ph type="sldNum" sz="quarter" idx="5"/>
          </p:nvPr>
        </p:nvSpPr>
        <p:spPr/>
        <p:txBody>
          <a:bodyPr/>
          <a:lstStyle/>
          <a:p>
            <a:fld id="{3D91EEAC-CFEF-9647-876F-EABC6B8338D7}" type="slidenum">
              <a:rPr lang="en-US" smtClean="0"/>
              <a:t>9</a:t>
            </a:fld>
            <a:endParaRPr lang="en-US"/>
          </a:p>
        </p:txBody>
      </p:sp>
    </p:spTree>
    <p:extLst>
      <p:ext uri="{BB962C8B-B14F-4D97-AF65-F5344CB8AC3E}">
        <p14:creationId xmlns:p14="http://schemas.microsoft.com/office/powerpoint/2010/main" val="3447070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A9C9-D750-1B65-92A3-59A1A8041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D763D-5B8A-6FC9-85F9-D3AD62FC65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1B84E-D817-6817-25D7-4F83BF0C0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D4273A-9112-37AE-B301-12B948A8C7A7}"/>
              </a:ext>
            </a:extLst>
          </p:cNvPr>
          <p:cNvSpPr>
            <a:spLocks noGrp="1"/>
          </p:cNvSpPr>
          <p:nvPr>
            <p:ph type="sldNum" sz="quarter" idx="5"/>
          </p:nvPr>
        </p:nvSpPr>
        <p:spPr/>
        <p:txBody>
          <a:bodyPr/>
          <a:lstStyle/>
          <a:p>
            <a:fld id="{3D91EEAC-CFEF-9647-876F-EABC6B8338D7}" type="slidenum">
              <a:rPr lang="en-US" smtClean="0"/>
              <a:t>10</a:t>
            </a:fld>
            <a:endParaRPr lang="en-US"/>
          </a:p>
        </p:txBody>
      </p:sp>
    </p:spTree>
    <p:extLst>
      <p:ext uri="{BB962C8B-B14F-4D97-AF65-F5344CB8AC3E}">
        <p14:creationId xmlns:p14="http://schemas.microsoft.com/office/powerpoint/2010/main" val="720200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C7ECD-49B5-E3D7-C2DC-7F4CD76C1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BDB56-FA19-1F75-1D22-21269E14BD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D7794-39BF-1706-31A8-32BAAAEB68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EB6BB-6AC6-3D30-A38E-70B5BA4638B7}"/>
              </a:ext>
            </a:extLst>
          </p:cNvPr>
          <p:cNvSpPr>
            <a:spLocks noGrp="1"/>
          </p:cNvSpPr>
          <p:nvPr>
            <p:ph type="sldNum" sz="quarter" idx="5"/>
          </p:nvPr>
        </p:nvSpPr>
        <p:spPr/>
        <p:txBody>
          <a:bodyPr/>
          <a:lstStyle/>
          <a:p>
            <a:fld id="{3D91EEAC-CFEF-9647-876F-EABC6B8338D7}" type="slidenum">
              <a:rPr lang="en-US" smtClean="0"/>
              <a:t>11</a:t>
            </a:fld>
            <a:endParaRPr lang="en-US"/>
          </a:p>
        </p:txBody>
      </p:sp>
    </p:spTree>
    <p:extLst>
      <p:ext uri="{BB962C8B-B14F-4D97-AF65-F5344CB8AC3E}">
        <p14:creationId xmlns:p14="http://schemas.microsoft.com/office/powerpoint/2010/main" val="1463009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E29E-EDEE-0E35-56AC-D9E3B84C1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F782-805A-F81A-4D7F-C379606D5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316ED-8177-2498-9BDE-00741AB6A6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B1CA07-7FD7-2543-FF54-6BD2E2A062FD}"/>
              </a:ext>
            </a:extLst>
          </p:cNvPr>
          <p:cNvSpPr>
            <a:spLocks noGrp="1"/>
          </p:cNvSpPr>
          <p:nvPr>
            <p:ph type="sldNum" sz="quarter" idx="5"/>
          </p:nvPr>
        </p:nvSpPr>
        <p:spPr/>
        <p:txBody>
          <a:bodyPr/>
          <a:lstStyle/>
          <a:p>
            <a:fld id="{3D91EEAC-CFEF-9647-876F-EABC6B8338D7}" type="slidenum">
              <a:rPr lang="en-US" smtClean="0"/>
              <a:t>12</a:t>
            </a:fld>
            <a:endParaRPr lang="en-US"/>
          </a:p>
        </p:txBody>
      </p:sp>
    </p:spTree>
    <p:extLst>
      <p:ext uri="{BB962C8B-B14F-4D97-AF65-F5344CB8AC3E}">
        <p14:creationId xmlns:p14="http://schemas.microsoft.com/office/powerpoint/2010/main" val="158725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2FE7-7656-EBDB-A825-07E120F4B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CEF7D-5BF1-AF23-8A70-94E9D09C6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5A695-CA48-89DA-7862-93172F55F4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E44859-7CF0-86A4-2A4F-8A6E047C2D2A}"/>
              </a:ext>
            </a:extLst>
          </p:cNvPr>
          <p:cNvSpPr>
            <a:spLocks noGrp="1"/>
          </p:cNvSpPr>
          <p:nvPr>
            <p:ph type="sldNum" sz="quarter" idx="5"/>
          </p:nvPr>
        </p:nvSpPr>
        <p:spPr/>
        <p:txBody>
          <a:bodyPr/>
          <a:lstStyle/>
          <a:p>
            <a:fld id="{3D91EEAC-CFEF-9647-876F-EABC6B8338D7}" type="slidenum">
              <a:rPr lang="en-US" smtClean="0"/>
              <a:t>13</a:t>
            </a:fld>
            <a:endParaRPr lang="en-US"/>
          </a:p>
        </p:txBody>
      </p:sp>
    </p:spTree>
    <p:extLst>
      <p:ext uri="{BB962C8B-B14F-4D97-AF65-F5344CB8AC3E}">
        <p14:creationId xmlns:p14="http://schemas.microsoft.com/office/powerpoint/2010/main" val="1607313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6052-FCFF-093D-5EC7-474E2B72E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53FEF-8A20-4048-3C8A-30B117E31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203E1-DF85-AD4E-02F5-D8960C1ABF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B73729-594D-BDDE-033E-5AE3CB09FF62}"/>
              </a:ext>
            </a:extLst>
          </p:cNvPr>
          <p:cNvSpPr>
            <a:spLocks noGrp="1"/>
          </p:cNvSpPr>
          <p:nvPr>
            <p:ph type="sldNum" sz="quarter" idx="5"/>
          </p:nvPr>
        </p:nvSpPr>
        <p:spPr/>
        <p:txBody>
          <a:bodyPr/>
          <a:lstStyle/>
          <a:p>
            <a:fld id="{3D91EEAC-CFEF-9647-876F-EABC6B8338D7}" type="slidenum">
              <a:rPr lang="en-US" smtClean="0"/>
              <a:t>14</a:t>
            </a:fld>
            <a:endParaRPr lang="en-US"/>
          </a:p>
        </p:txBody>
      </p:sp>
    </p:spTree>
    <p:extLst>
      <p:ext uri="{BB962C8B-B14F-4D97-AF65-F5344CB8AC3E}">
        <p14:creationId xmlns:p14="http://schemas.microsoft.com/office/powerpoint/2010/main" val="4163406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CDA8-14A8-E5D1-5601-511D7A855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3EB91-411B-E7AB-8BA3-5D665F842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25AA6-26B5-1B1D-C374-164BE92914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A6893B-2CF0-3B3E-2EB6-A9CF771CE4E6}"/>
              </a:ext>
            </a:extLst>
          </p:cNvPr>
          <p:cNvSpPr>
            <a:spLocks noGrp="1"/>
          </p:cNvSpPr>
          <p:nvPr>
            <p:ph type="sldNum" sz="quarter" idx="5"/>
          </p:nvPr>
        </p:nvSpPr>
        <p:spPr/>
        <p:txBody>
          <a:bodyPr/>
          <a:lstStyle/>
          <a:p>
            <a:fld id="{3D91EEAC-CFEF-9647-876F-EABC6B8338D7}" type="slidenum">
              <a:rPr lang="en-US" smtClean="0"/>
              <a:t>15</a:t>
            </a:fld>
            <a:endParaRPr lang="en-US"/>
          </a:p>
        </p:txBody>
      </p:sp>
    </p:spTree>
    <p:extLst>
      <p:ext uri="{BB962C8B-B14F-4D97-AF65-F5344CB8AC3E}">
        <p14:creationId xmlns:p14="http://schemas.microsoft.com/office/powerpoint/2010/main" val="628398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 A physical connection can be a wired connection using a cable or a wireless connection using radio waves.</a:t>
            </a:r>
          </a:p>
          <a:p>
            <a:r>
              <a:rPr lang="en-GB" sz="1200" b="0" i="0" kern="1200" dirty="0">
                <a:solidFill>
                  <a:schemeClr val="tx1"/>
                </a:solidFill>
                <a:effectLst/>
                <a:latin typeface="+mn-lt"/>
                <a:ea typeface="+mn-ea"/>
                <a:cs typeface="+mn-cs"/>
              </a:rPr>
              <a:t>The type of physical connection used is dependent upon the setup of the network. </a:t>
            </a:r>
          </a:p>
          <a:p>
            <a:r>
              <a:rPr lang="en-GB" sz="1200" b="0" i="0" kern="1200" dirty="0">
                <a:solidFill>
                  <a:schemeClr val="tx1"/>
                </a:solidFill>
                <a:effectLst/>
                <a:latin typeface="+mn-lt"/>
                <a:ea typeface="+mn-ea"/>
                <a:cs typeface="+mn-cs"/>
              </a:rPr>
              <a:t>To offer wireless capability, devices on a wireless network must be connected to a wireless access point (AP).</a:t>
            </a:r>
          </a:p>
          <a:p>
            <a:r>
              <a:rPr lang="en-GB" sz="1200" b="0" i="0" kern="1200" dirty="0">
                <a:solidFill>
                  <a:schemeClr val="tx1"/>
                </a:solidFill>
                <a:effectLst/>
                <a:latin typeface="+mn-lt"/>
                <a:ea typeface="+mn-ea"/>
                <a:cs typeface="+mn-cs"/>
              </a:rPr>
              <a:t>Switch devices and wireless access points are often two separate dedicated devices within a network implementation. However, there are also devices that offer both wired and wireless connectivity. </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Network Interface Cards (NICs) connect a device to the network. </a:t>
            </a:r>
          </a:p>
          <a:p>
            <a:r>
              <a:rPr lang="en-GB" sz="1200" b="0" i="0" kern="1200" dirty="0">
                <a:solidFill>
                  <a:schemeClr val="tx1"/>
                </a:solidFill>
                <a:effectLst/>
                <a:latin typeface="+mn-lt"/>
                <a:ea typeface="+mn-ea"/>
                <a:cs typeface="+mn-cs"/>
              </a:rPr>
              <a:t>Ethernet NICs are used for a wired connection, whereas WLAN (Wireless Local Area Network) NICs are used for wireless.</a:t>
            </a:r>
          </a:p>
          <a:p>
            <a:r>
              <a:rPr lang="en-GB" sz="1200" b="0" i="0" kern="1200" dirty="0">
                <a:solidFill>
                  <a:schemeClr val="tx1"/>
                </a:solidFill>
                <a:effectLst/>
                <a:latin typeface="+mn-lt"/>
                <a:ea typeface="+mn-ea"/>
                <a:cs typeface="+mn-cs"/>
              </a:rPr>
              <a:t>An end-user device may include one or both types of NICs.</a:t>
            </a:r>
          </a:p>
          <a:p>
            <a:r>
              <a:rPr lang="en-GB" sz="1200" b="0" i="0" kern="1200" dirty="0">
                <a:solidFill>
                  <a:schemeClr val="tx1"/>
                </a:solidFill>
                <a:effectLst/>
                <a:latin typeface="+mn-lt"/>
                <a:ea typeface="+mn-ea"/>
                <a:cs typeface="+mn-cs"/>
              </a:rPr>
              <a:t>Not all physical connections are equal, in terms of the performance level, when connecting to a network.</a:t>
            </a:r>
          </a:p>
          <a:p>
            <a:r>
              <a:rPr lang="en-GB" sz="1200" b="0" i="0" kern="1200" dirty="0">
                <a:solidFill>
                  <a:schemeClr val="tx1"/>
                </a:solidFill>
                <a:effectLst/>
                <a:latin typeface="+mn-lt"/>
                <a:ea typeface="+mn-ea"/>
                <a:cs typeface="+mn-cs"/>
              </a:rPr>
              <a:t>For example, a wireless device will experience degradation in performance based on its distance from a wireless access point. The further the device is from the access point, the weaker the wireless signal it receives. This can mean less bandwidth or no wireless connection at all. Alternatively, a wired connection will not degrade in performance.</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OSI physical layer provides the means to transport the bits that make up a data link layer frame across the network media. This layer accepts a complete frame from the data link layer and encodes it as a series of signals that are transmitted onto the local media.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physical layer encodes the frames and creates the electrical, optical, or radio wave signals that represent the bits in each frame.</a:t>
            </a:r>
          </a:p>
          <a:p>
            <a:r>
              <a:rPr lang="en-GB" sz="1200" b="0" i="0" kern="1200" dirty="0">
                <a:solidFill>
                  <a:schemeClr val="tx1"/>
                </a:solidFill>
                <a:effectLst/>
                <a:latin typeface="+mn-lt"/>
                <a:ea typeface="+mn-ea"/>
                <a:cs typeface="+mn-cs"/>
              </a:rPr>
              <a:t>These signals are then sent on the media, one at a time.</a:t>
            </a:r>
          </a:p>
          <a:p>
            <a:r>
              <a:rPr lang="en-GB" sz="1200" b="0" i="0" kern="1200" dirty="0">
                <a:solidFill>
                  <a:schemeClr val="tx1"/>
                </a:solidFill>
                <a:effectLst/>
                <a:latin typeface="+mn-lt"/>
                <a:ea typeface="+mn-ea"/>
                <a:cs typeface="+mn-cs"/>
              </a:rPr>
              <a:t>The destination node physical layer retrieves these individual signals from the media, restores them to their bit representations, and passes the bits up to the data link layer as a complete frame.</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There are three basic forms of network media. The physical layer produces the representation and groupings of bits for each type of media as:</a:t>
            </a:r>
          </a:p>
          <a:p>
            <a:r>
              <a:rPr lang="en-GB" sz="1200" b="1" i="0" kern="1200" dirty="0">
                <a:solidFill>
                  <a:schemeClr val="tx1"/>
                </a:solidFill>
                <a:effectLst/>
                <a:latin typeface="+mn-lt"/>
                <a:ea typeface="+mn-ea"/>
                <a:cs typeface="+mn-cs"/>
              </a:rPr>
              <a:t>Copper cable</a:t>
            </a:r>
            <a:r>
              <a:rPr lang="en-GB" sz="1200" b="0" i="0" kern="1200" dirty="0">
                <a:solidFill>
                  <a:schemeClr val="tx1"/>
                </a:solidFill>
                <a:effectLst/>
                <a:latin typeface="+mn-lt"/>
                <a:ea typeface="+mn-ea"/>
                <a:cs typeface="+mn-cs"/>
              </a:rPr>
              <a:t>: The signals are patterns of electrical pulses.</a:t>
            </a:r>
          </a:p>
          <a:p>
            <a:r>
              <a:rPr lang="en-GB" sz="1200" b="1" i="0" kern="1200" dirty="0" err="1">
                <a:solidFill>
                  <a:schemeClr val="tx1"/>
                </a:solidFill>
                <a:effectLst/>
                <a:latin typeface="+mn-lt"/>
                <a:ea typeface="+mn-ea"/>
                <a:cs typeface="+mn-cs"/>
              </a:rPr>
              <a:t>Fiber</a:t>
            </a:r>
            <a:r>
              <a:rPr lang="en-GB" sz="1200" b="1" i="0" kern="1200" dirty="0">
                <a:solidFill>
                  <a:schemeClr val="tx1"/>
                </a:solidFill>
                <a:effectLst/>
                <a:latin typeface="+mn-lt"/>
                <a:ea typeface="+mn-ea"/>
                <a:cs typeface="+mn-cs"/>
              </a:rPr>
              <a:t>-optic cable</a:t>
            </a:r>
            <a:r>
              <a:rPr lang="en-GB" sz="1200" b="0" i="0" kern="1200" dirty="0">
                <a:solidFill>
                  <a:schemeClr val="tx1"/>
                </a:solidFill>
                <a:effectLst/>
                <a:latin typeface="+mn-lt"/>
                <a:ea typeface="+mn-ea"/>
                <a:cs typeface="+mn-cs"/>
              </a:rPr>
              <a:t>: The signals are patterns of light.</a:t>
            </a:r>
          </a:p>
          <a:p>
            <a:r>
              <a:rPr lang="en-GB" sz="1200" b="1" i="0" kern="1200" dirty="0">
                <a:solidFill>
                  <a:schemeClr val="tx1"/>
                </a:solidFill>
                <a:effectLst/>
                <a:latin typeface="+mn-lt"/>
                <a:ea typeface="+mn-ea"/>
                <a:cs typeface="+mn-cs"/>
              </a:rPr>
              <a:t>Wireless</a:t>
            </a:r>
            <a:r>
              <a:rPr lang="en-GB" sz="1200" b="0" i="0" kern="1200" dirty="0">
                <a:solidFill>
                  <a:schemeClr val="tx1"/>
                </a:solidFill>
                <a:effectLst/>
                <a:latin typeface="+mn-lt"/>
                <a:ea typeface="+mn-ea"/>
                <a:cs typeface="+mn-cs"/>
              </a:rPr>
              <a:t>: The signals are patterns of microwave transmissions.</a:t>
            </a:r>
          </a:p>
        </p:txBody>
      </p:sp>
      <p:sp>
        <p:nvSpPr>
          <p:cNvPr id="4" name="Slide Number Placeholder 3"/>
          <p:cNvSpPr>
            <a:spLocks noGrp="1"/>
          </p:cNvSpPr>
          <p:nvPr>
            <p:ph type="sldNum" sz="quarter" idx="10"/>
          </p:nvPr>
        </p:nvSpPr>
        <p:spPr/>
        <p:txBody>
          <a:bodyPr/>
          <a:lstStyle/>
          <a:p>
            <a:fld id="{AC72CD79-D36A-4E01-AE1C-064887FE954D}" type="slidenum">
              <a:rPr lang="en-US" smtClean="0"/>
              <a:t>20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5787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0776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5698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Networks use copper media because it is inexpensive, easy to install, and has low resistance to electrical current. However, copper media is limited by distance and signal interference.</a:t>
            </a:r>
          </a:p>
          <a:p>
            <a:r>
              <a:rPr lang="en-GB" sz="1200" b="0" i="0" kern="1200" dirty="0">
                <a:solidFill>
                  <a:schemeClr val="tx1"/>
                </a:solidFill>
                <a:effectLst/>
                <a:latin typeface="+mn-lt"/>
                <a:ea typeface="+mn-ea"/>
                <a:cs typeface="+mn-cs"/>
              </a:rPr>
              <a:t>Data is transmitted on copper cables as electrical pulses. A detector in the network interface of a destination device must receive a signal that can be successfully decoded to match the signal sent. However, the longer the signal travels, the more it deteriorates. This is referred to as signal attenuation.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timing and voltage values of the electrical pulses are also susceptible to interference from two sources:</a:t>
            </a:r>
          </a:p>
          <a:p>
            <a:r>
              <a:rPr lang="en-GB" sz="1200" b="1" i="0" kern="1200" dirty="0">
                <a:solidFill>
                  <a:schemeClr val="tx1"/>
                </a:solidFill>
                <a:effectLst/>
                <a:latin typeface="+mn-lt"/>
                <a:ea typeface="+mn-ea"/>
                <a:cs typeface="+mn-cs"/>
              </a:rPr>
              <a:t>Electromagnetic interference (EMI) or radio frequency interference (RFI) -</a:t>
            </a:r>
            <a:r>
              <a:rPr lang="en-GB" sz="1200" b="0" i="0" kern="1200" dirty="0">
                <a:solidFill>
                  <a:schemeClr val="tx1"/>
                </a:solidFill>
                <a:effectLst/>
                <a:latin typeface="+mn-lt"/>
                <a:ea typeface="+mn-ea"/>
                <a:cs typeface="+mn-cs"/>
              </a:rPr>
              <a:t> EMI and RFI signals can distort and corrupt the data signals being carried by copper media. Potential sources of EMI and RFI include radio waves and electromagnetic devices, such as fluorescent lights or electric motors.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Crosstalk</a:t>
            </a:r>
            <a:r>
              <a:rPr lang="en-GB" sz="1200" b="0" i="0" kern="1200" dirty="0">
                <a:solidFill>
                  <a:schemeClr val="tx1"/>
                </a:solidFill>
                <a:effectLst/>
                <a:latin typeface="+mn-lt"/>
                <a:ea typeface="+mn-ea"/>
                <a:cs typeface="+mn-cs"/>
              </a:rPr>
              <a:t> - Crosstalk is a disturbance caused by the electric or magnetic fields of a signal on one wire to the signal in an adjacent wire. In telephone circuits, crosstalk can result in hearing part of another voice conversation from an adjacent circuit. Specifically, when an electrical current flows through a wire, it creates a small, circular magnetic field around the wire, which can be picked up by an adjacent wire.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To counter the negative effects of crosstalk, some types of copper cables have opposing circuit wire pairs twisted together, which effectively cancels the crosstalk.</a:t>
            </a:r>
          </a:p>
          <a:p>
            <a:endParaRPr lang="en-GB" sz="1200" b="0" i="0" kern="1200" dirty="0">
              <a:solidFill>
                <a:schemeClr val="tx1"/>
              </a:solidFill>
              <a:effectLst/>
              <a:latin typeface="+mn-lt"/>
              <a:ea typeface="+mn-ea"/>
              <a:cs typeface="+mn-cs"/>
            </a:endParaRPr>
          </a:p>
          <a:p>
            <a:endParaRPr lang="en-US" dirty="0"/>
          </a:p>
          <a:p>
            <a:r>
              <a:rPr lang="en-GB" sz="1200" b="0" i="0" kern="1200" dirty="0">
                <a:solidFill>
                  <a:schemeClr val="tx1"/>
                </a:solidFill>
                <a:effectLst/>
                <a:latin typeface="+mn-lt"/>
                <a:ea typeface="+mn-ea"/>
                <a:cs typeface="+mn-cs"/>
              </a:rPr>
              <a:t>There are three main types of copper media used in networking:</a:t>
            </a:r>
          </a:p>
          <a:p>
            <a:r>
              <a:rPr lang="en-GB" sz="1200" b="1" i="0" kern="1200" dirty="0">
                <a:solidFill>
                  <a:schemeClr val="tx1"/>
                </a:solidFill>
                <a:effectLst/>
                <a:latin typeface="+mn-lt"/>
                <a:ea typeface="+mn-ea"/>
                <a:cs typeface="+mn-cs"/>
              </a:rPr>
              <a:t>Unshielded Twisted-Pair (UTP)</a:t>
            </a:r>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Shielded Twisted-Pair (STP)</a:t>
            </a:r>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Coaxial</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These cables are used to interconnect nodes on a LAN and infrastructure devices such as switches, routers, and wireless access points. Each type of connection and the accompanying devices has cabling requirements stipulated by physical layer standards.</a:t>
            </a:r>
          </a:p>
        </p:txBody>
      </p:sp>
      <p:sp>
        <p:nvSpPr>
          <p:cNvPr id="4" name="Slide Number Placeholder 3"/>
          <p:cNvSpPr>
            <a:spLocks noGrp="1"/>
          </p:cNvSpPr>
          <p:nvPr>
            <p:ph type="sldNum" sz="quarter" idx="10"/>
          </p:nvPr>
        </p:nvSpPr>
        <p:spPr/>
        <p:txBody>
          <a:bodyPr/>
          <a:lstStyle/>
          <a:p>
            <a:fld id="{AC72CD79-D36A-4E01-AE1C-064887FE954D}" type="slidenum">
              <a:rPr lang="en-US" smtClean="0"/>
              <a:t>26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Unshielded twisted-pair (UTP) cabling is the most common networking media. </a:t>
            </a:r>
          </a:p>
          <a:p>
            <a:r>
              <a:rPr lang="en-GB" sz="1200" b="0" i="0" kern="1200" dirty="0">
                <a:solidFill>
                  <a:schemeClr val="tx1"/>
                </a:solidFill>
                <a:effectLst/>
                <a:latin typeface="+mn-lt"/>
                <a:ea typeface="+mn-ea"/>
                <a:cs typeface="+mn-cs"/>
              </a:rPr>
              <a:t>In LANs, UTP cable consists of four pairs of color-coded wires that have been twisted together and then encased in a flexible plastic sheath that protects from minor physical damage</a:t>
            </a:r>
          </a:p>
          <a:p>
            <a:r>
              <a:rPr lang="en-GB" sz="1200" b="0" i="0" kern="1200" dirty="0">
                <a:solidFill>
                  <a:schemeClr val="tx1"/>
                </a:solidFill>
                <a:effectLst/>
                <a:latin typeface="+mn-lt"/>
                <a:ea typeface="+mn-ea"/>
                <a:cs typeface="+mn-cs"/>
              </a:rPr>
              <a:t>UTP cable does not use shielding to counter the effects of EMI and RFI. Instead, cable designers have discovered that they can limit the negative effect of crosstalk by:</a:t>
            </a:r>
          </a:p>
          <a:p>
            <a:r>
              <a:rPr lang="en-GB" sz="1200" b="1" i="0" kern="1200" dirty="0">
                <a:solidFill>
                  <a:schemeClr val="tx1"/>
                </a:solidFill>
                <a:effectLst/>
                <a:latin typeface="+mn-lt"/>
                <a:ea typeface="+mn-ea"/>
                <a:cs typeface="+mn-cs"/>
              </a:rPr>
              <a:t>Cancellation</a:t>
            </a:r>
            <a:r>
              <a:rPr lang="en-GB" sz="1200" b="0" i="0" kern="1200" dirty="0">
                <a:solidFill>
                  <a:schemeClr val="tx1"/>
                </a:solidFill>
                <a:effectLst/>
                <a:latin typeface="+mn-lt"/>
                <a:ea typeface="+mn-ea"/>
                <a:cs typeface="+mn-cs"/>
              </a:rPr>
              <a:t>: Designers now pair wires in a circuit. When two wires in an electrical circuit are placed close together, their magnetic fields are the exact opposite of each other. Therefore, the two magnetic fields cancel each other and also cancel out any outside EMI and RFI signals.</a:t>
            </a:r>
          </a:p>
          <a:p>
            <a:r>
              <a:rPr lang="en-GB" sz="1200" b="0" i="0" kern="1200" dirty="0">
                <a:solidFill>
                  <a:schemeClr val="tx1"/>
                </a:solidFill>
                <a:effectLst/>
                <a:latin typeface="+mn-lt"/>
                <a:ea typeface="+mn-ea"/>
                <a:cs typeface="+mn-cs"/>
              </a:rPr>
              <a:t>UTP cable relies solely on the cancellation effect produced by the twisted wire pairs to limit signal degradation and effectively provide self-shielding for wire pairs within the network media.</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Shielded twisted-pair (STP) provides better noise protection than UTP cabling. However, compared to UTP cable, STP cable is significantly more expensive and difficult to install. STP cables combine the techniques of shielding to counter EMI and RFI, and wire twisting to counter crosstalk. </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Coaxial cable, or coax for short, gets its name from the fact that there are two conductors that share the same axis. As shown in the figure, coaxial cable consists of:</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 copper conductor used to transmit the electronic signals.</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 layer of flexible plastic insulation surrounding a copper conductor.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insulating material is surrounded in a woven copper braid, or metallic foil, that acts as the second wire in the circuit and as a shield for the inner conductor. This second layer, or shield, also reduces the amount of outside electromagnetic interference.</a:t>
            </a:r>
          </a:p>
          <a:p>
            <a:r>
              <a:rPr lang="en-GB" sz="1200" b="0" i="0" kern="1200" dirty="0">
                <a:solidFill>
                  <a:schemeClr val="tx1"/>
                </a:solidFill>
                <a:effectLst/>
                <a:latin typeface="+mn-lt"/>
                <a:ea typeface="+mn-ea"/>
                <a:cs typeface="+mn-cs"/>
              </a:rPr>
              <a:t>The entire cable is covered with a cable jacket to prevent minor physical damage.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Although UTP cable has essentially replaced coaxial cable in modern Ethernet installations, the coaxial cable design is used in:</a:t>
            </a:r>
          </a:p>
          <a:p>
            <a:r>
              <a:rPr lang="en-GB" sz="1200" b="1" i="0" kern="1200" dirty="0">
                <a:solidFill>
                  <a:schemeClr val="tx1"/>
                </a:solidFill>
                <a:effectLst/>
                <a:latin typeface="+mn-lt"/>
                <a:ea typeface="+mn-ea"/>
                <a:cs typeface="+mn-cs"/>
              </a:rPr>
              <a:t>Wireless installations</a:t>
            </a:r>
            <a:r>
              <a:rPr lang="en-GB" sz="1200" b="0" i="0" kern="1200" dirty="0">
                <a:solidFill>
                  <a:schemeClr val="tx1"/>
                </a:solidFill>
                <a:effectLst/>
                <a:latin typeface="+mn-lt"/>
                <a:ea typeface="+mn-ea"/>
                <a:cs typeface="+mn-cs"/>
              </a:rPr>
              <a:t>: Coaxial cables attach antennas to wireless devices. The coaxial cable carries radio frequency (RF) energy between the antennas and the radio equipment.</a:t>
            </a:r>
          </a:p>
          <a:p>
            <a:r>
              <a:rPr lang="en-GB" sz="1200" b="1" i="0" kern="1200" dirty="0">
                <a:solidFill>
                  <a:schemeClr val="tx1"/>
                </a:solidFill>
                <a:effectLst/>
                <a:latin typeface="+mn-lt"/>
                <a:ea typeface="+mn-ea"/>
                <a:cs typeface="+mn-cs"/>
              </a:rPr>
              <a:t>Cable Internet installations</a:t>
            </a:r>
            <a:r>
              <a:rPr lang="en-GB" sz="1200" b="0" i="0" kern="1200" dirty="0">
                <a:solidFill>
                  <a:schemeClr val="tx1"/>
                </a:solidFill>
                <a:effectLst/>
                <a:latin typeface="+mn-lt"/>
                <a:ea typeface="+mn-ea"/>
                <a:cs typeface="+mn-cs"/>
              </a:rPr>
              <a:t>: Cable service providers provide Internet connectivity to their customers by replacing portions of the coaxial cable and supporting amplification elements with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However, the wiring inside the customer's premises is still coax cable.</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cable transmits data over longer distances and at higher bandwidths than any other networking media. Unlike copper wires,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can transmit signals with less attenuation and is completely immune to EMI and RFI. 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is commonly used to interconnect network devices.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is a flexible, but extremely thin, transparent strand of very pure glass, not much bigger than a human hair. Bits are encoded on the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as light impulses. The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acts as a waveguide, or “light pipe,” to transmit light between the two ends with minimal loss of signal.</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There are many advantages to using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compared to copper cables:</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the media is immune to electromagnetic interference and will not conduct unwanted electrical currents due to grounding issues. Optical </a:t>
            </a:r>
            <a:r>
              <a:rPr lang="en-GB" sz="1200" b="0" i="0" kern="1200" dirty="0" err="1">
                <a:solidFill>
                  <a:schemeClr val="tx1"/>
                </a:solidFill>
                <a:effectLst/>
                <a:latin typeface="+mn-lt"/>
                <a:ea typeface="+mn-ea"/>
                <a:cs typeface="+mn-cs"/>
              </a:rPr>
              <a:t>fibers</a:t>
            </a:r>
            <a:r>
              <a:rPr lang="en-GB" sz="1200" b="0" i="0" kern="1200" dirty="0">
                <a:solidFill>
                  <a:schemeClr val="tx1"/>
                </a:solidFill>
                <a:effectLst/>
                <a:latin typeface="+mn-lt"/>
                <a:ea typeface="+mn-ea"/>
                <a:cs typeface="+mn-cs"/>
              </a:rPr>
              <a:t> are thin and have a relatively low signal loss and can be operated at much greater lengths than copper media. Some optical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 physical layer specifications allow lengths that can reach multiple </a:t>
            </a:r>
            <a:r>
              <a:rPr lang="en-GB" sz="1200" b="0" i="0" kern="1200" dirty="0" err="1">
                <a:solidFill>
                  <a:schemeClr val="tx1"/>
                </a:solidFill>
                <a:effectLst/>
                <a:latin typeface="+mn-lt"/>
                <a:ea typeface="+mn-ea"/>
                <a:cs typeface="+mn-cs"/>
              </a:rPr>
              <a:t>kilometers</a:t>
            </a:r>
            <a:r>
              <a:rPr lang="en-GB" sz="1200" b="0" i="0" kern="1200" dirty="0">
                <a:solidFill>
                  <a:schemeClr val="tx1"/>
                </a:solidFill>
                <a:effectLst/>
                <a:latin typeface="+mn-lt"/>
                <a:ea typeface="+mn-ea"/>
                <a:cs typeface="+mn-cs"/>
              </a:rPr>
              <a:t>.</a:t>
            </a:r>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30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Different physical media support the transfer of bits at different rates. Data transfer is usually discussed in terms of bandwidth and throughput.</a:t>
            </a:r>
          </a:p>
          <a:p>
            <a:r>
              <a:rPr lang="en-GB" sz="1200" b="0" i="0" kern="1200" dirty="0">
                <a:solidFill>
                  <a:schemeClr val="tx1"/>
                </a:solidFill>
                <a:effectLst/>
                <a:latin typeface="+mn-lt"/>
                <a:ea typeface="+mn-ea"/>
                <a:cs typeface="+mn-cs"/>
              </a:rPr>
              <a:t>Bandwidth is the capacity of a medium to carry data. Digital bandwidth measures the amount of data that can flow from one place to another in a given amount of time. Bandwidth is typically measured in kilobits per second (kb/s), megabits per second (Mb/s), or gigabits per second (Gb/s). </a:t>
            </a:r>
          </a:p>
          <a:p>
            <a:r>
              <a:rPr lang="en-GB" sz="1200" b="0" i="0" kern="1200" dirty="0">
                <a:solidFill>
                  <a:schemeClr val="tx1"/>
                </a:solidFill>
                <a:effectLst/>
                <a:latin typeface="+mn-lt"/>
                <a:ea typeface="+mn-ea"/>
                <a:cs typeface="+mn-cs"/>
              </a:rPr>
              <a:t>A combination of factors determines the practical bandwidth of a network:</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properties of the physical media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technologies chosen for </a:t>
            </a:r>
            <a:r>
              <a:rPr lang="en-GB" sz="1200" b="0" i="0" kern="1200" dirty="0" err="1">
                <a:solidFill>
                  <a:schemeClr val="tx1"/>
                </a:solidFill>
                <a:effectLst/>
                <a:latin typeface="+mn-lt"/>
                <a:ea typeface="+mn-ea"/>
                <a:cs typeface="+mn-cs"/>
              </a:rPr>
              <a:t>signaling</a:t>
            </a:r>
            <a:r>
              <a:rPr lang="en-GB" sz="1200" b="0" i="0" kern="1200" dirty="0">
                <a:solidFill>
                  <a:schemeClr val="tx1"/>
                </a:solidFill>
                <a:effectLst/>
                <a:latin typeface="+mn-lt"/>
                <a:ea typeface="+mn-ea"/>
                <a:cs typeface="+mn-cs"/>
              </a:rPr>
              <a:t> and detecting network signals</a:t>
            </a:r>
          </a:p>
          <a:p>
            <a:pPr marL="171450" indent="-171450">
              <a:buFont typeface="Arial" panose="020B0604020202020204" pitchFamily="34" charset="0"/>
              <a:buChar char="•"/>
            </a:pPr>
            <a:endParaRPr lang="en-GB" sz="1200" b="0" i="0" kern="1200" dirty="0">
              <a:solidFill>
                <a:schemeClr val="tx1"/>
              </a:solidFill>
              <a:effectLst/>
              <a:latin typeface="+mn-lt"/>
              <a:ea typeface="+mn-ea"/>
              <a:cs typeface="+mn-cs"/>
            </a:endParaRPr>
          </a:p>
          <a:p>
            <a:pPr marL="171450" indent="-171450">
              <a:buFont typeface="Arial" panose="020B0604020202020204" pitchFamily="34" charset="0"/>
              <a:buChar char="•"/>
            </a:pP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Throughput is the measure of the transfer of bits across the media over a given period of time.</a:t>
            </a:r>
          </a:p>
          <a:p>
            <a:r>
              <a:rPr lang="en-GB" sz="1200" b="0" i="0" kern="1200" dirty="0">
                <a:solidFill>
                  <a:schemeClr val="tx1"/>
                </a:solidFill>
                <a:effectLst/>
                <a:latin typeface="+mn-lt"/>
                <a:ea typeface="+mn-ea"/>
                <a:cs typeface="+mn-cs"/>
              </a:rPr>
              <a:t>Throughput does not match the specified bandwidth in physical layer implementations. Many factors influence throughput, including:</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amount of traffic</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type of traffic</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The latency created by the number of network devices encountered between source and destination</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Throughput cannot be faster than the slowest link in the path from source to destination. </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of the OSI model (Layer 2) is responsible for: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Allowing the upper layers to access the media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Accepting Layer 3 packets and packaging them into frames</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Preparing network data for the physical network</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Controlling how data is placed and received on the media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Exchanging frames between nodes over a physical network media, such as UTP or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Receiving and directing packets to an upper layer protocol</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Performing error detection</a:t>
            </a:r>
          </a:p>
          <a:p>
            <a:r>
              <a:rPr lang="en-GB" sz="1200" b="0" i="0" kern="1200" dirty="0">
                <a:solidFill>
                  <a:schemeClr val="tx1"/>
                </a:solidFill>
                <a:effectLst/>
                <a:latin typeface="+mn-lt"/>
                <a:ea typeface="+mn-ea"/>
                <a:cs typeface="+mn-cs"/>
              </a:rPr>
              <a:t>The Layer 2 notation for network devices connected to a common media is called a node. Nodes build and forward frames.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data link layer effectively separates the media transitions that occur as the packet is forwarded from the communication processes of the higher layers. The data link layer receives packets from and directs packets to an upper layer protocol, in this case </a:t>
            </a:r>
            <a:r>
              <a:rPr lang="en-GB" sz="1200" b="0" i="0" kern="1200" dirty="0" err="1">
                <a:solidFill>
                  <a:schemeClr val="tx1"/>
                </a:solidFill>
                <a:effectLst/>
                <a:latin typeface="+mn-lt"/>
                <a:ea typeface="+mn-ea"/>
                <a:cs typeface="+mn-cs"/>
              </a:rPr>
              <a:t>IPv4</a:t>
            </a:r>
            <a:r>
              <a:rPr lang="en-GB" sz="1200" b="0" i="0" kern="1200" dirty="0">
                <a:solidFill>
                  <a:schemeClr val="tx1"/>
                </a:solidFill>
                <a:effectLst/>
                <a:latin typeface="+mn-lt"/>
                <a:ea typeface="+mn-ea"/>
                <a:cs typeface="+mn-cs"/>
              </a:rPr>
              <a:t> or </a:t>
            </a:r>
            <a:r>
              <a:rPr lang="en-GB" sz="1200" b="0" i="0" kern="1200" dirty="0" err="1">
                <a:solidFill>
                  <a:schemeClr val="tx1"/>
                </a:solidFill>
                <a:effectLst/>
                <a:latin typeface="+mn-lt"/>
                <a:ea typeface="+mn-ea"/>
                <a:cs typeface="+mn-cs"/>
              </a:rPr>
              <a:t>IPv6</a:t>
            </a:r>
            <a:r>
              <a:rPr lang="en-GB" sz="1200" b="0" i="0" kern="1200" dirty="0">
                <a:solidFill>
                  <a:schemeClr val="tx1"/>
                </a:solidFill>
                <a:effectLst/>
                <a:latin typeface="+mn-lt"/>
                <a:ea typeface="+mn-ea"/>
                <a:cs typeface="+mn-cs"/>
              </a:rPr>
              <a:t>. This upper layer protocol </a:t>
            </a:r>
            <a:r>
              <a:rPr lang="en-GB" sz="1200" b="1" i="0" kern="1200" dirty="0">
                <a:solidFill>
                  <a:schemeClr val="tx1"/>
                </a:solidFill>
                <a:effectLst/>
                <a:latin typeface="+mn-lt"/>
                <a:ea typeface="+mn-ea"/>
                <a:cs typeface="+mn-cs"/>
              </a:rPr>
              <a:t>does not need to be aware of which media the communication will use.</a:t>
            </a:r>
          </a:p>
          <a:p>
            <a:endParaRPr lang="en-US" b="1" dirty="0"/>
          </a:p>
        </p:txBody>
      </p:sp>
      <p:sp>
        <p:nvSpPr>
          <p:cNvPr id="4" name="Slide Number Placeholder 3"/>
          <p:cNvSpPr>
            <a:spLocks noGrp="1"/>
          </p:cNvSpPr>
          <p:nvPr>
            <p:ph type="sldNum" sz="quarter" idx="10"/>
          </p:nvPr>
        </p:nvSpPr>
        <p:spPr/>
        <p:txBody>
          <a:bodyPr/>
          <a:lstStyle/>
          <a:p>
            <a:fld id="{AC72CD79-D36A-4E01-AE1C-064887FE954D}" type="slidenum">
              <a:rPr lang="en-US" smtClean="0"/>
              <a:t>32</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is divided into two sublayers:</a:t>
            </a:r>
          </a:p>
          <a:p>
            <a:r>
              <a:rPr lang="en-GB" sz="1200" b="1" i="0" kern="1200" dirty="0">
                <a:solidFill>
                  <a:schemeClr val="tx1"/>
                </a:solidFill>
                <a:effectLst/>
                <a:latin typeface="+mn-lt"/>
                <a:ea typeface="+mn-ea"/>
                <a:cs typeface="+mn-cs"/>
              </a:rPr>
              <a:t>Logical Link Control (LLC)</a:t>
            </a:r>
            <a:r>
              <a:rPr lang="en-GB" sz="1200" b="0" i="0" kern="1200" dirty="0">
                <a:solidFill>
                  <a:schemeClr val="tx1"/>
                </a:solidFill>
                <a:effectLst/>
                <a:latin typeface="+mn-lt"/>
                <a:ea typeface="+mn-ea"/>
                <a:cs typeface="+mn-cs"/>
              </a:rPr>
              <a:t> - This upper sublayer communicates with the network layer. It places information in the frame that identifies which network layer protocol is being used for the frame. This information allows multiple Layer 3 protocols, such as </a:t>
            </a:r>
            <a:r>
              <a:rPr lang="en-GB" sz="1200" b="0" i="0" kern="1200" dirty="0" err="1">
                <a:solidFill>
                  <a:schemeClr val="tx1"/>
                </a:solidFill>
                <a:effectLst/>
                <a:latin typeface="+mn-lt"/>
                <a:ea typeface="+mn-ea"/>
                <a:cs typeface="+mn-cs"/>
              </a:rPr>
              <a:t>IPv4</a:t>
            </a:r>
            <a:r>
              <a:rPr lang="en-GB" sz="1200" b="0" i="0" kern="1200" dirty="0">
                <a:solidFill>
                  <a:schemeClr val="tx1"/>
                </a:solidFill>
                <a:effectLst/>
                <a:latin typeface="+mn-lt"/>
                <a:ea typeface="+mn-ea"/>
                <a:cs typeface="+mn-cs"/>
              </a:rPr>
              <a:t> and </a:t>
            </a:r>
            <a:r>
              <a:rPr lang="en-GB" sz="1200" b="0" i="0" kern="1200" dirty="0" err="1">
                <a:solidFill>
                  <a:schemeClr val="tx1"/>
                </a:solidFill>
                <a:effectLst/>
                <a:latin typeface="+mn-lt"/>
                <a:ea typeface="+mn-ea"/>
                <a:cs typeface="+mn-cs"/>
              </a:rPr>
              <a:t>IPv6</a:t>
            </a:r>
            <a:r>
              <a:rPr lang="en-GB" sz="1200" b="0" i="0" kern="1200" dirty="0">
                <a:solidFill>
                  <a:schemeClr val="tx1"/>
                </a:solidFill>
                <a:effectLst/>
                <a:latin typeface="+mn-lt"/>
                <a:ea typeface="+mn-ea"/>
                <a:cs typeface="+mn-cs"/>
              </a:rPr>
              <a:t>, to utilize the same network interface and media.</a:t>
            </a:r>
          </a:p>
          <a:p>
            <a:r>
              <a:rPr lang="en-GB" sz="1200" b="1" i="0" kern="1200" dirty="0">
                <a:solidFill>
                  <a:schemeClr val="tx1"/>
                </a:solidFill>
                <a:effectLst/>
                <a:latin typeface="+mn-lt"/>
                <a:ea typeface="+mn-ea"/>
                <a:cs typeface="+mn-cs"/>
              </a:rPr>
              <a:t>Media Access Control (MAC)</a:t>
            </a:r>
            <a:r>
              <a:rPr lang="en-GB" sz="1200" b="0" i="0" kern="1200" dirty="0">
                <a:solidFill>
                  <a:schemeClr val="tx1"/>
                </a:solidFill>
                <a:effectLst/>
                <a:latin typeface="+mn-lt"/>
                <a:ea typeface="+mn-ea"/>
                <a:cs typeface="+mn-cs"/>
              </a:rPr>
              <a:t> - This lower sublayer defines the media access processes performed by the hardware. It provides data link layer addressing and access to various network technologies.</a:t>
            </a:r>
            <a:r>
              <a:rPr lang="en-GB" sz="1200" b="0" i="0" kern="1200" baseline="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For instance, the MAC sublayer communicates with Ethernet LAN technology to send and receive frames over copper or </a:t>
            </a:r>
            <a:r>
              <a:rPr lang="en-GB" sz="1200" b="0" i="0" kern="1200" dirty="0" err="1">
                <a:solidFill>
                  <a:schemeClr val="tx1"/>
                </a:solidFill>
                <a:effectLst/>
                <a:latin typeface="+mn-lt"/>
                <a:ea typeface="+mn-ea"/>
                <a:cs typeface="+mn-cs"/>
              </a:rPr>
              <a:t>fiber</a:t>
            </a:r>
            <a:r>
              <a:rPr lang="en-GB" sz="1200" b="0" i="0" kern="1200" dirty="0">
                <a:solidFill>
                  <a:schemeClr val="tx1"/>
                </a:solidFill>
                <a:effectLst/>
                <a:latin typeface="+mn-lt"/>
                <a:ea typeface="+mn-ea"/>
                <a:cs typeface="+mn-cs"/>
              </a:rPr>
              <a:t>-optic cable. The MAC sublayer also communicates with wireless technologies such as Wi-Fi and Bluetooth to send and receive frames wirelessly.</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Layer 2 protocols specify the encapsulation of a packet into a frame and the techniques for getting the encapsulated packet on and off each medium. </a:t>
            </a:r>
          </a:p>
          <a:p>
            <a:r>
              <a:rPr lang="en-GB" sz="1200" b="0" i="0" kern="1200" dirty="0">
                <a:solidFill>
                  <a:schemeClr val="tx1"/>
                </a:solidFill>
                <a:effectLst/>
                <a:latin typeface="+mn-lt"/>
                <a:ea typeface="+mn-ea"/>
                <a:cs typeface="+mn-cs"/>
              </a:rPr>
              <a:t>The technique used for getting the frame on and off the media is called the media access control method.</a:t>
            </a:r>
          </a:p>
          <a:p>
            <a:r>
              <a:rPr lang="en-GB" sz="1200" b="0" i="0" kern="1200" dirty="0">
                <a:solidFill>
                  <a:schemeClr val="tx1"/>
                </a:solidFill>
                <a:effectLst/>
                <a:latin typeface="+mn-lt"/>
                <a:ea typeface="+mn-ea"/>
                <a:cs typeface="+mn-cs"/>
              </a:rPr>
              <a:t>As packets travel from the source host to the destination host, they typically traverse over different physical networks. These physical networks can consist of different types of physical media such as copper wires, optical </a:t>
            </a:r>
            <a:r>
              <a:rPr lang="en-GB" sz="1200" b="0" i="0" kern="1200" dirty="0" err="1">
                <a:solidFill>
                  <a:schemeClr val="tx1"/>
                </a:solidFill>
                <a:effectLst/>
                <a:latin typeface="+mn-lt"/>
                <a:ea typeface="+mn-ea"/>
                <a:cs typeface="+mn-cs"/>
              </a:rPr>
              <a:t>fibers</a:t>
            </a:r>
            <a:r>
              <a:rPr lang="en-GB" sz="1200" b="0" i="0" kern="1200" dirty="0">
                <a:solidFill>
                  <a:schemeClr val="tx1"/>
                </a:solidFill>
                <a:effectLst/>
                <a:latin typeface="+mn-lt"/>
                <a:ea typeface="+mn-ea"/>
                <a:cs typeface="+mn-cs"/>
              </a:rPr>
              <a:t>, and wireless consisting of electromagnetic signals, radio and microwave frequencies, and satellite links.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Without the data link layer, network layer protocols such as IP, would have to make provisions for connecting to every type of media that could exist along a delivery path. Moreover, IP would have to adapt every time a new network technology or medium was developed. This process would hamper protocol and network media innovation and development. This is a key reason for using a layered approach to networking.</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Different media access control methods may be required during a single communication. Each network environment that packets encounter as they travel from a local host to a remote host can have different characteristics. For example, an Ethernet LAN consists of many hosts contending to access the network medium. Serial links consist of a direct connection between only two devices.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Router interfaces encapsulate the packet into the appropriate frame, and a suitable media access control method is used to access each link. In any given exchange of network layer packets, there may be numerous data link layers and media transitions.</a:t>
            </a:r>
          </a:p>
          <a:p>
            <a:r>
              <a:rPr lang="en-GB" sz="1200" b="0" i="0" kern="1200" dirty="0">
                <a:solidFill>
                  <a:schemeClr val="tx1"/>
                </a:solidFill>
                <a:effectLst/>
                <a:latin typeface="+mn-lt"/>
                <a:ea typeface="+mn-ea"/>
                <a:cs typeface="+mn-cs"/>
              </a:rPr>
              <a:t>At each hop along the path, a router: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Accepts a frame from a medium</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De-encapsulates the frame</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Re-encapsulates the packet into a new frame</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Forwards the new frame appropriate to the medium of that segment of the physical network</a:t>
            </a:r>
          </a:p>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prepares a packet for transport across the local media by encapsulating it with a header and a trailer to create a frame. The description of a frame is a key element of each data link layer protocol. Although there are many different data link layer protocols that describe data link layer frames, each frame type has three basic parts:</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Header</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Data</a:t>
            </a:r>
          </a:p>
          <a:p>
            <a:pPr marL="171450" indent="-171450">
              <a:buFont typeface="Arial" panose="020B0604020202020204" pitchFamily="34" charset="0"/>
              <a:buChar char="•"/>
            </a:pPr>
            <a:r>
              <a:rPr lang="en-GB" sz="1200" b="0" i="0" kern="1200" dirty="0">
                <a:solidFill>
                  <a:schemeClr val="tx1"/>
                </a:solidFill>
                <a:effectLst/>
                <a:latin typeface="+mn-lt"/>
                <a:ea typeface="+mn-ea"/>
                <a:cs typeface="+mn-cs"/>
              </a:rPr>
              <a:t>Trailer</a:t>
            </a:r>
          </a:p>
          <a:p>
            <a:r>
              <a:rPr lang="en-GB" sz="1200" b="0" i="0" kern="1200" dirty="0">
                <a:solidFill>
                  <a:schemeClr val="tx1"/>
                </a:solidFill>
                <a:effectLst/>
                <a:latin typeface="+mn-lt"/>
                <a:ea typeface="+mn-ea"/>
                <a:cs typeface="+mn-cs"/>
              </a:rPr>
              <a:t>All data link layer protocols encapsulate the Layer 3 PDU within the data field of the frame. However, the structure of the frame and the fields contained in the header and trailer vary according to the protocol.</a:t>
            </a:r>
          </a:p>
          <a:p>
            <a:endParaRPr lang="en-US" dirty="0"/>
          </a:p>
          <a:p>
            <a:r>
              <a:rPr lang="en-GB" sz="1200" b="0" i="0" kern="1200" dirty="0">
                <a:solidFill>
                  <a:schemeClr val="tx1"/>
                </a:solidFill>
                <a:effectLst/>
                <a:latin typeface="+mn-lt"/>
                <a:ea typeface="+mn-ea"/>
                <a:cs typeface="+mn-cs"/>
              </a:rPr>
              <a:t>Framing breaks the stream into decipherable groupings, with control information inserted in the header and trailer as values in different fields. This format gives the physical signals a structure that can be received by nodes and decoded into packets at the destination.</a:t>
            </a:r>
          </a:p>
          <a:p>
            <a:r>
              <a:rPr lang="en-GB" sz="1200" b="0" i="0" kern="1200" dirty="0">
                <a:solidFill>
                  <a:schemeClr val="tx1"/>
                </a:solidFill>
                <a:effectLst/>
                <a:latin typeface="+mn-lt"/>
                <a:ea typeface="+mn-ea"/>
                <a:cs typeface="+mn-cs"/>
              </a:rPr>
              <a:t>Generic frame field types include:</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Frame start and stop indicator flags</a:t>
            </a:r>
            <a:r>
              <a:rPr lang="en-GB" sz="1200" b="0" i="0" kern="1200" dirty="0">
                <a:solidFill>
                  <a:schemeClr val="tx1"/>
                </a:solidFill>
                <a:effectLst/>
                <a:latin typeface="+mn-lt"/>
                <a:ea typeface="+mn-ea"/>
                <a:cs typeface="+mn-cs"/>
              </a:rPr>
              <a:t> - Used to identify the beginning and end limits of the frame.</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Addressing</a:t>
            </a:r>
            <a:r>
              <a:rPr lang="en-GB" sz="1200" b="0" i="0" kern="1200" dirty="0">
                <a:solidFill>
                  <a:schemeClr val="tx1"/>
                </a:solidFill>
                <a:effectLst/>
                <a:latin typeface="+mn-lt"/>
                <a:ea typeface="+mn-ea"/>
                <a:cs typeface="+mn-cs"/>
              </a:rPr>
              <a:t> - Indicates the source and destination nodes on the media.</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Type</a:t>
            </a:r>
            <a:r>
              <a:rPr lang="en-GB" sz="1200" b="0" i="0" kern="1200" dirty="0">
                <a:solidFill>
                  <a:schemeClr val="tx1"/>
                </a:solidFill>
                <a:effectLst/>
                <a:latin typeface="+mn-lt"/>
                <a:ea typeface="+mn-ea"/>
                <a:cs typeface="+mn-cs"/>
              </a:rPr>
              <a:t> - Identifies the Layer 3 protocol in the data field.</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Control</a:t>
            </a:r>
            <a:r>
              <a:rPr lang="en-GB" sz="1200" b="0" i="0" kern="1200" dirty="0">
                <a:solidFill>
                  <a:schemeClr val="tx1"/>
                </a:solidFill>
                <a:effectLst/>
                <a:latin typeface="+mn-lt"/>
                <a:ea typeface="+mn-ea"/>
                <a:cs typeface="+mn-cs"/>
              </a:rPr>
              <a:t> - Identifies special flow control services such as quality of service (</a:t>
            </a:r>
            <a:r>
              <a:rPr lang="en-GB" sz="1200" b="0" i="0" kern="1200" dirty="0" err="1">
                <a:solidFill>
                  <a:schemeClr val="tx1"/>
                </a:solidFill>
                <a:effectLst/>
                <a:latin typeface="+mn-lt"/>
                <a:ea typeface="+mn-ea"/>
                <a:cs typeface="+mn-cs"/>
              </a:rPr>
              <a:t>QoS</a:t>
            </a:r>
            <a:r>
              <a:rPr lang="en-GB"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Data</a:t>
            </a:r>
            <a:r>
              <a:rPr lang="en-GB" sz="1200" b="0" i="0" kern="1200" dirty="0">
                <a:solidFill>
                  <a:schemeClr val="tx1"/>
                </a:solidFill>
                <a:effectLst/>
                <a:latin typeface="+mn-lt"/>
                <a:ea typeface="+mn-ea"/>
                <a:cs typeface="+mn-cs"/>
              </a:rPr>
              <a:t> - Contains the frame payload (i.e., packet header, segment header, and the data).</a:t>
            </a:r>
          </a:p>
          <a:p>
            <a:pPr marL="171450" indent="-171450">
              <a:buFont typeface="Arial" panose="020B0604020202020204" pitchFamily="34" charset="0"/>
              <a:buChar char="•"/>
            </a:pPr>
            <a:r>
              <a:rPr lang="en-GB" sz="1200" b="1" i="0" kern="1200" dirty="0">
                <a:solidFill>
                  <a:schemeClr val="tx1"/>
                </a:solidFill>
                <a:effectLst/>
                <a:latin typeface="+mn-lt"/>
                <a:ea typeface="+mn-ea"/>
                <a:cs typeface="+mn-cs"/>
              </a:rPr>
              <a:t>Error Detection</a:t>
            </a:r>
            <a:r>
              <a:rPr lang="en-GB" sz="1200" b="0" i="0" kern="1200" dirty="0">
                <a:solidFill>
                  <a:schemeClr val="tx1"/>
                </a:solidFill>
                <a:effectLst/>
                <a:latin typeface="+mn-lt"/>
                <a:ea typeface="+mn-ea"/>
                <a:cs typeface="+mn-cs"/>
              </a:rPr>
              <a:t> - These frame fields are used for error detection and are included after the data to form the trailer.</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Not all protocols include all of these fields. The standards for a specific data link protocol define the actual frame format.</a:t>
            </a:r>
          </a:p>
          <a:p>
            <a:r>
              <a:rPr lang="en-GB" sz="1200" b="0" i="0" kern="1200" dirty="0">
                <a:solidFill>
                  <a:schemeClr val="tx1"/>
                </a:solidFill>
                <a:effectLst/>
                <a:latin typeface="+mn-lt"/>
                <a:ea typeface="+mn-ea"/>
                <a:cs typeface="+mn-cs"/>
              </a:rPr>
              <a:t>Data link layer protocols add a trailer to the end of each frame. The trailer is used to determine if the frame arrived without error. This process is called error detection and is accomplished by placing a logical or mathematical summary of the bits that comprise the frame in the trailer. </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data link layer provides </a:t>
            </a:r>
            <a:r>
              <a:rPr lang="en-GB" sz="1200" b="1" i="0" kern="1200" dirty="0">
                <a:solidFill>
                  <a:schemeClr val="tx1"/>
                </a:solidFill>
                <a:effectLst/>
                <a:latin typeface="+mn-lt"/>
                <a:ea typeface="+mn-ea"/>
                <a:cs typeface="+mn-cs"/>
              </a:rPr>
              <a:t>physical</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addressing that is used in transporting a frame across a shared local media</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Data link layer addressing is contained within the frame header and specifies the frame destination node on the local network. The frame header may also contain the source address of the frame.</a:t>
            </a:r>
          </a:p>
          <a:p>
            <a:r>
              <a:rPr lang="en-GB" sz="1200" b="0" i="0" kern="1200" dirty="0">
                <a:solidFill>
                  <a:schemeClr val="tx1"/>
                </a:solidFill>
                <a:effectLst/>
                <a:latin typeface="+mn-lt"/>
                <a:ea typeface="+mn-ea"/>
                <a:cs typeface="+mn-cs"/>
              </a:rPr>
              <a:t>Unlike Layer 3 logical addresses, which are hierarchical, physical addresses do not indicate on what network the device is located. Rather, the physical address is unique to the specific device. </a:t>
            </a:r>
          </a:p>
          <a:p>
            <a:r>
              <a:rPr lang="en-GB" sz="1200" b="0" i="0" kern="1200" dirty="0">
                <a:solidFill>
                  <a:schemeClr val="tx1"/>
                </a:solidFill>
                <a:effectLst/>
                <a:latin typeface="+mn-lt"/>
                <a:ea typeface="+mn-ea"/>
                <a:cs typeface="+mn-cs"/>
              </a:rPr>
              <a:t>In the example: as the IP packet travels from host-to-router, router-to-router, and finally router-to-host, at each point along the way the IP packet is encapsulated in a new data link frame. Each data link frame contains the source data link address of the NIC card sending the frame, and the destination data link address of the NIC card receiving the frame.</a:t>
            </a:r>
          </a:p>
          <a:p>
            <a:endParaRPr lang="en-GB" sz="1200" b="0" i="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36</a:t>
            </a:fld>
            <a:endParaRPr lang="en-US"/>
          </a:p>
        </p:txBody>
      </p:sp>
    </p:spTree>
    <p:extLst>
      <p:ext uri="{BB962C8B-B14F-4D97-AF65-F5344CB8AC3E}">
        <p14:creationId xmlns:p14="http://schemas.microsoft.com/office/powerpoint/2010/main" val="3734145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atin typeface="+mj-lt"/>
              </a:defRPr>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5.emf"/></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6.jpeg"/><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jpe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9.jpe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1C588-CE81-6651-C6F0-0CA7CA0CBF24}"/>
              </a:ext>
            </a:extLst>
          </p:cNvPr>
          <p:cNvSpPr>
            <a:spLocks noGrp="1"/>
          </p:cNvSpPr>
          <p:nvPr>
            <p:ph type="ctrTitle"/>
          </p:nvPr>
        </p:nvSpPr>
        <p:spPr>
          <a:xfrm>
            <a:off x="1523999" y="1122363"/>
            <a:ext cx="9865895" cy="2387600"/>
          </a:xfrm>
        </p:spPr>
        <p:txBody>
          <a:bodyPr/>
          <a:lstStyle/>
          <a:p>
            <a:r>
              <a:rPr lang="en-US" dirty="0"/>
              <a:t>CMP301 – Computer Networks</a:t>
            </a:r>
            <a:br>
              <a:rPr lang="en-US" dirty="0"/>
            </a:br>
            <a:r>
              <a:rPr lang="en-US" dirty="0"/>
              <a:t>Lecture week 2</a:t>
            </a:r>
            <a:endParaRPr lang="en-GB" dirty="0"/>
          </a:p>
        </p:txBody>
      </p:sp>
      <p:sp>
        <p:nvSpPr>
          <p:cNvPr id="3" name="Subtitle 2">
            <a:extLst>
              <a:ext uri="{FF2B5EF4-FFF2-40B4-BE49-F238E27FC236}">
                <a16:creationId xmlns:a16="http://schemas.microsoft.com/office/drawing/2014/main" id="{1908AA33-5DAA-3307-E1C5-8E4DDF3F57B9}"/>
              </a:ext>
            </a:extLst>
          </p:cNvPr>
          <p:cNvSpPr>
            <a:spLocks noGrp="1"/>
          </p:cNvSpPr>
          <p:nvPr>
            <p:ph type="subTitle" idx="1"/>
          </p:nvPr>
        </p:nvSpPr>
        <p:spPr/>
        <p:txBody>
          <a:bodyPr/>
          <a:lstStyle/>
          <a:p>
            <a:r>
              <a:rPr lang="en-US" dirty="0"/>
              <a:t>Dr. omar Nibouche</a:t>
            </a:r>
            <a:endParaRPr lang="en-GB" dirty="0"/>
          </a:p>
        </p:txBody>
      </p:sp>
      <p:sp>
        <p:nvSpPr>
          <p:cNvPr id="4" name="Slide Number Placeholder 3">
            <a:extLst>
              <a:ext uri="{FF2B5EF4-FFF2-40B4-BE49-F238E27FC236}">
                <a16:creationId xmlns:a16="http://schemas.microsoft.com/office/drawing/2014/main" id="{167B7763-C536-60BF-4F19-E62750F37421}"/>
              </a:ext>
            </a:extLst>
          </p:cNvPr>
          <p:cNvSpPr>
            <a:spLocks noGrp="1"/>
          </p:cNvSpPr>
          <p:nvPr>
            <p:ph type="sldNum" sz="quarter" idx="4"/>
          </p:nvPr>
        </p:nvSpPr>
        <p:spPr/>
        <p:txBody>
          <a:bodyPr/>
          <a:lstStyle/>
          <a:p>
            <a:r>
              <a:rPr lang="en-US"/>
              <a:t>Introduction: 1-</a:t>
            </a:r>
            <a:fld id="{C4204591-24BD-A542-B9D5-F8D8A88D2FEE}" type="slidenum">
              <a:rPr lang="en-US" smtClean="0"/>
              <a:pPr/>
              <a:t>1</a:t>
            </a:fld>
            <a:endParaRPr lang="en-US" dirty="0"/>
          </a:p>
        </p:txBody>
      </p:sp>
    </p:spTree>
    <p:extLst>
      <p:ext uri="{BB962C8B-B14F-4D97-AF65-F5344CB8AC3E}">
        <p14:creationId xmlns:p14="http://schemas.microsoft.com/office/powerpoint/2010/main" val="204753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latin typeface="+mj-lt"/>
                <a:cs typeface="Calibri" panose="020F0502020204030204" pitchFamily="34" charset="0"/>
              </a:rPr>
              <a:t>Lecture Week 2</a:t>
            </a:r>
            <a:endParaRPr lang="en-US" dirty="0">
              <a:latin typeface="+mj-lt"/>
            </a:endParaRPr>
          </a:p>
        </p:txBody>
      </p:sp>
      <p:sp>
        <p:nvSpPr>
          <p:cNvPr id="4" name="Content Placeholder 3">
            <a:extLst>
              <a:ext uri="{FF2B5EF4-FFF2-40B4-BE49-F238E27FC236}">
                <a16:creationId xmlns:a16="http://schemas.microsoft.com/office/drawing/2014/main" id="{F6E2ACD2-5E28-0840-A1E8-F9AB901FE8BC}"/>
              </a:ext>
            </a:extLst>
          </p:cNvPr>
          <p:cNvSpPr>
            <a:spLocks noGrp="1"/>
          </p:cNvSpPr>
          <p:nvPr>
            <p:ph sz="half" idx="1"/>
          </p:nvPr>
        </p:nvSpPr>
        <p:spPr>
          <a:xfrm>
            <a:off x="229185" y="1375384"/>
            <a:ext cx="6299952" cy="4351338"/>
          </a:xfrm>
        </p:spPr>
        <p:txBody>
          <a:bodyPr>
            <a:noAutofit/>
          </a:bodyPr>
          <a:lstStyle/>
          <a:p>
            <a:pPr>
              <a:buNone/>
            </a:pPr>
            <a:r>
              <a:rPr lang="en-US" altLang="en-US" sz="3200" i="1" dirty="0">
                <a:solidFill>
                  <a:srgbClr val="CC0000"/>
                </a:solidFill>
                <a:latin typeface="Calibri" panose="020F0502020204030204" pitchFamily="34" charset="0"/>
                <a:cs typeface="Calibri" panose="020F0502020204030204" pitchFamily="34" charset="0"/>
              </a:rPr>
              <a:t>Goal:</a:t>
            </a:r>
            <a:r>
              <a:rPr lang="en-US" altLang="en-US" sz="3200" i="1" dirty="0">
                <a:latin typeface="Calibri" panose="020F0502020204030204" pitchFamily="34" charset="0"/>
                <a:cs typeface="Calibri" panose="020F0502020204030204" pitchFamily="34" charset="0"/>
              </a:rPr>
              <a:t> </a:t>
            </a:r>
          </a:p>
          <a:p>
            <a:pPr marL="342900" indent="-225425">
              <a:spcBef>
                <a:spcPts val="600"/>
              </a:spcBef>
            </a:pPr>
            <a:r>
              <a:rPr lang="en-US" altLang="ja-JP" sz="2400" dirty="0">
                <a:cs typeface="Calibri" panose="020F0502020204030204" pitchFamily="34" charset="0"/>
              </a:rPr>
              <a:t>Introduction to terminology, further key topics in networking</a:t>
            </a:r>
          </a:p>
          <a:p>
            <a:pPr marL="342900" indent="-225425">
              <a:spcBef>
                <a:spcPts val="600"/>
              </a:spcBef>
            </a:pPr>
            <a:r>
              <a:rPr lang="en-US" altLang="ja-JP" sz="2400" dirty="0">
                <a:cs typeface="Calibri" panose="020F0502020204030204" pitchFamily="34" charset="0"/>
              </a:rPr>
              <a:t>Introducing communication media</a:t>
            </a:r>
          </a:p>
          <a:p>
            <a:pPr marL="457200" indent="-225425">
              <a:spcBef>
                <a:spcPts val="600"/>
              </a:spcBef>
            </a:pPr>
            <a:r>
              <a:rPr lang="en-US" altLang="en-US" sz="2400" dirty="0">
                <a:cs typeface="Calibri" panose="020F0502020204030204" pitchFamily="34" charset="0"/>
              </a:rPr>
              <a:t>Get ready for laboratory work</a:t>
            </a:r>
          </a:p>
          <a:p>
            <a:pPr marL="342900" indent="-225425">
              <a:spcBef>
                <a:spcPts val="600"/>
              </a:spcBef>
            </a:pPr>
            <a:r>
              <a:rPr lang="en-US" altLang="en-US" sz="2400" dirty="0">
                <a:cs typeface="Calibri" panose="020F0502020204030204" pitchFamily="34" charset="0"/>
              </a:rPr>
              <a:t>Material: gathered, edited and synthesized by Omar</a:t>
            </a:r>
          </a:p>
          <a:p>
            <a:pPr marL="342900" indent="-225425">
              <a:spcBef>
                <a:spcPts val="600"/>
              </a:spcBef>
            </a:pPr>
            <a:r>
              <a:rPr lang="en-US" altLang="en-US" sz="2400" dirty="0">
                <a:cs typeface="Calibri" panose="020F0502020204030204" pitchFamily="34" charset="0"/>
              </a:rPr>
              <a:t>Source:  </a:t>
            </a:r>
          </a:p>
          <a:p>
            <a:pPr marL="117475" indent="0">
              <a:spcBef>
                <a:spcPts val="600"/>
              </a:spcBef>
              <a:buNone/>
            </a:pPr>
            <a:r>
              <a:rPr lang="en-US" sz="2400" b="0" i="0" dirty="0">
                <a:effectLst/>
                <a:cs typeface="Calibri" panose="020F0502020204030204" pitchFamily="34" charset="0"/>
              </a:rPr>
              <a:t>	</a:t>
            </a:r>
            <a:r>
              <a:rPr lang="en-GB" sz="2400" b="1" i="0" dirty="0">
                <a:effectLst/>
              </a:rPr>
              <a:t>CCNA: Introduction to Networks</a:t>
            </a:r>
          </a:p>
          <a:p>
            <a:pPr marL="117475" indent="0">
              <a:spcBef>
                <a:spcPts val="600"/>
              </a:spcBef>
              <a:buNone/>
            </a:pPr>
            <a:r>
              <a:rPr lang="en-US" altLang="en-US" sz="2400" dirty="0">
                <a:cs typeface="Calibri" panose="020F0502020204030204" pitchFamily="34" charset="0"/>
              </a:rPr>
              <a:t>&amp; </a:t>
            </a:r>
          </a:p>
          <a:p>
            <a:pPr marL="117475" indent="0">
              <a:spcBef>
                <a:spcPts val="600"/>
              </a:spcBef>
              <a:buNone/>
            </a:pPr>
            <a:r>
              <a:rPr lang="en-US" altLang="en-US" sz="2400" i="1" dirty="0"/>
              <a:t>	</a:t>
            </a:r>
            <a:r>
              <a:rPr lang="en-US" altLang="en-US" sz="2400" b="1" i="1" dirty="0"/>
              <a:t>Computer Networking: A Top-Down Approach</a:t>
            </a:r>
            <a:endParaRPr lang="en-US" altLang="en-US" sz="2400" b="1" dirty="0">
              <a:cs typeface="Calibri" panose="020F0502020204030204" pitchFamily="34" charset="0"/>
            </a:endParaRPr>
          </a:p>
          <a:p>
            <a:pPr marL="130175" indent="0">
              <a:buNone/>
            </a:pPr>
            <a:endParaRPr lang="en-US" dirty="0"/>
          </a:p>
        </p:txBody>
      </p:sp>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r>
              <a:rPr lang="en-US"/>
              <a:t>Introduction: 1-</a:t>
            </a:r>
            <a:fld id="{C4204591-24BD-A542-B9D5-F8D8A88D2FEE}" type="slidenum">
              <a:rPr lang="en-US" smtClean="0"/>
              <a:pPr/>
              <a:t>2</a:t>
            </a:fld>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6946900" y="1422889"/>
            <a:ext cx="5015916" cy="2234712"/>
          </a:xfrm>
        </p:spPr>
        <p:txBody>
          <a:bodyPr>
            <a:normAutofit lnSpcReduction="10000"/>
          </a:bodyPr>
          <a:lstStyle/>
          <a:p>
            <a:pPr eaLnBrk="1" hangingPunct="1">
              <a:buFont typeface="Wingdings" panose="05000000000000000000" pitchFamily="2" charset="2"/>
              <a:buNone/>
            </a:pPr>
            <a:r>
              <a:rPr lang="en-US" altLang="en-US" sz="3200" i="1" dirty="0">
                <a:solidFill>
                  <a:srgbClr val="CC0000"/>
                </a:solidFill>
                <a:latin typeface="Calibri" panose="020F0502020204030204" pitchFamily="34" charset="0"/>
                <a:cs typeface="Calibri" panose="020F0502020204030204" pitchFamily="34" charset="0"/>
              </a:rPr>
              <a:t>Overview: </a:t>
            </a:r>
            <a:r>
              <a:rPr lang="en-US" altLang="en-US" sz="2600" dirty="0">
                <a:latin typeface="Calibri" panose="020F0502020204030204" pitchFamily="34" charset="0"/>
                <a:cs typeface="Calibri" panose="020F0502020204030204" pitchFamily="34" charset="0"/>
              </a:rPr>
              <a:t>What </a:t>
            </a:r>
            <a:r>
              <a:rPr lang="en-US" altLang="en-US" sz="2600" i="1" dirty="0">
                <a:latin typeface="Calibri" panose="020F0502020204030204" pitchFamily="34" charset="0"/>
                <a:cs typeface="Calibri" panose="020F0502020204030204" pitchFamily="34" charset="0"/>
              </a:rPr>
              <a:t>is</a:t>
            </a:r>
            <a:r>
              <a:rPr lang="en-US" altLang="ja-JP" sz="2600" dirty="0">
                <a:latin typeface="Calibri" panose="020F0502020204030204" pitchFamily="34" charset="0"/>
                <a:cs typeface="Calibri" panose="020F0502020204030204" pitchFamily="34" charset="0"/>
              </a:rPr>
              <a:t> the Internet?</a:t>
            </a:r>
          </a:p>
          <a:p>
            <a:pPr marL="403225" indent="-285750" eaLnBrk="1" hangingPunct="1">
              <a:spcBef>
                <a:spcPts val="800"/>
              </a:spcBef>
            </a:pPr>
            <a:r>
              <a:rPr lang="en-US" altLang="en-US" sz="2600" dirty="0">
                <a:latin typeface="Calibri" panose="020F0502020204030204" pitchFamily="34" charset="0"/>
                <a:cs typeface="Calibri" panose="020F0502020204030204" pitchFamily="34" charset="0"/>
              </a:rPr>
              <a:t>Media</a:t>
            </a:r>
            <a:endParaRPr lang="en-US" altLang="en-US" sz="2400" dirty="0">
              <a:latin typeface="Calibri" panose="020F0502020204030204" pitchFamily="34" charset="0"/>
              <a:cs typeface="Calibri" panose="020F0502020204030204" pitchFamily="34" charset="0"/>
            </a:endParaRPr>
          </a:p>
          <a:p>
            <a:pPr marL="403225" indent="-285750" eaLnBrk="1" hangingPunct="1">
              <a:spcBef>
                <a:spcPts val="800"/>
              </a:spcBef>
            </a:pPr>
            <a:r>
              <a:rPr lang="en-US" altLang="ja-JP" sz="2400" dirty="0">
                <a:latin typeface="Calibri" panose="020F0502020204030204" pitchFamily="34" charset="0"/>
                <a:cs typeface="Calibri" panose="020F0502020204030204" pitchFamily="34" charset="0"/>
              </a:rPr>
              <a:t>MAC</a:t>
            </a:r>
          </a:p>
          <a:p>
            <a:pPr marL="403225" indent="-285750" eaLnBrk="1" hangingPunct="1">
              <a:spcBef>
                <a:spcPts val="800"/>
              </a:spcBef>
            </a:pPr>
            <a:r>
              <a:rPr lang="en-US" altLang="ja-JP" sz="2400" dirty="0">
                <a:latin typeface="Calibri" panose="020F0502020204030204" pitchFamily="34" charset="0"/>
                <a:cs typeface="Calibri" panose="020F0502020204030204" pitchFamily="34" charset="0"/>
              </a:rPr>
              <a:t>Part 1 – key topics</a:t>
            </a:r>
          </a:p>
          <a:p>
            <a:pPr marL="403225" indent="-285750" eaLnBrk="1" hangingPunct="1">
              <a:spcBef>
                <a:spcPts val="800"/>
              </a:spcBef>
            </a:pPr>
            <a:r>
              <a:rPr lang="en-US" altLang="ja-JP" sz="2400" dirty="0">
                <a:latin typeface="Calibri" panose="020F0502020204030204" pitchFamily="34" charset="0"/>
                <a:cs typeface="Calibri" panose="020F0502020204030204" pitchFamily="34" charset="0"/>
              </a:rPr>
              <a:t>Part 2 – communication media</a:t>
            </a:r>
            <a:endParaRPr lang="en-US" altLang="ja-JP"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519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F35CC-2F01-CD95-8698-CDB49BA80F84}"/>
              </a:ext>
            </a:extLst>
          </p:cNvPr>
          <p:cNvSpPr>
            <a:spLocks noGrp="1"/>
          </p:cNvSpPr>
          <p:nvPr>
            <p:ph type="title"/>
          </p:nvPr>
        </p:nvSpPr>
        <p:spPr>
          <a:xfrm>
            <a:off x="342900" y="1676400"/>
            <a:ext cx="11341100" cy="3129579"/>
          </a:xfrm>
        </p:spPr>
        <p:txBody>
          <a:bodyPr/>
          <a:lstStyle/>
          <a:p>
            <a:pPr algn="ctr"/>
            <a:r>
              <a:rPr lang="en-US" dirty="0"/>
              <a:t>Part 1 – Further key topics and concepts</a:t>
            </a:r>
            <a:endParaRPr lang="en-GB" dirty="0"/>
          </a:p>
        </p:txBody>
      </p:sp>
      <p:sp>
        <p:nvSpPr>
          <p:cNvPr id="5" name="Slide Number Placeholder 4">
            <a:extLst>
              <a:ext uri="{FF2B5EF4-FFF2-40B4-BE49-F238E27FC236}">
                <a16:creationId xmlns:a16="http://schemas.microsoft.com/office/drawing/2014/main" id="{1234FE70-55F0-78A3-7131-B15077FD7EFF}"/>
              </a:ext>
            </a:extLst>
          </p:cNvPr>
          <p:cNvSpPr>
            <a:spLocks noGrp="1"/>
          </p:cNvSpPr>
          <p:nvPr>
            <p:ph type="sldNum" sz="quarter" idx="4"/>
          </p:nvPr>
        </p:nvSpPr>
        <p:spPr/>
        <p:txBody>
          <a:bodyPr/>
          <a:lstStyle/>
          <a:p>
            <a:r>
              <a:rPr lang="en-US"/>
              <a:t>Introduction: 1-</a:t>
            </a:r>
            <a:fld id="{C4204591-24BD-A542-B9D5-F8D8A88D2FEE}" type="slidenum">
              <a:rPr lang="en-US" smtClean="0"/>
              <a:pPr/>
              <a:t>3</a:t>
            </a:fld>
            <a:endParaRPr lang="en-US" dirty="0"/>
          </a:p>
        </p:txBody>
      </p:sp>
    </p:spTree>
    <p:extLst>
      <p:ext uri="{BB962C8B-B14F-4D97-AF65-F5344CB8AC3E}">
        <p14:creationId xmlns:p14="http://schemas.microsoft.com/office/powerpoint/2010/main" val="2116535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59FC-D6C9-B734-1498-6C7B16F99B3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8FB4DEE-B637-E2DC-783B-B68647B14E7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664B7743-5FF8-3EDD-73D2-61E9590820B5}"/>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Host: sends </a:t>
            </a:r>
            <a:r>
              <a:rPr lang="en-US" altLang="en-US" i="1" dirty="0">
                <a:ea typeface="ＭＳ Ｐゴシック" panose="020B0600070205080204" pitchFamily="34" charset="-128"/>
              </a:rPr>
              <a:t>packets</a:t>
            </a:r>
            <a:r>
              <a:rPr lang="en-US" altLang="en-US" dirty="0">
                <a:ea typeface="ＭＳ Ｐゴシック" panose="020B0600070205080204" pitchFamily="34" charset="-128"/>
              </a:rPr>
              <a:t> of data</a:t>
            </a:r>
            <a:endParaRPr lang="en-US" dirty="0"/>
          </a:p>
        </p:txBody>
      </p:sp>
      <p:sp>
        <p:nvSpPr>
          <p:cNvPr id="110" name="Content Placeholder 52">
            <a:extLst>
              <a:ext uri="{FF2B5EF4-FFF2-40B4-BE49-F238E27FC236}">
                <a16:creationId xmlns:a16="http://schemas.microsoft.com/office/drawing/2014/main" id="{6A03B945-605F-34D8-E53F-6FE76DD2C521}"/>
              </a:ext>
            </a:extLst>
          </p:cNvPr>
          <p:cNvSpPr txBox="1">
            <a:spLocks/>
          </p:cNvSpPr>
          <p:nvPr/>
        </p:nvSpPr>
        <p:spPr>
          <a:xfrm>
            <a:off x="848710" y="1286477"/>
            <a:ext cx="5501619" cy="467288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defRPr/>
            </a:pPr>
            <a:r>
              <a:rPr lang="en-US" dirty="0"/>
              <a:t>host sending function:</a:t>
            </a:r>
          </a:p>
          <a:p>
            <a:pPr>
              <a:buFont typeface="Wingdings" charset="2"/>
              <a:buChar char="§"/>
              <a:defRPr/>
            </a:pPr>
            <a:r>
              <a:rPr lang="en-US" dirty="0"/>
              <a:t>takes application message</a:t>
            </a:r>
          </a:p>
          <a:p>
            <a:pPr>
              <a:buFont typeface="Wingdings" charset="2"/>
              <a:buChar char="§"/>
              <a:defRPr/>
            </a:pPr>
            <a:r>
              <a:rPr lang="en-US" dirty="0"/>
              <a:t>breaks into smaller chunks, known as </a:t>
            </a:r>
            <a:r>
              <a:rPr lang="en-US" i="1" dirty="0">
                <a:solidFill>
                  <a:srgbClr val="C00000"/>
                </a:solidFill>
              </a:rPr>
              <a:t>packets</a:t>
            </a:r>
            <a:r>
              <a:rPr lang="en-US" dirty="0"/>
              <a:t>, of length </a:t>
            </a:r>
            <a:r>
              <a:rPr lang="en-US" i="1" dirty="0">
                <a:solidFill>
                  <a:srgbClr val="C00000"/>
                </a:solidFill>
              </a:rPr>
              <a:t>L</a:t>
            </a:r>
            <a:r>
              <a:rPr lang="en-US" dirty="0"/>
              <a:t> bits</a:t>
            </a:r>
          </a:p>
          <a:p>
            <a:pPr>
              <a:buFont typeface="Wingdings" charset="2"/>
              <a:buChar char="§"/>
              <a:defRPr/>
            </a:pPr>
            <a:r>
              <a:rPr lang="en-US" dirty="0"/>
              <a:t>transmits packet into access network at </a:t>
            </a:r>
            <a:r>
              <a:rPr lang="en-US" i="1" dirty="0">
                <a:solidFill>
                  <a:srgbClr val="C00000"/>
                </a:solidFill>
              </a:rPr>
              <a:t>transmission rate R</a:t>
            </a:r>
          </a:p>
          <a:p>
            <a:pPr marL="682625" lvl="1" indent="-225425">
              <a:buFont typeface="Arial"/>
              <a:buChar char="•"/>
              <a:defRPr/>
            </a:pPr>
            <a:r>
              <a:rPr lang="en-US" sz="2800" dirty="0"/>
              <a:t>link transmission rate, aka link </a:t>
            </a:r>
            <a:r>
              <a:rPr lang="en-US" sz="2800" i="1" dirty="0">
                <a:solidFill>
                  <a:srgbClr val="C00000"/>
                </a:solidFill>
              </a:rPr>
              <a:t>capacity, aka link bandwidth</a:t>
            </a:r>
          </a:p>
        </p:txBody>
      </p:sp>
      <p:grpSp>
        <p:nvGrpSpPr>
          <p:cNvPr id="111" name="Group 219">
            <a:extLst>
              <a:ext uri="{FF2B5EF4-FFF2-40B4-BE49-F238E27FC236}">
                <a16:creationId xmlns:a16="http://schemas.microsoft.com/office/drawing/2014/main" id="{2FBB4350-01B3-223A-87F2-FA3FE3319885}"/>
              </a:ext>
            </a:extLst>
          </p:cNvPr>
          <p:cNvGrpSpPr>
            <a:grpSpLocks/>
          </p:cNvGrpSpPr>
          <p:nvPr/>
        </p:nvGrpSpPr>
        <p:grpSpPr bwMode="auto">
          <a:xfrm>
            <a:off x="7825117" y="3017234"/>
            <a:ext cx="409575" cy="565150"/>
            <a:chOff x="375561" y="297711"/>
            <a:chExt cx="1252683" cy="2142487"/>
          </a:xfrm>
        </p:grpSpPr>
        <p:sp>
          <p:nvSpPr>
            <p:cNvPr id="112" name="Freeform 111">
              <a:extLst>
                <a:ext uri="{FF2B5EF4-FFF2-40B4-BE49-F238E27FC236}">
                  <a16:creationId xmlns:a16="http://schemas.microsoft.com/office/drawing/2014/main" id="{7030DF47-410C-1245-2F80-B639DCCE2417}"/>
                </a:ext>
              </a:extLst>
            </p:cNvPr>
            <p:cNvSpPr/>
            <p:nvPr/>
          </p:nvSpPr>
          <p:spPr>
            <a:xfrm>
              <a:off x="375561" y="297711"/>
              <a:ext cx="971072" cy="2136471"/>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3" name="Freeform 112">
              <a:extLst>
                <a:ext uri="{FF2B5EF4-FFF2-40B4-BE49-F238E27FC236}">
                  <a16:creationId xmlns:a16="http://schemas.microsoft.com/office/drawing/2014/main" id="{FE741553-C2EF-4E56-22CB-C7970A9A6EBB}"/>
                </a:ext>
              </a:extLst>
            </p:cNvPr>
            <p:cNvSpPr/>
            <p:nvPr/>
          </p:nvSpPr>
          <p:spPr>
            <a:xfrm>
              <a:off x="375561" y="309747"/>
              <a:ext cx="1247826" cy="77033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4" name="Rectangle 113">
              <a:extLst>
                <a:ext uri="{FF2B5EF4-FFF2-40B4-BE49-F238E27FC236}">
                  <a16:creationId xmlns:a16="http://schemas.microsoft.com/office/drawing/2014/main" id="{99B7432D-5B82-AE3F-4216-027EA57ED090}"/>
                </a:ext>
              </a:extLst>
            </p:cNvPr>
            <p:cNvSpPr/>
            <p:nvPr/>
          </p:nvSpPr>
          <p:spPr>
            <a:xfrm>
              <a:off x="1332065" y="1080080"/>
              <a:ext cx="296179" cy="1360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115" name="Line 305">
            <a:extLst>
              <a:ext uri="{FF2B5EF4-FFF2-40B4-BE49-F238E27FC236}">
                <a16:creationId xmlns:a16="http://schemas.microsoft.com/office/drawing/2014/main" id="{269EDB53-6715-D7B7-1AEC-D0E919AA8C41}"/>
              </a:ext>
            </a:extLst>
          </p:cNvPr>
          <p:cNvSpPr>
            <a:spLocks noChangeShapeType="1"/>
          </p:cNvSpPr>
          <p:nvPr/>
        </p:nvSpPr>
        <p:spPr bwMode="auto">
          <a:xfrm>
            <a:off x="8248979" y="3941159"/>
            <a:ext cx="24542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TextBox 1">
            <a:extLst>
              <a:ext uri="{FF2B5EF4-FFF2-40B4-BE49-F238E27FC236}">
                <a16:creationId xmlns:a16="http://schemas.microsoft.com/office/drawing/2014/main" id="{662DB501-F5AB-441C-A268-2D2C9E922D3A}"/>
              </a:ext>
            </a:extLst>
          </p:cNvPr>
          <p:cNvSpPr txBox="1">
            <a:spLocks noChangeArrowheads="1"/>
          </p:cNvSpPr>
          <p:nvPr/>
        </p:nvSpPr>
        <p:spPr bwMode="auto">
          <a:xfrm>
            <a:off x="8536979" y="4435965"/>
            <a:ext cx="31650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i="1" dirty="0">
                <a:solidFill>
                  <a:srgbClr val="C00000"/>
                </a:solidFill>
                <a:latin typeface="+mn-lt"/>
              </a:rPr>
              <a:t>R: </a:t>
            </a:r>
            <a:r>
              <a:rPr lang="en-US" altLang="en-US" dirty="0">
                <a:latin typeface="+mn-lt"/>
              </a:rPr>
              <a:t>link transmission rate</a:t>
            </a:r>
          </a:p>
        </p:txBody>
      </p:sp>
      <p:grpSp>
        <p:nvGrpSpPr>
          <p:cNvPr id="123" name="Group 201">
            <a:extLst>
              <a:ext uri="{FF2B5EF4-FFF2-40B4-BE49-F238E27FC236}">
                <a16:creationId xmlns:a16="http://schemas.microsoft.com/office/drawing/2014/main" id="{C749199B-1FF3-CF8F-AFA6-6449E9F9F377}"/>
              </a:ext>
            </a:extLst>
          </p:cNvPr>
          <p:cNvGrpSpPr>
            <a:grpSpLocks/>
          </p:cNvGrpSpPr>
          <p:nvPr/>
        </p:nvGrpSpPr>
        <p:grpSpPr bwMode="auto">
          <a:xfrm>
            <a:off x="7577467" y="3023584"/>
            <a:ext cx="409575" cy="565150"/>
            <a:chOff x="375561" y="297711"/>
            <a:chExt cx="1252683" cy="2138362"/>
          </a:xfrm>
        </p:grpSpPr>
        <p:sp>
          <p:nvSpPr>
            <p:cNvPr id="124" name="Freeform 123">
              <a:extLst>
                <a:ext uri="{FF2B5EF4-FFF2-40B4-BE49-F238E27FC236}">
                  <a16:creationId xmlns:a16="http://schemas.microsoft.com/office/drawing/2014/main" id="{861DEBB0-CF2E-CC9A-79BF-4F7B3D488A05}"/>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5" name="Freeform 124">
              <a:extLst>
                <a:ext uri="{FF2B5EF4-FFF2-40B4-BE49-F238E27FC236}">
                  <a16:creationId xmlns:a16="http://schemas.microsoft.com/office/drawing/2014/main" id="{28E3565F-8FED-0CC0-192A-D1F8357CD3F9}"/>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6" name="Rectangle 125">
              <a:extLst>
                <a:ext uri="{FF2B5EF4-FFF2-40B4-BE49-F238E27FC236}">
                  <a16:creationId xmlns:a16="http://schemas.microsoft.com/office/drawing/2014/main" id="{1EA734A0-5830-D6B0-75A7-4ED44827C9F8}"/>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127" name="TextBox 205">
            <a:extLst>
              <a:ext uri="{FF2B5EF4-FFF2-40B4-BE49-F238E27FC236}">
                <a16:creationId xmlns:a16="http://schemas.microsoft.com/office/drawing/2014/main" id="{C29A623D-AA7D-55ED-3918-77E350207CDB}"/>
              </a:ext>
            </a:extLst>
          </p:cNvPr>
          <p:cNvSpPr txBox="1">
            <a:spLocks noChangeArrowheads="1"/>
          </p:cNvSpPr>
          <p:nvPr/>
        </p:nvSpPr>
        <p:spPr bwMode="auto">
          <a:xfrm>
            <a:off x="7334579" y="4199922"/>
            <a:ext cx="6386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dirty="0">
                <a:latin typeface="+mn-lt"/>
              </a:rPr>
              <a:t>host</a:t>
            </a:r>
          </a:p>
        </p:txBody>
      </p:sp>
      <p:grpSp>
        <p:nvGrpSpPr>
          <p:cNvPr id="128" name="Group 206">
            <a:extLst>
              <a:ext uri="{FF2B5EF4-FFF2-40B4-BE49-F238E27FC236}">
                <a16:creationId xmlns:a16="http://schemas.microsoft.com/office/drawing/2014/main" id="{B33FB7E0-7975-6200-8FD4-9677E29F6758}"/>
              </a:ext>
            </a:extLst>
          </p:cNvPr>
          <p:cNvGrpSpPr>
            <a:grpSpLocks/>
          </p:cNvGrpSpPr>
          <p:nvPr/>
        </p:nvGrpSpPr>
        <p:grpSpPr bwMode="auto">
          <a:xfrm>
            <a:off x="7102804" y="3749072"/>
            <a:ext cx="1295400" cy="506412"/>
            <a:chOff x="1816230" y="6118900"/>
            <a:chExt cx="1843339" cy="739100"/>
          </a:xfrm>
        </p:grpSpPr>
        <p:pic>
          <p:nvPicPr>
            <p:cNvPr id="129" name="Picture 8">
              <a:extLst>
                <a:ext uri="{FF2B5EF4-FFF2-40B4-BE49-F238E27FC236}">
                  <a16:creationId xmlns:a16="http://schemas.microsoft.com/office/drawing/2014/main" id="{82DA7E82-0CE5-90A0-3F07-83F11F347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230" y="6142069"/>
              <a:ext cx="1843339" cy="715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 name="Rectangle 129">
              <a:extLst>
                <a:ext uri="{FF2B5EF4-FFF2-40B4-BE49-F238E27FC236}">
                  <a16:creationId xmlns:a16="http://schemas.microsoft.com/office/drawing/2014/main" id="{E59953BA-D849-34FA-BEF7-2B27A95AD237}"/>
                </a:ext>
              </a:extLst>
            </p:cNvPr>
            <p:cNvSpPr/>
            <p:nvPr/>
          </p:nvSpPr>
          <p:spPr>
            <a:xfrm rot="1049095">
              <a:off x="1947252" y="6118900"/>
              <a:ext cx="1651325" cy="463386"/>
            </a:xfrm>
            <a:prstGeom prst="rect">
              <a:avLst/>
            </a:prstGeom>
            <a:gradFill>
              <a:gsLst>
                <a:gs pos="0">
                  <a:schemeClr val="bg1"/>
                </a:gs>
                <a:gs pos="50000">
                  <a:schemeClr val="bg1">
                    <a:alpha val="48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grpSp>
        <p:nvGrpSpPr>
          <p:cNvPr id="131" name="Group 209">
            <a:extLst>
              <a:ext uri="{FF2B5EF4-FFF2-40B4-BE49-F238E27FC236}">
                <a16:creationId xmlns:a16="http://schemas.microsoft.com/office/drawing/2014/main" id="{673C437F-B342-144F-96C4-25B48C4FEC9E}"/>
              </a:ext>
            </a:extLst>
          </p:cNvPr>
          <p:cNvGrpSpPr>
            <a:grpSpLocks/>
          </p:cNvGrpSpPr>
          <p:nvPr/>
        </p:nvGrpSpPr>
        <p:grpSpPr bwMode="auto">
          <a:xfrm>
            <a:off x="7242504" y="2132997"/>
            <a:ext cx="1409700" cy="877887"/>
            <a:chOff x="2387973" y="4309243"/>
            <a:chExt cx="1771787" cy="1282262"/>
          </a:xfrm>
        </p:grpSpPr>
        <p:pic>
          <p:nvPicPr>
            <p:cNvPr id="132" name="Picture 9">
              <a:extLst>
                <a:ext uri="{FF2B5EF4-FFF2-40B4-BE49-F238E27FC236}">
                  <a16:creationId xmlns:a16="http://schemas.microsoft.com/office/drawing/2014/main" id="{D9569E56-4D10-5C4E-DE86-6512E9DAE6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3508" y="4309243"/>
              <a:ext cx="1284945" cy="128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 name="Rectangle 132">
              <a:extLst>
                <a:ext uri="{FF2B5EF4-FFF2-40B4-BE49-F238E27FC236}">
                  <a16:creationId xmlns:a16="http://schemas.microsoft.com/office/drawing/2014/main" id="{FB690529-C159-A1A3-E9C4-684D00965963}"/>
                </a:ext>
              </a:extLst>
            </p:cNvPr>
            <p:cNvSpPr/>
            <p:nvPr/>
          </p:nvSpPr>
          <p:spPr>
            <a:xfrm rot="11601822">
              <a:off x="2387973" y="5127757"/>
              <a:ext cx="1771787" cy="424330"/>
            </a:xfrm>
            <a:prstGeom prst="rect">
              <a:avLst/>
            </a:prstGeom>
            <a:gradFill>
              <a:gsLst>
                <a:gs pos="0">
                  <a:schemeClr val="bg1"/>
                </a:gs>
                <a:gs pos="50000">
                  <a:schemeClr val="bg1">
                    <a:alpha val="48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134" name="TextBox 215">
            <a:extLst>
              <a:ext uri="{FF2B5EF4-FFF2-40B4-BE49-F238E27FC236}">
                <a16:creationId xmlns:a16="http://schemas.microsoft.com/office/drawing/2014/main" id="{95CF6468-079A-F5B7-6C0E-64C1052CAAF2}"/>
              </a:ext>
            </a:extLst>
          </p:cNvPr>
          <p:cNvSpPr txBox="1">
            <a:spLocks noChangeArrowheads="1"/>
          </p:cNvSpPr>
          <p:nvPr/>
        </p:nvSpPr>
        <p:spPr bwMode="auto">
          <a:xfrm>
            <a:off x="7991804" y="3555397"/>
            <a:ext cx="288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mn-lt"/>
              </a:rPr>
              <a:t>1</a:t>
            </a:r>
          </a:p>
        </p:txBody>
      </p:sp>
      <p:sp>
        <p:nvSpPr>
          <p:cNvPr id="135" name="TextBox 216">
            <a:extLst>
              <a:ext uri="{FF2B5EF4-FFF2-40B4-BE49-F238E27FC236}">
                <a16:creationId xmlns:a16="http://schemas.microsoft.com/office/drawing/2014/main" id="{13257658-772A-227B-1AA6-D82A3549A481}"/>
              </a:ext>
            </a:extLst>
          </p:cNvPr>
          <p:cNvSpPr txBox="1">
            <a:spLocks noChangeArrowheads="1"/>
          </p:cNvSpPr>
          <p:nvPr/>
        </p:nvSpPr>
        <p:spPr bwMode="auto">
          <a:xfrm>
            <a:off x="7750504" y="3563334"/>
            <a:ext cx="2889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600">
                <a:latin typeface="+mn-lt"/>
              </a:rPr>
              <a:t>2</a:t>
            </a:r>
          </a:p>
        </p:txBody>
      </p:sp>
      <p:cxnSp>
        <p:nvCxnSpPr>
          <p:cNvPr id="136" name="Straight Connector 3">
            <a:extLst>
              <a:ext uri="{FF2B5EF4-FFF2-40B4-BE49-F238E27FC236}">
                <a16:creationId xmlns:a16="http://schemas.microsoft.com/office/drawing/2014/main" id="{EBD08F30-32AB-8BAE-BEBE-724B46179B8C}"/>
              </a:ext>
            </a:extLst>
          </p:cNvPr>
          <p:cNvCxnSpPr>
            <a:cxnSpLocks noChangeShapeType="1"/>
          </p:cNvCxnSpPr>
          <p:nvPr/>
        </p:nvCxnSpPr>
        <p:spPr bwMode="auto">
          <a:xfrm flipV="1">
            <a:off x="8241042" y="2577497"/>
            <a:ext cx="1225550" cy="565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37" name="TextBox 234">
            <a:extLst>
              <a:ext uri="{FF2B5EF4-FFF2-40B4-BE49-F238E27FC236}">
                <a16:creationId xmlns:a16="http://schemas.microsoft.com/office/drawing/2014/main" id="{BB38597A-6970-2F6E-2A8F-5DC30AD7A6E5}"/>
              </a:ext>
            </a:extLst>
          </p:cNvPr>
          <p:cNvSpPr txBox="1">
            <a:spLocks noChangeArrowheads="1"/>
          </p:cNvSpPr>
          <p:nvPr/>
        </p:nvSpPr>
        <p:spPr bwMode="auto">
          <a:xfrm>
            <a:off x="9404679" y="2228247"/>
            <a:ext cx="182447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mn-lt"/>
              </a:rPr>
              <a:t>two packets, </a:t>
            </a:r>
          </a:p>
          <a:p>
            <a:r>
              <a:rPr lang="en-US" altLang="en-US" i="1" dirty="0">
                <a:solidFill>
                  <a:srgbClr val="C00000"/>
                </a:solidFill>
                <a:latin typeface="+mn-lt"/>
              </a:rPr>
              <a:t>L</a:t>
            </a:r>
            <a:r>
              <a:rPr lang="en-US" altLang="en-US" dirty="0">
                <a:latin typeface="+mn-lt"/>
              </a:rPr>
              <a:t> bits each</a:t>
            </a:r>
          </a:p>
        </p:txBody>
      </p:sp>
      <p:grpSp>
        <p:nvGrpSpPr>
          <p:cNvPr id="138" name="Group 137">
            <a:extLst>
              <a:ext uri="{FF2B5EF4-FFF2-40B4-BE49-F238E27FC236}">
                <a16:creationId xmlns:a16="http://schemas.microsoft.com/office/drawing/2014/main" id="{E869D95D-2735-2170-D885-2ACBCA6FEA6A}"/>
              </a:ext>
            </a:extLst>
          </p:cNvPr>
          <p:cNvGrpSpPr/>
          <p:nvPr/>
        </p:nvGrpSpPr>
        <p:grpSpPr>
          <a:xfrm>
            <a:off x="10506147" y="3669119"/>
            <a:ext cx="1200246" cy="477406"/>
            <a:chOff x="3668110" y="2448910"/>
            <a:chExt cx="3794234" cy="2165130"/>
          </a:xfrm>
        </p:grpSpPr>
        <p:sp>
          <p:nvSpPr>
            <p:cNvPr id="139" name="Rectangle 138">
              <a:extLst>
                <a:ext uri="{FF2B5EF4-FFF2-40B4-BE49-F238E27FC236}">
                  <a16:creationId xmlns:a16="http://schemas.microsoft.com/office/drawing/2014/main" id="{06ACCB1F-58AC-4C84-25FE-6C0191E5A51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Freeform 139">
              <a:extLst>
                <a:ext uri="{FF2B5EF4-FFF2-40B4-BE49-F238E27FC236}">
                  <a16:creationId xmlns:a16="http://schemas.microsoft.com/office/drawing/2014/main" id="{46B09D38-0AE0-7785-B3D2-967E819E13EC}"/>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1" name="Group 140">
              <a:extLst>
                <a:ext uri="{FF2B5EF4-FFF2-40B4-BE49-F238E27FC236}">
                  <a16:creationId xmlns:a16="http://schemas.microsoft.com/office/drawing/2014/main" id="{52CD36F5-B2D8-420F-08C9-108360A966EE}"/>
                </a:ext>
              </a:extLst>
            </p:cNvPr>
            <p:cNvGrpSpPr/>
            <p:nvPr/>
          </p:nvGrpSpPr>
          <p:grpSpPr>
            <a:xfrm>
              <a:off x="3941378" y="2603243"/>
              <a:ext cx="3202061" cy="1066110"/>
              <a:chOff x="7939341" y="3037317"/>
              <a:chExt cx="897649" cy="353919"/>
            </a:xfrm>
          </p:grpSpPr>
          <p:sp>
            <p:nvSpPr>
              <p:cNvPr id="142" name="Freeform 141">
                <a:extLst>
                  <a:ext uri="{FF2B5EF4-FFF2-40B4-BE49-F238E27FC236}">
                    <a16:creationId xmlns:a16="http://schemas.microsoft.com/office/drawing/2014/main" id="{A30025E9-0B18-CA5F-7FD3-508E82B2C6D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Freeform 142">
                <a:extLst>
                  <a:ext uri="{FF2B5EF4-FFF2-40B4-BE49-F238E27FC236}">
                    <a16:creationId xmlns:a16="http://schemas.microsoft.com/office/drawing/2014/main" id="{21ED4F39-3030-1945-8434-9E0209F9053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reeform 143">
                <a:extLst>
                  <a:ext uri="{FF2B5EF4-FFF2-40B4-BE49-F238E27FC236}">
                    <a16:creationId xmlns:a16="http://schemas.microsoft.com/office/drawing/2014/main" id="{339789D7-39B1-34CB-4FE3-10B899F34F38}"/>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Freeform 144">
                <a:extLst>
                  <a:ext uri="{FF2B5EF4-FFF2-40B4-BE49-F238E27FC236}">
                    <a16:creationId xmlns:a16="http://schemas.microsoft.com/office/drawing/2014/main" id="{B480F61D-C4A0-F5CA-7841-3F6339F46E0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146" name="Straight Connector 3">
            <a:extLst>
              <a:ext uri="{FF2B5EF4-FFF2-40B4-BE49-F238E27FC236}">
                <a16:creationId xmlns:a16="http://schemas.microsoft.com/office/drawing/2014/main" id="{8673DECE-4455-8330-AFB6-DBB2778F37B1}"/>
              </a:ext>
            </a:extLst>
          </p:cNvPr>
          <p:cNvCxnSpPr>
            <a:cxnSpLocks noChangeShapeType="1"/>
          </p:cNvCxnSpPr>
          <p:nvPr/>
        </p:nvCxnSpPr>
        <p:spPr bwMode="auto">
          <a:xfrm flipV="1">
            <a:off x="9264979" y="4020904"/>
            <a:ext cx="0" cy="4583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 name="Right Arrow 2">
            <a:extLst>
              <a:ext uri="{FF2B5EF4-FFF2-40B4-BE49-F238E27FC236}">
                <a16:creationId xmlns:a16="http://schemas.microsoft.com/office/drawing/2014/main" id="{8B44BD14-814D-600F-614B-9A99EF637E23}"/>
              </a:ext>
            </a:extLst>
          </p:cNvPr>
          <p:cNvSpPr/>
          <p:nvPr/>
        </p:nvSpPr>
        <p:spPr>
          <a:xfrm>
            <a:off x="8311695" y="3223689"/>
            <a:ext cx="978408" cy="260093"/>
          </a:xfrm>
          <a:prstGeom prst="rightArrow">
            <a:avLst/>
          </a:prstGeom>
          <a:gradFill>
            <a:gsLst>
              <a:gs pos="0">
                <a:schemeClr val="accent1">
                  <a:lumMod val="5000"/>
                  <a:lumOff val="95000"/>
                </a:schemeClr>
              </a:gs>
              <a:gs pos="35000">
                <a:schemeClr val="accent1">
                  <a:lumMod val="20000"/>
                  <a:lumOff val="80000"/>
                </a:schemeClr>
              </a:gs>
              <a:gs pos="68000">
                <a:schemeClr val="accent1">
                  <a:lumMod val="45000"/>
                  <a:lumOff val="55000"/>
                </a:schemeClr>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E92B27BD-1868-F8EB-95FA-1028C3C2A500}"/>
              </a:ext>
            </a:extLst>
          </p:cNvPr>
          <p:cNvGrpSpPr/>
          <p:nvPr/>
        </p:nvGrpSpPr>
        <p:grpSpPr>
          <a:xfrm>
            <a:off x="2541108" y="5251754"/>
            <a:ext cx="6446724" cy="1077218"/>
            <a:chOff x="2541108" y="5251754"/>
            <a:chExt cx="6446724" cy="1077218"/>
          </a:xfrm>
        </p:grpSpPr>
        <p:sp>
          <p:nvSpPr>
            <p:cNvPr id="150" name="TextBox 235">
              <a:extLst>
                <a:ext uri="{FF2B5EF4-FFF2-40B4-BE49-F238E27FC236}">
                  <a16:creationId xmlns:a16="http://schemas.microsoft.com/office/drawing/2014/main" id="{F925D8F0-C467-7F2D-DA2B-AD1331700C51}"/>
                </a:ext>
              </a:extLst>
            </p:cNvPr>
            <p:cNvSpPr txBox="1">
              <a:spLocks noChangeArrowheads="1"/>
            </p:cNvSpPr>
            <p:nvPr/>
          </p:nvSpPr>
          <p:spPr bwMode="auto">
            <a:xfrm>
              <a:off x="2541108" y="5259812"/>
              <a:ext cx="1768561" cy="1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a:lnSpc>
                  <a:spcPct val="85000"/>
                </a:lnSpc>
              </a:pPr>
              <a:r>
                <a:rPr lang="en-US" altLang="en-US" dirty="0">
                  <a:latin typeface="+mn-lt"/>
                </a:rPr>
                <a:t>packet</a:t>
              </a:r>
            </a:p>
            <a:p>
              <a:pPr algn="r">
                <a:lnSpc>
                  <a:spcPct val="85000"/>
                </a:lnSpc>
              </a:pPr>
              <a:r>
                <a:rPr lang="en-US" altLang="en-US" dirty="0">
                  <a:latin typeface="+mn-lt"/>
                </a:rPr>
                <a:t>transmission</a:t>
              </a:r>
            </a:p>
            <a:p>
              <a:pPr algn="r">
                <a:lnSpc>
                  <a:spcPct val="85000"/>
                </a:lnSpc>
              </a:pPr>
              <a:r>
                <a:rPr lang="en-US" altLang="en-US" dirty="0">
                  <a:latin typeface="+mn-lt"/>
                </a:rPr>
                <a:t>delay</a:t>
              </a:r>
            </a:p>
          </p:txBody>
        </p:sp>
        <p:sp>
          <p:nvSpPr>
            <p:cNvPr id="151" name="TextBox 237">
              <a:extLst>
                <a:ext uri="{FF2B5EF4-FFF2-40B4-BE49-F238E27FC236}">
                  <a16:creationId xmlns:a16="http://schemas.microsoft.com/office/drawing/2014/main" id="{022EBFD9-3456-D190-F5C6-5266BD5A3AF2}"/>
                </a:ext>
              </a:extLst>
            </p:cNvPr>
            <p:cNvSpPr txBox="1">
              <a:spLocks noChangeArrowheads="1"/>
            </p:cNvSpPr>
            <p:nvPr/>
          </p:nvSpPr>
          <p:spPr bwMode="auto">
            <a:xfrm>
              <a:off x="4778467" y="5291362"/>
              <a:ext cx="2103653" cy="1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dirty="0">
                  <a:latin typeface="+mn-lt"/>
                </a:rPr>
                <a:t>time needed to</a:t>
              </a:r>
            </a:p>
            <a:p>
              <a:pPr algn="ctr">
                <a:lnSpc>
                  <a:spcPct val="85000"/>
                </a:lnSpc>
              </a:pPr>
              <a:r>
                <a:rPr lang="en-US" altLang="en-US" dirty="0">
                  <a:latin typeface="+mn-lt"/>
                </a:rPr>
                <a:t>transmit </a:t>
              </a:r>
              <a:r>
                <a:rPr lang="en-US" altLang="en-US" i="1" dirty="0">
                  <a:latin typeface="+mn-lt"/>
                </a:rPr>
                <a:t>L</a:t>
              </a:r>
              <a:r>
                <a:rPr lang="en-US" altLang="en-US" dirty="0">
                  <a:latin typeface="+mn-lt"/>
                </a:rPr>
                <a:t>-bit</a:t>
              </a:r>
            </a:p>
            <a:p>
              <a:pPr algn="ctr">
                <a:lnSpc>
                  <a:spcPct val="85000"/>
                </a:lnSpc>
              </a:pPr>
              <a:r>
                <a:rPr lang="en-US" altLang="en-US" dirty="0">
                  <a:latin typeface="+mn-lt"/>
                </a:rPr>
                <a:t>packet into link</a:t>
              </a:r>
            </a:p>
          </p:txBody>
        </p:sp>
        <p:sp>
          <p:nvSpPr>
            <p:cNvPr id="152" name="TextBox 4">
              <a:extLst>
                <a:ext uri="{FF2B5EF4-FFF2-40B4-BE49-F238E27FC236}">
                  <a16:creationId xmlns:a16="http://schemas.microsoft.com/office/drawing/2014/main" id="{89116C8C-482F-C558-3A0A-7EDB1EEB3B13}"/>
                </a:ext>
              </a:extLst>
            </p:cNvPr>
            <p:cNvSpPr txBox="1">
              <a:spLocks noChangeArrowheads="1"/>
            </p:cNvSpPr>
            <p:nvPr/>
          </p:nvSpPr>
          <p:spPr bwMode="auto">
            <a:xfrm>
              <a:off x="7516019" y="5251754"/>
              <a:ext cx="147181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3200" i="1" dirty="0">
                  <a:latin typeface="+mn-lt"/>
                </a:rPr>
                <a:t>L</a:t>
              </a:r>
              <a:r>
                <a:rPr lang="en-US" altLang="en-US" sz="3200" dirty="0">
                  <a:latin typeface="+mn-lt"/>
                </a:rPr>
                <a:t> </a:t>
              </a:r>
              <a:r>
                <a:rPr lang="en-US" altLang="en-US" sz="2000" dirty="0">
                  <a:latin typeface="+mn-lt"/>
                </a:rPr>
                <a:t>(bits)</a:t>
              </a:r>
            </a:p>
            <a:p>
              <a:r>
                <a:rPr lang="en-US" altLang="en-US" sz="3200" i="1" dirty="0">
                  <a:latin typeface="+mn-lt"/>
                </a:rPr>
                <a:t>R</a:t>
              </a:r>
              <a:r>
                <a:rPr lang="en-US" altLang="en-US" sz="3200" dirty="0">
                  <a:latin typeface="+mn-lt"/>
                </a:rPr>
                <a:t> </a:t>
              </a:r>
              <a:r>
                <a:rPr lang="en-US" altLang="en-US" sz="2000" dirty="0">
                  <a:latin typeface="+mn-lt"/>
                </a:rPr>
                <a:t>(bits/sec)</a:t>
              </a:r>
              <a:endParaRPr lang="en-US" altLang="en-US" sz="3200" dirty="0">
                <a:latin typeface="+mn-lt"/>
              </a:endParaRPr>
            </a:p>
          </p:txBody>
        </p:sp>
        <p:cxnSp>
          <p:nvCxnSpPr>
            <p:cNvPr id="153" name="Straight Connector 9">
              <a:extLst>
                <a:ext uri="{FF2B5EF4-FFF2-40B4-BE49-F238E27FC236}">
                  <a16:creationId xmlns:a16="http://schemas.microsoft.com/office/drawing/2014/main" id="{9235DCE2-1233-6D64-55D2-052D7D58B483}"/>
                </a:ext>
              </a:extLst>
            </p:cNvPr>
            <p:cNvCxnSpPr>
              <a:cxnSpLocks noChangeShapeType="1"/>
            </p:cNvCxnSpPr>
            <p:nvPr/>
          </p:nvCxnSpPr>
          <p:spPr bwMode="auto">
            <a:xfrm>
              <a:off x="7603331" y="5796974"/>
              <a:ext cx="2868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54" name="TextBox 10">
              <a:extLst>
                <a:ext uri="{FF2B5EF4-FFF2-40B4-BE49-F238E27FC236}">
                  <a16:creationId xmlns:a16="http://schemas.microsoft.com/office/drawing/2014/main" id="{9A2CFC5B-87E5-FD0D-E61B-1F139BB11588}"/>
                </a:ext>
              </a:extLst>
            </p:cNvPr>
            <p:cNvSpPr txBox="1">
              <a:spLocks noChangeArrowheads="1"/>
            </p:cNvSpPr>
            <p:nvPr/>
          </p:nvSpPr>
          <p:spPr bwMode="auto">
            <a:xfrm>
              <a:off x="4336507" y="5477615"/>
              <a:ext cx="389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3200" dirty="0">
                  <a:latin typeface="+mn-lt"/>
                </a:rPr>
                <a:t>=</a:t>
              </a:r>
            </a:p>
          </p:txBody>
        </p:sp>
        <p:sp>
          <p:nvSpPr>
            <p:cNvPr id="155" name="TextBox 245">
              <a:extLst>
                <a:ext uri="{FF2B5EF4-FFF2-40B4-BE49-F238E27FC236}">
                  <a16:creationId xmlns:a16="http://schemas.microsoft.com/office/drawing/2014/main" id="{3316F0F8-3A7D-9322-D28A-9F64A8B30E76}"/>
                </a:ext>
              </a:extLst>
            </p:cNvPr>
            <p:cNvSpPr txBox="1">
              <a:spLocks noChangeArrowheads="1"/>
            </p:cNvSpPr>
            <p:nvPr/>
          </p:nvSpPr>
          <p:spPr bwMode="auto">
            <a:xfrm>
              <a:off x="6919119" y="5484897"/>
              <a:ext cx="389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3200" dirty="0">
                  <a:latin typeface="+mn-lt"/>
                </a:rPr>
                <a:t>=</a:t>
              </a:r>
            </a:p>
          </p:txBody>
        </p:sp>
      </p:grpSp>
    </p:spTree>
    <p:extLst>
      <p:ext uri="{BB962C8B-B14F-4D97-AF65-F5344CB8AC3E}">
        <p14:creationId xmlns:p14="http://schemas.microsoft.com/office/powerpoint/2010/main" val="330323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ED34-D4F7-4A5B-B616-9315036AFD83}"/>
            </a:ext>
          </a:extLst>
        </p:cNvPr>
        <p:cNvGrpSpPr/>
        <p:nvPr/>
      </p:nvGrpSpPr>
      <p:grpSpPr>
        <a:xfrm>
          <a:off x="0" y="0"/>
          <a:ext cx="0" cy="0"/>
          <a:chOff x="0" y="0"/>
          <a:chExt cx="0" cy="0"/>
        </a:xfrm>
      </p:grpSpPr>
      <p:sp>
        <p:nvSpPr>
          <p:cNvPr id="369" name="Rectangle 419">
            <a:extLst>
              <a:ext uri="{FF2B5EF4-FFF2-40B4-BE49-F238E27FC236}">
                <a16:creationId xmlns:a16="http://schemas.microsoft.com/office/drawing/2014/main" id="{2FCFD063-4EA5-8176-CC49-2DFB069F64CC}"/>
              </a:ext>
            </a:extLst>
          </p:cNvPr>
          <p:cNvSpPr>
            <a:spLocks noChangeArrowheads="1"/>
          </p:cNvSpPr>
          <p:nvPr/>
        </p:nvSpPr>
        <p:spPr bwMode="auto">
          <a:xfrm>
            <a:off x="7439074" y="3553079"/>
            <a:ext cx="986999" cy="669622"/>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 name="Title 1">
            <a:extLst>
              <a:ext uri="{FF2B5EF4-FFF2-40B4-BE49-F238E27FC236}">
                <a16:creationId xmlns:a16="http://schemas.microsoft.com/office/drawing/2014/main" id="{AABDB54E-9E9C-FC60-43BC-DB3331790822}"/>
              </a:ext>
            </a:extLst>
          </p:cNvPr>
          <p:cNvSpPr>
            <a:spLocks noGrp="1"/>
          </p:cNvSpPr>
          <p:nvPr>
            <p:ph type="title"/>
          </p:nvPr>
        </p:nvSpPr>
        <p:spPr>
          <a:xfrm>
            <a:off x="825267" y="336191"/>
            <a:ext cx="10515600" cy="894622"/>
          </a:xfrm>
        </p:spPr>
        <p:txBody>
          <a:bodyPr/>
          <a:lstStyle/>
          <a:p>
            <a:r>
              <a:rPr lang="en-US" altLang="en-US" sz="4400" dirty="0">
                <a:solidFill>
                  <a:srgbClr val="CC0000"/>
                </a:solidFill>
                <a:ea typeface="ＭＳ Ｐゴシック" panose="020B0600070205080204" pitchFamily="34" charset="-128"/>
              </a:rPr>
              <a:t>packet-switching</a:t>
            </a:r>
            <a:endParaRPr lang="en-US" dirty="0"/>
          </a:p>
        </p:txBody>
      </p:sp>
      <p:sp>
        <p:nvSpPr>
          <p:cNvPr id="3" name="Content Placeholder 2">
            <a:extLst>
              <a:ext uri="{FF2B5EF4-FFF2-40B4-BE49-F238E27FC236}">
                <a16:creationId xmlns:a16="http://schemas.microsoft.com/office/drawing/2014/main" id="{E1AD6141-7037-32E3-8A81-20AFE980359C}"/>
              </a:ext>
            </a:extLst>
          </p:cNvPr>
          <p:cNvSpPr>
            <a:spLocks noGrp="1"/>
          </p:cNvSpPr>
          <p:nvPr>
            <p:ph sz="half" idx="1"/>
          </p:nvPr>
        </p:nvSpPr>
        <p:spPr>
          <a:xfrm>
            <a:off x="815577" y="1547144"/>
            <a:ext cx="5692665" cy="4617464"/>
          </a:xfrm>
        </p:spPr>
        <p:txBody>
          <a:bodyPr>
            <a:normAutofit/>
          </a:bodyPr>
          <a:lstStyle/>
          <a:p>
            <a:r>
              <a:rPr lang="en-US" altLang="en-US" sz="3200" dirty="0">
                <a:solidFill>
                  <a:srgbClr val="CC0000"/>
                </a:solidFill>
                <a:ea typeface="ＭＳ Ｐゴシック" panose="020B0600070205080204" pitchFamily="34" charset="-128"/>
              </a:rPr>
              <a:t>packet-switching: </a:t>
            </a:r>
            <a:r>
              <a:rPr lang="en-US" altLang="en-US" sz="3200" dirty="0">
                <a:ea typeface="ＭＳ Ｐゴシック" panose="020B0600070205080204" pitchFamily="34" charset="-128"/>
              </a:rPr>
              <a:t>hosts break application-layer messages into </a:t>
            </a:r>
            <a:r>
              <a:rPr lang="en-US" altLang="en-US" sz="3200" i="1" dirty="0">
                <a:solidFill>
                  <a:srgbClr val="CC0000"/>
                </a:solidFill>
                <a:ea typeface="ＭＳ Ｐゴシック" panose="020B0600070205080204" pitchFamily="34" charset="-128"/>
              </a:rPr>
              <a:t>packets</a:t>
            </a:r>
          </a:p>
          <a:p>
            <a:pPr lvl="1"/>
            <a:r>
              <a:rPr lang="en-US" altLang="en-US" sz="2800" dirty="0">
                <a:ea typeface="Arial" panose="020B0604020202020204" pitchFamily="34" charset="0"/>
              </a:rPr>
              <a:t>forward packets</a:t>
            </a:r>
            <a:r>
              <a:rPr lang="en-US" altLang="en-US" sz="2800" i="1" dirty="0">
                <a:ea typeface="Arial" panose="020B0604020202020204" pitchFamily="34" charset="0"/>
              </a:rPr>
              <a:t> </a:t>
            </a:r>
            <a:r>
              <a:rPr lang="en-US" altLang="en-US" sz="2800" dirty="0">
                <a:ea typeface="Arial" panose="020B0604020202020204" pitchFamily="34" charset="0"/>
              </a:rPr>
              <a:t>from one router to the next, across links on path from source to destination</a:t>
            </a:r>
          </a:p>
          <a:p>
            <a:pPr lvl="1"/>
            <a:r>
              <a:rPr lang="en-US" altLang="en-US" sz="2800" dirty="0">
                <a:ea typeface="Arial" panose="020B0604020202020204" pitchFamily="34" charset="0"/>
              </a:rPr>
              <a:t>each packet transmitted at full link capacity</a:t>
            </a:r>
          </a:p>
          <a:p>
            <a:pPr marL="174625" indent="0">
              <a:buSzPct val="75000"/>
              <a:buNone/>
            </a:pPr>
            <a:endParaRPr lang="en-US" altLang="en-US" dirty="0"/>
          </a:p>
          <a:p>
            <a:endParaRPr lang="en-US" dirty="0"/>
          </a:p>
        </p:txBody>
      </p:sp>
      <p:sp>
        <p:nvSpPr>
          <p:cNvPr id="6" name="Slide Number Placeholder 5">
            <a:extLst>
              <a:ext uri="{FF2B5EF4-FFF2-40B4-BE49-F238E27FC236}">
                <a16:creationId xmlns:a16="http://schemas.microsoft.com/office/drawing/2014/main" id="{9EE146DF-F9DE-4B01-FB5C-29DA738CCE2C}"/>
              </a:ext>
            </a:extLst>
          </p:cNvPr>
          <p:cNvSpPr>
            <a:spLocks noGrp="1"/>
          </p:cNvSpPr>
          <p:nvPr>
            <p:ph type="sldNum" sz="quarter" idx="4"/>
          </p:nvPr>
        </p:nvSpPr>
        <p:spPr/>
        <p:txBody>
          <a:bodyPr/>
          <a:lstStyle/>
          <a:p>
            <a:r>
              <a:rPr lang="en-US"/>
              <a:t>Introduction: 1-</a:t>
            </a:r>
            <a:fld id="{C4204591-24BD-A542-B9D5-F8D8A88D2FEE}" type="slidenum">
              <a:rPr lang="en-US" smtClean="0"/>
              <a:pPr/>
              <a:t>5</a:t>
            </a:fld>
            <a:endParaRPr lang="en-US" dirty="0"/>
          </a:p>
        </p:txBody>
      </p:sp>
      <p:sp>
        <p:nvSpPr>
          <p:cNvPr id="371" name="Freeform 370">
            <a:extLst>
              <a:ext uri="{FF2B5EF4-FFF2-40B4-BE49-F238E27FC236}">
                <a16:creationId xmlns:a16="http://schemas.microsoft.com/office/drawing/2014/main" id="{74864204-FEBC-6580-1AEF-C59E98534DFA}"/>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417">
            <a:extLst>
              <a:ext uri="{FF2B5EF4-FFF2-40B4-BE49-F238E27FC236}">
                <a16:creationId xmlns:a16="http://schemas.microsoft.com/office/drawing/2014/main" id="{181A1FF5-2481-27CE-3FA4-8CF0414BD5C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a:p>
        </p:txBody>
      </p:sp>
      <p:sp>
        <p:nvSpPr>
          <p:cNvPr id="370" name="AutoShape 420">
            <a:extLst>
              <a:ext uri="{FF2B5EF4-FFF2-40B4-BE49-F238E27FC236}">
                <a16:creationId xmlns:a16="http://schemas.microsoft.com/office/drawing/2014/main" id="{3A4A93BB-25EE-2983-DEA5-44629672C295}"/>
              </a:ext>
            </a:extLst>
          </p:cNvPr>
          <p:cNvSpPr>
            <a:spLocks noChangeArrowheads="1"/>
          </p:cNvSpPr>
          <p:nvPr/>
        </p:nvSpPr>
        <p:spPr bwMode="auto">
          <a:xfrm>
            <a:off x="7205350" y="3289251"/>
            <a:ext cx="1458912" cy="317850"/>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endParaRPr lang="en-US" altLang="en-US" sz="2400">
              <a:solidFill>
                <a:srgbClr val="00CCFF"/>
              </a:solidFill>
              <a:latin typeface="Arial" panose="020B0604020202020204" pitchFamily="34" charset="0"/>
            </a:endParaRPr>
          </a:p>
        </p:txBody>
      </p:sp>
      <p:sp>
        <p:nvSpPr>
          <p:cNvPr id="21" name="Freeform 427">
            <a:extLst>
              <a:ext uri="{FF2B5EF4-FFF2-40B4-BE49-F238E27FC236}">
                <a16:creationId xmlns:a16="http://schemas.microsoft.com/office/drawing/2014/main" id="{3B824EB9-978C-5CB4-C3FE-0478357FC0E0}"/>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endParaRPr lang="en-US"/>
          </a:p>
        </p:txBody>
      </p:sp>
      <p:sp>
        <p:nvSpPr>
          <p:cNvPr id="66" name="Text Box 580">
            <a:extLst>
              <a:ext uri="{FF2B5EF4-FFF2-40B4-BE49-F238E27FC236}">
                <a16:creationId xmlns:a16="http://schemas.microsoft.com/office/drawing/2014/main" id="{7AB33F07-235F-374E-1F29-F3870F41B54E}"/>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r>
              <a:rPr lang="en-US" altLang="en-US" sz="1400" dirty="0">
                <a:latin typeface="+mn-lt"/>
              </a:rPr>
              <a:t>mobile network</a:t>
            </a:r>
          </a:p>
        </p:txBody>
      </p:sp>
      <p:sp>
        <p:nvSpPr>
          <p:cNvPr id="69" name="Text Box 580">
            <a:extLst>
              <a:ext uri="{FF2B5EF4-FFF2-40B4-BE49-F238E27FC236}">
                <a16:creationId xmlns:a16="http://schemas.microsoft.com/office/drawing/2014/main" id="{EB7129DB-8417-EBC4-92D0-4C0F713BC48E}"/>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en-US" altLang="en-US" sz="1400" dirty="0">
                <a:latin typeface="+mn-lt"/>
              </a:rPr>
              <a:t>home network</a:t>
            </a:r>
          </a:p>
        </p:txBody>
      </p:sp>
      <p:sp>
        <p:nvSpPr>
          <p:cNvPr id="70" name="Text Box 580">
            <a:extLst>
              <a:ext uri="{FF2B5EF4-FFF2-40B4-BE49-F238E27FC236}">
                <a16:creationId xmlns:a16="http://schemas.microsoft.com/office/drawing/2014/main" id="{5F6C7CB4-61CB-7107-B3A0-5907CC626F9E}"/>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en-US" altLang="en-US" sz="1400" dirty="0">
                <a:latin typeface="+mn-lt"/>
              </a:rPr>
              <a:t>enterprise</a:t>
            </a:r>
          </a:p>
          <a:p>
            <a:pPr>
              <a:lnSpc>
                <a:spcPct val="80000"/>
              </a:lnSpc>
              <a:spcBef>
                <a:spcPct val="0"/>
              </a:spcBef>
              <a:buClrTx/>
              <a:buSzTx/>
              <a:buFontTx/>
              <a:buNone/>
            </a:pPr>
            <a:r>
              <a:rPr lang="en-US" altLang="en-US" sz="1400" dirty="0">
                <a:latin typeface="+mn-lt"/>
              </a:rPr>
              <a:t>          network</a:t>
            </a:r>
          </a:p>
        </p:txBody>
      </p:sp>
      <p:sp>
        <p:nvSpPr>
          <p:cNvPr id="372" name="Freeform 371">
            <a:extLst>
              <a:ext uri="{FF2B5EF4-FFF2-40B4-BE49-F238E27FC236}">
                <a16:creationId xmlns:a16="http://schemas.microsoft.com/office/drawing/2014/main" id="{B27C4BE4-00DA-A04D-5FD9-57CAA5754BAE}"/>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74" name="Group 373">
            <a:extLst>
              <a:ext uri="{FF2B5EF4-FFF2-40B4-BE49-F238E27FC236}">
                <a16:creationId xmlns:a16="http://schemas.microsoft.com/office/drawing/2014/main" id="{C363C6BF-037D-74DF-83E4-E8BA03ECE616}"/>
              </a:ext>
            </a:extLst>
          </p:cNvPr>
          <p:cNvGrpSpPr/>
          <p:nvPr/>
        </p:nvGrpSpPr>
        <p:grpSpPr>
          <a:xfrm>
            <a:off x="10837700" y="3928050"/>
            <a:ext cx="687393" cy="721548"/>
            <a:chOff x="5203089" y="1751190"/>
            <a:chExt cx="858331" cy="662414"/>
          </a:xfrm>
        </p:grpSpPr>
        <p:sp>
          <p:nvSpPr>
            <p:cNvPr id="382" name="Freeform 381">
              <a:extLst>
                <a:ext uri="{FF2B5EF4-FFF2-40B4-BE49-F238E27FC236}">
                  <a16:creationId xmlns:a16="http://schemas.microsoft.com/office/drawing/2014/main" id="{7B9C505B-CAD7-8C8E-8FC1-70C65A27D684}"/>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3" name="Freeform 382">
              <a:extLst>
                <a:ext uri="{FF2B5EF4-FFF2-40B4-BE49-F238E27FC236}">
                  <a16:creationId xmlns:a16="http://schemas.microsoft.com/office/drawing/2014/main" id="{00942029-9587-62AB-4E96-00C0958A5302}"/>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84" name="Straight Connector 383">
              <a:extLst>
                <a:ext uri="{FF2B5EF4-FFF2-40B4-BE49-F238E27FC236}">
                  <a16:creationId xmlns:a16="http://schemas.microsoft.com/office/drawing/2014/main" id="{33A4638A-BDF3-4EDF-8210-A5C0053148F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5" name="Straight Connector 384">
              <a:extLst>
                <a:ext uri="{FF2B5EF4-FFF2-40B4-BE49-F238E27FC236}">
                  <a16:creationId xmlns:a16="http://schemas.microsoft.com/office/drawing/2014/main" id="{FBA1680D-B165-8F41-319E-CD02ED442418}"/>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6" name="Straight Connector 385">
              <a:extLst>
                <a:ext uri="{FF2B5EF4-FFF2-40B4-BE49-F238E27FC236}">
                  <a16:creationId xmlns:a16="http://schemas.microsoft.com/office/drawing/2014/main" id="{C90AA083-CBF4-D7DB-8408-EB0C255D022E}"/>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7" name="Straight Connector 386">
              <a:extLst>
                <a:ext uri="{FF2B5EF4-FFF2-40B4-BE49-F238E27FC236}">
                  <a16:creationId xmlns:a16="http://schemas.microsoft.com/office/drawing/2014/main" id="{695BC69A-09ED-A8C3-6D3A-60760D528751}"/>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8" name="Straight Connector 387">
              <a:extLst>
                <a:ext uri="{FF2B5EF4-FFF2-40B4-BE49-F238E27FC236}">
                  <a16:creationId xmlns:a16="http://schemas.microsoft.com/office/drawing/2014/main" id="{F42E4E8B-4360-5EFB-55B8-7CEF10D69E16}"/>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9" name="Straight Connector 388">
              <a:extLst>
                <a:ext uri="{FF2B5EF4-FFF2-40B4-BE49-F238E27FC236}">
                  <a16:creationId xmlns:a16="http://schemas.microsoft.com/office/drawing/2014/main" id="{EA6AD491-17EE-1058-9572-CA78B1801B07}"/>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91" name="Group 390">
            <a:extLst>
              <a:ext uri="{FF2B5EF4-FFF2-40B4-BE49-F238E27FC236}">
                <a16:creationId xmlns:a16="http://schemas.microsoft.com/office/drawing/2014/main" id="{62F14474-8792-7B3B-9656-461F7156C693}"/>
              </a:ext>
            </a:extLst>
          </p:cNvPr>
          <p:cNvGrpSpPr/>
          <p:nvPr/>
        </p:nvGrpSpPr>
        <p:grpSpPr>
          <a:xfrm>
            <a:off x="10771171" y="3194171"/>
            <a:ext cx="594613" cy="648336"/>
            <a:chOff x="5203089" y="1751190"/>
            <a:chExt cx="858331" cy="662414"/>
          </a:xfrm>
        </p:grpSpPr>
        <p:sp>
          <p:nvSpPr>
            <p:cNvPr id="399" name="Freeform 398">
              <a:extLst>
                <a:ext uri="{FF2B5EF4-FFF2-40B4-BE49-F238E27FC236}">
                  <a16:creationId xmlns:a16="http://schemas.microsoft.com/office/drawing/2014/main" id="{E66BFF27-DC7A-2A2B-48CE-7075CF430FFD}"/>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0" name="Freeform 399">
              <a:extLst>
                <a:ext uri="{FF2B5EF4-FFF2-40B4-BE49-F238E27FC236}">
                  <a16:creationId xmlns:a16="http://schemas.microsoft.com/office/drawing/2014/main" id="{2C1670CE-8801-EF1A-9D12-137292D90C54}"/>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401" name="Straight Connector 400">
              <a:extLst>
                <a:ext uri="{FF2B5EF4-FFF2-40B4-BE49-F238E27FC236}">
                  <a16:creationId xmlns:a16="http://schemas.microsoft.com/office/drawing/2014/main" id="{6E3399C0-E312-13D3-D38E-99BA88695D7F}"/>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8B8CFEBC-2310-2652-14F3-CA65C1FFC321}"/>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3" name="Straight Connector 402">
              <a:extLst>
                <a:ext uri="{FF2B5EF4-FFF2-40B4-BE49-F238E27FC236}">
                  <a16:creationId xmlns:a16="http://schemas.microsoft.com/office/drawing/2014/main" id="{73E2AFCD-9A79-1BE1-8380-03D640514DD7}"/>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1643E38B-BEEA-91E5-ECD0-C3926011A075}"/>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5" name="Straight Connector 404">
              <a:extLst>
                <a:ext uri="{FF2B5EF4-FFF2-40B4-BE49-F238E27FC236}">
                  <a16:creationId xmlns:a16="http://schemas.microsoft.com/office/drawing/2014/main" id="{07BE7281-A0C3-4AF6-A19E-FE2650C85DF2}"/>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06" name="Straight Connector 405">
              <a:extLst>
                <a:ext uri="{FF2B5EF4-FFF2-40B4-BE49-F238E27FC236}">
                  <a16:creationId xmlns:a16="http://schemas.microsoft.com/office/drawing/2014/main" id="{D4F417C5-463F-2753-BF44-5F542E99ECAE}"/>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562" name="Freeform 561">
            <a:extLst>
              <a:ext uri="{FF2B5EF4-FFF2-40B4-BE49-F238E27FC236}">
                <a16:creationId xmlns:a16="http://schemas.microsoft.com/office/drawing/2014/main" id="{52F51E53-A620-1D50-6702-9849D9A7AED1}"/>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73" name="TextBox 572">
            <a:extLst>
              <a:ext uri="{FF2B5EF4-FFF2-40B4-BE49-F238E27FC236}">
                <a16:creationId xmlns:a16="http://schemas.microsoft.com/office/drawing/2014/main" id="{647D683F-3710-C6A7-FE30-4EDF0D602909}"/>
              </a:ext>
            </a:extLst>
          </p:cNvPr>
          <p:cNvSpPr txBox="1"/>
          <p:nvPr/>
        </p:nvSpPr>
        <p:spPr>
          <a:xfrm>
            <a:off x="9427201" y="1851195"/>
            <a:ext cx="1725088" cy="286232"/>
          </a:xfrm>
          <a:prstGeom prst="rect">
            <a:avLst/>
          </a:prstGeom>
          <a:noFill/>
        </p:spPr>
        <p:txBody>
          <a:bodyPr wrap="none" rtlCol="0">
            <a:spAutoFit/>
          </a:bodyPr>
          <a:lstStyle/>
          <a:p>
            <a:pPr>
              <a:lnSpc>
                <a:spcPct val="90000"/>
              </a:lnSpc>
            </a:pPr>
            <a:r>
              <a:rPr lang="en-US" sz="1400" dirty="0"/>
              <a:t>national or global ISP</a:t>
            </a:r>
          </a:p>
        </p:txBody>
      </p:sp>
      <p:sp>
        <p:nvSpPr>
          <p:cNvPr id="655" name="Rectangle 654">
            <a:extLst>
              <a:ext uri="{FF2B5EF4-FFF2-40B4-BE49-F238E27FC236}">
                <a16:creationId xmlns:a16="http://schemas.microsoft.com/office/drawing/2014/main" id="{32A691C5-DA0D-21E5-5E59-7437E3EC60E3}"/>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TextBox 652">
            <a:extLst>
              <a:ext uri="{FF2B5EF4-FFF2-40B4-BE49-F238E27FC236}">
                <a16:creationId xmlns:a16="http://schemas.microsoft.com/office/drawing/2014/main" id="{0107D0BF-CB22-6A63-BFEC-651988E03D3F}"/>
              </a:ext>
            </a:extLst>
          </p:cNvPr>
          <p:cNvSpPr txBox="1"/>
          <p:nvPr/>
        </p:nvSpPr>
        <p:spPr>
          <a:xfrm>
            <a:off x="8766162" y="3447919"/>
            <a:ext cx="1040639" cy="480131"/>
          </a:xfrm>
          <a:prstGeom prst="rect">
            <a:avLst/>
          </a:prstGeom>
          <a:noFill/>
        </p:spPr>
        <p:txBody>
          <a:bodyPr wrap="square" rtlCol="0">
            <a:spAutoFit/>
          </a:bodyPr>
          <a:lstStyle/>
          <a:p>
            <a:pPr>
              <a:lnSpc>
                <a:spcPct val="90000"/>
              </a:lnSpc>
            </a:pPr>
            <a:r>
              <a:rPr lang="en-US" sz="1400" dirty="0"/>
              <a:t>local or regional ISP</a:t>
            </a:r>
          </a:p>
        </p:txBody>
      </p:sp>
      <p:sp>
        <p:nvSpPr>
          <p:cNvPr id="657" name="TextBox 656">
            <a:extLst>
              <a:ext uri="{FF2B5EF4-FFF2-40B4-BE49-F238E27FC236}">
                <a16:creationId xmlns:a16="http://schemas.microsoft.com/office/drawing/2014/main" id="{1EB94098-9FBD-DACA-0D69-C5E23D7ACCE9}"/>
              </a:ext>
            </a:extLst>
          </p:cNvPr>
          <p:cNvSpPr txBox="1"/>
          <p:nvPr/>
        </p:nvSpPr>
        <p:spPr>
          <a:xfrm>
            <a:off x="10917767" y="4677937"/>
            <a:ext cx="813043" cy="383182"/>
          </a:xfrm>
          <a:prstGeom prst="rect">
            <a:avLst/>
          </a:prstGeom>
          <a:noFill/>
        </p:spPr>
        <p:txBody>
          <a:bodyPr wrap="none" rtlCol="0">
            <a:spAutoFit/>
          </a:bodyPr>
          <a:lstStyle/>
          <a:p>
            <a:pPr>
              <a:lnSpc>
                <a:spcPct val="90000"/>
              </a:lnSpc>
            </a:pPr>
            <a:r>
              <a:rPr lang="en-US" sz="1050" dirty="0"/>
              <a:t>datacenter </a:t>
            </a:r>
          </a:p>
          <a:p>
            <a:pPr>
              <a:lnSpc>
                <a:spcPct val="90000"/>
              </a:lnSpc>
            </a:pPr>
            <a:r>
              <a:rPr lang="en-US" sz="1050" dirty="0"/>
              <a:t>network</a:t>
            </a:r>
          </a:p>
        </p:txBody>
      </p:sp>
      <p:sp>
        <p:nvSpPr>
          <p:cNvPr id="658" name="TextBox 657">
            <a:extLst>
              <a:ext uri="{FF2B5EF4-FFF2-40B4-BE49-F238E27FC236}">
                <a16:creationId xmlns:a16="http://schemas.microsoft.com/office/drawing/2014/main" id="{9D3FD163-CFDC-DA50-99C5-69C13016FE55}"/>
              </a:ext>
            </a:extLst>
          </p:cNvPr>
          <p:cNvSpPr txBox="1"/>
          <p:nvPr/>
        </p:nvSpPr>
        <p:spPr>
          <a:xfrm>
            <a:off x="10063018" y="4228248"/>
            <a:ext cx="843051" cy="674031"/>
          </a:xfrm>
          <a:prstGeom prst="rect">
            <a:avLst/>
          </a:prstGeom>
          <a:noFill/>
        </p:spPr>
        <p:txBody>
          <a:bodyPr wrap="none" rtlCol="0">
            <a:spAutoFit/>
          </a:bodyPr>
          <a:lstStyle/>
          <a:p>
            <a:pPr>
              <a:lnSpc>
                <a:spcPct val="90000"/>
              </a:lnSpc>
            </a:pPr>
            <a:r>
              <a:rPr lang="en-US" sz="1400" dirty="0"/>
              <a:t>content </a:t>
            </a:r>
          </a:p>
          <a:p>
            <a:pPr>
              <a:lnSpc>
                <a:spcPct val="90000"/>
              </a:lnSpc>
            </a:pPr>
            <a:r>
              <a:rPr lang="en-US" sz="1400" dirty="0"/>
              <a:t>provider </a:t>
            </a:r>
          </a:p>
          <a:p>
            <a:pPr>
              <a:lnSpc>
                <a:spcPct val="90000"/>
              </a:lnSpc>
            </a:pPr>
            <a:r>
              <a:rPr lang="en-US" sz="1400" dirty="0"/>
              <a:t>network</a:t>
            </a:r>
            <a:endParaRPr lang="en-US" sz="1000" dirty="0"/>
          </a:p>
        </p:txBody>
      </p:sp>
      <p:cxnSp>
        <p:nvCxnSpPr>
          <p:cNvPr id="830" name="Straight Connector 829">
            <a:extLst>
              <a:ext uri="{FF2B5EF4-FFF2-40B4-BE49-F238E27FC236}">
                <a16:creationId xmlns:a16="http://schemas.microsoft.com/office/drawing/2014/main" id="{87E3CE20-E41D-76AA-17EE-BB9CA6102031}"/>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97130EC0-6241-B8CB-9EFD-26ABB5B321D9}"/>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DD8E8D01-42D1-5EDA-0B89-3C1E9C22F780}"/>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FE52627-A855-F346-E517-110654FEE33F}"/>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3A56226E-5607-C3B2-2D77-77725448BF47}"/>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FAAA8D90-A817-5BED-C38B-E877919AC5B0}"/>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FD18E389-753C-BE0A-8E0C-679AC78CC27A}"/>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35E50984-031F-57FF-10C0-12FB1D55F2F3}"/>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A00FA8CD-3671-7360-AB09-B9E398C5F727}"/>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33D031F4-3CE1-DB35-366B-4218D6008F12}"/>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6FEC78A9-EF7C-549A-6967-1CF7D7746F20}"/>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4" name="Straight Connector 563">
            <a:extLst>
              <a:ext uri="{FF2B5EF4-FFF2-40B4-BE49-F238E27FC236}">
                <a16:creationId xmlns:a16="http://schemas.microsoft.com/office/drawing/2014/main" id="{110236A9-9FAC-F0DF-7B10-980877B050AF}"/>
              </a:ext>
            </a:extLst>
          </p:cNvPr>
          <p:cNvCxnSpPr/>
          <p:nvPr/>
        </p:nvCxnSpPr>
        <p:spPr>
          <a:xfrm flipH="1">
            <a:off x="10100635" y="2169432"/>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5" name="Straight Connector 564">
            <a:extLst>
              <a:ext uri="{FF2B5EF4-FFF2-40B4-BE49-F238E27FC236}">
                <a16:creationId xmlns:a16="http://schemas.microsoft.com/office/drawing/2014/main" id="{6C10C283-D330-3D18-E6DD-052A477415FA}"/>
              </a:ext>
            </a:extLst>
          </p:cNvPr>
          <p:cNvCxnSpPr/>
          <p:nvPr/>
        </p:nvCxnSpPr>
        <p:spPr>
          <a:xfrm flipH="1">
            <a:off x="10100635" y="2268313"/>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6" name="Straight Connector 565">
            <a:extLst>
              <a:ext uri="{FF2B5EF4-FFF2-40B4-BE49-F238E27FC236}">
                <a16:creationId xmlns:a16="http://schemas.microsoft.com/office/drawing/2014/main" id="{FF2A674A-B4DC-0F96-8131-40A6DA1EA263}"/>
              </a:ext>
            </a:extLst>
          </p:cNvPr>
          <p:cNvCxnSpPr/>
          <p:nvPr/>
        </p:nvCxnSpPr>
        <p:spPr>
          <a:xfrm flipH="1">
            <a:off x="10672135" y="2200506"/>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7" name="Straight Connector 566">
            <a:extLst>
              <a:ext uri="{FF2B5EF4-FFF2-40B4-BE49-F238E27FC236}">
                <a16:creationId xmlns:a16="http://schemas.microsoft.com/office/drawing/2014/main" id="{15E23D6C-52B4-B590-C51A-DD79C2AE83BF}"/>
              </a:ext>
            </a:extLst>
          </p:cNvPr>
          <p:cNvCxnSpPr/>
          <p:nvPr/>
        </p:nvCxnSpPr>
        <p:spPr>
          <a:xfrm flipH="1">
            <a:off x="10142166" y="2718967"/>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8" name="Straight Connector 567">
            <a:extLst>
              <a:ext uri="{FF2B5EF4-FFF2-40B4-BE49-F238E27FC236}">
                <a16:creationId xmlns:a16="http://schemas.microsoft.com/office/drawing/2014/main" id="{3E4B680D-036D-4A6F-D059-B8916AE6B417}"/>
              </a:ext>
            </a:extLst>
          </p:cNvPr>
          <p:cNvCxnSpPr/>
          <p:nvPr/>
        </p:nvCxnSpPr>
        <p:spPr>
          <a:xfrm flipH="1">
            <a:off x="10069542" y="2169432"/>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9" name="Straight Connector 568">
            <a:extLst>
              <a:ext uri="{FF2B5EF4-FFF2-40B4-BE49-F238E27FC236}">
                <a16:creationId xmlns:a16="http://schemas.microsoft.com/office/drawing/2014/main" id="{51C5AA80-8A77-2887-48E8-001EAA0BDD75}"/>
              </a:ext>
            </a:extLst>
          </p:cNvPr>
          <p:cNvCxnSpPr/>
          <p:nvPr/>
        </p:nvCxnSpPr>
        <p:spPr>
          <a:xfrm flipH="1">
            <a:off x="10862103" y="2127325"/>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0" name="Straight Connector 569">
            <a:extLst>
              <a:ext uri="{FF2B5EF4-FFF2-40B4-BE49-F238E27FC236}">
                <a16:creationId xmlns:a16="http://schemas.microsoft.com/office/drawing/2014/main" id="{2B51F66B-8DCD-805B-AAC7-E1B25DA8699C}"/>
              </a:ext>
            </a:extLst>
          </p:cNvPr>
          <p:cNvCxnSpPr/>
          <p:nvPr/>
        </p:nvCxnSpPr>
        <p:spPr>
          <a:xfrm flipH="1" flipV="1">
            <a:off x="10681994" y="2718967"/>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4" name="Straight Connector 573">
            <a:extLst>
              <a:ext uri="{FF2B5EF4-FFF2-40B4-BE49-F238E27FC236}">
                <a16:creationId xmlns:a16="http://schemas.microsoft.com/office/drawing/2014/main" id="{B40879C9-6C64-B425-8644-129871779173}"/>
              </a:ext>
            </a:extLst>
          </p:cNvPr>
          <p:cNvCxnSpPr/>
          <p:nvPr/>
        </p:nvCxnSpPr>
        <p:spPr>
          <a:xfrm flipH="1">
            <a:off x="8769223" y="2268313"/>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3" name="Line 541">
            <a:extLst>
              <a:ext uri="{FF2B5EF4-FFF2-40B4-BE49-F238E27FC236}">
                <a16:creationId xmlns:a16="http://schemas.microsoft.com/office/drawing/2014/main" id="{63A431D0-4FD1-522A-15EF-FE590ED34623}"/>
              </a:ext>
            </a:extLst>
          </p:cNvPr>
          <p:cNvSpPr>
            <a:spLocks noChangeShapeType="1"/>
          </p:cNvSpPr>
          <p:nvPr/>
        </p:nvSpPr>
        <p:spPr bwMode="auto">
          <a:xfrm flipV="1">
            <a:off x="9378705" y="4113379"/>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424">
            <a:extLst>
              <a:ext uri="{FF2B5EF4-FFF2-40B4-BE49-F238E27FC236}">
                <a16:creationId xmlns:a16="http://schemas.microsoft.com/office/drawing/2014/main" id="{03AF5482-0740-C62B-4F1A-6563D0B57D46}"/>
              </a:ext>
            </a:extLst>
          </p:cNvPr>
          <p:cNvSpPr>
            <a:spLocks noChangeShapeType="1"/>
          </p:cNvSpPr>
          <p:nvPr/>
        </p:nvSpPr>
        <p:spPr bwMode="auto">
          <a:xfrm flipV="1">
            <a:off x="8244554" y="4047456"/>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3" name="Oval 800">
            <a:extLst>
              <a:ext uri="{FF2B5EF4-FFF2-40B4-BE49-F238E27FC236}">
                <a16:creationId xmlns:a16="http://schemas.microsoft.com/office/drawing/2014/main" id="{163FA133-8D4D-2136-713C-B5BCA79B1776}"/>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615" name="Group 614">
            <a:extLst>
              <a:ext uri="{FF2B5EF4-FFF2-40B4-BE49-F238E27FC236}">
                <a16:creationId xmlns:a16="http://schemas.microsoft.com/office/drawing/2014/main" id="{35CC91F9-CD3E-41BE-2D43-D70CF7802E2C}"/>
              </a:ext>
            </a:extLst>
          </p:cNvPr>
          <p:cNvGrpSpPr/>
          <p:nvPr/>
        </p:nvGrpSpPr>
        <p:grpSpPr>
          <a:xfrm>
            <a:off x="10410609" y="3496138"/>
            <a:ext cx="353678" cy="198344"/>
            <a:chOff x="7493876" y="2774731"/>
            <a:chExt cx="1481958" cy="894622"/>
          </a:xfrm>
        </p:grpSpPr>
        <p:sp>
          <p:nvSpPr>
            <p:cNvPr id="616" name="Freeform 615">
              <a:extLst>
                <a:ext uri="{FF2B5EF4-FFF2-40B4-BE49-F238E27FC236}">
                  <a16:creationId xmlns:a16="http://schemas.microsoft.com/office/drawing/2014/main" id="{0CA5FA3C-FFA5-0E6A-753A-447232419F1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17" name="Oval 616">
              <a:extLst>
                <a:ext uri="{FF2B5EF4-FFF2-40B4-BE49-F238E27FC236}">
                  <a16:creationId xmlns:a16="http://schemas.microsoft.com/office/drawing/2014/main" id="{FB528EC1-55C3-AD6D-5AD3-5A31808306A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18" name="Group 617">
              <a:extLst>
                <a:ext uri="{FF2B5EF4-FFF2-40B4-BE49-F238E27FC236}">
                  <a16:creationId xmlns:a16="http://schemas.microsoft.com/office/drawing/2014/main" id="{E545347F-8ADC-29EF-EAD8-76F9866B2CAA}"/>
                </a:ext>
              </a:extLst>
            </p:cNvPr>
            <p:cNvGrpSpPr/>
            <p:nvPr/>
          </p:nvGrpSpPr>
          <p:grpSpPr>
            <a:xfrm>
              <a:off x="7713663" y="2848339"/>
              <a:ext cx="1042107" cy="425543"/>
              <a:chOff x="7786941" y="2884917"/>
              <a:chExt cx="897649" cy="353919"/>
            </a:xfrm>
          </p:grpSpPr>
          <p:sp>
            <p:nvSpPr>
              <p:cNvPr id="619" name="Freeform 618">
                <a:extLst>
                  <a:ext uri="{FF2B5EF4-FFF2-40B4-BE49-F238E27FC236}">
                    <a16:creationId xmlns:a16="http://schemas.microsoft.com/office/drawing/2014/main" id="{7BAB22C2-8E81-3A50-B3A9-99A7B279D0A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Freeform 619">
                <a:extLst>
                  <a:ext uri="{FF2B5EF4-FFF2-40B4-BE49-F238E27FC236}">
                    <a16:creationId xmlns:a16="http://schemas.microsoft.com/office/drawing/2014/main" id="{4D764FE1-2950-1946-C187-B782C39329B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Freeform 620">
                <a:extLst>
                  <a:ext uri="{FF2B5EF4-FFF2-40B4-BE49-F238E27FC236}">
                    <a16:creationId xmlns:a16="http://schemas.microsoft.com/office/drawing/2014/main" id="{04DE2FE9-65E0-E1EA-37D3-3DBCAA97C96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Freeform 621">
                <a:extLst>
                  <a:ext uri="{FF2B5EF4-FFF2-40B4-BE49-F238E27FC236}">
                    <a16:creationId xmlns:a16="http://schemas.microsoft.com/office/drawing/2014/main" id="{BAADC42D-4D65-17F1-83BC-2AFBBC420B5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77" name="Group 576">
            <a:extLst>
              <a:ext uri="{FF2B5EF4-FFF2-40B4-BE49-F238E27FC236}">
                <a16:creationId xmlns:a16="http://schemas.microsoft.com/office/drawing/2014/main" id="{0A211592-C833-1260-10BC-A451822C0AB8}"/>
              </a:ext>
            </a:extLst>
          </p:cNvPr>
          <p:cNvGrpSpPr/>
          <p:nvPr/>
        </p:nvGrpSpPr>
        <p:grpSpPr>
          <a:xfrm>
            <a:off x="9948724" y="2202292"/>
            <a:ext cx="353678" cy="198344"/>
            <a:chOff x="7493876" y="2774731"/>
            <a:chExt cx="1481958" cy="894622"/>
          </a:xfrm>
        </p:grpSpPr>
        <p:sp>
          <p:nvSpPr>
            <p:cNvPr id="578" name="Freeform 577">
              <a:extLst>
                <a:ext uri="{FF2B5EF4-FFF2-40B4-BE49-F238E27FC236}">
                  <a16:creationId xmlns:a16="http://schemas.microsoft.com/office/drawing/2014/main" id="{F6F1E324-0C61-28E7-04BD-04A248CA019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79" name="Oval 578">
              <a:extLst>
                <a:ext uri="{FF2B5EF4-FFF2-40B4-BE49-F238E27FC236}">
                  <a16:creationId xmlns:a16="http://schemas.microsoft.com/office/drawing/2014/main" id="{7CB97F6D-C42F-3B68-2DED-A24C3E61F60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80" name="Group 579">
              <a:extLst>
                <a:ext uri="{FF2B5EF4-FFF2-40B4-BE49-F238E27FC236}">
                  <a16:creationId xmlns:a16="http://schemas.microsoft.com/office/drawing/2014/main" id="{3E05D567-01B0-29E7-58CA-B6BEB156218B}"/>
                </a:ext>
              </a:extLst>
            </p:cNvPr>
            <p:cNvGrpSpPr/>
            <p:nvPr/>
          </p:nvGrpSpPr>
          <p:grpSpPr>
            <a:xfrm>
              <a:off x="7713663" y="2848339"/>
              <a:ext cx="1042107" cy="425543"/>
              <a:chOff x="7786941" y="2884917"/>
              <a:chExt cx="897649" cy="353919"/>
            </a:xfrm>
          </p:grpSpPr>
          <p:sp>
            <p:nvSpPr>
              <p:cNvPr id="581" name="Freeform 580">
                <a:extLst>
                  <a:ext uri="{FF2B5EF4-FFF2-40B4-BE49-F238E27FC236}">
                    <a16:creationId xmlns:a16="http://schemas.microsoft.com/office/drawing/2014/main" id="{C9200250-A742-AD07-AF22-5398E3847CA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Freeform 581">
                <a:extLst>
                  <a:ext uri="{FF2B5EF4-FFF2-40B4-BE49-F238E27FC236}">
                    <a16:creationId xmlns:a16="http://schemas.microsoft.com/office/drawing/2014/main" id="{6F98E173-60E7-792F-D0E6-BA3B84DF16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Freeform 582">
                <a:extLst>
                  <a:ext uri="{FF2B5EF4-FFF2-40B4-BE49-F238E27FC236}">
                    <a16:creationId xmlns:a16="http://schemas.microsoft.com/office/drawing/2014/main" id="{D2C8CDC7-195E-9C64-5F4F-7A3C7481ED5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Freeform 583">
                <a:extLst>
                  <a:ext uri="{FF2B5EF4-FFF2-40B4-BE49-F238E27FC236}">
                    <a16:creationId xmlns:a16="http://schemas.microsoft.com/office/drawing/2014/main" id="{11E8D2AE-B168-D455-7575-77D4D807E3D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93" name="Group 592">
            <a:extLst>
              <a:ext uri="{FF2B5EF4-FFF2-40B4-BE49-F238E27FC236}">
                <a16:creationId xmlns:a16="http://schemas.microsoft.com/office/drawing/2014/main" id="{EFA706BE-DB48-9F80-B97E-B09E25D009AA}"/>
              </a:ext>
            </a:extLst>
          </p:cNvPr>
          <p:cNvGrpSpPr/>
          <p:nvPr/>
        </p:nvGrpSpPr>
        <p:grpSpPr>
          <a:xfrm>
            <a:off x="10527214" y="2613367"/>
            <a:ext cx="353678" cy="198344"/>
            <a:chOff x="7493876" y="2774731"/>
            <a:chExt cx="1481958" cy="894622"/>
          </a:xfrm>
        </p:grpSpPr>
        <p:sp>
          <p:nvSpPr>
            <p:cNvPr id="594" name="Freeform 593">
              <a:extLst>
                <a:ext uri="{FF2B5EF4-FFF2-40B4-BE49-F238E27FC236}">
                  <a16:creationId xmlns:a16="http://schemas.microsoft.com/office/drawing/2014/main" id="{E90C9CA9-CA39-187C-A0D3-84822A5030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95" name="Oval 594">
              <a:extLst>
                <a:ext uri="{FF2B5EF4-FFF2-40B4-BE49-F238E27FC236}">
                  <a16:creationId xmlns:a16="http://schemas.microsoft.com/office/drawing/2014/main" id="{C02AD08C-D052-F19E-B1FD-D2D26F75D5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96" name="Group 595">
              <a:extLst>
                <a:ext uri="{FF2B5EF4-FFF2-40B4-BE49-F238E27FC236}">
                  <a16:creationId xmlns:a16="http://schemas.microsoft.com/office/drawing/2014/main" id="{E56AE1AF-0F28-0550-5416-CB9BAF9888B1}"/>
                </a:ext>
              </a:extLst>
            </p:cNvPr>
            <p:cNvGrpSpPr/>
            <p:nvPr/>
          </p:nvGrpSpPr>
          <p:grpSpPr>
            <a:xfrm>
              <a:off x="7713663" y="2848339"/>
              <a:ext cx="1042107" cy="425543"/>
              <a:chOff x="7786941" y="2884917"/>
              <a:chExt cx="897649" cy="353919"/>
            </a:xfrm>
          </p:grpSpPr>
          <p:sp>
            <p:nvSpPr>
              <p:cNvPr id="597" name="Freeform 596">
                <a:extLst>
                  <a:ext uri="{FF2B5EF4-FFF2-40B4-BE49-F238E27FC236}">
                    <a16:creationId xmlns:a16="http://schemas.microsoft.com/office/drawing/2014/main" id="{C47850A0-C221-1533-E8E1-9C64049C582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Freeform 597">
                <a:extLst>
                  <a:ext uri="{FF2B5EF4-FFF2-40B4-BE49-F238E27FC236}">
                    <a16:creationId xmlns:a16="http://schemas.microsoft.com/office/drawing/2014/main" id="{83A0AAEF-77AD-9867-7680-2BAA67616B0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Freeform 598">
                <a:extLst>
                  <a:ext uri="{FF2B5EF4-FFF2-40B4-BE49-F238E27FC236}">
                    <a16:creationId xmlns:a16="http://schemas.microsoft.com/office/drawing/2014/main" id="{0D1676B0-A2D4-552E-0802-18A20842488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Freeform 599">
                <a:extLst>
                  <a:ext uri="{FF2B5EF4-FFF2-40B4-BE49-F238E27FC236}">
                    <a16:creationId xmlns:a16="http://schemas.microsoft.com/office/drawing/2014/main" id="{C6B07FE0-69B5-A21E-E68A-DE0373A8123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1" name="Group 600">
            <a:extLst>
              <a:ext uri="{FF2B5EF4-FFF2-40B4-BE49-F238E27FC236}">
                <a16:creationId xmlns:a16="http://schemas.microsoft.com/office/drawing/2014/main" id="{4601FA51-F3A2-32DD-5598-1C29F78322EC}"/>
              </a:ext>
            </a:extLst>
          </p:cNvPr>
          <p:cNvGrpSpPr/>
          <p:nvPr/>
        </p:nvGrpSpPr>
        <p:grpSpPr>
          <a:xfrm>
            <a:off x="10643825" y="2107963"/>
            <a:ext cx="353678" cy="198344"/>
            <a:chOff x="7493876" y="2774731"/>
            <a:chExt cx="1481958" cy="894622"/>
          </a:xfrm>
        </p:grpSpPr>
        <p:sp>
          <p:nvSpPr>
            <p:cNvPr id="602" name="Freeform 601">
              <a:extLst>
                <a:ext uri="{FF2B5EF4-FFF2-40B4-BE49-F238E27FC236}">
                  <a16:creationId xmlns:a16="http://schemas.microsoft.com/office/drawing/2014/main" id="{0B1FAFAF-A363-60D2-142F-83C81EF6BD1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3" name="Oval 602">
              <a:extLst>
                <a:ext uri="{FF2B5EF4-FFF2-40B4-BE49-F238E27FC236}">
                  <a16:creationId xmlns:a16="http://schemas.microsoft.com/office/drawing/2014/main" id="{90BDE76E-8208-51E5-7BA3-039B8B9F4CD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04" name="Group 603">
              <a:extLst>
                <a:ext uri="{FF2B5EF4-FFF2-40B4-BE49-F238E27FC236}">
                  <a16:creationId xmlns:a16="http://schemas.microsoft.com/office/drawing/2014/main" id="{4AEF590D-9F09-328B-B9BF-0C2006A02806}"/>
                </a:ext>
              </a:extLst>
            </p:cNvPr>
            <p:cNvGrpSpPr/>
            <p:nvPr/>
          </p:nvGrpSpPr>
          <p:grpSpPr>
            <a:xfrm>
              <a:off x="7713663" y="2848339"/>
              <a:ext cx="1042107" cy="425543"/>
              <a:chOff x="7786941" y="2884917"/>
              <a:chExt cx="897649" cy="353919"/>
            </a:xfrm>
          </p:grpSpPr>
          <p:sp>
            <p:nvSpPr>
              <p:cNvPr id="605" name="Freeform 604">
                <a:extLst>
                  <a:ext uri="{FF2B5EF4-FFF2-40B4-BE49-F238E27FC236}">
                    <a16:creationId xmlns:a16="http://schemas.microsoft.com/office/drawing/2014/main" id="{0650E189-0BDC-C2C1-8CFE-F9989ACF29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Freeform 605">
                <a:extLst>
                  <a:ext uri="{FF2B5EF4-FFF2-40B4-BE49-F238E27FC236}">
                    <a16:creationId xmlns:a16="http://schemas.microsoft.com/office/drawing/2014/main" id="{E58FB79B-B225-CDCD-E1FC-289EEBD5BCE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Freeform 606">
                <a:extLst>
                  <a:ext uri="{FF2B5EF4-FFF2-40B4-BE49-F238E27FC236}">
                    <a16:creationId xmlns:a16="http://schemas.microsoft.com/office/drawing/2014/main" id="{5ADAEF7F-2B0F-0A2B-B0AD-11FB38CB01A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Freeform 607">
                <a:extLst>
                  <a:ext uri="{FF2B5EF4-FFF2-40B4-BE49-F238E27FC236}">
                    <a16:creationId xmlns:a16="http://schemas.microsoft.com/office/drawing/2014/main" id="{289E8043-EB09-454B-33B7-EA4BD93D526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54" name="Group 553">
            <a:extLst>
              <a:ext uri="{FF2B5EF4-FFF2-40B4-BE49-F238E27FC236}">
                <a16:creationId xmlns:a16="http://schemas.microsoft.com/office/drawing/2014/main" id="{3B76D042-F4CC-0C73-6B2A-AA47489A9F89}"/>
              </a:ext>
            </a:extLst>
          </p:cNvPr>
          <p:cNvGrpSpPr/>
          <p:nvPr/>
        </p:nvGrpSpPr>
        <p:grpSpPr>
          <a:xfrm>
            <a:off x="9098788" y="3956624"/>
            <a:ext cx="367224" cy="240304"/>
            <a:chOff x="7493876" y="2774731"/>
            <a:chExt cx="1481958" cy="894622"/>
          </a:xfrm>
        </p:grpSpPr>
        <p:sp>
          <p:nvSpPr>
            <p:cNvPr id="555" name="Freeform 554">
              <a:extLst>
                <a:ext uri="{FF2B5EF4-FFF2-40B4-BE49-F238E27FC236}">
                  <a16:creationId xmlns:a16="http://schemas.microsoft.com/office/drawing/2014/main" id="{56573B31-AC6F-7752-87FD-CAC78C46837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56" name="Oval 555">
              <a:extLst>
                <a:ext uri="{FF2B5EF4-FFF2-40B4-BE49-F238E27FC236}">
                  <a16:creationId xmlns:a16="http://schemas.microsoft.com/office/drawing/2014/main" id="{F100A386-5AF7-F8B4-1B7D-665B072CDE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57" name="Group 556">
              <a:extLst>
                <a:ext uri="{FF2B5EF4-FFF2-40B4-BE49-F238E27FC236}">
                  <a16:creationId xmlns:a16="http://schemas.microsoft.com/office/drawing/2014/main" id="{D9BBF7B5-F2AC-5204-0FF4-CC3BF41FF2BF}"/>
                </a:ext>
              </a:extLst>
            </p:cNvPr>
            <p:cNvGrpSpPr/>
            <p:nvPr/>
          </p:nvGrpSpPr>
          <p:grpSpPr>
            <a:xfrm>
              <a:off x="7713663" y="2848339"/>
              <a:ext cx="1042107" cy="425543"/>
              <a:chOff x="7786941" y="2884917"/>
              <a:chExt cx="897649" cy="353919"/>
            </a:xfrm>
          </p:grpSpPr>
          <p:sp>
            <p:nvSpPr>
              <p:cNvPr id="558" name="Freeform 557">
                <a:extLst>
                  <a:ext uri="{FF2B5EF4-FFF2-40B4-BE49-F238E27FC236}">
                    <a16:creationId xmlns:a16="http://schemas.microsoft.com/office/drawing/2014/main" id="{1EAC0ACB-198C-6406-8537-A779D8A70D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Freeform 558">
                <a:extLst>
                  <a:ext uri="{FF2B5EF4-FFF2-40B4-BE49-F238E27FC236}">
                    <a16:creationId xmlns:a16="http://schemas.microsoft.com/office/drawing/2014/main" id="{DB9EC659-0BEC-4FB6-5287-88D5F9F47AD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Freeform 559">
                <a:extLst>
                  <a:ext uri="{FF2B5EF4-FFF2-40B4-BE49-F238E27FC236}">
                    <a16:creationId xmlns:a16="http://schemas.microsoft.com/office/drawing/2014/main" id="{BCFA4C0B-2F55-38CC-0E5B-A4D1738857A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Freeform 560">
                <a:extLst>
                  <a:ext uri="{FF2B5EF4-FFF2-40B4-BE49-F238E27FC236}">
                    <a16:creationId xmlns:a16="http://schemas.microsoft.com/office/drawing/2014/main" id="{B5A84117-796E-C078-FEF3-F7194008054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5" name="Group 584">
            <a:extLst>
              <a:ext uri="{FF2B5EF4-FFF2-40B4-BE49-F238E27FC236}">
                <a16:creationId xmlns:a16="http://schemas.microsoft.com/office/drawing/2014/main" id="{78F28528-1BC7-CD64-5D92-153FDC265049}"/>
              </a:ext>
            </a:extLst>
          </p:cNvPr>
          <p:cNvGrpSpPr/>
          <p:nvPr/>
        </p:nvGrpSpPr>
        <p:grpSpPr>
          <a:xfrm>
            <a:off x="9980126" y="2661565"/>
            <a:ext cx="353678" cy="198344"/>
            <a:chOff x="7493876" y="2774731"/>
            <a:chExt cx="1481958" cy="894622"/>
          </a:xfrm>
        </p:grpSpPr>
        <p:sp>
          <p:nvSpPr>
            <p:cNvPr id="586" name="Freeform 585">
              <a:extLst>
                <a:ext uri="{FF2B5EF4-FFF2-40B4-BE49-F238E27FC236}">
                  <a16:creationId xmlns:a16="http://schemas.microsoft.com/office/drawing/2014/main" id="{35601F36-D614-4F6E-9E16-02B8DD85288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87" name="Oval 586">
              <a:extLst>
                <a:ext uri="{FF2B5EF4-FFF2-40B4-BE49-F238E27FC236}">
                  <a16:creationId xmlns:a16="http://schemas.microsoft.com/office/drawing/2014/main" id="{A58E7B4D-760F-D44D-B528-47D8DAFF3BA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88" name="Group 587">
              <a:extLst>
                <a:ext uri="{FF2B5EF4-FFF2-40B4-BE49-F238E27FC236}">
                  <a16:creationId xmlns:a16="http://schemas.microsoft.com/office/drawing/2014/main" id="{326C2CA8-144F-14E6-9836-0988A562852D}"/>
                </a:ext>
              </a:extLst>
            </p:cNvPr>
            <p:cNvGrpSpPr/>
            <p:nvPr/>
          </p:nvGrpSpPr>
          <p:grpSpPr>
            <a:xfrm>
              <a:off x="7713663" y="2848339"/>
              <a:ext cx="1042107" cy="425543"/>
              <a:chOff x="7786941" y="2884917"/>
              <a:chExt cx="897649" cy="353919"/>
            </a:xfrm>
          </p:grpSpPr>
          <p:sp>
            <p:nvSpPr>
              <p:cNvPr id="589" name="Freeform 588">
                <a:extLst>
                  <a:ext uri="{FF2B5EF4-FFF2-40B4-BE49-F238E27FC236}">
                    <a16:creationId xmlns:a16="http://schemas.microsoft.com/office/drawing/2014/main" id="{9FE4A71C-79B8-B949-A93F-DB86F98D971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Freeform 589">
                <a:extLst>
                  <a:ext uri="{FF2B5EF4-FFF2-40B4-BE49-F238E27FC236}">
                    <a16:creationId xmlns:a16="http://schemas.microsoft.com/office/drawing/2014/main" id="{EA8B84E8-A0D0-FB89-B6B7-9025BCCC7D6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Freeform 590">
                <a:extLst>
                  <a:ext uri="{FF2B5EF4-FFF2-40B4-BE49-F238E27FC236}">
                    <a16:creationId xmlns:a16="http://schemas.microsoft.com/office/drawing/2014/main" id="{E2705619-2EC4-F467-60D1-98EAF1E4C14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Freeform 591">
                <a:extLst>
                  <a:ext uri="{FF2B5EF4-FFF2-40B4-BE49-F238E27FC236}">
                    <a16:creationId xmlns:a16="http://schemas.microsoft.com/office/drawing/2014/main" id="{32D917F0-7D88-41E1-8528-33C4DF02060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38" name="Group 537">
            <a:extLst>
              <a:ext uri="{FF2B5EF4-FFF2-40B4-BE49-F238E27FC236}">
                <a16:creationId xmlns:a16="http://schemas.microsoft.com/office/drawing/2014/main" id="{7F6B56E2-5744-FEFC-790D-96E8AC098DF6}"/>
              </a:ext>
            </a:extLst>
          </p:cNvPr>
          <p:cNvGrpSpPr/>
          <p:nvPr/>
        </p:nvGrpSpPr>
        <p:grpSpPr>
          <a:xfrm>
            <a:off x="9497138" y="3394032"/>
            <a:ext cx="367224" cy="240304"/>
            <a:chOff x="7493876" y="2774731"/>
            <a:chExt cx="1481958" cy="894622"/>
          </a:xfrm>
        </p:grpSpPr>
        <p:sp>
          <p:nvSpPr>
            <p:cNvPr id="539" name="Freeform 538">
              <a:extLst>
                <a:ext uri="{FF2B5EF4-FFF2-40B4-BE49-F238E27FC236}">
                  <a16:creationId xmlns:a16="http://schemas.microsoft.com/office/drawing/2014/main" id="{476278E8-C8B3-91AE-1767-52718FD6099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40" name="Oval 539">
              <a:extLst>
                <a:ext uri="{FF2B5EF4-FFF2-40B4-BE49-F238E27FC236}">
                  <a16:creationId xmlns:a16="http://schemas.microsoft.com/office/drawing/2014/main" id="{D1729B2A-4969-1317-DCA9-CB1D0880D34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41" name="Group 540">
              <a:extLst>
                <a:ext uri="{FF2B5EF4-FFF2-40B4-BE49-F238E27FC236}">
                  <a16:creationId xmlns:a16="http://schemas.microsoft.com/office/drawing/2014/main" id="{595D7981-EC4E-C7DF-7CC7-388B910EA9C2}"/>
                </a:ext>
              </a:extLst>
            </p:cNvPr>
            <p:cNvGrpSpPr/>
            <p:nvPr/>
          </p:nvGrpSpPr>
          <p:grpSpPr>
            <a:xfrm>
              <a:off x="7713663" y="2848339"/>
              <a:ext cx="1042107" cy="425543"/>
              <a:chOff x="7786941" y="2884917"/>
              <a:chExt cx="897649" cy="353919"/>
            </a:xfrm>
          </p:grpSpPr>
          <p:sp>
            <p:nvSpPr>
              <p:cNvPr id="542" name="Freeform 541">
                <a:extLst>
                  <a:ext uri="{FF2B5EF4-FFF2-40B4-BE49-F238E27FC236}">
                    <a16:creationId xmlns:a16="http://schemas.microsoft.com/office/drawing/2014/main" id="{11C9AEFF-75C1-64C1-D1C4-AA40417E4B3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Freeform 542">
                <a:extLst>
                  <a:ext uri="{FF2B5EF4-FFF2-40B4-BE49-F238E27FC236}">
                    <a16:creationId xmlns:a16="http://schemas.microsoft.com/office/drawing/2014/main" id="{5BB2D230-F6F3-9C91-FD22-A9F12A41F86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Freeform 543">
                <a:extLst>
                  <a:ext uri="{FF2B5EF4-FFF2-40B4-BE49-F238E27FC236}">
                    <a16:creationId xmlns:a16="http://schemas.microsoft.com/office/drawing/2014/main" id="{76BA2231-AE7D-5991-200F-07BD28F59A5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Freeform 544">
                <a:extLst>
                  <a:ext uri="{FF2B5EF4-FFF2-40B4-BE49-F238E27FC236}">
                    <a16:creationId xmlns:a16="http://schemas.microsoft.com/office/drawing/2014/main" id="{281FB9F5-ADB9-10D3-F8E9-F629F4C03F3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46" name="Group 545">
            <a:extLst>
              <a:ext uri="{FF2B5EF4-FFF2-40B4-BE49-F238E27FC236}">
                <a16:creationId xmlns:a16="http://schemas.microsoft.com/office/drawing/2014/main" id="{BCAD6E30-6EB0-679E-D217-2DF09E275995}"/>
              </a:ext>
            </a:extLst>
          </p:cNvPr>
          <p:cNvGrpSpPr/>
          <p:nvPr/>
        </p:nvGrpSpPr>
        <p:grpSpPr>
          <a:xfrm>
            <a:off x="9601554" y="3999763"/>
            <a:ext cx="367224" cy="240304"/>
            <a:chOff x="7493876" y="2774731"/>
            <a:chExt cx="1481958" cy="894622"/>
          </a:xfrm>
        </p:grpSpPr>
        <p:sp>
          <p:nvSpPr>
            <p:cNvPr id="547" name="Freeform 546">
              <a:extLst>
                <a:ext uri="{FF2B5EF4-FFF2-40B4-BE49-F238E27FC236}">
                  <a16:creationId xmlns:a16="http://schemas.microsoft.com/office/drawing/2014/main" id="{5F12A55C-5764-5B68-32C5-B843264AC7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48" name="Oval 547">
              <a:extLst>
                <a:ext uri="{FF2B5EF4-FFF2-40B4-BE49-F238E27FC236}">
                  <a16:creationId xmlns:a16="http://schemas.microsoft.com/office/drawing/2014/main" id="{396B0F81-9C97-520D-E5B4-09CFCB07BB4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549" name="Group 548">
              <a:extLst>
                <a:ext uri="{FF2B5EF4-FFF2-40B4-BE49-F238E27FC236}">
                  <a16:creationId xmlns:a16="http://schemas.microsoft.com/office/drawing/2014/main" id="{AA1AC3FE-5FF7-0606-FF98-898BAAF5FDE7}"/>
                </a:ext>
              </a:extLst>
            </p:cNvPr>
            <p:cNvGrpSpPr/>
            <p:nvPr/>
          </p:nvGrpSpPr>
          <p:grpSpPr>
            <a:xfrm>
              <a:off x="7713663" y="2848339"/>
              <a:ext cx="1042107" cy="425543"/>
              <a:chOff x="7786941" y="2884917"/>
              <a:chExt cx="897649" cy="353919"/>
            </a:xfrm>
          </p:grpSpPr>
          <p:sp>
            <p:nvSpPr>
              <p:cNvPr id="550" name="Freeform 549">
                <a:extLst>
                  <a:ext uri="{FF2B5EF4-FFF2-40B4-BE49-F238E27FC236}">
                    <a16:creationId xmlns:a16="http://schemas.microsoft.com/office/drawing/2014/main" id="{915E8E09-62CE-3613-536D-E87F7C7964B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Freeform 550">
                <a:extLst>
                  <a:ext uri="{FF2B5EF4-FFF2-40B4-BE49-F238E27FC236}">
                    <a16:creationId xmlns:a16="http://schemas.microsoft.com/office/drawing/2014/main" id="{9F283A23-78BE-4745-ABE9-94047ECF845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Freeform 551">
                <a:extLst>
                  <a:ext uri="{FF2B5EF4-FFF2-40B4-BE49-F238E27FC236}">
                    <a16:creationId xmlns:a16="http://schemas.microsoft.com/office/drawing/2014/main" id="{66F19D92-5452-C008-4447-75F9B8E85AB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Freeform 552">
                <a:extLst>
                  <a:ext uri="{FF2B5EF4-FFF2-40B4-BE49-F238E27FC236}">
                    <a16:creationId xmlns:a16="http://schemas.microsoft.com/office/drawing/2014/main" id="{9A929623-0C76-57CB-5F95-B1444ED497C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23" name="Group 622">
            <a:extLst>
              <a:ext uri="{FF2B5EF4-FFF2-40B4-BE49-F238E27FC236}">
                <a16:creationId xmlns:a16="http://schemas.microsoft.com/office/drawing/2014/main" id="{B86E8050-E9FB-882B-4E37-CEA20B003FCB}"/>
              </a:ext>
            </a:extLst>
          </p:cNvPr>
          <p:cNvGrpSpPr/>
          <p:nvPr/>
        </p:nvGrpSpPr>
        <p:grpSpPr>
          <a:xfrm>
            <a:off x="10375259" y="3992325"/>
            <a:ext cx="353678" cy="198344"/>
            <a:chOff x="7493876" y="2774731"/>
            <a:chExt cx="1481958" cy="894622"/>
          </a:xfrm>
        </p:grpSpPr>
        <p:sp>
          <p:nvSpPr>
            <p:cNvPr id="624" name="Freeform 623">
              <a:extLst>
                <a:ext uri="{FF2B5EF4-FFF2-40B4-BE49-F238E27FC236}">
                  <a16:creationId xmlns:a16="http://schemas.microsoft.com/office/drawing/2014/main" id="{F7720C6C-7F50-8208-2451-99357355113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25" name="Oval 624">
              <a:extLst>
                <a:ext uri="{FF2B5EF4-FFF2-40B4-BE49-F238E27FC236}">
                  <a16:creationId xmlns:a16="http://schemas.microsoft.com/office/drawing/2014/main" id="{A1EB5302-563B-D267-79F5-2D1F15F9DEE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26" name="Group 625">
              <a:extLst>
                <a:ext uri="{FF2B5EF4-FFF2-40B4-BE49-F238E27FC236}">
                  <a16:creationId xmlns:a16="http://schemas.microsoft.com/office/drawing/2014/main" id="{B85637A6-1858-2AF9-036D-066FEBB2F864}"/>
                </a:ext>
              </a:extLst>
            </p:cNvPr>
            <p:cNvGrpSpPr/>
            <p:nvPr/>
          </p:nvGrpSpPr>
          <p:grpSpPr>
            <a:xfrm>
              <a:off x="7713663" y="2848339"/>
              <a:ext cx="1042107" cy="425543"/>
              <a:chOff x="7786941" y="2884917"/>
              <a:chExt cx="897649" cy="353919"/>
            </a:xfrm>
          </p:grpSpPr>
          <p:sp>
            <p:nvSpPr>
              <p:cNvPr id="627" name="Freeform 626">
                <a:extLst>
                  <a:ext uri="{FF2B5EF4-FFF2-40B4-BE49-F238E27FC236}">
                    <a16:creationId xmlns:a16="http://schemas.microsoft.com/office/drawing/2014/main" id="{4188A5AF-D494-4B6C-06E9-346D9C22051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Freeform 627">
                <a:extLst>
                  <a:ext uri="{FF2B5EF4-FFF2-40B4-BE49-F238E27FC236}">
                    <a16:creationId xmlns:a16="http://schemas.microsoft.com/office/drawing/2014/main" id="{D0627133-398D-125C-82E6-31396F9BE5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Freeform 628">
                <a:extLst>
                  <a:ext uri="{FF2B5EF4-FFF2-40B4-BE49-F238E27FC236}">
                    <a16:creationId xmlns:a16="http://schemas.microsoft.com/office/drawing/2014/main" id="{79103AE4-F342-2A34-6EC4-857CE28D46F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Freeform 629">
                <a:extLst>
                  <a:ext uri="{FF2B5EF4-FFF2-40B4-BE49-F238E27FC236}">
                    <a16:creationId xmlns:a16="http://schemas.microsoft.com/office/drawing/2014/main" id="{08F6115D-2AF0-44DF-05EB-60DF4167057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59" name="Picture 653" descr="iphone_stylized_small">
            <a:extLst>
              <a:ext uri="{FF2B5EF4-FFF2-40B4-BE49-F238E27FC236}">
                <a16:creationId xmlns:a16="http://schemas.microsoft.com/office/drawing/2014/main" id="{8546CF44-E9A0-6D2C-361F-CE5B05B47C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9572" y="1917025"/>
            <a:ext cx="136841" cy="32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Picture 1018" descr="laptop_keyboard">
            <a:extLst>
              <a:ext uri="{FF2B5EF4-FFF2-40B4-BE49-F238E27FC236}">
                <a16:creationId xmlns:a16="http://schemas.microsoft.com/office/drawing/2014/main" id="{CB48D053-8CAD-05E3-FCFC-4A20968CA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9064" flipH="1">
            <a:off x="7464781" y="260509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Freeform 1019">
            <a:extLst>
              <a:ext uri="{FF2B5EF4-FFF2-40B4-BE49-F238E27FC236}">
                <a16:creationId xmlns:a16="http://schemas.microsoft.com/office/drawing/2014/main" id="{15A63505-007E-3B9B-2C8A-4544E66EEA3F}"/>
              </a:ext>
            </a:extLst>
          </p:cNvPr>
          <p:cNvSpPr>
            <a:spLocks/>
          </p:cNvSpPr>
          <p:nvPr/>
        </p:nvSpPr>
        <p:spPr bwMode="auto">
          <a:xfrm>
            <a:off x="7609678" y="245030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76" name="Picture 1020" descr="screen">
            <a:extLst>
              <a:ext uri="{FF2B5EF4-FFF2-40B4-BE49-F238E27FC236}">
                <a16:creationId xmlns:a16="http://schemas.microsoft.com/office/drawing/2014/main" id="{801F169B-15D7-6FF6-D2BA-B753C2FE482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7011" y="245565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Freeform 1021">
            <a:extLst>
              <a:ext uri="{FF2B5EF4-FFF2-40B4-BE49-F238E27FC236}">
                <a16:creationId xmlns:a16="http://schemas.microsoft.com/office/drawing/2014/main" id="{16EFE13D-1B27-73BE-AC14-159A16C747BC}"/>
              </a:ext>
            </a:extLst>
          </p:cNvPr>
          <p:cNvSpPr>
            <a:spLocks/>
          </p:cNvSpPr>
          <p:nvPr/>
        </p:nvSpPr>
        <p:spPr bwMode="auto">
          <a:xfrm>
            <a:off x="7673752" y="244416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1022">
            <a:extLst>
              <a:ext uri="{FF2B5EF4-FFF2-40B4-BE49-F238E27FC236}">
                <a16:creationId xmlns:a16="http://schemas.microsoft.com/office/drawing/2014/main" id="{E254D831-5514-1FED-A602-8DCF47FB71D4}"/>
              </a:ext>
            </a:extLst>
          </p:cNvPr>
          <p:cNvSpPr>
            <a:spLocks/>
          </p:cNvSpPr>
          <p:nvPr/>
        </p:nvSpPr>
        <p:spPr bwMode="auto">
          <a:xfrm>
            <a:off x="7606562" y="244384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1023">
            <a:extLst>
              <a:ext uri="{FF2B5EF4-FFF2-40B4-BE49-F238E27FC236}">
                <a16:creationId xmlns:a16="http://schemas.microsoft.com/office/drawing/2014/main" id="{AF0B1E68-9A46-807B-4B54-2DE82429D3E5}"/>
              </a:ext>
            </a:extLst>
          </p:cNvPr>
          <p:cNvSpPr>
            <a:spLocks/>
          </p:cNvSpPr>
          <p:nvPr/>
        </p:nvSpPr>
        <p:spPr bwMode="auto">
          <a:xfrm>
            <a:off x="7880579" y="247266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1024">
            <a:extLst>
              <a:ext uri="{FF2B5EF4-FFF2-40B4-BE49-F238E27FC236}">
                <a16:creationId xmlns:a16="http://schemas.microsoft.com/office/drawing/2014/main" id="{B2C9ACBD-60CC-3D98-F739-37084CE45422}"/>
              </a:ext>
            </a:extLst>
          </p:cNvPr>
          <p:cNvSpPr>
            <a:spLocks/>
          </p:cNvSpPr>
          <p:nvPr/>
        </p:nvSpPr>
        <p:spPr bwMode="auto">
          <a:xfrm>
            <a:off x="7605588" y="259690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1025">
            <a:extLst>
              <a:ext uri="{FF2B5EF4-FFF2-40B4-BE49-F238E27FC236}">
                <a16:creationId xmlns:a16="http://schemas.microsoft.com/office/drawing/2014/main" id="{EDAEA7FE-BE2A-DB3C-6B29-8A0588B2A9CB}"/>
              </a:ext>
            </a:extLst>
          </p:cNvPr>
          <p:cNvSpPr>
            <a:spLocks/>
          </p:cNvSpPr>
          <p:nvPr/>
        </p:nvSpPr>
        <p:spPr bwMode="auto">
          <a:xfrm>
            <a:off x="7890512" y="247423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1026">
            <a:extLst>
              <a:ext uri="{FF2B5EF4-FFF2-40B4-BE49-F238E27FC236}">
                <a16:creationId xmlns:a16="http://schemas.microsoft.com/office/drawing/2014/main" id="{9032F7EC-3457-6AF6-5A3B-FA13FE6C129C}"/>
              </a:ext>
            </a:extLst>
          </p:cNvPr>
          <p:cNvSpPr>
            <a:spLocks/>
          </p:cNvSpPr>
          <p:nvPr/>
        </p:nvSpPr>
        <p:spPr bwMode="auto">
          <a:xfrm>
            <a:off x="7605977" y="260524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3" name="Group 1027">
            <a:extLst>
              <a:ext uri="{FF2B5EF4-FFF2-40B4-BE49-F238E27FC236}">
                <a16:creationId xmlns:a16="http://schemas.microsoft.com/office/drawing/2014/main" id="{8225ADBC-7C4B-C4A1-2C4E-F121F537A13E}"/>
              </a:ext>
            </a:extLst>
          </p:cNvPr>
          <p:cNvGrpSpPr>
            <a:grpSpLocks/>
          </p:cNvGrpSpPr>
          <p:nvPr/>
        </p:nvGrpSpPr>
        <p:grpSpPr bwMode="auto">
          <a:xfrm>
            <a:off x="7601109" y="2671540"/>
            <a:ext cx="98740" cy="36846"/>
            <a:chOff x="1740" y="2642"/>
            <a:chExt cx="752" cy="327"/>
          </a:xfrm>
        </p:grpSpPr>
        <p:sp>
          <p:nvSpPr>
            <p:cNvPr id="169" name="Freeform 1028">
              <a:extLst>
                <a:ext uri="{FF2B5EF4-FFF2-40B4-BE49-F238E27FC236}">
                  <a16:creationId xmlns:a16="http://schemas.microsoft.com/office/drawing/2014/main" id="{3A5587C0-382F-70FB-F670-7BF067C62E0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0" name="Freeform 1029">
              <a:extLst>
                <a:ext uri="{FF2B5EF4-FFF2-40B4-BE49-F238E27FC236}">
                  <a16:creationId xmlns:a16="http://schemas.microsoft.com/office/drawing/2014/main" id="{10A05BEF-F637-B521-6B10-3FB478E2DF8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 name="Freeform 1030">
              <a:extLst>
                <a:ext uri="{FF2B5EF4-FFF2-40B4-BE49-F238E27FC236}">
                  <a16:creationId xmlns:a16="http://schemas.microsoft.com/office/drawing/2014/main" id="{6DB14057-76E3-5775-4BCF-4A484F144A6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2" name="Freeform 1031">
              <a:extLst>
                <a:ext uri="{FF2B5EF4-FFF2-40B4-BE49-F238E27FC236}">
                  <a16:creationId xmlns:a16="http://schemas.microsoft.com/office/drawing/2014/main" id="{2C45B3E8-E59F-F3DB-C48B-278810CB7A70}"/>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3" name="Freeform 1032">
              <a:extLst>
                <a:ext uri="{FF2B5EF4-FFF2-40B4-BE49-F238E27FC236}">
                  <a16:creationId xmlns:a16="http://schemas.microsoft.com/office/drawing/2014/main" id="{2407EBA2-212F-8470-9374-4B9E68C2EF1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 name="Freeform 1033">
              <a:extLst>
                <a:ext uri="{FF2B5EF4-FFF2-40B4-BE49-F238E27FC236}">
                  <a16:creationId xmlns:a16="http://schemas.microsoft.com/office/drawing/2014/main" id="{4EB3E418-AD10-60F4-2307-EDE71724A2B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84" name="Freeform 1034">
            <a:extLst>
              <a:ext uri="{FF2B5EF4-FFF2-40B4-BE49-F238E27FC236}">
                <a16:creationId xmlns:a16="http://schemas.microsoft.com/office/drawing/2014/main" id="{23558487-E8D3-744D-09CC-624FE8B6AE15}"/>
              </a:ext>
            </a:extLst>
          </p:cNvPr>
          <p:cNvSpPr>
            <a:spLocks/>
          </p:cNvSpPr>
          <p:nvPr/>
        </p:nvSpPr>
        <p:spPr bwMode="auto">
          <a:xfrm>
            <a:off x="7770154" y="267705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1035">
            <a:extLst>
              <a:ext uri="{FF2B5EF4-FFF2-40B4-BE49-F238E27FC236}">
                <a16:creationId xmlns:a16="http://schemas.microsoft.com/office/drawing/2014/main" id="{7D8251E7-51B7-DB85-D3BB-8E479462DB5F}"/>
              </a:ext>
            </a:extLst>
          </p:cNvPr>
          <p:cNvSpPr>
            <a:spLocks/>
          </p:cNvSpPr>
          <p:nvPr/>
        </p:nvSpPr>
        <p:spPr bwMode="auto">
          <a:xfrm>
            <a:off x="7464976" y="268350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1036">
            <a:extLst>
              <a:ext uri="{FF2B5EF4-FFF2-40B4-BE49-F238E27FC236}">
                <a16:creationId xmlns:a16="http://schemas.microsoft.com/office/drawing/2014/main" id="{6803FD46-9F71-7174-31DB-07B40CE21DD4}"/>
              </a:ext>
            </a:extLst>
          </p:cNvPr>
          <p:cNvSpPr>
            <a:spLocks/>
          </p:cNvSpPr>
          <p:nvPr/>
        </p:nvSpPr>
        <p:spPr bwMode="auto">
          <a:xfrm>
            <a:off x="7465171" y="266996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7" name="Freeform 1037">
            <a:extLst>
              <a:ext uri="{FF2B5EF4-FFF2-40B4-BE49-F238E27FC236}">
                <a16:creationId xmlns:a16="http://schemas.microsoft.com/office/drawing/2014/main" id="{C2D76323-BC1F-30EC-B142-32BC37A61000}"/>
              </a:ext>
            </a:extLst>
          </p:cNvPr>
          <p:cNvSpPr>
            <a:spLocks/>
          </p:cNvSpPr>
          <p:nvPr/>
        </p:nvSpPr>
        <p:spPr bwMode="auto">
          <a:xfrm>
            <a:off x="7465366" y="260902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 name="Freeform 1038">
            <a:extLst>
              <a:ext uri="{FF2B5EF4-FFF2-40B4-BE49-F238E27FC236}">
                <a16:creationId xmlns:a16="http://schemas.microsoft.com/office/drawing/2014/main" id="{10CBF062-A98B-EBA4-803C-C78EBA4175CA}"/>
              </a:ext>
            </a:extLst>
          </p:cNvPr>
          <p:cNvSpPr>
            <a:spLocks/>
          </p:cNvSpPr>
          <p:nvPr/>
        </p:nvSpPr>
        <p:spPr bwMode="auto">
          <a:xfrm>
            <a:off x="7474909" y="267311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9" name="Freeform 1039">
            <a:extLst>
              <a:ext uri="{FF2B5EF4-FFF2-40B4-BE49-F238E27FC236}">
                <a16:creationId xmlns:a16="http://schemas.microsoft.com/office/drawing/2014/main" id="{26F4D062-6AC6-2146-5993-F197E9E3F2CE}"/>
              </a:ext>
            </a:extLst>
          </p:cNvPr>
          <p:cNvSpPr>
            <a:spLocks/>
          </p:cNvSpPr>
          <p:nvPr/>
        </p:nvSpPr>
        <p:spPr bwMode="auto">
          <a:xfrm flipV="1">
            <a:off x="7764701" y="266807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110" name="Picture 568" descr="light2.png">
            <a:extLst>
              <a:ext uri="{FF2B5EF4-FFF2-40B4-BE49-F238E27FC236}">
                <a16:creationId xmlns:a16="http://schemas.microsoft.com/office/drawing/2014/main" id="{EF561415-6E9E-B724-577A-90E7A2F31C5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flipH="1">
            <a:off x="8831667" y="239228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603" descr="car_icon_small">
            <a:extLst>
              <a:ext uri="{FF2B5EF4-FFF2-40B4-BE49-F238E27FC236}">
                <a16:creationId xmlns:a16="http://schemas.microsoft.com/office/drawing/2014/main" id="{62C7F0C9-9643-B749-A898-0BC101BB96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99539" y="211695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116" descr="laptop_keyboard">
            <a:extLst>
              <a:ext uri="{FF2B5EF4-FFF2-40B4-BE49-F238E27FC236}">
                <a16:creationId xmlns:a16="http://schemas.microsoft.com/office/drawing/2014/main" id="{00C9F756-0FEC-B7E7-852C-A320C46426E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109064" flipH="1">
            <a:off x="7510375" y="360520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Freeform 1117">
            <a:extLst>
              <a:ext uri="{FF2B5EF4-FFF2-40B4-BE49-F238E27FC236}">
                <a16:creationId xmlns:a16="http://schemas.microsoft.com/office/drawing/2014/main" id="{674A7B2F-CAA3-9AED-AAB1-B7C44C27109D}"/>
              </a:ext>
            </a:extLst>
          </p:cNvPr>
          <p:cNvSpPr>
            <a:spLocks/>
          </p:cNvSpPr>
          <p:nvPr/>
        </p:nvSpPr>
        <p:spPr bwMode="auto">
          <a:xfrm>
            <a:off x="7605388" y="348929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94" name="Picture 1118" descr="screen">
            <a:extLst>
              <a:ext uri="{FF2B5EF4-FFF2-40B4-BE49-F238E27FC236}">
                <a16:creationId xmlns:a16="http://schemas.microsoft.com/office/drawing/2014/main" id="{3DEF68A1-3F5C-AA50-5728-EF9EFC6F81D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16754" y="349330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Freeform 1119">
            <a:extLst>
              <a:ext uri="{FF2B5EF4-FFF2-40B4-BE49-F238E27FC236}">
                <a16:creationId xmlns:a16="http://schemas.microsoft.com/office/drawing/2014/main" id="{83F03299-3474-2BAC-D452-AC09968D7755}"/>
              </a:ext>
            </a:extLst>
          </p:cNvPr>
          <p:cNvSpPr>
            <a:spLocks/>
          </p:cNvSpPr>
          <p:nvPr/>
        </p:nvSpPr>
        <p:spPr bwMode="auto">
          <a:xfrm>
            <a:off x="7647403" y="348470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6" name="Freeform 1120">
            <a:extLst>
              <a:ext uri="{FF2B5EF4-FFF2-40B4-BE49-F238E27FC236}">
                <a16:creationId xmlns:a16="http://schemas.microsoft.com/office/drawing/2014/main" id="{7442FB3A-A6C3-40E8-A5DA-9D78D1BA473B}"/>
              </a:ext>
            </a:extLst>
          </p:cNvPr>
          <p:cNvSpPr>
            <a:spLocks/>
          </p:cNvSpPr>
          <p:nvPr/>
        </p:nvSpPr>
        <p:spPr bwMode="auto">
          <a:xfrm>
            <a:off x="7603345" y="348446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 name="Freeform 1121">
            <a:extLst>
              <a:ext uri="{FF2B5EF4-FFF2-40B4-BE49-F238E27FC236}">
                <a16:creationId xmlns:a16="http://schemas.microsoft.com/office/drawing/2014/main" id="{EEF32F0F-46DB-1400-673F-3A463CA4D0C8}"/>
              </a:ext>
            </a:extLst>
          </p:cNvPr>
          <p:cNvSpPr>
            <a:spLocks/>
          </p:cNvSpPr>
          <p:nvPr/>
        </p:nvSpPr>
        <p:spPr bwMode="auto">
          <a:xfrm>
            <a:off x="7783026" y="350604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8" name="Freeform 1122">
            <a:extLst>
              <a:ext uri="{FF2B5EF4-FFF2-40B4-BE49-F238E27FC236}">
                <a16:creationId xmlns:a16="http://schemas.microsoft.com/office/drawing/2014/main" id="{3C6F9D79-3584-273B-B2AD-0AAFB223DFF0}"/>
              </a:ext>
            </a:extLst>
          </p:cNvPr>
          <p:cNvSpPr>
            <a:spLocks/>
          </p:cNvSpPr>
          <p:nvPr/>
        </p:nvSpPr>
        <p:spPr bwMode="auto">
          <a:xfrm>
            <a:off x="7602706" y="359907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9" name="Freeform 1123">
            <a:extLst>
              <a:ext uri="{FF2B5EF4-FFF2-40B4-BE49-F238E27FC236}">
                <a16:creationId xmlns:a16="http://schemas.microsoft.com/office/drawing/2014/main" id="{DC9F8367-C9FE-B9E5-AFE0-D02E6E21BDF6}"/>
              </a:ext>
            </a:extLst>
          </p:cNvPr>
          <p:cNvSpPr>
            <a:spLocks/>
          </p:cNvSpPr>
          <p:nvPr/>
        </p:nvSpPr>
        <p:spPr bwMode="auto">
          <a:xfrm>
            <a:off x="7789539" y="350722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0" name="Freeform 1124">
            <a:extLst>
              <a:ext uri="{FF2B5EF4-FFF2-40B4-BE49-F238E27FC236}">
                <a16:creationId xmlns:a16="http://schemas.microsoft.com/office/drawing/2014/main" id="{C4FBCD24-0AE5-4F0A-1E28-2339CE5393E1}"/>
              </a:ext>
            </a:extLst>
          </p:cNvPr>
          <p:cNvSpPr>
            <a:spLocks/>
          </p:cNvSpPr>
          <p:nvPr/>
        </p:nvSpPr>
        <p:spPr bwMode="auto">
          <a:xfrm>
            <a:off x="7602962" y="360532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1" name="Group 1125">
            <a:extLst>
              <a:ext uri="{FF2B5EF4-FFF2-40B4-BE49-F238E27FC236}">
                <a16:creationId xmlns:a16="http://schemas.microsoft.com/office/drawing/2014/main" id="{1DE6BBB9-998C-030B-144A-1B323F599669}"/>
              </a:ext>
            </a:extLst>
          </p:cNvPr>
          <p:cNvGrpSpPr>
            <a:grpSpLocks/>
          </p:cNvGrpSpPr>
          <p:nvPr/>
        </p:nvGrpSpPr>
        <p:grpSpPr bwMode="auto">
          <a:xfrm>
            <a:off x="7599769" y="3654969"/>
            <a:ext cx="64747" cy="27592"/>
            <a:chOff x="1740" y="2642"/>
            <a:chExt cx="752" cy="327"/>
          </a:xfrm>
        </p:grpSpPr>
        <p:sp>
          <p:nvSpPr>
            <p:cNvPr id="140" name="Freeform 1126">
              <a:extLst>
                <a:ext uri="{FF2B5EF4-FFF2-40B4-BE49-F238E27FC236}">
                  <a16:creationId xmlns:a16="http://schemas.microsoft.com/office/drawing/2014/main" id="{8C6E7779-9187-F8E9-A8E5-A6866A41B86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1127">
              <a:extLst>
                <a:ext uri="{FF2B5EF4-FFF2-40B4-BE49-F238E27FC236}">
                  <a16:creationId xmlns:a16="http://schemas.microsoft.com/office/drawing/2014/main" id="{56F2AFF7-BCE7-8C57-2715-D8B7F178C81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1128">
              <a:extLst>
                <a:ext uri="{FF2B5EF4-FFF2-40B4-BE49-F238E27FC236}">
                  <a16:creationId xmlns:a16="http://schemas.microsoft.com/office/drawing/2014/main" id="{75A8DD9F-78AA-0D94-434E-0842D0123EF2}"/>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1129">
              <a:extLst>
                <a:ext uri="{FF2B5EF4-FFF2-40B4-BE49-F238E27FC236}">
                  <a16:creationId xmlns:a16="http://schemas.microsoft.com/office/drawing/2014/main" id="{B282F99B-0F05-236B-5659-E5F519959F95}"/>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1130">
              <a:extLst>
                <a:ext uri="{FF2B5EF4-FFF2-40B4-BE49-F238E27FC236}">
                  <a16:creationId xmlns:a16="http://schemas.microsoft.com/office/drawing/2014/main" id="{E28C5909-7A8D-083F-83C8-DF3B0184286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1131">
              <a:extLst>
                <a:ext uri="{FF2B5EF4-FFF2-40B4-BE49-F238E27FC236}">
                  <a16:creationId xmlns:a16="http://schemas.microsoft.com/office/drawing/2014/main" id="{AFE53E05-B8B2-1029-36D6-D21AE1DA0BD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2" name="Freeform 1132">
            <a:extLst>
              <a:ext uri="{FF2B5EF4-FFF2-40B4-BE49-F238E27FC236}">
                <a16:creationId xmlns:a16="http://schemas.microsoft.com/office/drawing/2014/main" id="{FA38162A-4E9D-5C7F-062A-BEAEF786095D}"/>
              </a:ext>
            </a:extLst>
          </p:cNvPr>
          <p:cNvSpPr>
            <a:spLocks/>
          </p:cNvSpPr>
          <p:nvPr/>
        </p:nvSpPr>
        <p:spPr bwMode="auto">
          <a:xfrm>
            <a:off x="7710617" y="365909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 name="Freeform 1133">
            <a:extLst>
              <a:ext uri="{FF2B5EF4-FFF2-40B4-BE49-F238E27FC236}">
                <a16:creationId xmlns:a16="http://schemas.microsoft.com/office/drawing/2014/main" id="{B5256AE1-45FE-90FB-0098-61A6E008F645}"/>
              </a:ext>
            </a:extLst>
          </p:cNvPr>
          <p:cNvSpPr>
            <a:spLocks/>
          </p:cNvSpPr>
          <p:nvPr/>
        </p:nvSpPr>
        <p:spPr bwMode="auto">
          <a:xfrm>
            <a:off x="7510503" y="366393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 name="Freeform 1134">
            <a:extLst>
              <a:ext uri="{FF2B5EF4-FFF2-40B4-BE49-F238E27FC236}">
                <a16:creationId xmlns:a16="http://schemas.microsoft.com/office/drawing/2014/main" id="{4D13FA2D-5A10-7ADD-AAFD-4C5B9E0825F9}"/>
              </a:ext>
            </a:extLst>
          </p:cNvPr>
          <p:cNvSpPr>
            <a:spLocks/>
          </p:cNvSpPr>
          <p:nvPr/>
        </p:nvSpPr>
        <p:spPr bwMode="auto">
          <a:xfrm>
            <a:off x="7510631" y="365379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 name="Freeform 1135">
            <a:extLst>
              <a:ext uri="{FF2B5EF4-FFF2-40B4-BE49-F238E27FC236}">
                <a16:creationId xmlns:a16="http://schemas.microsoft.com/office/drawing/2014/main" id="{3298E208-8A48-7BE4-B6D8-973216E21D65}"/>
              </a:ext>
            </a:extLst>
          </p:cNvPr>
          <p:cNvSpPr>
            <a:spLocks/>
          </p:cNvSpPr>
          <p:nvPr/>
        </p:nvSpPr>
        <p:spPr bwMode="auto">
          <a:xfrm>
            <a:off x="7510758" y="360815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 name="Freeform 1136">
            <a:extLst>
              <a:ext uri="{FF2B5EF4-FFF2-40B4-BE49-F238E27FC236}">
                <a16:creationId xmlns:a16="http://schemas.microsoft.com/office/drawing/2014/main" id="{6D48A3AA-B01E-5DCF-BB82-4663DB1F4451}"/>
              </a:ext>
            </a:extLst>
          </p:cNvPr>
          <p:cNvSpPr>
            <a:spLocks/>
          </p:cNvSpPr>
          <p:nvPr/>
        </p:nvSpPr>
        <p:spPr bwMode="auto">
          <a:xfrm>
            <a:off x="7517016" y="365614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 name="Freeform 1137">
            <a:extLst>
              <a:ext uri="{FF2B5EF4-FFF2-40B4-BE49-F238E27FC236}">
                <a16:creationId xmlns:a16="http://schemas.microsoft.com/office/drawing/2014/main" id="{BC2BBB04-6EFF-97E1-26D2-EDD50B06CD4B}"/>
              </a:ext>
            </a:extLst>
          </p:cNvPr>
          <p:cNvSpPr>
            <a:spLocks/>
          </p:cNvSpPr>
          <p:nvPr/>
        </p:nvSpPr>
        <p:spPr bwMode="auto">
          <a:xfrm flipV="1">
            <a:off x="7707042" y="365237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138" name="Picture 1140" descr="desktop_computer_stylized_medium">
            <a:extLst>
              <a:ext uri="{FF2B5EF4-FFF2-40B4-BE49-F238E27FC236}">
                <a16:creationId xmlns:a16="http://schemas.microsoft.com/office/drawing/2014/main" id="{65C4F61A-73D0-F74C-7542-D2E65EFE3C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7991996" y="3567143"/>
            <a:ext cx="359261" cy="342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 name="Freeform 1141">
            <a:extLst>
              <a:ext uri="{FF2B5EF4-FFF2-40B4-BE49-F238E27FC236}">
                <a16:creationId xmlns:a16="http://schemas.microsoft.com/office/drawing/2014/main" id="{4305F3AB-0D68-66AB-6D75-9FDABB359021}"/>
              </a:ext>
            </a:extLst>
          </p:cNvPr>
          <p:cNvSpPr>
            <a:spLocks/>
          </p:cNvSpPr>
          <p:nvPr/>
        </p:nvSpPr>
        <p:spPr bwMode="auto">
          <a:xfrm flipH="1">
            <a:off x="8145217" y="3599942"/>
            <a:ext cx="169400" cy="156753"/>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pic>
        <p:nvPicPr>
          <p:cNvPr id="113" name="Picture 571" descr="fridge2.png">
            <a:extLst>
              <a:ext uri="{FF2B5EF4-FFF2-40B4-BE49-F238E27FC236}">
                <a16:creationId xmlns:a16="http://schemas.microsoft.com/office/drawing/2014/main" id="{3E4C34A8-9BEE-16B3-7045-8553A82B7009}"/>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903199" y="338501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 name="Group 950">
            <a:extLst>
              <a:ext uri="{FF2B5EF4-FFF2-40B4-BE49-F238E27FC236}">
                <a16:creationId xmlns:a16="http://schemas.microsoft.com/office/drawing/2014/main" id="{810EAA2E-E4D1-7052-4667-2792062E69A4}"/>
              </a:ext>
            </a:extLst>
          </p:cNvPr>
          <p:cNvGrpSpPr>
            <a:grpSpLocks/>
          </p:cNvGrpSpPr>
          <p:nvPr/>
        </p:nvGrpSpPr>
        <p:grpSpPr bwMode="auto">
          <a:xfrm>
            <a:off x="10288915" y="5273951"/>
            <a:ext cx="177192" cy="330833"/>
            <a:chOff x="4140" y="429"/>
            <a:chExt cx="1425" cy="2396"/>
          </a:xfrm>
        </p:grpSpPr>
        <p:sp>
          <p:nvSpPr>
            <p:cNvPr id="207" name="Freeform 951">
              <a:extLst>
                <a:ext uri="{FF2B5EF4-FFF2-40B4-BE49-F238E27FC236}">
                  <a16:creationId xmlns:a16="http://schemas.microsoft.com/office/drawing/2014/main" id="{E5C37190-D97F-C441-A265-E8EFF287F7C2}"/>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 name="Rectangle 952">
              <a:extLst>
                <a:ext uri="{FF2B5EF4-FFF2-40B4-BE49-F238E27FC236}">
                  <a16:creationId xmlns:a16="http://schemas.microsoft.com/office/drawing/2014/main" id="{92BCC5B6-CF09-0295-D5D0-0180D2103BBF}"/>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9" name="Freeform 953">
              <a:extLst>
                <a:ext uri="{FF2B5EF4-FFF2-40B4-BE49-F238E27FC236}">
                  <a16:creationId xmlns:a16="http://schemas.microsoft.com/office/drawing/2014/main" id="{0801032D-692D-8024-4328-DB9D17668464}"/>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0" name="Freeform 954">
              <a:extLst>
                <a:ext uri="{FF2B5EF4-FFF2-40B4-BE49-F238E27FC236}">
                  <a16:creationId xmlns:a16="http://schemas.microsoft.com/office/drawing/2014/main" id="{FBCDC691-A1B3-C3E9-A0E2-E43EA0ED3BB5}"/>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1" name="Rectangle 955">
              <a:extLst>
                <a:ext uri="{FF2B5EF4-FFF2-40B4-BE49-F238E27FC236}">
                  <a16:creationId xmlns:a16="http://schemas.microsoft.com/office/drawing/2014/main" id="{48E032A9-3FDD-E402-27EA-BEAFDD177C52}"/>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2" name="Group 956">
              <a:extLst>
                <a:ext uri="{FF2B5EF4-FFF2-40B4-BE49-F238E27FC236}">
                  <a16:creationId xmlns:a16="http://schemas.microsoft.com/office/drawing/2014/main" id="{D44FEA3E-549B-BFC7-EF0E-C7501710D6B9}"/>
                </a:ext>
              </a:extLst>
            </p:cNvPr>
            <p:cNvGrpSpPr>
              <a:grpSpLocks/>
            </p:cNvGrpSpPr>
            <p:nvPr/>
          </p:nvGrpSpPr>
          <p:grpSpPr bwMode="auto">
            <a:xfrm>
              <a:off x="4749" y="668"/>
              <a:ext cx="581" cy="145"/>
              <a:chOff x="614" y="2568"/>
              <a:chExt cx="725" cy="139"/>
            </a:xfrm>
          </p:grpSpPr>
          <p:sp>
            <p:nvSpPr>
              <p:cNvPr id="237" name="AutoShape 957">
                <a:extLst>
                  <a:ext uri="{FF2B5EF4-FFF2-40B4-BE49-F238E27FC236}">
                    <a16:creationId xmlns:a16="http://schemas.microsoft.com/office/drawing/2014/main" id="{6F3C5EA0-1FDB-234C-7229-D4020741A63F}"/>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8" name="AutoShape 958">
                <a:extLst>
                  <a:ext uri="{FF2B5EF4-FFF2-40B4-BE49-F238E27FC236}">
                    <a16:creationId xmlns:a16="http://schemas.microsoft.com/office/drawing/2014/main" id="{AB67F3BC-C257-C967-443D-524BD1C8AC2A}"/>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3" name="Rectangle 959">
              <a:extLst>
                <a:ext uri="{FF2B5EF4-FFF2-40B4-BE49-F238E27FC236}">
                  <a16:creationId xmlns:a16="http://schemas.microsoft.com/office/drawing/2014/main" id="{3B7A363F-0CEE-06D9-E668-62985FBA29EB}"/>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4" name="Group 960">
              <a:extLst>
                <a:ext uri="{FF2B5EF4-FFF2-40B4-BE49-F238E27FC236}">
                  <a16:creationId xmlns:a16="http://schemas.microsoft.com/office/drawing/2014/main" id="{540619E5-3097-3DA4-5CB5-CFDD18F35815}"/>
                </a:ext>
              </a:extLst>
            </p:cNvPr>
            <p:cNvGrpSpPr>
              <a:grpSpLocks/>
            </p:cNvGrpSpPr>
            <p:nvPr/>
          </p:nvGrpSpPr>
          <p:grpSpPr bwMode="auto">
            <a:xfrm>
              <a:off x="4747" y="994"/>
              <a:ext cx="581" cy="134"/>
              <a:chOff x="614" y="2568"/>
              <a:chExt cx="725" cy="139"/>
            </a:xfrm>
          </p:grpSpPr>
          <p:sp>
            <p:nvSpPr>
              <p:cNvPr id="235" name="AutoShape 961">
                <a:extLst>
                  <a:ext uri="{FF2B5EF4-FFF2-40B4-BE49-F238E27FC236}">
                    <a16:creationId xmlns:a16="http://schemas.microsoft.com/office/drawing/2014/main" id="{83D03FFD-738B-8337-274B-E5947EB14157}"/>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6" name="AutoShape 962">
                <a:extLst>
                  <a:ext uri="{FF2B5EF4-FFF2-40B4-BE49-F238E27FC236}">
                    <a16:creationId xmlns:a16="http://schemas.microsoft.com/office/drawing/2014/main" id="{D7966FDE-7609-E6A2-0028-6F698EFC8B67}"/>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5" name="Rectangle 963">
              <a:extLst>
                <a:ext uri="{FF2B5EF4-FFF2-40B4-BE49-F238E27FC236}">
                  <a16:creationId xmlns:a16="http://schemas.microsoft.com/office/drawing/2014/main" id="{A0F0A47E-9B6E-2102-46AE-09C31BF3263E}"/>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16" name="Rectangle 964">
              <a:extLst>
                <a:ext uri="{FF2B5EF4-FFF2-40B4-BE49-F238E27FC236}">
                  <a16:creationId xmlns:a16="http://schemas.microsoft.com/office/drawing/2014/main" id="{E362642B-20B4-A61F-D47E-E7653084CCF6}"/>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7" name="Group 965">
              <a:extLst>
                <a:ext uri="{FF2B5EF4-FFF2-40B4-BE49-F238E27FC236}">
                  <a16:creationId xmlns:a16="http://schemas.microsoft.com/office/drawing/2014/main" id="{D861325B-BB8D-0200-C538-E3531AD07D6E}"/>
                </a:ext>
              </a:extLst>
            </p:cNvPr>
            <p:cNvGrpSpPr>
              <a:grpSpLocks/>
            </p:cNvGrpSpPr>
            <p:nvPr/>
          </p:nvGrpSpPr>
          <p:grpSpPr bwMode="auto">
            <a:xfrm>
              <a:off x="4735" y="1627"/>
              <a:ext cx="582" cy="151"/>
              <a:chOff x="614" y="2568"/>
              <a:chExt cx="725" cy="139"/>
            </a:xfrm>
          </p:grpSpPr>
          <p:sp>
            <p:nvSpPr>
              <p:cNvPr id="233" name="AutoShape 966">
                <a:extLst>
                  <a:ext uri="{FF2B5EF4-FFF2-40B4-BE49-F238E27FC236}">
                    <a16:creationId xmlns:a16="http://schemas.microsoft.com/office/drawing/2014/main" id="{76C05CEA-ADDF-62A3-C71E-7A440DDDE92D}"/>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4" name="AutoShape 967">
                <a:extLst>
                  <a:ext uri="{FF2B5EF4-FFF2-40B4-BE49-F238E27FC236}">
                    <a16:creationId xmlns:a16="http://schemas.microsoft.com/office/drawing/2014/main" id="{F220B56E-DC8C-2432-9761-0317CD0FD36A}"/>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8" name="Freeform 968">
              <a:extLst>
                <a:ext uri="{FF2B5EF4-FFF2-40B4-BE49-F238E27FC236}">
                  <a16:creationId xmlns:a16="http://schemas.microsoft.com/office/drawing/2014/main" id="{2B62BFE7-4C57-1C6C-41B1-D3863B5EB4BF}"/>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9" name="Group 969">
              <a:extLst>
                <a:ext uri="{FF2B5EF4-FFF2-40B4-BE49-F238E27FC236}">
                  <a16:creationId xmlns:a16="http://schemas.microsoft.com/office/drawing/2014/main" id="{FC4C9892-98C2-7727-7DF9-D850AECDE8B7}"/>
                </a:ext>
              </a:extLst>
            </p:cNvPr>
            <p:cNvGrpSpPr>
              <a:grpSpLocks/>
            </p:cNvGrpSpPr>
            <p:nvPr/>
          </p:nvGrpSpPr>
          <p:grpSpPr bwMode="auto">
            <a:xfrm>
              <a:off x="4739" y="1327"/>
              <a:ext cx="582" cy="139"/>
              <a:chOff x="614" y="2568"/>
              <a:chExt cx="725" cy="139"/>
            </a:xfrm>
          </p:grpSpPr>
          <p:sp>
            <p:nvSpPr>
              <p:cNvPr id="231" name="AutoShape 970">
                <a:extLst>
                  <a:ext uri="{FF2B5EF4-FFF2-40B4-BE49-F238E27FC236}">
                    <a16:creationId xmlns:a16="http://schemas.microsoft.com/office/drawing/2014/main" id="{A07D8F13-DDF9-CFA0-791D-1278C951722B}"/>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2" name="AutoShape 971">
                <a:extLst>
                  <a:ext uri="{FF2B5EF4-FFF2-40B4-BE49-F238E27FC236}">
                    <a16:creationId xmlns:a16="http://schemas.microsoft.com/office/drawing/2014/main" id="{127B352D-FB60-80FF-91E5-BEF30E84324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20" name="Rectangle 972">
              <a:extLst>
                <a:ext uri="{FF2B5EF4-FFF2-40B4-BE49-F238E27FC236}">
                  <a16:creationId xmlns:a16="http://schemas.microsoft.com/office/drawing/2014/main" id="{7F424DD6-0C7A-610E-C88E-3908A5591B5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1" name="Freeform 973">
              <a:extLst>
                <a:ext uri="{FF2B5EF4-FFF2-40B4-BE49-F238E27FC236}">
                  <a16:creationId xmlns:a16="http://schemas.microsoft.com/office/drawing/2014/main" id="{F88B2D3B-5B17-FFBB-D7AE-57F69595A302}"/>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2" name="Freeform 974">
              <a:extLst>
                <a:ext uri="{FF2B5EF4-FFF2-40B4-BE49-F238E27FC236}">
                  <a16:creationId xmlns:a16="http://schemas.microsoft.com/office/drawing/2014/main" id="{20DA8D45-AC0F-3F62-3D1B-C6277329A63A}"/>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3" name="Oval 975">
              <a:extLst>
                <a:ext uri="{FF2B5EF4-FFF2-40B4-BE49-F238E27FC236}">
                  <a16:creationId xmlns:a16="http://schemas.microsoft.com/office/drawing/2014/main" id="{C0204501-D4E0-FC17-550C-38722A3A1EF2}"/>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4" name="Freeform 976">
              <a:extLst>
                <a:ext uri="{FF2B5EF4-FFF2-40B4-BE49-F238E27FC236}">
                  <a16:creationId xmlns:a16="http://schemas.microsoft.com/office/drawing/2014/main" id="{B3EEE7DF-8E15-25B3-B0AF-35C77D0FDCD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 name="AutoShape 977">
              <a:extLst>
                <a:ext uri="{FF2B5EF4-FFF2-40B4-BE49-F238E27FC236}">
                  <a16:creationId xmlns:a16="http://schemas.microsoft.com/office/drawing/2014/main" id="{149770FD-EE76-BC50-E1D1-A142ECF04D01}"/>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6" name="AutoShape 978">
              <a:extLst>
                <a:ext uri="{FF2B5EF4-FFF2-40B4-BE49-F238E27FC236}">
                  <a16:creationId xmlns:a16="http://schemas.microsoft.com/office/drawing/2014/main" id="{842E0BDD-1751-E47F-A35D-F43154B13546}"/>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7" name="Oval 979">
              <a:extLst>
                <a:ext uri="{FF2B5EF4-FFF2-40B4-BE49-F238E27FC236}">
                  <a16:creationId xmlns:a16="http://schemas.microsoft.com/office/drawing/2014/main" id="{FE6403F7-0FB8-6487-CAD4-781836A1CB4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8" name="Oval 980">
              <a:extLst>
                <a:ext uri="{FF2B5EF4-FFF2-40B4-BE49-F238E27FC236}">
                  <a16:creationId xmlns:a16="http://schemas.microsoft.com/office/drawing/2014/main" id="{D9E2A64E-0E1B-48F9-5035-4A69787F4000}"/>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a:solidFill>
                  <a:srgbClr val="FF0000"/>
                </a:solidFill>
                <a:latin typeface="Arial" panose="020B0604020202020204" pitchFamily="34" charset="0"/>
              </a:endParaRPr>
            </a:p>
          </p:txBody>
        </p:sp>
        <p:sp>
          <p:nvSpPr>
            <p:cNvPr id="229" name="Oval 981">
              <a:extLst>
                <a:ext uri="{FF2B5EF4-FFF2-40B4-BE49-F238E27FC236}">
                  <a16:creationId xmlns:a16="http://schemas.microsoft.com/office/drawing/2014/main" id="{BB03C0D3-267E-77F8-F702-0349BE4FE63D}"/>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0" name="Rectangle 982">
              <a:extLst>
                <a:ext uri="{FF2B5EF4-FFF2-40B4-BE49-F238E27FC236}">
                  <a16:creationId xmlns:a16="http://schemas.microsoft.com/office/drawing/2014/main" id="{C58BD456-37B5-7C81-681B-C8F57CD12061}"/>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nvGrpSpPr>
          <p:cNvPr id="44" name="Group 590">
            <a:extLst>
              <a:ext uri="{FF2B5EF4-FFF2-40B4-BE49-F238E27FC236}">
                <a16:creationId xmlns:a16="http://schemas.microsoft.com/office/drawing/2014/main" id="{A78B3629-FC8C-6A9D-C1C3-BBEC19FE6F11}"/>
              </a:ext>
            </a:extLst>
          </p:cNvPr>
          <p:cNvGrpSpPr>
            <a:grpSpLocks/>
          </p:cNvGrpSpPr>
          <p:nvPr/>
        </p:nvGrpSpPr>
        <p:grpSpPr bwMode="auto">
          <a:xfrm flipH="1">
            <a:off x="7980855" y="4900161"/>
            <a:ext cx="345630" cy="320302"/>
            <a:chOff x="2839" y="3501"/>
            <a:chExt cx="755" cy="803"/>
          </a:xfrm>
        </p:grpSpPr>
        <p:pic>
          <p:nvPicPr>
            <p:cNvPr id="367" name="Picture 591" descr="desktop_computer_stylized_medium">
              <a:extLst>
                <a:ext uri="{FF2B5EF4-FFF2-40B4-BE49-F238E27FC236}">
                  <a16:creationId xmlns:a16="http://schemas.microsoft.com/office/drawing/2014/main" id="{07A2347E-A74B-184D-4CDA-89C15B9454F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 name="Freeform 592">
              <a:extLst>
                <a:ext uri="{FF2B5EF4-FFF2-40B4-BE49-F238E27FC236}">
                  <a16:creationId xmlns:a16="http://schemas.microsoft.com/office/drawing/2014/main" id="{7E8CDA89-3D95-510F-3F29-80567CEB99F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pic>
        <p:nvPicPr>
          <p:cNvPr id="147" name="Picture 1066" descr="laptop_keyboard">
            <a:extLst>
              <a:ext uri="{FF2B5EF4-FFF2-40B4-BE49-F238E27FC236}">
                <a16:creationId xmlns:a16="http://schemas.microsoft.com/office/drawing/2014/main" id="{ED5BB86F-6136-1F9F-DDD4-4F1A4B0CBA3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9216586" y="6040274"/>
            <a:ext cx="253501" cy="120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Freeform 1067">
            <a:extLst>
              <a:ext uri="{FF2B5EF4-FFF2-40B4-BE49-F238E27FC236}">
                <a16:creationId xmlns:a16="http://schemas.microsoft.com/office/drawing/2014/main" id="{BED9E29B-4561-8BEA-05F3-4321582C7CBA}"/>
              </a:ext>
            </a:extLst>
          </p:cNvPr>
          <p:cNvSpPr>
            <a:spLocks/>
          </p:cNvSpPr>
          <p:nvPr/>
        </p:nvSpPr>
        <p:spPr bwMode="auto">
          <a:xfrm>
            <a:off x="9300597" y="5923494"/>
            <a:ext cx="204043" cy="15705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149" name="Picture 1068" descr="screen">
            <a:extLst>
              <a:ext uri="{FF2B5EF4-FFF2-40B4-BE49-F238E27FC236}">
                <a16:creationId xmlns:a16="http://schemas.microsoft.com/office/drawing/2014/main" id="{9B4C4387-88E2-7533-F5BF-D3A1D316267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10647" y="5927534"/>
            <a:ext cx="185412" cy="14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1069">
            <a:extLst>
              <a:ext uri="{FF2B5EF4-FFF2-40B4-BE49-F238E27FC236}">
                <a16:creationId xmlns:a16="http://schemas.microsoft.com/office/drawing/2014/main" id="{2412F8BF-88DE-A851-F3D9-D5C59ACE6544}"/>
              </a:ext>
            </a:extLst>
          </p:cNvPr>
          <p:cNvSpPr>
            <a:spLocks/>
          </p:cNvSpPr>
          <p:nvPr/>
        </p:nvSpPr>
        <p:spPr bwMode="auto">
          <a:xfrm>
            <a:off x="9337747" y="5918861"/>
            <a:ext cx="172878" cy="29225"/>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1070">
            <a:extLst>
              <a:ext uri="{FF2B5EF4-FFF2-40B4-BE49-F238E27FC236}">
                <a16:creationId xmlns:a16="http://schemas.microsoft.com/office/drawing/2014/main" id="{8B835096-8BDB-E403-DEA6-096F16796B7B}"/>
              </a:ext>
            </a:extLst>
          </p:cNvPr>
          <p:cNvSpPr>
            <a:spLocks/>
          </p:cNvSpPr>
          <p:nvPr/>
        </p:nvSpPr>
        <p:spPr bwMode="auto">
          <a:xfrm>
            <a:off x="9298791" y="5918624"/>
            <a:ext cx="47990" cy="121650"/>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1071">
            <a:extLst>
              <a:ext uri="{FF2B5EF4-FFF2-40B4-BE49-F238E27FC236}">
                <a16:creationId xmlns:a16="http://schemas.microsoft.com/office/drawing/2014/main" id="{C66230A0-C575-D310-BEC0-363816B761EF}"/>
              </a:ext>
            </a:extLst>
          </p:cNvPr>
          <p:cNvSpPr>
            <a:spLocks/>
          </p:cNvSpPr>
          <p:nvPr/>
        </p:nvSpPr>
        <p:spPr bwMode="auto">
          <a:xfrm>
            <a:off x="9457666" y="5940364"/>
            <a:ext cx="51716" cy="140420"/>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1072">
            <a:extLst>
              <a:ext uri="{FF2B5EF4-FFF2-40B4-BE49-F238E27FC236}">
                <a16:creationId xmlns:a16="http://schemas.microsoft.com/office/drawing/2014/main" id="{ED2B0F16-4651-F079-04D4-7E1E0CC85138}"/>
              </a:ext>
            </a:extLst>
          </p:cNvPr>
          <p:cNvSpPr>
            <a:spLocks/>
          </p:cNvSpPr>
          <p:nvPr/>
        </p:nvSpPr>
        <p:spPr bwMode="auto">
          <a:xfrm>
            <a:off x="9298226" y="6034096"/>
            <a:ext cx="189702" cy="47401"/>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1073">
            <a:extLst>
              <a:ext uri="{FF2B5EF4-FFF2-40B4-BE49-F238E27FC236}">
                <a16:creationId xmlns:a16="http://schemas.microsoft.com/office/drawing/2014/main" id="{864A4785-709D-15C6-37E4-4B6514F9FF9B}"/>
              </a:ext>
            </a:extLst>
          </p:cNvPr>
          <p:cNvSpPr>
            <a:spLocks/>
          </p:cNvSpPr>
          <p:nvPr/>
        </p:nvSpPr>
        <p:spPr bwMode="auto">
          <a:xfrm>
            <a:off x="9463425" y="5941552"/>
            <a:ext cx="48442" cy="141014"/>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1074">
            <a:extLst>
              <a:ext uri="{FF2B5EF4-FFF2-40B4-BE49-F238E27FC236}">
                <a16:creationId xmlns:a16="http://schemas.microsoft.com/office/drawing/2014/main" id="{06B9C982-3E27-9205-657D-E435F1A730AF}"/>
              </a:ext>
            </a:extLst>
          </p:cNvPr>
          <p:cNvSpPr>
            <a:spLocks/>
          </p:cNvSpPr>
          <p:nvPr/>
        </p:nvSpPr>
        <p:spPr bwMode="auto">
          <a:xfrm>
            <a:off x="9298452" y="6040392"/>
            <a:ext cx="168700" cy="46807"/>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56" name="Group 1075">
            <a:extLst>
              <a:ext uri="{FF2B5EF4-FFF2-40B4-BE49-F238E27FC236}">
                <a16:creationId xmlns:a16="http://schemas.microsoft.com/office/drawing/2014/main" id="{0F489D66-75F0-D441-4313-4B10BC0651DC}"/>
              </a:ext>
            </a:extLst>
          </p:cNvPr>
          <p:cNvGrpSpPr>
            <a:grpSpLocks/>
          </p:cNvGrpSpPr>
          <p:nvPr/>
        </p:nvGrpSpPr>
        <p:grpSpPr bwMode="auto">
          <a:xfrm>
            <a:off x="9295629" y="6090407"/>
            <a:ext cx="57249" cy="27799"/>
            <a:chOff x="1740" y="2642"/>
            <a:chExt cx="752" cy="327"/>
          </a:xfrm>
        </p:grpSpPr>
        <p:sp>
          <p:nvSpPr>
            <p:cNvPr id="163" name="Freeform 1076">
              <a:extLst>
                <a:ext uri="{FF2B5EF4-FFF2-40B4-BE49-F238E27FC236}">
                  <a16:creationId xmlns:a16="http://schemas.microsoft.com/office/drawing/2014/main" id="{58741C8B-A336-253F-4C06-7C56729CEB7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 name="Freeform 1077">
              <a:extLst>
                <a:ext uri="{FF2B5EF4-FFF2-40B4-BE49-F238E27FC236}">
                  <a16:creationId xmlns:a16="http://schemas.microsoft.com/office/drawing/2014/main" id="{DA7FB9A5-8E75-C8BD-B8B8-E6E8D9C67B2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 name="Freeform 1078">
              <a:extLst>
                <a:ext uri="{FF2B5EF4-FFF2-40B4-BE49-F238E27FC236}">
                  <a16:creationId xmlns:a16="http://schemas.microsoft.com/office/drawing/2014/main" id="{BBA34C9B-C9B6-E7F7-3AFE-B5B0D9BBBC2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6" name="Freeform 1079">
              <a:extLst>
                <a:ext uri="{FF2B5EF4-FFF2-40B4-BE49-F238E27FC236}">
                  <a16:creationId xmlns:a16="http://schemas.microsoft.com/office/drawing/2014/main" id="{28D33029-8317-8FD5-DB5A-0536D9B2AF0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7" name="Freeform 1080">
              <a:extLst>
                <a:ext uri="{FF2B5EF4-FFF2-40B4-BE49-F238E27FC236}">
                  <a16:creationId xmlns:a16="http://schemas.microsoft.com/office/drawing/2014/main" id="{9A7FB070-B638-A56E-08CE-1CBA027845C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8" name="Freeform 1081">
              <a:extLst>
                <a:ext uri="{FF2B5EF4-FFF2-40B4-BE49-F238E27FC236}">
                  <a16:creationId xmlns:a16="http://schemas.microsoft.com/office/drawing/2014/main" id="{5E2967AD-AAF7-AAAF-4A34-5010D731DDC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7" name="Freeform 1082">
            <a:extLst>
              <a:ext uri="{FF2B5EF4-FFF2-40B4-BE49-F238E27FC236}">
                <a16:creationId xmlns:a16="http://schemas.microsoft.com/office/drawing/2014/main" id="{9E20232F-2ED9-E8BD-C738-03BE7D12D6FA}"/>
              </a:ext>
            </a:extLst>
          </p:cNvPr>
          <p:cNvSpPr>
            <a:spLocks/>
          </p:cNvSpPr>
          <p:nvPr/>
        </p:nvSpPr>
        <p:spPr bwMode="auto">
          <a:xfrm>
            <a:off x="9393642" y="6094565"/>
            <a:ext cx="69332" cy="61063"/>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 name="Freeform 1083">
            <a:extLst>
              <a:ext uri="{FF2B5EF4-FFF2-40B4-BE49-F238E27FC236}">
                <a16:creationId xmlns:a16="http://schemas.microsoft.com/office/drawing/2014/main" id="{64DB773C-9A7E-A26A-4FF8-14F574D23187}"/>
              </a:ext>
            </a:extLst>
          </p:cNvPr>
          <p:cNvSpPr>
            <a:spLocks/>
          </p:cNvSpPr>
          <p:nvPr/>
        </p:nvSpPr>
        <p:spPr bwMode="auto">
          <a:xfrm>
            <a:off x="9216699" y="6099436"/>
            <a:ext cx="177394" cy="55717"/>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9" name="Freeform 1084">
            <a:extLst>
              <a:ext uri="{FF2B5EF4-FFF2-40B4-BE49-F238E27FC236}">
                <a16:creationId xmlns:a16="http://schemas.microsoft.com/office/drawing/2014/main" id="{872BA2C5-5E77-78A0-0276-6B6AD825716C}"/>
              </a:ext>
            </a:extLst>
          </p:cNvPr>
          <p:cNvSpPr>
            <a:spLocks/>
          </p:cNvSpPr>
          <p:nvPr/>
        </p:nvSpPr>
        <p:spPr bwMode="auto">
          <a:xfrm>
            <a:off x="9216812" y="6089219"/>
            <a:ext cx="1920" cy="11286"/>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0" name="Freeform 1085">
            <a:extLst>
              <a:ext uri="{FF2B5EF4-FFF2-40B4-BE49-F238E27FC236}">
                <a16:creationId xmlns:a16="http://schemas.microsoft.com/office/drawing/2014/main" id="{64C98952-44DE-C341-9B24-B2C6C591A72D}"/>
              </a:ext>
            </a:extLst>
          </p:cNvPr>
          <p:cNvSpPr>
            <a:spLocks/>
          </p:cNvSpPr>
          <p:nvPr/>
        </p:nvSpPr>
        <p:spPr bwMode="auto">
          <a:xfrm>
            <a:off x="9216925" y="6043244"/>
            <a:ext cx="82430" cy="46688"/>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1" name="Freeform 1086">
            <a:extLst>
              <a:ext uri="{FF2B5EF4-FFF2-40B4-BE49-F238E27FC236}">
                <a16:creationId xmlns:a16="http://schemas.microsoft.com/office/drawing/2014/main" id="{FB8C4FD7-D7D7-475F-01A4-BDFC367D7A9B}"/>
              </a:ext>
            </a:extLst>
          </p:cNvPr>
          <p:cNvSpPr>
            <a:spLocks/>
          </p:cNvSpPr>
          <p:nvPr/>
        </p:nvSpPr>
        <p:spPr bwMode="auto">
          <a:xfrm>
            <a:off x="9222458" y="6091595"/>
            <a:ext cx="168248" cy="53578"/>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2" name="Freeform 1087">
            <a:extLst>
              <a:ext uri="{FF2B5EF4-FFF2-40B4-BE49-F238E27FC236}">
                <a16:creationId xmlns:a16="http://schemas.microsoft.com/office/drawing/2014/main" id="{C0314256-1AA4-7F29-2D0A-469E40028702}"/>
              </a:ext>
            </a:extLst>
          </p:cNvPr>
          <p:cNvSpPr>
            <a:spLocks/>
          </p:cNvSpPr>
          <p:nvPr/>
        </p:nvSpPr>
        <p:spPr bwMode="auto">
          <a:xfrm flipV="1">
            <a:off x="9390480" y="6087793"/>
            <a:ext cx="68654" cy="55479"/>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90" name="Group 590">
            <a:extLst>
              <a:ext uri="{FF2B5EF4-FFF2-40B4-BE49-F238E27FC236}">
                <a16:creationId xmlns:a16="http://schemas.microsoft.com/office/drawing/2014/main" id="{686DB844-5D3C-03E6-A629-B2EE28FC3931}"/>
              </a:ext>
            </a:extLst>
          </p:cNvPr>
          <p:cNvGrpSpPr>
            <a:grpSpLocks/>
          </p:cNvGrpSpPr>
          <p:nvPr/>
        </p:nvGrpSpPr>
        <p:grpSpPr bwMode="auto">
          <a:xfrm flipH="1">
            <a:off x="8153909" y="5504657"/>
            <a:ext cx="345630" cy="320302"/>
            <a:chOff x="2839" y="3501"/>
            <a:chExt cx="755" cy="803"/>
          </a:xfrm>
        </p:grpSpPr>
        <p:pic>
          <p:nvPicPr>
            <p:cNvPr id="491" name="Picture 591" descr="desktop_computer_stylized_medium">
              <a:extLst>
                <a:ext uri="{FF2B5EF4-FFF2-40B4-BE49-F238E27FC236}">
                  <a16:creationId xmlns:a16="http://schemas.microsoft.com/office/drawing/2014/main" id="{74931708-CEDA-4E62-B9FD-357338A3D27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 name="Freeform 592">
              <a:extLst>
                <a:ext uri="{FF2B5EF4-FFF2-40B4-BE49-F238E27FC236}">
                  <a16:creationId xmlns:a16="http://schemas.microsoft.com/office/drawing/2014/main" id="{31BEEBF2-62B5-5971-CF3C-F7C27DFBB63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93" name="Group 590">
            <a:extLst>
              <a:ext uri="{FF2B5EF4-FFF2-40B4-BE49-F238E27FC236}">
                <a16:creationId xmlns:a16="http://schemas.microsoft.com/office/drawing/2014/main" id="{2C58663C-4046-8FB4-965E-AEA001735C12}"/>
              </a:ext>
            </a:extLst>
          </p:cNvPr>
          <p:cNvGrpSpPr>
            <a:grpSpLocks/>
          </p:cNvGrpSpPr>
          <p:nvPr/>
        </p:nvGrpSpPr>
        <p:grpSpPr bwMode="auto">
          <a:xfrm flipH="1">
            <a:off x="8552134" y="5526130"/>
            <a:ext cx="345630" cy="320302"/>
            <a:chOff x="2839" y="3501"/>
            <a:chExt cx="755" cy="803"/>
          </a:xfrm>
        </p:grpSpPr>
        <p:pic>
          <p:nvPicPr>
            <p:cNvPr id="494" name="Picture 591" descr="desktop_computer_stylized_medium">
              <a:extLst>
                <a:ext uri="{FF2B5EF4-FFF2-40B4-BE49-F238E27FC236}">
                  <a16:creationId xmlns:a16="http://schemas.microsoft.com/office/drawing/2014/main" id="{6E7A8834-68AD-9A60-47E0-5F7D13B53796}"/>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 name="Freeform 592">
              <a:extLst>
                <a:ext uri="{FF2B5EF4-FFF2-40B4-BE49-F238E27FC236}">
                  <a16:creationId xmlns:a16="http://schemas.microsoft.com/office/drawing/2014/main" id="{091BE480-0479-5CA0-F106-974403B1324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pic>
        <p:nvPicPr>
          <p:cNvPr id="498" name="Picture 1066" descr="laptop_keyboard">
            <a:extLst>
              <a:ext uri="{FF2B5EF4-FFF2-40B4-BE49-F238E27FC236}">
                <a16:creationId xmlns:a16="http://schemas.microsoft.com/office/drawing/2014/main" id="{56836E35-3166-B70C-3BCF-69C5E37941F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9550087" y="5949454"/>
            <a:ext cx="260920" cy="9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9" name="Freeform 1067">
            <a:extLst>
              <a:ext uri="{FF2B5EF4-FFF2-40B4-BE49-F238E27FC236}">
                <a16:creationId xmlns:a16="http://schemas.microsoft.com/office/drawing/2014/main" id="{E77C4B2A-82DE-043D-DE92-1BCB88A0FAF6}"/>
              </a:ext>
            </a:extLst>
          </p:cNvPr>
          <p:cNvSpPr>
            <a:spLocks/>
          </p:cNvSpPr>
          <p:nvPr/>
        </p:nvSpPr>
        <p:spPr bwMode="auto">
          <a:xfrm>
            <a:off x="9636557" y="5853324"/>
            <a:ext cx="210015" cy="129281"/>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500" name="Picture 1068" descr="screen">
            <a:extLst>
              <a:ext uri="{FF2B5EF4-FFF2-40B4-BE49-F238E27FC236}">
                <a16:creationId xmlns:a16="http://schemas.microsoft.com/office/drawing/2014/main" id="{E6223447-50F9-4543-276D-657D4689724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646901" y="5856649"/>
            <a:ext cx="190838" cy="11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 name="Freeform 1069">
            <a:extLst>
              <a:ext uri="{FF2B5EF4-FFF2-40B4-BE49-F238E27FC236}">
                <a16:creationId xmlns:a16="http://schemas.microsoft.com/office/drawing/2014/main" id="{2B52CFA1-9C3A-C38E-7BB6-765D1E586C86}"/>
              </a:ext>
            </a:extLst>
          </p:cNvPr>
          <p:cNvSpPr>
            <a:spLocks/>
          </p:cNvSpPr>
          <p:nvPr/>
        </p:nvSpPr>
        <p:spPr bwMode="auto">
          <a:xfrm>
            <a:off x="9674794" y="5849510"/>
            <a:ext cx="177937" cy="24057"/>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 name="Freeform 1070">
            <a:extLst>
              <a:ext uri="{FF2B5EF4-FFF2-40B4-BE49-F238E27FC236}">
                <a16:creationId xmlns:a16="http://schemas.microsoft.com/office/drawing/2014/main" id="{1F9BFEAC-B33F-8E1F-45A0-D3DEF5ADD59F}"/>
              </a:ext>
            </a:extLst>
          </p:cNvPr>
          <p:cNvSpPr>
            <a:spLocks/>
          </p:cNvSpPr>
          <p:nvPr/>
        </p:nvSpPr>
        <p:spPr bwMode="auto">
          <a:xfrm>
            <a:off x="9634698" y="5849315"/>
            <a:ext cx="49395" cy="100139"/>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3" name="Freeform 1071">
            <a:extLst>
              <a:ext uri="{FF2B5EF4-FFF2-40B4-BE49-F238E27FC236}">
                <a16:creationId xmlns:a16="http://schemas.microsoft.com/office/drawing/2014/main" id="{7E57CCAF-7689-DB28-3892-FF703A4BA5F8}"/>
              </a:ext>
            </a:extLst>
          </p:cNvPr>
          <p:cNvSpPr>
            <a:spLocks/>
          </p:cNvSpPr>
          <p:nvPr/>
        </p:nvSpPr>
        <p:spPr bwMode="auto">
          <a:xfrm>
            <a:off x="9798223" y="5867211"/>
            <a:ext cx="53230" cy="115590"/>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 name="Freeform 1072">
            <a:extLst>
              <a:ext uri="{FF2B5EF4-FFF2-40B4-BE49-F238E27FC236}">
                <a16:creationId xmlns:a16="http://schemas.microsoft.com/office/drawing/2014/main" id="{B9F6913A-FD01-CBAD-4F59-6F716F303D8D}"/>
              </a:ext>
            </a:extLst>
          </p:cNvPr>
          <p:cNvSpPr>
            <a:spLocks/>
          </p:cNvSpPr>
          <p:nvPr/>
        </p:nvSpPr>
        <p:spPr bwMode="auto">
          <a:xfrm>
            <a:off x="9634116" y="5944369"/>
            <a:ext cx="195254" cy="3901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 name="Freeform 1073">
            <a:extLst>
              <a:ext uri="{FF2B5EF4-FFF2-40B4-BE49-F238E27FC236}">
                <a16:creationId xmlns:a16="http://schemas.microsoft.com/office/drawing/2014/main" id="{11AC3549-044D-F93C-6BF0-BD9DC1956BAB}"/>
              </a:ext>
            </a:extLst>
          </p:cNvPr>
          <p:cNvSpPr>
            <a:spLocks/>
          </p:cNvSpPr>
          <p:nvPr/>
        </p:nvSpPr>
        <p:spPr bwMode="auto">
          <a:xfrm>
            <a:off x="9804150" y="5868189"/>
            <a:ext cx="49860" cy="116079"/>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6" name="Freeform 1074">
            <a:extLst>
              <a:ext uri="{FF2B5EF4-FFF2-40B4-BE49-F238E27FC236}">
                <a16:creationId xmlns:a16="http://schemas.microsoft.com/office/drawing/2014/main" id="{FEA57005-845D-A95E-AEBB-478276A36B03}"/>
              </a:ext>
            </a:extLst>
          </p:cNvPr>
          <p:cNvSpPr>
            <a:spLocks/>
          </p:cNvSpPr>
          <p:nvPr/>
        </p:nvSpPr>
        <p:spPr bwMode="auto">
          <a:xfrm>
            <a:off x="9634349" y="5949552"/>
            <a:ext cx="173637" cy="38530"/>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507" name="Group 1075">
            <a:extLst>
              <a:ext uri="{FF2B5EF4-FFF2-40B4-BE49-F238E27FC236}">
                <a16:creationId xmlns:a16="http://schemas.microsoft.com/office/drawing/2014/main" id="{D75ACE0A-196F-7D1C-BEC2-7834E08B0479}"/>
              </a:ext>
            </a:extLst>
          </p:cNvPr>
          <p:cNvGrpSpPr>
            <a:grpSpLocks/>
          </p:cNvGrpSpPr>
          <p:nvPr/>
        </p:nvGrpSpPr>
        <p:grpSpPr bwMode="auto">
          <a:xfrm>
            <a:off x="9631443" y="5990722"/>
            <a:ext cx="58925" cy="22883"/>
            <a:chOff x="1740" y="2642"/>
            <a:chExt cx="752" cy="327"/>
          </a:xfrm>
        </p:grpSpPr>
        <p:sp>
          <p:nvSpPr>
            <p:cNvPr id="514" name="Freeform 1076">
              <a:extLst>
                <a:ext uri="{FF2B5EF4-FFF2-40B4-BE49-F238E27FC236}">
                  <a16:creationId xmlns:a16="http://schemas.microsoft.com/office/drawing/2014/main" id="{647593DF-AE8E-3C90-C940-E497FF37E2E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5" name="Freeform 1077">
              <a:extLst>
                <a:ext uri="{FF2B5EF4-FFF2-40B4-BE49-F238E27FC236}">
                  <a16:creationId xmlns:a16="http://schemas.microsoft.com/office/drawing/2014/main" id="{02753C5F-50F8-4584-0FB7-6D6980148BD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6" name="Freeform 1078">
              <a:extLst>
                <a:ext uri="{FF2B5EF4-FFF2-40B4-BE49-F238E27FC236}">
                  <a16:creationId xmlns:a16="http://schemas.microsoft.com/office/drawing/2014/main" id="{92648772-B854-6441-1D19-32F3A7981563}"/>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7" name="Freeform 1079">
              <a:extLst>
                <a:ext uri="{FF2B5EF4-FFF2-40B4-BE49-F238E27FC236}">
                  <a16:creationId xmlns:a16="http://schemas.microsoft.com/office/drawing/2014/main" id="{918A273B-1CBB-6E65-AB52-4B39715AE2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8" name="Freeform 1080">
              <a:extLst>
                <a:ext uri="{FF2B5EF4-FFF2-40B4-BE49-F238E27FC236}">
                  <a16:creationId xmlns:a16="http://schemas.microsoft.com/office/drawing/2014/main" id="{061EB3A7-B7E3-44B9-D056-DA891B9B5EE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9" name="Freeform 1081">
              <a:extLst>
                <a:ext uri="{FF2B5EF4-FFF2-40B4-BE49-F238E27FC236}">
                  <a16:creationId xmlns:a16="http://schemas.microsoft.com/office/drawing/2014/main" id="{AEB66AA5-D064-7682-FAD3-A8AA0DBF2E3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08" name="Freeform 1082">
            <a:extLst>
              <a:ext uri="{FF2B5EF4-FFF2-40B4-BE49-F238E27FC236}">
                <a16:creationId xmlns:a16="http://schemas.microsoft.com/office/drawing/2014/main" id="{059411FE-663F-228A-59ED-1407506D9249}"/>
              </a:ext>
            </a:extLst>
          </p:cNvPr>
          <p:cNvSpPr>
            <a:spLocks/>
          </p:cNvSpPr>
          <p:nvPr/>
        </p:nvSpPr>
        <p:spPr bwMode="auto">
          <a:xfrm>
            <a:off x="9732325" y="5994145"/>
            <a:ext cx="71361" cy="50265"/>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9" name="Freeform 1083">
            <a:extLst>
              <a:ext uri="{FF2B5EF4-FFF2-40B4-BE49-F238E27FC236}">
                <a16:creationId xmlns:a16="http://schemas.microsoft.com/office/drawing/2014/main" id="{1A06CC8F-9890-B04E-314F-C999C4A6B7B1}"/>
              </a:ext>
            </a:extLst>
          </p:cNvPr>
          <p:cNvSpPr>
            <a:spLocks/>
          </p:cNvSpPr>
          <p:nvPr/>
        </p:nvSpPr>
        <p:spPr bwMode="auto">
          <a:xfrm>
            <a:off x="9550204" y="5998154"/>
            <a:ext cx="182586" cy="45864"/>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0" name="Freeform 1084">
            <a:extLst>
              <a:ext uri="{FF2B5EF4-FFF2-40B4-BE49-F238E27FC236}">
                <a16:creationId xmlns:a16="http://schemas.microsoft.com/office/drawing/2014/main" id="{FC08AF59-0D1C-4BB6-EE20-EC8303BC3F5E}"/>
              </a:ext>
            </a:extLst>
          </p:cNvPr>
          <p:cNvSpPr>
            <a:spLocks/>
          </p:cNvSpPr>
          <p:nvPr/>
        </p:nvSpPr>
        <p:spPr bwMode="auto">
          <a:xfrm>
            <a:off x="9550320" y="5989744"/>
            <a:ext cx="1976" cy="9290"/>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1" name="Freeform 1085">
            <a:extLst>
              <a:ext uri="{FF2B5EF4-FFF2-40B4-BE49-F238E27FC236}">
                <a16:creationId xmlns:a16="http://schemas.microsoft.com/office/drawing/2014/main" id="{1304BD44-C0F9-D2C0-00A1-C38DB3EA286C}"/>
              </a:ext>
            </a:extLst>
          </p:cNvPr>
          <p:cNvSpPr>
            <a:spLocks/>
          </p:cNvSpPr>
          <p:nvPr/>
        </p:nvSpPr>
        <p:spPr bwMode="auto">
          <a:xfrm>
            <a:off x="9550436" y="5951899"/>
            <a:ext cx="84843" cy="38432"/>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 name="Freeform 1086">
            <a:extLst>
              <a:ext uri="{FF2B5EF4-FFF2-40B4-BE49-F238E27FC236}">
                <a16:creationId xmlns:a16="http://schemas.microsoft.com/office/drawing/2014/main" id="{F66E5E37-3AE2-17C8-1118-9F96FA6FEE91}"/>
              </a:ext>
            </a:extLst>
          </p:cNvPr>
          <p:cNvSpPr>
            <a:spLocks/>
          </p:cNvSpPr>
          <p:nvPr/>
        </p:nvSpPr>
        <p:spPr bwMode="auto">
          <a:xfrm>
            <a:off x="9556131" y="5991700"/>
            <a:ext cx="173172" cy="44104"/>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3" name="Freeform 1087">
            <a:extLst>
              <a:ext uri="{FF2B5EF4-FFF2-40B4-BE49-F238E27FC236}">
                <a16:creationId xmlns:a16="http://schemas.microsoft.com/office/drawing/2014/main" id="{DAC286E5-07BA-B204-D048-C369B16132D4}"/>
              </a:ext>
            </a:extLst>
          </p:cNvPr>
          <p:cNvSpPr>
            <a:spLocks/>
          </p:cNvSpPr>
          <p:nvPr/>
        </p:nvSpPr>
        <p:spPr bwMode="auto">
          <a:xfrm flipV="1">
            <a:off x="9729071" y="5988571"/>
            <a:ext cx="70663" cy="45669"/>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 name="Group 983">
            <a:extLst>
              <a:ext uri="{FF2B5EF4-FFF2-40B4-BE49-F238E27FC236}">
                <a16:creationId xmlns:a16="http://schemas.microsoft.com/office/drawing/2014/main" id="{A7314D59-2BD1-0A4F-797F-55E48EDE8C37}"/>
              </a:ext>
            </a:extLst>
          </p:cNvPr>
          <p:cNvGrpSpPr>
            <a:grpSpLocks/>
          </p:cNvGrpSpPr>
          <p:nvPr/>
        </p:nvGrpSpPr>
        <p:grpSpPr bwMode="auto">
          <a:xfrm>
            <a:off x="10017877" y="5636388"/>
            <a:ext cx="171450" cy="348944"/>
            <a:chOff x="4140" y="429"/>
            <a:chExt cx="1425" cy="2396"/>
          </a:xfrm>
        </p:grpSpPr>
        <p:sp>
          <p:nvSpPr>
            <p:cNvPr id="175" name="Freeform 984">
              <a:extLst>
                <a:ext uri="{FF2B5EF4-FFF2-40B4-BE49-F238E27FC236}">
                  <a16:creationId xmlns:a16="http://schemas.microsoft.com/office/drawing/2014/main" id="{BA72674A-7D66-3886-86C0-7C7EB8EB1C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 name="Rectangle 985">
              <a:extLst>
                <a:ext uri="{FF2B5EF4-FFF2-40B4-BE49-F238E27FC236}">
                  <a16:creationId xmlns:a16="http://schemas.microsoft.com/office/drawing/2014/main" id="{236ECBEB-1C25-24E0-3781-95D4028CDE42}"/>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77" name="Freeform 986">
              <a:extLst>
                <a:ext uri="{FF2B5EF4-FFF2-40B4-BE49-F238E27FC236}">
                  <a16:creationId xmlns:a16="http://schemas.microsoft.com/office/drawing/2014/main" id="{DE3713C1-0A42-7442-7532-4A9A5EE2D5C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8" name="Freeform 987">
              <a:extLst>
                <a:ext uri="{FF2B5EF4-FFF2-40B4-BE49-F238E27FC236}">
                  <a16:creationId xmlns:a16="http://schemas.microsoft.com/office/drawing/2014/main" id="{BBDE2248-5F89-8448-544C-C2D92357B273}"/>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9" name="Rectangle 988">
              <a:extLst>
                <a:ext uri="{FF2B5EF4-FFF2-40B4-BE49-F238E27FC236}">
                  <a16:creationId xmlns:a16="http://schemas.microsoft.com/office/drawing/2014/main" id="{361E79A3-0478-517E-E4DA-1302865371F8}"/>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0" name="Group 989">
              <a:extLst>
                <a:ext uri="{FF2B5EF4-FFF2-40B4-BE49-F238E27FC236}">
                  <a16:creationId xmlns:a16="http://schemas.microsoft.com/office/drawing/2014/main" id="{B946A8AF-F7E4-388E-1B80-3D2A07691D57}"/>
                </a:ext>
              </a:extLst>
            </p:cNvPr>
            <p:cNvGrpSpPr>
              <a:grpSpLocks/>
            </p:cNvGrpSpPr>
            <p:nvPr/>
          </p:nvGrpSpPr>
          <p:grpSpPr bwMode="auto">
            <a:xfrm>
              <a:off x="4749" y="668"/>
              <a:ext cx="581" cy="145"/>
              <a:chOff x="614" y="2568"/>
              <a:chExt cx="725" cy="139"/>
            </a:xfrm>
          </p:grpSpPr>
          <p:sp>
            <p:nvSpPr>
              <p:cNvPr id="205" name="AutoShape 990">
                <a:extLst>
                  <a:ext uri="{FF2B5EF4-FFF2-40B4-BE49-F238E27FC236}">
                    <a16:creationId xmlns:a16="http://schemas.microsoft.com/office/drawing/2014/main" id="{0709C9E6-CA6B-9236-A743-1A4B6FB5A033}"/>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6" name="AutoShape 991">
                <a:extLst>
                  <a:ext uri="{FF2B5EF4-FFF2-40B4-BE49-F238E27FC236}">
                    <a16:creationId xmlns:a16="http://schemas.microsoft.com/office/drawing/2014/main" id="{AA6CE5C9-9AF5-7C78-DD5D-CFCCCCB97C02}"/>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1" name="Rectangle 992">
              <a:extLst>
                <a:ext uri="{FF2B5EF4-FFF2-40B4-BE49-F238E27FC236}">
                  <a16:creationId xmlns:a16="http://schemas.microsoft.com/office/drawing/2014/main" id="{3B9D1877-BAB9-A2EC-97D3-8CD5353C52F4}"/>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2" name="Group 993">
              <a:extLst>
                <a:ext uri="{FF2B5EF4-FFF2-40B4-BE49-F238E27FC236}">
                  <a16:creationId xmlns:a16="http://schemas.microsoft.com/office/drawing/2014/main" id="{B7F6A691-B40F-CCE0-CD3E-04ED61E048EE}"/>
                </a:ext>
              </a:extLst>
            </p:cNvPr>
            <p:cNvGrpSpPr>
              <a:grpSpLocks/>
            </p:cNvGrpSpPr>
            <p:nvPr/>
          </p:nvGrpSpPr>
          <p:grpSpPr bwMode="auto">
            <a:xfrm>
              <a:off x="4747" y="994"/>
              <a:ext cx="581" cy="134"/>
              <a:chOff x="614" y="2568"/>
              <a:chExt cx="725" cy="139"/>
            </a:xfrm>
          </p:grpSpPr>
          <p:sp>
            <p:nvSpPr>
              <p:cNvPr id="203" name="AutoShape 994">
                <a:extLst>
                  <a:ext uri="{FF2B5EF4-FFF2-40B4-BE49-F238E27FC236}">
                    <a16:creationId xmlns:a16="http://schemas.microsoft.com/office/drawing/2014/main" id="{197E1AA9-FE23-E892-8CC9-FE78362B215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4" name="AutoShape 995">
                <a:extLst>
                  <a:ext uri="{FF2B5EF4-FFF2-40B4-BE49-F238E27FC236}">
                    <a16:creationId xmlns:a16="http://schemas.microsoft.com/office/drawing/2014/main" id="{36F240B4-4DB9-6D3D-C950-524AE93E31A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3" name="Rectangle 996">
              <a:extLst>
                <a:ext uri="{FF2B5EF4-FFF2-40B4-BE49-F238E27FC236}">
                  <a16:creationId xmlns:a16="http://schemas.microsoft.com/office/drawing/2014/main" id="{8F596034-7B77-AC64-E028-3465C582D622}"/>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84" name="Rectangle 997">
              <a:extLst>
                <a:ext uri="{FF2B5EF4-FFF2-40B4-BE49-F238E27FC236}">
                  <a16:creationId xmlns:a16="http://schemas.microsoft.com/office/drawing/2014/main" id="{9C5861E5-8E65-4B65-1457-2C9B52B1EF02}"/>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5" name="Group 998">
              <a:extLst>
                <a:ext uri="{FF2B5EF4-FFF2-40B4-BE49-F238E27FC236}">
                  <a16:creationId xmlns:a16="http://schemas.microsoft.com/office/drawing/2014/main" id="{5AB019C7-B538-4000-CAD7-123A8362C30E}"/>
                </a:ext>
              </a:extLst>
            </p:cNvPr>
            <p:cNvGrpSpPr>
              <a:grpSpLocks/>
            </p:cNvGrpSpPr>
            <p:nvPr/>
          </p:nvGrpSpPr>
          <p:grpSpPr bwMode="auto">
            <a:xfrm>
              <a:off x="4735" y="1627"/>
              <a:ext cx="582" cy="151"/>
              <a:chOff x="614" y="2568"/>
              <a:chExt cx="725" cy="139"/>
            </a:xfrm>
          </p:grpSpPr>
          <p:sp>
            <p:nvSpPr>
              <p:cNvPr id="201" name="AutoShape 999">
                <a:extLst>
                  <a:ext uri="{FF2B5EF4-FFF2-40B4-BE49-F238E27FC236}">
                    <a16:creationId xmlns:a16="http://schemas.microsoft.com/office/drawing/2014/main" id="{0CA0767E-1096-91DD-9408-CD7462C4067F}"/>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2" name="AutoShape 1000">
                <a:extLst>
                  <a:ext uri="{FF2B5EF4-FFF2-40B4-BE49-F238E27FC236}">
                    <a16:creationId xmlns:a16="http://schemas.microsoft.com/office/drawing/2014/main" id="{1911ABC9-0993-B112-67AE-F31D9C6C3147}"/>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6" name="Freeform 1001">
              <a:extLst>
                <a:ext uri="{FF2B5EF4-FFF2-40B4-BE49-F238E27FC236}">
                  <a16:creationId xmlns:a16="http://schemas.microsoft.com/office/drawing/2014/main" id="{23D5701B-A7B5-C421-5BAC-542DFB0F285F}"/>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87" name="Group 1002">
              <a:extLst>
                <a:ext uri="{FF2B5EF4-FFF2-40B4-BE49-F238E27FC236}">
                  <a16:creationId xmlns:a16="http://schemas.microsoft.com/office/drawing/2014/main" id="{1AD4EB04-2AB8-A994-39B7-331849845840}"/>
                </a:ext>
              </a:extLst>
            </p:cNvPr>
            <p:cNvGrpSpPr>
              <a:grpSpLocks/>
            </p:cNvGrpSpPr>
            <p:nvPr/>
          </p:nvGrpSpPr>
          <p:grpSpPr bwMode="auto">
            <a:xfrm>
              <a:off x="4739" y="1327"/>
              <a:ext cx="582" cy="139"/>
              <a:chOff x="614" y="2568"/>
              <a:chExt cx="725" cy="139"/>
            </a:xfrm>
          </p:grpSpPr>
          <p:sp>
            <p:nvSpPr>
              <p:cNvPr id="199" name="AutoShape 1003">
                <a:extLst>
                  <a:ext uri="{FF2B5EF4-FFF2-40B4-BE49-F238E27FC236}">
                    <a16:creationId xmlns:a16="http://schemas.microsoft.com/office/drawing/2014/main" id="{0AA9842D-F861-8577-4439-BBCC4A14DEB0}"/>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0" name="AutoShape 1004">
                <a:extLst>
                  <a:ext uri="{FF2B5EF4-FFF2-40B4-BE49-F238E27FC236}">
                    <a16:creationId xmlns:a16="http://schemas.microsoft.com/office/drawing/2014/main" id="{4DDDD236-F5F0-BDB2-1F9B-93E8AEE572E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8" name="Rectangle 1005">
              <a:extLst>
                <a:ext uri="{FF2B5EF4-FFF2-40B4-BE49-F238E27FC236}">
                  <a16:creationId xmlns:a16="http://schemas.microsoft.com/office/drawing/2014/main" id="{7CE40CC0-9AA4-C6AA-BD12-DDEEEF7B380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89" name="Freeform 1006">
              <a:extLst>
                <a:ext uri="{FF2B5EF4-FFF2-40B4-BE49-F238E27FC236}">
                  <a16:creationId xmlns:a16="http://schemas.microsoft.com/office/drawing/2014/main" id="{93F3EF8D-6F2C-53B2-42F4-37A44BF5D3B5}"/>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0" name="Freeform 1007">
              <a:extLst>
                <a:ext uri="{FF2B5EF4-FFF2-40B4-BE49-F238E27FC236}">
                  <a16:creationId xmlns:a16="http://schemas.microsoft.com/office/drawing/2014/main" id="{C53C6DA7-55A0-19CA-49E2-F80F0CDE24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1" name="Oval 1008">
              <a:extLst>
                <a:ext uri="{FF2B5EF4-FFF2-40B4-BE49-F238E27FC236}">
                  <a16:creationId xmlns:a16="http://schemas.microsoft.com/office/drawing/2014/main" id="{D90A7551-16C4-AD9B-4642-89F283346A23}"/>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2" name="Freeform 1009">
              <a:extLst>
                <a:ext uri="{FF2B5EF4-FFF2-40B4-BE49-F238E27FC236}">
                  <a16:creationId xmlns:a16="http://schemas.microsoft.com/office/drawing/2014/main" id="{26E5DA18-E3DB-3B4E-75C8-41A53975DE33}"/>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3" name="AutoShape 1010">
              <a:extLst>
                <a:ext uri="{FF2B5EF4-FFF2-40B4-BE49-F238E27FC236}">
                  <a16:creationId xmlns:a16="http://schemas.microsoft.com/office/drawing/2014/main" id="{CB7C0AD1-3083-2363-3532-B3F0031494C2}"/>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4" name="AutoShape 1011">
              <a:extLst>
                <a:ext uri="{FF2B5EF4-FFF2-40B4-BE49-F238E27FC236}">
                  <a16:creationId xmlns:a16="http://schemas.microsoft.com/office/drawing/2014/main" id="{A6A8A644-64B2-5F13-D04B-97F460ADD24A}"/>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5" name="Oval 1012">
              <a:extLst>
                <a:ext uri="{FF2B5EF4-FFF2-40B4-BE49-F238E27FC236}">
                  <a16:creationId xmlns:a16="http://schemas.microsoft.com/office/drawing/2014/main" id="{CBC22077-E533-D0DE-3023-A85A8C91D340}"/>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6" name="Oval 1013">
              <a:extLst>
                <a:ext uri="{FF2B5EF4-FFF2-40B4-BE49-F238E27FC236}">
                  <a16:creationId xmlns:a16="http://schemas.microsoft.com/office/drawing/2014/main" id="{FDFBA212-DB8E-4CEE-8ACE-157612FF19E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a:solidFill>
                  <a:srgbClr val="FF0000"/>
                </a:solidFill>
                <a:latin typeface="Arial" panose="020B0604020202020204" pitchFamily="34" charset="0"/>
              </a:endParaRPr>
            </a:p>
          </p:txBody>
        </p:sp>
        <p:sp>
          <p:nvSpPr>
            <p:cNvPr id="197" name="Oval 1014">
              <a:extLst>
                <a:ext uri="{FF2B5EF4-FFF2-40B4-BE49-F238E27FC236}">
                  <a16:creationId xmlns:a16="http://schemas.microsoft.com/office/drawing/2014/main" id="{830EA8B6-D2B7-A0D5-C97B-0E03CB34F261}"/>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8" name="Rectangle 1015">
              <a:extLst>
                <a:ext uri="{FF2B5EF4-FFF2-40B4-BE49-F238E27FC236}">
                  <a16:creationId xmlns:a16="http://schemas.microsoft.com/office/drawing/2014/main" id="{C3EA0944-424B-0662-7BD1-A0B92FA8B20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nvGrpSpPr>
          <p:cNvPr id="487" name="Group 590">
            <a:extLst>
              <a:ext uri="{FF2B5EF4-FFF2-40B4-BE49-F238E27FC236}">
                <a16:creationId xmlns:a16="http://schemas.microsoft.com/office/drawing/2014/main" id="{09170A40-25A4-9607-88A2-EB811C2C3DDA}"/>
              </a:ext>
            </a:extLst>
          </p:cNvPr>
          <p:cNvGrpSpPr>
            <a:grpSpLocks/>
          </p:cNvGrpSpPr>
          <p:nvPr/>
        </p:nvGrpSpPr>
        <p:grpSpPr bwMode="auto">
          <a:xfrm flipH="1">
            <a:off x="7773981" y="5281060"/>
            <a:ext cx="345630" cy="320302"/>
            <a:chOff x="2839" y="3501"/>
            <a:chExt cx="755" cy="803"/>
          </a:xfrm>
        </p:grpSpPr>
        <p:pic>
          <p:nvPicPr>
            <p:cNvPr id="488" name="Picture 591" descr="desktop_computer_stylized_medium">
              <a:extLst>
                <a:ext uri="{FF2B5EF4-FFF2-40B4-BE49-F238E27FC236}">
                  <a16:creationId xmlns:a16="http://schemas.microsoft.com/office/drawing/2014/main" id="{ACB0D9CE-AE4F-8CBD-D61B-70D92BD207C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9" name="Freeform 592">
              <a:extLst>
                <a:ext uri="{FF2B5EF4-FFF2-40B4-BE49-F238E27FC236}">
                  <a16:creationId xmlns:a16="http://schemas.microsoft.com/office/drawing/2014/main" id="{9989F755-4487-20C5-037D-FC75095503D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20" name="Group 19">
            <a:extLst>
              <a:ext uri="{FF2B5EF4-FFF2-40B4-BE49-F238E27FC236}">
                <a16:creationId xmlns:a16="http://schemas.microsoft.com/office/drawing/2014/main" id="{9382BC0E-22C5-C200-7BE0-12D82C64A268}"/>
              </a:ext>
            </a:extLst>
          </p:cNvPr>
          <p:cNvGrpSpPr/>
          <p:nvPr/>
        </p:nvGrpSpPr>
        <p:grpSpPr>
          <a:xfrm>
            <a:off x="7439074" y="1859725"/>
            <a:ext cx="4144321" cy="4127477"/>
            <a:chOff x="7439074" y="1859725"/>
            <a:chExt cx="4144321" cy="4127477"/>
          </a:xfrm>
        </p:grpSpPr>
        <p:grpSp>
          <p:nvGrpSpPr>
            <p:cNvPr id="15" name="Group 14">
              <a:extLst>
                <a:ext uri="{FF2B5EF4-FFF2-40B4-BE49-F238E27FC236}">
                  <a16:creationId xmlns:a16="http://schemas.microsoft.com/office/drawing/2014/main" id="{38D063C2-7CE6-E9F3-A2E9-08D87E7C7F62}"/>
                </a:ext>
              </a:extLst>
            </p:cNvPr>
            <p:cNvGrpSpPr/>
            <p:nvPr/>
          </p:nvGrpSpPr>
          <p:grpSpPr>
            <a:xfrm>
              <a:off x="7439074" y="1859725"/>
              <a:ext cx="1802647" cy="1120859"/>
              <a:chOff x="7439074" y="1859725"/>
              <a:chExt cx="1802647" cy="1120859"/>
            </a:xfrm>
          </p:grpSpPr>
          <p:pic>
            <p:nvPicPr>
              <p:cNvPr id="242" name="Picture 799" descr="cell_tower_radiation copy">
                <a:extLst>
                  <a:ext uri="{FF2B5EF4-FFF2-40B4-BE49-F238E27FC236}">
                    <a16:creationId xmlns:a16="http://schemas.microsoft.com/office/drawing/2014/main" id="{0B00F860-D3B7-EF9F-EE16-5013929DFA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Line 426">
                <a:extLst>
                  <a:ext uri="{FF2B5EF4-FFF2-40B4-BE49-F238E27FC236}">
                    <a16:creationId xmlns:a16="http://schemas.microsoft.com/office/drawing/2014/main" id="{A352D395-9F54-024F-AB16-AF6B9224F92A}"/>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1" name="Group 783">
                <a:extLst>
                  <a:ext uri="{FF2B5EF4-FFF2-40B4-BE49-F238E27FC236}">
                    <a16:creationId xmlns:a16="http://schemas.microsoft.com/office/drawing/2014/main" id="{1B1CD8EF-1E95-5E08-F1B9-0D2DE05A79FD}"/>
                  </a:ext>
                </a:extLst>
              </p:cNvPr>
              <p:cNvGrpSpPr>
                <a:grpSpLocks/>
              </p:cNvGrpSpPr>
              <p:nvPr/>
            </p:nvGrpSpPr>
            <p:grpSpPr bwMode="auto">
              <a:xfrm>
                <a:off x="8050698" y="2309376"/>
                <a:ext cx="298450" cy="464008"/>
                <a:chOff x="3130" y="3288"/>
                <a:chExt cx="410" cy="742"/>
              </a:xfrm>
            </p:grpSpPr>
            <p:sp>
              <p:nvSpPr>
                <p:cNvPr id="244" name="Line 270">
                  <a:extLst>
                    <a:ext uri="{FF2B5EF4-FFF2-40B4-BE49-F238E27FC236}">
                      <a16:creationId xmlns:a16="http://schemas.microsoft.com/office/drawing/2014/main" id="{34BF31D7-A33B-7728-8CC9-1FE4FF51E963}"/>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5" name="Line 271">
                  <a:extLst>
                    <a:ext uri="{FF2B5EF4-FFF2-40B4-BE49-F238E27FC236}">
                      <a16:creationId xmlns:a16="http://schemas.microsoft.com/office/drawing/2014/main" id="{A9629D24-4722-D97F-EAF0-33B2AC7B4961}"/>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6" name="Line 272">
                  <a:extLst>
                    <a:ext uri="{FF2B5EF4-FFF2-40B4-BE49-F238E27FC236}">
                      <a16:creationId xmlns:a16="http://schemas.microsoft.com/office/drawing/2014/main" id="{6B3E98BC-4F25-E3A3-06CE-B04622FF8670}"/>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7" name="Line 273">
                  <a:extLst>
                    <a:ext uri="{FF2B5EF4-FFF2-40B4-BE49-F238E27FC236}">
                      <a16:creationId xmlns:a16="http://schemas.microsoft.com/office/drawing/2014/main" id="{2B8AEDA9-A056-3A85-2233-4AA5485EFCAF}"/>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8" name="Line 274">
                  <a:extLst>
                    <a:ext uri="{FF2B5EF4-FFF2-40B4-BE49-F238E27FC236}">
                      <a16:creationId xmlns:a16="http://schemas.microsoft.com/office/drawing/2014/main" id="{E806D7D6-C6D3-3A0A-13C7-436F56AAD354}"/>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9" name="Line 275">
                  <a:extLst>
                    <a:ext uri="{FF2B5EF4-FFF2-40B4-BE49-F238E27FC236}">
                      <a16:creationId xmlns:a16="http://schemas.microsoft.com/office/drawing/2014/main" id="{85DA0B09-DDCF-1A35-D46B-DB749841E37B}"/>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0" name="Line 276">
                  <a:extLst>
                    <a:ext uri="{FF2B5EF4-FFF2-40B4-BE49-F238E27FC236}">
                      <a16:creationId xmlns:a16="http://schemas.microsoft.com/office/drawing/2014/main" id="{618D6AFE-7259-4C91-C8D3-05C1926CDBB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1" name="Line 277">
                  <a:extLst>
                    <a:ext uri="{FF2B5EF4-FFF2-40B4-BE49-F238E27FC236}">
                      <a16:creationId xmlns:a16="http://schemas.microsoft.com/office/drawing/2014/main" id="{B76F87AE-F52E-F9D2-3D02-90D1C62F67B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2" name="Line 278">
                  <a:extLst>
                    <a:ext uri="{FF2B5EF4-FFF2-40B4-BE49-F238E27FC236}">
                      <a16:creationId xmlns:a16="http://schemas.microsoft.com/office/drawing/2014/main" id="{EEF3DC53-C244-86B9-3E57-7E65EA43C683}"/>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3" name="Line 279">
                  <a:extLst>
                    <a:ext uri="{FF2B5EF4-FFF2-40B4-BE49-F238E27FC236}">
                      <a16:creationId xmlns:a16="http://schemas.microsoft.com/office/drawing/2014/main" id="{379791E1-1C0E-CC58-05B7-ACEE02884FC1}"/>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4" name="Line 280">
                  <a:extLst>
                    <a:ext uri="{FF2B5EF4-FFF2-40B4-BE49-F238E27FC236}">
                      <a16:creationId xmlns:a16="http://schemas.microsoft.com/office/drawing/2014/main" id="{7EA29BE0-821B-B759-0318-E99F2643DC5A}"/>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5" name="Line 281">
                  <a:extLst>
                    <a:ext uri="{FF2B5EF4-FFF2-40B4-BE49-F238E27FC236}">
                      <a16:creationId xmlns:a16="http://schemas.microsoft.com/office/drawing/2014/main" id="{674FE54C-A5C7-936D-ADC9-5483B729E0E1}"/>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 name="Line 282">
                  <a:extLst>
                    <a:ext uri="{FF2B5EF4-FFF2-40B4-BE49-F238E27FC236}">
                      <a16:creationId xmlns:a16="http://schemas.microsoft.com/office/drawing/2014/main" id="{F57D6738-B9DF-D3F8-AA31-EFD99441D0FB}"/>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7" name="Line 283">
                  <a:extLst>
                    <a:ext uri="{FF2B5EF4-FFF2-40B4-BE49-F238E27FC236}">
                      <a16:creationId xmlns:a16="http://schemas.microsoft.com/office/drawing/2014/main" id="{39121626-BA11-A5E5-B0EA-65E01551530B}"/>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8" name="Line 284">
                  <a:extLst>
                    <a:ext uri="{FF2B5EF4-FFF2-40B4-BE49-F238E27FC236}">
                      <a16:creationId xmlns:a16="http://schemas.microsoft.com/office/drawing/2014/main" id="{B2387DB1-6A53-6E90-3485-B5FA40423A73}"/>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grpSp>
            <p:nvGrpSpPr>
              <p:cNvPr id="407" name="Group 406">
                <a:extLst>
                  <a:ext uri="{FF2B5EF4-FFF2-40B4-BE49-F238E27FC236}">
                    <a16:creationId xmlns:a16="http://schemas.microsoft.com/office/drawing/2014/main" id="{742DF082-FCA3-FEBA-4240-94518F22D418}"/>
                  </a:ext>
                </a:extLst>
              </p:cNvPr>
              <p:cNvGrpSpPr/>
              <p:nvPr/>
            </p:nvGrpSpPr>
            <p:grpSpPr>
              <a:xfrm>
                <a:off x="8439827" y="2812309"/>
                <a:ext cx="353678" cy="168275"/>
                <a:chOff x="7493876" y="2774731"/>
                <a:chExt cx="1481958" cy="894622"/>
              </a:xfrm>
            </p:grpSpPr>
            <p:sp>
              <p:nvSpPr>
                <p:cNvPr id="408" name="Freeform 407">
                  <a:extLst>
                    <a:ext uri="{FF2B5EF4-FFF2-40B4-BE49-F238E27FC236}">
                      <a16:creationId xmlns:a16="http://schemas.microsoft.com/office/drawing/2014/main" id="{E047E522-B782-1E5E-063C-22CCFE8E29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9" name="Oval 408">
                  <a:extLst>
                    <a:ext uri="{FF2B5EF4-FFF2-40B4-BE49-F238E27FC236}">
                      <a16:creationId xmlns:a16="http://schemas.microsoft.com/office/drawing/2014/main" id="{E84EE7CE-1D39-034A-79BC-2EEB84C1479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10" name="Group 409">
                  <a:extLst>
                    <a:ext uri="{FF2B5EF4-FFF2-40B4-BE49-F238E27FC236}">
                      <a16:creationId xmlns:a16="http://schemas.microsoft.com/office/drawing/2014/main" id="{CFE335C0-22FC-0ADC-3136-26B794A34538}"/>
                    </a:ext>
                  </a:extLst>
                </p:cNvPr>
                <p:cNvGrpSpPr/>
                <p:nvPr/>
              </p:nvGrpSpPr>
              <p:grpSpPr>
                <a:xfrm>
                  <a:off x="7713663" y="2848339"/>
                  <a:ext cx="1042107" cy="425543"/>
                  <a:chOff x="7786941" y="2884917"/>
                  <a:chExt cx="897649" cy="353919"/>
                </a:xfrm>
              </p:grpSpPr>
              <p:sp>
                <p:nvSpPr>
                  <p:cNvPr id="411" name="Freeform 410">
                    <a:extLst>
                      <a:ext uri="{FF2B5EF4-FFF2-40B4-BE49-F238E27FC236}">
                        <a16:creationId xmlns:a16="http://schemas.microsoft.com/office/drawing/2014/main" id="{89A79585-5420-E754-C47B-A530F37F725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Freeform 411">
                    <a:extLst>
                      <a:ext uri="{FF2B5EF4-FFF2-40B4-BE49-F238E27FC236}">
                        <a16:creationId xmlns:a16="http://schemas.microsoft.com/office/drawing/2014/main" id="{FDDAAC8B-73FA-0095-77A3-33D9B83AE3F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Freeform 412">
                    <a:extLst>
                      <a:ext uri="{FF2B5EF4-FFF2-40B4-BE49-F238E27FC236}">
                        <a16:creationId xmlns:a16="http://schemas.microsoft.com/office/drawing/2014/main" id="{5A39276B-1CD4-C956-B486-4F978E43D97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Freeform 413">
                    <a:extLst>
                      <a:ext uri="{FF2B5EF4-FFF2-40B4-BE49-F238E27FC236}">
                        <a16:creationId xmlns:a16="http://schemas.microsoft.com/office/drawing/2014/main" id="{7A9CEBEF-9065-E98A-4218-9F63FA4794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60" name="Picture 654" descr="antenna_radiation_stylized">
                <a:extLst>
                  <a:ext uri="{FF2B5EF4-FFF2-40B4-BE49-F238E27FC236}">
                    <a16:creationId xmlns:a16="http://schemas.microsoft.com/office/drawing/2014/main" id="{5FCE55DD-8795-B7BF-5FBC-54BF973E13D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50224" y="1859725"/>
                <a:ext cx="415925" cy="8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Picture 1017" descr="antenna_stylized">
                <a:extLst>
                  <a:ext uri="{FF2B5EF4-FFF2-40B4-BE49-F238E27FC236}">
                    <a16:creationId xmlns:a16="http://schemas.microsoft.com/office/drawing/2014/main" id="{3B64A4BD-A1E1-460B-390D-8FE727ABF9D7}"/>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439074" y="235661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Picture 1017" descr="antenna_stylized">
                <a:extLst>
                  <a:ext uri="{FF2B5EF4-FFF2-40B4-BE49-F238E27FC236}">
                    <a16:creationId xmlns:a16="http://schemas.microsoft.com/office/drawing/2014/main" id="{B492358D-79BC-F0F3-2934-DE3C8FB13A0C}"/>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637781" y="231972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Picture 1017" descr="antenna_stylized">
                <a:extLst>
                  <a:ext uri="{FF2B5EF4-FFF2-40B4-BE49-F238E27FC236}">
                    <a16:creationId xmlns:a16="http://schemas.microsoft.com/office/drawing/2014/main" id="{E4968B62-7943-2620-7CF1-D1C1C5B06B9B}"/>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711019" y="205912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 name="Group 11">
              <a:extLst>
                <a:ext uri="{FF2B5EF4-FFF2-40B4-BE49-F238E27FC236}">
                  <a16:creationId xmlns:a16="http://schemas.microsoft.com/office/drawing/2014/main" id="{6EACF841-B168-EDDA-E5A9-B536C911E300}"/>
                </a:ext>
              </a:extLst>
            </p:cNvPr>
            <p:cNvGrpSpPr/>
            <p:nvPr/>
          </p:nvGrpSpPr>
          <p:grpSpPr>
            <a:xfrm>
              <a:off x="7493518" y="3325424"/>
              <a:ext cx="911538" cy="843226"/>
              <a:chOff x="7493518" y="3325424"/>
              <a:chExt cx="911538" cy="843226"/>
            </a:xfrm>
          </p:grpSpPr>
          <p:pic>
            <p:nvPicPr>
              <p:cNvPr id="261" name="Picture 777" descr="access_point_stylized_small">
                <a:extLst>
                  <a:ext uri="{FF2B5EF4-FFF2-40B4-BE49-F238E27FC236}">
                    <a16:creationId xmlns:a16="http://schemas.microsoft.com/office/drawing/2014/main" id="{2A7ADFD9-B49E-C7FD-06CC-FBE804D4A26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0">
                <a:extLst>
                  <a:ext uri="{FF2B5EF4-FFF2-40B4-BE49-F238E27FC236}">
                    <a16:creationId xmlns:a16="http://schemas.microsoft.com/office/drawing/2014/main" id="{EFEC6921-489A-BE39-F923-ABE1E6A74684}"/>
                  </a:ext>
                </a:extLst>
              </p:cNvPr>
              <p:cNvGrpSpPr/>
              <p:nvPr/>
            </p:nvGrpSpPr>
            <p:grpSpPr>
              <a:xfrm>
                <a:off x="7493518" y="3325424"/>
                <a:ext cx="911538" cy="816238"/>
                <a:chOff x="7493518" y="3325424"/>
                <a:chExt cx="911538" cy="816238"/>
              </a:xfrm>
            </p:grpSpPr>
            <p:sp>
              <p:nvSpPr>
                <p:cNvPr id="33" name="Line 443">
                  <a:extLst>
                    <a:ext uri="{FF2B5EF4-FFF2-40B4-BE49-F238E27FC236}">
                      <a16:creationId xmlns:a16="http://schemas.microsoft.com/office/drawing/2014/main" id="{46BEC380-116D-7C55-E4B1-6722F9E946DA}"/>
                    </a:ext>
                  </a:extLst>
                </p:cNvPr>
                <p:cNvSpPr>
                  <a:spLocks noChangeShapeType="1"/>
                </p:cNvSpPr>
                <p:nvPr/>
              </p:nvSpPr>
              <p:spPr bwMode="auto">
                <a:xfrm>
                  <a:off x="8247778" y="3829970"/>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449">
                  <a:extLst>
                    <a:ext uri="{FF2B5EF4-FFF2-40B4-BE49-F238E27FC236}">
                      <a16:creationId xmlns:a16="http://schemas.microsoft.com/office/drawing/2014/main" id="{CC7C5C7E-BB14-CD88-96FB-74AAA24D21DE}"/>
                    </a:ext>
                  </a:extLst>
                </p:cNvPr>
                <p:cNvSpPr>
                  <a:spLocks noChangeShapeType="1"/>
                </p:cNvSpPr>
                <p:nvPr/>
              </p:nvSpPr>
              <p:spPr bwMode="auto">
                <a:xfrm flipV="1">
                  <a:off x="7857253" y="4041107"/>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62" name="Picture 778" descr="antenna_radiation_stylized">
                  <a:extLst>
                    <a:ext uri="{FF2B5EF4-FFF2-40B4-BE49-F238E27FC236}">
                      <a16:creationId xmlns:a16="http://schemas.microsoft.com/office/drawing/2014/main" id="{CCC14730-94B7-5345-D125-4CCD447562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5" name="Group 414">
                  <a:extLst>
                    <a:ext uri="{FF2B5EF4-FFF2-40B4-BE49-F238E27FC236}">
                      <a16:creationId xmlns:a16="http://schemas.microsoft.com/office/drawing/2014/main" id="{C30261EE-1B6A-EB83-B5C6-D293E5BE256F}"/>
                    </a:ext>
                  </a:extLst>
                </p:cNvPr>
                <p:cNvGrpSpPr/>
                <p:nvPr/>
              </p:nvGrpSpPr>
              <p:grpSpPr>
                <a:xfrm>
                  <a:off x="8050070" y="3965994"/>
                  <a:ext cx="354986" cy="175668"/>
                  <a:chOff x="7493876" y="2774731"/>
                  <a:chExt cx="1481958" cy="894622"/>
                </a:xfrm>
              </p:grpSpPr>
              <p:sp>
                <p:nvSpPr>
                  <p:cNvPr id="416" name="Freeform 415">
                    <a:extLst>
                      <a:ext uri="{FF2B5EF4-FFF2-40B4-BE49-F238E27FC236}">
                        <a16:creationId xmlns:a16="http://schemas.microsoft.com/office/drawing/2014/main" id="{C658256B-E425-32F0-AFF5-0BA452F73F0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17" name="Oval 416">
                    <a:extLst>
                      <a:ext uri="{FF2B5EF4-FFF2-40B4-BE49-F238E27FC236}">
                        <a16:creationId xmlns:a16="http://schemas.microsoft.com/office/drawing/2014/main" id="{5CB376BD-B4A2-1A77-1B39-22073C49635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18" name="Group 417">
                    <a:extLst>
                      <a:ext uri="{FF2B5EF4-FFF2-40B4-BE49-F238E27FC236}">
                        <a16:creationId xmlns:a16="http://schemas.microsoft.com/office/drawing/2014/main" id="{C9AF0327-928C-B619-EBC4-CB687F7AFA44}"/>
                      </a:ext>
                    </a:extLst>
                  </p:cNvPr>
                  <p:cNvGrpSpPr/>
                  <p:nvPr/>
                </p:nvGrpSpPr>
                <p:grpSpPr>
                  <a:xfrm>
                    <a:off x="7713663" y="2848339"/>
                    <a:ext cx="1042107" cy="425543"/>
                    <a:chOff x="7786941" y="2884917"/>
                    <a:chExt cx="897649" cy="353919"/>
                  </a:xfrm>
                </p:grpSpPr>
                <p:sp>
                  <p:nvSpPr>
                    <p:cNvPr id="419" name="Freeform 418">
                      <a:extLst>
                        <a:ext uri="{FF2B5EF4-FFF2-40B4-BE49-F238E27FC236}">
                          <a16:creationId xmlns:a16="http://schemas.microsoft.com/office/drawing/2014/main" id="{C4B56C86-5CDC-9172-4A97-36979173F97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Freeform 419">
                      <a:extLst>
                        <a:ext uri="{FF2B5EF4-FFF2-40B4-BE49-F238E27FC236}">
                          <a16:creationId xmlns:a16="http://schemas.microsoft.com/office/drawing/2014/main" id="{8180EE9A-E0AA-08C2-341A-7ADE87133F1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Freeform 420">
                      <a:extLst>
                        <a:ext uri="{FF2B5EF4-FFF2-40B4-BE49-F238E27FC236}">
                          <a16:creationId xmlns:a16="http://schemas.microsoft.com/office/drawing/2014/main" id="{9D3BF7C9-1CD3-EF34-3367-CCB971A2AF4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Freeform 421">
                      <a:extLst>
                        <a:ext uri="{FF2B5EF4-FFF2-40B4-BE49-F238E27FC236}">
                          <a16:creationId xmlns:a16="http://schemas.microsoft.com/office/drawing/2014/main" id="{8FB6BCE2-ADE7-756C-17BC-0D718982543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91" name="Picture 1115" descr="antenna_stylized">
                  <a:extLst>
                    <a:ext uri="{FF2B5EF4-FFF2-40B4-BE49-F238E27FC236}">
                      <a16:creationId xmlns:a16="http://schemas.microsoft.com/office/drawing/2014/main" id="{149E4CF5-8AFD-1C87-53B9-AC7FDE09FC8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93518" y="341914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Picture 1115" descr="antenna_stylized">
                  <a:extLst>
                    <a:ext uri="{FF2B5EF4-FFF2-40B4-BE49-F238E27FC236}">
                      <a16:creationId xmlns:a16="http://schemas.microsoft.com/office/drawing/2014/main" id="{ABBA65B2-2665-A494-664D-7A7D96C44D1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03435" y="332542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6" name="Group 15">
              <a:extLst>
                <a:ext uri="{FF2B5EF4-FFF2-40B4-BE49-F238E27FC236}">
                  <a16:creationId xmlns:a16="http://schemas.microsoft.com/office/drawing/2014/main" id="{2537333D-CF8D-5C6A-528E-80A8C7FACFF5}"/>
                </a:ext>
              </a:extLst>
            </p:cNvPr>
            <p:cNvGrpSpPr/>
            <p:nvPr/>
          </p:nvGrpSpPr>
          <p:grpSpPr>
            <a:xfrm>
              <a:off x="10884085" y="3428485"/>
              <a:ext cx="604586" cy="405973"/>
              <a:chOff x="10884085" y="3428485"/>
              <a:chExt cx="604586" cy="405973"/>
            </a:xfrm>
          </p:grpSpPr>
          <p:grpSp>
            <p:nvGrpSpPr>
              <p:cNvPr id="455" name="Group 454">
                <a:extLst>
                  <a:ext uri="{FF2B5EF4-FFF2-40B4-BE49-F238E27FC236}">
                    <a16:creationId xmlns:a16="http://schemas.microsoft.com/office/drawing/2014/main" id="{F4EF10D3-3BB1-9A39-EB06-1315F7A3AB0C}"/>
                  </a:ext>
                </a:extLst>
              </p:cNvPr>
              <p:cNvGrpSpPr/>
              <p:nvPr/>
            </p:nvGrpSpPr>
            <p:grpSpPr>
              <a:xfrm>
                <a:off x="10884085" y="3601365"/>
                <a:ext cx="170989" cy="97052"/>
                <a:chOff x="7493876" y="2774731"/>
                <a:chExt cx="1481958" cy="894622"/>
              </a:xfrm>
            </p:grpSpPr>
            <p:sp>
              <p:nvSpPr>
                <p:cNvPr id="456" name="Freeform 455">
                  <a:extLst>
                    <a:ext uri="{FF2B5EF4-FFF2-40B4-BE49-F238E27FC236}">
                      <a16:creationId xmlns:a16="http://schemas.microsoft.com/office/drawing/2014/main" id="{84CD5CB4-E2ED-1DCE-6EE7-097B3AA7CF5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7" name="Oval 456">
                  <a:extLst>
                    <a:ext uri="{FF2B5EF4-FFF2-40B4-BE49-F238E27FC236}">
                      <a16:creationId xmlns:a16="http://schemas.microsoft.com/office/drawing/2014/main" id="{ECEEFD11-89A9-F3BA-9CA0-99616D20876A}"/>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58" name="Group 457">
                  <a:extLst>
                    <a:ext uri="{FF2B5EF4-FFF2-40B4-BE49-F238E27FC236}">
                      <a16:creationId xmlns:a16="http://schemas.microsoft.com/office/drawing/2014/main" id="{19E52FFE-69C8-ED61-D8CC-BD59AB06D181}"/>
                    </a:ext>
                  </a:extLst>
                </p:cNvPr>
                <p:cNvGrpSpPr/>
                <p:nvPr/>
              </p:nvGrpSpPr>
              <p:grpSpPr>
                <a:xfrm>
                  <a:off x="7713663" y="2848339"/>
                  <a:ext cx="1042107" cy="425543"/>
                  <a:chOff x="7786941" y="2884917"/>
                  <a:chExt cx="897649" cy="353919"/>
                </a:xfrm>
              </p:grpSpPr>
              <p:sp>
                <p:nvSpPr>
                  <p:cNvPr id="459" name="Freeform 458">
                    <a:extLst>
                      <a:ext uri="{FF2B5EF4-FFF2-40B4-BE49-F238E27FC236}">
                        <a16:creationId xmlns:a16="http://schemas.microsoft.com/office/drawing/2014/main" id="{941E4C57-EF6E-C83B-47F7-DBB5515054F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Freeform 459">
                    <a:extLst>
                      <a:ext uri="{FF2B5EF4-FFF2-40B4-BE49-F238E27FC236}">
                        <a16:creationId xmlns:a16="http://schemas.microsoft.com/office/drawing/2014/main" id="{E17EDCFC-7A1B-115D-F2EA-1CACEAC6F19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Freeform 460">
                    <a:extLst>
                      <a:ext uri="{FF2B5EF4-FFF2-40B4-BE49-F238E27FC236}">
                        <a16:creationId xmlns:a16="http://schemas.microsoft.com/office/drawing/2014/main" id="{010350FF-FD26-1D62-5107-3BB00A3F84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Freeform 461">
                    <a:extLst>
                      <a:ext uri="{FF2B5EF4-FFF2-40B4-BE49-F238E27FC236}">
                        <a16:creationId xmlns:a16="http://schemas.microsoft.com/office/drawing/2014/main" id="{A6081EE1-EFA4-620D-A0E6-0DF343DBAB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92" name="Group 391">
                <a:extLst>
                  <a:ext uri="{FF2B5EF4-FFF2-40B4-BE49-F238E27FC236}">
                    <a16:creationId xmlns:a16="http://schemas.microsoft.com/office/drawing/2014/main" id="{840F0701-2690-C79C-364D-21F7E175DDE1}"/>
                  </a:ext>
                </a:extLst>
              </p:cNvPr>
              <p:cNvGrpSpPr/>
              <p:nvPr/>
            </p:nvGrpSpPr>
            <p:grpSpPr>
              <a:xfrm>
                <a:off x="11064947" y="3428485"/>
                <a:ext cx="423724" cy="405973"/>
                <a:chOff x="5103720" y="2693365"/>
                <a:chExt cx="611650" cy="414788"/>
              </a:xfrm>
            </p:grpSpPr>
            <p:cxnSp>
              <p:nvCxnSpPr>
                <p:cNvPr id="393" name="Straight Connector 392">
                  <a:extLst>
                    <a:ext uri="{FF2B5EF4-FFF2-40B4-BE49-F238E27FC236}">
                      <a16:creationId xmlns:a16="http://schemas.microsoft.com/office/drawing/2014/main" id="{2BCCAB8B-D12E-9A05-0059-9F037EB57367}"/>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95" name="Group 394">
                  <a:extLst>
                    <a:ext uri="{FF2B5EF4-FFF2-40B4-BE49-F238E27FC236}">
                      <a16:creationId xmlns:a16="http://schemas.microsoft.com/office/drawing/2014/main" id="{D391A6E9-E423-F25C-A0DC-39B7F6519E43}"/>
                    </a:ext>
                  </a:extLst>
                </p:cNvPr>
                <p:cNvGrpSpPr/>
                <p:nvPr/>
              </p:nvGrpSpPr>
              <p:grpSpPr>
                <a:xfrm>
                  <a:off x="5275406" y="2693365"/>
                  <a:ext cx="439964" cy="414788"/>
                  <a:chOff x="5275406" y="2711455"/>
                  <a:chExt cx="452949" cy="405518"/>
                </a:xfrm>
              </p:grpSpPr>
              <p:pic>
                <p:nvPicPr>
                  <p:cNvPr id="396" name="Picture 395" descr="server_rack.png">
                    <a:extLst>
                      <a:ext uri="{FF2B5EF4-FFF2-40B4-BE49-F238E27FC236}">
                        <a16:creationId xmlns:a16="http://schemas.microsoft.com/office/drawing/2014/main" id="{C97AC1C9-8EC9-3D60-82B2-EF8EEE7D412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97" name="Picture 396" descr="server_rack.png">
                    <a:extLst>
                      <a:ext uri="{FF2B5EF4-FFF2-40B4-BE49-F238E27FC236}">
                        <a16:creationId xmlns:a16="http://schemas.microsoft.com/office/drawing/2014/main" id="{4450AF01-97A0-64C6-55CF-1B2E6FBFC19A}"/>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98" name="Picture 397" descr="server_rack.png">
                    <a:extLst>
                      <a:ext uri="{FF2B5EF4-FFF2-40B4-BE49-F238E27FC236}">
                        <a16:creationId xmlns:a16="http://schemas.microsoft.com/office/drawing/2014/main" id="{567D36CE-109B-7249-A3E0-3622B2B28F0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10" name="Group 9">
              <a:extLst>
                <a:ext uri="{FF2B5EF4-FFF2-40B4-BE49-F238E27FC236}">
                  <a16:creationId xmlns:a16="http://schemas.microsoft.com/office/drawing/2014/main" id="{5DD01A4B-AFCB-89B1-C17B-836F87846C21}"/>
                </a:ext>
              </a:extLst>
            </p:cNvPr>
            <p:cNvGrpSpPr/>
            <p:nvPr/>
          </p:nvGrpSpPr>
          <p:grpSpPr>
            <a:xfrm>
              <a:off x="7975881" y="4741266"/>
              <a:ext cx="2318709" cy="1245936"/>
              <a:chOff x="7948367" y="4775686"/>
              <a:chExt cx="2318709" cy="1245936"/>
            </a:xfrm>
          </p:grpSpPr>
          <p:sp>
            <p:nvSpPr>
              <p:cNvPr id="22" name="Line 428">
                <a:extLst>
                  <a:ext uri="{FF2B5EF4-FFF2-40B4-BE49-F238E27FC236}">
                    <a16:creationId xmlns:a16="http://schemas.microsoft.com/office/drawing/2014/main" id="{F5E705BB-4D9A-21FC-0857-BF03962C25B4}"/>
                  </a:ext>
                </a:extLst>
              </p:cNvPr>
              <p:cNvSpPr>
                <a:spLocks noChangeShapeType="1"/>
              </p:cNvSpPr>
              <p:nvPr/>
            </p:nvSpPr>
            <p:spPr bwMode="auto">
              <a:xfrm rot="16200000" flipV="1">
                <a:off x="9789609" y="5251739"/>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435">
                <a:extLst>
                  <a:ext uri="{FF2B5EF4-FFF2-40B4-BE49-F238E27FC236}">
                    <a16:creationId xmlns:a16="http://schemas.microsoft.com/office/drawing/2014/main" id="{DD78F07C-796F-3FD8-EEB0-0CA246A23ADC}"/>
                  </a:ext>
                </a:extLst>
              </p:cNvPr>
              <p:cNvSpPr>
                <a:spLocks noChangeShapeType="1"/>
              </p:cNvSpPr>
              <p:nvPr/>
            </p:nvSpPr>
            <p:spPr bwMode="auto">
              <a:xfrm>
                <a:off x="8210207" y="5117334"/>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37" name="Line 440">
                <a:extLst>
                  <a:ext uri="{FF2B5EF4-FFF2-40B4-BE49-F238E27FC236}">
                    <a16:creationId xmlns:a16="http://schemas.microsoft.com/office/drawing/2014/main" id="{722BC81B-3583-5096-E0E5-DB197DA20483}"/>
                  </a:ext>
                </a:extLst>
              </p:cNvPr>
              <p:cNvSpPr>
                <a:spLocks noChangeShapeType="1"/>
              </p:cNvSpPr>
              <p:nvPr/>
            </p:nvSpPr>
            <p:spPr bwMode="auto">
              <a:xfrm flipV="1">
                <a:off x="8459425" y="5036562"/>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3">
                <a:extLst>
                  <a:ext uri="{FF2B5EF4-FFF2-40B4-BE49-F238E27FC236}">
                    <a16:creationId xmlns:a16="http://schemas.microsoft.com/office/drawing/2014/main" id="{3D3151D5-79F2-FA68-D98B-8A054E7FA42F}"/>
                  </a:ext>
                </a:extLst>
              </p:cNvPr>
              <p:cNvGrpSpPr/>
              <p:nvPr/>
            </p:nvGrpSpPr>
            <p:grpSpPr>
              <a:xfrm>
                <a:off x="7948367" y="4775686"/>
                <a:ext cx="2318709" cy="1245936"/>
                <a:chOff x="7948367" y="4775686"/>
                <a:chExt cx="2318709" cy="1245936"/>
              </a:xfrm>
            </p:grpSpPr>
            <p:sp>
              <p:nvSpPr>
                <p:cNvPr id="24" name="Line 430">
                  <a:extLst>
                    <a:ext uri="{FF2B5EF4-FFF2-40B4-BE49-F238E27FC236}">
                      <a16:creationId xmlns:a16="http://schemas.microsoft.com/office/drawing/2014/main" id="{1BD1557B-6C1D-F498-3C09-9EDB6B63A172}"/>
                    </a:ext>
                  </a:extLst>
                </p:cNvPr>
                <p:cNvSpPr>
                  <a:spLocks noChangeShapeType="1"/>
                </p:cNvSpPr>
                <p:nvPr/>
              </p:nvSpPr>
              <p:spPr bwMode="auto">
                <a:xfrm rot="16200000">
                  <a:off x="10209926" y="5405286"/>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431">
                  <a:extLst>
                    <a:ext uri="{FF2B5EF4-FFF2-40B4-BE49-F238E27FC236}">
                      <a16:creationId xmlns:a16="http://schemas.microsoft.com/office/drawing/2014/main" id="{ECC93031-D1A0-90AE-8989-92954ED12C06}"/>
                    </a:ext>
                  </a:extLst>
                </p:cNvPr>
                <p:cNvSpPr>
                  <a:spLocks noChangeShapeType="1"/>
                </p:cNvSpPr>
                <p:nvPr/>
              </p:nvSpPr>
              <p:spPr bwMode="auto">
                <a:xfrm>
                  <a:off x="9432959" y="4838517"/>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432">
                  <a:extLst>
                    <a:ext uri="{FF2B5EF4-FFF2-40B4-BE49-F238E27FC236}">
                      <a16:creationId xmlns:a16="http://schemas.microsoft.com/office/drawing/2014/main" id="{DD0092E8-A043-BF52-E24A-97DBCDE07581}"/>
                    </a:ext>
                  </a:extLst>
                </p:cNvPr>
                <p:cNvSpPr>
                  <a:spLocks noChangeShapeType="1"/>
                </p:cNvSpPr>
                <p:nvPr/>
              </p:nvSpPr>
              <p:spPr bwMode="auto">
                <a:xfrm flipV="1">
                  <a:off x="8850066" y="4838517"/>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433">
                  <a:extLst>
                    <a:ext uri="{FF2B5EF4-FFF2-40B4-BE49-F238E27FC236}">
                      <a16:creationId xmlns:a16="http://schemas.microsoft.com/office/drawing/2014/main" id="{69D0DF38-0324-CEC0-BC77-14B9CAD3E9E7}"/>
                    </a:ext>
                  </a:extLst>
                </p:cNvPr>
                <p:cNvSpPr>
                  <a:spLocks noChangeShapeType="1"/>
                </p:cNvSpPr>
                <p:nvPr/>
              </p:nvSpPr>
              <p:spPr bwMode="auto">
                <a:xfrm flipV="1">
                  <a:off x="8821744" y="5108876"/>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436">
                  <a:extLst>
                    <a:ext uri="{FF2B5EF4-FFF2-40B4-BE49-F238E27FC236}">
                      <a16:creationId xmlns:a16="http://schemas.microsoft.com/office/drawing/2014/main" id="{B722409E-5C89-57CE-EAFD-67004B4271B7}"/>
                    </a:ext>
                  </a:extLst>
                </p:cNvPr>
                <p:cNvSpPr>
                  <a:spLocks noChangeShapeType="1"/>
                </p:cNvSpPr>
                <p:nvPr/>
              </p:nvSpPr>
              <p:spPr bwMode="auto">
                <a:xfrm flipV="1">
                  <a:off x="7948367" y="5290470"/>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439">
                  <a:extLst>
                    <a:ext uri="{FF2B5EF4-FFF2-40B4-BE49-F238E27FC236}">
                      <a16:creationId xmlns:a16="http://schemas.microsoft.com/office/drawing/2014/main" id="{3F174FFC-E384-A045-4FF3-C1DA7666BF7E}"/>
                    </a:ext>
                  </a:extLst>
                </p:cNvPr>
                <p:cNvSpPr>
                  <a:spLocks noChangeShapeType="1"/>
                </p:cNvSpPr>
                <p:nvPr/>
              </p:nvSpPr>
              <p:spPr bwMode="auto">
                <a:xfrm flipH="1">
                  <a:off x="8373817" y="5282252"/>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440">
                  <a:extLst>
                    <a:ext uri="{FF2B5EF4-FFF2-40B4-BE49-F238E27FC236}">
                      <a16:creationId xmlns:a16="http://schemas.microsoft.com/office/drawing/2014/main" id="{E542D518-97D7-94A9-43BB-85365BC022C8}"/>
                    </a:ext>
                  </a:extLst>
                </p:cNvPr>
                <p:cNvSpPr>
                  <a:spLocks noChangeShapeType="1"/>
                </p:cNvSpPr>
                <p:nvPr/>
              </p:nvSpPr>
              <p:spPr bwMode="auto">
                <a:xfrm flipH="1" flipV="1">
                  <a:off x="8488731" y="5307931"/>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441">
                  <a:extLst>
                    <a:ext uri="{FF2B5EF4-FFF2-40B4-BE49-F238E27FC236}">
                      <a16:creationId xmlns:a16="http://schemas.microsoft.com/office/drawing/2014/main" id="{7753AE9E-149B-92EB-728C-82B8AF6E659B}"/>
                    </a:ext>
                  </a:extLst>
                </p:cNvPr>
                <p:cNvSpPr>
                  <a:spLocks noChangeShapeType="1"/>
                </p:cNvSpPr>
                <p:nvPr/>
              </p:nvSpPr>
              <p:spPr bwMode="auto">
                <a:xfrm>
                  <a:off x="8488731" y="5258048"/>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8" name="Line 428">
                  <a:extLst>
                    <a:ext uri="{FF2B5EF4-FFF2-40B4-BE49-F238E27FC236}">
                      <a16:creationId xmlns:a16="http://schemas.microsoft.com/office/drawing/2014/main" id="{ABF3CA7A-BD96-6824-F570-15876B8F3098}"/>
                    </a:ext>
                  </a:extLst>
                </p:cNvPr>
                <p:cNvSpPr>
                  <a:spLocks noChangeShapeType="1"/>
                </p:cNvSpPr>
                <p:nvPr/>
              </p:nvSpPr>
              <p:spPr bwMode="auto">
                <a:xfrm rot="16200000" flipV="1">
                  <a:off x="9885545" y="5583471"/>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260" name="Picture 781" descr="antenna_radiation_stylized">
                  <a:extLst>
                    <a:ext uri="{FF2B5EF4-FFF2-40B4-BE49-F238E27FC236}">
                      <a16:creationId xmlns:a16="http://schemas.microsoft.com/office/drawing/2014/main" id="{33BFFB58-57BA-4913-329D-9E6749BC4D5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780" descr="access_point_stylized_small">
                  <a:extLst>
                    <a:ext uri="{FF2B5EF4-FFF2-40B4-BE49-F238E27FC236}">
                      <a16:creationId xmlns:a16="http://schemas.microsoft.com/office/drawing/2014/main" id="{12371D82-B8E8-DD32-1EC4-6453EAFF1B0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71" name="Group 470">
                  <a:extLst>
                    <a:ext uri="{FF2B5EF4-FFF2-40B4-BE49-F238E27FC236}">
                      <a16:creationId xmlns:a16="http://schemas.microsoft.com/office/drawing/2014/main" id="{2655884E-76E4-4210-C6A7-C85A418172FB}"/>
                    </a:ext>
                  </a:extLst>
                </p:cNvPr>
                <p:cNvGrpSpPr/>
                <p:nvPr/>
              </p:nvGrpSpPr>
              <p:grpSpPr>
                <a:xfrm>
                  <a:off x="9783558" y="4989983"/>
                  <a:ext cx="393760" cy="218578"/>
                  <a:chOff x="7493876" y="2774731"/>
                  <a:chExt cx="1481958" cy="894622"/>
                </a:xfrm>
              </p:grpSpPr>
              <p:sp>
                <p:nvSpPr>
                  <p:cNvPr id="472" name="Freeform 471">
                    <a:extLst>
                      <a:ext uri="{FF2B5EF4-FFF2-40B4-BE49-F238E27FC236}">
                        <a16:creationId xmlns:a16="http://schemas.microsoft.com/office/drawing/2014/main" id="{D870BCFF-EEDE-0C17-0EA3-DCF3CC3BF93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3" name="Oval 472">
                    <a:extLst>
                      <a:ext uri="{FF2B5EF4-FFF2-40B4-BE49-F238E27FC236}">
                        <a16:creationId xmlns:a16="http://schemas.microsoft.com/office/drawing/2014/main" id="{6AC1FCD1-7AFC-15DD-627C-75912EEC164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74" name="Group 473">
                    <a:extLst>
                      <a:ext uri="{FF2B5EF4-FFF2-40B4-BE49-F238E27FC236}">
                        <a16:creationId xmlns:a16="http://schemas.microsoft.com/office/drawing/2014/main" id="{0B8BB872-E45F-B1AF-13D1-8504E87AD36D}"/>
                      </a:ext>
                    </a:extLst>
                  </p:cNvPr>
                  <p:cNvGrpSpPr/>
                  <p:nvPr/>
                </p:nvGrpSpPr>
                <p:grpSpPr>
                  <a:xfrm>
                    <a:off x="7713663" y="2848339"/>
                    <a:ext cx="1042107" cy="425543"/>
                    <a:chOff x="7786941" y="2884917"/>
                    <a:chExt cx="897649" cy="353919"/>
                  </a:xfrm>
                </p:grpSpPr>
                <p:sp>
                  <p:nvSpPr>
                    <p:cNvPr id="475" name="Freeform 474">
                      <a:extLst>
                        <a:ext uri="{FF2B5EF4-FFF2-40B4-BE49-F238E27FC236}">
                          <a16:creationId xmlns:a16="http://schemas.microsoft.com/office/drawing/2014/main" id="{19297B0C-D135-4713-E366-D16FE01662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Freeform 475">
                      <a:extLst>
                        <a:ext uri="{FF2B5EF4-FFF2-40B4-BE49-F238E27FC236}">
                          <a16:creationId xmlns:a16="http://schemas.microsoft.com/office/drawing/2014/main" id="{BFC1C687-B50B-5C47-B4F6-9FB27B3B5B7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Freeform 476">
                      <a:extLst>
                        <a:ext uri="{FF2B5EF4-FFF2-40B4-BE49-F238E27FC236}">
                          <a16:creationId xmlns:a16="http://schemas.microsoft.com/office/drawing/2014/main" id="{12C12ABF-9EBE-274E-2495-022D16D466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Freeform 477">
                      <a:extLst>
                        <a:ext uri="{FF2B5EF4-FFF2-40B4-BE49-F238E27FC236}">
                          <a16:creationId xmlns:a16="http://schemas.microsoft.com/office/drawing/2014/main" id="{C93B370B-86B3-8B5F-FA7A-3D6C543467D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0" name="Group 519">
                  <a:extLst>
                    <a:ext uri="{FF2B5EF4-FFF2-40B4-BE49-F238E27FC236}">
                      <a16:creationId xmlns:a16="http://schemas.microsoft.com/office/drawing/2014/main" id="{64A0B060-D8F4-AE66-0753-F1DF449C052C}"/>
                    </a:ext>
                  </a:extLst>
                </p:cNvPr>
                <p:cNvGrpSpPr/>
                <p:nvPr/>
              </p:nvGrpSpPr>
              <p:grpSpPr>
                <a:xfrm>
                  <a:off x="9849365" y="5339037"/>
                  <a:ext cx="309740" cy="190838"/>
                  <a:chOff x="3668110" y="2448910"/>
                  <a:chExt cx="3794234" cy="2165130"/>
                </a:xfrm>
              </p:grpSpPr>
              <p:sp>
                <p:nvSpPr>
                  <p:cNvPr id="521" name="Rectangle 520">
                    <a:extLst>
                      <a:ext uri="{FF2B5EF4-FFF2-40B4-BE49-F238E27FC236}">
                        <a16:creationId xmlns:a16="http://schemas.microsoft.com/office/drawing/2014/main" id="{FA95A13E-A933-6F2D-92FC-D9EBA3EEC95E}"/>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Freeform 521">
                    <a:extLst>
                      <a:ext uri="{FF2B5EF4-FFF2-40B4-BE49-F238E27FC236}">
                        <a16:creationId xmlns:a16="http://schemas.microsoft.com/office/drawing/2014/main" id="{DC1D5395-F74E-DD26-6EF5-AB1D671A155B}"/>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3" name="Group 522">
                    <a:extLst>
                      <a:ext uri="{FF2B5EF4-FFF2-40B4-BE49-F238E27FC236}">
                        <a16:creationId xmlns:a16="http://schemas.microsoft.com/office/drawing/2014/main" id="{E37F0B9F-869D-D15E-BAC4-25A9B9F54889}"/>
                      </a:ext>
                    </a:extLst>
                  </p:cNvPr>
                  <p:cNvGrpSpPr/>
                  <p:nvPr/>
                </p:nvGrpSpPr>
                <p:grpSpPr>
                  <a:xfrm>
                    <a:off x="3941378" y="2603243"/>
                    <a:ext cx="3202061" cy="1066110"/>
                    <a:chOff x="7939341" y="3037317"/>
                    <a:chExt cx="897649" cy="353919"/>
                  </a:xfrm>
                </p:grpSpPr>
                <p:sp>
                  <p:nvSpPr>
                    <p:cNvPr id="524" name="Freeform 523">
                      <a:extLst>
                        <a:ext uri="{FF2B5EF4-FFF2-40B4-BE49-F238E27FC236}">
                          <a16:creationId xmlns:a16="http://schemas.microsoft.com/office/drawing/2014/main" id="{7C13C76B-7608-D5EA-BDFE-46AC09570636}"/>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Freeform 524">
                      <a:extLst>
                        <a:ext uri="{FF2B5EF4-FFF2-40B4-BE49-F238E27FC236}">
                          <a16:creationId xmlns:a16="http://schemas.microsoft.com/office/drawing/2014/main" id="{FEC4AB67-6254-3AA8-E741-8C8DBBA2E865}"/>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Freeform 525">
                      <a:extLst>
                        <a:ext uri="{FF2B5EF4-FFF2-40B4-BE49-F238E27FC236}">
                          <a16:creationId xmlns:a16="http://schemas.microsoft.com/office/drawing/2014/main" id="{06A4D3DD-B222-7B05-B601-4D5D4992048B}"/>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Freeform 526">
                      <a:extLst>
                        <a:ext uri="{FF2B5EF4-FFF2-40B4-BE49-F238E27FC236}">
                          <a16:creationId xmlns:a16="http://schemas.microsoft.com/office/drawing/2014/main" id="{DC9A6478-F231-572E-D468-048C8C3D85A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79" name="Group 478">
                  <a:extLst>
                    <a:ext uri="{FF2B5EF4-FFF2-40B4-BE49-F238E27FC236}">
                      <a16:creationId xmlns:a16="http://schemas.microsoft.com/office/drawing/2014/main" id="{2BD787F8-998B-F8CD-D1F3-A10EA49C7749}"/>
                    </a:ext>
                  </a:extLst>
                </p:cNvPr>
                <p:cNvGrpSpPr/>
                <p:nvPr/>
              </p:nvGrpSpPr>
              <p:grpSpPr>
                <a:xfrm>
                  <a:off x="8676619" y="4967420"/>
                  <a:ext cx="393760" cy="218578"/>
                  <a:chOff x="7493876" y="2774731"/>
                  <a:chExt cx="1481958" cy="894622"/>
                </a:xfrm>
              </p:grpSpPr>
              <p:sp>
                <p:nvSpPr>
                  <p:cNvPr id="480" name="Freeform 479">
                    <a:extLst>
                      <a:ext uri="{FF2B5EF4-FFF2-40B4-BE49-F238E27FC236}">
                        <a16:creationId xmlns:a16="http://schemas.microsoft.com/office/drawing/2014/main" id="{A99EC449-845C-FE7F-F4D0-847CAA4DFE8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1" name="Oval 480">
                    <a:extLst>
                      <a:ext uri="{FF2B5EF4-FFF2-40B4-BE49-F238E27FC236}">
                        <a16:creationId xmlns:a16="http://schemas.microsoft.com/office/drawing/2014/main" id="{F50440D7-A391-D249-4041-46C4888C7AD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82" name="Group 481">
                    <a:extLst>
                      <a:ext uri="{FF2B5EF4-FFF2-40B4-BE49-F238E27FC236}">
                        <a16:creationId xmlns:a16="http://schemas.microsoft.com/office/drawing/2014/main" id="{BA06ECA4-0856-33D8-2282-B68B621C3EB3}"/>
                      </a:ext>
                    </a:extLst>
                  </p:cNvPr>
                  <p:cNvGrpSpPr/>
                  <p:nvPr/>
                </p:nvGrpSpPr>
                <p:grpSpPr>
                  <a:xfrm>
                    <a:off x="7713663" y="2848339"/>
                    <a:ext cx="1042107" cy="425543"/>
                    <a:chOff x="7786941" y="2884917"/>
                    <a:chExt cx="897649" cy="353919"/>
                  </a:xfrm>
                </p:grpSpPr>
                <p:sp>
                  <p:nvSpPr>
                    <p:cNvPr id="483" name="Freeform 482">
                      <a:extLst>
                        <a:ext uri="{FF2B5EF4-FFF2-40B4-BE49-F238E27FC236}">
                          <a16:creationId xmlns:a16="http://schemas.microsoft.com/office/drawing/2014/main" id="{7169EF63-1579-EADA-F957-44AD622F25B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Freeform 483">
                      <a:extLst>
                        <a:ext uri="{FF2B5EF4-FFF2-40B4-BE49-F238E27FC236}">
                          <a16:creationId xmlns:a16="http://schemas.microsoft.com/office/drawing/2014/main" id="{1C4CA623-7845-C1CA-F1D0-2B7593CA8DB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Freeform 484">
                      <a:extLst>
                        <a:ext uri="{FF2B5EF4-FFF2-40B4-BE49-F238E27FC236}">
                          <a16:creationId xmlns:a16="http://schemas.microsoft.com/office/drawing/2014/main" id="{DBBD3370-D023-CF82-6FA8-0F59D07C489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Freeform 485">
                      <a:extLst>
                        <a:ext uri="{FF2B5EF4-FFF2-40B4-BE49-F238E27FC236}">
                          <a16:creationId xmlns:a16="http://schemas.microsoft.com/office/drawing/2014/main" id="{EF082F9A-D0E3-4076-0D25-C8902F3A378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9" name="Group 528">
                  <a:extLst>
                    <a:ext uri="{FF2B5EF4-FFF2-40B4-BE49-F238E27FC236}">
                      <a16:creationId xmlns:a16="http://schemas.microsoft.com/office/drawing/2014/main" id="{735AA0CB-B7A7-7921-5545-371B0DE858B2}"/>
                    </a:ext>
                  </a:extLst>
                </p:cNvPr>
                <p:cNvGrpSpPr/>
                <p:nvPr/>
              </p:nvGrpSpPr>
              <p:grpSpPr>
                <a:xfrm>
                  <a:off x="8311520" y="5194433"/>
                  <a:ext cx="309740" cy="190838"/>
                  <a:chOff x="3668110" y="2448910"/>
                  <a:chExt cx="3794234" cy="2165130"/>
                </a:xfrm>
              </p:grpSpPr>
              <p:sp>
                <p:nvSpPr>
                  <p:cNvPr id="530" name="Rectangle 529">
                    <a:extLst>
                      <a:ext uri="{FF2B5EF4-FFF2-40B4-BE49-F238E27FC236}">
                        <a16:creationId xmlns:a16="http://schemas.microsoft.com/office/drawing/2014/main" id="{67CE3B7E-4F60-80C7-AB3D-C9BC75EA04F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Freeform 530">
                    <a:extLst>
                      <a:ext uri="{FF2B5EF4-FFF2-40B4-BE49-F238E27FC236}">
                        <a16:creationId xmlns:a16="http://schemas.microsoft.com/office/drawing/2014/main" id="{D685A1AC-5EB8-59B1-B9C1-10F5B41DAD1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2" name="Group 531">
                    <a:extLst>
                      <a:ext uri="{FF2B5EF4-FFF2-40B4-BE49-F238E27FC236}">
                        <a16:creationId xmlns:a16="http://schemas.microsoft.com/office/drawing/2014/main" id="{5B2F4069-1F25-AA86-F431-CECABC2DE38A}"/>
                      </a:ext>
                    </a:extLst>
                  </p:cNvPr>
                  <p:cNvGrpSpPr/>
                  <p:nvPr/>
                </p:nvGrpSpPr>
                <p:grpSpPr>
                  <a:xfrm>
                    <a:off x="3941378" y="2603243"/>
                    <a:ext cx="3202061" cy="1066110"/>
                    <a:chOff x="7939341" y="3037317"/>
                    <a:chExt cx="897649" cy="353919"/>
                  </a:xfrm>
                </p:grpSpPr>
                <p:sp>
                  <p:nvSpPr>
                    <p:cNvPr id="533" name="Freeform 532">
                      <a:extLst>
                        <a:ext uri="{FF2B5EF4-FFF2-40B4-BE49-F238E27FC236}">
                          <a16:creationId xmlns:a16="http://schemas.microsoft.com/office/drawing/2014/main" id="{CADD11FB-8BFA-A5A4-78EE-613C89898DC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Freeform 533">
                      <a:extLst>
                        <a:ext uri="{FF2B5EF4-FFF2-40B4-BE49-F238E27FC236}">
                          <a16:creationId xmlns:a16="http://schemas.microsoft.com/office/drawing/2014/main" id="{2E1B8532-3111-9D42-0DCB-3353C44D36B8}"/>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Freeform 534">
                      <a:extLst>
                        <a:ext uri="{FF2B5EF4-FFF2-40B4-BE49-F238E27FC236}">
                          <a16:creationId xmlns:a16="http://schemas.microsoft.com/office/drawing/2014/main" id="{2762774C-9CFD-0A51-75FF-B34B7B96A94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Freeform 535">
                      <a:extLst>
                        <a:ext uri="{FF2B5EF4-FFF2-40B4-BE49-F238E27FC236}">
                          <a16:creationId xmlns:a16="http://schemas.microsoft.com/office/drawing/2014/main" id="{1493DFFA-9E8B-3BDD-80B4-E59FEACA6CE8}"/>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63" name="Group 462">
                  <a:extLst>
                    <a:ext uri="{FF2B5EF4-FFF2-40B4-BE49-F238E27FC236}">
                      <a16:creationId xmlns:a16="http://schemas.microsoft.com/office/drawing/2014/main" id="{6B8EF03C-EEAB-B85F-D1DC-76A961B33EF3}"/>
                    </a:ext>
                  </a:extLst>
                </p:cNvPr>
                <p:cNvGrpSpPr/>
                <p:nvPr/>
              </p:nvGrpSpPr>
              <p:grpSpPr>
                <a:xfrm>
                  <a:off x="9247893" y="4775686"/>
                  <a:ext cx="393760" cy="218578"/>
                  <a:chOff x="7493876" y="2774731"/>
                  <a:chExt cx="1481958" cy="894622"/>
                </a:xfrm>
              </p:grpSpPr>
              <p:sp>
                <p:nvSpPr>
                  <p:cNvPr id="464" name="Freeform 463">
                    <a:extLst>
                      <a:ext uri="{FF2B5EF4-FFF2-40B4-BE49-F238E27FC236}">
                        <a16:creationId xmlns:a16="http://schemas.microsoft.com/office/drawing/2014/main" id="{662DC805-3F9B-E4FB-349F-24CACD524DD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5" name="Oval 464">
                    <a:extLst>
                      <a:ext uri="{FF2B5EF4-FFF2-40B4-BE49-F238E27FC236}">
                        <a16:creationId xmlns:a16="http://schemas.microsoft.com/office/drawing/2014/main" id="{E4204653-2B65-9EFD-EA2F-B7C2D7BF8A8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66" name="Group 465">
                    <a:extLst>
                      <a:ext uri="{FF2B5EF4-FFF2-40B4-BE49-F238E27FC236}">
                        <a16:creationId xmlns:a16="http://schemas.microsoft.com/office/drawing/2014/main" id="{EAF51107-FA92-69F3-9C1D-2C056BD90703}"/>
                      </a:ext>
                    </a:extLst>
                  </p:cNvPr>
                  <p:cNvGrpSpPr/>
                  <p:nvPr/>
                </p:nvGrpSpPr>
                <p:grpSpPr>
                  <a:xfrm>
                    <a:off x="7713663" y="2848339"/>
                    <a:ext cx="1042107" cy="425543"/>
                    <a:chOff x="7786941" y="2884917"/>
                    <a:chExt cx="897649" cy="353919"/>
                  </a:xfrm>
                </p:grpSpPr>
                <p:sp>
                  <p:nvSpPr>
                    <p:cNvPr id="467" name="Freeform 466">
                      <a:extLst>
                        <a:ext uri="{FF2B5EF4-FFF2-40B4-BE49-F238E27FC236}">
                          <a16:creationId xmlns:a16="http://schemas.microsoft.com/office/drawing/2014/main" id="{E0B85F4D-36E6-FF85-4B96-293A10CB108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Freeform 467">
                      <a:extLst>
                        <a:ext uri="{FF2B5EF4-FFF2-40B4-BE49-F238E27FC236}">
                          <a16:creationId xmlns:a16="http://schemas.microsoft.com/office/drawing/2014/main" id="{6FE71508-DC80-A5BA-EDBD-684B2DC4D12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Freeform 468">
                      <a:extLst>
                        <a:ext uri="{FF2B5EF4-FFF2-40B4-BE49-F238E27FC236}">
                          <a16:creationId xmlns:a16="http://schemas.microsoft.com/office/drawing/2014/main" id="{2DAE31E9-3496-9525-D2F6-CF66BC1D6A5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Freeform 469">
                      <a:extLst>
                        <a:ext uri="{FF2B5EF4-FFF2-40B4-BE49-F238E27FC236}">
                          <a16:creationId xmlns:a16="http://schemas.microsoft.com/office/drawing/2014/main" id="{38767ED6-1683-D38B-08D3-27F580B93BB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46" name="Picture 1065" descr="antenna_stylized">
                  <a:extLst>
                    <a:ext uri="{FF2B5EF4-FFF2-40B4-BE49-F238E27FC236}">
                      <a16:creationId xmlns:a16="http://schemas.microsoft.com/office/drawing/2014/main" id="{AA732C52-ADC4-D567-0B07-5B441FF0E02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201681" y="5852809"/>
                  <a:ext cx="307702" cy="1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7" name="Picture 1065" descr="antenna_stylized">
                  <a:extLst>
                    <a:ext uri="{FF2B5EF4-FFF2-40B4-BE49-F238E27FC236}">
                      <a16:creationId xmlns:a16="http://schemas.microsoft.com/office/drawing/2014/main" id="{728EB96D-BA82-436B-CCBF-844AF5081B1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534746" y="5795138"/>
                  <a:ext cx="316707" cy="13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7" name="Group 16">
              <a:extLst>
                <a:ext uri="{FF2B5EF4-FFF2-40B4-BE49-F238E27FC236}">
                  <a16:creationId xmlns:a16="http://schemas.microsoft.com/office/drawing/2014/main" id="{B14414F1-5FE6-ABE1-4450-A6CA802E000A}"/>
                </a:ext>
              </a:extLst>
            </p:cNvPr>
            <p:cNvGrpSpPr/>
            <p:nvPr/>
          </p:nvGrpSpPr>
          <p:grpSpPr>
            <a:xfrm>
              <a:off x="10925982" y="4188911"/>
              <a:ext cx="657413" cy="451816"/>
              <a:chOff x="10925982" y="4188911"/>
              <a:chExt cx="657413" cy="451816"/>
            </a:xfrm>
          </p:grpSpPr>
          <p:grpSp>
            <p:nvGrpSpPr>
              <p:cNvPr id="375" name="Group 374">
                <a:extLst>
                  <a:ext uri="{FF2B5EF4-FFF2-40B4-BE49-F238E27FC236}">
                    <a16:creationId xmlns:a16="http://schemas.microsoft.com/office/drawing/2014/main" id="{08C34150-4D0C-E8BA-48A6-EB81D82C648B}"/>
                  </a:ext>
                </a:extLst>
              </p:cNvPr>
              <p:cNvGrpSpPr/>
              <p:nvPr/>
            </p:nvGrpSpPr>
            <p:grpSpPr>
              <a:xfrm>
                <a:off x="11093556" y="4188911"/>
                <a:ext cx="489839" cy="451816"/>
                <a:chOff x="5103720" y="2693365"/>
                <a:chExt cx="611650" cy="414788"/>
              </a:xfrm>
            </p:grpSpPr>
            <p:cxnSp>
              <p:nvCxnSpPr>
                <p:cNvPr id="376" name="Straight Connector 375">
                  <a:extLst>
                    <a:ext uri="{FF2B5EF4-FFF2-40B4-BE49-F238E27FC236}">
                      <a16:creationId xmlns:a16="http://schemas.microsoft.com/office/drawing/2014/main" id="{63EDED01-CB6C-C4A9-A121-9B19EC0DC791}"/>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78" name="Group 377">
                  <a:extLst>
                    <a:ext uri="{FF2B5EF4-FFF2-40B4-BE49-F238E27FC236}">
                      <a16:creationId xmlns:a16="http://schemas.microsoft.com/office/drawing/2014/main" id="{3074A35A-E864-3C9D-B045-2A206CB0A057}"/>
                    </a:ext>
                  </a:extLst>
                </p:cNvPr>
                <p:cNvGrpSpPr/>
                <p:nvPr/>
              </p:nvGrpSpPr>
              <p:grpSpPr>
                <a:xfrm>
                  <a:off x="5275406" y="2693365"/>
                  <a:ext cx="439964" cy="414788"/>
                  <a:chOff x="5275406" y="2711455"/>
                  <a:chExt cx="452949" cy="405518"/>
                </a:xfrm>
              </p:grpSpPr>
              <p:pic>
                <p:nvPicPr>
                  <p:cNvPr id="379" name="Picture 378" descr="server_rack.png">
                    <a:extLst>
                      <a:ext uri="{FF2B5EF4-FFF2-40B4-BE49-F238E27FC236}">
                        <a16:creationId xmlns:a16="http://schemas.microsoft.com/office/drawing/2014/main" id="{D16C0838-5442-4D63-A54E-2B268EFAAF92}"/>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80" name="Picture 379" descr="server_rack.png">
                    <a:extLst>
                      <a:ext uri="{FF2B5EF4-FFF2-40B4-BE49-F238E27FC236}">
                        <a16:creationId xmlns:a16="http://schemas.microsoft.com/office/drawing/2014/main" id="{AD3CD7F8-2344-C922-8873-C6B956EA3F99}"/>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81" name="Picture 380" descr="server_rack.png">
                    <a:extLst>
                      <a:ext uri="{FF2B5EF4-FFF2-40B4-BE49-F238E27FC236}">
                        <a16:creationId xmlns:a16="http://schemas.microsoft.com/office/drawing/2014/main" id="{39001F41-6AEC-3BBD-E02A-29F91FF291E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447" name="Group 446">
                <a:extLst>
                  <a:ext uri="{FF2B5EF4-FFF2-40B4-BE49-F238E27FC236}">
                    <a16:creationId xmlns:a16="http://schemas.microsoft.com/office/drawing/2014/main" id="{9EEB613C-97E4-FCDE-30D4-022120EB4E75}"/>
                  </a:ext>
                </a:extLst>
              </p:cNvPr>
              <p:cNvGrpSpPr/>
              <p:nvPr/>
            </p:nvGrpSpPr>
            <p:grpSpPr>
              <a:xfrm>
                <a:off x="10925982" y="4369125"/>
                <a:ext cx="228295" cy="120400"/>
                <a:chOff x="7493876" y="2774731"/>
                <a:chExt cx="1481958" cy="894622"/>
              </a:xfrm>
            </p:grpSpPr>
            <p:sp>
              <p:nvSpPr>
                <p:cNvPr id="448" name="Freeform 447">
                  <a:extLst>
                    <a:ext uri="{FF2B5EF4-FFF2-40B4-BE49-F238E27FC236}">
                      <a16:creationId xmlns:a16="http://schemas.microsoft.com/office/drawing/2014/main" id="{5117FFEE-46D2-D8DA-4A3B-9F043CED382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49" name="Oval 448">
                  <a:extLst>
                    <a:ext uri="{FF2B5EF4-FFF2-40B4-BE49-F238E27FC236}">
                      <a16:creationId xmlns:a16="http://schemas.microsoft.com/office/drawing/2014/main" id="{781786DB-3410-2F16-51F8-0CA00838A07A}"/>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450" name="Group 449">
                  <a:extLst>
                    <a:ext uri="{FF2B5EF4-FFF2-40B4-BE49-F238E27FC236}">
                      <a16:creationId xmlns:a16="http://schemas.microsoft.com/office/drawing/2014/main" id="{379151EE-BB97-BC18-7B53-A2602ECB0BC7}"/>
                    </a:ext>
                  </a:extLst>
                </p:cNvPr>
                <p:cNvGrpSpPr/>
                <p:nvPr/>
              </p:nvGrpSpPr>
              <p:grpSpPr>
                <a:xfrm>
                  <a:off x="7713663" y="2848339"/>
                  <a:ext cx="1042107" cy="425543"/>
                  <a:chOff x="7786941" y="2884917"/>
                  <a:chExt cx="897649" cy="353919"/>
                </a:xfrm>
              </p:grpSpPr>
              <p:sp>
                <p:nvSpPr>
                  <p:cNvPr id="451" name="Freeform 450">
                    <a:extLst>
                      <a:ext uri="{FF2B5EF4-FFF2-40B4-BE49-F238E27FC236}">
                        <a16:creationId xmlns:a16="http://schemas.microsoft.com/office/drawing/2014/main" id="{89815513-C06A-0506-4284-7F35D9CC9D6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reeform 451">
                    <a:extLst>
                      <a:ext uri="{FF2B5EF4-FFF2-40B4-BE49-F238E27FC236}">
                        <a16:creationId xmlns:a16="http://schemas.microsoft.com/office/drawing/2014/main" id="{DCDC4544-649D-4DD2-5476-A5A83F1B5A3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Freeform 452">
                    <a:extLst>
                      <a:ext uri="{FF2B5EF4-FFF2-40B4-BE49-F238E27FC236}">
                        <a16:creationId xmlns:a16="http://schemas.microsoft.com/office/drawing/2014/main" id="{AA56775A-7D13-B9C2-3392-68F4D06E14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Freeform 453">
                    <a:extLst>
                      <a:ext uri="{FF2B5EF4-FFF2-40B4-BE49-F238E27FC236}">
                        <a16:creationId xmlns:a16="http://schemas.microsoft.com/office/drawing/2014/main" id="{E22185D4-1A79-C8B3-3A34-82E1C2FDCBD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7" name="Group 6">
            <a:extLst>
              <a:ext uri="{FF2B5EF4-FFF2-40B4-BE49-F238E27FC236}">
                <a16:creationId xmlns:a16="http://schemas.microsoft.com/office/drawing/2014/main" id="{379BE0C6-0BD1-DA94-5194-A114797924B9}"/>
              </a:ext>
            </a:extLst>
          </p:cNvPr>
          <p:cNvGrpSpPr/>
          <p:nvPr/>
        </p:nvGrpSpPr>
        <p:grpSpPr>
          <a:xfrm>
            <a:off x="8694912" y="1702617"/>
            <a:ext cx="2658888" cy="2831440"/>
            <a:chOff x="17449127" y="2067553"/>
            <a:chExt cx="2658888" cy="2831440"/>
          </a:xfrm>
        </p:grpSpPr>
        <p:sp>
          <p:nvSpPr>
            <p:cNvPr id="640" name="Oval 639">
              <a:extLst>
                <a:ext uri="{FF2B5EF4-FFF2-40B4-BE49-F238E27FC236}">
                  <a16:creationId xmlns:a16="http://schemas.microsoft.com/office/drawing/2014/main" id="{BF644215-A169-6BA7-1633-F504E12F4541}"/>
                </a:ext>
              </a:extLst>
            </p:cNvPr>
            <p:cNvSpPr/>
            <p:nvPr/>
          </p:nvSpPr>
          <p:spPr>
            <a:xfrm>
              <a:off x="18054808" y="2067553"/>
              <a:ext cx="2053207" cy="1399514"/>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7CDF5D62-EED4-9D27-0D82-0FE4ACB33CA1}"/>
                </a:ext>
              </a:extLst>
            </p:cNvPr>
            <p:cNvSpPr/>
            <p:nvPr/>
          </p:nvSpPr>
          <p:spPr>
            <a:xfrm>
              <a:off x="17449127" y="3391110"/>
              <a:ext cx="2173774" cy="150788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reeform 4">
            <a:extLst>
              <a:ext uri="{FF2B5EF4-FFF2-40B4-BE49-F238E27FC236}">
                <a16:creationId xmlns:a16="http://schemas.microsoft.com/office/drawing/2014/main" id="{28011F97-7098-7881-F587-863832100EBC}"/>
              </a:ext>
            </a:extLst>
          </p:cNvPr>
          <p:cNvSpPr/>
          <p:nvPr/>
        </p:nvSpPr>
        <p:spPr>
          <a:xfrm>
            <a:off x="7157545" y="1523999"/>
            <a:ext cx="4550979" cy="4897821"/>
          </a:xfrm>
          <a:custGeom>
            <a:avLst/>
            <a:gdLst>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713187 w 4656083"/>
              <a:gd name="connsiteY6" fmla="*/ 3100551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079531 w 4656083"/>
              <a:gd name="connsiteY7" fmla="*/ 3037489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132083 w 4656083"/>
              <a:gd name="connsiteY7" fmla="*/ 3090041 h 4939862"/>
              <a:gd name="connsiteX8" fmla="*/ 3552497 w 4656083"/>
              <a:gd name="connsiteY8" fmla="*/ 2858813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132083 w 4656083"/>
              <a:gd name="connsiteY7" fmla="*/ 3090041 h 4939862"/>
              <a:gd name="connsiteX8" fmla="*/ 3605049 w 4656083"/>
              <a:gd name="connsiteY8" fmla="*/ 2869324 h 4939862"/>
              <a:gd name="connsiteX9" fmla="*/ 3762704 w 4656083"/>
              <a:gd name="connsiteY9" fmla="*/ 258554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660635 w 4656083"/>
              <a:gd name="connsiteY6" fmla="*/ 245942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60635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375338 w 4656083"/>
              <a:gd name="connsiteY4" fmla="*/ 1418896 h 4939862"/>
              <a:gd name="connsiteX5" fmla="*/ 1692166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438400 w 4656083"/>
              <a:gd name="connsiteY4" fmla="*/ 1471447 h 4939862"/>
              <a:gd name="connsiteX5" fmla="*/ 1692166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0 w 4656083"/>
              <a:gd name="connsiteY0" fmla="*/ 0 h 4939862"/>
              <a:gd name="connsiteX1" fmla="*/ 0 w 4656083"/>
              <a:gd name="connsiteY1" fmla="*/ 0 h 4939862"/>
              <a:gd name="connsiteX2" fmla="*/ 94593 w 4656083"/>
              <a:gd name="connsiteY2" fmla="*/ 10510 h 4939862"/>
              <a:gd name="connsiteX3" fmla="*/ 2375338 w 4656083"/>
              <a:gd name="connsiteY3" fmla="*/ 42041 h 4939862"/>
              <a:gd name="connsiteX4" fmla="*/ 2438400 w 4656083"/>
              <a:gd name="connsiteY4" fmla="*/ 1471447 h 4939862"/>
              <a:gd name="connsiteX5" fmla="*/ 1692166 w 4656083"/>
              <a:gd name="connsiteY5" fmla="*/ 1923393 h 4939862"/>
              <a:gd name="connsiteX6" fmla="*/ 1555531 w 4656083"/>
              <a:gd name="connsiteY6" fmla="*/ 2469930 h 4939862"/>
              <a:gd name="connsiteX7" fmla="*/ 3132083 w 4656083"/>
              <a:gd name="connsiteY7" fmla="*/ 3090041 h 4939862"/>
              <a:gd name="connsiteX8" fmla="*/ 3605049 w 4656083"/>
              <a:gd name="connsiteY8" fmla="*/ 2869324 h 4939862"/>
              <a:gd name="connsiteX9" fmla="*/ 3804745 w 4656083"/>
              <a:gd name="connsiteY9" fmla="*/ 2596054 h 4939862"/>
              <a:gd name="connsiteX10" fmla="*/ 3825766 w 4656083"/>
              <a:gd name="connsiteY10" fmla="*/ 2259724 h 4939862"/>
              <a:gd name="connsiteX11" fmla="*/ 3783725 w 4656083"/>
              <a:gd name="connsiteY11" fmla="*/ 2060027 h 4939862"/>
              <a:gd name="connsiteX12" fmla="*/ 3689131 w 4656083"/>
              <a:gd name="connsiteY12" fmla="*/ 1881351 h 4939862"/>
              <a:gd name="connsiteX13" fmla="*/ 3447393 w 4656083"/>
              <a:gd name="connsiteY13" fmla="*/ 1723696 h 4939862"/>
              <a:gd name="connsiteX14" fmla="*/ 4498428 w 4656083"/>
              <a:gd name="connsiteY14" fmla="*/ 1587062 h 4939862"/>
              <a:gd name="connsiteX15" fmla="*/ 4656083 w 4656083"/>
              <a:gd name="connsiteY15" fmla="*/ 2921875 h 4939862"/>
              <a:gd name="connsiteX16" fmla="*/ 4508938 w 4656083"/>
              <a:gd name="connsiteY16" fmla="*/ 4561489 h 4939862"/>
              <a:gd name="connsiteX17" fmla="*/ 3499945 w 4656083"/>
              <a:gd name="connsiteY17" fmla="*/ 4939862 h 4939862"/>
              <a:gd name="connsiteX18" fmla="*/ 105104 w 4656083"/>
              <a:gd name="connsiteY18" fmla="*/ 4897820 h 4939862"/>
              <a:gd name="connsiteX19" fmla="*/ 0 w 4656083"/>
              <a:gd name="connsiteY19" fmla="*/ 0 h 4939862"/>
              <a:gd name="connsiteX0" fmla="*/ 126410 w 4656369"/>
              <a:gd name="connsiteY0" fmla="*/ 234571 h 4953715"/>
              <a:gd name="connsiteX1" fmla="*/ 286 w 4656369"/>
              <a:gd name="connsiteY1" fmla="*/ 13853 h 4953715"/>
              <a:gd name="connsiteX2" fmla="*/ 94879 w 4656369"/>
              <a:gd name="connsiteY2" fmla="*/ 24363 h 4953715"/>
              <a:gd name="connsiteX3" fmla="*/ 2375624 w 4656369"/>
              <a:gd name="connsiteY3" fmla="*/ 55894 h 4953715"/>
              <a:gd name="connsiteX4" fmla="*/ 2438686 w 4656369"/>
              <a:gd name="connsiteY4" fmla="*/ 1485300 h 4953715"/>
              <a:gd name="connsiteX5" fmla="*/ 1692452 w 4656369"/>
              <a:gd name="connsiteY5" fmla="*/ 1937246 h 4953715"/>
              <a:gd name="connsiteX6" fmla="*/ 1555817 w 4656369"/>
              <a:gd name="connsiteY6" fmla="*/ 2483783 h 4953715"/>
              <a:gd name="connsiteX7" fmla="*/ 3132369 w 4656369"/>
              <a:gd name="connsiteY7" fmla="*/ 3103894 h 4953715"/>
              <a:gd name="connsiteX8" fmla="*/ 3605335 w 4656369"/>
              <a:gd name="connsiteY8" fmla="*/ 2883177 h 4953715"/>
              <a:gd name="connsiteX9" fmla="*/ 3805031 w 4656369"/>
              <a:gd name="connsiteY9" fmla="*/ 2609907 h 4953715"/>
              <a:gd name="connsiteX10" fmla="*/ 3826052 w 4656369"/>
              <a:gd name="connsiteY10" fmla="*/ 2273577 h 4953715"/>
              <a:gd name="connsiteX11" fmla="*/ 3784011 w 4656369"/>
              <a:gd name="connsiteY11" fmla="*/ 2073880 h 4953715"/>
              <a:gd name="connsiteX12" fmla="*/ 3689417 w 4656369"/>
              <a:gd name="connsiteY12" fmla="*/ 1895204 h 4953715"/>
              <a:gd name="connsiteX13" fmla="*/ 3447679 w 4656369"/>
              <a:gd name="connsiteY13" fmla="*/ 1737549 h 4953715"/>
              <a:gd name="connsiteX14" fmla="*/ 4498714 w 4656369"/>
              <a:gd name="connsiteY14" fmla="*/ 1600915 h 4953715"/>
              <a:gd name="connsiteX15" fmla="*/ 4656369 w 4656369"/>
              <a:gd name="connsiteY15" fmla="*/ 2935728 h 4953715"/>
              <a:gd name="connsiteX16" fmla="*/ 4509224 w 4656369"/>
              <a:gd name="connsiteY16" fmla="*/ 4575342 h 4953715"/>
              <a:gd name="connsiteX17" fmla="*/ 3500231 w 4656369"/>
              <a:gd name="connsiteY17" fmla="*/ 4953715 h 4953715"/>
              <a:gd name="connsiteX18" fmla="*/ 105390 w 4656369"/>
              <a:gd name="connsiteY18" fmla="*/ 4911673 h 4953715"/>
              <a:gd name="connsiteX19" fmla="*/ 126410 w 4656369"/>
              <a:gd name="connsiteY19" fmla="*/ 234571 h 4953715"/>
              <a:gd name="connsiteX0" fmla="*/ 190699 w 4720658"/>
              <a:gd name="connsiteY0" fmla="*/ 417353 h 5136497"/>
              <a:gd name="connsiteX1" fmla="*/ 159168 w 4720658"/>
              <a:gd name="connsiteY1" fmla="*/ 207145 h 5136497"/>
              <a:gd name="connsiteX2" fmla="*/ 2439913 w 4720658"/>
              <a:gd name="connsiteY2" fmla="*/ 238676 h 5136497"/>
              <a:gd name="connsiteX3" fmla="*/ 2502975 w 4720658"/>
              <a:gd name="connsiteY3" fmla="*/ 1668082 h 5136497"/>
              <a:gd name="connsiteX4" fmla="*/ 1756741 w 4720658"/>
              <a:gd name="connsiteY4" fmla="*/ 2120028 h 5136497"/>
              <a:gd name="connsiteX5" fmla="*/ 1620106 w 4720658"/>
              <a:gd name="connsiteY5" fmla="*/ 2666565 h 5136497"/>
              <a:gd name="connsiteX6" fmla="*/ 3196658 w 4720658"/>
              <a:gd name="connsiteY6" fmla="*/ 3286676 h 5136497"/>
              <a:gd name="connsiteX7" fmla="*/ 3669624 w 4720658"/>
              <a:gd name="connsiteY7" fmla="*/ 3065959 h 5136497"/>
              <a:gd name="connsiteX8" fmla="*/ 3869320 w 4720658"/>
              <a:gd name="connsiteY8" fmla="*/ 2792689 h 5136497"/>
              <a:gd name="connsiteX9" fmla="*/ 3890341 w 4720658"/>
              <a:gd name="connsiteY9" fmla="*/ 2456359 h 5136497"/>
              <a:gd name="connsiteX10" fmla="*/ 3848300 w 4720658"/>
              <a:gd name="connsiteY10" fmla="*/ 2256662 h 5136497"/>
              <a:gd name="connsiteX11" fmla="*/ 3753706 w 4720658"/>
              <a:gd name="connsiteY11" fmla="*/ 2077986 h 5136497"/>
              <a:gd name="connsiteX12" fmla="*/ 3511968 w 4720658"/>
              <a:gd name="connsiteY12" fmla="*/ 1920331 h 5136497"/>
              <a:gd name="connsiteX13" fmla="*/ 4563003 w 4720658"/>
              <a:gd name="connsiteY13" fmla="*/ 1783697 h 5136497"/>
              <a:gd name="connsiteX14" fmla="*/ 4720658 w 4720658"/>
              <a:gd name="connsiteY14" fmla="*/ 3118510 h 5136497"/>
              <a:gd name="connsiteX15" fmla="*/ 4573513 w 4720658"/>
              <a:gd name="connsiteY15" fmla="*/ 4758124 h 5136497"/>
              <a:gd name="connsiteX16" fmla="*/ 3564520 w 4720658"/>
              <a:gd name="connsiteY16" fmla="*/ 5136497 h 5136497"/>
              <a:gd name="connsiteX17" fmla="*/ 169679 w 4720658"/>
              <a:gd name="connsiteY17" fmla="*/ 5094455 h 5136497"/>
              <a:gd name="connsiteX18" fmla="*/ 190699 w 4720658"/>
              <a:gd name="connsiteY18" fmla="*/ 417353 h 5136497"/>
              <a:gd name="connsiteX0" fmla="*/ 21020 w 4550979"/>
              <a:gd name="connsiteY0" fmla="*/ 476180 h 5195324"/>
              <a:gd name="connsiteX1" fmla="*/ 2270234 w 4550979"/>
              <a:gd name="connsiteY1" fmla="*/ 297503 h 5195324"/>
              <a:gd name="connsiteX2" fmla="*/ 2333296 w 4550979"/>
              <a:gd name="connsiteY2" fmla="*/ 1726909 h 5195324"/>
              <a:gd name="connsiteX3" fmla="*/ 1587062 w 4550979"/>
              <a:gd name="connsiteY3" fmla="*/ 2178855 h 5195324"/>
              <a:gd name="connsiteX4" fmla="*/ 1450427 w 4550979"/>
              <a:gd name="connsiteY4" fmla="*/ 2725392 h 5195324"/>
              <a:gd name="connsiteX5" fmla="*/ 3026979 w 4550979"/>
              <a:gd name="connsiteY5" fmla="*/ 3345503 h 5195324"/>
              <a:gd name="connsiteX6" fmla="*/ 3499945 w 4550979"/>
              <a:gd name="connsiteY6" fmla="*/ 3124786 h 5195324"/>
              <a:gd name="connsiteX7" fmla="*/ 3699641 w 4550979"/>
              <a:gd name="connsiteY7" fmla="*/ 2851516 h 5195324"/>
              <a:gd name="connsiteX8" fmla="*/ 3720662 w 4550979"/>
              <a:gd name="connsiteY8" fmla="*/ 2515186 h 5195324"/>
              <a:gd name="connsiteX9" fmla="*/ 3678621 w 4550979"/>
              <a:gd name="connsiteY9" fmla="*/ 2315489 h 5195324"/>
              <a:gd name="connsiteX10" fmla="*/ 3584027 w 4550979"/>
              <a:gd name="connsiteY10" fmla="*/ 2136813 h 5195324"/>
              <a:gd name="connsiteX11" fmla="*/ 3342289 w 4550979"/>
              <a:gd name="connsiteY11" fmla="*/ 1979158 h 5195324"/>
              <a:gd name="connsiteX12" fmla="*/ 4393324 w 4550979"/>
              <a:gd name="connsiteY12" fmla="*/ 1842524 h 5195324"/>
              <a:gd name="connsiteX13" fmla="*/ 4550979 w 4550979"/>
              <a:gd name="connsiteY13" fmla="*/ 3177337 h 5195324"/>
              <a:gd name="connsiteX14" fmla="*/ 4403834 w 4550979"/>
              <a:gd name="connsiteY14" fmla="*/ 4816951 h 5195324"/>
              <a:gd name="connsiteX15" fmla="*/ 3394841 w 4550979"/>
              <a:gd name="connsiteY15" fmla="*/ 5195324 h 5195324"/>
              <a:gd name="connsiteX16" fmla="*/ 0 w 4550979"/>
              <a:gd name="connsiteY16" fmla="*/ 5153282 h 5195324"/>
              <a:gd name="connsiteX17" fmla="*/ 21020 w 4550979"/>
              <a:gd name="connsiteY17" fmla="*/ 476180 h 5195324"/>
              <a:gd name="connsiteX0" fmla="*/ 21020 w 4550979"/>
              <a:gd name="connsiteY0" fmla="*/ 258442 h 4977586"/>
              <a:gd name="connsiteX1" fmla="*/ 2270234 w 4550979"/>
              <a:gd name="connsiteY1" fmla="*/ 79765 h 4977586"/>
              <a:gd name="connsiteX2" fmla="*/ 2333296 w 4550979"/>
              <a:gd name="connsiteY2" fmla="*/ 1509171 h 4977586"/>
              <a:gd name="connsiteX3" fmla="*/ 1587062 w 4550979"/>
              <a:gd name="connsiteY3" fmla="*/ 1961117 h 4977586"/>
              <a:gd name="connsiteX4" fmla="*/ 1450427 w 4550979"/>
              <a:gd name="connsiteY4" fmla="*/ 2507654 h 4977586"/>
              <a:gd name="connsiteX5" fmla="*/ 3026979 w 4550979"/>
              <a:gd name="connsiteY5" fmla="*/ 3127765 h 4977586"/>
              <a:gd name="connsiteX6" fmla="*/ 3499945 w 4550979"/>
              <a:gd name="connsiteY6" fmla="*/ 2907048 h 4977586"/>
              <a:gd name="connsiteX7" fmla="*/ 3699641 w 4550979"/>
              <a:gd name="connsiteY7" fmla="*/ 2633778 h 4977586"/>
              <a:gd name="connsiteX8" fmla="*/ 3720662 w 4550979"/>
              <a:gd name="connsiteY8" fmla="*/ 2297448 h 4977586"/>
              <a:gd name="connsiteX9" fmla="*/ 3678621 w 4550979"/>
              <a:gd name="connsiteY9" fmla="*/ 2097751 h 4977586"/>
              <a:gd name="connsiteX10" fmla="*/ 3584027 w 4550979"/>
              <a:gd name="connsiteY10" fmla="*/ 1919075 h 4977586"/>
              <a:gd name="connsiteX11" fmla="*/ 3342289 w 4550979"/>
              <a:gd name="connsiteY11" fmla="*/ 1761420 h 4977586"/>
              <a:gd name="connsiteX12" fmla="*/ 4393324 w 4550979"/>
              <a:gd name="connsiteY12" fmla="*/ 1624786 h 4977586"/>
              <a:gd name="connsiteX13" fmla="*/ 4550979 w 4550979"/>
              <a:gd name="connsiteY13" fmla="*/ 2959599 h 4977586"/>
              <a:gd name="connsiteX14" fmla="*/ 4403834 w 4550979"/>
              <a:gd name="connsiteY14" fmla="*/ 4599213 h 4977586"/>
              <a:gd name="connsiteX15" fmla="*/ 3394841 w 4550979"/>
              <a:gd name="connsiteY15" fmla="*/ 4977586 h 4977586"/>
              <a:gd name="connsiteX16" fmla="*/ 0 w 4550979"/>
              <a:gd name="connsiteY16" fmla="*/ 4935544 h 4977586"/>
              <a:gd name="connsiteX17" fmla="*/ 21020 w 4550979"/>
              <a:gd name="connsiteY17" fmla="*/ 258442 h 4977586"/>
              <a:gd name="connsiteX0" fmla="*/ 21020 w 4550979"/>
              <a:gd name="connsiteY0" fmla="*/ 178677 h 4897821"/>
              <a:gd name="connsiteX1" fmla="*/ 2270234 w 4550979"/>
              <a:gd name="connsiteY1" fmla="*/ 0 h 4897821"/>
              <a:gd name="connsiteX2" fmla="*/ 2333296 w 4550979"/>
              <a:gd name="connsiteY2" fmla="*/ 1429406 h 4897821"/>
              <a:gd name="connsiteX3" fmla="*/ 1587062 w 4550979"/>
              <a:gd name="connsiteY3" fmla="*/ 1881352 h 4897821"/>
              <a:gd name="connsiteX4" fmla="*/ 1450427 w 4550979"/>
              <a:gd name="connsiteY4" fmla="*/ 2427889 h 4897821"/>
              <a:gd name="connsiteX5" fmla="*/ 3026979 w 4550979"/>
              <a:gd name="connsiteY5" fmla="*/ 3048000 h 4897821"/>
              <a:gd name="connsiteX6" fmla="*/ 3499945 w 4550979"/>
              <a:gd name="connsiteY6" fmla="*/ 2827283 h 4897821"/>
              <a:gd name="connsiteX7" fmla="*/ 3699641 w 4550979"/>
              <a:gd name="connsiteY7" fmla="*/ 2554013 h 4897821"/>
              <a:gd name="connsiteX8" fmla="*/ 3720662 w 4550979"/>
              <a:gd name="connsiteY8" fmla="*/ 2217683 h 4897821"/>
              <a:gd name="connsiteX9" fmla="*/ 3678621 w 4550979"/>
              <a:gd name="connsiteY9" fmla="*/ 2017986 h 4897821"/>
              <a:gd name="connsiteX10" fmla="*/ 3584027 w 4550979"/>
              <a:gd name="connsiteY10" fmla="*/ 1839310 h 4897821"/>
              <a:gd name="connsiteX11" fmla="*/ 3342289 w 4550979"/>
              <a:gd name="connsiteY11" fmla="*/ 1681655 h 4897821"/>
              <a:gd name="connsiteX12" fmla="*/ 4393324 w 4550979"/>
              <a:gd name="connsiteY12" fmla="*/ 1545021 h 4897821"/>
              <a:gd name="connsiteX13" fmla="*/ 4550979 w 4550979"/>
              <a:gd name="connsiteY13" fmla="*/ 2879834 h 4897821"/>
              <a:gd name="connsiteX14" fmla="*/ 4403834 w 4550979"/>
              <a:gd name="connsiteY14" fmla="*/ 4519448 h 4897821"/>
              <a:gd name="connsiteX15" fmla="*/ 3394841 w 4550979"/>
              <a:gd name="connsiteY15" fmla="*/ 4897821 h 4897821"/>
              <a:gd name="connsiteX16" fmla="*/ 0 w 4550979"/>
              <a:gd name="connsiteY16" fmla="*/ 4855779 h 4897821"/>
              <a:gd name="connsiteX17" fmla="*/ 21020 w 4550979"/>
              <a:gd name="connsiteY17" fmla="*/ 178677 h 4897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50979" h="4897821">
                <a:moveTo>
                  <a:pt x="21020" y="178677"/>
                </a:moveTo>
                <a:cubicBezTo>
                  <a:pt x="1030013" y="42043"/>
                  <a:pt x="1453930" y="54304"/>
                  <a:pt x="2270234" y="0"/>
                </a:cubicBezTo>
                <a:cubicBezTo>
                  <a:pt x="2291255" y="476469"/>
                  <a:pt x="1902372" y="963447"/>
                  <a:pt x="2333296" y="1429406"/>
                </a:cubicBezTo>
                <a:lnTo>
                  <a:pt x="1587062" y="1881352"/>
                </a:lnTo>
                <a:lnTo>
                  <a:pt x="1450427" y="2427889"/>
                </a:lnTo>
                <a:cubicBezTo>
                  <a:pt x="1681655" y="2998951"/>
                  <a:pt x="2312276" y="3139089"/>
                  <a:pt x="3026979" y="3048000"/>
                </a:cubicBezTo>
                <a:lnTo>
                  <a:pt x="3499945" y="2827283"/>
                </a:lnTo>
                <a:lnTo>
                  <a:pt x="3699641" y="2554013"/>
                </a:lnTo>
                <a:lnTo>
                  <a:pt x="3720662" y="2217683"/>
                </a:lnTo>
                <a:lnTo>
                  <a:pt x="3678621" y="2017986"/>
                </a:lnTo>
                <a:lnTo>
                  <a:pt x="3584027" y="1839310"/>
                </a:lnTo>
                <a:lnTo>
                  <a:pt x="3342289" y="1681655"/>
                </a:lnTo>
                <a:lnTo>
                  <a:pt x="4393324" y="1545021"/>
                </a:lnTo>
                <a:lnTo>
                  <a:pt x="4550979" y="2879834"/>
                </a:lnTo>
                <a:lnTo>
                  <a:pt x="4403834" y="4519448"/>
                </a:lnTo>
                <a:lnTo>
                  <a:pt x="3394841" y="4897821"/>
                </a:lnTo>
                <a:lnTo>
                  <a:pt x="0" y="4855779"/>
                </a:lnTo>
                <a:cubicBezTo>
                  <a:pt x="7007" y="3296745"/>
                  <a:pt x="14013" y="1737711"/>
                  <a:pt x="21020" y="178677"/>
                </a:cubicBezTo>
                <a:close/>
              </a:path>
            </a:pathLst>
          </a:cu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940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5B793-3A72-0488-F2A1-9CE2BE3C6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52AE1-C55F-702C-5027-F7F11924B356}"/>
              </a:ext>
            </a:extLst>
          </p:cNvPr>
          <p:cNvSpPr>
            <a:spLocks noGrp="1"/>
          </p:cNvSpPr>
          <p:nvPr>
            <p:ph type="title"/>
          </p:nvPr>
        </p:nvSpPr>
        <p:spPr>
          <a:xfrm>
            <a:off x="825267" y="336191"/>
            <a:ext cx="10515600" cy="894622"/>
          </a:xfrm>
        </p:spPr>
        <p:txBody>
          <a:bodyPr/>
          <a:lstStyle/>
          <a:p>
            <a:r>
              <a:rPr lang="en-US" altLang="ja-JP" dirty="0"/>
              <a:t>Packet-switching: queueing delay, loss</a:t>
            </a:r>
            <a:endParaRPr lang="en-US" dirty="0"/>
          </a:p>
        </p:txBody>
      </p:sp>
      <p:sp>
        <p:nvSpPr>
          <p:cNvPr id="3" name="Content Placeholder 2">
            <a:extLst>
              <a:ext uri="{FF2B5EF4-FFF2-40B4-BE49-F238E27FC236}">
                <a16:creationId xmlns:a16="http://schemas.microsoft.com/office/drawing/2014/main" id="{3DB0EDD3-AAB7-BE22-69A3-6318A312CDFF}"/>
              </a:ext>
            </a:extLst>
          </p:cNvPr>
          <p:cNvSpPr>
            <a:spLocks noGrp="1"/>
          </p:cNvSpPr>
          <p:nvPr>
            <p:ph sz="half" idx="1"/>
          </p:nvPr>
        </p:nvSpPr>
        <p:spPr>
          <a:xfrm>
            <a:off x="1353612" y="3965256"/>
            <a:ext cx="9669287" cy="2771700"/>
          </a:xfrm>
        </p:spPr>
        <p:txBody>
          <a:bodyPr>
            <a:noAutofit/>
          </a:bodyPr>
          <a:lstStyle/>
          <a:p>
            <a:pPr marL="0" indent="0">
              <a:buNone/>
            </a:pPr>
            <a:r>
              <a:rPr lang="en-US" altLang="en-US" sz="3200" i="1" dirty="0">
                <a:solidFill>
                  <a:srgbClr val="C00000"/>
                </a:solidFill>
                <a:ea typeface="ＭＳ Ｐゴシック" panose="020B0600070205080204" pitchFamily="34" charset="-128"/>
              </a:rPr>
              <a:t>Packet queuing and loss: </a:t>
            </a:r>
            <a:r>
              <a:rPr lang="en-US" altLang="en-US" sz="3200" dirty="0">
                <a:ea typeface="ＭＳ Ｐゴシック" panose="020B0600070205080204" pitchFamily="34" charset="-128"/>
              </a:rPr>
              <a:t>i</a:t>
            </a:r>
            <a:r>
              <a:rPr lang="en-US" altLang="en-US" dirty="0">
                <a:ea typeface="ＭＳ Ｐゴシック" panose="020B0600070205080204" pitchFamily="34" charset="-128"/>
              </a:rPr>
              <a:t>f arrival rate (in bps) to link exceeds transmission rate (bps) of link for a period of time:</a:t>
            </a:r>
          </a:p>
          <a:p>
            <a:pPr marL="287338" indent="-230188"/>
            <a:r>
              <a:rPr lang="en-US" altLang="en-US" dirty="0">
                <a:ea typeface="ＭＳ Ｐゴシック" panose="020B0600070205080204" pitchFamily="34" charset="-128"/>
              </a:rPr>
              <a:t>packets will queue, waiting to be transmitted on output link </a:t>
            </a:r>
          </a:p>
          <a:p>
            <a:pPr marL="287338" indent="-230188"/>
            <a:r>
              <a:rPr lang="en-US" altLang="en-US" dirty="0">
                <a:ea typeface="ＭＳ Ｐゴシック" panose="020B0600070205080204" pitchFamily="34" charset="-128"/>
              </a:rPr>
              <a:t>packets can be dropped (lost) if memory (buffer) in router fills up</a:t>
            </a:r>
            <a:endParaRPr lang="en-US" altLang="en-US" sz="3200" dirty="0">
              <a:ea typeface="ＭＳ Ｐゴシック" panose="020B0600070205080204" pitchFamily="34" charset="-128"/>
            </a:endParaRPr>
          </a:p>
          <a:p>
            <a:pPr marL="287338" indent="-287338"/>
            <a:endParaRPr lang="en-US" altLang="en-US" dirty="0">
              <a:ea typeface="ＭＳ Ｐゴシック" panose="020B0600070205080204" pitchFamily="34" charset="-128"/>
            </a:endParaRPr>
          </a:p>
          <a:p>
            <a:pPr marL="174625" indent="0">
              <a:buSzPct val="75000"/>
              <a:buNone/>
            </a:pPr>
            <a:endParaRPr lang="en-US" altLang="en-US" dirty="0"/>
          </a:p>
          <a:p>
            <a:endParaRPr lang="en-US" dirty="0"/>
          </a:p>
        </p:txBody>
      </p:sp>
      <p:sp>
        <p:nvSpPr>
          <p:cNvPr id="6" name="Slide Number Placeholder 5">
            <a:extLst>
              <a:ext uri="{FF2B5EF4-FFF2-40B4-BE49-F238E27FC236}">
                <a16:creationId xmlns:a16="http://schemas.microsoft.com/office/drawing/2014/main" id="{A2EDA2BD-52BC-2E64-5A50-B8B40BBA3B03}"/>
              </a:ext>
            </a:extLst>
          </p:cNvPr>
          <p:cNvSpPr>
            <a:spLocks noGrp="1"/>
          </p:cNvSpPr>
          <p:nvPr>
            <p:ph type="sldNum" sz="quarter" idx="4"/>
          </p:nvPr>
        </p:nvSpPr>
        <p:spPr/>
        <p:txBody>
          <a:bodyPr/>
          <a:lstStyle/>
          <a:p>
            <a:r>
              <a:rPr lang="en-US"/>
              <a:t>Introduction: 1-</a:t>
            </a:r>
            <a:fld id="{C4204591-24BD-A542-B9D5-F8D8A88D2FEE}" type="slidenum">
              <a:rPr lang="en-US" smtClean="0"/>
              <a:pPr/>
              <a:t>6</a:t>
            </a:fld>
            <a:endParaRPr lang="en-US" dirty="0"/>
          </a:p>
        </p:txBody>
      </p:sp>
      <p:grpSp>
        <p:nvGrpSpPr>
          <p:cNvPr id="275" name="Group 105">
            <a:extLst>
              <a:ext uri="{FF2B5EF4-FFF2-40B4-BE49-F238E27FC236}">
                <a16:creationId xmlns:a16="http://schemas.microsoft.com/office/drawing/2014/main" id="{9C2BFE91-80F1-4ECD-17E9-C79D5004FA91}"/>
              </a:ext>
            </a:extLst>
          </p:cNvPr>
          <p:cNvGrpSpPr>
            <a:grpSpLocks/>
          </p:cNvGrpSpPr>
          <p:nvPr/>
        </p:nvGrpSpPr>
        <p:grpSpPr bwMode="auto">
          <a:xfrm>
            <a:off x="8836206" y="2325216"/>
            <a:ext cx="779462" cy="679450"/>
            <a:chOff x="-44" y="1473"/>
            <a:chExt cx="981" cy="1105"/>
          </a:xfrm>
        </p:grpSpPr>
        <p:pic>
          <p:nvPicPr>
            <p:cNvPr id="276" name="Picture 106" descr="desktop_computer_stylized_medium">
              <a:extLst>
                <a:ext uri="{FF2B5EF4-FFF2-40B4-BE49-F238E27FC236}">
                  <a16:creationId xmlns:a16="http://schemas.microsoft.com/office/drawing/2014/main" id="{E0387633-0557-F406-487F-7B0595EB9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 name="Freeform 107">
              <a:extLst>
                <a:ext uri="{FF2B5EF4-FFF2-40B4-BE49-F238E27FC236}">
                  <a16:creationId xmlns:a16="http://schemas.microsoft.com/office/drawing/2014/main" id="{FB6A99E6-6ABA-1421-30AC-7843DD76B6B7}"/>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sp>
        <p:nvSpPr>
          <p:cNvPr id="279" name="Line 276">
            <a:extLst>
              <a:ext uri="{FF2B5EF4-FFF2-40B4-BE49-F238E27FC236}">
                <a16:creationId xmlns:a16="http://schemas.microsoft.com/office/drawing/2014/main" id="{3730F649-2C23-374E-328D-5A9D0661014D}"/>
              </a:ext>
            </a:extLst>
          </p:cNvPr>
          <p:cNvSpPr>
            <a:spLocks noChangeShapeType="1"/>
          </p:cNvSpPr>
          <p:nvPr/>
        </p:nvSpPr>
        <p:spPr bwMode="auto">
          <a:xfrm>
            <a:off x="3422622" y="1937016"/>
            <a:ext cx="984459" cy="4310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0" name="Line 277">
            <a:extLst>
              <a:ext uri="{FF2B5EF4-FFF2-40B4-BE49-F238E27FC236}">
                <a16:creationId xmlns:a16="http://schemas.microsoft.com/office/drawing/2014/main" id="{1183B0EE-4724-5A57-20D9-2BABFA317FA9}"/>
              </a:ext>
            </a:extLst>
          </p:cNvPr>
          <p:cNvSpPr>
            <a:spLocks noChangeShapeType="1"/>
          </p:cNvSpPr>
          <p:nvPr/>
        </p:nvSpPr>
        <p:spPr bwMode="auto">
          <a:xfrm flipV="1">
            <a:off x="3807005" y="2495917"/>
            <a:ext cx="722173" cy="4769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1" name="Line 278">
            <a:extLst>
              <a:ext uri="{FF2B5EF4-FFF2-40B4-BE49-F238E27FC236}">
                <a16:creationId xmlns:a16="http://schemas.microsoft.com/office/drawing/2014/main" id="{15B3E6A2-E62A-49D2-46FE-9EE380CA406F}"/>
              </a:ext>
            </a:extLst>
          </p:cNvPr>
          <p:cNvSpPr>
            <a:spLocks noChangeShapeType="1"/>
          </p:cNvSpPr>
          <p:nvPr/>
        </p:nvSpPr>
        <p:spPr bwMode="auto">
          <a:xfrm>
            <a:off x="5504043" y="2409354"/>
            <a:ext cx="228716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2" name="Line 279">
            <a:extLst>
              <a:ext uri="{FF2B5EF4-FFF2-40B4-BE49-F238E27FC236}">
                <a16:creationId xmlns:a16="http://schemas.microsoft.com/office/drawing/2014/main" id="{3913EB3D-7893-7827-597D-62A00C31DD57}"/>
              </a:ext>
            </a:extLst>
          </p:cNvPr>
          <p:cNvSpPr>
            <a:spLocks noChangeShapeType="1"/>
          </p:cNvSpPr>
          <p:nvPr/>
        </p:nvSpPr>
        <p:spPr bwMode="auto">
          <a:xfrm flipH="1" flipV="1">
            <a:off x="8165418" y="2591916"/>
            <a:ext cx="9525" cy="3635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3" name="Line 280">
            <a:extLst>
              <a:ext uri="{FF2B5EF4-FFF2-40B4-BE49-F238E27FC236}">
                <a16:creationId xmlns:a16="http://schemas.microsoft.com/office/drawing/2014/main" id="{EE4A0901-DCAC-334F-58EC-A286AD56F283}"/>
              </a:ext>
            </a:extLst>
          </p:cNvPr>
          <p:cNvSpPr>
            <a:spLocks noChangeShapeType="1"/>
          </p:cNvSpPr>
          <p:nvPr/>
        </p:nvSpPr>
        <p:spPr bwMode="auto">
          <a:xfrm flipV="1">
            <a:off x="8684793" y="2041054"/>
            <a:ext cx="604838" cy="3079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84" name="Rectangle 287">
            <a:extLst>
              <a:ext uri="{FF2B5EF4-FFF2-40B4-BE49-F238E27FC236}">
                <a16:creationId xmlns:a16="http://schemas.microsoft.com/office/drawing/2014/main" id="{3D5135C7-7212-F952-6F5C-62E1C78F0C78}"/>
              </a:ext>
            </a:extLst>
          </p:cNvPr>
          <p:cNvSpPr>
            <a:spLocks noChangeArrowheads="1"/>
          </p:cNvSpPr>
          <p:nvPr/>
        </p:nvSpPr>
        <p:spPr bwMode="auto">
          <a:xfrm>
            <a:off x="5702481" y="219662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5" name="Rectangle 288">
            <a:extLst>
              <a:ext uri="{FF2B5EF4-FFF2-40B4-BE49-F238E27FC236}">
                <a16:creationId xmlns:a16="http://schemas.microsoft.com/office/drawing/2014/main" id="{47F15650-5A9B-67CB-5746-6081C6CB972B}"/>
              </a:ext>
            </a:extLst>
          </p:cNvPr>
          <p:cNvSpPr>
            <a:spLocks noChangeArrowheads="1"/>
          </p:cNvSpPr>
          <p:nvPr/>
        </p:nvSpPr>
        <p:spPr bwMode="auto">
          <a:xfrm>
            <a:off x="5864406" y="219662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6" name="Rectangle 289">
            <a:extLst>
              <a:ext uri="{FF2B5EF4-FFF2-40B4-BE49-F238E27FC236}">
                <a16:creationId xmlns:a16="http://schemas.microsoft.com/office/drawing/2014/main" id="{91376DA0-81FA-3E5D-8682-0FB247CCE872}"/>
              </a:ext>
            </a:extLst>
          </p:cNvPr>
          <p:cNvSpPr>
            <a:spLocks noChangeArrowheads="1"/>
          </p:cNvSpPr>
          <p:nvPr/>
        </p:nvSpPr>
        <p:spPr bwMode="auto">
          <a:xfrm>
            <a:off x="6026331" y="219662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7" name="Rectangle 290">
            <a:extLst>
              <a:ext uri="{FF2B5EF4-FFF2-40B4-BE49-F238E27FC236}">
                <a16:creationId xmlns:a16="http://schemas.microsoft.com/office/drawing/2014/main" id="{F5AC9F00-10ED-B1F6-DC3B-3CEA17007DA9}"/>
              </a:ext>
            </a:extLst>
          </p:cNvPr>
          <p:cNvSpPr>
            <a:spLocks noChangeArrowheads="1"/>
          </p:cNvSpPr>
          <p:nvPr/>
        </p:nvSpPr>
        <p:spPr bwMode="auto">
          <a:xfrm>
            <a:off x="6188256" y="219662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8" name="Rectangle 291">
            <a:extLst>
              <a:ext uri="{FF2B5EF4-FFF2-40B4-BE49-F238E27FC236}">
                <a16:creationId xmlns:a16="http://schemas.microsoft.com/office/drawing/2014/main" id="{F9FD2F21-812A-85CD-4786-BBC0DBFAE6DB}"/>
              </a:ext>
            </a:extLst>
          </p:cNvPr>
          <p:cNvSpPr>
            <a:spLocks noChangeArrowheads="1"/>
          </p:cNvSpPr>
          <p:nvPr/>
        </p:nvSpPr>
        <p:spPr bwMode="auto">
          <a:xfrm>
            <a:off x="6350181" y="219662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89" name="Rectangle 292">
            <a:extLst>
              <a:ext uri="{FF2B5EF4-FFF2-40B4-BE49-F238E27FC236}">
                <a16:creationId xmlns:a16="http://schemas.microsoft.com/office/drawing/2014/main" id="{E8A1E6E7-C86F-8C35-536A-C94FA2B939F2}"/>
              </a:ext>
            </a:extLst>
          </p:cNvPr>
          <p:cNvSpPr>
            <a:spLocks noChangeArrowheads="1"/>
          </p:cNvSpPr>
          <p:nvPr/>
        </p:nvSpPr>
        <p:spPr bwMode="auto">
          <a:xfrm>
            <a:off x="6721656" y="219662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0" name="Rectangle 293">
            <a:extLst>
              <a:ext uri="{FF2B5EF4-FFF2-40B4-BE49-F238E27FC236}">
                <a16:creationId xmlns:a16="http://schemas.microsoft.com/office/drawing/2014/main" id="{55C61F16-2FB6-EDB1-B1F1-3A611C045B34}"/>
              </a:ext>
            </a:extLst>
          </p:cNvPr>
          <p:cNvSpPr>
            <a:spLocks noChangeArrowheads="1"/>
          </p:cNvSpPr>
          <p:nvPr/>
        </p:nvSpPr>
        <p:spPr bwMode="auto">
          <a:xfrm>
            <a:off x="7263981" y="2191866"/>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7" name="Rectangle 299">
            <a:extLst>
              <a:ext uri="{FF2B5EF4-FFF2-40B4-BE49-F238E27FC236}">
                <a16:creationId xmlns:a16="http://schemas.microsoft.com/office/drawing/2014/main" id="{DE8A35B3-A25D-E05B-B4F4-5071AFCECA00}"/>
              </a:ext>
            </a:extLst>
          </p:cNvPr>
          <p:cNvSpPr>
            <a:spLocks noChangeArrowheads="1"/>
          </p:cNvSpPr>
          <p:nvPr/>
        </p:nvSpPr>
        <p:spPr bwMode="auto">
          <a:xfrm>
            <a:off x="4062595" y="2653802"/>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300" name="Line 302">
            <a:extLst>
              <a:ext uri="{FF2B5EF4-FFF2-40B4-BE49-F238E27FC236}">
                <a16:creationId xmlns:a16="http://schemas.microsoft.com/office/drawing/2014/main" id="{A7626D63-6ECE-3377-F43B-69AF592BD3B0}"/>
              </a:ext>
            </a:extLst>
          </p:cNvPr>
          <p:cNvSpPr>
            <a:spLocks noChangeShapeType="1"/>
          </p:cNvSpPr>
          <p:nvPr/>
        </p:nvSpPr>
        <p:spPr bwMode="auto">
          <a:xfrm>
            <a:off x="6083481" y="2087091"/>
            <a:ext cx="106203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01" name="Text Box 303">
            <a:extLst>
              <a:ext uri="{FF2B5EF4-FFF2-40B4-BE49-F238E27FC236}">
                <a16:creationId xmlns:a16="http://schemas.microsoft.com/office/drawing/2014/main" id="{634667DE-0DF1-B41C-3715-2D8E42D02742}"/>
              </a:ext>
            </a:extLst>
          </p:cNvPr>
          <p:cNvSpPr txBox="1">
            <a:spLocks noChangeArrowheads="1"/>
          </p:cNvSpPr>
          <p:nvPr/>
        </p:nvSpPr>
        <p:spPr bwMode="auto">
          <a:xfrm>
            <a:off x="2827410" y="1669526"/>
            <a:ext cx="3337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B050"/>
                </a:solidFill>
                <a:latin typeface="+mn-lt"/>
                <a:cs typeface="Arial"/>
              </a:rPr>
              <a:t>A</a:t>
            </a:r>
            <a:endParaRPr lang="en-US" altLang="en-US" dirty="0">
              <a:solidFill>
                <a:srgbClr val="00B050"/>
              </a:solidFill>
              <a:latin typeface="+mn-lt"/>
              <a:cs typeface="Arial"/>
            </a:endParaRPr>
          </a:p>
        </p:txBody>
      </p:sp>
      <p:sp>
        <p:nvSpPr>
          <p:cNvPr id="302" name="Text Box 304">
            <a:extLst>
              <a:ext uri="{FF2B5EF4-FFF2-40B4-BE49-F238E27FC236}">
                <a16:creationId xmlns:a16="http://schemas.microsoft.com/office/drawing/2014/main" id="{0F68DC02-BDEE-4EA0-5E6B-C2C2D51E1E83}"/>
              </a:ext>
            </a:extLst>
          </p:cNvPr>
          <p:cNvSpPr txBox="1">
            <a:spLocks noChangeArrowheads="1"/>
          </p:cNvSpPr>
          <p:nvPr/>
        </p:nvSpPr>
        <p:spPr bwMode="auto">
          <a:xfrm>
            <a:off x="3133638" y="2618748"/>
            <a:ext cx="324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0099"/>
                </a:solidFill>
                <a:latin typeface="+mn-lt"/>
                <a:cs typeface="Arial"/>
              </a:rPr>
              <a:t>B</a:t>
            </a:r>
            <a:endParaRPr lang="en-US" altLang="en-US" dirty="0">
              <a:solidFill>
                <a:srgbClr val="000099"/>
              </a:solidFill>
              <a:latin typeface="+mn-lt"/>
              <a:cs typeface="Arial"/>
            </a:endParaRPr>
          </a:p>
        </p:txBody>
      </p:sp>
      <p:sp>
        <p:nvSpPr>
          <p:cNvPr id="303" name="Text Box 305">
            <a:extLst>
              <a:ext uri="{FF2B5EF4-FFF2-40B4-BE49-F238E27FC236}">
                <a16:creationId xmlns:a16="http://schemas.microsoft.com/office/drawing/2014/main" id="{DFB9654F-D62A-C14E-89E1-EFFAE931BDDC}"/>
              </a:ext>
            </a:extLst>
          </p:cNvPr>
          <p:cNvSpPr txBox="1">
            <a:spLocks noChangeArrowheads="1"/>
          </p:cNvSpPr>
          <p:nvPr/>
        </p:nvSpPr>
        <p:spPr bwMode="auto">
          <a:xfrm>
            <a:off x="9575296" y="1603138"/>
            <a:ext cx="3209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B050"/>
                </a:solidFill>
                <a:latin typeface="+mn-lt"/>
                <a:cs typeface="Arial"/>
              </a:rPr>
              <a:t>C</a:t>
            </a:r>
            <a:endParaRPr lang="en-US" altLang="en-US" dirty="0">
              <a:solidFill>
                <a:srgbClr val="00B050"/>
              </a:solidFill>
              <a:latin typeface="+mn-lt"/>
              <a:cs typeface="Arial"/>
            </a:endParaRPr>
          </a:p>
        </p:txBody>
      </p:sp>
      <p:sp>
        <p:nvSpPr>
          <p:cNvPr id="304" name="Text Box 308">
            <a:extLst>
              <a:ext uri="{FF2B5EF4-FFF2-40B4-BE49-F238E27FC236}">
                <a16:creationId xmlns:a16="http://schemas.microsoft.com/office/drawing/2014/main" id="{B9363B02-297C-01F0-1499-5CBD5779174B}"/>
              </a:ext>
            </a:extLst>
          </p:cNvPr>
          <p:cNvSpPr txBox="1">
            <a:spLocks noChangeArrowheads="1"/>
          </p:cNvSpPr>
          <p:nvPr/>
        </p:nvSpPr>
        <p:spPr bwMode="auto">
          <a:xfrm>
            <a:off x="3622531" y="1469708"/>
            <a:ext cx="15647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i="1" dirty="0">
                <a:solidFill>
                  <a:srgbClr val="000000"/>
                </a:solidFill>
                <a:latin typeface="+mn-lt"/>
                <a:cs typeface="Arial"/>
              </a:rPr>
              <a:t>R</a:t>
            </a:r>
            <a:r>
              <a:rPr lang="en-US" altLang="en-US" sz="2000" dirty="0">
                <a:solidFill>
                  <a:srgbClr val="000000"/>
                </a:solidFill>
                <a:latin typeface="+mn-lt"/>
                <a:cs typeface="Arial"/>
              </a:rPr>
              <a:t> = 100 Mb/s</a:t>
            </a:r>
          </a:p>
        </p:txBody>
      </p:sp>
      <p:sp>
        <p:nvSpPr>
          <p:cNvPr id="305" name="Text Box 309">
            <a:extLst>
              <a:ext uri="{FF2B5EF4-FFF2-40B4-BE49-F238E27FC236}">
                <a16:creationId xmlns:a16="http://schemas.microsoft.com/office/drawing/2014/main" id="{C831D406-146A-6FB0-0F50-7A6EC78CD44F}"/>
              </a:ext>
            </a:extLst>
          </p:cNvPr>
          <p:cNvSpPr txBox="1">
            <a:spLocks noChangeArrowheads="1"/>
          </p:cNvSpPr>
          <p:nvPr/>
        </p:nvSpPr>
        <p:spPr bwMode="auto">
          <a:xfrm>
            <a:off x="5697718" y="2506916"/>
            <a:ext cx="1499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i="1" dirty="0">
                <a:solidFill>
                  <a:srgbClr val="000000"/>
                </a:solidFill>
                <a:latin typeface="+mn-lt"/>
                <a:cs typeface="Arial"/>
              </a:rPr>
              <a:t>R</a:t>
            </a:r>
            <a:r>
              <a:rPr lang="en-US" altLang="en-US" sz="2000" dirty="0">
                <a:solidFill>
                  <a:srgbClr val="000000"/>
                </a:solidFill>
                <a:latin typeface="+mn-lt"/>
                <a:cs typeface="Arial"/>
              </a:rPr>
              <a:t> = 1.5 Mb/s</a:t>
            </a:r>
            <a:endParaRPr lang="en-US" altLang="en-US" dirty="0">
              <a:solidFill>
                <a:srgbClr val="00CC99"/>
              </a:solidFill>
              <a:latin typeface="+mn-lt"/>
              <a:cs typeface="Arial"/>
            </a:endParaRPr>
          </a:p>
        </p:txBody>
      </p:sp>
      <p:sp>
        <p:nvSpPr>
          <p:cNvPr id="306" name="Text Box 310">
            <a:extLst>
              <a:ext uri="{FF2B5EF4-FFF2-40B4-BE49-F238E27FC236}">
                <a16:creationId xmlns:a16="http://schemas.microsoft.com/office/drawing/2014/main" id="{57D4A8C6-88C3-ADDF-E7DA-440D8FA9AA45}"/>
              </a:ext>
            </a:extLst>
          </p:cNvPr>
          <p:cNvSpPr txBox="1">
            <a:spLocks noChangeArrowheads="1"/>
          </p:cNvSpPr>
          <p:nvPr/>
        </p:nvSpPr>
        <p:spPr bwMode="auto">
          <a:xfrm>
            <a:off x="8199018" y="3004666"/>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endParaRPr lang="en-US" altLang="en-US">
              <a:solidFill>
                <a:srgbClr val="00CC99"/>
              </a:solidFill>
              <a:latin typeface="+mn-lt"/>
              <a:cs typeface="Arial"/>
            </a:endParaRPr>
          </a:p>
        </p:txBody>
      </p:sp>
      <p:sp>
        <p:nvSpPr>
          <p:cNvPr id="307" name="Line 281">
            <a:extLst>
              <a:ext uri="{FF2B5EF4-FFF2-40B4-BE49-F238E27FC236}">
                <a16:creationId xmlns:a16="http://schemas.microsoft.com/office/drawing/2014/main" id="{1D455160-F303-6733-D5C9-220784EE8CDD}"/>
              </a:ext>
            </a:extLst>
          </p:cNvPr>
          <p:cNvSpPr>
            <a:spLocks noChangeShapeType="1"/>
          </p:cNvSpPr>
          <p:nvPr/>
        </p:nvSpPr>
        <p:spPr bwMode="auto">
          <a:xfrm flipV="1">
            <a:off x="8734606" y="3157066"/>
            <a:ext cx="9842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08" name="Line 283">
            <a:extLst>
              <a:ext uri="{FF2B5EF4-FFF2-40B4-BE49-F238E27FC236}">
                <a16:creationId xmlns:a16="http://schemas.microsoft.com/office/drawing/2014/main" id="{DA80DB98-C0E6-4D5F-3E71-4467B44683C9}"/>
              </a:ext>
            </a:extLst>
          </p:cNvPr>
          <p:cNvSpPr>
            <a:spLocks noChangeShapeType="1"/>
          </p:cNvSpPr>
          <p:nvPr/>
        </p:nvSpPr>
        <p:spPr bwMode="auto">
          <a:xfrm flipH="1">
            <a:off x="8244205" y="2860205"/>
            <a:ext cx="950175" cy="1683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09" name="Text Box 306">
            <a:extLst>
              <a:ext uri="{FF2B5EF4-FFF2-40B4-BE49-F238E27FC236}">
                <a16:creationId xmlns:a16="http://schemas.microsoft.com/office/drawing/2014/main" id="{557DE63B-68A4-E2B0-5B46-34C9ADD4B67D}"/>
              </a:ext>
            </a:extLst>
          </p:cNvPr>
          <p:cNvSpPr txBox="1">
            <a:spLocks noChangeArrowheads="1"/>
          </p:cNvSpPr>
          <p:nvPr/>
        </p:nvSpPr>
        <p:spPr bwMode="auto">
          <a:xfrm>
            <a:off x="9499682" y="2374178"/>
            <a:ext cx="4048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0000"/>
                </a:solidFill>
                <a:latin typeface="+mn-lt"/>
                <a:cs typeface="Arial"/>
              </a:rPr>
              <a:t>D</a:t>
            </a:r>
            <a:endParaRPr lang="en-US" altLang="en-US" sz="2000" dirty="0">
              <a:solidFill>
                <a:srgbClr val="00CC99"/>
              </a:solidFill>
              <a:latin typeface="+mn-lt"/>
              <a:cs typeface="Arial"/>
            </a:endParaRPr>
          </a:p>
        </p:txBody>
      </p:sp>
      <p:sp>
        <p:nvSpPr>
          <p:cNvPr id="310" name="Text Box 307">
            <a:extLst>
              <a:ext uri="{FF2B5EF4-FFF2-40B4-BE49-F238E27FC236}">
                <a16:creationId xmlns:a16="http://schemas.microsoft.com/office/drawing/2014/main" id="{33C9E790-1E7A-590E-8ECC-B0E24DFB5E60}"/>
              </a:ext>
            </a:extLst>
          </p:cNvPr>
          <p:cNvSpPr txBox="1">
            <a:spLocks noChangeArrowheads="1"/>
          </p:cNvSpPr>
          <p:nvPr/>
        </p:nvSpPr>
        <p:spPr bwMode="auto">
          <a:xfrm>
            <a:off x="10325847" y="2756956"/>
            <a:ext cx="309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2000" dirty="0">
                <a:solidFill>
                  <a:srgbClr val="0000A8"/>
                </a:solidFill>
                <a:latin typeface="+mn-lt"/>
                <a:cs typeface="Arial"/>
              </a:rPr>
              <a:t>E</a:t>
            </a:r>
            <a:endParaRPr lang="en-US" altLang="en-US" dirty="0">
              <a:solidFill>
                <a:srgbClr val="0000A8"/>
              </a:solidFill>
              <a:latin typeface="+mn-lt"/>
              <a:cs typeface="Arial"/>
            </a:endParaRPr>
          </a:p>
        </p:txBody>
      </p:sp>
      <p:sp>
        <p:nvSpPr>
          <p:cNvPr id="311" name="Text Box 330">
            <a:extLst>
              <a:ext uri="{FF2B5EF4-FFF2-40B4-BE49-F238E27FC236}">
                <a16:creationId xmlns:a16="http://schemas.microsoft.com/office/drawing/2014/main" id="{11A5A85A-2541-C9B1-2244-63DCB3898DFE}"/>
              </a:ext>
            </a:extLst>
          </p:cNvPr>
          <p:cNvSpPr txBox="1">
            <a:spLocks noChangeArrowheads="1"/>
          </p:cNvSpPr>
          <p:nvPr/>
        </p:nvSpPr>
        <p:spPr bwMode="auto">
          <a:xfrm>
            <a:off x="4132668" y="3123202"/>
            <a:ext cx="2354263"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lnSpc>
                <a:spcPct val="85000"/>
              </a:lnSpc>
              <a:spcBef>
                <a:spcPct val="0"/>
              </a:spcBef>
              <a:spcAft>
                <a:spcPct val="0"/>
              </a:spcAft>
            </a:pPr>
            <a:r>
              <a:rPr lang="en-US" altLang="en-US" sz="1800" dirty="0">
                <a:solidFill>
                  <a:srgbClr val="C00000"/>
                </a:solidFill>
                <a:latin typeface="+mn-lt"/>
                <a:cs typeface="Arial"/>
              </a:rPr>
              <a:t>queue</a:t>
            </a:r>
            <a:r>
              <a:rPr lang="en-US" altLang="en-US" sz="1800" dirty="0">
                <a:solidFill>
                  <a:srgbClr val="000000"/>
                </a:solidFill>
                <a:latin typeface="+mn-lt"/>
                <a:cs typeface="Arial"/>
              </a:rPr>
              <a:t> of packets</a:t>
            </a:r>
          </a:p>
          <a:p>
            <a:pPr algn="ctr" eaLnBrk="0" fontAlgn="base" hangingPunct="0">
              <a:lnSpc>
                <a:spcPct val="85000"/>
              </a:lnSpc>
              <a:spcBef>
                <a:spcPct val="0"/>
              </a:spcBef>
              <a:spcAft>
                <a:spcPct val="0"/>
              </a:spcAft>
            </a:pPr>
            <a:r>
              <a:rPr lang="en-US" altLang="en-US" sz="1800" dirty="0">
                <a:solidFill>
                  <a:srgbClr val="000000"/>
                </a:solidFill>
                <a:latin typeface="+mn-lt"/>
                <a:cs typeface="Arial"/>
              </a:rPr>
              <a:t>waiting for output link</a:t>
            </a:r>
            <a:endParaRPr lang="en-US" altLang="en-US" sz="1800" dirty="0">
              <a:solidFill>
                <a:srgbClr val="00CC99"/>
              </a:solidFill>
              <a:latin typeface="+mn-lt"/>
              <a:cs typeface="Arial"/>
            </a:endParaRPr>
          </a:p>
        </p:txBody>
      </p:sp>
      <p:pic>
        <p:nvPicPr>
          <p:cNvPr id="314" name="Picture 97" descr="desktop_computer_stylized_medium">
            <a:extLst>
              <a:ext uri="{FF2B5EF4-FFF2-40B4-BE49-F238E27FC236}">
                <a16:creationId xmlns:a16="http://schemas.microsoft.com/office/drawing/2014/main" id="{1758E5F6-F923-6ACA-E490-106BC41FC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866218" y="1661641"/>
            <a:ext cx="779463"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 name="Freeform 98">
            <a:extLst>
              <a:ext uri="{FF2B5EF4-FFF2-40B4-BE49-F238E27FC236}">
                <a16:creationId xmlns:a16="http://schemas.microsoft.com/office/drawing/2014/main" id="{257922AB-8536-12B5-A1EE-C44235E175B8}"/>
              </a:ext>
            </a:extLst>
          </p:cNvPr>
          <p:cNvSpPr>
            <a:spLocks/>
          </p:cNvSpPr>
          <p:nvPr/>
        </p:nvSpPr>
        <p:spPr bwMode="auto">
          <a:xfrm flipH="1">
            <a:off x="3198344" y="1726819"/>
            <a:ext cx="379005"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nvGrpSpPr>
          <p:cNvPr id="316" name="Group 99">
            <a:extLst>
              <a:ext uri="{FF2B5EF4-FFF2-40B4-BE49-F238E27FC236}">
                <a16:creationId xmlns:a16="http://schemas.microsoft.com/office/drawing/2014/main" id="{62F7362F-F02F-9225-9A2F-106C377C9803}"/>
              </a:ext>
            </a:extLst>
          </p:cNvPr>
          <p:cNvGrpSpPr>
            <a:grpSpLocks/>
          </p:cNvGrpSpPr>
          <p:nvPr/>
        </p:nvGrpSpPr>
        <p:grpSpPr bwMode="auto">
          <a:xfrm>
            <a:off x="3157718" y="2636366"/>
            <a:ext cx="779463" cy="679450"/>
            <a:chOff x="-44" y="1473"/>
            <a:chExt cx="981" cy="1105"/>
          </a:xfrm>
        </p:grpSpPr>
        <p:pic>
          <p:nvPicPr>
            <p:cNvPr id="317" name="Picture 100" descr="desktop_computer_stylized_medium">
              <a:extLst>
                <a:ext uri="{FF2B5EF4-FFF2-40B4-BE49-F238E27FC236}">
                  <a16:creationId xmlns:a16="http://schemas.microsoft.com/office/drawing/2014/main" id="{9644D05D-8D33-50B2-ED59-66BEE6BEB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 name="Freeform 101">
              <a:extLst>
                <a:ext uri="{FF2B5EF4-FFF2-40B4-BE49-F238E27FC236}">
                  <a16:creationId xmlns:a16="http://schemas.microsoft.com/office/drawing/2014/main" id="{95F99CCE-8E5B-6FDC-DE5F-58AFEBFC1972}"/>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grpSp>
        <p:nvGrpSpPr>
          <p:cNvPr id="319" name="Group 102">
            <a:extLst>
              <a:ext uri="{FF2B5EF4-FFF2-40B4-BE49-F238E27FC236}">
                <a16:creationId xmlns:a16="http://schemas.microsoft.com/office/drawing/2014/main" id="{1EFC5D54-B600-7469-7972-0AED43485F4A}"/>
              </a:ext>
            </a:extLst>
          </p:cNvPr>
          <p:cNvGrpSpPr>
            <a:grpSpLocks/>
          </p:cNvGrpSpPr>
          <p:nvPr/>
        </p:nvGrpSpPr>
        <p:grpSpPr bwMode="auto">
          <a:xfrm>
            <a:off x="9553756" y="2696691"/>
            <a:ext cx="779462" cy="679450"/>
            <a:chOff x="-44" y="1473"/>
            <a:chExt cx="981" cy="1105"/>
          </a:xfrm>
        </p:grpSpPr>
        <p:pic>
          <p:nvPicPr>
            <p:cNvPr id="320" name="Picture 103" descr="desktop_computer_stylized_medium">
              <a:extLst>
                <a:ext uri="{FF2B5EF4-FFF2-40B4-BE49-F238E27FC236}">
                  <a16:creationId xmlns:a16="http://schemas.microsoft.com/office/drawing/2014/main" id="{58768A9E-3F9A-F71D-59B0-0979E02EA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1" name="Freeform 104">
              <a:extLst>
                <a:ext uri="{FF2B5EF4-FFF2-40B4-BE49-F238E27FC236}">
                  <a16:creationId xmlns:a16="http://schemas.microsoft.com/office/drawing/2014/main" id="{9B804576-C8FF-B91B-963C-3256597B7FB8}"/>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grpSp>
        <p:nvGrpSpPr>
          <p:cNvPr id="322" name="Group 108">
            <a:extLst>
              <a:ext uri="{FF2B5EF4-FFF2-40B4-BE49-F238E27FC236}">
                <a16:creationId xmlns:a16="http://schemas.microsoft.com/office/drawing/2014/main" id="{CAEDAF4E-E540-C1C2-9CDE-0B30C5F305D4}"/>
              </a:ext>
            </a:extLst>
          </p:cNvPr>
          <p:cNvGrpSpPr>
            <a:grpSpLocks/>
          </p:cNvGrpSpPr>
          <p:nvPr/>
        </p:nvGrpSpPr>
        <p:grpSpPr bwMode="auto">
          <a:xfrm>
            <a:off x="8918756" y="1504479"/>
            <a:ext cx="779462" cy="679450"/>
            <a:chOff x="-44" y="1473"/>
            <a:chExt cx="981" cy="1105"/>
          </a:xfrm>
        </p:grpSpPr>
        <p:pic>
          <p:nvPicPr>
            <p:cNvPr id="323" name="Picture 109" descr="desktop_computer_stylized_medium">
              <a:extLst>
                <a:ext uri="{FF2B5EF4-FFF2-40B4-BE49-F238E27FC236}">
                  <a16:creationId xmlns:a16="http://schemas.microsoft.com/office/drawing/2014/main" id="{A3624F4D-852B-2011-42A8-22D24D105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4" name="Freeform 110">
              <a:extLst>
                <a:ext uri="{FF2B5EF4-FFF2-40B4-BE49-F238E27FC236}">
                  <a16:creationId xmlns:a16="http://schemas.microsoft.com/office/drawing/2014/main" id="{656007C2-FFA3-EE43-79AE-5EE4B987A4C8}"/>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grpSp>
      <p:grpSp>
        <p:nvGrpSpPr>
          <p:cNvPr id="363" name="Group 362">
            <a:extLst>
              <a:ext uri="{FF2B5EF4-FFF2-40B4-BE49-F238E27FC236}">
                <a16:creationId xmlns:a16="http://schemas.microsoft.com/office/drawing/2014/main" id="{57794477-F4A7-98D1-391D-E347DFA5AC60}"/>
              </a:ext>
            </a:extLst>
          </p:cNvPr>
          <p:cNvGrpSpPr/>
          <p:nvPr/>
        </p:nvGrpSpPr>
        <p:grpSpPr>
          <a:xfrm>
            <a:off x="7595249" y="2169176"/>
            <a:ext cx="1146494" cy="498545"/>
            <a:chOff x="7493876" y="2774731"/>
            <a:chExt cx="1481958" cy="894622"/>
          </a:xfrm>
        </p:grpSpPr>
        <p:sp>
          <p:nvSpPr>
            <p:cNvPr id="364" name="Freeform 363">
              <a:extLst>
                <a:ext uri="{FF2B5EF4-FFF2-40B4-BE49-F238E27FC236}">
                  <a16:creationId xmlns:a16="http://schemas.microsoft.com/office/drawing/2014/main" id="{0C5CA201-5894-5FD3-3ADE-B446329462B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65" name="Oval 364">
              <a:extLst>
                <a:ext uri="{FF2B5EF4-FFF2-40B4-BE49-F238E27FC236}">
                  <a16:creationId xmlns:a16="http://schemas.microsoft.com/office/drawing/2014/main" id="{1B8DB168-DE09-1F31-DF39-CDDCB738467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366" name="Group 365">
              <a:extLst>
                <a:ext uri="{FF2B5EF4-FFF2-40B4-BE49-F238E27FC236}">
                  <a16:creationId xmlns:a16="http://schemas.microsoft.com/office/drawing/2014/main" id="{3758374B-1CA7-A34D-96C5-38FC4D216079}"/>
                </a:ext>
              </a:extLst>
            </p:cNvPr>
            <p:cNvGrpSpPr/>
            <p:nvPr/>
          </p:nvGrpSpPr>
          <p:grpSpPr>
            <a:xfrm>
              <a:off x="7713663" y="2848339"/>
              <a:ext cx="1042107" cy="425543"/>
              <a:chOff x="7786941" y="2884917"/>
              <a:chExt cx="897649" cy="353919"/>
            </a:xfrm>
          </p:grpSpPr>
          <p:sp>
            <p:nvSpPr>
              <p:cNvPr id="367" name="Freeform 366">
                <a:extLst>
                  <a:ext uri="{FF2B5EF4-FFF2-40B4-BE49-F238E27FC236}">
                    <a16:creationId xmlns:a16="http://schemas.microsoft.com/office/drawing/2014/main" id="{E4FAF6BA-4973-73D2-2FD3-A1BD829EB7B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Freeform 367">
                <a:extLst>
                  <a:ext uri="{FF2B5EF4-FFF2-40B4-BE49-F238E27FC236}">
                    <a16:creationId xmlns:a16="http://schemas.microsoft.com/office/drawing/2014/main" id="{2B6A2FF6-CF7A-9739-0997-ECF982FF1F3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Freeform 368">
                <a:extLst>
                  <a:ext uri="{FF2B5EF4-FFF2-40B4-BE49-F238E27FC236}">
                    <a16:creationId xmlns:a16="http://schemas.microsoft.com/office/drawing/2014/main" id="{5B47D457-D26E-BE5D-B46A-34D7CFCB477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Freeform 369">
                <a:extLst>
                  <a:ext uri="{FF2B5EF4-FFF2-40B4-BE49-F238E27FC236}">
                    <a16:creationId xmlns:a16="http://schemas.microsoft.com/office/drawing/2014/main" id="{88BAB48E-76C5-0802-4DAB-7D09CB73481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71" name="Group 370">
            <a:extLst>
              <a:ext uri="{FF2B5EF4-FFF2-40B4-BE49-F238E27FC236}">
                <a16:creationId xmlns:a16="http://schemas.microsoft.com/office/drawing/2014/main" id="{9C52507B-1384-BE3C-C46B-7CFFDC981B06}"/>
              </a:ext>
            </a:extLst>
          </p:cNvPr>
          <p:cNvGrpSpPr/>
          <p:nvPr/>
        </p:nvGrpSpPr>
        <p:grpSpPr>
          <a:xfrm>
            <a:off x="7621178" y="2857110"/>
            <a:ext cx="1146494" cy="498545"/>
            <a:chOff x="7493876" y="2774731"/>
            <a:chExt cx="1481958" cy="894622"/>
          </a:xfrm>
        </p:grpSpPr>
        <p:sp>
          <p:nvSpPr>
            <p:cNvPr id="372" name="Freeform 371">
              <a:extLst>
                <a:ext uri="{FF2B5EF4-FFF2-40B4-BE49-F238E27FC236}">
                  <a16:creationId xmlns:a16="http://schemas.microsoft.com/office/drawing/2014/main" id="{16839F68-3121-025A-B431-B439CE80C1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73" name="Oval 372">
              <a:extLst>
                <a:ext uri="{FF2B5EF4-FFF2-40B4-BE49-F238E27FC236}">
                  <a16:creationId xmlns:a16="http://schemas.microsoft.com/office/drawing/2014/main" id="{6215A9F4-3F06-0000-6FB3-1614321537C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374" name="Group 373">
              <a:extLst>
                <a:ext uri="{FF2B5EF4-FFF2-40B4-BE49-F238E27FC236}">
                  <a16:creationId xmlns:a16="http://schemas.microsoft.com/office/drawing/2014/main" id="{DD1B28C0-041D-1B8B-63CD-D6E2D46ABD87}"/>
                </a:ext>
              </a:extLst>
            </p:cNvPr>
            <p:cNvGrpSpPr/>
            <p:nvPr/>
          </p:nvGrpSpPr>
          <p:grpSpPr>
            <a:xfrm>
              <a:off x="7713663" y="2848339"/>
              <a:ext cx="1042107" cy="425543"/>
              <a:chOff x="7786941" y="2884917"/>
              <a:chExt cx="897649" cy="353919"/>
            </a:xfrm>
          </p:grpSpPr>
          <p:sp>
            <p:nvSpPr>
              <p:cNvPr id="375" name="Freeform 374">
                <a:extLst>
                  <a:ext uri="{FF2B5EF4-FFF2-40B4-BE49-F238E27FC236}">
                    <a16:creationId xmlns:a16="http://schemas.microsoft.com/office/drawing/2014/main" id="{5C42C4C8-8E70-8312-7DD3-C5EB5B94EC5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Freeform 375">
                <a:extLst>
                  <a:ext uri="{FF2B5EF4-FFF2-40B4-BE49-F238E27FC236}">
                    <a16:creationId xmlns:a16="http://schemas.microsoft.com/office/drawing/2014/main" id="{BA78DBD2-FAAB-713C-8F3D-E1DF66EEAE1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Freeform 376">
                <a:extLst>
                  <a:ext uri="{FF2B5EF4-FFF2-40B4-BE49-F238E27FC236}">
                    <a16:creationId xmlns:a16="http://schemas.microsoft.com/office/drawing/2014/main" id="{B938342C-3BF9-9010-EABC-4EE01086FAA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Freeform 377">
                <a:extLst>
                  <a:ext uri="{FF2B5EF4-FFF2-40B4-BE49-F238E27FC236}">
                    <a16:creationId xmlns:a16="http://schemas.microsoft.com/office/drawing/2014/main" id="{AA9ACAE9-6055-8A06-5A3E-3D81914492E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79" name="Group 378">
            <a:extLst>
              <a:ext uri="{FF2B5EF4-FFF2-40B4-BE49-F238E27FC236}">
                <a16:creationId xmlns:a16="http://schemas.microsoft.com/office/drawing/2014/main" id="{B49FAB07-1D22-18B9-FECD-541BB9717FE0}"/>
              </a:ext>
            </a:extLst>
          </p:cNvPr>
          <p:cNvGrpSpPr/>
          <p:nvPr/>
        </p:nvGrpSpPr>
        <p:grpSpPr>
          <a:xfrm>
            <a:off x="4403089" y="2147599"/>
            <a:ext cx="1146494" cy="498545"/>
            <a:chOff x="7493876" y="2774731"/>
            <a:chExt cx="1481958" cy="894622"/>
          </a:xfrm>
        </p:grpSpPr>
        <p:sp>
          <p:nvSpPr>
            <p:cNvPr id="380" name="Freeform 379">
              <a:extLst>
                <a:ext uri="{FF2B5EF4-FFF2-40B4-BE49-F238E27FC236}">
                  <a16:creationId xmlns:a16="http://schemas.microsoft.com/office/drawing/2014/main" id="{3ED896F1-D502-AE0A-FFC5-54721FC170B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81" name="Oval 380">
              <a:extLst>
                <a:ext uri="{FF2B5EF4-FFF2-40B4-BE49-F238E27FC236}">
                  <a16:creationId xmlns:a16="http://schemas.microsoft.com/office/drawing/2014/main" id="{2337559F-D227-A584-D79B-48D9903AF54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382" name="Group 381">
              <a:extLst>
                <a:ext uri="{FF2B5EF4-FFF2-40B4-BE49-F238E27FC236}">
                  <a16:creationId xmlns:a16="http://schemas.microsoft.com/office/drawing/2014/main" id="{7D1C539F-19FF-A72B-0140-F67D86A85654}"/>
                </a:ext>
              </a:extLst>
            </p:cNvPr>
            <p:cNvGrpSpPr/>
            <p:nvPr/>
          </p:nvGrpSpPr>
          <p:grpSpPr>
            <a:xfrm>
              <a:off x="7713663" y="2848339"/>
              <a:ext cx="1042107" cy="425543"/>
              <a:chOff x="7786941" y="2884917"/>
              <a:chExt cx="897649" cy="353919"/>
            </a:xfrm>
          </p:grpSpPr>
          <p:sp>
            <p:nvSpPr>
              <p:cNvPr id="383" name="Freeform 382">
                <a:extLst>
                  <a:ext uri="{FF2B5EF4-FFF2-40B4-BE49-F238E27FC236}">
                    <a16:creationId xmlns:a16="http://schemas.microsoft.com/office/drawing/2014/main" id="{081973E0-524D-9C76-9C7C-B86B35BD20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Freeform 383">
                <a:extLst>
                  <a:ext uri="{FF2B5EF4-FFF2-40B4-BE49-F238E27FC236}">
                    <a16:creationId xmlns:a16="http://schemas.microsoft.com/office/drawing/2014/main" id="{BDD21447-0DAA-3020-8309-8EC116FD121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Freeform 384">
                <a:extLst>
                  <a:ext uri="{FF2B5EF4-FFF2-40B4-BE49-F238E27FC236}">
                    <a16:creationId xmlns:a16="http://schemas.microsoft.com/office/drawing/2014/main" id="{F35F0347-C959-E1EC-90CE-4E5105A7DAB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Freeform 385">
                <a:extLst>
                  <a:ext uri="{FF2B5EF4-FFF2-40B4-BE49-F238E27FC236}">
                    <a16:creationId xmlns:a16="http://schemas.microsoft.com/office/drawing/2014/main" id="{902463FB-2A97-DBEF-29A4-BDFFF2DF8D2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78" name="Line 230">
            <a:extLst>
              <a:ext uri="{FF2B5EF4-FFF2-40B4-BE49-F238E27FC236}">
                <a16:creationId xmlns:a16="http://schemas.microsoft.com/office/drawing/2014/main" id="{28B85354-C6F3-D381-39F6-C3249E997EA0}"/>
              </a:ext>
            </a:extLst>
          </p:cNvPr>
          <p:cNvSpPr>
            <a:spLocks noChangeShapeType="1"/>
          </p:cNvSpPr>
          <p:nvPr/>
        </p:nvSpPr>
        <p:spPr bwMode="auto">
          <a:xfrm>
            <a:off x="5538968" y="2314104"/>
            <a:ext cx="0" cy="228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pPr eaLnBrk="0" fontAlgn="base" hangingPunct="0">
              <a:spcBef>
                <a:spcPct val="0"/>
              </a:spcBef>
              <a:spcAft>
                <a:spcPct val="0"/>
              </a:spcAft>
            </a:pPr>
            <a:endParaRPr lang="en-US" sz="2400">
              <a:solidFill>
                <a:srgbClr val="000000"/>
              </a:solidFill>
              <a:ea typeface="ＭＳ Ｐゴシック" panose="020B0600070205080204" pitchFamily="34" charset="-128"/>
              <a:cs typeface="Arial"/>
            </a:endParaRPr>
          </a:p>
        </p:txBody>
      </p:sp>
      <p:grpSp>
        <p:nvGrpSpPr>
          <p:cNvPr id="291" name="Group 311">
            <a:extLst>
              <a:ext uri="{FF2B5EF4-FFF2-40B4-BE49-F238E27FC236}">
                <a16:creationId xmlns:a16="http://schemas.microsoft.com/office/drawing/2014/main" id="{1F40CC8E-4203-E181-7642-E7838BE51C50}"/>
              </a:ext>
            </a:extLst>
          </p:cNvPr>
          <p:cNvGrpSpPr>
            <a:grpSpLocks/>
          </p:cNvGrpSpPr>
          <p:nvPr/>
        </p:nvGrpSpPr>
        <p:grpSpPr bwMode="auto">
          <a:xfrm>
            <a:off x="4857931" y="2272829"/>
            <a:ext cx="633412" cy="200025"/>
            <a:chOff x="1800" y="1425"/>
            <a:chExt cx="399" cy="126"/>
          </a:xfrm>
        </p:grpSpPr>
        <p:sp>
          <p:nvSpPr>
            <p:cNvPr id="292" name="Rectangle 294">
              <a:extLst>
                <a:ext uri="{FF2B5EF4-FFF2-40B4-BE49-F238E27FC236}">
                  <a16:creationId xmlns:a16="http://schemas.microsoft.com/office/drawing/2014/main" id="{2B085D08-EFC6-2C85-D05A-103A8BFE55DB}"/>
                </a:ext>
              </a:extLst>
            </p:cNvPr>
            <p:cNvSpPr>
              <a:spLocks noChangeArrowheads="1"/>
            </p:cNvSpPr>
            <p:nvPr/>
          </p:nvSpPr>
          <p:spPr bwMode="auto">
            <a:xfrm>
              <a:off x="1800"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3" name="Rectangle 295">
              <a:extLst>
                <a:ext uri="{FF2B5EF4-FFF2-40B4-BE49-F238E27FC236}">
                  <a16:creationId xmlns:a16="http://schemas.microsoft.com/office/drawing/2014/main" id="{73E54A3B-9470-2047-9678-0E5785929E68}"/>
                </a:ext>
              </a:extLst>
            </p:cNvPr>
            <p:cNvSpPr>
              <a:spLocks noChangeArrowheads="1"/>
            </p:cNvSpPr>
            <p:nvPr/>
          </p:nvSpPr>
          <p:spPr bwMode="auto">
            <a:xfrm>
              <a:off x="1902" y="1425"/>
              <a:ext cx="93" cy="126"/>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4" name="Rectangle 296">
              <a:extLst>
                <a:ext uri="{FF2B5EF4-FFF2-40B4-BE49-F238E27FC236}">
                  <a16:creationId xmlns:a16="http://schemas.microsoft.com/office/drawing/2014/main" id="{D68D8DAD-D4EE-EAB4-0197-E58CA65A5334}"/>
                </a:ext>
              </a:extLst>
            </p:cNvPr>
            <p:cNvSpPr>
              <a:spLocks noChangeArrowheads="1"/>
            </p:cNvSpPr>
            <p:nvPr/>
          </p:nvSpPr>
          <p:spPr bwMode="auto">
            <a:xfrm>
              <a:off x="2004"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5" name="Rectangle 297">
              <a:extLst>
                <a:ext uri="{FF2B5EF4-FFF2-40B4-BE49-F238E27FC236}">
                  <a16:creationId xmlns:a16="http://schemas.microsoft.com/office/drawing/2014/main" id="{1269E044-D7E1-CE34-D646-00CAAE1C48D2}"/>
                </a:ext>
              </a:extLst>
            </p:cNvPr>
            <p:cNvSpPr>
              <a:spLocks noChangeArrowheads="1"/>
            </p:cNvSpPr>
            <p:nvPr/>
          </p:nvSpPr>
          <p:spPr bwMode="auto">
            <a:xfrm>
              <a:off x="2106"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grpSp>
      <p:sp>
        <p:nvSpPr>
          <p:cNvPr id="296" name="Rectangle 298">
            <a:extLst>
              <a:ext uri="{FF2B5EF4-FFF2-40B4-BE49-F238E27FC236}">
                <a16:creationId xmlns:a16="http://schemas.microsoft.com/office/drawing/2014/main" id="{FE43269B-B713-763C-9480-56C40EBE684D}"/>
              </a:ext>
            </a:extLst>
          </p:cNvPr>
          <p:cNvSpPr>
            <a:spLocks noChangeArrowheads="1"/>
          </p:cNvSpPr>
          <p:nvPr/>
        </p:nvSpPr>
        <p:spPr bwMode="auto">
          <a:xfrm>
            <a:off x="3841032" y="2095142"/>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mn-lt"/>
              <a:ea typeface="ＭＳ Ｐゴシック" panose="020B0600070205080204" pitchFamily="34" charset="-128"/>
              <a:cs typeface="Arial"/>
            </a:endParaRPr>
          </a:p>
        </p:txBody>
      </p:sp>
      <p:sp>
        <p:nvSpPr>
          <p:cNvPr id="298" name="Line 300">
            <a:extLst>
              <a:ext uri="{FF2B5EF4-FFF2-40B4-BE49-F238E27FC236}">
                <a16:creationId xmlns:a16="http://schemas.microsoft.com/office/drawing/2014/main" id="{9C34C68E-E45A-021F-4727-BAF4DBE32C16}"/>
              </a:ext>
            </a:extLst>
          </p:cNvPr>
          <p:cNvSpPr>
            <a:spLocks noChangeShapeType="1"/>
          </p:cNvSpPr>
          <p:nvPr/>
        </p:nvSpPr>
        <p:spPr bwMode="auto">
          <a:xfrm>
            <a:off x="4022858" y="2257010"/>
            <a:ext cx="227109" cy="114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299" name="Line 301">
            <a:extLst>
              <a:ext uri="{FF2B5EF4-FFF2-40B4-BE49-F238E27FC236}">
                <a16:creationId xmlns:a16="http://schemas.microsoft.com/office/drawing/2014/main" id="{56FE4937-D0E5-D790-FFC9-89797B5F6C0C}"/>
              </a:ext>
            </a:extLst>
          </p:cNvPr>
          <p:cNvSpPr>
            <a:spLocks noChangeShapeType="1"/>
          </p:cNvSpPr>
          <p:nvPr/>
        </p:nvSpPr>
        <p:spPr bwMode="auto">
          <a:xfrm flipV="1">
            <a:off x="4236079" y="2610536"/>
            <a:ext cx="248236" cy="15573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12" name="Line 332">
            <a:extLst>
              <a:ext uri="{FF2B5EF4-FFF2-40B4-BE49-F238E27FC236}">
                <a16:creationId xmlns:a16="http://schemas.microsoft.com/office/drawing/2014/main" id="{58D7C0AB-0485-DBEE-3BC9-EB0454840675}"/>
              </a:ext>
            </a:extLst>
          </p:cNvPr>
          <p:cNvSpPr>
            <a:spLocks noChangeShapeType="1"/>
          </p:cNvSpPr>
          <p:nvPr/>
        </p:nvSpPr>
        <p:spPr bwMode="auto">
          <a:xfrm flipV="1">
            <a:off x="5112260" y="2525239"/>
            <a:ext cx="17133" cy="64195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88" name="Line 332">
            <a:extLst>
              <a:ext uri="{FF2B5EF4-FFF2-40B4-BE49-F238E27FC236}">
                <a16:creationId xmlns:a16="http://schemas.microsoft.com/office/drawing/2014/main" id="{83154542-254C-4421-C9DD-1AA52756C6A6}"/>
              </a:ext>
            </a:extLst>
          </p:cNvPr>
          <p:cNvSpPr>
            <a:spLocks noChangeShapeType="1"/>
          </p:cNvSpPr>
          <p:nvPr/>
        </p:nvSpPr>
        <p:spPr bwMode="auto">
          <a:xfrm flipV="1">
            <a:off x="3757081" y="1789177"/>
            <a:ext cx="0" cy="2210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
        <p:nvSpPr>
          <p:cNvPr id="389" name="Line 332">
            <a:extLst>
              <a:ext uri="{FF2B5EF4-FFF2-40B4-BE49-F238E27FC236}">
                <a16:creationId xmlns:a16="http://schemas.microsoft.com/office/drawing/2014/main" id="{084DD2B0-C667-DED4-57C5-DCC58A52A26D}"/>
              </a:ext>
            </a:extLst>
          </p:cNvPr>
          <p:cNvSpPr>
            <a:spLocks noChangeShapeType="1"/>
          </p:cNvSpPr>
          <p:nvPr/>
        </p:nvSpPr>
        <p:spPr bwMode="auto">
          <a:xfrm flipH="1" flipV="1">
            <a:off x="5850118" y="2470336"/>
            <a:ext cx="0" cy="1203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a typeface="ＭＳ Ｐゴシック" panose="020B0600070205080204" pitchFamily="34" charset="-128"/>
              <a:cs typeface="Arial"/>
            </a:endParaRPr>
          </a:p>
        </p:txBody>
      </p:sp>
    </p:spTree>
    <p:extLst>
      <p:ext uri="{BB962C8B-B14F-4D97-AF65-F5344CB8AC3E}">
        <p14:creationId xmlns:p14="http://schemas.microsoft.com/office/powerpoint/2010/main" val="2316248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BCCD2-4EE6-2695-8849-C262132A9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A82C9-E79C-D6B9-2491-BB25FB07CAEC}"/>
              </a:ext>
            </a:extLst>
          </p:cNvPr>
          <p:cNvSpPr>
            <a:spLocks noGrp="1"/>
          </p:cNvSpPr>
          <p:nvPr>
            <p:ph type="title"/>
          </p:nvPr>
        </p:nvSpPr>
        <p:spPr>
          <a:xfrm>
            <a:off x="825267" y="336191"/>
            <a:ext cx="10515600" cy="894622"/>
          </a:xfrm>
        </p:spPr>
        <p:txBody>
          <a:bodyPr>
            <a:normAutofit fontScale="90000"/>
          </a:bodyPr>
          <a:lstStyle/>
          <a:p>
            <a:r>
              <a:rPr lang="en-US" altLang="ja-JP" dirty="0"/>
              <a:t>Alternative to packet switching: circuit switching</a:t>
            </a:r>
            <a:endParaRPr lang="en-US" dirty="0"/>
          </a:p>
        </p:txBody>
      </p:sp>
      <p:sp>
        <p:nvSpPr>
          <p:cNvPr id="3" name="Content Placeholder 2">
            <a:extLst>
              <a:ext uri="{FF2B5EF4-FFF2-40B4-BE49-F238E27FC236}">
                <a16:creationId xmlns:a16="http://schemas.microsoft.com/office/drawing/2014/main" id="{F04CD0A2-2DF1-2E5E-4EBC-33CB8879B424}"/>
              </a:ext>
            </a:extLst>
          </p:cNvPr>
          <p:cNvSpPr>
            <a:spLocks noGrp="1"/>
          </p:cNvSpPr>
          <p:nvPr>
            <p:ph sz="half" idx="1"/>
          </p:nvPr>
        </p:nvSpPr>
        <p:spPr>
          <a:xfrm>
            <a:off x="815577" y="1547144"/>
            <a:ext cx="5692665" cy="5310856"/>
          </a:xfrm>
        </p:spPr>
        <p:txBody>
          <a:bodyPr>
            <a:normAutofit/>
          </a:bodyPr>
          <a:lstStyle/>
          <a:p>
            <a:pPr marL="11113" indent="-11113">
              <a:buNone/>
            </a:pPr>
            <a:r>
              <a:rPr lang="en-US" altLang="en-US" dirty="0">
                <a:solidFill>
                  <a:srgbClr val="CC0000"/>
                </a:solidFill>
                <a:ea typeface="ＭＳ Ｐゴシック" panose="020B0600070205080204" pitchFamily="34" charset="-128"/>
              </a:rPr>
              <a:t>end-end resources allocated to, reserved for “</a:t>
            </a:r>
            <a:r>
              <a:rPr lang="en-US" altLang="ja-JP" dirty="0">
                <a:solidFill>
                  <a:srgbClr val="CC0000"/>
                </a:solidFill>
                <a:ea typeface="ＭＳ Ｐゴシック" panose="020B0600070205080204" pitchFamily="34" charset="-128"/>
              </a:rPr>
              <a:t>call” between source and destination</a:t>
            </a:r>
          </a:p>
          <a:p>
            <a:r>
              <a:rPr lang="en-US" altLang="en-US" sz="2400" dirty="0">
                <a:ea typeface="ＭＳ Ｐゴシック" panose="020B0600070205080204" pitchFamily="34" charset="-128"/>
              </a:rPr>
              <a:t>in diagram, each link has four circuits. </a:t>
            </a:r>
          </a:p>
          <a:p>
            <a:pPr marL="682625" lvl="1" indent="-225425"/>
            <a:r>
              <a:rPr lang="en-US" altLang="en-US" dirty="0">
                <a:ea typeface="ＭＳ Ｐゴシック" panose="020B0600070205080204" pitchFamily="34" charset="-128"/>
              </a:rPr>
              <a:t>call gets 2</a:t>
            </a:r>
            <a:r>
              <a:rPr lang="en-US" altLang="en-US" baseline="30000" dirty="0">
                <a:ea typeface="ＭＳ Ｐゴシック" panose="020B0600070205080204" pitchFamily="34" charset="-128"/>
              </a:rPr>
              <a:t>nd</a:t>
            </a:r>
            <a:r>
              <a:rPr lang="en-US" altLang="en-US" dirty="0">
                <a:ea typeface="ＭＳ Ｐゴシック" panose="020B0600070205080204" pitchFamily="34" charset="-128"/>
              </a:rPr>
              <a:t> circuit in top link and 1</a:t>
            </a:r>
            <a:r>
              <a:rPr lang="en-US" altLang="en-US" baseline="30000" dirty="0">
                <a:ea typeface="ＭＳ Ｐゴシック" panose="020B0600070205080204" pitchFamily="34" charset="-128"/>
              </a:rPr>
              <a:t>st</a:t>
            </a:r>
            <a:r>
              <a:rPr lang="en-US" altLang="en-US" dirty="0">
                <a:ea typeface="ＭＳ Ｐゴシック" panose="020B0600070205080204" pitchFamily="34" charset="-128"/>
              </a:rPr>
              <a:t> circuit in right link.</a:t>
            </a:r>
          </a:p>
          <a:p>
            <a:r>
              <a:rPr lang="en-US" altLang="en-US" sz="2400" dirty="0">
                <a:ea typeface="ＭＳ Ｐゴシック" panose="020B0600070205080204" pitchFamily="34" charset="-128"/>
              </a:rPr>
              <a:t>dedicated resources: no sharing</a:t>
            </a:r>
          </a:p>
          <a:p>
            <a:pPr marL="682625" lvl="1" indent="-225425"/>
            <a:r>
              <a:rPr lang="en-US" altLang="en-US" dirty="0">
                <a:ea typeface="Arial" panose="020B0604020202020204" pitchFamily="34" charset="0"/>
              </a:rPr>
              <a:t>circuit-like (guaranteed) performance</a:t>
            </a:r>
          </a:p>
          <a:p>
            <a:r>
              <a:rPr lang="en-US" altLang="en-US" sz="2400" dirty="0">
                <a:ea typeface="ＭＳ Ｐゴシック" panose="020B0600070205080204" pitchFamily="34" charset="-128"/>
              </a:rPr>
              <a:t>circuit segment idle if not used by call </a:t>
            </a:r>
            <a:r>
              <a:rPr lang="en-US" altLang="en-US" sz="2400" dirty="0">
                <a:solidFill>
                  <a:srgbClr val="000099"/>
                </a:solidFill>
                <a:ea typeface="ＭＳ Ｐゴシック" panose="020B0600070205080204" pitchFamily="34" charset="-128"/>
              </a:rPr>
              <a:t>(no sharing)</a:t>
            </a:r>
          </a:p>
          <a:p>
            <a:r>
              <a:rPr lang="en-US" altLang="en-US" sz="2400" dirty="0">
                <a:ea typeface="ＭＳ Ｐゴシック" panose="020B0600070205080204" pitchFamily="34" charset="-128"/>
              </a:rPr>
              <a:t>commonly used in traditional telephone networks</a:t>
            </a:r>
          </a:p>
          <a:p>
            <a:pPr marL="174625" indent="0">
              <a:buSzPct val="75000"/>
              <a:buNone/>
            </a:pPr>
            <a:endParaRPr lang="en-US" altLang="en-US" dirty="0"/>
          </a:p>
          <a:p>
            <a:endParaRPr lang="en-US" dirty="0"/>
          </a:p>
        </p:txBody>
      </p:sp>
      <p:sp>
        <p:nvSpPr>
          <p:cNvPr id="6" name="Slide Number Placeholder 5">
            <a:extLst>
              <a:ext uri="{FF2B5EF4-FFF2-40B4-BE49-F238E27FC236}">
                <a16:creationId xmlns:a16="http://schemas.microsoft.com/office/drawing/2014/main" id="{CE1EF030-E7A8-E1DB-0994-E945766C0E9E}"/>
              </a:ext>
            </a:extLst>
          </p:cNvPr>
          <p:cNvSpPr>
            <a:spLocks noGrp="1"/>
          </p:cNvSpPr>
          <p:nvPr>
            <p:ph type="sldNum" sz="quarter" idx="4"/>
          </p:nvPr>
        </p:nvSpPr>
        <p:spPr/>
        <p:txBody>
          <a:bodyPr/>
          <a:lstStyle/>
          <a:p>
            <a:r>
              <a:rPr lang="en-US"/>
              <a:t>Introduction: 1-</a:t>
            </a:r>
            <a:fld id="{C4204591-24BD-A542-B9D5-F8D8A88D2FEE}" type="slidenum">
              <a:rPr lang="en-US" smtClean="0"/>
              <a:pPr/>
              <a:t>7</a:t>
            </a:fld>
            <a:endParaRPr lang="en-US" dirty="0"/>
          </a:p>
        </p:txBody>
      </p:sp>
      <p:sp>
        <p:nvSpPr>
          <p:cNvPr id="614" name="Rectangle 613">
            <a:extLst>
              <a:ext uri="{FF2B5EF4-FFF2-40B4-BE49-F238E27FC236}">
                <a16:creationId xmlns:a16="http://schemas.microsoft.com/office/drawing/2014/main" id="{5DFF1461-DD1D-A82B-2BA5-6A39B56D0CD1}"/>
              </a:ext>
            </a:extLst>
          </p:cNvPr>
          <p:cNvSpPr/>
          <p:nvPr/>
        </p:nvSpPr>
        <p:spPr bwMode="auto">
          <a:xfrm>
            <a:off x="8424977" y="2768303"/>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1" name="Rectangle 630">
            <a:extLst>
              <a:ext uri="{FF2B5EF4-FFF2-40B4-BE49-F238E27FC236}">
                <a16:creationId xmlns:a16="http://schemas.microsoft.com/office/drawing/2014/main" id="{7A059FF2-22BF-F7E4-D463-2347602ED6D9}"/>
              </a:ext>
            </a:extLst>
          </p:cNvPr>
          <p:cNvSpPr/>
          <p:nvPr/>
        </p:nvSpPr>
        <p:spPr bwMode="auto">
          <a:xfrm>
            <a:off x="8424977" y="2831058"/>
            <a:ext cx="1498678" cy="627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2" name="Rectangle 631">
            <a:extLst>
              <a:ext uri="{FF2B5EF4-FFF2-40B4-BE49-F238E27FC236}">
                <a16:creationId xmlns:a16="http://schemas.microsoft.com/office/drawing/2014/main" id="{BC99BCA6-734B-D56B-4D5E-5534F9785330}"/>
              </a:ext>
            </a:extLst>
          </p:cNvPr>
          <p:cNvSpPr/>
          <p:nvPr/>
        </p:nvSpPr>
        <p:spPr bwMode="auto">
          <a:xfrm>
            <a:off x="8424977" y="2893815"/>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3" name="Rectangle 632">
            <a:extLst>
              <a:ext uri="{FF2B5EF4-FFF2-40B4-BE49-F238E27FC236}">
                <a16:creationId xmlns:a16="http://schemas.microsoft.com/office/drawing/2014/main" id="{86CBEA0B-0916-665F-F901-B07866815514}"/>
              </a:ext>
            </a:extLst>
          </p:cNvPr>
          <p:cNvSpPr/>
          <p:nvPr/>
        </p:nvSpPr>
        <p:spPr bwMode="auto">
          <a:xfrm>
            <a:off x="8424977" y="2956570"/>
            <a:ext cx="1498678" cy="627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nvGrpSpPr>
          <p:cNvPr id="635" name="Group 75">
            <a:extLst>
              <a:ext uri="{FF2B5EF4-FFF2-40B4-BE49-F238E27FC236}">
                <a16:creationId xmlns:a16="http://schemas.microsoft.com/office/drawing/2014/main" id="{D28C24FE-2786-5CB9-6C0A-DC86927B0E12}"/>
              </a:ext>
            </a:extLst>
          </p:cNvPr>
          <p:cNvGrpSpPr>
            <a:grpSpLocks/>
          </p:cNvGrpSpPr>
          <p:nvPr/>
        </p:nvGrpSpPr>
        <p:grpSpPr bwMode="auto">
          <a:xfrm rot="5400000">
            <a:off x="7309151" y="3674784"/>
            <a:ext cx="1446966" cy="261562"/>
            <a:chOff x="4876800" y="1143000"/>
            <a:chExt cx="1752600" cy="304800"/>
          </a:xfrm>
        </p:grpSpPr>
        <p:sp>
          <p:nvSpPr>
            <p:cNvPr id="675" name="Rectangle 674">
              <a:extLst>
                <a:ext uri="{FF2B5EF4-FFF2-40B4-BE49-F238E27FC236}">
                  <a16:creationId xmlns:a16="http://schemas.microsoft.com/office/drawing/2014/main" id="{B8D1AA51-D6F4-4D76-146E-EC96B40E2C0B}"/>
                </a:ext>
              </a:extLst>
            </p:cNvPr>
            <p:cNvSpPr/>
            <p:nvPr/>
          </p:nvSpPr>
          <p:spPr>
            <a:xfrm>
              <a:off x="4865941" y="11697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6" name="Rectangle 675">
              <a:extLst>
                <a:ext uri="{FF2B5EF4-FFF2-40B4-BE49-F238E27FC236}">
                  <a16:creationId xmlns:a16="http://schemas.microsoft.com/office/drawing/2014/main" id="{7BECFA8E-BB3E-8CC1-5DB1-01204EEEF9CC}"/>
                </a:ext>
              </a:extLst>
            </p:cNvPr>
            <p:cNvSpPr/>
            <p:nvPr/>
          </p:nvSpPr>
          <p:spPr>
            <a:xfrm>
              <a:off x="4865941" y="12459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7" name="Rectangle 676">
              <a:extLst>
                <a:ext uri="{FF2B5EF4-FFF2-40B4-BE49-F238E27FC236}">
                  <a16:creationId xmlns:a16="http://schemas.microsoft.com/office/drawing/2014/main" id="{1CDBD1C9-EA94-C697-9259-7BCE541BF5FC}"/>
                </a:ext>
              </a:extLst>
            </p:cNvPr>
            <p:cNvSpPr/>
            <p:nvPr/>
          </p:nvSpPr>
          <p:spPr>
            <a:xfrm>
              <a:off x="4865941" y="13221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8" name="Rectangle 677">
              <a:extLst>
                <a:ext uri="{FF2B5EF4-FFF2-40B4-BE49-F238E27FC236}">
                  <a16:creationId xmlns:a16="http://schemas.microsoft.com/office/drawing/2014/main" id="{7D6FE2DD-E756-BD8E-2CFC-09500E628C50}"/>
                </a:ext>
              </a:extLst>
            </p:cNvPr>
            <p:cNvSpPr/>
            <p:nvPr/>
          </p:nvSpPr>
          <p:spPr>
            <a:xfrm>
              <a:off x="4865941" y="13983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grpSp>
        <p:nvGrpSpPr>
          <p:cNvPr id="636" name="Group 80">
            <a:extLst>
              <a:ext uri="{FF2B5EF4-FFF2-40B4-BE49-F238E27FC236}">
                <a16:creationId xmlns:a16="http://schemas.microsoft.com/office/drawing/2014/main" id="{F7F232DB-5741-CBE5-D36A-60C8A98C4DDF}"/>
              </a:ext>
            </a:extLst>
          </p:cNvPr>
          <p:cNvGrpSpPr>
            <a:grpSpLocks/>
          </p:cNvGrpSpPr>
          <p:nvPr/>
        </p:nvGrpSpPr>
        <p:grpSpPr bwMode="auto">
          <a:xfrm>
            <a:off x="8509808" y="4656351"/>
            <a:ext cx="1479238" cy="251023"/>
            <a:chOff x="4876800" y="1143000"/>
            <a:chExt cx="1752600" cy="304800"/>
          </a:xfrm>
        </p:grpSpPr>
        <p:sp>
          <p:nvSpPr>
            <p:cNvPr id="671" name="Rectangle 670">
              <a:extLst>
                <a:ext uri="{FF2B5EF4-FFF2-40B4-BE49-F238E27FC236}">
                  <a16:creationId xmlns:a16="http://schemas.microsoft.com/office/drawing/2014/main" id="{E0C4BF95-DBBC-AC54-4466-66D1E41623A3}"/>
                </a:ext>
              </a:extLst>
            </p:cNvPr>
            <p:cNvSpPr/>
            <p:nvPr/>
          </p:nvSpPr>
          <p:spPr>
            <a:xfrm>
              <a:off x="4876800" y="11430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2" name="Rectangle 671">
              <a:extLst>
                <a:ext uri="{FF2B5EF4-FFF2-40B4-BE49-F238E27FC236}">
                  <a16:creationId xmlns:a16="http://schemas.microsoft.com/office/drawing/2014/main" id="{8301FF59-B058-68B7-22BA-581E263963F5}"/>
                </a:ext>
              </a:extLst>
            </p:cNvPr>
            <p:cNvSpPr/>
            <p:nvPr/>
          </p:nvSpPr>
          <p:spPr>
            <a:xfrm>
              <a:off x="4876800" y="12192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3" name="Rectangle 672">
              <a:extLst>
                <a:ext uri="{FF2B5EF4-FFF2-40B4-BE49-F238E27FC236}">
                  <a16:creationId xmlns:a16="http://schemas.microsoft.com/office/drawing/2014/main" id="{EFEF94A8-50B3-379C-A101-AF93A401BCFA}"/>
                </a:ext>
              </a:extLst>
            </p:cNvPr>
            <p:cNvSpPr/>
            <p:nvPr/>
          </p:nvSpPr>
          <p:spPr>
            <a:xfrm>
              <a:off x="4876800" y="12954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74" name="Rectangle 673">
              <a:extLst>
                <a:ext uri="{FF2B5EF4-FFF2-40B4-BE49-F238E27FC236}">
                  <a16:creationId xmlns:a16="http://schemas.microsoft.com/office/drawing/2014/main" id="{A1ADD4D5-7DD5-9F18-2EF6-42BD848B9136}"/>
                </a:ext>
              </a:extLst>
            </p:cNvPr>
            <p:cNvSpPr/>
            <p:nvPr/>
          </p:nvSpPr>
          <p:spPr>
            <a:xfrm>
              <a:off x="4876800" y="13716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sp>
        <p:nvSpPr>
          <p:cNvPr id="637" name="Rectangle 636">
            <a:extLst>
              <a:ext uri="{FF2B5EF4-FFF2-40B4-BE49-F238E27FC236}">
                <a16:creationId xmlns:a16="http://schemas.microsoft.com/office/drawing/2014/main" id="{7480A4AB-F3B9-D62B-937B-4248949815F5}"/>
              </a:ext>
            </a:extLst>
          </p:cNvPr>
          <p:cNvSpPr/>
          <p:nvPr/>
        </p:nvSpPr>
        <p:spPr bwMode="auto">
          <a:xfrm rot="5400000">
            <a:off x="9755990"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8" name="Rectangle 637">
            <a:extLst>
              <a:ext uri="{FF2B5EF4-FFF2-40B4-BE49-F238E27FC236}">
                <a16:creationId xmlns:a16="http://schemas.microsoft.com/office/drawing/2014/main" id="{868EC5CC-8CB5-0D89-828B-6CD0BDAA02B7}"/>
              </a:ext>
            </a:extLst>
          </p:cNvPr>
          <p:cNvSpPr/>
          <p:nvPr/>
        </p:nvSpPr>
        <p:spPr bwMode="auto">
          <a:xfrm rot="5400000">
            <a:off x="9690600" y="3772869"/>
            <a:ext cx="1446966" cy="65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39" name="Rectangle 638">
            <a:extLst>
              <a:ext uri="{FF2B5EF4-FFF2-40B4-BE49-F238E27FC236}">
                <a16:creationId xmlns:a16="http://schemas.microsoft.com/office/drawing/2014/main" id="{C527C42D-2BC8-076D-6906-625784225C27}"/>
              </a:ext>
            </a:extLst>
          </p:cNvPr>
          <p:cNvSpPr/>
          <p:nvPr/>
        </p:nvSpPr>
        <p:spPr bwMode="auto">
          <a:xfrm rot="5400000">
            <a:off x="9625209"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641" name="Rectangle 640">
            <a:extLst>
              <a:ext uri="{FF2B5EF4-FFF2-40B4-BE49-F238E27FC236}">
                <a16:creationId xmlns:a16="http://schemas.microsoft.com/office/drawing/2014/main" id="{87BBC43A-1A1D-E72E-3883-6CB571D4783E}"/>
              </a:ext>
            </a:extLst>
          </p:cNvPr>
          <p:cNvSpPr/>
          <p:nvPr/>
        </p:nvSpPr>
        <p:spPr bwMode="auto">
          <a:xfrm rot="5400000">
            <a:off x="9559819" y="3772869"/>
            <a:ext cx="1446966" cy="6539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nvGrpSpPr>
          <p:cNvPr id="650" name="Group 100">
            <a:extLst>
              <a:ext uri="{FF2B5EF4-FFF2-40B4-BE49-F238E27FC236}">
                <a16:creationId xmlns:a16="http://schemas.microsoft.com/office/drawing/2014/main" id="{E98DA9F9-AA1A-0113-F704-4AF45D747771}"/>
              </a:ext>
            </a:extLst>
          </p:cNvPr>
          <p:cNvGrpSpPr>
            <a:grpSpLocks/>
          </p:cNvGrpSpPr>
          <p:nvPr/>
        </p:nvGrpSpPr>
        <p:grpSpPr bwMode="auto">
          <a:xfrm>
            <a:off x="10013910" y="1711520"/>
            <a:ext cx="701622" cy="568387"/>
            <a:chOff x="-44" y="1473"/>
            <a:chExt cx="981" cy="1105"/>
          </a:xfrm>
        </p:grpSpPr>
        <p:pic>
          <p:nvPicPr>
            <p:cNvPr id="669" name="Picture 101" descr="desktop_computer_stylized_medium">
              <a:extLst>
                <a:ext uri="{FF2B5EF4-FFF2-40B4-BE49-F238E27FC236}">
                  <a16:creationId xmlns:a16="http://schemas.microsoft.com/office/drawing/2014/main" id="{FFE21E09-5EEB-AD5A-9FF6-0A30748758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0" name="Freeform 102">
              <a:extLst>
                <a:ext uri="{FF2B5EF4-FFF2-40B4-BE49-F238E27FC236}">
                  <a16:creationId xmlns:a16="http://schemas.microsoft.com/office/drawing/2014/main" id="{22B2858B-9488-69FF-9FB0-0E7337DAC15E}"/>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654" name="Rectangle 653">
            <a:extLst>
              <a:ext uri="{FF2B5EF4-FFF2-40B4-BE49-F238E27FC236}">
                <a16:creationId xmlns:a16="http://schemas.microsoft.com/office/drawing/2014/main" id="{22F95E8C-AD90-1765-9A4D-A48AC09EF5D0}"/>
              </a:ext>
            </a:extLst>
          </p:cNvPr>
          <p:cNvSpPr/>
          <p:nvPr/>
        </p:nvSpPr>
        <p:spPr bwMode="auto">
          <a:xfrm rot="2465437" flipV="1">
            <a:off x="10213493" y="4720899"/>
            <a:ext cx="581445" cy="645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18" name="Rectangle 717">
            <a:extLst>
              <a:ext uri="{FF2B5EF4-FFF2-40B4-BE49-F238E27FC236}">
                <a16:creationId xmlns:a16="http://schemas.microsoft.com/office/drawing/2014/main" id="{BBC1EF1B-3A2E-1D93-7117-325F4B2E5E4A}"/>
              </a:ext>
            </a:extLst>
          </p:cNvPr>
          <p:cNvSpPr/>
          <p:nvPr/>
        </p:nvSpPr>
        <p:spPr bwMode="auto">
          <a:xfrm>
            <a:off x="7105364" y="479538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19" name="Rectangle 718">
            <a:extLst>
              <a:ext uri="{FF2B5EF4-FFF2-40B4-BE49-F238E27FC236}">
                <a16:creationId xmlns:a16="http://schemas.microsoft.com/office/drawing/2014/main" id="{6DE2D772-7A74-DB9F-0152-4F5AEDAF28BB}"/>
              </a:ext>
            </a:extLst>
          </p:cNvPr>
          <p:cNvSpPr/>
          <p:nvPr/>
        </p:nvSpPr>
        <p:spPr bwMode="auto">
          <a:xfrm rot="5400000">
            <a:off x="7722581" y="2362276"/>
            <a:ext cx="513165" cy="6978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0" name="Rectangle 719">
            <a:extLst>
              <a:ext uri="{FF2B5EF4-FFF2-40B4-BE49-F238E27FC236}">
                <a16:creationId xmlns:a16="http://schemas.microsoft.com/office/drawing/2014/main" id="{6A08A9E6-0F83-46D7-CC1D-6FA552B44B92}"/>
              </a:ext>
            </a:extLst>
          </p:cNvPr>
          <p:cNvSpPr/>
          <p:nvPr/>
        </p:nvSpPr>
        <p:spPr bwMode="auto">
          <a:xfrm rot="5400000">
            <a:off x="7825925" y="5242087"/>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1" name="Rectangle 720">
            <a:extLst>
              <a:ext uri="{FF2B5EF4-FFF2-40B4-BE49-F238E27FC236}">
                <a16:creationId xmlns:a16="http://schemas.microsoft.com/office/drawing/2014/main" id="{171A074A-7DFF-7DF5-0D63-A8276D060196}"/>
              </a:ext>
            </a:extLst>
          </p:cNvPr>
          <p:cNvSpPr/>
          <p:nvPr/>
        </p:nvSpPr>
        <p:spPr bwMode="auto">
          <a:xfrm rot="5400000">
            <a:off x="10201295" y="5217275"/>
            <a:ext cx="493905" cy="6833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2" name="Rectangle 721">
            <a:extLst>
              <a:ext uri="{FF2B5EF4-FFF2-40B4-BE49-F238E27FC236}">
                <a16:creationId xmlns:a16="http://schemas.microsoft.com/office/drawing/2014/main" id="{31340E07-25F6-99D4-3394-C4CA47D72B3E}"/>
              </a:ext>
            </a:extLst>
          </p:cNvPr>
          <p:cNvSpPr/>
          <p:nvPr/>
        </p:nvSpPr>
        <p:spPr bwMode="auto">
          <a:xfrm rot="10800000">
            <a:off x="10882518" y="4775822"/>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3" name="Rectangle 722">
            <a:extLst>
              <a:ext uri="{FF2B5EF4-FFF2-40B4-BE49-F238E27FC236}">
                <a16:creationId xmlns:a16="http://schemas.microsoft.com/office/drawing/2014/main" id="{21DDE37B-4764-A68D-434D-D3A88672360A}"/>
              </a:ext>
            </a:extLst>
          </p:cNvPr>
          <p:cNvSpPr/>
          <p:nvPr/>
        </p:nvSpPr>
        <p:spPr bwMode="auto">
          <a:xfrm>
            <a:off x="7002625" y="2887816"/>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4" name="Rectangle 723">
            <a:extLst>
              <a:ext uri="{FF2B5EF4-FFF2-40B4-BE49-F238E27FC236}">
                <a16:creationId xmlns:a16="http://schemas.microsoft.com/office/drawing/2014/main" id="{5DA4DE2B-4328-B7EF-CEF3-60DD3BBDF7CD}"/>
              </a:ext>
            </a:extLst>
          </p:cNvPr>
          <p:cNvSpPr/>
          <p:nvPr/>
        </p:nvSpPr>
        <p:spPr bwMode="auto">
          <a:xfrm>
            <a:off x="10811014" y="2867389"/>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25" name="Rectangle 724">
            <a:extLst>
              <a:ext uri="{FF2B5EF4-FFF2-40B4-BE49-F238E27FC236}">
                <a16:creationId xmlns:a16="http://schemas.microsoft.com/office/drawing/2014/main" id="{D2CE54C3-7363-D07C-2777-7E1B06C724D0}"/>
              </a:ext>
            </a:extLst>
          </p:cNvPr>
          <p:cNvSpPr/>
          <p:nvPr/>
        </p:nvSpPr>
        <p:spPr bwMode="auto">
          <a:xfrm rot="5400000">
            <a:off x="10115327" y="234812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grpSp>
        <p:nvGrpSpPr>
          <p:cNvPr id="613" name="Group 100">
            <a:extLst>
              <a:ext uri="{FF2B5EF4-FFF2-40B4-BE49-F238E27FC236}">
                <a16:creationId xmlns:a16="http://schemas.microsoft.com/office/drawing/2014/main" id="{A09CBEAE-E9EE-8475-5B9E-6EC0FDC00C9D}"/>
              </a:ext>
            </a:extLst>
          </p:cNvPr>
          <p:cNvGrpSpPr>
            <a:grpSpLocks/>
          </p:cNvGrpSpPr>
          <p:nvPr/>
        </p:nvGrpSpPr>
        <p:grpSpPr bwMode="auto">
          <a:xfrm>
            <a:off x="9946631" y="5393995"/>
            <a:ext cx="703389" cy="568387"/>
            <a:chOff x="-44" y="1473"/>
            <a:chExt cx="981" cy="1105"/>
          </a:xfrm>
        </p:grpSpPr>
        <p:pic>
          <p:nvPicPr>
            <p:cNvPr id="687" name="Picture 101" descr="desktop_computer_stylized_medium">
              <a:extLst>
                <a:ext uri="{FF2B5EF4-FFF2-40B4-BE49-F238E27FC236}">
                  <a16:creationId xmlns:a16="http://schemas.microsoft.com/office/drawing/2014/main" id="{12F8003D-4B13-D66B-F72D-F8CD3F068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8" name="Freeform 102">
              <a:extLst>
                <a:ext uri="{FF2B5EF4-FFF2-40B4-BE49-F238E27FC236}">
                  <a16:creationId xmlns:a16="http://schemas.microsoft.com/office/drawing/2014/main" id="{BC9CC4E4-4174-C013-A3BF-78D6A97BDA46}"/>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12" name="Group 100">
            <a:extLst>
              <a:ext uri="{FF2B5EF4-FFF2-40B4-BE49-F238E27FC236}">
                <a16:creationId xmlns:a16="http://schemas.microsoft.com/office/drawing/2014/main" id="{7F7D5B77-94A8-EE25-5B1A-D4C1C0C4E196}"/>
              </a:ext>
            </a:extLst>
          </p:cNvPr>
          <p:cNvGrpSpPr>
            <a:grpSpLocks/>
          </p:cNvGrpSpPr>
          <p:nvPr/>
        </p:nvGrpSpPr>
        <p:grpSpPr bwMode="auto">
          <a:xfrm>
            <a:off x="7560992" y="1744853"/>
            <a:ext cx="703389" cy="568387"/>
            <a:chOff x="-44" y="1473"/>
            <a:chExt cx="981" cy="1105"/>
          </a:xfrm>
        </p:grpSpPr>
        <p:pic>
          <p:nvPicPr>
            <p:cNvPr id="689" name="Picture 101" descr="desktop_computer_stylized_medium">
              <a:extLst>
                <a:ext uri="{FF2B5EF4-FFF2-40B4-BE49-F238E27FC236}">
                  <a16:creationId xmlns:a16="http://schemas.microsoft.com/office/drawing/2014/main" id="{D662F6F7-8047-5629-C60E-0D6C18F0BE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0" name="Freeform 102">
              <a:extLst>
                <a:ext uri="{FF2B5EF4-FFF2-40B4-BE49-F238E27FC236}">
                  <a16:creationId xmlns:a16="http://schemas.microsoft.com/office/drawing/2014/main" id="{95CBC2CB-A52C-3DE9-499B-3E551253F9B3}"/>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27" name="Group 726">
            <a:extLst>
              <a:ext uri="{FF2B5EF4-FFF2-40B4-BE49-F238E27FC236}">
                <a16:creationId xmlns:a16="http://schemas.microsoft.com/office/drawing/2014/main" id="{6FEC6E7E-27AF-FFCE-0581-546B66D91132}"/>
              </a:ext>
            </a:extLst>
          </p:cNvPr>
          <p:cNvGrpSpPr/>
          <p:nvPr/>
        </p:nvGrpSpPr>
        <p:grpSpPr>
          <a:xfrm>
            <a:off x="7484685" y="2654601"/>
            <a:ext cx="946204" cy="493906"/>
            <a:chOff x="7493876" y="2774731"/>
            <a:chExt cx="1481958" cy="894622"/>
          </a:xfrm>
        </p:grpSpPr>
        <p:sp>
          <p:nvSpPr>
            <p:cNvPr id="728" name="Freeform 727">
              <a:extLst>
                <a:ext uri="{FF2B5EF4-FFF2-40B4-BE49-F238E27FC236}">
                  <a16:creationId xmlns:a16="http://schemas.microsoft.com/office/drawing/2014/main" id="{E7354072-7BC1-95DD-6EAD-D127423D700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29" name="Oval 728">
              <a:extLst>
                <a:ext uri="{FF2B5EF4-FFF2-40B4-BE49-F238E27FC236}">
                  <a16:creationId xmlns:a16="http://schemas.microsoft.com/office/drawing/2014/main" id="{7C7A55A6-B364-7923-5E27-71CB45F79E2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30" name="Group 729">
              <a:extLst>
                <a:ext uri="{FF2B5EF4-FFF2-40B4-BE49-F238E27FC236}">
                  <a16:creationId xmlns:a16="http://schemas.microsoft.com/office/drawing/2014/main" id="{B3B7B5B2-B0CB-9FFA-7075-92E3698356BF}"/>
                </a:ext>
              </a:extLst>
            </p:cNvPr>
            <p:cNvGrpSpPr/>
            <p:nvPr/>
          </p:nvGrpSpPr>
          <p:grpSpPr>
            <a:xfrm>
              <a:off x="7713663" y="2848339"/>
              <a:ext cx="1042107" cy="425543"/>
              <a:chOff x="7786941" y="2884917"/>
              <a:chExt cx="897649" cy="353919"/>
            </a:xfrm>
          </p:grpSpPr>
          <p:sp>
            <p:nvSpPr>
              <p:cNvPr id="731" name="Freeform 730">
                <a:extLst>
                  <a:ext uri="{FF2B5EF4-FFF2-40B4-BE49-F238E27FC236}">
                    <a16:creationId xmlns:a16="http://schemas.microsoft.com/office/drawing/2014/main" id="{8935E2BE-3E39-2D34-D118-810A2BB4924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Freeform 731">
                <a:extLst>
                  <a:ext uri="{FF2B5EF4-FFF2-40B4-BE49-F238E27FC236}">
                    <a16:creationId xmlns:a16="http://schemas.microsoft.com/office/drawing/2014/main" id="{6D0B767F-ABB1-10C1-64FB-3296425898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Freeform 732">
                <a:extLst>
                  <a:ext uri="{FF2B5EF4-FFF2-40B4-BE49-F238E27FC236}">
                    <a16:creationId xmlns:a16="http://schemas.microsoft.com/office/drawing/2014/main" id="{A4F70DCB-E0BD-10A9-8EEA-0BF76FA61FB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Freeform 733">
                <a:extLst>
                  <a:ext uri="{FF2B5EF4-FFF2-40B4-BE49-F238E27FC236}">
                    <a16:creationId xmlns:a16="http://schemas.microsoft.com/office/drawing/2014/main" id="{B77DB87A-D316-EA25-A34D-510A6076273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35" name="Group 734">
            <a:extLst>
              <a:ext uri="{FF2B5EF4-FFF2-40B4-BE49-F238E27FC236}">
                <a16:creationId xmlns:a16="http://schemas.microsoft.com/office/drawing/2014/main" id="{EE1D9035-AED8-BDA0-A11D-04F014D6CAFB}"/>
              </a:ext>
            </a:extLst>
          </p:cNvPr>
          <p:cNvGrpSpPr/>
          <p:nvPr/>
        </p:nvGrpSpPr>
        <p:grpSpPr>
          <a:xfrm>
            <a:off x="7567435" y="4520082"/>
            <a:ext cx="946204" cy="493906"/>
            <a:chOff x="7493876" y="2774731"/>
            <a:chExt cx="1481958" cy="894622"/>
          </a:xfrm>
        </p:grpSpPr>
        <p:sp>
          <p:nvSpPr>
            <p:cNvPr id="736" name="Freeform 735">
              <a:extLst>
                <a:ext uri="{FF2B5EF4-FFF2-40B4-BE49-F238E27FC236}">
                  <a16:creationId xmlns:a16="http://schemas.microsoft.com/office/drawing/2014/main" id="{E600E888-8BBB-2D1F-9398-02D8FFEF070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37" name="Oval 736">
              <a:extLst>
                <a:ext uri="{FF2B5EF4-FFF2-40B4-BE49-F238E27FC236}">
                  <a16:creationId xmlns:a16="http://schemas.microsoft.com/office/drawing/2014/main" id="{8EC96A27-7DE3-039A-1024-DD156F1E98D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38" name="Group 737">
              <a:extLst>
                <a:ext uri="{FF2B5EF4-FFF2-40B4-BE49-F238E27FC236}">
                  <a16:creationId xmlns:a16="http://schemas.microsoft.com/office/drawing/2014/main" id="{CFE09DE9-BCFB-6384-E68A-96EDFA987947}"/>
                </a:ext>
              </a:extLst>
            </p:cNvPr>
            <p:cNvGrpSpPr/>
            <p:nvPr/>
          </p:nvGrpSpPr>
          <p:grpSpPr>
            <a:xfrm>
              <a:off x="7713663" y="2848339"/>
              <a:ext cx="1042107" cy="425543"/>
              <a:chOff x="7786941" y="2884917"/>
              <a:chExt cx="897649" cy="353919"/>
            </a:xfrm>
          </p:grpSpPr>
          <p:sp>
            <p:nvSpPr>
              <p:cNvPr id="739" name="Freeform 738">
                <a:extLst>
                  <a:ext uri="{FF2B5EF4-FFF2-40B4-BE49-F238E27FC236}">
                    <a16:creationId xmlns:a16="http://schemas.microsoft.com/office/drawing/2014/main" id="{B2E625A7-900D-A93B-1754-2F24CAD1126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Freeform 739">
                <a:extLst>
                  <a:ext uri="{FF2B5EF4-FFF2-40B4-BE49-F238E27FC236}">
                    <a16:creationId xmlns:a16="http://schemas.microsoft.com/office/drawing/2014/main" id="{84862D88-8EC2-9368-B3C3-7BF119D38B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Freeform 740">
                <a:extLst>
                  <a:ext uri="{FF2B5EF4-FFF2-40B4-BE49-F238E27FC236}">
                    <a16:creationId xmlns:a16="http://schemas.microsoft.com/office/drawing/2014/main" id="{E0AC5EAF-3022-C10F-3AC1-3001135848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Freeform 741">
                <a:extLst>
                  <a:ext uri="{FF2B5EF4-FFF2-40B4-BE49-F238E27FC236}">
                    <a16:creationId xmlns:a16="http://schemas.microsoft.com/office/drawing/2014/main" id="{997A945B-37A0-A950-99B7-CE88EE9E5B7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43" name="Group 742">
            <a:extLst>
              <a:ext uri="{FF2B5EF4-FFF2-40B4-BE49-F238E27FC236}">
                <a16:creationId xmlns:a16="http://schemas.microsoft.com/office/drawing/2014/main" id="{77C8FB7F-D401-7311-8EBE-A6E67E655035}"/>
              </a:ext>
            </a:extLst>
          </p:cNvPr>
          <p:cNvGrpSpPr/>
          <p:nvPr/>
        </p:nvGrpSpPr>
        <p:grpSpPr>
          <a:xfrm>
            <a:off x="9940980" y="4520082"/>
            <a:ext cx="946204" cy="493906"/>
            <a:chOff x="7493876" y="2774731"/>
            <a:chExt cx="1481958" cy="894622"/>
          </a:xfrm>
        </p:grpSpPr>
        <p:sp>
          <p:nvSpPr>
            <p:cNvPr id="744" name="Freeform 743">
              <a:extLst>
                <a:ext uri="{FF2B5EF4-FFF2-40B4-BE49-F238E27FC236}">
                  <a16:creationId xmlns:a16="http://schemas.microsoft.com/office/drawing/2014/main" id="{0F08C7FE-F15D-5F9B-527E-864D3B748A0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45" name="Oval 744">
              <a:extLst>
                <a:ext uri="{FF2B5EF4-FFF2-40B4-BE49-F238E27FC236}">
                  <a16:creationId xmlns:a16="http://schemas.microsoft.com/office/drawing/2014/main" id="{E98C6170-B906-A7BA-F452-3D4505A486B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46" name="Group 745">
              <a:extLst>
                <a:ext uri="{FF2B5EF4-FFF2-40B4-BE49-F238E27FC236}">
                  <a16:creationId xmlns:a16="http://schemas.microsoft.com/office/drawing/2014/main" id="{03443EE1-58DB-3E2A-B5C5-CD50D39805F0}"/>
                </a:ext>
              </a:extLst>
            </p:cNvPr>
            <p:cNvGrpSpPr/>
            <p:nvPr/>
          </p:nvGrpSpPr>
          <p:grpSpPr>
            <a:xfrm>
              <a:off x="7713663" y="2848339"/>
              <a:ext cx="1042107" cy="425543"/>
              <a:chOff x="7786941" y="2884917"/>
              <a:chExt cx="897649" cy="353919"/>
            </a:xfrm>
          </p:grpSpPr>
          <p:sp>
            <p:nvSpPr>
              <p:cNvPr id="747" name="Freeform 746">
                <a:extLst>
                  <a:ext uri="{FF2B5EF4-FFF2-40B4-BE49-F238E27FC236}">
                    <a16:creationId xmlns:a16="http://schemas.microsoft.com/office/drawing/2014/main" id="{8C9248F7-4886-457E-65D2-6EB63F096CD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Freeform 747">
                <a:extLst>
                  <a:ext uri="{FF2B5EF4-FFF2-40B4-BE49-F238E27FC236}">
                    <a16:creationId xmlns:a16="http://schemas.microsoft.com/office/drawing/2014/main" id="{D9333D08-97F3-8908-5B84-F092FE5CE3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Freeform 748">
                <a:extLst>
                  <a:ext uri="{FF2B5EF4-FFF2-40B4-BE49-F238E27FC236}">
                    <a16:creationId xmlns:a16="http://schemas.microsoft.com/office/drawing/2014/main" id="{4A951E1F-59A1-6ACF-8F91-93CBA01D0AA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Freeform 749">
                <a:extLst>
                  <a:ext uri="{FF2B5EF4-FFF2-40B4-BE49-F238E27FC236}">
                    <a16:creationId xmlns:a16="http://schemas.microsoft.com/office/drawing/2014/main" id="{31879FB8-6982-7C87-475E-6CF7B54C111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51" name="Group 750">
            <a:extLst>
              <a:ext uri="{FF2B5EF4-FFF2-40B4-BE49-F238E27FC236}">
                <a16:creationId xmlns:a16="http://schemas.microsoft.com/office/drawing/2014/main" id="{BBC7530D-57C1-5E7F-F43F-B26F10A4DBDE}"/>
              </a:ext>
            </a:extLst>
          </p:cNvPr>
          <p:cNvGrpSpPr/>
          <p:nvPr/>
        </p:nvGrpSpPr>
        <p:grpSpPr>
          <a:xfrm>
            <a:off x="9889177" y="2634520"/>
            <a:ext cx="946204" cy="493906"/>
            <a:chOff x="7493876" y="2774731"/>
            <a:chExt cx="1481958" cy="894622"/>
          </a:xfrm>
        </p:grpSpPr>
        <p:sp>
          <p:nvSpPr>
            <p:cNvPr id="752" name="Freeform 751">
              <a:extLst>
                <a:ext uri="{FF2B5EF4-FFF2-40B4-BE49-F238E27FC236}">
                  <a16:creationId xmlns:a16="http://schemas.microsoft.com/office/drawing/2014/main" id="{7D8A4479-B78D-39D1-9638-09346DFAA43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753" name="Oval 752">
              <a:extLst>
                <a:ext uri="{FF2B5EF4-FFF2-40B4-BE49-F238E27FC236}">
                  <a16:creationId xmlns:a16="http://schemas.microsoft.com/office/drawing/2014/main" id="{9BDD8BA9-DFC2-0FEC-EE3F-C69B3DF58BF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54" name="Group 753">
              <a:extLst>
                <a:ext uri="{FF2B5EF4-FFF2-40B4-BE49-F238E27FC236}">
                  <a16:creationId xmlns:a16="http://schemas.microsoft.com/office/drawing/2014/main" id="{3579AE0D-8232-AA1B-6D16-20E408040D06}"/>
                </a:ext>
              </a:extLst>
            </p:cNvPr>
            <p:cNvGrpSpPr/>
            <p:nvPr/>
          </p:nvGrpSpPr>
          <p:grpSpPr>
            <a:xfrm>
              <a:off x="7713663" y="2848339"/>
              <a:ext cx="1042107" cy="425543"/>
              <a:chOff x="7786941" y="2884917"/>
              <a:chExt cx="897649" cy="353919"/>
            </a:xfrm>
          </p:grpSpPr>
          <p:sp>
            <p:nvSpPr>
              <p:cNvPr id="755" name="Freeform 754">
                <a:extLst>
                  <a:ext uri="{FF2B5EF4-FFF2-40B4-BE49-F238E27FC236}">
                    <a16:creationId xmlns:a16="http://schemas.microsoft.com/office/drawing/2014/main" id="{595CC9D1-EB3C-B970-FC52-8F1DBA11FA1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Freeform 755">
                <a:extLst>
                  <a:ext uri="{FF2B5EF4-FFF2-40B4-BE49-F238E27FC236}">
                    <a16:creationId xmlns:a16="http://schemas.microsoft.com/office/drawing/2014/main" id="{E0E73A58-8432-A28F-304E-A99F8E19D4F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Freeform 756">
                <a:extLst>
                  <a:ext uri="{FF2B5EF4-FFF2-40B4-BE49-F238E27FC236}">
                    <a16:creationId xmlns:a16="http://schemas.microsoft.com/office/drawing/2014/main" id="{7AD97640-332A-736C-8002-0D22FEA485A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Freeform 757">
                <a:extLst>
                  <a:ext uri="{FF2B5EF4-FFF2-40B4-BE49-F238E27FC236}">
                    <a16:creationId xmlns:a16="http://schemas.microsoft.com/office/drawing/2014/main" id="{5F1011E9-772B-5398-D778-59DE62A2964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652" name="Rectangle 651">
            <a:extLst>
              <a:ext uri="{FF2B5EF4-FFF2-40B4-BE49-F238E27FC236}">
                <a16:creationId xmlns:a16="http://schemas.microsoft.com/office/drawing/2014/main" id="{0D23994F-BAE9-074D-0F7F-E4743D9D4E1F}"/>
              </a:ext>
            </a:extLst>
          </p:cNvPr>
          <p:cNvSpPr/>
          <p:nvPr/>
        </p:nvSpPr>
        <p:spPr bwMode="auto">
          <a:xfrm rot="1634516">
            <a:off x="7940837" y="2709093"/>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59" name="Rectangle 758">
            <a:extLst>
              <a:ext uri="{FF2B5EF4-FFF2-40B4-BE49-F238E27FC236}">
                <a16:creationId xmlns:a16="http://schemas.microsoft.com/office/drawing/2014/main" id="{7684E4EA-0C16-1151-5386-4D459A94F829}"/>
              </a:ext>
            </a:extLst>
          </p:cNvPr>
          <p:cNvSpPr/>
          <p:nvPr/>
        </p:nvSpPr>
        <p:spPr bwMode="auto">
          <a:xfrm rot="2101064">
            <a:off x="9817292" y="2970721"/>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
        <p:nvSpPr>
          <p:cNvPr id="760" name="Rectangle 759">
            <a:extLst>
              <a:ext uri="{FF2B5EF4-FFF2-40B4-BE49-F238E27FC236}">
                <a16:creationId xmlns:a16="http://schemas.microsoft.com/office/drawing/2014/main" id="{B27B96B4-BF52-AB33-3697-4ECA46990F77}"/>
              </a:ext>
            </a:extLst>
          </p:cNvPr>
          <p:cNvSpPr/>
          <p:nvPr/>
        </p:nvSpPr>
        <p:spPr bwMode="auto">
          <a:xfrm rot="4253584">
            <a:off x="10096993" y="4729744"/>
            <a:ext cx="547683" cy="757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ea typeface="ＭＳ Ｐゴシック" charset="0"/>
              <a:cs typeface="ＭＳ Ｐゴシック" charset="0"/>
            </a:endParaRPr>
          </a:p>
        </p:txBody>
      </p:sp>
    </p:spTree>
    <p:extLst>
      <p:ext uri="{BB962C8B-B14F-4D97-AF65-F5344CB8AC3E}">
        <p14:creationId xmlns:p14="http://schemas.microsoft.com/office/powerpoint/2010/main" val="2855048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FCE84-C254-4FE4-AD34-8F7157782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7CCEE-8F6E-334B-2AF0-E668254E5809}"/>
              </a:ext>
            </a:extLst>
          </p:cNvPr>
          <p:cNvSpPr>
            <a:spLocks noGrp="1"/>
          </p:cNvSpPr>
          <p:nvPr>
            <p:ph type="title"/>
          </p:nvPr>
        </p:nvSpPr>
        <p:spPr>
          <a:xfrm>
            <a:off x="838200" y="244222"/>
            <a:ext cx="10515600" cy="894622"/>
          </a:xfrm>
        </p:spPr>
        <p:txBody>
          <a:bodyPr/>
          <a:lstStyle/>
          <a:p>
            <a:r>
              <a:rPr lang="en-US" altLang="ja-JP" dirty="0"/>
              <a:t>Packet switching versus circuit switching</a:t>
            </a:r>
            <a:endParaRPr lang="en-US" dirty="0"/>
          </a:p>
        </p:txBody>
      </p:sp>
      <p:sp>
        <p:nvSpPr>
          <p:cNvPr id="6" name="Slide Number Placeholder 5">
            <a:extLst>
              <a:ext uri="{FF2B5EF4-FFF2-40B4-BE49-F238E27FC236}">
                <a16:creationId xmlns:a16="http://schemas.microsoft.com/office/drawing/2014/main" id="{1D3DAEE8-9119-05FE-F3E0-53B5C3431478}"/>
              </a:ext>
            </a:extLst>
          </p:cNvPr>
          <p:cNvSpPr>
            <a:spLocks noGrp="1"/>
          </p:cNvSpPr>
          <p:nvPr>
            <p:ph type="sldNum" sz="quarter" idx="4"/>
          </p:nvPr>
        </p:nvSpPr>
        <p:spPr/>
        <p:txBody>
          <a:bodyPr/>
          <a:lstStyle/>
          <a:p>
            <a:r>
              <a:rPr lang="en-US"/>
              <a:t>Introduction: 1-</a:t>
            </a:r>
            <a:fld id="{C4204591-24BD-A542-B9D5-F8D8A88D2FEE}" type="slidenum">
              <a:rPr lang="en-US" smtClean="0"/>
              <a:pPr/>
              <a:t>8</a:t>
            </a:fld>
            <a:endParaRPr lang="en-US" dirty="0"/>
          </a:p>
        </p:txBody>
      </p:sp>
      <p:sp>
        <p:nvSpPr>
          <p:cNvPr id="32" name="Rectangle 3">
            <a:extLst>
              <a:ext uri="{FF2B5EF4-FFF2-40B4-BE49-F238E27FC236}">
                <a16:creationId xmlns:a16="http://schemas.microsoft.com/office/drawing/2014/main" id="{5432C208-8A2B-909C-5F5F-720670355158}"/>
              </a:ext>
            </a:extLst>
          </p:cNvPr>
          <p:cNvSpPr txBox="1">
            <a:spLocks noChangeArrowheads="1"/>
          </p:cNvSpPr>
          <p:nvPr/>
        </p:nvSpPr>
        <p:spPr>
          <a:xfrm>
            <a:off x="883212" y="1729966"/>
            <a:ext cx="10470588"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sz="2400" dirty="0">
                <a:ea typeface="ＭＳ Ｐゴシック" panose="020B0600070205080204" pitchFamily="34" charset="-128"/>
              </a:rPr>
              <a:t>great for “</a:t>
            </a:r>
            <a:r>
              <a:rPr lang="en-US" altLang="en-US" sz="2400" dirty="0" err="1">
                <a:ea typeface="ＭＳ Ｐゴシック" panose="020B0600070205080204" pitchFamily="34" charset="-128"/>
              </a:rPr>
              <a:t>bursty</a:t>
            </a:r>
            <a:r>
              <a:rPr lang="en-US" altLang="en-US" sz="2400" dirty="0">
                <a:ea typeface="ＭＳ Ｐゴシック" panose="020B0600070205080204" pitchFamily="34" charset="-128"/>
              </a:rPr>
              <a:t>” data – sometimes has data to send, but at other times not</a:t>
            </a:r>
          </a:p>
          <a:p>
            <a:pPr marL="682625" lvl="1" indent="-225425"/>
            <a:r>
              <a:rPr lang="en-US" altLang="en-US" dirty="0">
                <a:ea typeface="Arial" panose="020B0604020202020204" pitchFamily="34" charset="0"/>
              </a:rPr>
              <a:t>resource sharing</a:t>
            </a:r>
          </a:p>
          <a:p>
            <a:pPr marL="682625" lvl="1" indent="-225425"/>
            <a:r>
              <a:rPr lang="en-US" altLang="en-US" dirty="0">
                <a:ea typeface="Arial" panose="020B0604020202020204" pitchFamily="34" charset="0"/>
              </a:rPr>
              <a:t>simpler, no call setup</a:t>
            </a:r>
            <a:endParaRPr lang="en-US" altLang="en-US" sz="2000" dirty="0">
              <a:ea typeface="Arial" panose="020B0604020202020204" pitchFamily="34" charset="0"/>
            </a:endParaRPr>
          </a:p>
          <a:p>
            <a:pPr marL="287338" indent="-287338"/>
            <a:r>
              <a:rPr lang="en-US" altLang="en-US" sz="2400" dirty="0">
                <a:solidFill>
                  <a:srgbClr val="CC0000"/>
                </a:solidFill>
                <a:ea typeface="ＭＳ Ｐゴシック" panose="020B0600070205080204" pitchFamily="34" charset="-128"/>
              </a:rPr>
              <a:t>excessive congestion possible:</a:t>
            </a:r>
            <a:r>
              <a:rPr lang="en-US" altLang="en-US" sz="2400" dirty="0">
                <a:ea typeface="ＭＳ Ｐゴシック" panose="020B0600070205080204" pitchFamily="34" charset="-128"/>
              </a:rPr>
              <a:t> packet delay and loss due to buffer overflow</a:t>
            </a:r>
          </a:p>
          <a:p>
            <a:pPr marL="682625" lvl="1" indent="-225425"/>
            <a:r>
              <a:rPr lang="en-US" altLang="en-US" dirty="0">
                <a:ea typeface="Arial" panose="020B0604020202020204" pitchFamily="34" charset="0"/>
              </a:rPr>
              <a:t>protocols needed for reliable data transfer, congestion control</a:t>
            </a:r>
            <a:endParaRPr lang="en-US" altLang="en-US" sz="2000" dirty="0">
              <a:ea typeface="Arial" panose="020B0604020202020204" pitchFamily="34" charset="0"/>
            </a:endParaRPr>
          </a:p>
          <a:p>
            <a:pPr marL="287338" indent="-287338"/>
            <a:r>
              <a:rPr lang="en-US" altLang="en-US" sz="2400" i="1" dirty="0">
                <a:solidFill>
                  <a:srgbClr val="CC0000"/>
                </a:solidFill>
                <a:ea typeface="ＭＳ Ｐゴシック" panose="020B0600070205080204" pitchFamily="34" charset="-128"/>
              </a:rPr>
              <a:t>Q:</a:t>
            </a:r>
            <a:r>
              <a:rPr lang="en-US" altLang="en-US" sz="2400" dirty="0">
                <a:solidFill>
                  <a:srgbClr val="CC0000"/>
                </a:solidFill>
                <a:ea typeface="ＭＳ Ｐゴシック" panose="020B0600070205080204" pitchFamily="34" charset="-128"/>
              </a:rPr>
              <a:t> How to provide circuit-like behavior?</a:t>
            </a:r>
          </a:p>
          <a:p>
            <a:pPr marL="682625" lvl="1" indent="-225425"/>
            <a:r>
              <a:rPr lang="en-US" altLang="en-US" dirty="0">
                <a:ea typeface="Arial" panose="020B0604020202020204" pitchFamily="34" charset="0"/>
              </a:rPr>
              <a:t>bandwidth guarantees traditionally used for audio/video applications</a:t>
            </a:r>
          </a:p>
        </p:txBody>
      </p:sp>
      <p:sp>
        <p:nvSpPr>
          <p:cNvPr id="33" name="Rectangle 4">
            <a:extLst>
              <a:ext uri="{FF2B5EF4-FFF2-40B4-BE49-F238E27FC236}">
                <a16:creationId xmlns:a16="http://schemas.microsoft.com/office/drawing/2014/main" id="{20F267B8-DC41-6167-0E2C-7765AA0C0AF6}"/>
              </a:ext>
            </a:extLst>
          </p:cNvPr>
          <p:cNvSpPr txBox="1">
            <a:spLocks noChangeArrowheads="1"/>
          </p:cNvSpPr>
          <p:nvPr/>
        </p:nvSpPr>
        <p:spPr>
          <a:xfrm>
            <a:off x="726050" y="1206091"/>
            <a:ext cx="7620000" cy="6096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en-US" altLang="en-US" dirty="0">
                <a:solidFill>
                  <a:srgbClr val="CC0000"/>
                </a:solidFill>
                <a:ea typeface="ＭＳ Ｐゴシック" panose="020B0600070205080204" pitchFamily="34" charset="-128"/>
              </a:rPr>
              <a:t>Is packet switching a “</a:t>
            </a:r>
            <a:r>
              <a:rPr lang="en-US" altLang="ja-JP" dirty="0">
                <a:solidFill>
                  <a:srgbClr val="CC0000"/>
                </a:solidFill>
                <a:ea typeface="ＭＳ Ｐゴシック" panose="020B0600070205080204" pitchFamily="34" charset="-128"/>
              </a:rPr>
              <a:t>slam dunk winner”?</a:t>
            </a:r>
            <a:endParaRPr lang="en-US" altLang="en-US" dirty="0">
              <a:solidFill>
                <a:srgbClr val="CC0000"/>
              </a:solidFill>
              <a:ea typeface="ＭＳ Ｐゴシック" panose="020B0600070205080204" pitchFamily="34" charset="-128"/>
            </a:endParaRPr>
          </a:p>
        </p:txBody>
      </p:sp>
      <p:sp>
        <p:nvSpPr>
          <p:cNvPr id="34" name="Text Box 20">
            <a:extLst>
              <a:ext uri="{FF2B5EF4-FFF2-40B4-BE49-F238E27FC236}">
                <a16:creationId xmlns:a16="http://schemas.microsoft.com/office/drawing/2014/main" id="{BBBBD70B-6FAA-D39A-2C60-3A6FC03ACC25}"/>
              </a:ext>
            </a:extLst>
          </p:cNvPr>
          <p:cNvSpPr txBox="1">
            <a:spLocks noChangeArrowheads="1"/>
          </p:cNvSpPr>
          <p:nvPr/>
        </p:nvSpPr>
        <p:spPr bwMode="auto">
          <a:xfrm>
            <a:off x="977457" y="5307609"/>
            <a:ext cx="984487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800" i="1" dirty="0">
                <a:solidFill>
                  <a:srgbClr val="CC0000"/>
                </a:solidFill>
                <a:latin typeface="Calibri" panose="020F0502020204030204" pitchFamily="34" charset="0"/>
                <a:cs typeface="Calibri" panose="020F0502020204030204" pitchFamily="34" charset="0"/>
              </a:rPr>
              <a:t>Q:</a:t>
            </a:r>
            <a:r>
              <a:rPr lang="en-US" altLang="en-US" sz="2800" dirty="0">
                <a:latin typeface="Calibri" panose="020F0502020204030204" pitchFamily="34" charset="0"/>
                <a:cs typeface="Calibri" panose="020F0502020204030204" pitchFamily="34" charset="0"/>
              </a:rPr>
              <a:t>  human analogies of reserved resources (circuit switching) versus on-demand allocation (packet switching)?</a:t>
            </a:r>
          </a:p>
        </p:txBody>
      </p:sp>
    </p:spTree>
    <p:extLst>
      <p:ext uri="{BB962C8B-B14F-4D97-AF65-F5344CB8AC3E}">
        <p14:creationId xmlns:p14="http://schemas.microsoft.com/office/powerpoint/2010/main" val="127971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4E1D-7089-5730-4C0B-6300496EE051}"/>
            </a:ext>
          </a:extLst>
        </p:cNvPr>
        <p:cNvGrpSpPr/>
        <p:nvPr/>
      </p:nvGrpSpPr>
      <p:grpSpPr>
        <a:xfrm>
          <a:off x="0" y="0"/>
          <a:ext cx="0" cy="0"/>
          <a:chOff x="0" y="0"/>
          <a:chExt cx="0" cy="0"/>
        </a:xfrm>
      </p:grpSpPr>
      <p:sp>
        <p:nvSpPr>
          <p:cNvPr id="19" name="Line 26">
            <a:extLst>
              <a:ext uri="{FF2B5EF4-FFF2-40B4-BE49-F238E27FC236}">
                <a16:creationId xmlns:a16="http://schemas.microsoft.com/office/drawing/2014/main" id="{CFE4F250-0CEB-569C-D405-95C029DB76FE}"/>
              </a:ext>
            </a:extLst>
          </p:cNvPr>
          <p:cNvSpPr>
            <a:spLocks noChangeShapeType="1"/>
          </p:cNvSpPr>
          <p:nvPr/>
        </p:nvSpPr>
        <p:spPr bwMode="auto">
          <a:xfrm>
            <a:off x="5779371" y="4596717"/>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grpSp>
        <p:nvGrpSpPr>
          <p:cNvPr id="67" name="Group 66">
            <a:extLst>
              <a:ext uri="{FF2B5EF4-FFF2-40B4-BE49-F238E27FC236}">
                <a16:creationId xmlns:a16="http://schemas.microsoft.com/office/drawing/2014/main" id="{679BD0FB-7E62-943F-AC18-93974CEC9850}"/>
              </a:ext>
            </a:extLst>
          </p:cNvPr>
          <p:cNvGrpSpPr/>
          <p:nvPr/>
        </p:nvGrpSpPr>
        <p:grpSpPr>
          <a:xfrm>
            <a:off x="4584883" y="4186185"/>
            <a:ext cx="1511352" cy="863670"/>
            <a:chOff x="7493876" y="2774731"/>
            <a:chExt cx="1481958" cy="894622"/>
          </a:xfrm>
        </p:grpSpPr>
        <p:sp>
          <p:nvSpPr>
            <p:cNvPr id="68" name="Freeform 67">
              <a:extLst>
                <a:ext uri="{FF2B5EF4-FFF2-40B4-BE49-F238E27FC236}">
                  <a16:creationId xmlns:a16="http://schemas.microsoft.com/office/drawing/2014/main" id="{85F9D9D2-41A2-DBBF-AFEC-F753424554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9" name="Oval 68">
              <a:extLst>
                <a:ext uri="{FF2B5EF4-FFF2-40B4-BE49-F238E27FC236}">
                  <a16:creationId xmlns:a16="http://schemas.microsoft.com/office/drawing/2014/main" id="{088E344D-BF53-4983-CE15-C2B3EEA43EC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70" name="Group 69">
              <a:extLst>
                <a:ext uri="{FF2B5EF4-FFF2-40B4-BE49-F238E27FC236}">
                  <a16:creationId xmlns:a16="http://schemas.microsoft.com/office/drawing/2014/main" id="{3FDF61C8-4997-3249-F3AB-12E66EE913D1}"/>
                </a:ext>
              </a:extLst>
            </p:cNvPr>
            <p:cNvGrpSpPr/>
            <p:nvPr/>
          </p:nvGrpSpPr>
          <p:grpSpPr>
            <a:xfrm>
              <a:off x="7713663" y="2848339"/>
              <a:ext cx="1042107" cy="425543"/>
              <a:chOff x="7786941" y="2884917"/>
              <a:chExt cx="897649" cy="353919"/>
            </a:xfrm>
          </p:grpSpPr>
          <p:sp>
            <p:nvSpPr>
              <p:cNvPr id="71" name="Freeform 70">
                <a:extLst>
                  <a:ext uri="{FF2B5EF4-FFF2-40B4-BE49-F238E27FC236}">
                    <a16:creationId xmlns:a16="http://schemas.microsoft.com/office/drawing/2014/main" id="{7EBFF2C3-155F-2AD1-8020-5C2FB975AB8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a:extLst>
                  <a:ext uri="{FF2B5EF4-FFF2-40B4-BE49-F238E27FC236}">
                    <a16:creationId xmlns:a16="http://schemas.microsoft.com/office/drawing/2014/main" id="{6D78599E-714B-0E15-7FBC-E14EA7430C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a:extLst>
                  <a:ext uri="{FF2B5EF4-FFF2-40B4-BE49-F238E27FC236}">
                    <a16:creationId xmlns:a16="http://schemas.microsoft.com/office/drawing/2014/main" id="{133FD70B-D247-4B69-BD1A-29B0FD7F324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a:extLst>
                  <a:ext uri="{FF2B5EF4-FFF2-40B4-BE49-F238E27FC236}">
                    <a16:creationId xmlns:a16="http://schemas.microsoft.com/office/drawing/2014/main" id="{7B14E4B4-CB16-83C1-9119-289E20C4A27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9A559F-803D-6408-4BC8-8C5E5A0D3B41}"/>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How do packet loss and delay occur?</a:t>
            </a:r>
            <a:endParaRPr lang="en-US" sz="4400" dirty="0"/>
          </a:p>
        </p:txBody>
      </p:sp>
      <p:sp>
        <p:nvSpPr>
          <p:cNvPr id="6" name="Slide Number Placeholder 5">
            <a:extLst>
              <a:ext uri="{FF2B5EF4-FFF2-40B4-BE49-F238E27FC236}">
                <a16:creationId xmlns:a16="http://schemas.microsoft.com/office/drawing/2014/main" id="{FBE9A79B-D8E6-CB19-0FD9-10987BD049E8}"/>
              </a:ext>
            </a:extLst>
          </p:cNvPr>
          <p:cNvSpPr>
            <a:spLocks noGrp="1"/>
          </p:cNvSpPr>
          <p:nvPr>
            <p:ph type="sldNum" sz="quarter" idx="4"/>
          </p:nvPr>
        </p:nvSpPr>
        <p:spPr/>
        <p:txBody>
          <a:bodyPr/>
          <a:lstStyle/>
          <a:p>
            <a:r>
              <a:rPr lang="en-US"/>
              <a:t>Introduction: 1-</a:t>
            </a:r>
            <a:fld id="{C4204591-24BD-A542-B9D5-F8D8A88D2FEE}" type="slidenum">
              <a:rPr lang="en-US" smtClean="0"/>
              <a:pPr/>
              <a:t>9</a:t>
            </a:fld>
            <a:endParaRPr lang="en-US" dirty="0"/>
          </a:p>
        </p:txBody>
      </p:sp>
      <p:sp>
        <p:nvSpPr>
          <p:cNvPr id="7" name="Rectangle 3">
            <a:extLst>
              <a:ext uri="{FF2B5EF4-FFF2-40B4-BE49-F238E27FC236}">
                <a16:creationId xmlns:a16="http://schemas.microsoft.com/office/drawing/2014/main" id="{D3D0B84C-C553-3E19-B47B-81E2CC07EEE9}"/>
              </a:ext>
            </a:extLst>
          </p:cNvPr>
          <p:cNvSpPr>
            <a:spLocks noGrp="1" noChangeArrowheads="1"/>
          </p:cNvSpPr>
          <p:nvPr>
            <p:ph sz="half" idx="1"/>
          </p:nvPr>
        </p:nvSpPr>
        <p:spPr>
          <a:xfrm>
            <a:off x="825266" y="1253331"/>
            <a:ext cx="11137549" cy="4351338"/>
          </a:xfrm>
        </p:spPr>
        <p:txBody>
          <a:bodyPr/>
          <a:lstStyle/>
          <a:p>
            <a:pPr indent="-295275" eaLnBrk="1" hangingPunct="1">
              <a:buFont typeface="Wingdings" charset="0"/>
              <a:buNone/>
              <a:defRPr/>
            </a:pPr>
            <a:r>
              <a:rPr lang="en-US" sz="3200" dirty="0"/>
              <a:t>packets </a:t>
            </a:r>
            <a:r>
              <a:rPr lang="en-US" sz="3200" i="1" dirty="0"/>
              <a:t>queue</a:t>
            </a:r>
            <a:r>
              <a:rPr lang="en-US" sz="3200" dirty="0"/>
              <a:t> in router buffers</a:t>
            </a:r>
            <a:r>
              <a:rPr lang="en-US" dirty="0"/>
              <a:t> </a:t>
            </a:r>
          </a:p>
          <a:p>
            <a:pPr marL="407988" indent="-277813">
              <a:buFont typeface="Wingdings" charset="2"/>
              <a:buChar char="§"/>
              <a:defRPr/>
            </a:pPr>
            <a:r>
              <a:rPr lang="en-US" dirty="0"/>
              <a:t>packets queue, wait for turn</a:t>
            </a:r>
          </a:p>
          <a:p>
            <a:pPr marL="407988" indent="-277813" eaLnBrk="1" hangingPunct="1">
              <a:buFont typeface="Wingdings" charset="2"/>
              <a:buChar char="§"/>
              <a:defRPr/>
            </a:pPr>
            <a:r>
              <a:rPr lang="en-US" dirty="0">
                <a:solidFill>
                  <a:srgbClr val="CC0000"/>
                </a:solidFill>
              </a:rPr>
              <a:t>arrival rate to link (temporarily) exceeds output link capacity: packet loss</a:t>
            </a:r>
          </a:p>
        </p:txBody>
      </p:sp>
      <p:sp>
        <p:nvSpPr>
          <p:cNvPr id="8" name="Line 24">
            <a:extLst>
              <a:ext uri="{FF2B5EF4-FFF2-40B4-BE49-F238E27FC236}">
                <a16:creationId xmlns:a16="http://schemas.microsoft.com/office/drawing/2014/main" id="{57966B30-77C0-C22A-E1C6-9FCA53E2AD02}"/>
              </a:ext>
            </a:extLst>
          </p:cNvPr>
          <p:cNvSpPr>
            <a:spLocks noChangeShapeType="1"/>
          </p:cNvSpPr>
          <p:nvPr/>
        </p:nvSpPr>
        <p:spPr bwMode="auto">
          <a:xfrm>
            <a:off x="3855321" y="4177617"/>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20" name="Rectangle 30">
            <a:extLst>
              <a:ext uri="{FF2B5EF4-FFF2-40B4-BE49-F238E27FC236}">
                <a16:creationId xmlns:a16="http://schemas.microsoft.com/office/drawing/2014/main" id="{59E2BF12-BD7E-8A3D-B0D4-9BB23BAC4CFC}"/>
              </a:ext>
            </a:extLst>
          </p:cNvPr>
          <p:cNvSpPr>
            <a:spLocks noChangeArrowheads="1"/>
          </p:cNvSpPr>
          <p:nvPr/>
        </p:nvSpPr>
        <p:spPr bwMode="auto">
          <a:xfrm>
            <a:off x="5445996" y="4468129"/>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1" name="Rectangle 31">
            <a:extLst>
              <a:ext uri="{FF2B5EF4-FFF2-40B4-BE49-F238E27FC236}">
                <a16:creationId xmlns:a16="http://schemas.microsoft.com/office/drawing/2014/main" id="{DB56788D-D15C-61BC-DD68-A3EF52418322}"/>
              </a:ext>
            </a:extLst>
          </p:cNvPr>
          <p:cNvSpPr>
            <a:spLocks noChangeArrowheads="1"/>
          </p:cNvSpPr>
          <p:nvPr/>
        </p:nvSpPr>
        <p:spPr bwMode="auto">
          <a:xfrm>
            <a:off x="5601571" y="4468129"/>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2" name="Rectangle 38">
            <a:extLst>
              <a:ext uri="{FF2B5EF4-FFF2-40B4-BE49-F238E27FC236}">
                <a16:creationId xmlns:a16="http://schemas.microsoft.com/office/drawing/2014/main" id="{A7DE41D7-A7D8-4A12-5656-63D2BB1C8657}"/>
              </a:ext>
            </a:extLst>
          </p:cNvPr>
          <p:cNvSpPr>
            <a:spLocks noChangeArrowheads="1"/>
          </p:cNvSpPr>
          <p:nvPr/>
        </p:nvSpPr>
        <p:spPr bwMode="auto">
          <a:xfrm>
            <a:off x="5736508" y="44062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3" name="Line 25">
            <a:extLst>
              <a:ext uri="{FF2B5EF4-FFF2-40B4-BE49-F238E27FC236}">
                <a16:creationId xmlns:a16="http://schemas.microsoft.com/office/drawing/2014/main" id="{A2AEFA14-D53E-E884-C810-8AB27C709D00}"/>
              </a:ext>
            </a:extLst>
          </p:cNvPr>
          <p:cNvSpPr>
            <a:spLocks noChangeShapeType="1"/>
          </p:cNvSpPr>
          <p:nvPr/>
        </p:nvSpPr>
        <p:spPr bwMode="auto">
          <a:xfrm flipV="1">
            <a:off x="3853733" y="4717367"/>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24" name="Rectangle 32">
            <a:extLst>
              <a:ext uri="{FF2B5EF4-FFF2-40B4-BE49-F238E27FC236}">
                <a16:creationId xmlns:a16="http://schemas.microsoft.com/office/drawing/2014/main" id="{C0753BF9-A228-FF59-DA84-980AAE224B8A}"/>
              </a:ext>
            </a:extLst>
          </p:cNvPr>
          <p:cNvSpPr>
            <a:spLocks noChangeArrowheads="1"/>
          </p:cNvSpPr>
          <p:nvPr/>
        </p:nvSpPr>
        <p:spPr bwMode="auto">
          <a:xfrm>
            <a:off x="4393483" y="43681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25" name="Line 33">
            <a:extLst>
              <a:ext uri="{FF2B5EF4-FFF2-40B4-BE49-F238E27FC236}">
                <a16:creationId xmlns:a16="http://schemas.microsoft.com/office/drawing/2014/main" id="{97E27FBA-662C-05F8-65B1-427134176ADF}"/>
              </a:ext>
            </a:extLst>
          </p:cNvPr>
          <p:cNvSpPr>
            <a:spLocks noChangeShapeType="1"/>
          </p:cNvSpPr>
          <p:nvPr/>
        </p:nvSpPr>
        <p:spPr bwMode="auto">
          <a:xfrm>
            <a:off x="4344271" y="4304617"/>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6" name="Text Box 36">
            <a:extLst>
              <a:ext uri="{FF2B5EF4-FFF2-40B4-BE49-F238E27FC236}">
                <a16:creationId xmlns:a16="http://schemas.microsoft.com/office/drawing/2014/main" id="{64CBA75A-87B4-FC91-626D-8E35D62FC1A6}"/>
              </a:ext>
            </a:extLst>
          </p:cNvPr>
          <p:cNvSpPr txBox="1">
            <a:spLocks noChangeArrowheads="1"/>
          </p:cNvSpPr>
          <p:nvPr/>
        </p:nvSpPr>
        <p:spPr bwMode="auto">
          <a:xfrm>
            <a:off x="3021677" y="3861704"/>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800">
                <a:solidFill>
                  <a:srgbClr val="000000"/>
                </a:solidFill>
                <a:latin typeface="+mn-lt"/>
              </a:rPr>
              <a:t>A</a:t>
            </a:r>
          </a:p>
        </p:txBody>
      </p:sp>
      <p:sp>
        <p:nvSpPr>
          <p:cNvPr id="27" name="Text Box 37">
            <a:extLst>
              <a:ext uri="{FF2B5EF4-FFF2-40B4-BE49-F238E27FC236}">
                <a16:creationId xmlns:a16="http://schemas.microsoft.com/office/drawing/2014/main" id="{177281CA-8F05-4BB7-B42F-7201415850BE}"/>
              </a:ext>
            </a:extLst>
          </p:cNvPr>
          <p:cNvSpPr txBox="1">
            <a:spLocks noChangeArrowheads="1"/>
          </p:cNvSpPr>
          <p:nvPr/>
        </p:nvSpPr>
        <p:spPr bwMode="auto">
          <a:xfrm>
            <a:off x="3094654" y="4814204"/>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800">
                <a:latin typeface="+mn-lt"/>
              </a:rPr>
              <a:t>B</a:t>
            </a:r>
          </a:p>
        </p:txBody>
      </p:sp>
      <p:grpSp>
        <p:nvGrpSpPr>
          <p:cNvPr id="28" name="Group 66">
            <a:extLst>
              <a:ext uri="{FF2B5EF4-FFF2-40B4-BE49-F238E27FC236}">
                <a16:creationId xmlns:a16="http://schemas.microsoft.com/office/drawing/2014/main" id="{77E71F49-4039-E588-138A-82FE34318B09}"/>
              </a:ext>
            </a:extLst>
          </p:cNvPr>
          <p:cNvGrpSpPr>
            <a:grpSpLocks/>
          </p:cNvGrpSpPr>
          <p:nvPr/>
        </p:nvGrpSpPr>
        <p:grpSpPr bwMode="auto">
          <a:xfrm>
            <a:off x="3128246" y="3861704"/>
            <a:ext cx="779462" cy="679450"/>
            <a:chOff x="-44" y="1473"/>
            <a:chExt cx="981" cy="1105"/>
          </a:xfrm>
        </p:grpSpPr>
        <p:pic>
          <p:nvPicPr>
            <p:cNvPr id="29" name="Picture 67" descr="desktop_computer_stylized_medium">
              <a:extLst>
                <a:ext uri="{FF2B5EF4-FFF2-40B4-BE49-F238E27FC236}">
                  <a16:creationId xmlns:a16="http://schemas.microsoft.com/office/drawing/2014/main" id="{B565E1C5-01DF-D6FB-6F49-32EE2382B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Freeform 68">
              <a:extLst>
                <a:ext uri="{FF2B5EF4-FFF2-40B4-BE49-F238E27FC236}">
                  <a16:creationId xmlns:a16="http://schemas.microsoft.com/office/drawing/2014/main" id="{F64EACB6-432F-7E95-E66D-5602F0600892}"/>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sz="2000"/>
            </a:p>
          </p:txBody>
        </p:sp>
      </p:grpSp>
      <p:pic>
        <p:nvPicPr>
          <p:cNvPr id="32" name="Picture 70" descr="desktop_computer_stylized_medium">
            <a:extLst>
              <a:ext uri="{FF2B5EF4-FFF2-40B4-BE49-F238E27FC236}">
                <a16:creationId xmlns:a16="http://schemas.microsoft.com/office/drawing/2014/main" id="{7BA3C69B-5439-3EF6-6ED6-B9C6137E8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223290" y="4868179"/>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71">
            <a:extLst>
              <a:ext uri="{FF2B5EF4-FFF2-40B4-BE49-F238E27FC236}">
                <a16:creationId xmlns:a16="http://schemas.microsoft.com/office/drawing/2014/main" id="{FF03F42F-C1A6-65F2-0FEC-DB5CEB3C4496}"/>
              </a:ext>
            </a:extLst>
          </p:cNvPr>
          <p:cNvSpPr>
            <a:spLocks/>
          </p:cNvSpPr>
          <p:nvPr/>
        </p:nvSpPr>
        <p:spPr bwMode="auto">
          <a:xfrm flipH="1">
            <a:off x="3555416" y="4933357"/>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sz="2000"/>
          </a:p>
        </p:txBody>
      </p:sp>
      <p:sp>
        <p:nvSpPr>
          <p:cNvPr id="44" name="Rectangle 31">
            <a:extLst>
              <a:ext uri="{FF2B5EF4-FFF2-40B4-BE49-F238E27FC236}">
                <a16:creationId xmlns:a16="http://schemas.microsoft.com/office/drawing/2014/main" id="{8FE212C5-3CB6-F1E4-0772-5614E107A0C0}"/>
              </a:ext>
            </a:extLst>
          </p:cNvPr>
          <p:cNvSpPr>
            <a:spLocks noChangeArrowheads="1"/>
          </p:cNvSpPr>
          <p:nvPr/>
        </p:nvSpPr>
        <p:spPr bwMode="auto">
          <a:xfrm>
            <a:off x="3956921" y="5023754"/>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800">
              <a:solidFill>
                <a:srgbClr val="000000"/>
              </a:solidFill>
              <a:latin typeface="+mn-lt"/>
            </a:endParaRPr>
          </a:p>
        </p:txBody>
      </p:sp>
      <p:sp>
        <p:nvSpPr>
          <p:cNvPr id="45" name="Line 33">
            <a:extLst>
              <a:ext uri="{FF2B5EF4-FFF2-40B4-BE49-F238E27FC236}">
                <a16:creationId xmlns:a16="http://schemas.microsoft.com/office/drawing/2014/main" id="{49A623E4-4E60-4712-AA71-D103788AB132}"/>
              </a:ext>
            </a:extLst>
          </p:cNvPr>
          <p:cNvSpPr>
            <a:spLocks noChangeShapeType="1"/>
          </p:cNvSpPr>
          <p:nvPr/>
        </p:nvSpPr>
        <p:spPr bwMode="auto">
          <a:xfrm flipV="1">
            <a:off x="4131546" y="4993592"/>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46" name="Rectangle 89">
            <a:extLst>
              <a:ext uri="{FF2B5EF4-FFF2-40B4-BE49-F238E27FC236}">
                <a16:creationId xmlns:a16="http://schemas.microsoft.com/office/drawing/2014/main" id="{9EAD1A64-2955-D037-E5C9-ABBA72000E05}"/>
              </a:ext>
            </a:extLst>
          </p:cNvPr>
          <p:cNvSpPr>
            <a:spLocks noChangeArrowheads="1"/>
          </p:cNvSpPr>
          <p:nvPr/>
        </p:nvSpPr>
        <p:spPr bwMode="auto">
          <a:xfrm>
            <a:off x="5293596" y="4469717"/>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a:solidFill>
                <a:srgbClr val="000000"/>
              </a:solidFill>
              <a:latin typeface="+mn-lt"/>
            </a:endParaRPr>
          </a:p>
        </p:txBody>
      </p:sp>
      <p:sp>
        <p:nvSpPr>
          <p:cNvPr id="47" name="Rectangle 89">
            <a:extLst>
              <a:ext uri="{FF2B5EF4-FFF2-40B4-BE49-F238E27FC236}">
                <a16:creationId xmlns:a16="http://schemas.microsoft.com/office/drawing/2014/main" id="{C1B12AD3-3E5D-4CBA-7060-6E781F6F1E18}"/>
              </a:ext>
            </a:extLst>
          </p:cNvPr>
          <p:cNvSpPr>
            <a:spLocks noChangeArrowheads="1"/>
          </p:cNvSpPr>
          <p:nvPr/>
        </p:nvSpPr>
        <p:spPr bwMode="auto">
          <a:xfrm>
            <a:off x="5144371" y="4468129"/>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a:solidFill>
                <a:srgbClr val="000000"/>
              </a:solidFill>
              <a:latin typeface="+mn-lt"/>
            </a:endParaRPr>
          </a:p>
        </p:txBody>
      </p:sp>
      <p:sp>
        <p:nvSpPr>
          <p:cNvPr id="48" name="Rectangle 89">
            <a:extLst>
              <a:ext uri="{FF2B5EF4-FFF2-40B4-BE49-F238E27FC236}">
                <a16:creationId xmlns:a16="http://schemas.microsoft.com/office/drawing/2014/main" id="{E60AFD21-4DC0-E44D-234C-B761071E3D2F}"/>
              </a:ext>
            </a:extLst>
          </p:cNvPr>
          <p:cNvSpPr>
            <a:spLocks noChangeArrowheads="1"/>
          </p:cNvSpPr>
          <p:nvPr/>
        </p:nvSpPr>
        <p:spPr bwMode="auto">
          <a:xfrm>
            <a:off x="4991971" y="4471304"/>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a:solidFill>
                <a:srgbClr val="000000"/>
              </a:solidFill>
              <a:latin typeface="+mn-lt"/>
            </a:endParaRPr>
          </a:p>
        </p:txBody>
      </p:sp>
      <p:grpSp>
        <p:nvGrpSpPr>
          <p:cNvPr id="49" name="Group 93">
            <a:extLst>
              <a:ext uri="{FF2B5EF4-FFF2-40B4-BE49-F238E27FC236}">
                <a16:creationId xmlns:a16="http://schemas.microsoft.com/office/drawing/2014/main" id="{DE983A4B-894C-8C20-3544-E99DFE37CC0D}"/>
              </a:ext>
            </a:extLst>
          </p:cNvPr>
          <p:cNvGrpSpPr>
            <a:grpSpLocks/>
          </p:cNvGrpSpPr>
          <p:nvPr/>
        </p:nvGrpSpPr>
        <p:grpSpPr bwMode="auto">
          <a:xfrm>
            <a:off x="5833346" y="3172731"/>
            <a:ext cx="6299202" cy="1204913"/>
            <a:chOff x="2259" y="2247"/>
            <a:chExt cx="3968" cy="759"/>
          </a:xfrm>
        </p:grpSpPr>
        <p:sp>
          <p:nvSpPr>
            <p:cNvPr id="50" name="Text Box 66">
              <a:extLst>
                <a:ext uri="{FF2B5EF4-FFF2-40B4-BE49-F238E27FC236}">
                  <a16:creationId xmlns:a16="http://schemas.microsoft.com/office/drawing/2014/main" id="{C7F93005-73ED-9024-9D1A-3DA30B674242}"/>
                </a:ext>
              </a:extLst>
            </p:cNvPr>
            <p:cNvSpPr txBox="1">
              <a:spLocks noChangeArrowheads="1"/>
            </p:cNvSpPr>
            <p:nvPr/>
          </p:nvSpPr>
          <p:spPr bwMode="auto">
            <a:xfrm>
              <a:off x="2525" y="2247"/>
              <a:ext cx="37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000000"/>
                  </a:solidFill>
                  <a:latin typeface="+mn-lt"/>
                </a:rPr>
                <a:t>packet being transmitted </a:t>
              </a:r>
              <a:r>
                <a:rPr lang="en-US" altLang="en-US" dirty="0">
                  <a:solidFill>
                    <a:srgbClr val="CC0000"/>
                  </a:solidFill>
                  <a:latin typeface="+mn-lt"/>
                </a:rPr>
                <a:t>(transmission delay)</a:t>
              </a:r>
            </a:p>
          </p:txBody>
        </p:sp>
        <p:sp>
          <p:nvSpPr>
            <p:cNvPr id="51" name="Line 67">
              <a:extLst>
                <a:ext uri="{FF2B5EF4-FFF2-40B4-BE49-F238E27FC236}">
                  <a16:creationId xmlns:a16="http://schemas.microsoft.com/office/drawing/2014/main" id="{8FA95B0F-E779-DC5E-4E60-74FC5E1CCA1A}"/>
                </a:ext>
              </a:extLst>
            </p:cNvPr>
            <p:cNvSpPr>
              <a:spLocks noChangeShapeType="1"/>
            </p:cNvSpPr>
            <p:nvPr/>
          </p:nvSpPr>
          <p:spPr bwMode="auto">
            <a:xfrm rot="10800000" flipV="1">
              <a:off x="2259" y="2462"/>
              <a:ext cx="836"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grpSp>
      <p:grpSp>
        <p:nvGrpSpPr>
          <p:cNvPr id="52" name="Group 94">
            <a:extLst>
              <a:ext uri="{FF2B5EF4-FFF2-40B4-BE49-F238E27FC236}">
                <a16:creationId xmlns:a16="http://schemas.microsoft.com/office/drawing/2014/main" id="{CA83125F-A493-EEA5-F03B-2158ABE459CA}"/>
              </a:ext>
            </a:extLst>
          </p:cNvPr>
          <p:cNvGrpSpPr>
            <a:grpSpLocks/>
          </p:cNvGrpSpPr>
          <p:nvPr/>
        </p:nvGrpSpPr>
        <p:grpSpPr bwMode="auto">
          <a:xfrm>
            <a:off x="5550773" y="4742762"/>
            <a:ext cx="5216531" cy="900111"/>
            <a:chOff x="2103" y="3214"/>
            <a:chExt cx="3286" cy="567"/>
          </a:xfrm>
        </p:grpSpPr>
        <p:sp>
          <p:nvSpPr>
            <p:cNvPr id="53" name="Text Box 72">
              <a:extLst>
                <a:ext uri="{FF2B5EF4-FFF2-40B4-BE49-F238E27FC236}">
                  <a16:creationId xmlns:a16="http://schemas.microsoft.com/office/drawing/2014/main" id="{0E780897-191A-9091-F0E1-C9C19F4AA48A}"/>
                </a:ext>
              </a:extLst>
            </p:cNvPr>
            <p:cNvSpPr txBox="1">
              <a:spLocks noChangeArrowheads="1"/>
            </p:cNvSpPr>
            <p:nvPr/>
          </p:nvSpPr>
          <p:spPr bwMode="auto">
            <a:xfrm>
              <a:off x="2530" y="3490"/>
              <a:ext cx="28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000000"/>
                  </a:solidFill>
                  <a:latin typeface="+mn-lt"/>
                </a:rPr>
                <a:t>packets in buffers</a:t>
              </a:r>
              <a:r>
                <a:rPr lang="en-US" altLang="en-US" dirty="0">
                  <a:solidFill>
                    <a:srgbClr val="FF0000"/>
                  </a:solidFill>
                  <a:latin typeface="+mn-lt"/>
                </a:rPr>
                <a:t> </a:t>
              </a:r>
              <a:r>
                <a:rPr lang="en-US" altLang="en-US" dirty="0">
                  <a:solidFill>
                    <a:srgbClr val="CC0000"/>
                  </a:solidFill>
                  <a:latin typeface="+mn-lt"/>
                </a:rPr>
                <a:t>(queueing delay)</a:t>
              </a:r>
            </a:p>
          </p:txBody>
        </p:sp>
        <p:sp>
          <p:nvSpPr>
            <p:cNvPr id="54" name="Line 73">
              <a:extLst>
                <a:ext uri="{FF2B5EF4-FFF2-40B4-BE49-F238E27FC236}">
                  <a16:creationId xmlns:a16="http://schemas.microsoft.com/office/drawing/2014/main" id="{3F2547AD-471D-3D54-4E7F-5A8CAFA5F43F}"/>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grpSp>
      <p:grpSp>
        <p:nvGrpSpPr>
          <p:cNvPr id="55" name="Group 95">
            <a:extLst>
              <a:ext uri="{FF2B5EF4-FFF2-40B4-BE49-F238E27FC236}">
                <a16:creationId xmlns:a16="http://schemas.microsoft.com/office/drawing/2014/main" id="{C83117F8-B85E-E6E1-E743-1BEA6DE897B9}"/>
              </a:ext>
            </a:extLst>
          </p:cNvPr>
          <p:cNvGrpSpPr>
            <a:grpSpLocks/>
          </p:cNvGrpSpPr>
          <p:nvPr/>
        </p:nvGrpSpPr>
        <p:grpSpPr bwMode="auto">
          <a:xfrm>
            <a:off x="4468095" y="4704672"/>
            <a:ext cx="5173663" cy="1757364"/>
            <a:chOff x="1421" y="3190"/>
            <a:chExt cx="3259" cy="1107"/>
          </a:xfrm>
        </p:grpSpPr>
        <p:sp>
          <p:nvSpPr>
            <p:cNvPr id="56" name="Line 91">
              <a:extLst>
                <a:ext uri="{FF2B5EF4-FFF2-40B4-BE49-F238E27FC236}">
                  <a16:creationId xmlns:a16="http://schemas.microsoft.com/office/drawing/2014/main" id="{4E4BD36F-A511-3163-E096-DE98AC73E133}"/>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57" name="Text Box 92">
              <a:extLst>
                <a:ext uri="{FF2B5EF4-FFF2-40B4-BE49-F238E27FC236}">
                  <a16:creationId xmlns:a16="http://schemas.microsoft.com/office/drawing/2014/main" id="{95F56BFE-CBBD-1D10-10A5-B862794781E3}"/>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000000"/>
                  </a:solidFill>
                  <a:latin typeface="+mn-lt"/>
                </a:rPr>
                <a:t>free (available) buffers: arriving packets </a:t>
              </a:r>
            </a:p>
            <a:p>
              <a:r>
                <a:rPr lang="en-US" altLang="en-US" dirty="0">
                  <a:solidFill>
                    <a:srgbClr val="000000"/>
                  </a:solidFill>
                  <a:latin typeface="+mn-lt"/>
                </a:rPr>
                <a:t>dropped (</a:t>
              </a:r>
              <a:r>
                <a:rPr lang="en-US" altLang="en-US" dirty="0">
                  <a:solidFill>
                    <a:srgbClr val="CC0000"/>
                  </a:solidFill>
                  <a:latin typeface="+mn-lt"/>
                </a:rPr>
                <a:t>loss</a:t>
              </a:r>
              <a:r>
                <a:rPr lang="en-US" altLang="en-US" dirty="0">
                  <a:solidFill>
                    <a:srgbClr val="000000"/>
                  </a:solidFill>
                  <a:latin typeface="+mn-lt"/>
                </a:rPr>
                <a:t>) if no free buffers</a:t>
              </a:r>
            </a:p>
          </p:txBody>
        </p:sp>
      </p:grpSp>
      <p:grpSp>
        <p:nvGrpSpPr>
          <p:cNvPr id="59" name="Group 58">
            <a:extLst>
              <a:ext uri="{FF2B5EF4-FFF2-40B4-BE49-F238E27FC236}">
                <a16:creationId xmlns:a16="http://schemas.microsoft.com/office/drawing/2014/main" id="{DAA5EDCD-0B25-DFFB-7193-1398898DA4DE}"/>
              </a:ext>
            </a:extLst>
          </p:cNvPr>
          <p:cNvGrpSpPr/>
          <p:nvPr/>
        </p:nvGrpSpPr>
        <p:grpSpPr>
          <a:xfrm>
            <a:off x="7723012" y="4224627"/>
            <a:ext cx="1511352" cy="863670"/>
            <a:chOff x="7493876" y="2774731"/>
            <a:chExt cx="1481958" cy="894622"/>
          </a:xfrm>
        </p:grpSpPr>
        <p:sp>
          <p:nvSpPr>
            <p:cNvPr id="60" name="Freeform 59">
              <a:extLst>
                <a:ext uri="{FF2B5EF4-FFF2-40B4-BE49-F238E27FC236}">
                  <a16:creationId xmlns:a16="http://schemas.microsoft.com/office/drawing/2014/main" id="{D239CD19-81D9-DA37-D0C8-26D9FE2C0D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1" name="Oval 60">
              <a:extLst>
                <a:ext uri="{FF2B5EF4-FFF2-40B4-BE49-F238E27FC236}">
                  <a16:creationId xmlns:a16="http://schemas.microsoft.com/office/drawing/2014/main" id="{C93747C3-603A-59F5-1D9E-72C526C9B3B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62" name="Group 61">
              <a:extLst>
                <a:ext uri="{FF2B5EF4-FFF2-40B4-BE49-F238E27FC236}">
                  <a16:creationId xmlns:a16="http://schemas.microsoft.com/office/drawing/2014/main" id="{1265F17C-02B5-1D87-B368-896327B19030}"/>
                </a:ext>
              </a:extLst>
            </p:cNvPr>
            <p:cNvGrpSpPr/>
            <p:nvPr/>
          </p:nvGrpSpPr>
          <p:grpSpPr>
            <a:xfrm>
              <a:off x="7713663" y="2848339"/>
              <a:ext cx="1042107" cy="425543"/>
              <a:chOff x="7786941" y="2884917"/>
              <a:chExt cx="897649" cy="353919"/>
            </a:xfrm>
          </p:grpSpPr>
          <p:sp>
            <p:nvSpPr>
              <p:cNvPr id="63" name="Freeform 62">
                <a:extLst>
                  <a:ext uri="{FF2B5EF4-FFF2-40B4-BE49-F238E27FC236}">
                    <a16:creationId xmlns:a16="http://schemas.microsoft.com/office/drawing/2014/main" id="{69419175-FD0A-DC72-E447-573013CA2C4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4937F635-4BBA-60DB-8358-FF2CB25FB44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a:extLst>
                  <a:ext uri="{FF2B5EF4-FFF2-40B4-BE49-F238E27FC236}">
                    <a16:creationId xmlns:a16="http://schemas.microsoft.com/office/drawing/2014/main" id="{0F9F3109-661D-30F7-B3AA-F075893572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a:extLst>
                  <a:ext uri="{FF2B5EF4-FFF2-40B4-BE49-F238E27FC236}">
                    <a16:creationId xmlns:a16="http://schemas.microsoft.com/office/drawing/2014/main" id="{E8830FE6-CEA0-07CD-FB4E-FB285995241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64635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06871-4785-87BF-70CB-CD4AE044E2EA}"/>
            </a:ext>
          </a:extLst>
        </p:cNvPr>
        <p:cNvGrpSpPr/>
        <p:nvPr/>
      </p:nvGrpSpPr>
      <p:grpSpPr>
        <a:xfrm>
          <a:off x="0" y="0"/>
          <a:ext cx="0" cy="0"/>
          <a:chOff x="0" y="0"/>
          <a:chExt cx="0" cy="0"/>
        </a:xfrm>
      </p:grpSpPr>
      <p:grpSp>
        <p:nvGrpSpPr>
          <p:cNvPr id="109" name="Group 108">
            <a:extLst>
              <a:ext uri="{FF2B5EF4-FFF2-40B4-BE49-F238E27FC236}">
                <a16:creationId xmlns:a16="http://schemas.microsoft.com/office/drawing/2014/main" id="{8DCC9F2D-B326-6A92-1B49-C02219974984}"/>
              </a:ext>
            </a:extLst>
          </p:cNvPr>
          <p:cNvGrpSpPr/>
          <p:nvPr/>
        </p:nvGrpSpPr>
        <p:grpSpPr>
          <a:xfrm>
            <a:off x="4551470" y="4236503"/>
            <a:ext cx="1463604" cy="737240"/>
            <a:chOff x="7493876" y="2774731"/>
            <a:chExt cx="1481958" cy="894622"/>
          </a:xfrm>
        </p:grpSpPr>
        <p:sp>
          <p:nvSpPr>
            <p:cNvPr id="110" name="Freeform 109">
              <a:extLst>
                <a:ext uri="{FF2B5EF4-FFF2-40B4-BE49-F238E27FC236}">
                  <a16:creationId xmlns:a16="http://schemas.microsoft.com/office/drawing/2014/main" id="{A587E315-9A7D-86B0-9A45-29CB8CD4FC6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1" name="Oval 110">
              <a:extLst>
                <a:ext uri="{FF2B5EF4-FFF2-40B4-BE49-F238E27FC236}">
                  <a16:creationId xmlns:a16="http://schemas.microsoft.com/office/drawing/2014/main" id="{75F12288-4CF8-B773-80A5-24A366B9D66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112" name="Group 111">
              <a:extLst>
                <a:ext uri="{FF2B5EF4-FFF2-40B4-BE49-F238E27FC236}">
                  <a16:creationId xmlns:a16="http://schemas.microsoft.com/office/drawing/2014/main" id="{03DDCDCD-9692-C2E6-37E1-13720A68559D}"/>
                </a:ext>
              </a:extLst>
            </p:cNvPr>
            <p:cNvGrpSpPr/>
            <p:nvPr/>
          </p:nvGrpSpPr>
          <p:grpSpPr>
            <a:xfrm>
              <a:off x="7713663" y="2848339"/>
              <a:ext cx="1042107" cy="425543"/>
              <a:chOff x="7786941" y="2884917"/>
              <a:chExt cx="897649" cy="353919"/>
            </a:xfrm>
          </p:grpSpPr>
          <p:sp>
            <p:nvSpPr>
              <p:cNvPr id="113" name="Freeform 112">
                <a:extLst>
                  <a:ext uri="{FF2B5EF4-FFF2-40B4-BE49-F238E27FC236}">
                    <a16:creationId xmlns:a16="http://schemas.microsoft.com/office/drawing/2014/main" id="{FAA7089E-7CBA-779F-EF8C-152B253F588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a:extLst>
                  <a:ext uri="{FF2B5EF4-FFF2-40B4-BE49-F238E27FC236}">
                    <a16:creationId xmlns:a16="http://schemas.microsoft.com/office/drawing/2014/main" id="{6A06D611-037D-B0BD-1AC0-F65EB2BFDE5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114">
                <a:extLst>
                  <a:ext uri="{FF2B5EF4-FFF2-40B4-BE49-F238E27FC236}">
                    <a16:creationId xmlns:a16="http://schemas.microsoft.com/office/drawing/2014/main" id="{A79FAFB5-0C4F-6EDE-1A9E-D44126C1FC8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Freeform 115">
                <a:extLst>
                  <a:ext uri="{FF2B5EF4-FFF2-40B4-BE49-F238E27FC236}">
                    <a16:creationId xmlns:a16="http://schemas.microsoft.com/office/drawing/2014/main" id="{00070879-3845-A570-BE0F-59ADE28D5E3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630CDE09-F71D-F20F-E762-F82BD95A4506}"/>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Packet loss</a:t>
            </a:r>
            <a:endParaRPr lang="en-US" sz="4400" dirty="0"/>
          </a:p>
        </p:txBody>
      </p:sp>
      <p:sp>
        <p:nvSpPr>
          <p:cNvPr id="6" name="Slide Number Placeholder 5">
            <a:extLst>
              <a:ext uri="{FF2B5EF4-FFF2-40B4-BE49-F238E27FC236}">
                <a16:creationId xmlns:a16="http://schemas.microsoft.com/office/drawing/2014/main" id="{82E97061-D581-0E2A-EAAD-AE89B3AC355E}"/>
              </a:ext>
            </a:extLst>
          </p:cNvPr>
          <p:cNvSpPr>
            <a:spLocks noGrp="1"/>
          </p:cNvSpPr>
          <p:nvPr>
            <p:ph type="sldNum" sz="quarter" idx="4"/>
          </p:nvPr>
        </p:nvSpPr>
        <p:spPr/>
        <p:txBody>
          <a:bodyPr/>
          <a:lstStyle/>
          <a:p>
            <a:r>
              <a:rPr lang="en-US"/>
              <a:t>Introduction: 1-</a:t>
            </a:r>
            <a:fld id="{C4204591-24BD-A542-B9D5-F8D8A88D2FEE}" type="slidenum">
              <a:rPr lang="en-US" smtClean="0"/>
              <a:pPr/>
              <a:t>10</a:t>
            </a:fld>
            <a:endParaRPr lang="en-US" dirty="0"/>
          </a:p>
        </p:txBody>
      </p:sp>
      <p:sp>
        <p:nvSpPr>
          <p:cNvPr id="17" name="Rectangle 3">
            <a:extLst>
              <a:ext uri="{FF2B5EF4-FFF2-40B4-BE49-F238E27FC236}">
                <a16:creationId xmlns:a16="http://schemas.microsoft.com/office/drawing/2014/main" id="{6B22FFAD-2AB6-5C65-39CE-0D703D0F0789}"/>
              </a:ext>
            </a:extLst>
          </p:cNvPr>
          <p:cNvSpPr txBox="1">
            <a:spLocks noChangeArrowheads="1"/>
          </p:cNvSpPr>
          <p:nvPr/>
        </p:nvSpPr>
        <p:spPr>
          <a:xfrm>
            <a:off x="975618" y="1391460"/>
            <a:ext cx="10214897" cy="71934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dirty="0">
                <a:ea typeface="ＭＳ Ｐゴシック" panose="020B0600070205080204" pitchFamily="34" charset="-128"/>
              </a:rPr>
              <a:t>queue (aka buffer) preceding link in buffer has finite capacity</a:t>
            </a:r>
          </a:p>
        </p:txBody>
      </p:sp>
      <p:sp>
        <p:nvSpPr>
          <p:cNvPr id="79" name="Rectangle 7">
            <a:extLst>
              <a:ext uri="{FF2B5EF4-FFF2-40B4-BE49-F238E27FC236}">
                <a16:creationId xmlns:a16="http://schemas.microsoft.com/office/drawing/2014/main" id="{11B6ADC9-3488-5EF0-AE25-B0F4ECB6411B}"/>
              </a:ext>
            </a:extLst>
          </p:cNvPr>
          <p:cNvSpPr>
            <a:spLocks noChangeArrowheads="1"/>
          </p:cNvSpPr>
          <p:nvPr/>
        </p:nvSpPr>
        <p:spPr bwMode="auto">
          <a:xfrm>
            <a:off x="4638675" y="4485753"/>
            <a:ext cx="1198563" cy="263525"/>
          </a:xfrm>
          <a:prstGeom prst="rect">
            <a:avLst/>
          </a:prstGeom>
          <a:solidFill>
            <a:srgbClr val="CC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0" name="Line 23">
            <a:extLst>
              <a:ext uri="{FF2B5EF4-FFF2-40B4-BE49-F238E27FC236}">
                <a16:creationId xmlns:a16="http://schemas.microsoft.com/office/drawing/2014/main" id="{6EF74B45-879B-1B68-DFFB-311310E74490}"/>
              </a:ext>
            </a:extLst>
          </p:cNvPr>
          <p:cNvSpPr>
            <a:spLocks noChangeShapeType="1"/>
          </p:cNvSpPr>
          <p:nvPr/>
        </p:nvSpPr>
        <p:spPr bwMode="auto">
          <a:xfrm>
            <a:off x="3946525" y="4252390"/>
            <a:ext cx="698500" cy="3333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81" name="Line 24">
            <a:extLst>
              <a:ext uri="{FF2B5EF4-FFF2-40B4-BE49-F238E27FC236}">
                <a16:creationId xmlns:a16="http://schemas.microsoft.com/office/drawing/2014/main" id="{2BA45052-92A5-AFBB-09D7-D01EE415E5C9}"/>
              </a:ext>
            </a:extLst>
          </p:cNvPr>
          <p:cNvSpPr>
            <a:spLocks noChangeShapeType="1"/>
          </p:cNvSpPr>
          <p:nvPr/>
        </p:nvSpPr>
        <p:spPr bwMode="auto">
          <a:xfrm flipV="1">
            <a:off x="4235450" y="4646090"/>
            <a:ext cx="411163" cy="5254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82" name="Line 25">
            <a:extLst>
              <a:ext uri="{FF2B5EF4-FFF2-40B4-BE49-F238E27FC236}">
                <a16:creationId xmlns:a16="http://schemas.microsoft.com/office/drawing/2014/main" id="{16D427BC-E57F-3305-4BD7-76A8CC79A3BC}"/>
              </a:ext>
            </a:extLst>
          </p:cNvPr>
          <p:cNvSpPr>
            <a:spLocks noChangeShapeType="1"/>
          </p:cNvSpPr>
          <p:nvPr/>
        </p:nvSpPr>
        <p:spPr bwMode="auto">
          <a:xfrm>
            <a:off x="5832475" y="4649265"/>
            <a:ext cx="1933575" cy="95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83" name="Rectangle 28">
            <a:extLst>
              <a:ext uri="{FF2B5EF4-FFF2-40B4-BE49-F238E27FC236}">
                <a16:creationId xmlns:a16="http://schemas.microsoft.com/office/drawing/2014/main" id="{F2747E8E-C643-B5A5-B928-3B7DF9F6C720}"/>
              </a:ext>
            </a:extLst>
          </p:cNvPr>
          <p:cNvSpPr>
            <a:spLocks noChangeArrowheads="1"/>
          </p:cNvSpPr>
          <p:nvPr/>
        </p:nvSpPr>
        <p:spPr bwMode="auto">
          <a:xfrm>
            <a:off x="6751638" y="4449240"/>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4" name="Rectangle 29">
            <a:extLst>
              <a:ext uri="{FF2B5EF4-FFF2-40B4-BE49-F238E27FC236}">
                <a16:creationId xmlns:a16="http://schemas.microsoft.com/office/drawing/2014/main" id="{37D1E9DF-F08D-AC4F-EC75-2637DD07B3CD}"/>
              </a:ext>
            </a:extLst>
          </p:cNvPr>
          <p:cNvSpPr>
            <a:spLocks noChangeArrowheads="1"/>
          </p:cNvSpPr>
          <p:nvPr/>
        </p:nvSpPr>
        <p:spPr bwMode="auto">
          <a:xfrm>
            <a:off x="5499100" y="4520678"/>
            <a:ext cx="147638"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5" name="Rectangle 30">
            <a:extLst>
              <a:ext uri="{FF2B5EF4-FFF2-40B4-BE49-F238E27FC236}">
                <a16:creationId xmlns:a16="http://schemas.microsoft.com/office/drawing/2014/main" id="{15308B48-DCE2-AA1B-CE67-A2BBEECA2C69}"/>
              </a:ext>
            </a:extLst>
          </p:cNvPr>
          <p:cNvSpPr>
            <a:spLocks noChangeArrowheads="1"/>
          </p:cNvSpPr>
          <p:nvPr/>
        </p:nvSpPr>
        <p:spPr bwMode="auto">
          <a:xfrm>
            <a:off x="5661025" y="4520678"/>
            <a:ext cx="147638"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8" name="Text Box 35">
            <a:extLst>
              <a:ext uri="{FF2B5EF4-FFF2-40B4-BE49-F238E27FC236}">
                <a16:creationId xmlns:a16="http://schemas.microsoft.com/office/drawing/2014/main" id="{39C933F9-0202-08CB-D5F3-E801BB8EA512}"/>
              </a:ext>
            </a:extLst>
          </p:cNvPr>
          <p:cNvSpPr txBox="1">
            <a:spLocks noChangeArrowheads="1"/>
          </p:cNvSpPr>
          <p:nvPr/>
        </p:nvSpPr>
        <p:spPr bwMode="auto">
          <a:xfrm>
            <a:off x="2963863" y="3780903"/>
            <a:ext cx="362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dirty="0">
                <a:solidFill>
                  <a:srgbClr val="006600"/>
                </a:solidFill>
                <a:latin typeface="+mn-lt"/>
                <a:cs typeface="Arial"/>
              </a:rPr>
              <a:t>A</a:t>
            </a:r>
          </a:p>
        </p:txBody>
      </p:sp>
      <p:sp>
        <p:nvSpPr>
          <p:cNvPr id="89" name="Text Box 36">
            <a:extLst>
              <a:ext uri="{FF2B5EF4-FFF2-40B4-BE49-F238E27FC236}">
                <a16:creationId xmlns:a16="http://schemas.microsoft.com/office/drawing/2014/main" id="{61F09723-29DF-328F-DF24-4F8091362997}"/>
              </a:ext>
            </a:extLst>
          </p:cNvPr>
          <p:cNvSpPr txBox="1">
            <a:spLocks noChangeArrowheads="1"/>
          </p:cNvSpPr>
          <p:nvPr/>
        </p:nvSpPr>
        <p:spPr bwMode="auto">
          <a:xfrm>
            <a:off x="3284538" y="4766740"/>
            <a:ext cx="3513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dirty="0">
                <a:solidFill>
                  <a:srgbClr val="000099"/>
                </a:solidFill>
                <a:latin typeface="+mn-lt"/>
                <a:cs typeface="Arial"/>
              </a:rPr>
              <a:t>B</a:t>
            </a:r>
          </a:p>
        </p:txBody>
      </p:sp>
      <p:sp>
        <p:nvSpPr>
          <p:cNvPr id="90" name="Text Box 40">
            <a:extLst>
              <a:ext uri="{FF2B5EF4-FFF2-40B4-BE49-F238E27FC236}">
                <a16:creationId xmlns:a16="http://schemas.microsoft.com/office/drawing/2014/main" id="{F78FF8CD-4208-10DA-F191-CB5D4EC8E0C1}"/>
              </a:ext>
            </a:extLst>
          </p:cNvPr>
          <p:cNvSpPr txBox="1">
            <a:spLocks noChangeArrowheads="1"/>
          </p:cNvSpPr>
          <p:nvPr/>
        </p:nvSpPr>
        <p:spPr bwMode="auto">
          <a:xfrm>
            <a:off x="6311900" y="3690415"/>
            <a:ext cx="2790700" cy="34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packet being transmitted</a:t>
            </a:r>
          </a:p>
        </p:txBody>
      </p:sp>
      <p:sp>
        <p:nvSpPr>
          <p:cNvPr id="91" name="Line 41">
            <a:extLst>
              <a:ext uri="{FF2B5EF4-FFF2-40B4-BE49-F238E27FC236}">
                <a16:creationId xmlns:a16="http://schemas.microsoft.com/office/drawing/2014/main" id="{059D8ADC-4D0B-A079-2405-048AFBC40270}"/>
              </a:ext>
            </a:extLst>
          </p:cNvPr>
          <p:cNvSpPr>
            <a:spLocks noChangeShapeType="1"/>
          </p:cNvSpPr>
          <p:nvPr/>
        </p:nvSpPr>
        <p:spPr bwMode="auto">
          <a:xfrm rot="10800000" flipV="1">
            <a:off x="5875338" y="3982515"/>
            <a:ext cx="681037" cy="56515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panose="020B0604020202020204" pitchFamily="34" charset="0"/>
              <a:ea typeface="ＭＳ Ｐゴシック" panose="020B0600070205080204" pitchFamily="34" charset="-128"/>
              <a:cs typeface="Arial"/>
            </a:endParaRPr>
          </a:p>
        </p:txBody>
      </p:sp>
      <p:sp>
        <p:nvSpPr>
          <p:cNvPr id="92" name="Rectangle 56">
            <a:extLst>
              <a:ext uri="{FF2B5EF4-FFF2-40B4-BE49-F238E27FC236}">
                <a16:creationId xmlns:a16="http://schemas.microsoft.com/office/drawing/2014/main" id="{AFFE24FA-CDDA-6F12-BBF2-5FED8D7F1D62}"/>
              </a:ext>
            </a:extLst>
          </p:cNvPr>
          <p:cNvSpPr>
            <a:spLocks noChangeArrowheads="1"/>
          </p:cNvSpPr>
          <p:nvPr/>
        </p:nvSpPr>
        <p:spPr bwMode="auto">
          <a:xfrm>
            <a:off x="5335588" y="4519090"/>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3" name="Rectangle 57">
            <a:extLst>
              <a:ext uri="{FF2B5EF4-FFF2-40B4-BE49-F238E27FC236}">
                <a16:creationId xmlns:a16="http://schemas.microsoft.com/office/drawing/2014/main" id="{FA4A697B-6A2C-E6DA-76EF-96DFE9673A22}"/>
              </a:ext>
            </a:extLst>
          </p:cNvPr>
          <p:cNvSpPr>
            <a:spLocks noChangeArrowheads="1"/>
          </p:cNvSpPr>
          <p:nvPr/>
        </p:nvSpPr>
        <p:spPr bwMode="auto">
          <a:xfrm>
            <a:off x="5173663" y="4522265"/>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4" name="Rectangle 58">
            <a:extLst>
              <a:ext uri="{FF2B5EF4-FFF2-40B4-BE49-F238E27FC236}">
                <a16:creationId xmlns:a16="http://schemas.microsoft.com/office/drawing/2014/main" id="{47749C67-DE74-686D-CB03-F120C8F23147}"/>
              </a:ext>
            </a:extLst>
          </p:cNvPr>
          <p:cNvSpPr>
            <a:spLocks noChangeArrowheads="1"/>
          </p:cNvSpPr>
          <p:nvPr/>
        </p:nvSpPr>
        <p:spPr bwMode="auto">
          <a:xfrm>
            <a:off x="5008563" y="4519090"/>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5" name="Rectangle 59">
            <a:extLst>
              <a:ext uri="{FF2B5EF4-FFF2-40B4-BE49-F238E27FC236}">
                <a16:creationId xmlns:a16="http://schemas.microsoft.com/office/drawing/2014/main" id="{6E44CD2C-814E-EBCA-927A-B4BC16382464}"/>
              </a:ext>
            </a:extLst>
          </p:cNvPr>
          <p:cNvSpPr>
            <a:spLocks noChangeArrowheads="1"/>
          </p:cNvSpPr>
          <p:nvPr/>
        </p:nvSpPr>
        <p:spPr bwMode="auto">
          <a:xfrm>
            <a:off x="4845050" y="4519090"/>
            <a:ext cx="147638"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6" name="Rectangle 61">
            <a:extLst>
              <a:ext uri="{FF2B5EF4-FFF2-40B4-BE49-F238E27FC236}">
                <a16:creationId xmlns:a16="http://schemas.microsoft.com/office/drawing/2014/main" id="{6E6C3E23-20F2-62E7-A994-B37D1C50F101}"/>
              </a:ext>
            </a:extLst>
          </p:cNvPr>
          <p:cNvSpPr>
            <a:spLocks noChangeArrowheads="1"/>
          </p:cNvSpPr>
          <p:nvPr/>
        </p:nvSpPr>
        <p:spPr bwMode="auto">
          <a:xfrm>
            <a:off x="4679950" y="4520678"/>
            <a:ext cx="147638"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97" name="Rectangle 62">
            <a:extLst>
              <a:ext uri="{FF2B5EF4-FFF2-40B4-BE49-F238E27FC236}">
                <a16:creationId xmlns:a16="http://schemas.microsoft.com/office/drawing/2014/main" id="{492AC56A-5BA4-7BFF-D864-DA0CF23CD8F2}"/>
              </a:ext>
            </a:extLst>
          </p:cNvPr>
          <p:cNvSpPr>
            <a:spLocks noChangeArrowheads="1"/>
          </p:cNvSpPr>
          <p:nvPr/>
        </p:nvSpPr>
        <p:spPr bwMode="auto">
          <a:xfrm>
            <a:off x="4651375" y="4496865"/>
            <a:ext cx="1171575" cy="2428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100" name="Text Box 65">
            <a:extLst>
              <a:ext uri="{FF2B5EF4-FFF2-40B4-BE49-F238E27FC236}">
                <a16:creationId xmlns:a16="http://schemas.microsoft.com/office/drawing/2014/main" id="{87D1C2F6-B138-8B5A-8B1F-4A57E6351C3B}"/>
              </a:ext>
            </a:extLst>
          </p:cNvPr>
          <p:cNvSpPr txBox="1">
            <a:spLocks noChangeArrowheads="1"/>
          </p:cNvSpPr>
          <p:nvPr/>
        </p:nvSpPr>
        <p:spPr bwMode="auto">
          <a:xfrm>
            <a:off x="4499629" y="3509440"/>
            <a:ext cx="162429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buffer </a:t>
            </a:r>
          </a:p>
          <a:p>
            <a:pPr algn="ct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(waiting area)</a:t>
            </a:r>
          </a:p>
        </p:txBody>
      </p:sp>
      <p:sp>
        <p:nvSpPr>
          <p:cNvPr id="101" name="Line 66">
            <a:extLst>
              <a:ext uri="{FF2B5EF4-FFF2-40B4-BE49-F238E27FC236}">
                <a16:creationId xmlns:a16="http://schemas.microsoft.com/office/drawing/2014/main" id="{7822548A-10EF-433C-831A-AE8635094182}"/>
              </a:ext>
            </a:extLst>
          </p:cNvPr>
          <p:cNvSpPr>
            <a:spLocks noChangeShapeType="1"/>
          </p:cNvSpPr>
          <p:nvPr/>
        </p:nvSpPr>
        <p:spPr bwMode="auto">
          <a:xfrm>
            <a:off x="4784725" y="4117453"/>
            <a:ext cx="0" cy="33337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sz="2400">
              <a:solidFill>
                <a:srgbClr val="000000"/>
              </a:solidFill>
              <a:latin typeface="Arial" panose="020B0604020202020204" pitchFamily="34" charset="0"/>
              <a:ea typeface="ＭＳ Ｐゴシック" panose="020B0600070205080204" pitchFamily="34" charset="-128"/>
              <a:cs typeface="Arial"/>
            </a:endParaRPr>
          </a:p>
        </p:txBody>
      </p:sp>
      <p:grpSp>
        <p:nvGrpSpPr>
          <p:cNvPr id="102" name="Group 48">
            <a:extLst>
              <a:ext uri="{FF2B5EF4-FFF2-40B4-BE49-F238E27FC236}">
                <a16:creationId xmlns:a16="http://schemas.microsoft.com/office/drawing/2014/main" id="{359DC30B-860B-A576-5ACD-83359B39283A}"/>
              </a:ext>
            </a:extLst>
          </p:cNvPr>
          <p:cNvGrpSpPr>
            <a:grpSpLocks/>
          </p:cNvGrpSpPr>
          <p:nvPr/>
        </p:nvGrpSpPr>
        <p:grpSpPr bwMode="auto">
          <a:xfrm>
            <a:off x="3140075" y="3801540"/>
            <a:ext cx="820738" cy="688975"/>
            <a:chOff x="-44" y="1473"/>
            <a:chExt cx="981" cy="1105"/>
          </a:xfrm>
        </p:grpSpPr>
        <p:pic>
          <p:nvPicPr>
            <p:cNvPr id="103" name="Picture 49" descr="desktop_computer_stylized_medium">
              <a:extLst>
                <a:ext uri="{FF2B5EF4-FFF2-40B4-BE49-F238E27FC236}">
                  <a16:creationId xmlns:a16="http://schemas.microsoft.com/office/drawing/2014/main" id="{AF4B44C3-FD01-A8EC-8B53-AEE34F241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 name="Freeform 50">
              <a:extLst>
                <a:ext uri="{FF2B5EF4-FFF2-40B4-BE49-F238E27FC236}">
                  <a16:creationId xmlns:a16="http://schemas.microsoft.com/office/drawing/2014/main" id="{ECF18885-6715-17AD-E649-44DEE1EB9C10}"/>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grpSp>
        <p:nvGrpSpPr>
          <p:cNvPr id="105" name="Group 51">
            <a:extLst>
              <a:ext uri="{FF2B5EF4-FFF2-40B4-BE49-F238E27FC236}">
                <a16:creationId xmlns:a16="http://schemas.microsoft.com/office/drawing/2014/main" id="{4F059AF1-D3C9-2BFB-B0F6-A2327C25FE39}"/>
              </a:ext>
            </a:extLst>
          </p:cNvPr>
          <p:cNvGrpSpPr>
            <a:grpSpLocks/>
          </p:cNvGrpSpPr>
          <p:nvPr/>
        </p:nvGrpSpPr>
        <p:grpSpPr bwMode="auto">
          <a:xfrm>
            <a:off x="3468688" y="4792140"/>
            <a:ext cx="820737" cy="688975"/>
            <a:chOff x="-44" y="1473"/>
            <a:chExt cx="981" cy="1105"/>
          </a:xfrm>
        </p:grpSpPr>
        <p:pic>
          <p:nvPicPr>
            <p:cNvPr id="106" name="Picture 52" descr="desktop_computer_stylized_medium">
              <a:extLst>
                <a:ext uri="{FF2B5EF4-FFF2-40B4-BE49-F238E27FC236}">
                  <a16:creationId xmlns:a16="http://schemas.microsoft.com/office/drawing/2014/main" id="{B43EF6C4-703C-C446-F7FC-2A58B7AA6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53">
              <a:extLst>
                <a:ext uri="{FF2B5EF4-FFF2-40B4-BE49-F238E27FC236}">
                  <a16:creationId xmlns:a16="http://schemas.microsoft.com/office/drawing/2014/main" id="{867DF3B2-E1C0-C833-A330-B22CDD6D96DA}"/>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sp>
        <p:nvSpPr>
          <p:cNvPr id="108" name="TextBox 1">
            <a:extLst>
              <a:ext uri="{FF2B5EF4-FFF2-40B4-BE49-F238E27FC236}">
                <a16:creationId xmlns:a16="http://schemas.microsoft.com/office/drawing/2014/main" id="{C6A569E0-BBF2-4B61-B95D-1CBEDC2198D8}"/>
              </a:ext>
            </a:extLst>
          </p:cNvPr>
          <p:cNvSpPr txBox="1">
            <a:spLocks noChangeArrowheads="1"/>
          </p:cNvSpPr>
          <p:nvPr/>
        </p:nvSpPr>
        <p:spPr bwMode="auto">
          <a:xfrm>
            <a:off x="1250140" y="6114279"/>
            <a:ext cx="73374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pPr>
            <a:r>
              <a:rPr lang="en-US" altLang="en-US" sz="1800" dirty="0">
                <a:solidFill>
                  <a:srgbClr val="000000"/>
                </a:solidFill>
                <a:latin typeface="+mn-lt"/>
                <a:cs typeface="Arial"/>
              </a:rPr>
              <a:t>* Check out the Java applet for an interactive animation on queuing and loss</a:t>
            </a:r>
          </a:p>
        </p:txBody>
      </p:sp>
      <p:grpSp>
        <p:nvGrpSpPr>
          <p:cNvPr id="4" name="Group 3">
            <a:extLst>
              <a:ext uri="{FF2B5EF4-FFF2-40B4-BE49-F238E27FC236}">
                <a16:creationId xmlns:a16="http://schemas.microsoft.com/office/drawing/2014/main" id="{5F2A92D9-B45A-6753-A4F9-FAB4667E2969}"/>
              </a:ext>
            </a:extLst>
          </p:cNvPr>
          <p:cNvGrpSpPr/>
          <p:nvPr/>
        </p:nvGrpSpPr>
        <p:grpSpPr>
          <a:xfrm>
            <a:off x="971989" y="1867073"/>
            <a:ext cx="10214897" cy="3871598"/>
            <a:chOff x="971989" y="1867073"/>
            <a:chExt cx="10214897" cy="3871598"/>
          </a:xfrm>
        </p:grpSpPr>
        <p:grpSp>
          <p:nvGrpSpPr>
            <p:cNvPr id="3" name="Group 2">
              <a:extLst>
                <a:ext uri="{FF2B5EF4-FFF2-40B4-BE49-F238E27FC236}">
                  <a16:creationId xmlns:a16="http://schemas.microsoft.com/office/drawing/2014/main" id="{7C936B1B-25F3-3842-BD7B-C9DFEA9FBC38}"/>
                </a:ext>
              </a:extLst>
            </p:cNvPr>
            <p:cNvGrpSpPr/>
            <p:nvPr/>
          </p:nvGrpSpPr>
          <p:grpSpPr>
            <a:xfrm>
              <a:off x="4381500" y="4714353"/>
              <a:ext cx="2873096" cy="1024318"/>
              <a:chOff x="4381500" y="4714353"/>
              <a:chExt cx="2873096" cy="1024318"/>
            </a:xfrm>
          </p:grpSpPr>
          <p:sp>
            <p:nvSpPr>
              <p:cNvPr id="86" name="Rectangle 31">
                <a:extLst>
                  <a:ext uri="{FF2B5EF4-FFF2-40B4-BE49-F238E27FC236}">
                    <a16:creationId xmlns:a16="http://schemas.microsoft.com/office/drawing/2014/main" id="{8B8900BB-567C-EB25-9A60-EDB20A6D693A}"/>
                  </a:ext>
                </a:extLst>
              </p:cNvPr>
              <p:cNvSpPr>
                <a:spLocks noChangeArrowheads="1"/>
              </p:cNvSpPr>
              <p:nvPr/>
            </p:nvSpPr>
            <p:spPr bwMode="auto">
              <a:xfrm>
                <a:off x="4411663" y="4868340"/>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Arial"/>
                </a:endParaRPr>
              </a:p>
            </p:txBody>
          </p:sp>
          <p:sp>
            <p:nvSpPr>
              <p:cNvPr id="87" name="Line 33">
                <a:extLst>
                  <a:ext uri="{FF2B5EF4-FFF2-40B4-BE49-F238E27FC236}">
                    <a16:creationId xmlns:a16="http://schemas.microsoft.com/office/drawing/2014/main" id="{8F63AE32-5955-FC19-77DD-976EB3269497}"/>
                  </a:ext>
                </a:extLst>
              </p:cNvPr>
              <p:cNvSpPr>
                <a:spLocks noChangeShapeType="1"/>
              </p:cNvSpPr>
              <p:nvPr/>
            </p:nvSpPr>
            <p:spPr bwMode="auto">
              <a:xfrm flipV="1">
                <a:off x="4381500" y="4714353"/>
                <a:ext cx="106363" cy="146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98" name="Line 63">
                <a:extLst>
                  <a:ext uri="{FF2B5EF4-FFF2-40B4-BE49-F238E27FC236}">
                    <a16:creationId xmlns:a16="http://schemas.microsoft.com/office/drawing/2014/main" id="{85978DC1-4108-B908-8140-E026CE1FDDC5}"/>
                  </a:ext>
                </a:extLst>
              </p:cNvPr>
              <p:cNvSpPr>
                <a:spLocks noChangeShapeType="1"/>
              </p:cNvSpPr>
              <p:nvPr/>
            </p:nvSpPr>
            <p:spPr bwMode="auto">
              <a:xfrm rot="10800000">
                <a:off x="4638675" y="4988990"/>
                <a:ext cx="687388" cy="331788"/>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000000"/>
                  </a:solidFill>
                  <a:latin typeface="Arial" panose="020B0604020202020204" pitchFamily="34" charset="0"/>
                  <a:ea typeface="ＭＳ Ｐゴシック" panose="020B0600070205080204" pitchFamily="34" charset="-128"/>
                  <a:cs typeface="Arial"/>
                </a:endParaRPr>
              </a:p>
            </p:txBody>
          </p:sp>
          <p:sp>
            <p:nvSpPr>
              <p:cNvPr id="99" name="Text Box 64">
                <a:extLst>
                  <a:ext uri="{FF2B5EF4-FFF2-40B4-BE49-F238E27FC236}">
                    <a16:creationId xmlns:a16="http://schemas.microsoft.com/office/drawing/2014/main" id="{9698F627-7DB8-82AD-98EA-7CC23CD191CF}"/>
                  </a:ext>
                </a:extLst>
              </p:cNvPr>
              <p:cNvSpPr txBox="1">
                <a:spLocks noChangeArrowheads="1"/>
              </p:cNvSpPr>
              <p:nvPr/>
            </p:nvSpPr>
            <p:spPr bwMode="auto">
              <a:xfrm>
                <a:off x="5254625" y="5147740"/>
                <a:ext cx="1999971"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packet arriving to</a:t>
                </a:r>
              </a:p>
              <a:p>
                <a:pPr eaLnBrk="0" fontAlgn="base" hangingPunct="0">
                  <a:lnSpc>
                    <a:spcPct val="80000"/>
                  </a:lnSpc>
                  <a:spcBef>
                    <a:spcPct val="0"/>
                  </a:spcBef>
                  <a:spcAft>
                    <a:spcPct val="0"/>
                  </a:spcAft>
                </a:pPr>
                <a:r>
                  <a:rPr lang="en-US" altLang="en-US" sz="2000" dirty="0">
                    <a:solidFill>
                      <a:srgbClr val="CC0000"/>
                    </a:solidFill>
                    <a:latin typeface="Calibri" panose="020F0502020204030204" pitchFamily="34" charset="0"/>
                    <a:cs typeface="Calibri" panose="020F0502020204030204" pitchFamily="34" charset="0"/>
                  </a:rPr>
                  <a:t>full buffer is </a:t>
                </a:r>
                <a:r>
                  <a:rPr lang="en-US" altLang="en-US" sz="2000" i="1" dirty="0">
                    <a:solidFill>
                      <a:srgbClr val="CC0000"/>
                    </a:solidFill>
                    <a:latin typeface="Calibri" panose="020F0502020204030204" pitchFamily="34" charset="0"/>
                    <a:cs typeface="Calibri" panose="020F0502020204030204" pitchFamily="34" charset="0"/>
                  </a:rPr>
                  <a:t>lost</a:t>
                </a:r>
              </a:p>
            </p:txBody>
          </p:sp>
        </p:grpSp>
        <p:sp>
          <p:nvSpPr>
            <p:cNvPr id="43" name="Rectangle 3">
              <a:extLst>
                <a:ext uri="{FF2B5EF4-FFF2-40B4-BE49-F238E27FC236}">
                  <a16:creationId xmlns:a16="http://schemas.microsoft.com/office/drawing/2014/main" id="{5C399F90-AA8A-9CA6-CD9F-B1026338FA56}"/>
                </a:ext>
              </a:extLst>
            </p:cNvPr>
            <p:cNvSpPr txBox="1">
              <a:spLocks noChangeArrowheads="1"/>
            </p:cNvSpPr>
            <p:nvPr/>
          </p:nvSpPr>
          <p:spPr>
            <a:xfrm>
              <a:off x="971989" y="1867073"/>
              <a:ext cx="10214897" cy="211798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dirty="0">
                  <a:ea typeface="ＭＳ Ｐゴシック" panose="020B0600070205080204" pitchFamily="34" charset="-128"/>
                </a:rPr>
                <a:t>packet arriving to full queue dropped (aka lost)</a:t>
              </a:r>
            </a:p>
            <a:p>
              <a:pPr marL="287338" indent="-287338"/>
              <a:r>
                <a:rPr lang="en-US" altLang="en-US" dirty="0">
                  <a:ea typeface="ＭＳ Ｐゴシック" panose="020B0600070205080204" pitchFamily="34" charset="-128"/>
                </a:rPr>
                <a:t>lost packet may be retransmitted by previous node, by source end system, or not at all</a:t>
              </a:r>
            </a:p>
          </p:txBody>
        </p:sp>
      </p:grpSp>
    </p:spTree>
    <p:extLst>
      <p:ext uri="{BB962C8B-B14F-4D97-AF65-F5344CB8AC3E}">
        <p14:creationId xmlns:p14="http://schemas.microsoft.com/office/powerpoint/2010/main" val="263254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8"/>
                                        </p:tgtEl>
                                        <p:attrNameLst>
                                          <p:attrName>style.visibility</p:attrName>
                                        </p:attrNameLst>
                                      </p:cBhvr>
                                      <p:to>
                                        <p:strVal val="visible"/>
                                      </p:to>
                                    </p:set>
                                    <p:animEffect transition="in" filter="dissolve">
                                      <p:cBhvr>
                                        <p:cTn id="10"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18EA8-02FC-8615-F9DF-406723050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FCD24-39BC-88E0-17CA-D5EA4AF37B61}"/>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Network security</a:t>
            </a:r>
            <a:endParaRPr lang="en-US" sz="4400" dirty="0"/>
          </a:p>
        </p:txBody>
      </p:sp>
      <p:sp>
        <p:nvSpPr>
          <p:cNvPr id="6" name="Slide Number Placeholder 5">
            <a:extLst>
              <a:ext uri="{FF2B5EF4-FFF2-40B4-BE49-F238E27FC236}">
                <a16:creationId xmlns:a16="http://schemas.microsoft.com/office/drawing/2014/main" id="{0863B35A-F3F5-4119-71C6-1B48E72B2472}"/>
              </a:ext>
            </a:extLst>
          </p:cNvPr>
          <p:cNvSpPr>
            <a:spLocks noGrp="1"/>
          </p:cNvSpPr>
          <p:nvPr>
            <p:ph type="sldNum" sz="quarter" idx="4"/>
          </p:nvPr>
        </p:nvSpPr>
        <p:spPr/>
        <p:txBody>
          <a:bodyPr/>
          <a:lstStyle/>
          <a:p>
            <a:r>
              <a:rPr lang="en-US"/>
              <a:t>Introduction: 1-</a:t>
            </a:r>
            <a:fld id="{C4204591-24BD-A542-B9D5-F8D8A88D2FEE}" type="slidenum">
              <a:rPr lang="en-US" smtClean="0"/>
              <a:pPr/>
              <a:t>11</a:t>
            </a:fld>
            <a:endParaRPr lang="en-US" dirty="0"/>
          </a:p>
        </p:txBody>
      </p:sp>
      <p:sp>
        <p:nvSpPr>
          <p:cNvPr id="17" name="Rectangle 5">
            <a:extLst>
              <a:ext uri="{FF2B5EF4-FFF2-40B4-BE49-F238E27FC236}">
                <a16:creationId xmlns:a16="http://schemas.microsoft.com/office/drawing/2014/main" id="{09F49B5B-A655-793D-952E-5AF1DBCC081D}"/>
              </a:ext>
            </a:extLst>
          </p:cNvPr>
          <p:cNvSpPr txBox="1">
            <a:spLocks noChangeArrowheads="1"/>
          </p:cNvSpPr>
          <p:nvPr/>
        </p:nvSpPr>
        <p:spPr>
          <a:xfrm>
            <a:off x="980180" y="1520385"/>
            <a:ext cx="10342830"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sz="3200" dirty="0">
                <a:solidFill>
                  <a:srgbClr val="CC0000"/>
                </a:solidFill>
                <a:ea typeface="ＭＳ Ｐゴシック" panose="020B0600070205080204" pitchFamily="34" charset="-128"/>
              </a:rPr>
              <a:t>field of network security:</a:t>
            </a:r>
          </a:p>
          <a:p>
            <a:pPr marL="682625" lvl="1" indent="-225425"/>
            <a:r>
              <a:rPr lang="en-US" altLang="en-US" sz="2800" dirty="0">
                <a:ea typeface="Arial" panose="020B0604020202020204" pitchFamily="34" charset="0"/>
              </a:rPr>
              <a:t>how bad guys can attack computer networks</a:t>
            </a:r>
          </a:p>
          <a:p>
            <a:pPr marL="682625" lvl="1" indent="-225425"/>
            <a:r>
              <a:rPr lang="en-US" altLang="en-US" sz="2800" dirty="0">
                <a:ea typeface="Arial" panose="020B0604020202020204" pitchFamily="34" charset="0"/>
              </a:rPr>
              <a:t>how we can defend networks against attacks</a:t>
            </a:r>
          </a:p>
          <a:p>
            <a:pPr marL="682625" lvl="1" indent="-225425"/>
            <a:r>
              <a:rPr lang="en-US" altLang="en-US" sz="2800" dirty="0">
                <a:ea typeface="Arial" panose="020B0604020202020204" pitchFamily="34" charset="0"/>
              </a:rPr>
              <a:t>how to design architectures that are immune to attacks</a:t>
            </a:r>
          </a:p>
          <a:p>
            <a:pPr marL="287338" indent="-287338"/>
            <a:r>
              <a:rPr lang="en-US" altLang="en-US" sz="3200" dirty="0">
                <a:solidFill>
                  <a:srgbClr val="CC0000"/>
                </a:solidFill>
                <a:ea typeface="ＭＳ Ｐゴシック" panose="020B0600070205080204" pitchFamily="34" charset="-128"/>
              </a:rPr>
              <a:t>Internet not originally designed with (much) security in mind</a:t>
            </a:r>
          </a:p>
          <a:p>
            <a:pPr marL="682625" lvl="1" indent="-225425"/>
            <a:r>
              <a:rPr lang="en-US" altLang="en-US" sz="2800" i="1" dirty="0">
                <a:ea typeface="Arial" panose="020B0604020202020204" pitchFamily="34" charset="0"/>
              </a:rPr>
              <a:t>original vision:</a:t>
            </a:r>
            <a:r>
              <a:rPr lang="en-US" altLang="en-US" sz="2800" dirty="0">
                <a:ea typeface="Arial" panose="020B0604020202020204" pitchFamily="34" charset="0"/>
              </a:rPr>
              <a:t> </a:t>
            </a:r>
            <a:r>
              <a:rPr lang="en-US" altLang="en-US" sz="2800" dirty="0">
                <a:ea typeface="ＭＳ Ｐゴシック" panose="020B0600070205080204" pitchFamily="34" charset="-128"/>
              </a:rPr>
              <a:t>“</a:t>
            </a:r>
            <a:r>
              <a:rPr lang="en-US" altLang="ja-JP" sz="2800" dirty="0">
                <a:ea typeface="ＭＳ Ｐゴシック" panose="020B0600070205080204" pitchFamily="34" charset="-128"/>
              </a:rPr>
              <a:t>a group of mutually trusting users attached to a transparent network” </a:t>
            </a:r>
            <a:r>
              <a:rPr lang="en-US" altLang="ja-JP" sz="2800" dirty="0">
                <a:ea typeface="ＭＳ Ｐゴシック" panose="020B0600070205080204" pitchFamily="34" charset="-128"/>
                <a:sym typeface="Wingdings" pitchFamily="2" charset="2"/>
              </a:rPr>
              <a:t></a:t>
            </a:r>
            <a:endParaRPr lang="en-US" altLang="ja-JP" sz="2800" dirty="0">
              <a:ea typeface="ＭＳ Ｐゴシック" panose="020B0600070205080204" pitchFamily="34" charset="-128"/>
            </a:endParaRPr>
          </a:p>
          <a:p>
            <a:pPr marL="682625" lvl="1" indent="-225425"/>
            <a:r>
              <a:rPr lang="en-US" altLang="en-US" sz="2800" dirty="0">
                <a:ea typeface="Arial" panose="020B0604020202020204" pitchFamily="34" charset="0"/>
              </a:rPr>
              <a:t>Internet protocol designers playing </a:t>
            </a:r>
            <a:r>
              <a:rPr lang="en-US" altLang="en-US" sz="2800" dirty="0">
                <a:ea typeface="ＭＳ Ｐゴシック" panose="020B0600070205080204" pitchFamily="34" charset="-128"/>
              </a:rPr>
              <a:t>“</a:t>
            </a:r>
            <a:r>
              <a:rPr lang="en-US" altLang="ja-JP" sz="2800" dirty="0">
                <a:ea typeface="ＭＳ Ｐゴシック" panose="020B0600070205080204" pitchFamily="34" charset="-128"/>
              </a:rPr>
              <a:t>catch-up”</a:t>
            </a:r>
          </a:p>
          <a:p>
            <a:pPr marL="682625" lvl="1" indent="-225425"/>
            <a:r>
              <a:rPr lang="en-US" altLang="en-US" sz="2800" dirty="0">
                <a:ea typeface="Arial" panose="020B0604020202020204" pitchFamily="34" charset="0"/>
              </a:rPr>
              <a:t>security considerations in all layers!</a:t>
            </a:r>
          </a:p>
        </p:txBody>
      </p:sp>
    </p:spTree>
    <p:extLst>
      <p:ext uri="{BB962C8B-B14F-4D97-AF65-F5344CB8AC3E}">
        <p14:creationId xmlns:p14="http://schemas.microsoft.com/office/powerpoint/2010/main" val="1006662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7B8D-9DE0-1561-5748-D5B6D36C8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4D2F1-D328-D836-C20F-6299149DA13B}"/>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guys: </a:t>
            </a:r>
            <a:r>
              <a:rPr lang="en-US" altLang="en-US" dirty="0">
                <a:ea typeface="ＭＳ Ｐゴシック" panose="020B0600070205080204" pitchFamily="34" charset="-128"/>
              </a:rPr>
              <a:t>m</a:t>
            </a:r>
            <a:r>
              <a:rPr lang="en-US" altLang="en-US" sz="4400" dirty="0">
                <a:ea typeface="ＭＳ Ｐゴシック" panose="020B0600070205080204" pitchFamily="34" charset="-128"/>
              </a:rPr>
              <a:t>alware </a:t>
            </a:r>
            <a:endParaRPr lang="en-US" sz="4400" dirty="0"/>
          </a:p>
        </p:txBody>
      </p:sp>
      <p:sp>
        <p:nvSpPr>
          <p:cNvPr id="6" name="Slide Number Placeholder 5">
            <a:extLst>
              <a:ext uri="{FF2B5EF4-FFF2-40B4-BE49-F238E27FC236}">
                <a16:creationId xmlns:a16="http://schemas.microsoft.com/office/drawing/2014/main" id="{DD2FBA21-A753-129D-89D2-EAD02270DCF7}"/>
              </a:ext>
            </a:extLst>
          </p:cNvPr>
          <p:cNvSpPr>
            <a:spLocks noGrp="1"/>
          </p:cNvSpPr>
          <p:nvPr>
            <p:ph type="sldNum" sz="quarter" idx="4"/>
          </p:nvPr>
        </p:nvSpPr>
        <p:spPr/>
        <p:txBody>
          <a:bodyPr/>
          <a:lstStyle/>
          <a:p>
            <a:r>
              <a:rPr lang="en-US"/>
              <a:t>Introduction: 1-</a:t>
            </a:r>
            <a:fld id="{C4204591-24BD-A542-B9D5-F8D8A88D2FEE}" type="slidenum">
              <a:rPr lang="en-US" smtClean="0"/>
              <a:pPr/>
              <a:t>12</a:t>
            </a:fld>
            <a:endParaRPr lang="en-US" dirty="0"/>
          </a:p>
        </p:txBody>
      </p:sp>
      <p:sp>
        <p:nvSpPr>
          <p:cNvPr id="17" name="Rectangle 5">
            <a:extLst>
              <a:ext uri="{FF2B5EF4-FFF2-40B4-BE49-F238E27FC236}">
                <a16:creationId xmlns:a16="http://schemas.microsoft.com/office/drawing/2014/main" id="{ACD71486-1F10-7531-9401-3A5D0FE7E108}"/>
              </a:ext>
            </a:extLst>
          </p:cNvPr>
          <p:cNvSpPr txBox="1">
            <a:spLocks noChangeArrowheads="1"/>
          </p:cNvSpPr>
          <p:nvPr/>
        </p:nvSpPr>
        <p:spPr>
          <a:xfrm>
            <a:off x="911652" y="1520385"/>
            <a:ext cx="10342830"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spcBef>
                <a:spcPct val="50000"/>
              </a:spcBef>
            </a:pPr>
            <a:r>
              <a:rPr lang="en-US" altLang="en-US" dirty="0">
                <a:ea typeface="ＭＳ Ｐゴシック" panose="020B0600070205080204" pitchFamily="34" charset="-128"/>
              </a:rPr>
              <a:t>malware can get in host from:</a:t>
            </a:r>
            <a:endParaRPr lang="en-US" altLang="en-US" dirty="0">
              <a:solidFill>
                <a:srgbClr val="000099"/>
              </a:solidFill>
              <a:ea typeface="ＭＳ Ｐゴシック" panose="020B0600070205080204" pitchFamily="34" charset="-128"/>
            </a:endParaRPr>
          </a:p>
          <a:p>
            <a:pPr marL="682625" lvl="1" indent="-225425">
              <a:spcBef>
                <a:spcPts val="600"/>
              </a:spcBef>
            </a:pPr>
            <a:r>
              <a:rPr lang="en-US" altLang="en-US" sz="2800" i="1" dirty="0">
                <a:solidFill>
                  <a:srgbClr val="000099"/>
                </a:solidFill>
                <a:ea typeface="Arial" panose="020B0604020202020204" pitchFamily="34" charset="0"/>
              </a:rPr>
              <a:t>virus: </a:t>
            </a:r>
            <a:r>
              <a:rPr lang="en-US" altLang="en-US" sz="2800" dirty="0">
                <a:ea typeface="Arial" panose="020B0604020202020204" pitchFamily="34" charset="0"/>
              </a:rPr>
              <a:t>self-replicating infection by receiving/executing  object (e.g., e-mail attachment)</a:t>
            </a:r>
          </a:p>
          <a:p>
            <a:pPr marL="682625" lvl="1" indent="-225425">
              <a:spcBef>
                <a:spcPts val="600"/>
              </a:spcBef>
            </a:pPr>
            <a:r>
              <a:rPr lang="en-US" altLang="en-US" sz="2800" i="1" dirty="0">
                <a:solidFill>
                  <a:srgbClr val="000099"/>
                </a:solidFill>
                <a:ea typeface="Arial" panose="020B0604020202020204" pitchFamily="34" charset="0"/>
              </a:rPr>
              <a:t>worm: </a:t>
            </a:r>
            <a:r>
              <a:rPr lang="en-US" altLang="en-US" sz="2800" dirty="0">
                <a:ea typeface="Arial" panose="020B0604020202020204" pitchFamily="34" charset="0"/>
              </a:rPr>
              <a:t>self-replicating infection by passively receiving object that gets itself executed</a:t>
            </a:r>
          </a:p>
          <a:p>
            <a:pPr marL="287338" indent="-287338">
              <a:spcBef>
                <a:spcPct val="50000"/>
              </a:spcBef>
            </a:pPr>
            <a:r>
              <a:rPr lang="en-US" altLang="en-US" dirty="0">
                <a:solidFill>
                  <a:srgbClr val="000099"/>
                </a:solidFill>
                <a:ea typeface="ＭＳ Ｐゴシック" panose="020B0600070205080204" pitchFamily="34" charset="-128"/>
              </a:rPr>
              <a:t>spyware malware</a:t>
            </a:r>
            <a:r>
              <a:rPr lang="en-US" altLang="en-US" dirty="0">
                <a:ea typeface="ＭＳ Ｐゴシック" panose="020B0600070205080204" pitchFamily="34" charset="-128"/>
              </a:rPr>
              <a:t> can record keystrokes, web sites visited, upload info to collection site</a:t>
            </a:r>
          </a:p>
          <a:p>
            <a:pPr marL="287338" indent="-287338">
              <a:spcBef>
                <a:spcPct val="50000"/>
              </a:spcBef>
            </a:pPr>
            <a:r>
              <a:rPr lang="en-US" altLang="en-US" dirty="0">
                <a:ea typeface="ＭＳ Ｐゴシック" panose="020B0600070205080204" pitchFamily="34" charset="-128"/>
              </a:rPr>
              <a:t>infected host can be enrolled in  </a:t>
            </a:r>
            <a:r>
              <a:rPr lang="en-US" altLang="en-US" dirty="0">
                <a:solidFill>
                  <a:srgbClr val="000099"/>
                </a:solidFill>
                <a:ea typeface="ＭＳ Ｐゴシック" panose="020B0600070205080204" pitchFamily="34" charset="-128"/>
              </a:rPr>
              <a:t>botnet,</a:t>
            </a:r>
            <a:r>
              <a:rPr lang="en-US" altLang="en-US" dirty="0">
                <a:ea typeface="ＭＳ Ｐゴシック" panose="020B0600070205080204" pitchFamily="34" charset="-128"/>
              </a:rPr>
              <a:t> used for spam or distributed denial of service  (DDoS) attacks</a:t>
            </a:r>
          </a:p>
        </p:txBody>
      </p:sp>
    </p:spTree>
    <p:extLst>
      <p:ext uri="{BB962C8B-B14F-4D97-AF65-F5344CB8AC3E}">
        <p14:creationId xmlns:p14="http://schemas.microsoft.com/office/powerpoint/2010/main" val="2790766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4C2AD-31B9-0F36-D198-5F22C7FB4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31E63-13FF-01AA-ECFB-087DC6AE4AAE}"/>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guys: denial of service</a:t>
            </a:r>
          </a:p>
        </p:txBody>
      </p:sp>
      <p:sp>
        <p:nvSpPr>
          <p:cNvPr id="6" name="Slide Number Placeholder 5">
            <a:extLst>
              <a:ext uri="{FF2B5EF4-FFF2-40B4-BE49-F238E27FC236}">
                <a16:creationId xmlns:a16="http://schemas.microsoft.com/office/drawing/2014/main" id="{89049FE7-80AB-0002-3257-53F51D71D618}"/>
              </a:ext>
            </a:extLst>
          </p:cNvPr>
          <p:cNvSpPr>
            <a:spLocks noGrp="1"/>
          </p:cNvSpPr>
          <p:nvPr>
            <p:ph type="sldNum" sz="quarter" idx="4"/>
          </p:nvPr>
        </p:nvSpPr>
        <p:spPr/>
        <p:txBody>
          <a:bodyPr/>
          <a:lstStyle/>
          <a:p>
            <a:r>
              <a:rPr lang="en-US"/>
              <a:t>Introduction: 1-</a:t>
            </a:r>
            <a:fld id="{C4204591-24BD-A542-B9D5-F8D8A88D2FEE}" type="slidenum">
              <a:rPr lang="en-US" smtClean="0"/>
              <a:pPr/>
              <a:t>13</a:t>
            </a:fld>
            <a:endParaRPr lang="en-US" dirty="0"/>
          </a:p>
        </p:txBody>
      </p:sp>
      <p:grpSp>
        <p:nvGrpSpPr>
          <p:cNvPr id="5" name="Group 131">
            <a:extLst>
              <a:ext uri="{FF2B5EF4-FFF2-40B4-BE49-F238E27FC236}">
                <a16:creationId xmlns:a16="http://schemas.microsoft.com/office/drawing/2014/main" id="{169E2AB6-DEDA-3D16-9FBA-8145E6CED644}"/>
              </a:ext>
            </a:extLst>
          </p:cNvPr>
          <p:cNvGrpSpPr>
            <a:grpSpLocks/>
          </p:cNvGrpSpPr>
          <p:nvPr/>
        </p:nvGrpSpPr>
        <p:grpSpPr bwMode="auto">
          <a:xfrm flipH="1">
            <a:off x="7546011" y="3759781"/>
            <a:ext cx="735012" cy="681037"/>
            <a:chOff x="-44" y="1473"/>
            <a:chExt cx="981" cy="1105"/>
          </a:xfrm>
        </p:grpSpPr>
        <p:pic>
          <p:nvPicPr>
            <p:cNvPr id="7" name="Picture 132" descr="desktop_computer_stylized_medium">
              <a:extLst>
                <a:ext uri="{FF2B5EF4-FFF2-40B4-BE49-F238E27FC236}">
                  <a16:creationId xmlns:a16="http://schemas.microsoft.com/office/drawing/2014/main" id="{E812A0BD-92E2-198B-1629-9DD4DAC3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133">
              <a:extLst>
                <a:ext uri="{FF2B5EF4-FFF2-40B4-BE49-F238E27FC236}">
                  <a16:creationId xmlns:a16="http://schemas.microsoft.com/office/drawing/2014/main" id="{673D8CDD-8981-7634-2138-946B605AF21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 name="Group 186">
            <a:extLst>
              <a:ext uri="{FF2B5EF4-FFF2-40B4-BE49-F238E27FC236}">
                <a16:creationId xmlns:a16="http://schemas.microsoft.com/office/drawing/2014/main" id="{DEF09E75-12FF-F482-27FC-39ABFE5B9F5D}"/>
              </a:ext>
            </a:extLst>
          </p:cNvPr>
          <p:cNvGrpSpPr>
            <a:grpSpLocks/>
          </p:cNvGrpSpPr>
          <p:nvPr/>
        </p:nvGrpSpPr>
        <p:grpSpPr bwMode="auto">
          <a:xfrm>
            <a:off x="8087348" y="4002668"/>
            <a:ext cx="831850" cy="1260475"/>
            <a:chOff x="5069" y="1396"/>
            <a:chExt cx="524" cy="794"/>
          </a:xfrm>
        </p:grpSpPr>
        <p:sp>
          <p:nvSpPr>
            <p:cNvPr id="10" name="Text Box 21">
              <a:extLst>
                <a:ext uri="{FF2B5EF4-FFF2-40B4-BE49-F238E27FC236}">
                  <a16:creationId xmlns:a16="http://schemas.microsoft.com/office/drawing/2014/main" id="{C7B5AA5E-941F-49BC-02DE-5D557E75FA24}"/>
                </a:ext>
              </a:extLst>
            </p:cNvPr>
            <p:cNvSpPr txBox="1">
              <a:spLocks noChangeArrowheads="1"/>
            </p:cNvSpPr>
            <p:nvPr/>
          </p:nvSpPr>
          <p:spPr bwMode="auto">
            <a:xfrm>
              <a:off x="5069" y="1940"/>
              <a:ext cx="5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a:t>target</a:t>
              </a:r>
            </a:p>
          </p:txBody>
        </p:sp>
        <p:grpSp>
          <p:nvGrpSpPr>
            <p:cNvPr id="11" name="Group 153">
              <a:extLst>
                <a:ext uri="{FF2B5EF4-FFF2-40B4-BE49-F238E27FC236}">
                  <a16:creationId xmlns:a16="http://schemas.microsoft.com/office/drawing/2014/main" id="{BFFBF314-E3B0-CF69-A066-F2CAF03B9365}"/>
                </a:ext>
              </a:extLst>
            </p:cNvPr>
            <p:cNvGrpSpPr>
              <a:grpSpLocks/>
            </p:cNvGrpSpPr>
            <p:nvPr/>
          </p:nvGrpSpPr>
          <p:grpSpPr bwMode="auto">
            <a:xfrm>
              <a:off x="5200" y="1396"/>
              <a:ext cx="258" cy="574"/>
              <a:chOff x="4140" y="429"/>
              <a:chExt cx="1425" cy="2396"/>
            </a:xfrm>
          </p:grpSpPr>
          <p:sp>
            <p:nvSpPr>
              <p:cNvPr id="12" name="Freeform 154">
                <a:extLst>
                  <a:ext uri="{FF2B5EF4-FFF2-40B4-BE49-F238E27FC236}">
                    <a16:creationId xmlns:a16="http://schemas.microsoft.com/office/drawing/2014/main" id="{D83E74F6-CC05-7EBB-1063-ABAEB294A33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Rectangle 155">
                <a:extLst>
                  <a:ext uri="{FF2B5EF4-FFF2-40B4-BE49-F238E27FC236}">
                    <a16:creationId xmlns:a16="http://schemas.microsoft.com/office/drawing/2014/main" id="{4A4B15EE-2C86-968C-0578-F1DB1FF326B4}"/>
                  </a:ext>
                </a:extLst>
              </p:cNvPr>
              <p:cNvSpPr>
                <a:spLocks noChangeArrowheads="1"/>
              </p:cNvSpPr>
              <p:nvPr/>
            </p:nvSpPr>
            <p:spPr bwMode="auto">
              <a:xfrm>
                <a:off x="4206" y="429"/>
                <a:ext cx="1049"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14" name="Freeform 156">
                <a:extLst>
                  <a:ext uri="{FF2B5EF4-FFF2-40B4-BE49-F238E27FC236}">
                    <a16:creationId xmlns:a16="http://schemas.microsoft.com/office/drawing/2014/main" id="{C43D3929-FF41-7D99-AC5B-0831EFAAA47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57">
                <a:extLst>
                  <a:ext uri="{FF2B5EF4-FFF2-40B4-BE49-F238E27FC236}">
                    <a16:creationId xmlns:a16="http://schemas.microsoft.com/office/drawing/2014/main" id="{510162A3-4182-FA37-F232-442558E702C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Rectangle 158">
                <a:extLst>
                  <a:ext uri="{FF2B5EF4-FFF2-40B4-BE49-F238E27FC236}">
                    <a16:creationId xmlns:a16="http://schemas.microsoft.com/office/drawing/2014/main" id="{3A19AC27-6ED5-B74A-60C3-0A5D1C4CDC6A}"/>
                  </a:ext>
                </a:extLst>
              </p:cNvPr>
              <p:cNvSpPr>
                <a:spLocks noChangeArrowheads="1"/>
              </p:cNvSpPr>
              <p:nvPr/>
            </p:nvSpPr>
            <p:spPr bwMode="auto">
              <a:xfrm>
                <a:off x="4212" y="692"/>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18" name="Group 159">
                <a:extLst>
                  <a:ext uri="{FF2B5EF4-FFF2-40B4-BE49-F238E27FC236}">
                    <a16:creationId xmlns:a16="http://schemas.microsoft.com/office/drawing/2014/main" id="{732D2821-1B7F-541F-B5F3-09ABC041E8F9}"/>
                  </a:ext>
                </a:extLst>
              </p:cNvPr>
              <p:cNvGrpSpPr>
                <a:grpSpLocks/>
              </p:cNvGrpSpPr>
              <p:nvPr/>
            </p:nvGrpSpPr>
            <p:grpSpPr bwMode="auto">
              <a:xfrm>
                <a:off x="4749" y="668"/>
                <a:ext cx="581" cy="145"/>
                <a:chOff x="614" y="2568"/>
                <a:chExt cx="725" cy="139"/>
              </a:xfrm>
            </p:grpSpPr>
            <p:sp>
              <p:nvSpPr>
                <p:cNvPr id="43" name="AutoShape 160">
                  <a:extLst>
                    <a:ext uri="{FF2B5EF4-FFF2-40B4-BE49-F238E27FC236}">
                      <a16:creationId xmlns:a16="http://schemas.microsoft.com/office/drawing/2014/main" id="{7E322E1D-C32B-C18A-C3ED-69F2F4F180C8}"/>
                    </a:ext>
                  </a:extLst>
                </p:cNvPr>
                <p:cNvSpPr>
                  <a:spLocks noChangeArrowheads="1"/>
                </p:cNvSpPr>
                <p:nvPr/>
              </p:nvSpPr>
              <p:spPr bwMode="auto">
                <a:xfrm>
                  <a:off x="612" y="2567"/>
                  <a:ext cx="724"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4" name="AutoShape 161">
                  <a:extLst>
                    <a:ext uri="{FF2B5EF4-FFF2-40B4-BE49-F238E27FC236}">
                      <a16:creationId xmlns:a16="http://schemas.microsoft.com/office/drawing/2014/main" id="{CD97A8F1-F363-14C4-2599-D964C2906EAF}"/>
                    </a:ext>
                  </a:extLst>
                </p:cNvPr>
                <p:cNvSpPr>
                  <a:spLocks noChangeArrowheads="1"/>
                </p:cNvSpPr>
                <p:nvPr/>
              </p:nvSpPr>
              <p:spPr bwMode="auto">
                <a:xfrm>
                  <a:off x="626" y="2583"/>
                  <a:ext cx="689"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19" name="Rectangle 162">
                <a:extLst>
                  <a:ext uri="{FF2B5EF4-FFF2-40B4-BE49-F238E27FC236}">
                    <a16:creationId xmlns:a16="http://schemas.microsoft.com/office/drawing/2014/main" id="{0FB5A8C6-3321-8F32-6829-233BC8DE6360}"/>
                  </a:ext>
                </a:extLst>
              </p:cNvPr>
              <p:cNvSpPr>
                <a:spLocks noChangeArrowheads="1"/>
              </p:cNvSpPr>
              <p:nvPr/>
            </p:nvSpPr>
            <p:spPr bwMode="auto">
              <a:xfrm>
                <a:off x="4223"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20" name="Group 163">
                <a:extLst>
                  <a:ext uri="{FF2B5EF4-FFF2-40B4-BE49-F238E27FC236}">
                    <a16:creationId xmlns:a16="http://schemas.microsoft.com/office/drawing/2014/main" id="{02F6AEE8-485F-53D8-CB12-4C75A3941381}"/>
                  </a:ext>
                </a:extLst>
              </p:cNvPr>
              <p:cNvGrpSpPr>
                <a:grpSpLocks/>
              </p:cNvGrpSpPr>
              <p:nvPr/>
            </p:nvGrpSpPr>
            <p:grpSpPr bwMode="auto">
              <a:xfrm>
                <a:off x="4747" y="994"/>
                <a:ext cx="581" cy="134"/>
                <a:chOff x="614" y="2568"/>
                <a:chExt cx="725" cy="139"/>
              </a:xfrm>
            </p:grpSpPr>
            <p:sp>
              <p:nvSpPr>
                <p:cNvPr id="41" name="AutoShape 164">
                  <a:extLst>
                    <a:ext uri="{FF2B5EF4-FFF2-40B4-BE49-F238E27FC236}">
                      <a16:creationId xmlns:a16="http://schemas.microsoft.com/office/drawing/2014/main" id="{311C6C8B-BE75-E39A-604A-23EAF5CCC178}"/>
                    </a:ext>
                  </a:extLst>
                </p:cNvPr>
                <p:cNvSpPr>
                  <a:spLocks noChangeArrowheads="1"/>
                </p:cNvSpPr>
                <p:nvPr/>
              </p:nvSpPr>
              <p:spPr bwMode="auto">
                <a:xfrm>
                  <a:off x="615" y="2566"/>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 name="AutoShape 165">
                  <a:extLst>
                    <a:ext uri="{FF2B5EF4-FFF2-40B4-BE49-F238E27FC236}">
                      <a16:creationId xmlns:a16="http://schemas.microsoft.com/office/drawing/2014/main" id="{AA23B712-C8B4-D10F-9585-B6361D9208F2}"/>
                    </a:ext>
                  </a:extLst>
                </p:cNvPr>
                <p:cNvSpPr>
                  <a:spLocks noChangeArrowheads="1"/>
                </p:cNvSpPr>
                <p:nvPr/>
              </p:nvSpPr>
              <p:spPr bwMode="auto">
                <a:xfrm>
                  <a:off x="628" y="2584"/>
                  <a:ext cx="689"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21" name="Rectangle 166">
                <a:extLst>
                  <a:ext uri="{FF2B5EF4-FFF2-40B4-BE49-F238E27FC236}">
                    <a16:creationId xmlns:a16="http://schemas.microsoft.com/office/drawing/2014/main" id="{5B8E09E6-F358-C05F-F990-0693CC77F226}"/>
                  </a:ext>
                </a:extLst>
              </p:cNvPr>
              <p:cNvSpPr>
                <a:spLocks noChangeArrowheads="1"/>
              </p:cNvSpPr>
              <p:nvPr/>
            </p:nvSpPr>
            <p:spPr bwMode="auto">
              <a:xfrm>
                <a:off x="4217" y="1360"/>
                <a:ext cx="597" cy="46"/>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2" name="Rectangle 167">
                <a:extLst>
                  <a:ext uri="{FF2B5EF4-FFF2-40B4-BE49-F238E27FC236}">
                    <a16:creationId xmlns:a16="http://schemas.microsoft.com/office/drawing/2014/main" id="{B2BE3D9D-0E23-B02C-052A-B620D33DF092}"/>
                  </a:ext>
                </a:extLst>
              </p:cNvPr>
              <p:cNvSpPr>
                <a:spLocks noChangeArrowheads="1"/>
              </p:cNvSpPr>
              <p:nvPr/>
            </p:nvSpPr>
            <p:spPr bwMode="auto">
              <a:xfrm>
                <a:off x="4228" y="1656"/>
                <a:ext cx="597" cy="46"/>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23" name="Group 168">
                <a:extLst>
                  <a:ext uri="{FF2B5EF4-FFF2-40B4-BE49-F238E27FC236}">
                    <a16:creationId xmlns:a16="http://schemas.microsoft.com/office/drawing/2014/main" id="{2574B2C6-EFB5-CF8E-F474-BA4F28209B1A}"/>
                  </a:ext>
                </a:extLst>
              </p:cNvPr>
              <p:cNvGrpSpPr>
                <a:grpSpLocks/>
              </p:cNvGrpSpPr>
              <p:nvPr/>
            </p:nvGrpSpPr>
            <p:grpSpPr bwMode="auto">
              <a:xfrm>
                <a:off x="4735" y="1627"/>
                <a:ext cx="582" cy="151"/>
                <a:chOff x="614" y="2568"/>
                <a:chExt cx="725" cy="139"/>
              </a:xfrm>
            </p:grpSpPr>
            <p:sp>
              <p:nvSpPr>
                <p:cNvPr id="39" name="AutoShape 169">
                  <a:extLst>
                    <a:ext uri="{FF2B5EF4-FFF2-40B4-BE49-F238E27FC236}">
                      <a16:creationId xmlns:a16="http://schemas.microsoft.com/office/drawing/2014/main" id="{6A61C06E-706C-CB37-2334-75DF34F91475}"/>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0" name="AutoShape 170">
                  <a:extLst>
                    <a:ext uri="{FF2B5EF4-FFF2-40B4-BE49-F238E27FC236}">
                      <a16:creationId xmlns:a16="http://schemas.microsoft.com/office/drawing/2014/main" id="{64C62067-A6CF-779D-087D-42DA20D05010}"/>
                    </a:ext>
                  </a:extLst>
                </p:cNvPr>
                <p:cNvSpPr>
                  <a:spLocks noChangeArrowheads="1"/>
                </p:cNvSpPr>
                <p:nvPr/>
              </p:nvSpPr>
              <p:spPr bwMode="auto">
                <a:xfrm>
                  <a:off x="630" y="2583"/>
                  <a:ext cx="688"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24" name="Freeform 171">
                <a:extLst>
                  <a:ext uri="{FF2B5EF4-FFF2-40B4-BE49-F238E27FC236}">
                    <a16:creationId xmlns:a16="http://schemas.microsoft.com/office/drawing/2014/main" id="{EA77ECB0-C40C-4FFE-5838-7566CF089DB3}"/>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5" name="Group 172">
                <a:extLst>
                  <a:ext uri="{FF2B5EF4-FFF2-40B4-BE49-F238E27FC236}">
                    <a16:creationId xmlns:a16="http://schemas.microsoft.com/office/drawing/2014/main" id="{24630539-8201-CEF0-8191-6207625ECA55}"/>
                  </a:ext>
                </a:extLst>
              </p:cNvPr>
              <p:cNvGrpSpPr>
                <a:grpSpLocks/>
              </p:cNvGrpSpPr>
              <p:nvPr/>
            </p:nvGrpSpPr>
            <p:grpSpPr bwMode="auto">
              <a:xfrm>
                <a:off x="4739" y="1327"/>
                <a:ext cx="582" cy="139"/>
                <a:chOff x="614" y="2568"/>
                <a:chExt cx="725" cy="139"/>
              </a:xfrm>
            </p:grpSpPr>
            <p:sp>
              <p:nvSpPr>
                <p:cNvPr id="37" name="AutoShape 173">
                  <a:extLst>
                    <a:ext uri="{FF2B5EF4-FFF2-40B4-BE49-F238E27FC236}">
                      <a16:creationId xmlns:a16="http://schemas.microsoft.com/office/drawing/2014/main" id="{C47B4B0C-00B1-BBBB-9A7D-1AEF70B52728}"/>
                    </a:ext>
                  </a:extLst>
                </p:cNvPr>
                <p:cNvSpPr>
                  <a:spLocks noChangeArrowheads="1"/>
                </p:cNvSpPr>
                <p:nvPr/>
              </p:nvSpPr>
              <p:spPr bwMode="auto">
                <a:xfrm>
                  <a:off x="611" y="2567"/>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8" name="AutoShape 174">
                  <a:extLst>
                    <a:ext uri="{FF2B5EF4-FFF2-40B4-BE49-F238E27FC236}">
                      <a16:creationId xmlns:a16="http://schemas.microsoft.com/office/drawing/2014/main" id="{EE5C4C4C-C9E7-CA68-24FE-CB20A9A096CC}"/>
                    </a:ext>
                  </a:extLst>
                </p:cNvPr>
                <p:cNvSpPr>
                  <a:spLocks noChangeArrowheads="1"/>
                </p:cNvSpPr>
                <p:nvPr/>
              </p:nvSpPr>
              <p:spPr bwMode="auto">
                <a:xfrm>
                  <a:off x="625" y="2584"/>
                  <a:ext cx="695" cy="10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26" name="Rectangle 175">
                <a:extLst>
                  <a:ext uri="{FF2B5EF4-FFF2-40B4-BE49-F238E27FC236}">
                    <a16:creationId xmlns:a16="http://schemas.microsoft.com/office/drawing/2014/main" id="{B7A035F3-C096-46D8-DE92-DCC560B0BCAF}"/>
                  </a:ext>
                </a:extLst>
              </p:cNvPr>
              <p:cNvSpPr>
                <a:spLocks noChangeArrowheads="1"/>
              </p:cNvSpPr>
              <p:nvPr/>
            </p:nvSpPr>
            <p:spPr bwMode="auto">
              <a:xfrm>
                <a:off x="5250" y="429"/>
                <a:ext cx="66"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27" name="Freeform 176">
                <a:extLst>
                  <a:ext uri="{FF2B5EF4-FFF2-40B4-BE49-F238E27FC236}">
                    <a16:creationId xmlns:a16="http://schemas.microsoft.com/office/drawing/2014/main" id="{693C366E-E7C1-ECC4-F3FD-7969AA6248A9}"/>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177">
                <a:extLst>
                  <a:ext uri="{FF2B5EF4-FFF2-40B4-BE49-F238E27FC236}">
                    <a16:creationId xmlns:a16="http://schemas.microsoft.com/office/drawing/2014/main" id="{D129DB6A-706B-AB3E-667B-12ECF1F183B3}"/>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Oval 178">
                <a:extLst>
                  <a:ext uri="{FF2B5EF4-FFF2-40B4-BE49-F238E27FC236}">
                    <a16:creationId xmlns:a16="http://schemas.microsoft.com/office/drawing/2014/main" id="{7D19C8AB-D718-2512-ECB9-AD496F05EE03}"/>
                  </a:ext>
                </a:extLst>
              </p:cNvPr>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Freeform 179">
                <a:extLst>
                  <a:ext uri="{FF2B5EF4-FFF2-40B4-BE49-F238E27FC236}">
                    <a16:creationId xmlns:a16="http://schemas.microsoft.com/office/drawing/2014/main" id="{958CC4C5-4ABD-1222-3CD1-070DFECA1824}"/>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AutoShape 180">
                <a:extLst>
                  <a:ext uri="{FF2B5EF4-FFF2-40B4-BE49-F238E27FC236}">
                    <a16:creationId xmlns:a16="http://schemas.microsoft.com/office/drawing/2014/main" id="{1E755084-D3B1-9EC0-3181-64814574BA54}"/>
                  </a:ext>
                </a:extLst>
              </p:cNvPr>
              <p:cNvSpPr>
                <a:spLocks noChangeArrowheads="1"/>
              </p:cNvSpPr>
              <p:nvPr/>
            </p:nvSpPr>
            <p:spPr bwMode="auto">
              <a:xfrm>
                <a:off x="4140" y="2679"/>
                <a:ext cx="1199"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2" name="AutoShape 181">
                <a:extLst>
                  <a:ext uri="{FF2B5EF4-FFF2-40B4-BE49-F238E27FC236}">
                    <a16:creationId xmlns:a16="http://schemas.microsoft.com/office/drawing/2014/main" id="{9781EDD7-B8FE-E821-028D-F870470238EA}"/>
                  </a:ext>
                </a:extLst>
              </p:cNvPr>
              <p:cNvSpPr>
                <a:spLocks noChangeArrowheads="1"/>
              </p:cNvSpPr>
              <p:nvPr/>
            </p:nvSpPr>
            <p:spPr bwMode="auto">
              <a:xfrm>
                <a:off x="4206" y="2712"/>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3" name="Oval 182">
                <a:extLst>
                  <a:ext uri="{FF2B5EF4-FFF2-40B4-BE49-F238E27FC236}">
                    <a16:creationId xmlns:a16="http://schemas.microsoft.com/office/drawing/2014/main" id="{CCC9B777-4891-E8AE-9B9E-C09EA8FAC308}"/>
                  </a:ext>
                </a:extLst>
              </p:cNvPr>
              <p:cNvSpPr>
                <a:spLocks noChangeArrowheads="1"/>
              </p:cNvSpPr>
              <p:nvPr/>
            </p:nvSpPr>
            <p:spPr bwMode="auto">
              <a:xfrm>
                <a:off x="4306" y="2383"/>
                <a:ext cx="160"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4" name="Oval 183">
                <a:extLst>
                  <a:ext uri="{FF2B5EF4-FFF2-40B4-BE49-F238E27FC236}">
                    <a16:creationId xmlns:a16="http://schemas.microsoft.com/office/drawing/2014/main" id="{81ED11B5-36EE-9290-96E4-15A1EFB1FC62}"/>
                  </a:ext>
                </a:extLst>
              </p:cNvPr>
              <p:cNvSpPr>
                <a:spLocks noChangeArrowheads="1"/>
              </p:cNvSpPr>
              <p:nvPr/>
            </p:nvSpPr>
            <p:spPr bwMode="auto">
              <a:xfrm>
                <a:off x="4488" y="2383"/>
                <a:ext cx="160"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800">
                  <a:solidFill>
                    <a:srgbClr val="FF0000"/>
                  </a:solidFill>
                </a:endParaRPr>
              </a:p>
            </p:txBody>
          </p:sp>
          <p:sp>
            <p:nvSpPr>
              <p:cNvPr id="35" name="Oval 184">
                <a:extLst>
                  <a:ext uri="{FF2B5EF4-FFF2-40B4-BE49-F238E27FC236}">
                    <a16:creationId xmlns:a16="http://schemas.microsoft.com/office/drawing/2014/main" id="{26D8FB60-E5FA-0A6C-FAE7-D96246A66AC1}"/>
                  </a:ext>
                </a:extLst>
              </p:cNvPr>
              <p:cNvSpPr>
                <a:spLocks noChangeArrowheads="1"/>
              </p:cNvSpPr>
              <p:nvPr/>
            </p:nvSpPr>
            <p:spPr bwMode="auto">
              <a:xfrm>
                <a:off x="4665" y="2383"/>
                <a:ext cx="155"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6" name="Rectangle 185">
                <a:extLst>
                  <a:ext uri="{FF2B5EF4-FFF2-40B4-BE49-F238E27FC236}">
                    <a16:creationId xmlns:a16="http://schemas.microsoft.com/office/drawing/2014/main" id="{95E4FA3A-2BCA-8C7B-6765-4D95BE5B3380}"/>
                  </a:ext>
                </a:extLst>
              </p:cNvPr>
              <p:cNvSpPr>
                <a:spLocks noChangeArrowheads="1"/>
              </p:cNvSpPr>
              <p:nvPr/>
            </p:nvSpPr>
            <p:spPr bwMode="auto">
              <a:xfrm>
                <a:off x="5062" y="1836"/>
                <a:ext cx="83" cy="760"/>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sp>
        <p:nvSpPr>
          <p:cNvPr id="45" name="Rectangle 3">
            <a:extLst>
              <a:ext uri="{FF2B5EF4-FFF2-40B4-BE49-F238E27FC236}">
                <a16:creationId xmlns:a16="http://schemas.microsoft.com/office/drawing/2014/main" id="{A0DA320E-2C10-B82D-AA9B-7EA03489C599}"/>
              </a:ext>
            </a:extLst>
          </p:cNvPr>
          <p:cNvSpPr txBox="1">
            <a:spLocks noChangeArrowheads="1"/>
          </p:cNvSpPr>
          <p:nvPr/>
        </p:nvSpPr>
        <p:spPr>
          <a:xfrm>
            <a:off x="727345" y="1393213"/>
            <a:ext cx="9863871" cy="152444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en-US" altLang="en-US" sz="3200" i="1" dirty="0">
                <a:solidFill>
                  <a:srgbClr val="CC0000"/>
                </a:solidFill>
                <a:ea typeface="ＭＳ Ｐゴシック" panose="020B0600070205080204" pitchFamily="34" charset="-128"/>
              </a:rPr>
              <a:t>Denial of Service (DoS):</a:t>
            </a:r>
            <a:r>
              <a:rPr lang="en-US" altLang="en-US" sz="3200" dirty="0">
                <a:ea typeface="ＭＳ Ｐゴシック" panose="020B0600070205080204" pitchFamily="34" charset="-128"/>
              </a:rPr>
              <a:t> attackers make resources (server, bandwidth) unavailable to legitimate traffic by overwhelming resource with bogus traffic</a:t>
            </a:r>
          </a:p>
        </p:txBody>
      </p:sp>
      <p:sp>
        <p:nvSpPr>
          <p:cNvPr id="46" name="Rectangle 4">
            <a:extLst>
              <a:ext uri="{FF2B5EF4-FFF2-40B4-BE49-F238E27FC236}">
                <a16:creationId xmlns:a16="http://schemas.microsoft.com/office/drawing/2014/main" id="{A5462F66-F0C8-9E8D-4105-24C237B9BC82}"/>
              </a:ext>
            </a:extLst>
          </p:cNvPr>
          <p:cNvSpPr>
            <a:spLocks noChangeArrowheads="1"/>
          </p:cNvSpPr>
          <p:nvPr/>
        </p:nvSpPr>
        <p:spPr bwMode="auto">
          <a:xfrm>
            <a:off x="1761658" y="3116853"/>
            <a:ext cx="4114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ZapfDingbats" charset="2"/>
              <a:buNone/>
            </a:pPr>
            <a:r>
              <a:rPr lang="en-US" altLang="en-US" sz="2800" dirty="0">
                <a:solidFill>
                  <a:srgbClr val="000099"/>
                </a:solidFill>
                <a:latin typeface="+mn-lt"/>
              </a:rPr>
              <a:t>1.</a:t>
            </a:r>
            <a:r>
              <a:rPr lang="en-US" altLang="en-US" sz="2800" dirty="0">
                <a:latin typeface="+mn-lt"/>
              </a:rPr>
              <a:t> select target</a:t>
            </a:r>
          </a:p>
        </p:txBody>
      </p:sp>
      <p:sp>
        <p:nvSpPr>
          <p:cNvPr id="47" name="Rectangle 5">
            <a:extLst>
              <a:ext uri="{FF2B5EF4-FFF2-40B4-BE49-F238E27FC236}">
                <a16:creationId xmlns:a16="http://schemas.microsoft.com/office/drawing/2014/main" id="{11ECE869-0211-5DB8-63A9-29F512025EED}"/>
              </a:ext>
            </a:extLst>
          </p:cNvPr>
          <p:cNvSpPr>
            <a:spLocks noChangeArrowheads="1"/>
          </p:cNvSpPr>
          <p:nvPr/>
        </p:nvSpPr>
        <p:spPr bwMode="auto">
          <a:xfrm>
            <a:off x="1788645" y="3635965"/>
            <a:ext cx="37957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ZapfDingbats" charset="2"/>
              <a:buNone/>
            </a:pPr>
            <a:r>
              <a:rPr lang="en-US" altLang="en-US" sz="2800" dirty="0">
                <a:solidFill>
                  <a:srgbClr val="000099"/>
                </a:solidFill>
                <a:latin typeface="+mn-lt"/>
              </a:rPr>
              <a:t>2.</a:t>
            </a:r>
            <a:r>
              <a:rPr lang="en-US" altLang="en-US" sz="2800" dirty="0">
                <a:latin typeface="+mn-lt"/>
              </a:rPr>
              <a:t> break into hosts around the network (see botnet)</a:t>
            </a:r>
          </a:p>
          <a:p>
            <a:pPr>
              <a:spcBef>
                <a:spcPct val="20000"/>
              </a:spcBef>
              <a:buClr>
                <a:schemeClr val="accent2"/>
              </a:buClr>
              <a:buSzPct val="85000"/>
              <a:buFont typeface="ZapfDingbats" charset="2"/>
              <a:buAutoNum type="arabicPeriod" startAt="2"/>
            </a:pPr>
            <a:endParaRPr lang="en-US" altLang="en-US" sz="2800" dirty="0">
              <a:latin typeface="+mn-lt"/>
            </a:endParaRPr>
          </a:p>
        </p:txBody>
      </p:sp>
      <p:sp>
        <p:nvSpPr>
          <p:cNvPr id="48" name="Rectangle 6">
            <a:extLst>
              <a:ext uri="{FF2B5EF4-FFF2-40B4-BE49-F238E27FC236}">
                <a16:creationId xmlns:a16="http://schemas.microsoft.com/office/drawing/2014/main" id="{400DEBEA-0854-2E5C-690A-E797F1A34EA2}"/>
              </a:ext>
            </a:extLst>
          </p:cNvPr>
          <p:cNvSpPr>
            <a:spLocks noChangeArrowheads="1"/>
          </p:cNvSpPr>
          <p:nvPr/>
        </p:nvSpPr>
        <p:spPr bwMode="auto">
          <a:xfrm>
            <a:off x="1728360" y="4894191"/>
            <a:ext cx="4114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ZapfDingbats" charset="2"/>
              <a:buNone/>
            </a:pPr>
            <a:r>
              <a:rPr lang="en-US" altLang="en-US" sz="2800" dirty="0">
                <a:solidFill>
                  <a:srgbClr val="000099"/>
                </a:solidFill>
                <a:latin typeface="+mn-lt"/>
              </a:rPr>
              <a:t>3.</a:t>
            </a:r>
            <a:r>
              <a:rPr lang="en-US" altLang="en-US" sz="2800" dirty="0">
                <a:latin typeface="+mn-lt"/>
              </a:rPr>
              <a:t> send packets to target from compromised hosts</a:t>
            </a:r>
          </a:p>
        </p:txBody>
      </p:sp>
      <p:grpSp>
        <p:nvGrpSpPr>
          <p:cNvPr id="49" name="Group 152">
            <a:extLst>
              <a:ext uri="{FF2B5EF4-FFF2-40B4-BE49-F238E27FC236}">
                <a16:creationId xmlns:a16="http://schemas.microsoft.com/office/drawing/2014/main" id="{E174D1D7-9E9C-6973-00D5-FE7C9E7F7CAA}"/>
              </a:ext>
            </a:extLst>
          </p:cNvPr>
          <p:cNvGrpSpPr>
            <a:grpSpLocks/>
          </p:cNvGrpSpPr>
          <p:nvPr/>
        </p:nvGrpSpPr>
        <p:grpSpPr bwMode="auto">
          <a:xfrm>
            <a:off x="6876086" y="3297818"/>
            <a:ext cx="2720975" cy="2674938"/>
            <a:chOff x="-262" y="2555"/>
            <a:chExt cx="1714" cy="1685"/>
          </a:xfrm>
        </p:grpSpPr>
        <p:sp>
          <p:nvSpPr>
            <p:cNvPr id="50" name="Line 63">
              <a:extLst>
                <a:ext uri="{FF2B5EF4-FFF2-40B4-BE49-F238E27FC236}">
                  <a16:creationId xmlns:a16="http://schemas.microsoft.com/office/drawing/2014/main" id="{B4DDF8C6-1972-CCDB-6E14-EEB53967F4D3}"/>
                </a:ext>
              </a:extLst>
            </p:cNvPr>
            <p:cNvSpPr>
              <a:spLocks noChangeShapeType="1"/>
            </p:cNvSpPr>
            <p:nvPr/>
          </p:nvSpPr>
          <p:spPr bwMode="auto">
            <a:xfrm flipV="1">
              <a:off x="160" y="3261"/>
              <a:ext cx="436" cy="16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 name="Line 64">
              <a:extLst>
                <a:ext uri="{FF2B5EF4-FFF2-40B4-BE49-F238E27FC236}">
                  <a16:creationId xmlns:a16="http://schemas.microsoft.com/office/drawing/2014/main" id="{FB0A55E7-ACA0-E54B-1037-72D31B84120D}"/>
                </a:ext>
              </a:extLst>
            </p:cNvPr>
            <p:cNvSpPr>
              <a:spLocks noChangeShapeType="1"/>
            </p:cNvSpPr>
            <p:nvPr/>
          </p:nvSpPr>
          <p:spPr bwMode="auto">
            <a:xfrm flipV="1">
              <a:off x="413" y="3470"/>
              <a:ext cx="226" cy="32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Line 65">
              <a:extLst>
                <a:ext uri="{FF2B5EF4-FFF2-40B4-BE49-F238E27FC236}">
                  <a16:creationId xmlns:a16="http://schemas.microsoft.com/office/drawing/2014/main" id="{C65A0E35-5A09-9A24-F507-7E433F6A430F}"/>
                </a:ext>
              </a:extLst>
            </p:cNvPr>
            <p:cNvSpPr>
              <a:spLocks noChangeShapeType="1"/>
            </p:cNvSpPr>
            <p:nvPr/>
          </p:nvSpPr>
          <p:spPr bwMode="auto">
            <a:xfrm flipH="1" flipV="1">
              <a:off x="857" y="3410"/>
              <a:ext cx="595" cy="45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 name="Line 66">
              <a:extLst>
                <a:ext uri="{FF2B5EF4-FFF2-40B4-BE49-F238E27FC236}">
                  <a16:creationId xmlns:a16="http://schemas.microsoft.com/office/drawing/2014/main" id="{3B76930B-672A-9138-E12D-387F2F7B46AF}"/>
                </a:ext>
              </a:extLst>
            </p:cNvPr>
            <p:cNvSpPr>
              <a:spLocks noChangeShapeType="1"/>
            </p:cNvSpPr>
            <p:nvPr/>
          </p:nvSpPr>
          <p:spPr bwMode="auto">
            <a:xfrm>
              <a:off x="735" y="2555"/>
              <a:ext cx="16" cy="46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 name="Line 67">
              <a:extLst>
                <a:ext uri="{FF2B5EF4-FFF2-40B4-BE49-F238E27FC236}">
                  <a16:creationId xmlns:a16="http://schemas.microsoft.com/office/drawing/2014/main" id="{3D0E1521-EF73-987E-7578-81C58F8668E6}"/>
                </a:ext>
              </a:extLst>
            </p:cNvPr>
            <p:cNvSpPr>
              <a:spLocks noChangeShapeType="1"/>
            </p:cNvSpPr>
            <p:nvPr/>
          </p:nvSpPr>
          <p:spPr bwMode="auto">
            <a:xfrm flipH="1">
              <a:off x="829" y="3011"/>
              <a:ext cx="473" cy="18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 name="Line 68">
              <a:extLst>
                <a:ext uri="{FF2B5EF4-FFF2-40B4-BE49-F238E27FC236}">
                  <a16:creationId xmlns:a16="http://schemas.microsoft.com/office/drawing/2014/main" id="{7C026A1D-5AA9-37D2-AB41-BBD8B10D470C}"/>
                </a:ext>
              </a:extLst>
            </p:cNvPr>
            <p:cNvSpPr>
              <a:spLocks noChangeShapeType="1"/>
            </p:cNvSpPr>
            <p:nvPr/>
          </p:nvSpPr>
          <p:spPr bwMode="auto">
            <a:xfrm>
              <a:off x="-262" y="3083"/>
              <a:ext cx="879" cy="11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 name="Line 69">
              <a:extLst>
                <a:ext uri="{FF2B5EF4-FFF2-40B4-BE49-F238E27FC236}">
                  <a16:creationId xmlns:a16="http://schemas.microsoft.com/office/drawing/2014/main" id="{6FAD9C73-6634-E4B9-AE55-7D73538C55BD}"/>
                </a:ext>
              </a:extLst>
            </p:cNvPr>
            <p:cNvSpPr>
              <a:spLocks noChangeShapeType="1"/>
            </p:cNvSpPr>
            <p:nvPr/>
          </p:nvSpPr>
          <p:spPr bwMode="auto">
            <a:xfrm flipV="1">
              <a:off x="-201" y="3362"/>
              <a:ext cx="800" cy="649"/>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 name="Line 70">
              <a:extLst>
                <a:ext uri="{FF2B5EF4-FFF2-40B4-BE49-F238E27FC236}">
                  <a16:creationId xmlns:a16="http://schemas.microsoft.com/office/drawing/2014/main" id="{B1FC0B5E-010A-C2F7-C988-FBC152F008AC}"/>
                </a:ext>
              </a:extLst>
            </p:cNvPr>
            <p:cNvSpPr>
              <a:spLocks noChangeShapeType="1"/>
            </p:cNvSpPr>
            <p:nvPr/>
          </p:nvSpPr>
          <p:spPr bwMode="auto">
            <a:xfrm flipH="1">
              <a:off x="852" y="2623"/>
              <a:ext cx="352" cy="39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 name="Line 71">
              <a:extLst>
                <a:ext uri="{FF2B5EF4-FFF2-40B4-BE49-F238E27FC236}">
                  <a16:creationId xmlns:a16="http://schemas.microsoft.com/office/drawing/2014/main" id="{7F5D1A60-84BD-909E-DA0A-C7957655D51D}"/>
                </a:ext>
              </a:extLst>
            </p:cNvPr>
            <p:cNvSpPr>
              <a:spLocks noChangeShapeType="1"/>
            </p:cNvSpPr>
            <p:nvPr/>
          </p:nvSpPr>
          <p:spPr bwMode="auto">
            <a:xfrm flipV="1">
              <a:off x="494" y="3582"/>
              <a:ext cx="198" cy="65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9" name="Line 72">
              <a:extLst>
                <a:ext uri="{FF2B5EF4-FFF2-40B4-BE49-F238E27FC236}">
                  <a16:creationId xmlns:a16="http://schemas.microsoft.com/office/drawing/2014/main" id="{CC84015C-ABDF-9973-3DA1-3814FFE3C8E7}"/>
                </a:ext>
              </a:extLst>
            </p:cNvPr>
            <p:cNvSpPr>
              <a:spLocks noChangeShapeType="1"/>
            </p:cNvSpPr>
            <p:nvPr/>
          </p:nvSpPr>
          <p:spPr bwMode="auto">
            <a:xfrm>
              <a:off x="162" y="2738"/>
              <a:ext cx="416" cy="25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60" name="Group 113">
            <a:extLst>
              <a:ext uri="{FF2B5EF4-FFF2-40B4-BE49-F238E27FC236}">
                <a16:creationId xmlns:a16="http://schemas.microsoft.com/office/drawing/2014/main" id="{221ECF78-FC6F-3957-AF2C-200511E06917}"/>
              </a:ext>
            </a:extLst>
          </p:cNvPr>
          <p:cNvGrpSpPr>
            <a:grpSpLocks/>
          </p:cNvGrpSpPr>
          <p:nvPr/>
        </p:nvGrpSpPr>
        <p:grpSpPr bwMode="auto">
          <a:xfrm flipH="1">
            <a:off x="9041436" y="2937456"/>
            <a:ext cx="735012" cy="681037"/>
            <a:chOff x="-44" y="1473"/>
            <a:chExt cx="981" cy="1105"/>
          </a:xfrm>
        </p:grpSpPr>
        <p:pic>
          <p:nvPicPr>
            <p:cNvPr id="61" name="Picture 114" descr="desktop_computer_stylized_medium">
              <a:extLst>
                <a:ext uri="{FF2B5EF4-FFF2-40B4-BE49-F238E27FC236}">
                  <a16:creationId xmlns:a16="http://schemas.microsoft.com/office/drawing/2014/main" id="{0173F9F5-E5FF-6852-8291-44FA2FB50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15">
              <a:extLst>
                <a:ext uri="{FF2B5EF4-FFF2-40B4-BE49-F238E27FC236}">
                  <a16:creationId xmlns:a16="http://schemas.microsoft.com/office/drawing/2014/main" id="{10A74552-4C44-2C94-93B1-14D63AF2596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3" name="Group 116">
            <a:extLst>
              <a:ext uri="{FF2B5EF4-FFF2-40B4-BE49-F238E27FC236}">
                <a16:creationId xmlns:a16="http://schemas.microsoft.com/office/drawing/2014/main" id="{3123243E-1D00-D244-F183-375D89541E87}"/>
              </a:ext>
            </a:extLst>
          </p:cNvPr>
          <p:cNvGrpSpPr>
            <a:grpSpLocks/>
          </p:cNvGrpSpPr>
          <p:nvPr/>
        </p:nvGrpSpPr>
        <p:grpSpPr bwMode="auto">
          <a:xfrm flipH="1">
            <a:off x="9328773" y="3774068"/>
            <a:ext cx="735013" cy="681038"/>
            <a:chOff x="-44" y="1473"/>
            <a:chExt cx="981" cy="1105"/>
          </a:xfrm>
        </p:grpSpPr>
        <p:pic>
          <p:nvPicPr>
            <p:cNvPr id="64" name="Picture 117" descr="desktop_computer_stylized_medium">
              <a:extLst>
                <a:ext uri="{FF2B5EF4-FFF2-40B4-BE49-F238E27FC236}">
                  <a16:creationId xmlns:a16="http://schemas.microsoft.com/office/drawing/2014/main" id="{421863BB-C432-7711-B0A3-02A0AD863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Freeform 118">
              <a:extLst>
                <a:ext uri="{FF2B5EF4-FFF2-40B4-BE49-F238E27FC236}">
                  <a16:creationId xmlns:a16="http://schemas.microsoft.com/office/drawing/2014/main" id="{1A0C7E44-A494-B964-0372-B07EDEE59C1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6" name="Group 119">
            <a:extLst>
              <a:ext uri="{FF2B5EF4-FFF2-40B4-BE49-F238E27FC236}">
                <a16:creationId xmlns:a16="http://schemas.microsoft.com/office/drawing/2014/main" id="{AE0D4A53-D61A-190B-31E6-0B9833E9C33F}"/>
              </a:ext>
            </a:extLst>
          </p:cNvPr>
          <p:cNvGrpSpPr>
            <a:grpSpLocks/>
          </p:cNvGrpSpPr>
          <p:nvPr/>
        </p:nvGrpSpPr>
        <p:grpSpPr bwMode="auto">
          <a:xfrm flipH="1">
            <a:off x="9387511" y="4475743"/>
            <a:ext cx="735012" cy="681038"/>
            <a:chOff x="-44" y="1473"/>
            <a:chExt cx="981" cy="1105"/>
          </a:xfrm>
        </p:grpSpPr>
        <p:pic>
          <p:nvPicPr>
            <p:cNvPr id="67" name="Picture 120" descr="desktop_computer_stylized_medium">
              <a:extLst>
                <a:ext uri="{FF2B5EF4-FFF2-40B4-BE49-F238E27FC236}">
                  <a16:creationId xmlns:a16="http://schemas.microsoft.com/office/drawing/2014/main" id="{E67F3BE7-FE21-76D7-9D56-2868CC0CC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Freeform 121">
              <a:extLst>
                <a:ext uri="{FF2B5EF4-FFF2-40B4-BE49-F238E27FC236}">
                  <a16:creationId xmlns:a16="http://schemas.microsoft.com/office/drawing/2014/main" id="{F52A5543-19CC-80A1-CD83-D9FF5211ACC3}"/>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9" name="Group 122">
            <a:extLst>
              <a:ext uri="{FF2B5EF4-FFF2-40B4-BE49-F238E27FC236}">
                <a16:creationId xmlns:a16="http://schemas.microsoft.com/office/drawing/2014/main" id="{7E5D2995-A564-F877-5D7A-F74CEE34BC78}"/>
              </a:ext>
            </a:extLst>
          </p:cNvPr>
          <p:cNvGrpSpPr>
            <a:grpSpLocks/>
          </p:cNvGrpSpPr>
          <p:nvPr/>
        </p:nvGrpSpPr>
        <p:grpSpPr bwMode="auto">
          <a:xfrm flipH="1">
            <a:off x="9424023" y="5256793"/>
            <a:ext cx="735013" cy="681038"/>
            <a:chOff x="-44" y="1473"/>
            <a:chExt cx="981" cy="1105"/>
          </a:xfrm>
        </p:grpSpPr>
        <p:pic>
          <p:nvPicPr>
            <p:cNvPr id="70" name="Picture 123" descr="desktop_computer_stylized_medium">
              <a:extLst>
                <a:ext uri="{FF2B5EF4-FFF2-40B4-BE49-F238E27FC236}">
                  <a16:creationId xmlns:a16="http://schemas.microsoft.com/office/drawing/2014/main" id="{5283BED8-C071-963D-5CC4-9C9A06D50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124">
              <a:extLst>
                <a:ext uri="{FF2B5EF4-FFF2-40B4-BE49-F238E27FC236}">
                  <a16:creationId xmlns:a16="http://schemas.microsoft.com/office/drawing/2014/main" id="{F0C0B766-9B80-928D-3109-A220F1A4789D}"/>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2" name="Group 125">
            <a:extLst>
              <a:ext uri="{FF2B5EF4-FFF2-40B4-BE49-F238E27FC236}">
                <a16:creationId xmlns:a16="http://schemas.microsoft.com/office/drawing/2014/main" id="{E496024C-41E8-8F29-ECC4-45905C36A2A1}"/>
              </a:ext>
            </a:extLst>
          </p:cNvPr>
          <p:cNvGrpSpPr>
            <a:grpSpLocks/>
          </p:cNvGrpSpPr>
          <p:nvPr/>
        </p:nvGrpSpPr>
        <p:grpSpPr bwMode="auto">
          <a:xfrm flipH="1">
            <a:off x="8079411" y="3066043"/>
            <a:ext cx="735012" cy="681038"/>
            <a:chOff x="-44" y="1473"/>
            <a:chExt cx="981" cy="1105"/>
          </a:xfrm>
        </p:grpSpPr>
        <p:pic>
          <p:nvPicPr>
            <p:cNvPr id="73" name="Picture 126" descr="desktop_computer_stylized_medium">
              <a:extLst>
                <a:ext uri="{FF2B5EF4-FFF2-40B4-BE49-F238E27FC236}">
                  <a16:creationId xmlns:a16="http://schemas.microsoft.com/office/drawing/2014/main" id="{DF8DD402-64D9-073D-39D7-AF02AC6076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27">
              <a:extLst>
                <a:ext uri="{FF2B5EF4-FFF2-40B4-BE49-F238E27FC236}">
                  <a16:creationId xmlns:a16="http://schemas.microsoft.com/office/drawing/2014/main" id="{B0584CD9-3340-AB20-3933-4867C116028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5" name="Group 128">
            <a:extLst>
              <a:ext uri="{FF2B5EF4-FFF2-40B4-BE49-F238E27FC236}">
                <a16:creationId xmlns:a16="http://schemas.microsoft.com/office/drawing/2014/main" id="{10CCFC0E-E874-60F3-E041-72BB1B426854}"/>
              </a:ext>
            </a:extLst>
          </p:cNvPr>
          <p:cNvGrpSpPr>
            <a:grpSpLocks/>
          </p:cNvGrpSpPr>
          <p:nvPr/>
        </p:nvGrpSpPr>
        <p:grpSpPr bwMode="auto">
          <a:xfrm flipH="1">
            <a:off x="7074523" y="3127956"/>
            <a:ext cx="735013" cy="681037"/>
            <a:chOff x="-44" y="1473"/>
            <a:chExt cx="981" cy="1105"/>
          </a:xfrm>
        </p:grpSpPr>
        <p:pic>
          <p:nvPicPr>
            <p:cNvPr id="76" name="Picture 129" descr="desktop_computer_stylized_medium">
              <a:extLst>
                <a:ext uri="{FF2B5EF4-FFF2-40B4-BE49-F238E27FC236}">
                  <a16:creationId xmlns:a16="http://schemas.microsoft.com/office/drawing/2014/main" id="{52C64C1D-59AA-0664-3F94-755785B92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Freeform 130">
              <a:extLst>
                <a:ext uri="{FF2B5EF4-FFF2-40B4-BE49-F238E27FC236}">
                  <a16:creationId xmlns:a16="http://schemas.microsoft.com/office/drawing/2014/main" id="{C28203F0-CAE1-5C88-4E60-65582A087FF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8" name="Group 134">
            <a:extLst>
              <a:ext uri="{FF2B5EF4-FFF2-40B4-BE49-F238E27FC236}">
                <a16:creationId xmlns:a16="http://schemas.microsoft.com/office/drawing/2014/main" id="{F37F84B7-7C06-7C94-EE88-33930376388E}"/>
              </a:ext>
            </a:extLst>
          </p:cNvPr>
          <p:cNvGrpSpPr>
            <a:grpSpLocks/>
          </p:cNvGrpSpPr>
          <p:nvPr/>
        </p:nvGrpSpPr>
        <p:grpSpPr bwMode="auto">
          <a:xfrm flipH="1">
            <a:off x="6358561" y="3832806"/>
            <a:ext cx="735012" cy="681037"/>
            <a:chOff x="-44" y="1473"/>
            <a:chExt cx="981" cy="1105"/>
          </a:xfrm>
        </p:grpSpPr>
        <p:pic>
          <p:nvPicPr>
            <p:cNvPr id="79" name="Picture 135" descr="desktop_computer_stylized_medium">
              <a:extLst>
                <a:ext uri="{FF2B5EF4-FFF2-40B4-BE49-F238E27FC236}">
                  <a16:creationId xmlns:a16="http://schemas.microsoft.com/office/drawing/2014/main" id="{89CFB2E8-0DFA-4B51-9DCC-8B89A2673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Freeform 136">
              <a:extLst>
                <a:ext uri="{FF2B5EF4-FFF2-40B4-BE49-F238E27FC236}">
                  <a16:creationId xmlns:a16="http://schemas.microsoft.com/office/drawing/2014/main" id="{83DAD74C-C197-18FE-F71C-66040F02F9C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81" name="Group 137">
            <a:extLst>
              <a:ext uri="{FF2B5EF4-FFF2-40B4-BE49-F238E27FC236}">
                <a16:creationId xmlns:a16="http://schemas.microsoft.com/office/drawing/2014/main" id="{18AA2C05-8237-FB2E-19B1-DB42EE7FA77B}"/>
              </a:ext>
            </a:extLst>
          </p:cNvPr>
          <p:cNvGrpSpPr>
            <a:grpSpLocks/>
          </p:cNvGrpSpPr>
          <p:nvPr/>
        </p:nvGrpSpPr>
        <p:grpSpPr bwMode="auto">
          <a:xfrm flipH="1">
            <a:off x="6990386" y="4567818"/>
            <a:ext cx="735012" cy="681038"/>
            <a:chOff x="-44" y="1473"/>
            <a:chExt cx="981" cy="1105"/>
          </a:xfrm>
        </p:grpSpPr>
        <p:pic>
          <p:nvPicPr>
            <p:cNvPr id="82" name="Picture 138" descr="desktop_computer_stylized_medium">
              <a:extLst>
                <a:ext uri="{FF2B5EF4-FFF2-40B4-BE49-F238E27FC236}">
                  <a16:creationId xmlns:a16="http://schemas.microsoft.com/office/drawing/2014/main" id="{85214C47-8AA5-9EF7-F0AB-F234CD15E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Freeform 139">
              <a:extLst>
                <a:ext uri="{FF2B5EF4-FFF2-40B4-BE49-F238E27FC236}">
                  <a16:creationId xmlns:a16="http://schemas.microsoft.com/office/drawing/2014/main" id="{CF35D9F5-7225-ADD1-1614-51CA4E97C50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84" name="Group 140">
            <a:extLst>
              <a:ext uri="{FF2B5EF4-FFF2-40B4-BE49-F238E27FC236}">
                <a16:creationId xmlns:a16="http://schemas.microsoft.com/office/drawing/2014/main" id="{862E0F39-A7AD-AD4C-7957-C2A7647A5CB7}"/>
              </a:ext>
            </a:extLst>
          </p:cNvPr>
          <p:cNvGrpSpPr>
            <a:grpSpLocks/>
          </p:cNvGrpSpPr>
          <p:nvPr/>
        </p:nvGrpSpPr>
        <p:grpSpPr bwMode="auto">
          <a:xfrm flipH="1">
            <a:off x="7520611" y="5177418"/>
            <a:ext cx="735012" cy="681038"/>
            <a:chOff x="-44" y="1473"/>
            <a:chExt cx="981" cy="1105"/>
          </a:xfrm>
        </p:grpSpPr>
        <p:pic>
          <p:nvPicPr>
            <p:cNvPr id="85" name="Picture 141" descr="desktop_computer_stylized_medium">
              <a:extLst>
                <a:ext uri="{FF2B5EF4-FFF2-40B4-BE49-F238E27FC236}">
                  <a16:creationId xmlns:a16="http://schemas.microsoft.com/office/drawing/2014/main" id="{BD6776DD-50F9-8FFA-2BC7-88D0BEDE5E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Freeform 142">
              <a:extLst>
                <a:ext uri="{FF2B5EF4-FFF2-40B4-BE49-F238E27FC236}">
                  <a16:creationId xmlns:a16="http://schemas.microsoft.com/office/drawing/2014/main" id="{C8FE91E6-1575-0928-3F16-CD898D8616A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87" name="Group 143">
            <a:extLst>
              <a:ext uri="{FF2B5EF4-FFF2-40B4-BE49-F238E27FC236}">
                <a16:creationId xmlns:a16="http://schemas.microsoft.com/office/drawing/2014/main" id="{91BFFCD1-9CC4-F660-49DB-82859E9EAEA1}"/>
              </a:ext>
            </a:extLst>
          </p:cNvPr>
          <p:cNvGrpSpPr>
            <a:grpSpLocks/>
          </p:cNvGrpSpPr>
          <p:nvPr/>
        </p:nvGrpSpPr>
        <p:grpSpPr bwMode="auto">
          <a:xfrm flipH="1">
            <a:off x="6598273" y="5467931"/>
            <a:ext cx="735013" cy="681037"/>
            <a:chOff x="-44" y="1473"/>
            <a:chExt cx="981" cy="1105"/>
          </a:xfrm>
        </p:grpSpPr>
        <p:pic>
          <p:nvPicPr>
            <p:cNvPr id="88" name="Picture 144" descr="desktop_computer_stylized_medium">
              <a:extLst>
                <a:ext uri="{FF2B5EF4-FFF2-40B4-BE49-F238E27FC236}">
                  <a16:creationId xmlns:a16="http://schemas.microsoft.com/office/drawing/2014/main" id="{D1151ADC-1BDE-14AF-532F-8FBAF22EE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Freeform 145">
              <a:extLst>
                <a:ext uri="{FF2B5EF4-FFF2-40B4-BE49-F238E27FC236}">
                  <a16:creationId xmlns:a16="http://schemas.microsoft.com/office/drawing/2014/main" id="{8D178ABC-8E1D-3EA1-4294-A12D6BB1CBB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0" name="Group 146">
            <a:extLst>
              <a:ext uri="{FF2B5EF4-FFF2-40B4-BE49-F238E27FC236}">
                <a16:creationId xmlns:a16="http://schemas.microsoft.com/office/drawing/2014/main" id="{DD7AB762-3EC2-0A31-A5D6-B6DC2BE49C71}"/>
              </a:ext>
            </a:extLst>
          </p:cNvPr>
          <p:cNvGrpSpPr>
            <a:grpSpLocks/>
          </p:cNvGrpSpPr>
          <p:nvPr/>
        </p:nvGrpSpPr>
        <p:grpSpPr bwMode="auto">
          <a:xfrm flipH="1">
            <a:off x="7790486" y="5974343"/>
            <a:ext cx="735012" cy="681038"/>
            <a:chOff x="-44" y="1473"/>
            <a:chExt cx="981" cy="1105"/>
          </a:xfrm>
        </p:grpSpPr>
        <p:pic>
          <p:nvPicPr>
            <p:cNvPr id="91" name="Picture 147" descr="desktop_computer_stylized_medium">
              <a:extLst>
                <a:ext uri="{FF2B5EF4-FFF2-40B4-BE49-F238E27FC236}">
                  <a16:creationId xmlns:a16="http://schemas.microsoft.com/office/drawing/2014/main" id="{20D5222B-54DD-361A-C9E6-87105837B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Freeform 148">
              <a:extLst>
                <a:ext uri="{FF2B5EF4-FFF2-40B4-BE49-F238E27FC236}">
                  <a16:creationId xmlns:a16="http://schemas.microsoft.com/office/drawing/2014/main" id="{64501504-4282-F525-3B5C-CCEA6F48387F}"/>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3" name="Group 149">
            <a:extLst>
              <a:ext uri="{FF2B5EF4-FFF2-40B4-BE49-F238E27FC236}">
                <a16:creationId xmlns:a16="http://schemas.microsoft.com/office/drawing/2014/main" id="{910F6F5D-45E4-3E90-5DA4-877B8723B5FD}"/>
              </a:ext>
            </a:extLst>
          </p:cNvPr>
          <p:cNvGrpSpPr>
            <a:grpSpLocks/>
          </p:cNvGrpSpPr>
          <p:nvPr/>
        </p:nvGrpSpPr>
        <p:grpSpPr bwMode="auto">
          <a:xfrm flipH="1">
            <a:off x="8535023" y="5585406"/>
            <a:ext cx="735013" cy="681037"/>
            <a:chOff x="-44" y="1473"/>
            <a:chExt cx="981" cy="1105"/>
          </a:xfrm>
        </p:grpSpPr>
        <p:pic>
          <p:nvPicPr>
            <p:cNvPr id="94" name="Picture 150" descr="desktop_computer_stylized_medium">
              <a:extLst>
                <a:ext uri="{FF2B5EF4-FFF2-40B4-BE49-F238E27FC236}">
                  <a16:creationId xmlns:a16="http://schemas.microsoft.com/office/drawing/2014/main" id="{B7AEB8BF-AFEA-F44C-92D9-109A3BC1B1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Freeform 151">
              <a:extLst>
                <a:ext uri="{FF2B5EF4-FFF2-40B4-BE49-F238E27FC236}">
                  <a16:creationId xmlns:a16="http://schemas.microsoft.com/office/drawing/2014/main" id="{ECFCA134-E9E1-380B-1F6E-C04297AB588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6" name="Group 89">
            <a:extLst>
              <a:ext uri="{FF2B5EF4-FFF2-40B4-BE49-F238E27FC236}">
                <a16:creationId xmlns:a16="http://schemas.microsoft.com/office/drawing/2014/main" id="{0FE06E7F-FAC3-381A-E9A9-61B394DC3707}"/>
              </a:ext>
            </a:extLst>
          </p:cNvPr>
          <p:cNvGrpSpPr>
            <a:grpSpLocks/>
          </p:cNvGrpSpPr>
          <p:nvPr/>
        </p:nvGrpSpPr>
        <p:grpSpPr bwMode="auto">
          <a:xfrm>
            <a:off x="6383961" y="3005718"/>
            <a:ext cx="3525837" cy="3408363"/>
            <a:chOff x="2920" y="1824"/>
            <a:chExt cx="2221" cy="2147"/>
          </a:xfrm>
        </p:grpSpPr>
        <p:pic>
          <p:nvPicPr>
            <p:cNvPr id="97" name="Picture 7">
              <a:extLst>
                <a:ext uri="{FF2B5EF4-FFF2-40B4-BE49-F238E27FC236}">
                  <a16:creationId xmlns:a16="http://schemas.microsoft.com/office/drawing/2014/main" id="{1B3DC991-DF6E-5F1B-A434-8610EA95E6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98" name="Picture 54">
              <a:extLst>
                <a:ext uri="{FF2B5EF4-FFF2-40B4-BE49-F238E27FC236}">
                  <a16:creationId xmlns:a16="http://schemas.microsoft.com/office/drawing/2014/main" id="{A021CCFB-9699-B1AD-BFA5-BFFB312319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1" y="192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99" name="Picture 55">
              <a:extLst>
                <a:ext uri="{FF2B5EF4-FFF2-40B4-BE49-F238E27FC236}">
                  <a16:creationId xmlns:a16="http://schemas.microsoft.com/office/drawing/2014/main" id="{6BC18AEA-8595-9CDE-8AC8-58DC0863CA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0" y="2376"/>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0" name="Picture 56">
              <a:extLst>
                <a:ext uri="{FF2B5EF4-FFF2-40B4-BE49-F238E27FC236}">
                  <a16:creationId xmlns:a16="http://schemas.microsoft.com/office/drawing/2014/main" id="{4E529FA0-4668-C53C-D0BC-2763751E01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 y="2803"/>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1" name="Picture 57">
              <a:extLst>
                <a:ext uri="{FF2B5EF4-FFF2-40B4-BE49-F238E27FC236}">
                  <a16:creationId xmlns:a16="http://schemas.microsoft.com/office/drawing/2014/main" id="{636E68A9-365D-710B-2A17-1F3EC4C2C0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0" y="3230"/>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2" name="Picture 58">
              <a:extLst>
                <a:ext uri="{FF2B5EF4-FFF2-40B4-BE49-F238E27FC236}">
                  <a16:creationId xmlns:a16="http://schemas.microsoft.com/office/drawing/2014/main" id="{E66DCC16-E0B5-46F3-E7F5-EEF16BFDA8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7" y="3692"/>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3" name="Picture 59">
              <a:extLst>
                <a:ext uri="{FF2B5EF4-FFF2-40B4-BE49-F238E27FC236}">
                  <a16:creationId xmlns:a16="http://schemas.microsoft.com/office/drawing/2014/main" id="{501691C5-F262-29A2-ECF5-266057E98C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4" y="3308"/>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4" name="Picture 60">
              <a:extLst>
                <a:ext uri="{FF2B5EF4-FFF2-40B4-BE49-F238E27FC236}">
                  <a16:creationId xmlns:a16="http://schemas.microsoft.com/office/drawing/2014/main" id="{B10D4618-3D2A-D8F8-6E53-2B3D783EB0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8" y="2339"/>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5" name="Picture 61">
              <a:extLst>
                <a:ext uri="{FF2B5EF4-FFF2-40B4-BE49-F238E27FC236}">
                  <a16:creationId xmlns:a16="http://schemas.microsoft.com/office/drawing/2014/main" id="{6BB26C5C-A18B-2130-0C90-C3640A1133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4" y="3395"/>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pic>
          <p:nvPicPr>
            <p:cNvPr id="106" name="Picture 62">
              <a:extLst>
                <a:ext uri="{FF2B5EF4-FFF2-40B4-BE49-F238E27FC236}">
                  <a16:creationId xmlns:a16="http://schemas.microsoft.com/office/drawing/2014/main" id="{B8A56F8A-77BF-AFD2-8AB8-56DBCCCE4A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2" y="1824"/>
              <a:ext cx="297"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spTree>
    <p:extLst>
      <p:ext uri="{BB962C8B-B14F-4D97-AF65-F5344CB8AC3E}">
        <p14:creationId xmlns:p14="http://schemas.microsoft.com/office/powerpoint/2010/main" val="213226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7"/>
                                        </p:tgtEl>
                                        <p:attrNameLst>
                                          <p:attrName>style.visibility</p:attrName>
                                        </p:attrNameLst>
                                      </p:cBhvr>
                                      <p:to>
                                        <p:strVal val="visible"/>
                                      </p:to>
                                    </p:set>
                                  </p:childTnLst>
                                </p:cTn>
                              </p:par>
                              <p:par>
                                <p:cTn id="13" presetID="9" presetClass="entr" presetSubtype="0" fill="hold" nodeType="withEffect">
                                  <p:stCondLst>
                                    <p:cond delay="0"/>
                                  </p:stCondLst>
                                  <p:childTnLst>
                                    <p:set>
                                      <p:cBhvr>
                                        <p:cTn id="14" dur="1" fill="hold">
                                          <p:stCondLst>
                                            <p:cond delay="0"/>
                                          </p:stCondLst>
                                        </p:cTn>
                                        <p:tgtEl>
                                          <p:spTgt spid="96"/>
                                        </p:tgtEl>
                                        <p:attrNameLst>
                                          <p:attrName>style.visibility</p:attrName>
                                        </p:attrNameLst>
                                      </p:cBhvr>
                                      <p:to>
                                        <p:strVal val="visible"/>
                                      </p:to>
                                    </p:set>
                                    <p:animEffect transition="in" filter="dissolve">
                                      <p:cBhvr>
                                        <p:cTn id="15" dur="500"/>
                                        <p:tgtEl>
                                          <p:spTgt spid="9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8"/>
                                        </p:tgtEl>
                                        <p:attrNameLst>
                                          <p:attrName>style.visibility</p:attrName>
                                        </p:attrNameLst>
                                      </p:cBhvr>
                                      <p:to>
                                        <p:strVal val="visible"/>
                                      </p:to>
                                    </p:set>
                                  </p:childTnLst>
                                </p:cTn>
                              </p:par>
                            </p:childTnLst>
                          </p:cTn>
                        </p:par>
                        <p:par>
                          <p:cTn id="20" fill="hold">
                            <p:stCondLst>
                              <p:cond delay="500"/>
                            </p:stCondLst>
                            <p:childTnLst>
                              <p:par>
                                <p:cTn id="21" presetID="9"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dissolve">
                                      <p:cBhvr>
                                        <p:cTn id="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autoUpdateAnimBg="0"/>
      <p:bldP spid="47" grpId="0" autoUpdateAnimBg="0"/>
      <p:bldP spid="4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9E5A6-7482-BEB5-0E49-C910AF96E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25E77-BB70-4C01-6DCC-D6A25591BDD6}"/>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a:t>
            </a:r>
            <a:r>
              <a:rPr lang="en-US" altLang="en-US" dirty="0">
                <a:ea typeface="ＭＳ Ｐゴシック" panose="020B0600070205080204" pitchFamily="34" charset="-128"/>
              </a:rPr>
              <a:t>g</a:t>
            </a:r>
            <a:r>
              <a:rPr lang="en-US" altLang="en-US" sz="4400" dirty="0">
                <a:ea typeface="ＭＳ Ｐゴシック" panose="020B0600070205080204" pitchFamily="34" charset="-128"/>
              </a:rPr>
              <a:t>uys: packet </a:t>
            </a:r>
            <a:r>
              <a:rPr lang="en-US" altLang="en-US" dirty="0">
                <a:ea typeface="ＭＳ Ｐゴシック" panose="020B0600070205080204" pitchFamily="34" charset="-128"/>
              </a:rPr>
              <a:t>i</a:t>
            </a:r>
            <a:r>
              <a:rPr lang="en-US" altLang="en-US" sz="4400" dirty="0">
                <a:ea typeface="ＭＳ Ｐゴシック" panose="020B0600070205080204" pitchFamily="34" charset="-128"/>
              </a:rPr>
              <a:t>nterception</a:t>
            </a:r>
            <a:endParaRPr lang="en-US" sz="4400" dirty="0"/>
          </a:p>
        </p:txBody>
      </p:sp>
      <p:sp>
        <p:nvSpPr>
          <p:cNvPr id="6" name="Slide Number Placeholder 5">
            <a:extLst>
              <a:ext uri="{FF2B5EF4-FFF2-40B4-BE49-F238E27FC236}">
                <a16:creationId xmlns:a16="http://schemas.microsoft.com/office/drawing/2014/main" id="{7ECE87A9-629A-58F5-200A-D31C7851A481}"/>
              </a:ext>
            </a:extLst>
          </p:cNvPr>
          <p:cNvSpPr>
            <a:spLocks noGrp="1"/>
          </p:cNvSpPr>
          <p:nvPr>
            <p:ph type="sldNum" sz="quarter" idx="4"/>
          </p:nvPr>
        </p:nvSpPr>
        <p:spPr/>
        <p:txBody>
          <a:bodyPr/>
          <a:lstStyle/>
          <a:p>
            <a:r>
              <a:rPr lang="en-US"/>
              <a:t>Introduction: 1-</a:t>
            </a:r>
            <a:fld id="{C4204591-24BD-A542-B9D5-F8D8A88D2FEE}" type="slidenum">
              <a:rPr lang="en-US" smtClean="0"/>
              <a:pPr/>
              <a:t>14</a:t>
            </a:fld>
            <a:endParaRPr lang="en-US" dirty="0"/>
          </a:p>
        </p:txBody>
      </p:sp>
      <p:sp>
        <p:nvSpPr>
          <p:cNvPr id="17" name="Rectangle 5">
            <a:extLst>
              <a:ext uri="{FF2B5EF4-FFF2-40B4-BE49-F238E27FC236}">
                <a16:creationId xmlns:a16="http://schemas.microsoft.com/office/drawing/2014/main" id="{EA32565A-C885-8F82-C96B-6498B31D5A38}"/>
              </a:ext>
            </a:extLst>
          </p:cNvPr>
          <p:cNvSpPr txBox="1">
            <a:spLocks noChangeArrowheads="1"/>
          </p:cNvSpPr>
          <p:nvPr/>
        </p:nvSpPr>
        <p:spPr>
          <a:xfrm>
            <a:off x="841312" y="1344535"/>
            <a:ext cx="10342830" cy="208446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en-US" sz="3200" i="1" dirty="0">
                <a:solidFill>
                  <a:srgbClr val="CC0000"/>
                </a:solidFill>
                <a:ea typeface="ＭＳ Ｐゴシック" panose="020B0600070205080204" pitchFamily="34" charset="-128"/>
              </a:rPr>
              <a:t>packet “</a:t>
            </a:r>
            <a:r>
              <a:rPr lang="en-US" altLang="ja-JP" sz="3200" i="1" dirty="0">
                <a:solidFill>
                  <a:srgbClr val="CC0000"/>
                </a:solidFill>
                <a:ea typeface="ＭＳ Ｐゴシック" panose="020B0600070205080204" pitchFamily="34" charset="-128"/>
              </a:rPr>
              <a:t>sniffing”:</a:t>
            </a:r>
            <a:r>
              <a:rPr lang="en-US" altLang="ja-JP" i="1" dirty="0">
                <a:solidFill>
                  <a:srgbClr val="FF0000"/>
                </a:solidFill>
                <a:ea typeface="ＭＳ Ｐゴシック" panose="020B0600070205080204" pitchFamily="34" charset="-128"/>
              </a:rPr>
              <a:t> </a:t>
            </a:r>
          </a:p>
          <a:p>
            <a:pPr lvl="1">
              <a:buFont typeface="Wingdings" pitchFamily="2" charset="2"/>
              <a:buChar char="§"/>
            </a:pPr>
            <a:r>
              <a:rPr lang="en-US" altLang="en-US" sz="2800" dirty="0">
                <a:ea typeface="Arial" panose="020B0604020202020204" pitchFamily="34" charset="0"/>
              </a:rPr>
              <a:t>broadcast media (shared Ethernet, wireless)</a:t>
            </a:r>
          </a:p>
          <a:p>
            <a:pPr lvl="1">
              <a:buFont typeface="Wingdings" pitchFamily="2" charset="2"/>
              <a:buChar char="§"/>
            </a:pPr>
            <a:r>
              <a:rPr lang="en-US" altLang="en-US" sz="2800" dirty="0">
                <a:ea typeface="Arial" panose="020B0604020202020204" pitchFamily="34" charset="0"/>
              </a:rPr>
              <a:t>promiscuous network interface reads/records all packets (e.g., including passwords!) passing by</a:t>
            </a:r>
          </a:p>
        </p:txBody>
      </p:sp>
      <p:grpSp>
        <p:nvGrpSpPr>
          <p:cNvPr id="5" name="Group 90">
            <a:extLst>
              <a:ext uri="{FF2B5EF4-FFF2-40B4-BE49-F238E27FC236}">
                <a16:creationId xmlns:a16="http://schemas.microsoft.com/office/drawing/2014/main" id="{C73BBE2B-CCBB-EED2-B767-3892FE099EB3}"/>
              </a:ext>
            </a:extLst>
          </p:cNvPr>
          <p:cNvGrpSpPr>
            <a:grpSpLocks/>
          </p:cNvGrpSpPr>
          <p:nvPr/>
        </p:nvGrpSpPr>
        <p:grpSpPr bwMode="auto">
          <a:xfrm flipH="1">
            <a:off x="5864103" y="3398264"/>
            <a:ext cx="735012" cy="681037"/>
            <a:chOff x="-44" y="1473"/>
            <a:chExt cx="981" cy="1105"/>
          </a:xfrm>
        </p:grpSpPr>
        <p:pic>
          <p:nvPicPr>
            <p:cNvPr id="7" name="Picture 91" descr="desktop_computer_stylized_medium">
              <a:extLst>
                <a:ext uri="{FF2B5EF4-FFF2-40B4-BE49-F238E27FC236}">
                  <a16:creationId xmlns:a16="http://schemas.microsoft.com/office/drawing/2014/main" id="{0BF7CE34-82B6-3600-8D66-A13CA229C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92">
              <a:extLst>
                <a:ext uri="{FF2B5EF4-FFF2-40B4-BE49-F238E27FC236}">
                  <a16:creationId xmlns:a16="http://schemas.microsoft.com/office/drawing/2014/main" id="{CB96021E-0BDF-51D0-8AF3-0C7679E89C4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9" name="Freeform 43">
            <a:extLst>
              <a:ext uri="{FF2B5EF4-FFF2-40B4-BE49-F238E27FC236}">
                <a16:creationId xmlns:a16="http://schemas.microsoft.com/office/drawing/2014/main" id="{D1683755-27DE-53BF-C785-5599163DC758}"/>
              </a:ext>
            </a:extLst>
          </p:cNvPr>
          <p:cNvSpPr>
            <a:spLocks/>
          </p:cNvSpPr>
          <p:nvPr/>
        </p:nvSpPr>
        <p:spPr bwMode="auto">
          <a:xfrm>
            <a:off x="3359028" y="4133276"/>
            <a:ext cx="4587875" cy="728663"/>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Freeform 44">
            <a:extLst>
              <a:ext uri="{FF2B5EF4-FFF2-40B4-BE49-F238E27FC236}">
                <a16:creationId xmlns:a16="http://schemas.microsoft.com/office/drawing/2014/main" id="{5DE8F42A-A3A2-3C38-5DB6-67697964F1B0}"/>
              </a:ext>
            </a:extLst>
          </p:cNvPr>
          <p:cNvSpPr>
            <a:spLocks/>
          </p:cNvSpPr>
          <p:nvPr/>
        </p:nvSpPr>
        <p:spPr bwMode="auto">
          <a:xfrm>
            <a:off x="6191128" y="4003101"/>
            <a:ext cx="4762" cy="522288"/>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45">
            <a:extLst>
              <a:ext uri="{FF2B5EF4-FFF2-40B4-BE49-F238E27FC236}">
                <a16:creationId xmlns:a16="http://schemas.microsoft.com/office/drawing/2014/main" id="{C0366912-8FFB-2FA9-0664-8EC91B3D5804}"/>
              </a:ext>
            </a:extLst>
          </p:cNvPr>
          <p:cNvSpPr>
            <a:spLocks noChangeShapeType="1"/>
          </p:cNvSpPr>
          <p:nvPr/>
        </p:nvSpPr>
        <p:spPr bwMode="auto">
          <a:xfrm flipV="1">
            <a:off x="4533778" y="4525389"/>
            <a:ext cx="0" cy="3746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46">
            <a:extLst>
              <a:ext uri="{FF2B5EF4-FFF2-40B4-BE49-F238E27FC236}">
                <a16:creationId xmlns:a16="http://schemas.microsoft.com/office/drawing/2014/main" id="{5B778F71-ECD5-856A-3064-0B1F2B9B6A74}"/>
              </a:ext>
            </a:extLst>
          </p:cNvPr>
          <p:cNvSpPr>
            <a:spLocks noChangeShapeType="1"/>
          </p:cNvSpPr>
          <p:nvPr/>
        </p:nvSpPr>
        <p:spPr bwMode="auto">
          <a:xfrm flipV="1">
            <a:off x="4552828" y="5236589"/>
            <a:ext cx="0"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47">
            <a:extLst>
              <a:ext uri="{FF2B5EF4-FFF2-40B4-BE49-F238E27FC236}">
                <a16:creationId xmlns:a16="http://schemas.microsoft.com/office/drawing/2014/main" id="{D08705F7-5E7F-75D1-53E3-8A9796BB19FA}"/>
              </a:ext>
            </a:extLst>
          </p:cNvPr>
          <p:cNvSpPr txBox="1">
            <a:spLocks noChangeArrowheads="1"/>
          </p:cNvSpPr>
          <p:nvPr/>
        </p:nvSpPr>
        <p:spPr bwMode="auto">
          <a:xfrm>
            <a:off x="2816103" y="3422076"/>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A</a:t>
            </a:r>
          </a:p>
        </p:txBody>
      </p:sp>
      <p:sp>
        <p:nvSpPr>
          <p:cNvPr id="14" name="Text Box 48">
            <a:extLst>
              <a:ext uri="{FF2B5EF4-FFF2-40B4-BE49-F238E27FC236}">
                <a16:creationId xmlns:a16="http://schemas.microsoft.com/office/drawing/2014/main" id="{74658625-BE97-EA49-BE00-54AD545CDF57}"/>
              </a:ext>
            </a:extLst>
          </p:cNvPr>
          <p:cNvSpPr txBox="1">
            <a:spLocks noChangeArrowheads="1"/>
          </p:cNvSpPr>
          <p:nvPr/>
        </p:nvSpPr>
        <p:spPr bwMode="auto">
          <a:xfrm>
            <a:off x="8285040" y="4885751"/>
            <a:ext cx="388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B</a:t>
            </a:r>
          </a:p>
        </p:txBody>
      </p:sp>
      <p:sp>
        <p:nvSpPr>
          <p:cNvPr id="15" name="Text Box 49">
            <a:extLst>
              <a:ext uri="{FF2B5EF4-FFF2-40B4-BE49-F238E27FC236}">
                <a16:creationId xmlns:a16="http://schemas.microsoft.com/office/drawing/2014/main" id="{87662837-8869-4DBA-6062-F00A1ED13CAC}"/>
              </a:ext>
            </a:extLst>
          </p:cNvPr>
          <p:cNvSpPr txBox="1">
            <a:spLocks noChangeArrowheads="1"/>
          </p:cNvSpPr>
          <p:nvPr/>
        </p:nvSpPr>
        <p:spPr bwMode="auto">
          <a:xfrm>
            <a:off x="6383215" y="3399851"/>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C</a:t>
            </a:r>
          </a:p>
        </p:txBody>
      </p:sp>
      <p:grpSp>
        <p:nvGrpSpPr>
          <p:cNvPr id="4" name="Group 3">
            <a:extLst>
              <a:ext uri="{FF2B5EF4-FFF2-40B4-BE49-F238E27FC236}">
                <a16:creationId xmlns:a16="http://schemas.microsoft.com/office/drawing/2014/main" id="{B0790D8E-F4A6-B75F-7B5A-54A278E5D5B6}"/>
              </a:ext>
            </a:extLst>
          </p:cNvPr>
          <p:cNvGrpSpPr/>
          <p:nvPr/>
        </p:nvGrpSpPr>
        <p:grpSpPr>
          <a:xfrm>
            <a:off x="5156078" y="4004689"/>
            <a:ext cx="2635250" cy="984250"/>
            <a:chOff x="5156078" y="4004689"/>
            <a:chExt cx="2635250" cy="984250"/>
          </a:xfrm>
        </p:grpSpPr>
        <p:grpSp>
          <p:nvGrpSpPr>
            <p:cNvPr id="16" name="Group 50">
              <a:extLst>
                <a:ext uri="{FF2B5EF4-FFF2-40B4-BE49-F238E27FC236}">
                  <a16:creationId xmlns:a16="http://schemas.microsoft.com/office/drawing/2014/main" id="{B2B7C543-F976-AD1B-1D7F-19F4624BA017}"/>
                </a:ext>
              </a:extLst>
            </p:cNvPr>
            <p:cNvGrpSpPr>
              <a:grpSpLocks/>
            </p:cNvGrpSpPr>
            <p:nvPr/>
          </p:nvGrpSpPr>
          <p:grpSpPr bwMode="auto">
            <a:xfrm>
              <a:off x="5187828" y="4652389"/>
              <a:ext cx="2295525" cy="336550"/>
              <a:chOff x="2418" y="3342"/>
              <a:chExt cx="1446" cy="212"/>
            </a:xfrm>
          </p:grpSpPr>
          <p:sp>
            <p:nvSpPr>
              <p:cNvPr id="18" name="Rectangle 51">
                <a:extLst>
                  <a:ext uri="{FF2B5EF4-FFF2-40B4-BE49-F238E27FC236}">
                    <a16:creationId xmlns:a16="http://schemas.microsoft.com/office/drawing/2014/main" id="{EE955436-CDB5-EC8A-3F44-9532EDEC1500}"/>
                  </a:ext>
                </a:extLst>
              </p:cNvPr>
              <p:cNvSpPr>
                <a:spLocks noChangeArrowheads="1"/>
              </p:cNvSpPr>
              <p:nvPr/>
            </p:nvSpPr>
            <p:spPr bwMode="auto">
              <a:xfrm>
                <a:off x="2463" y="3366"/>
                <a:ext cx="1356" cy="174"/>
              </a:xfrm>
              <a:prstGeom prst="rect">
                <a:avLst/>
              </a:prstGeom>
              <a:solidFill>
                <a:srgbClr val="FFFFFF"/>
              </a:solidFill>
              <a:ln w="127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sp>
            <p:nvSpPr>
              <p:cNvPr id="19" name="Line 52">
                <a:extLst>
                  <a:ext uri="{FF2B5EF4-FFF2-40B4-BE49-F238E27FC236}">
                    <a16:creationId xmlns:a16="http://schemas.microsoft.com/office/drawing/2014/main" id="{9772F082-9395-6F99-9EF9-B07515BC4061}"/>
                  </a:ext>
                </a:extLst>
              </p:cNvPr>
              <p:cNvSpPr>
                <a:spLocks noChangeShapeType="1"/>
              </p:cNvSpPr>
              <p:nvPr/>
            </p:nvSpPr>
            <p:spPr bwMode="auto">
              <a:xfrm>
                <a:off x="2784" y="3372"/>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53">
                <a:extLst>
                  <a:ext uri="{FF2B5EF4-FFF2-40B4-BE49-F238E27FC236}">
                    <a16:creationId xmlns:a16="http://schemas.microsoft.com/office/drawing/2014/main" id="{63D13CB4-C16E-DA67-D0EA-B47A97C89EC9}"/>
                  </a:ext>
                </a:extLst>
              </p:cNvPr>
              <p:cNvSpPr>
                <a:spLocks noChangeShapeType="1"/>
              </p:cNvSpPr>
              <p:nvPr/>
            </p:nvSpPr>
            <p:spPr bwMode="auto">
              <a:xfrm>
                <a:off x="3186"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54">
                <a:extLst>
                  <a:ext uri="{FF2B5EF4-FFF2-40B4-BE49-F238E27FC236}">
                    <a16:creationId xmlns:a16="http://schemas.microsoft.com/office/drawing/2014/main" id="{61A50554-0B62-B1AA-6838-5C0F564B3F4B}"/>
                  </a:ext>
                </a:extLst>
              </p:cNvPr>
              <p:cNvSpPr>
                <a:spLocks noChangeShapeType="1"/>
              </p:cNvSpPr>
              <p:nvPr/>
            </p:nvSpPr>
            <p:spPr bwMode="auto">
              <a:xfrm>
                <a:off x="3321"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Text Box 55">
                <a:extLst>
                  <a:ext uri="{FF2B5EF4-FFF2-40B4-BE49-F238E27FC236}">
                    <a16:creationId xmlns:a16="http://schemas.microsoft.com/office/drawing/2014/main" id="{1D9D4E96-0860-B8EE-E0F1-D0B067121D87}"/>
                  </a:ext>
                </a:extLst>
              </p:cNvPr>
              <p:cNvSpPr txBox="1">
                <a:spLocks noChangeArrowheads="1"/>
              </p:cNvSpPr>
              <p:nvPr/>
            </p:nvSpPr>
            <p:spPr bwMode="auto">
              <a:xfrm>
                <a:off x="2418" y="3342"/>
                <a:ext cx="14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600"/>
                  <a:t>src:B dest:A     payload</a:t>
                </a:r>
                <a:endParaRPr lang="en-US" altLang="en-US" sz="1600">
                  <a:latin typeface="Times New Roman" panose="02020603050405020304" pitchFamily="18" charset="0"/>
                </a:endParaRPr>
              </a:p>
            </p:txBody>
          </p:sp>
        </p:grpSp>
        <p:sp>
          <p:nvSpPr>
            <p:cNvPr id="23" name="Freeform 56">
              <a:extLst>
                <a:ext uri="{FF2B5EF4-FFF2-40B4-BE49-F238E27FC236}">
                  <a16:creationId xmlns:a16="http://schemas.microsoft.com/office/drawing/2014/main" id="{F520B5A9-91F1-157D-C23A-ED1049A6F27E}"/>
                </a:ext>
              </a:extLst>
            </p:cNvPr>
            <p:cNvSpPr>
              <a:spLocks/>
            </p:cNvSpPr>
            <p:nvPr/>
          </p:nvSpPr>
          <p:spPr bwMode="auto">
            <a:xfrm>
              <a:off x="5156078" y="4607939"/>
              <a:ext cx="2635250" cy="241300"/>
            </a:xfrm>
            <a:custGeom>
              <a:avLst/>
              <a:gdLst>
                <a:gd name="T0" fmla="*/ 2147483647 w 1660"/>
                <a:gd name="T1" fmla="*/ 2147483647 h 152"/>
                <a:gd name="T2" fmla="*/ 2147483647 w 1660"/>
                <a:gd name="T3" fmla="*/ 0 h 152"/>
                <a:gd name="T4" fmla="*/ 0 w 1660"/>
                <a:gd name="T5" fmla="*/ 2147483647 h 152"/>
                <a:gd name="T6" fmla="*/ 0 60000 65536"/>
                <a:gd name="T7" fmla="*/ 0 60000 65536"/>
                <a:gd name="T8" fmla="*/ 0 60000 65536"/>
                <a:gd name="T9" fmla="*/ 0 w 1660"/>
                <a:gd name="T10" fmla="*/ 0 h 152"/>
                <a:gd name="T11" fmla="*/ 1660 w 1660"/>
                <a:gd name="T12" fmla="*/ 152 h 152"/>
              </a:gdLst>
              <a:ahLst/>
              <a:cxnLst>
                <a:cxn ang="T6">
                  <a:pos x="T0" y="T1"/>
                </a:cxn>
                <a:cxn ang="T7">
                  <a:pos x="T2" y="T3"/>
                </a:cxn>
                <a:cxn ang="T8">
                  <a:pos x="T4" y="T5"/>
                </a:cxn>
              </a:cxnLst>
              <a:rect l="T9" t="T10" r="T11" b="T12"/>
              <a:pathLst>
                <a:path w="1660" h="152">
                  <a:moveTo>
                    <a:pt x="1660" y="152"/>
                  </a:moveTo>
                  <a:lnTo>
                    <a:pt x="1660" y="0"/>
                  </a:lnTo>
                  <a:lnTo>
                    <a:pt x="0" y="4"/>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Line 57">
              <a:extLst>
                <a:ext uri="{FF2B5EF4-FFF2-40B4-BE49-F238E27FC236}">
                  <a16:creationId xmlns:a16="http://schemas.microsoft.com/office/drawing/2014/main" id="{4D0CECF2-CCF5-4171-316B-9D2B14743F59}"/>
                </a:ext>
              </a:extLst>
            </p:cNvPr>
            <p:cNvSpPr>
              <a:spLocks noChangeShapeType="1"/>
            </p:cNvSpPr>
            <p:nvPr/>
          </p:nvSpPr>
          <p:spPr bwMode="auto">
            <a:xfrm flipV="1">
              <a:off x="6299078" y="4004689"/>
              <a:ext cx="0" cy="6032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pic>
        <p:nvPicPr>
          <p:cNvPr id="26" name="Picture 60">
            <a:extLst>
              <a:ext uri="{FF2B5EF4-FFF2-40B4-BE49-F238E27FC236}">
                <a16:creationId xmlns:a16="http://schemas.microsoft.com/office/drawing/2014/main" id="{2BEA0C50-911C-33BF-6340-3F6B70E572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1090" y="3466526"/>
            <a:ext cx="4714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27" name="Group 54">
            <a:extLst>
              <a:ext uri="{FF2B5EF4-FFF2-40B4-BE49-F238E27FC236}">
                <a16:creationId xmlns:a16="http://schemas.microsoft.com/office/drawing/2014/main" id="{12E05C48-9EAA-EFFC-AD61-8A86CE6D4CEF}"/>
              </a:ext>
            </a:extLst>
          </p:cNvPr>
          <p:cNvGrpSpPr>
            <a:grpSpLocks/>
          </p:cNvGrpSpPr>
          <p:nvPr/>
        </p:nvGrpSpPr>
        <p:grpSpPr bwMode="auto">
          <a:xfrm>
            <a:off x="3184403" y="3460176"/>
            <a:ext cx="365125" cy="712788"/>
            <a:chOff x="4140" y="429"/>
            <a:chExt cx="1425" cy="2396"/>
          </a:xfrm>
        </p:grpSpPr>
        <p:sp>
          <p:nvSpPr>
            <p:cNvPr id="28" name="Freeform 55">
              <a:extLst>
                <a:ext uri="{FF2B5EF4-FFF2-40B4-BE49-F238E27FC236}">
                  <a16:creationId xmlns:a16="http://schemas.microsoft.com/office/drawing/2014/main" id="{0661E70C-D7EB-BCF4-4C37-66BE1180016F}"/>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Rectangle 56">
              <a:extLst>
                <a:ext uri="{FF2B5EF4-FFF2-40B4-BE49-F238E27FC236}">
                  <a16:creationId xmlns:a16="http://schemas.microsoft.com/office/drawing/2014/main" id="{ED325C80-592D-2DA5-AD30-C9278209D247}"/>
                </a:ext>
              </a:extLst>
            </p:cNvPr>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Freeform 57">
              <a:extLst>
                <a:ext uri="{FF2B5EF4-FFF2-40B4-BE49-F238E27FC236}">
                  <a16:creationId xmlns:a16="http://schemas.microsoft.com/office/drawing/2014/main" id="{AF323BE4-A8B2-F21D-B763-11AAC382AC15}"/>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58">
              <a:extLst>
                <a:ext uri="{FF2B5EF4-FFF2-40B4-BE49-F238E27FC236}">
                  <a16:creationId xmlns:a16="http://schemas.microsoft.com/office/drawing/2014/main" id="{4A2EEA6E-E803-AF2C-E658-D6153DE062C0}"/>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Rectangle 59">
              <a:extLst>
                <a:ext uri="{FF2B5EF4-FFF2-40B4-BE49-F238E27FC236}">
                  <a16:creationId xmlns:a16="http://schemas.microsoft.com/office/drawing/2014/main" id="{14C33E2F-A9B8-2AF5-0796-0B0764CEB3C8}"/>
                </a:ext>
              </a:extLst>
            </p:cNvPr>
            <p:cNvSpPr>
              <a:spLocks noChangeArrowheads="1"/>
            </p:cNvSpPr>
            <p:nvPr/>
          </p:nvSpPr>
          <p:spPr bwMode="auto">
            <a:xfrm>
              <a:off x="4214" y="690"/>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3" name="Group 60">
              <a:extLst>
                <a:ext uri="{FF2B5EF4-FFF2-40B4-BE49-F238E27FC236}">
                  <a16:creationId xmlns:a16="http://schemas.microsoft.com/office/drawing/2014/main" id="{DF0E27CC-0EB2-A8FB-BF40-4C8AA451548F}"/>
                </a:ext>
              </a:extLst>
            </p:cNvPr>
            <p:cNvGrpSpPr>
              <a:grpSpLocks/>
            </p:cNvGrpSpPr>
            <p:nvPr/>
          </p:nvGrpSpPr>
          <p:grpSpPr bwMode="auto">
            <a:xfrm>
              <a:off x="4749" y="668"/>
              <a:ext cx="581" cy="145"/>
              <a:chOff x="614" y="2568"/>
              <a:chExt cx="725" cy="139"/>
            </a:xfrm>
          </p:grpSpPr>
          <p:sp>
            <p:nvSpPr>
              <p:cNvPr id="58" name="AutoShape 61">
                <a:extLst>
                  <a:ext uri="{FF2B5EF4-FFF2-40B4-BE49-F238E27FC236}">
                    <a16:creationId xmlns:a16="http://schemas.microsoft.com/office/drawing/2014/main" id="{9C4EF2E3-EA23-3D13-6493-6485DF264B66}"/>
                  </a:ext>
                </a:extLst>
              </p:cNvPr>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9" name="AutoShape 62">
                <a:extLst>
                  <a:ext uri="{FF2B5EF4-FFF2-40B4-BE49-F238E27FC236}">
                    <a16:creationId xmlns:a16="http://schemas.microsoft.com/office/drawing/2014/main" id="{A3DFBA5A-A0D7-EF23-ACE6-654B8F37FD28}"/>
                  </a:ext>
                </a:extLst>
              </p:cNvPr>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4" name="Rectangle 63">
              <a:extLst>
                <a:ext uri="{FF2B5EF4-FFF2-40B4-BE49-F238E27FC236}">
                  <a16:creationId xmlns:a16="http://schemas.microsoft.com/office/drawing/2014/main" id="{D371F171-C597-237B-27C8-E848FF9A222B}"/>
                </a:ext>
              </a:extLst>
            </p:cNvPr>
            <p:cNvSpPr>
              <a:spLocks noChangeArrowheads="1"/>
            </p:cNvSpPr>
            <p:nvPr/>
          </p:nvSpPr>
          <p:spPr bwMode="auto">
            <a:xfrm>
              <a:off x="4227" y="1021"/>
              <a:ext cx="595" cy="43"/>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5" name="Group 64">
              <a:extLst>
                <a:ext uri="{FF2B5EF4-FFF2-40B4-BE49-F238E27FC236}">
                  <a16:creationId xmlns:a16="http://schemas.microsoft.com/office/drawing/2014/main" id="{7BDAB29B-D4D8-6125-B120-1A1BC883C2F8}"/>
                </a:ext>
              </a:extLst>
            </p:cNvPr>
            <p:cNvGrpSpPr>
              <a:grpSpLocks/>
            </p:cNvGrpSpPr>
            <p:nvPr/>
          </p:nvGrpSpPr>
          <p:grpSpPr bwMode="auto">
            <a:xfrm>
              <a:off x="4747" y="994"/>
              <a:ext cx="581" cy="134"/>
              <a:chOff x="614" y="2568"/>
              <a:chExt cx="725" cy="139"/>
            </a:xfrm>
          </p:grpSpPr>
          <p:sp>
            <p:nvSpPr>
              <p:cNvPr id="56" name="AutoShape 65">
                <a:extLst>
                  <a:ext uri="{FF2B5EF4-FFF2-40B4-BE49-F238E27FC236}">
                    <a16:creationId xmlns:a16="http://schemas.microsoft.com/office/drawing/2014/main" id="{996723F9-5F3A-1E52-88C4-FC7EDA5B2072}"/>
                  </a:ext>
                </a:extLst>
              </p:cNvPr>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 name="AutoShape 66">
                <a:extLst>
                  <a:ext uri="{FF2B5EF4-FFF2-40B4-BE49-F238E27FC236}">
                    <a16:creationId xmlns:a16="http://schemas.microsoft.com/office/drawing/2014/main" id="{C44DD834-9FD0-4241-231E-FE055A49D30C}"/>
                  </a:ext>
                </a:extLst>
              </p:cNvPr>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 name="Rectangle 67">
              <a:extLst>
                <a:ext uri="{FF2B5EF4-FFF2-40B4-BE49-F238E27FC236}">
                  <a16:creationId xmlns:a16="http://schemas.microsoft.com/office/drawing/2014/main" id="{00B61C40-08A1-43E8-D22E-BF2354A6E776}"/>
                </a:ext>
              </a:extLst>
            </p:cNvPr>
            <p:cNvSpPr>
              <a:spLocks noChangeArrowheads="1"/>
            </p:cNvSpPr>
            <p:nvPr/>
          </p:nvSpPr>
          <p:spPr bwMode="auto">
            <a:xfrm>
              <a:off x="4214" y="1358"/>
              <a:ext cx="601"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 name="Rectangle 68">
              <a:extLst>
                <a:ext uri="{FF2B5EF4-FFF2-40B4-BE49-F238E27FC236}">
                  <a16:creationId xmlns:a16="http://schemas.microsoft.com/office/drawing/2014/main" id="{00D5ECE3-A0F0-D98E-998F-90BA0BC44A04}"/>
                </a:ext>
              </a:extLst>
            </p:cNvPr>
            <p:cNvSpPr>
              <a:spLocks noChangeArrowheads="1"/>
            </p:cNvSpPr>
            <p:nvPr/>
          </p:nvSpPr>
          <p:spPr bwMode="auto">
            <a:xfrm>
              <a:off x="4227" y="1656"/>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8" name="Group 69">
              <a:extLst>
                <a:ext uri="{FF2B5EF4-FFF2-40B4-BE49-F238E27FC236}">
                  <a16:creationId xmlns:a16="http://schemas.microsoft.com/office/drawing/2014/main" id="{C480EA7F-3517-4274-4F9F-7B1C57E64003}"/>
                </a:ext>
              </a:extLst>
            </p:cNvPr>
            <p:cNvGrpSpPr>
              <a:grpSpLocks/>
            </p:cNvGrpSpPr>
            <p:nvPr/>
          </p:nvGrpSpPr>
          <p:grpSpPr bwMode="auto">
            <a:xfrm>
              <a:off x="4735" y="1627"/>
              <a:ext cx="582" cy="151"/>
              <a:chOff x="614" y="2568"/>
              <a:chExt cx="725" cy="139"/>
            </a:xfrm>
          </p:grpSpPr>
          <p:sp>
            <p:nvSpPr>
              <p:cNvPr id="54" name="AutoShape 70">
                <a:extLst>
                  <a:ext uri="{FF2B5EF4-FFF2-40B4-BE49-F238E27FC236}">
                    <a16:creationId xmlns:a16="http://schemas.microsoft.com/office/drawing/2014/main" id="{84E8DEE2-3FE1-A652-08C5-BCD5AB5ACF21}"/>
                  </a:ext>
                </a:extLst>
              </p:cNvPr>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 name="AutoShape 71">
                <a:extLst>
                  <a:ext uri="{FF2B5EF4-FFF2-40B4-BE49-F238E27FC236}">
                    <a16:creationId xmlns:a16="http://schemas.microsoft.com/office/drawing/2014/main" id="{39569E4C-F444-FF4D-46CA-DEEAA6B5E1F0}"/>
                  </a:ext>
                </a:extLst>
              </p:cNvPr>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9" name="Freeform 72">
              <a:extLst>
                <a:ext uri="{FF2B5EF4-FFF2-40B4-BE49-F238E27FC236}">
                  <a16:creationId xmlns:a16="http://schemas.microsoft.com/office/drawing/2014/main" id="{356D74F3-98F2-A204-F563-1FD22F7EFDE9}"/>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0" name="Group 73">
              <a:extLst>
                <a:ext uri="{FF2B5EF4-FFF2-40B4-BE49-F238E27FC236}">
                  <a16:creationId xmlns:a16="http://schemas.microsoft.com/office/drawing/2014/main" id="{B646D650-525C-C808-9256-EBDC6A08676E}"/>
                </a:ext>
              </a:extLst>
            </p:cNvPr>
            <p:cNvGrpSpPr>
              <a:grpSpLocks/>
            </p:cNvGrpSpPr>
            <p:nvPr/>
          </p:nvGrpSpPr>
          <p:grpSpPr bwMode="auto">
            <a:xfrm>
              <a:off x="4739" y="1327"/>
              <a:ext cx="582" cy="139"/>
              <a:chOff x="614" y="2568"/>
              <a:chExt cx="725" cy="139"/>
            </a:xfrm>
          </p:grpSpPr>
          <p:sp>
            <p:nvSpPr>
              <p:cNvPr id="52" name="AutoShape 74">
                <a:extLst>
                  <a:ext uri="{FF2B5EF4-FFF2-40B4-BE49-F238E27FC236}">
                    <a16:creationId xmlns:a16="http://schemas.microsoft.com/office/drawing/2014/main" id="{78510752-CEAF-4064-DD65-56BBD3D4309C}"/>
                  </a:ext>
                </a:extLst>
              </p:cNvPr>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 name="AutoShape 75">
                <a:extLst>
                  <a:ext uri="{FF2B5EF4-FFF2-40B4-BE49-F238E27FC236}">
                    <a16:creationId xmlns:a16="http://schemas.microsoft.com/office/drawing/2014/main" id="{98795B55-474F-0CA2-74B2-C5B7FEF00D70}"/>
                  </a:ext>
                </a:extLst>
              </p:cNvPr>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1" name="Rectangle 76">
              <a:extLst>
                <a:ext uri="{FF2B5EF4-FFF2-40B4-BE49-F238E27FC236}">
                  <a16:creationId xmlns:a16="http://schemas.microsoft.com/office/drawing/2014/main" id="{D4A82C68-6951-4FF1-EA54-8D9A268F3FF7}"/>
                </a:ext>
              </a:extLst>
            </p:cNvPr>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 name="Freeform 77">
              <a:extLst>
                <a:ext uri="{FF2B5EF4-FFF2-40B4-BE49-F238E27FC236}">
                  <a16:creationId xmlns:a16="http://schemas.microsoft.com/office/drawing/2014/main" id="{100A9F55-1C28-CDCA-0DF9-76797E362112}"/>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78">
              <a:extLst>
                <a:ext uri="{FF2B5EF4-FFF2-40B4-BE49-F238E27FC236}">
                  <a16:creationId xmlns:a16="http://schemas.microsoft.com/office/drawing/2014/main" id="{EF67564D-B21E-B194-B006-4C077B8E3B5E}"/>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Oval 79">
              <a:extLst>
                <a:ext uri="{FF2B5EF4-FFF2-40B4-BE49-F238E27FC236}">
                  <a16:creationId xmlns:a16="http://schemas.microsoft.com/office/drawing/2014/main" id="{25762771-3569-8044-5EC2-6894445CEA73}"/>
                </a:ext>
              </a:extLst>
            </p:cNvPr>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5" name="Freeform 80">
              <a:extLst>
                <a:ext uri="{FF2B5EF4-FFF2-40B4-BE49-F238E27FC236}">
                  <a16:creationId xmlns:a16="http://schemas.microsoft.com/office/drawing/2014/main" id="{87EA7423-1B03-7200-9197-3593470E5286}"/>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AutoShape 81">
              <a:extLst>
                <a:ext uri="{FF2B5EF4-FFF2-40B4-BE49-F238E27FC236}">
                  <a16:creationId xmlns:a16="http://schemas.microsoft.com/office/drawing/2014/main" id="{F7ECB7AE-58EE-16B0-6BCC-108F0B4D8ACA}"/>
                </a:ext>
              </a:extLst>
            </p:cNvPr>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7" name="AutoShape 82">
              <a:extLst>
                <a:ext uri="{FF2B5EF4-FFF2-40B4-BE49-F238E27FC236}">
                  <a16:creationId xmlns:a16="http://schemas.microsoft.com/office/drawing/2014/main" id="{2093DC55-7080-9782-0A44-DE37B917B0CC}"/>
                </a:ext>
              </a:extLst>
            </p:cNvPr>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8" name="Oval 83">
              <a:extLst>
                <a:ext uri="{FF2B5EF4-FFF2-40B4-BE49-F238E27FC236}">
                  <a16:creationId xmlns:a16="http://schemas.microsoft.com/office/drawing/2014/main" id="{AD68FFE1-97A0-C2A1-C2ED-15CDDBD5BB8D}"/>
                </a:ext>
              </a:extLst>
            </p:cNvPr>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9" name="Oval 84">
              <a:extLst>
                <a:ext uri="{FF2B5EF4-FFF2-40B4-BE49-F238E27FC236}">
                  <a16:creationId xmlns:a16="http://schemas.microsoft.com/office/drawing/2014/main" id="{92A1787D-29C8-493F-6CCD-F8E176448542}"/>
                </a:ext>
              </a:extLst>
            </p:cNvPr>
            <p:cNvSpPr>
              <a:spLocks noChangeArrowheads="1"/>
            </p:cNvSpPr>
            <p:nvPr/>
          </p:nvSpPr>
          <p:spPr bwMode="auto">
            <a:xfrm>
              <a:off x="4487" y="2382"/>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800">
                <a:solidFill>
                  <a:srgbClr val="FF0000"/>
                </a:solidFill>
              </a:endParaRPr>
            </a:p>
          </p:txBody>
        </p:sp>
        <p:sp>
          <p:nvSpPr>
            <p:cNvPr id="50" name="Oval 85">
              <a:extLst>
                <a:ext uri="{FF2B5EF4-FFF2-40B4-BE49-F238E27FC236}">
                  <a16:creationId xmlns:a16="http://schemas.microsoft.com/office/drawing/2014/main" id="{AEDAC243-84E8-0B42-5866-0C62B88B2206}"/>
                </a:ext>
              </a:extLst>
            </p:cNvPr>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 name="Rectangle 86">
              <a:extLst>
                <a:ext uri="{FF2B5EF4-FFF2-40B4-BE49-F238E27FC236}">
                  <a16:creationId xmlns:a16="http://schemas.microsoft.com/office/drawing/2014/main" id="{38399F53-D045-DD6F-E3FB-5F30822EDD42}"/>
                </a:ext>
              </a:extLst>
            </p:cNvPr>
            <p:cNvSpPr>
              <a:spLocks noChangeArrowheads="1"/>
            </p:cNvSpPr>
            <p:nvPr/>
          </p:nvSpPr>
          <p:spPr bwMode="auto">
            <a:xfrm>
              <a:off x="5063" y="1832"/>
              <a:ext cx="87" cy="763"/>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0" name="Group 87">
            <a:extLst>
              <a:ext uri="{FF2B5EF4-FFF2-40B4-BE49-F238E27FC236}">
                <a16:creationId xmlns:a16="http://schemas.microsoft.com/office/drawing/2014/main" id="{0221952C-3C44-57BB-55A1-2B69EF92D4E2}"/>
              </a:ext>
            </a:extLst>
          </p:cNvPr>
          <p:cNvGrpSpPr>
            <a:grpSpLocks/>
          </p:cNvGrpSpPr>
          <p:nvPr/>
        </p:nvGrpSpPr>
        <p:grpSpPr bwMode="auto">
          <a:xfrm flipH="1">
            <a:off x="7677028" y="4777801"/>
            <a:ext cx="735012" cy="681038"/>
            <a:chOff x="-44" y="1473"/>
            <a:chExt cx="981" cy="1105"/>
          </a:xfrm>
        </p:grpSpPr>
        <p:pic>
          <p:nvPicPr>
            <p:cNvPr id="61" name="Picture 88" descr="desktop_computer_stylized_medium">
              <a:extLst>
                <a:ext uri="{FF2B5EF4-FFF2-40B4-BE49-F238E27FC236}">
                  <a16:creationId xmlns:a16="http://schemas.microsoft.com/office/drawing/2014/main" id="{C4A893E3-9EE4-292B-90AD-83D7A05E2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89">
              <a:extLst>
                <a:ext uri="{FF2B5EF4-FFF2-40B4-BE49-F238E27FC236}">
                  <a16:creationId xmlns:a16="http://schemas.microsoft.com/office/drawing/2014/main" id="{47B093EE-B58C-3772-C263-94F73F2472F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3" name="Group 2">
            <a:extLst>
              <a:ext uri="{FF2B5EF4-FFF2-40B4-BE49-F238E27FC236}">
                <a16:creationId xmlns:a16="http://schemas.microsoft.com/office/drawing/2014/main" id="{F4082837-FB65-A0B4-557B-09D428AD4B03}"/>
              </a:ext>
            </a:extLst>
          </p:cNvPr>
          <p:cNvGrpSpPr/>
          <p:nvPr/>
        </p:nvGrpSpPr>
        <p:grpSpPr>
          <a:xfrm>
            <a:off x="1456133" y="5624388"/>
            <a:ext cx="10506683" cy="1029566"/>
            <a:chOff x="1456133" y="5624388"/>
            <a:chExt cx="10506683" cy="1029566"/>
          </a:xfrm>
        </p:grpSpPr>
        <p:sp>
          <p:nvSpPr>
            <p:cNvPr id="25" name="Rectangle 59">
              <a:extLst>
                <a:ext uri="{FF2B5EF4-FFF2-40B4-BE49-F238E27FC236}">
                  <a16:creationId xmlns:a16="http://schemas.microsoft.com/office/drawing/2014/main" id="{8072D54D-3A58-3255-8044-E474FF74C191}"/>
                </a:ext>
              </a:extLst>
            </p:cNvPr>
            <p:cNvSpPr>
              <a:spLocks noChangeArrowheads="1"/>
            </p:cNvSpPr>
            <p:nvPr/>
          </p:nvSpPr>
          <p:spPr bwMode="auto">
            <a:xfrm>
              <a:off x="1712057" y="5737966"/>
              <a:ext cx="10250759" cy="915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lvl="1">
                <a:spcBef>
                  <a:spcPct val="20000"/>
                </a:spcBef>
                <a:buClr>
                  <a:srgbClr val="000090"/>
                </a:buClr>
                <a:buSzPct val="100000"/>
                <a:defRPr/>
              </a:pPr>
              <a:r>
                <a:rPr lang="en-US" sz="2400" dirty="0">
                  <a:ea typeface="ＭＳ Ｐゴシック" charset="0"/>
                  <a:cs typeface="ＭＳ Ｐゴシック" charset="0"/>
                </a:rPr>
                <a:t>Wireshark software used for our end-of-chapter labs is a (free) packet-sniffer</a:t>
              </a:r>
            </a:p>
            <a:p>
              <a:pPr marL="742950" lvl="1" indent="-285750">
                <a:spcBef>
                  <a:spcPct val="20000"/>
                </a:spcBef>
                <a:buClr>
                  <a:schemeClr val="accent2"/>
                </a:buClr>
                <a:buSzPct val="75000"/>
                <a:buFont typeface="Wingdings" charset="0"/>
                <a:buNone/>
                <a:defRPr/>
              </a:pPr>
              <a:endParaRPr lang="en-US" dirty="0">
                <a:latin typeface="Gill Sans MT" charset="0"/>
                <a:ea typeface="ＭＳ Ｐゴシック" charset="0"/>
                <a:cs typeface="ＭＳ Ｐゴシック" charset="0"/>
              </a:endParaRPr>
            </a:p>
          </p:txBody>
        </p:sp>
        <p:pic>
          <p:nvPicPr>
            <p:cNvPr id="8194" name="Picture 2" descr="Image result for wireshark logo">
              <a:extLst>
                <a:ext uri="{FF2B5EF4-FFF2-40B4-BE49-F238E27FC236}">
                  <a16:creationId xmlns:a16="http://schemas.microsoft.com/office/drawing/2014/main" id="{6A257AED-A032-8837-1512-666FBEE1DF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6133" y="5624388"/>
              <a:ext cx="667509" cy="66750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2" name="Group 81">
            <a:extLst>
              <a:ext uri="{FF2B5EF4-FFF2-40B4-BE49-F238E27FC236}">
                <a16:creationId xmlns:a16="http://schemas.microsoft.com/office/drawing/2014/main" id="{B5B7EC42-E293-857F-BDEC-010A592B527A}"/>
              </a:ext>
            </a:extLst>
          </p:cNvPr>
          <p:cNvGrpSpPr/>
          <p:nvPr/>
        </p:nvGrpSpPr>
        <p:grpSpPr>
          <a:xfrm>
            <a:off x="4054353" y="4784334"/>
            <a:ext cx="958850" cy="476251"/>
            <a:chOff x="7493876" y="2774731"/>
            <a:chExt cx="1481958" cy="894622"/>
          </a:xfrm>
        </p:grpSpPr>
        <p:sp>
          <p:nvSpPr>
            <p:cNvPr id="83" name="Freeform 82">
              <a:extLst>
                <a:ext uri="{FF2B5EF4-FFF2-40B4-BE49-F238E27FC236}">
                  <a16:creationId xmlns:a16="http://schemas.microsoft.com/office/drawing/2014/main" id="{63C34F26-63AC-A0F5-B404-B26F4851CE5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4" name="Oval 83">
              <a:extLst>
                <a:ext uri="{FF2B5EF4-FFF2-40B4-BE49-F238E27FC236}">
                  <a16:creationId xmlns:a16="http://schemas.microsoft.com/office/drawing/2014/main" id="{5F392AC3-996E-FB97-B198-C0E6E69DCA2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85" name="Group 84">
              <a:extLst>
                <a:ext uri="{FF2B5EF4-FFF2-40B4-BE49-F238E27FC236}">
                  <a16:creationId xmlns:a16="http://schemas.microsoft.com/office/drawing/2014/main" id="{34431283-49D6-DB47-2789-1780B8B731C6}"/>
                </a:ext>
              </a:extLst>
            </p:cNvPr>
            <p:cNvGrpSpPr/>
            <p:nvPr/>
          </p:nvGrpSpPr>
          <p:grpSpPr>
            <a:xfrm>
              <a:off x="7713663" y="2848339"/>
              <a:ext cx="1042107" cy="425543"/>
              <a:chOff x="7786941" y="2884917"/>
              <a:chExt cx="897649" cy="353919"/>
            </a:xfrm>
          </p:grpSpPr>
          <p:sp>
            <p:nvSpPr>
              <p:cNvPr id="86" name="Freeform 85">
                <a:extLst>
                  <a:ext uri="{FF2B5EF4-FFF2-40B4-BE49-F238E27FC236}">
                    <a16:creationId xmlns:a16="http://schemas.microsoft.com/office/drawing/2014/main" id="{740E1433-D9BF-83F6-8B7E-78328C328CB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a:extLst>
                  <a:ext uri="{FF2B5EF4-FFF2-40B4-BE49-F238E27FC236}">
                    <a16:creationId xmlns:a16="http://schemas.microsoft.com/office/drawing/2014/main" id="{D9F7AF30-D063-0EE1-6AF5-A1D6FB11D7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a:extLst>
                  <a:ext uri="{FF2B5EF4-FFF2-40B4-BE49-F238E27FC236}">
                    <a16:creationId xmlns:a16="http://schemas.microsoft.com/office/drawing/2014/main" id="{236ED0EF-C825-6F98-5AFB-19E58B53634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5B6BA8DF-D04D-BE6F-5E21-E99B3A6D038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1816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DD8AC-2F7B-79E0-55C5-B2F7BC12E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E08FB-B969-73C3-A2CB-3A772BE4AA0B}"/>
              </a:ext>
            </a:extLst>
          </p:cNvPr>
          <p:cNvSpPr>
            <a:spLocks noGrp="1"/>
          </p:cNvSpPr>
          <p:nvPr>
            <p:ph type="title"/>
          </p:nvPr>
        </p:nvSpPr>
        <p:spPr>
          <a:xfrm>
            <a:off x="825267" y="291947"/>
            <a:ext cx="10515600" cy="894622"/>
          </a:xfrm>
        </p:spPr>
        <p:txBody>
          <a:bodyPr>
            <a:normAutofit/>
          </a:bodyPr>
          <a:lstStyle/>
          <a:p>
            <a:r>
              <a:rPr lang="en-US" altLang="en-US" sz="4400" dirty="0">
                <a:ea typeface="ＭＳ Ｐゴシック" panose="020B0600070205080204" pitchFamily="34" charset="-128"/>
              </a:rPr>
              <a:t>Bad guys:  fake identity</a:t>
            </a:r>
            <a:endParaRPr lang="en-US" sz="4400" dirty="0"/>
          </a:p>
        </p:txBody>
      </p:sp>
      <p:sp>
        <p:nvSpPr>
          <p:cNvPr id="6" name="Slide Number Placeholder 5">
            <a:extLst>
              <a:ext uri="{FF2B5EF4-FFF2-40B4-BE49-F238E27FC236}">
                <a16:creationId xmlns:a16="http://schemas.microsoft.com/office/drawing/2014/main" id="{B0658E4B-35C6-64B2-C2E2-753FA6FE72DE}"/>
              </a:ext>
            </a:extLst>
          </p:cNvPr>
          <p:cNvSpPr>
            <a:spLocks noGrp="1"/>
          </p:cNvSpPr>
          <p:nvPr>
            <p:ph type="sldNum" sz="quarter" idx="4"/>
          </p:nvPr>
        </p:nvSpPr>
        <p:spPr/>
        <p:txBody>
          <a:bodyPr/>
          <a:lstStyle/>
          <a:p>
            <a:r>
              <a:rPr lang="en-US"/>
              <a:t>Introduction: 1-</a:t>
            </a:r>
            <a:fld id="{C4204591-24BD-A542-B9D5-F8D8A88D2FEE}" type="slidenum">
              <a:rPr lang="en-US" smtClean="0"/>
              <a:pPr/>
              <a:t>15</a:t>
            </a:fld>
            <a:endParaRPr lang="en-US" dirty="0"/>
          </a:p>
        </p:txBody>
      </p:sp>
      <p:sp>
        <p:nvSpPr>
          <p:cNvPr id="17" name="Rectangle 5">
            <a:extLst>
              <a:ext uri="{FF2B5EF4-FFF2-40B4-BE49-F238E27FC236}">
                <a16:creationId xmlns:a16="http://schemas.microsoft.com/office/drawing/2014/main" id="{0AEE489C-D362-B312-B4E7-2533EAA93F83}"/>
              </a:ext>
            </a:extLst>
          </p:cNvPr>
          <p:cNvSpPr txBox="1">
            <a:spLocks noChangeArrowheads="1"/>
          </p:cNvSpPr>
          <p:nvPr/>
        </p:nvSpPr>
        <p:spPr>
          <a:xfrm>
            <a:off x="788557" y="1942419"/>
            <a:ext cx="10342830" cy="208446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en-US" sz="3600" i="1" dirty="0">
                <a:solidFill>
                  <a:srgbClr val="CC0000"/>
                </a:solidFill>
                <a:ea typeface="ＭＳ Ｐゴシック" panose="020B0600070205080204" pitchFamily="34" charset="-128"/>
              </a:rPr>
              <a:t>IP spoofing:</a:t>
            </a:r>
            <a:r>
              <a:rPr lang="en-US" altLang="en-US" sz="3200" i="1" dirty="0">
                <a:solidFill>
                  <a:srgbClr val="FF3300"/>
                </a:solidFill>
                <a:ea typeface="ＭＳ Ｐゴシック" panose="020B0600070205080204" pitchFamily="34" charset="-128"/>
              </a:rPr>
              <a:t> </a:t>
            </a:r>
            <a:r>
              <a:rPr lang="en-US" altLang="en-US" sz="3200" dirty="0">
                <a:ea typeface="ＭＳ Ｐゴシック" panose="020B0600070205080204" pitchFamily="34" charset="-128"/>
              </a:rPr>
              <a:t>send packet with false source address</a:t>
            </a:r>
          </a:p>
        </p:txBody>
      </p:sp>
      <p:grpSp>
        <p:nvGrpSpPr>
          <p:cNvPr id="5" name="Group 90">
            <a:extLst>
              <a:ext uri="{FF2B5EF4-FFF2-40B4-BE49-F238E27FC236}">
                <a16:creationId xmlns:a16="http://schemas.microsoft.com/office/drawing/2014/main" id="{29AC80CB-9168-280F-4440-FD477BDFABB5}"/>
              </a:ext>
            </a:extLst>
          </p:cNvPr>
          <p:cNvGrpSpPr>
            <a:grpSpLocks/>
          </p:cNvGrpSpPr>
          <p:nvPr/>
        </p:nvGrpSpPr>
        <p:grpSpPr bwMode="auto">
          <a:xfrm flipH="1">
            <a:off x="5864103" y="3398264"/>
            <a:ext cx="735012" cy="681037"/>
            <a:chOff x="-44" y="1473"/>
            <a:chExt cx="981" cy="1105"/>
          </a:xfrm>
        </p:grpSpPr>
        <p:pic>
          <p:nvPicPr>
            <p:cNvPr id="7" name="Picture 91" descr="desktop_computer_stylized_medium">
              <a:extLst>
                <a:ext uri="{FF2B5EF4-FFF2-40B4-BE49-F238E27FC236}">
                  <a16:creationId xmlns:a16="http://schemas.microsoft.com/office/drawing/2014/main" id="{1C49125A-15CB-80D1-BB08-0D275E2FE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92">
              <a:extLst>
                <a:ext uri="{FF2B5EF4-FFF2-40B4-BE49-F238E27FC236}">
                  <a16:creationId xmlns:a16="http://schemas.microsoft.com/office/drawing/2014/main" id="{04355DEB-7050-7D5F-FB75-275CABC176AE}"/>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9" name="Freeform 43">
            <a:extLst>
              <a:ext uri="{FF2B5EF4-FFF2-40B4-BE49-F238E27FC236}">
                <a16:creationId xmlns:a16="http://schemas.microsoft.com/office/drawing/2014/main" id="{C997F6FF-ACDB-FB03-E520-BED4A552FEB3}"/>
              </a:ext>
            </a:extLst>
          </p:cNvPr>
          <p:cNvSpPr>
            <a:spLocks/>
          </p:cNvSpPr>
          <p:nvPr/>
        </p:nvSpPr>
        <p:spPr bwMode="auto">
          <a:xfrm>
            <a:off x="3359028" y="4133276"/>
            <a:ext cx="4587875" cy="728663"/>
          </a:xfrm>
          <a:custGeom>
            <a:avLst/>
            <a:gdLst>
              <a:gd name="T0" fmla="*/ 2147483647 w 2620"/>
              <a:gd name="T1" fmla="*/ 0 h 459"/>
              <a:gd name="T2" fmla="*/ 0 w 2620"/>
              <a:gd name="T3" fmla="*/ 2147483647 h 459"/>
              <a:gd name="T4" fmla="*/ 2147483647 w 2620"/>
              <a:gd name="T5" fmla="*/ 2147483647 h 459"/>
              <a:gd name="T6" fmla="*/ 2147483647 w 2620"/>
              <a:gd name="T7" fmla="*/ 2147483647 h 459"/>
              <a:gd name="T8" fmla="*/ 0 60000 65536"/>
              <a:gd name="T9" fmla="*/ 0 60000 65536"/>
              <a:gd name="T10" fmla="*/ 0 60000 65536"/>
              <a:gd name="T11" fmla="*/ 0 60000 65536"/>
              <a:gd name="T12" fmla="*/ 0 w 2620"/>
              <a:gd name="T13" fmla="*/ 0 h 459"/>
              <a:gd name="T14" fmla="*/ 2620 w 2620"/>
              <a:gd name="T15" fmla="*/ 459 h 459"/>
            </a:gdLst>
            <a:ahLst/>
            <a:cxnLst>
              <a:cxn ang="T8">
                <a:pos x="T0" y="T1"/>
              </a:cxn>
              <a:cxn ang="T9">
                <a:pos x="T2" y="T3"/>
              </a:cxn>
              <a:cxn ang="T10">
                <a:pos x="T4" y="T5"/>
              </a:cxn>
              <a:cxn ang="T11">
                <a:pos x="T6" y="T7"/>
              </a:cxn>
            </a:cxnLst>
            <a:rect l="T12" t="T13" r="T14" b="T15"/>
            <a:pathLst>
              <a:path w="2620" h="459">
                <a:moveTo>
                  <a:pt x="2" y="0"/>
                </a:moveTo>
                <a:lnTo>
                  <a:pt x="0" y="253"/>
                </a:lnTo>
                <a:lnTo>
                  <a:pt x="2620" y="253"/>
                </a:lnTo>
                <a:lnTo>
                  <a:pt x="2620" y="459"/>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Freeform 44">
            <a:extLst>
              <a:ext uri="{FF2B5EF4-FFF2-40B4-BE49-F238E27FC236}">
                <a16:creationId xmlns:a16="http://schemas.microsoft.com/office/drawing/2014/main" id="{17067CD2-7992-6722-701B-7556C0DC4FF9}"/>
              </a:ext>
            </a:extLst>
          </p:cNvPr>
          <p:cNvSpPr>
            <a:spLocks/>
          </p:cNvSpPr>
          <p:nvPr/>
        </p:nvSpPr>
        <p:spPr bwMode="auto">
          <a:xfrm>
            <a:off x="6191128" y="4003101"/>
            <a:ext cx="4762" cy="522288"/>
          </a:xfrm>
          <a:custGeom>
            <a:avLst/>
            <a:gdLst>
              <a:gd name="T0" fmla="*/ 0 w 3"/>
              <a:gd name="T1" fmla="*/ 2147483647 h 329"/>
              <a:gd name="T2" fmla="*/ 2147483647 w 3"/>
              <a:gd name="T3" fmla="*/ 0 h 329"/>
              <a:gd name="T4" fmla="*/ 0 60000 65536"/>
              <a:gd name="T5" fmla="*/ 0 60000 65536"/>
              <a:gd name="T6" fmla="*/ 0 w 3"/>
              <a:gd name="T7" fmla="*/ 0 h 329"/>
              <a:gd name="T8" fmla="*/ 3 w 3"/>
              <a:gd name="T9" fmla="*/ 329 h 329"/>
            </a:gdLst>
            <a:ahLst/>
            <a:cxnLst>
              <a:cxn ang="T4">
                <a:pos x="T0" y="T1"/>
              </a:cxn>
              <a:cxn ang="T5">
                <a:pos x="T2" y="T3"/>
              </a:cxn>
            </a:cxnLst>
            <a:rect l="T6" t="T7" r="T8" b="T9"/>
            <a:pathLst>
              <a:path w="3" h="329">
                <a:moveTo>
                  <a:pt x="0" y="329"/>
                </a:moveTo>
                <a:lnTo>
                  <a:pt x="3"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Line 45">
            <a:extLst>
              <a:ext uri="{FF2B5EF4-FFF2-40B4-BE49-F238E27FC236}">
                <a16:creationId xmlns:a16="http://schemas.microsoft.com/office/drawing/2014/main" id="{85C8B27C-C758-C028-4492-01F9AA363ABA}"/>
              </a:ext>
            </a:extLst>
          </p:cNvPr>
          <p:cNvSpPr>
            <a:spLocks noChangeShapeType="1"/>
          </p:cNvSpPr>
          <p:nvPr/>
        </p:nvSpPr>
        <p:spPr bwMode="auto">
          <a:xfrm flipV="1">
            <a:off x="4533778" y="4525389"/>
            <a:ext cx="0" cy="3746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46">
            <a:extLst>
              <a:ext uri="{FF2B5EF4-FFF2-40B4-BE49-F238E27FC236}">
                <a16:creationId xmlns:a16="http://schemas.microsoft.com/office/drawing/2014/main" id="{28D87DA3-037C-B173-8572-9E967E83DF46}"/>
              </a:ext>
            </a:extLst>
          </p:cNvPr>
          <p:cNvSpPr>
            <a:spLocks noChangeShapeType="1"/>
          </p:cNvSpPr>
          <p:nvPr/>
        </p:nvSpPr>
        <p:spPr bwMode="auto">
          <a:xfrm flipV="1">
            <a:off x="4552828" y="5236589"/>
            <a:ext cx="0" cy="241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Text Box 47">
            <a:extLst>
              <a:ext uri="{FF2B5EF4-FFF2-40B4-BE49-F238E27FC236}">
                <a16:creationId xmlns:a16="http://schemas.microsoft.com/office/drawing/2014/main" id="{1762DC58-173C-BE67-D027-E1E162BF492D}"/>
              </a:ext>
            </a:extLst>
          </p:cNvPr>
          <p:cNvSpPr txBox="1">
            <a:spLocks noChangeArrowheads="1"/>
          </p:cNvSpPr>
          <p:nvPr/>
        </p:nvSpPr>
        <p:spPr bwMode="auto">
          <a:xfrm>
            <a:off x="2816103" y="3422076"/>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A</a:t>
            </a:r>
          </a:p>
        </p:txBody>
      </p:sp>
      <p:sp>
        <p:nvSpPr>
          <p:cNvPr id="14" name="Text Box 48">
            <a:extLst>
              <a:ext uri="{FF2B5EF4-FFF2-40B4-BE49-F238E27FC236}">
                <a16:creationId xmlns:a16="http://schemas.microsoft.com/office/drawing/2014/main" id="{78DA7C02-088A-0F9B-1697-0E68A0755390}"/>
              </a:ext>
            </a:extLst>
          </p:cNvPr>
          <p:cNvSpPr txBox="1">
            <a:spLocks noChangeArrowheads="1"/>
          </p:cNvSpPr>
          <p:nvPr/>
        </p:nvSpPr>
        <p:spPr bwMode="auto">
          <a:xfrm>
            <a:off x="8285040" y="4885751"/>
            <a:ext cx="388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B</a:t>
            </a:r>
          </a:p>
        </p:txBody>
      </p:sp>
      <p:sp>
        <p:nvSpPr>
          <p:cNvPr id="15" name="Text Box 49">
            <a:extLst>
              <a:ext uri="{FF2B5EF4-FFF2-40B4-BE49-F238E27FC236}">
                <a16:creationId xmlns:a16="http://schemas.microsoft.com/office/drawing/2014/main" id="{0E3C5CA5-03BA-6B6F-4981-7BCD75630101}"/>
              </a:ext>
            </a:extLst>
          </p:cNvPr>
          <p:cNvSpPr txBox="1">
            <a:spLocks noChangeArrowheads="1"/>
          </p:cNvSpPr>
          <p:nvPr/>
        </p:nvSpPr>
        <p:spPr bwMode="auto">
          <a:xfrm>
            <a:off x="6383215" y="3399851"/>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a:t>C</a:t>
            </a:r>
          </a:p>
        </p:txBody>
      </p:sp>
      <p:pic>
        <p:nvPicPr>
          <p:cNvPr id="26" name="Picture 60">
            <a:extLst>
              <a:ext uri="{FF2B5EF4-FFF2-40B4-BE49-F238E27FC236}">
                <a16:creationId xmlns:a16="http://schemas.microsoft.com/office/drawing/2014/main" id="{85D6B102-2F67-2B07-0096-0CF3EC04E8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1090" y="3466526"/>
            <a:ext cx="4714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pic>
      <p:grpSp>
        <p:nvGrpSpPr>
          <p:cNvPr id="27" name="Group 54">
            <a:extLst>
              <a:ext uri="{FF2B5EF4-FFF2-40B4-BE49-F238E27FC236}">
                <a16:creationId xmlns:a16="http://schemas.microsoft.com/office/drawing/2014/main" id="{C3D5EE8B-8E31-02AC-75C7-5CCC7C9787A9}"/>
              </a:ext>
            </a:extLst>
          </p:cNvPr>
          <p:cNvGrpSpPr>
            <a:grpSpLocks/>
          </p:cNvGrpSpPr>
          <p:nvPr/>
        </p:nvGrpSpPr>
        <p:grpSpPr bwMode="auto">
          <a:xfrm>
            <a:off x="3184403" y="3460176"/>
            <a:ext cx="365125" cy="712788"/>
            <a:chOff x="4140" y="429"/>
            <a:chExt cx="1425" cy="2396"/>
          </a:xfrm>
        </p:grpSpPr>
        <p:sp>
          <p:nvSpPr>
            <p:cNvPr id="28" name="Freeform 55">
              <a:extLst>
                <a:ext uri="{FF2B5EF4-FFF2-40B4-BE49-F238E27FC236}">
                  <a16:creationId xmlns:a16="http://schemas.microsoft.com/office/drawing/2014/main" id="{22A45266-BF98-D4DD-D76E-E0BAA09B1554}"/>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Rectangle 56">
              <a:extLst>
                <a:ext uri="{FF2B5EF4-FFF2-40B4-BE49-F238E27FC236}">
                  <a16:creationId xmlns:a16="http://schemas.microsoft.com/office/drawing/2014/main" id="{1B5189E0-EEB8-8F32-C782-A3012AB722C2}"/>
                </a:ext>
              </a:extLst>
            </p:cNvPr>
            <p:cNvSpPr>
              <a:spLocks noChangeArrowheads="1"/>
            </p:cNvSpPr>
            <p:nvPr/>
          </p:nvSpPr>
          <p:spPr bwMode="auto">
            <a:xfrm>
              <a:off x="4208" y="429"/>
              <a:ext cx="1047"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0" name="Freeform 57">
              <a:extLst>
                <a:ext uri="{FF2B5EF4-FFF2-40B4-BE49-F238E27FC236}">
                  <a16:creationId xmlns:a16="http://schemas.microsoft.com/office/drawing/2014/main" id="{580839BA-3A9B-8B60-2A9D-63AB69074D15}"/>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58">
              <a:extLst>
                <a:ext uri="{FF2B5EF4-FFF2-40B4-BE49-F238E27FC236}">
                  <a16:creationId xmlns:a16="http://schemas.microsoft.com/office/drawing/2014/main" id="{1F876B93-5F7A-8EC3-FCC2-9A775E66C432}"/>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Rectangle 59">
              <a:extLst>
                <a:ext uri="{FF2B5EF4-FFF2-40B4-BE49-F238E27FC236}">
                  <a16:creationId xmlns:a16="http://schemas.microsoft.com/office/drawing/2014/main" id="{5ECBC01D-7F91-64AB-8B5C-CE2C59AE5B8B}"/>
                </a:ext>
              </a:extLst>
            </p:cNvPr>
            <p:cNvSpPr>
              <a:spLocks noChangeArrowheads="1"/>
            </p:cNvSpPr>
            <p:nvPr/>
          </p:nvSpPr>
          <p:spPr bwMode="auto">
            <a:xfrm>
              <a:off x="4214" y="690"/>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3" name="Group 60">
              <a:extLst>
                <a:ext uri="{FF2B5EF4-FFF2-40B4-BE49-F238E27FC236}">
                  <a16:creationId xmlns:a16="http://schemas.microsoft.com/office/drawing/2014/main" id="{3650DBBD-E820-4739-785D-2D4F805AF4CE}"/>
                </a:ext>
              </a:extLst>
            </p:cNvPr>
            <p:cNvGrpSpPr>
              <a:grpSpLocks/>
            </p:cNvGrpSpPr>
            <p:nvPr/>
          </p:nvGrpSpPr>
          <p:grpSpPr bwMode="auto">
            <a:xfrm>
              <a:off x="4749" y="668"/>
              <a:ext cx="581" cy="145"/>
              <a:chOff x="614" y="2568"/>
              <a:chExt cx="725" cy="139"/>
            </a:xfrm>
          </p:grpSpPr>
          <p:sp>
            <p:nvSpPr>
              <p:cNvPr id="58" name="AutoShape 61">
                <a:extLst>
                  <a:ext uri="{FF2B5EF4-FFF2-40B4-BE49-F238E27FC236}">
                    <a16:creationId xmlns:a16="http://schemas.microsoft.com/office/drawing/2014/main" id="{9FACC926-1D3D-A7EB-CF61-191806C0AA4E}"/>
                  </a:ext>
                </a:extLst>
              </p:cNvPr>
              <p:cNvSpPr>
                <a:spLocks noChangeArrowheads="1"/>
              </p:cNvSpPr>
              <p:nvPr/>
            </p:nvSpPr>
            <p:spPr bwMode="auto">
              <a:xfrm>
                <a:off x="612"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9" name="AutoShape 62">
                <a:extLst>
                  <a:ext uri="{FF2B5EF4-FFF2-40B4-BE49-F238E27FC236}">
                    <a16:creationId xmlns:a16="http://schemas.microsoft.com/office/drawing/2014/main" id="{358F7FEA-442A-5B08-058E-EA74830DE73A}"/>
                  </a:ext>
                </a:extLst>
              </p:cNvPr>
              <p:cNvSpPr>
                <a:spLocks noChangeArrowheads="1"/>
              </p:cNvSpPr>
              <p:nvPr/>
            </p:nvSpPr>
            <p:spPr bwMode="auto">
              <a:xfrm>
                <a:off x="627" y="2584"/>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4" name="Rectangle 63">
              <a:extLst>
                <a:ext uri="{FF2B5EF4-FFF2-40B4-BE49-F238E27FC236}">
                  <a16:creationId xmlns:a16="http://schemas.microsoft.com/office/drawing/2014/main" id="{E0A7F03F-2ABF-F7D0-1E5E-15E6D271358D}"/>
                </a:ext>
              </a:extLst>
            </p:cNvPr>
            <p:cNvSpPr>
              <a:spLocks noChangeArrowheads="1"/>
            </p:cNvSpPr>
            <p:nvPr/>
          </p:nvSpPr>
          <p:spPr bwMode="auto">
            <a:xfrm>
              <a:off x="4227" y="1021"/>
              <a:ext cx="595" cy="43"/>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5" name="Group 64">
              <a:extLst>
                <a:ext uri="{FF2B5EF4-FFF2-40B4-BE49-F238E27FC236}">
                  <a16:creationId xmlns:a16="http://schemas.microsoft.com/office/drawing/2014/main" id="{8AF4074D-C634-9EEE-5E60-EB468A5BD957}"/>
                </a:ext>
              </a:extLst>
            </p:cNvPr>
            <p:cNvGrpSpPr>
              <a:grpSpLocks/>
            </p:cNvGrpSpPr>
            <p:nvPr/>
          </p:nvGrpSpPr>
          <p:grpSpPr bwMode="auto">
            <a:xfrm>
              <a:off x="4747" y="994"/>
              <a:ext cx="581" cy="134"/>
              <a:chOff x="614" y="2568"/>
              <a:chExt cx="725" cy="139"/>
            </a:xfrm>
          </p:grpSpPr>
          <p:sp>
            <p:nvSpPr>
              <p:cNvPr id="56" name="AutoShape 65">
                <a:extLst>
                  <a:ext uri="{FF2B5EF4-FFF2-40B4-BE49-F238E27FC236}">
                    <a16:creationId xmlns:a16="http://schemas.microsoft.com/office/drawing/2014/main" id="{1A7E7931-7A14-BD8F-4059-264BD1CF5A09}"/>
                  </a:ext>
                </a:extLst>
              </p:cNvPr>
              <p:cNvSpPr>
                <a:spLocks noChangeArrowheads="1"/>
              </p:cNvSpPr>
              <p:nvPr/>
            </p:nvSpPr>
            <p:spPr bwMode="auto">
              <a:xfrm>
                <a:off x="614" y="2569"/>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7" name="AutoShape 66">
                <a:extLst>
                  <a:ext uri="{FF2B5EF4-FFF2-40B4-BE49-F238E27FC236}">
                    <a16:creationId xmlns:a16="http://schemas.microsoft.com/office/drawing/2014/main" id="{95EEF5A5-0CF1-0926-AC31-5499107222D6}"/>
                  </a:ext>
                </a:extLst>
              </p:cNvPr>
              <p:cNvSpPr>
                <a:spLocks noChangeArrowheads="1"/>
              </p:cNvSpPr>
              <p:nvPr/>
            </p:nvSpPr>
            <p:spPr bwMode="auto">
              <a:xfrm>
                <a:off x="630" y="2585"/>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6" name="Rectangle 67">
              <a:extLst>
                <a:ext uri="{FF2B5EF4-FFF2-40B4-BE49-F238E27FC236}">
                  <a16:creationId xmlns:a16="http://schemas.microsoft.com/office/drawing/2014/main" id="{7319D863-8631-87B8-BF75-DCFCBBE57B94}"/>
                </a:ext>
              </a:extLst>
            </p:cNvPr>
            <p:cNvSpPr>
              <a:spLocks noChangeArrowheads="1"/>
            </p:cNvSpPr>
            <p:nvPr/>
          </p:nvSpPr>
          <p:spPr bwMode="auto">
            <a:xfrm>
              <a:off x="4214" y="1358"/>
              <a:ext cx="601"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37" name="Rectangle 68">
              <a:extLst>
                <a:ext uri="{FF2B5EF4-FFF2-40B4-BE49-F238E27FC236}">
                  <a16:creationId xmlns:a16="http://schemas.microsoft.com/office/drawing/2014/main" id="{38809584-EBAF-8990-D67C-31F1754A94F8}"/>
                </a:ext>
              </a:extLst>
            </p:cNvPr>
            <p:cNvSpPr>
              <a:spLocks noChangeArrowheads="1"/>
            </p:cNvSpPr>
            <p:nvPr/>
          </p:nvSpPr>
          <p:spPr bwMode="auto">
            <a:xfrm>
              <a:off x="4227" y="1656"/>
              <a:ext cx="595" cy="48"/>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nvGrpSpPr>
            <p:cNvPr id="38" name="Group 69">
              <a:extLst>
                <a:ext uri="{FF2B5EF4-FFF2-40B4-BE49-F238E27FC236}">
                  <a16:creationId xmlns:a16="http://schemas.microsoft.com/office/drawing/2014/main" id="{89A37D66-4272-64EA-9A3B-F304E222A819}"/>
                </a:ext>
              </a:extLst>
            </p:cNvPr>
            <p:cNvGrpSpPr>
              <a:grpSpLocks/>
            </p:cNvGrpSpPr>
            <p:nvPr/>
          </p:nvGrpSpPr>
          <p:grpSpPr bwMode="auto">
            <a:xfrm>
              <a:off x="4735" y="1627"/>
              <a:ext cx="582" cy="151"/>
              <a:chOff x="614" y="2568"/>
              <a:chExt cx="725" cy="139"/>
            </a:xfrm>
          </p:grpSpPr>
          <p:sp>
            <p:nvSpPr>
              <p:cNvPr id="54" name="AutoShape 70">
                <a:extLst>
                  <a:ext uri="{FF2B5EF4-FFF2-40B4-BE49-F238E27FC236}">
                    <a16:creationId xmlns:a16="http://schemas.microsoft.com/office/drawing/2014/main" id="{C1C935C9-D11C-0D4F-CBC3-1F9F57FB392F}"/>
                  </a:ext>
                </a:extLst>
              </p:cNvPr>
              <p:cNvSpPr>
                <a:spLocks noChangeArrowheads="1"/>
              </p:cNvSpPr>
              <p:nvPr/>
            </p:nvSpPr>
            <p:spPr bwMode="auto">
              <a:xfrm>
                <a:off x="614" y="2570"/>
                <a:ext cx="725"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5" name="AutoShape 71">
                <a:extLst>
                  <a:ext uri="{FF2B5EF4-FFF2-40B4-BE49-F238E27FC236}">
                    <a16:creationId xmlns:a16="http://schemas.microsoft.com/office/drawing/2014/main" id="{F19BF179-E8A1-274B-6670-1D264250F3EC}"/>
                  </a:ext>
                </a:extLst>
              </p:cNvPr>
              <p:cNvSpPr>
                <a:spLocks noChangeArrowheads="1"/>
              </p:cNvSpPr>
              <p:nvPr/>
            </p:nvSpPr>
            <p:spPr bwMode="auto">
              <a:xfrm>
                <a:off x="629" y="2585"/>
                <a:ext cx="695"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39" name="Freeform 72">
              <a:extLst>
                <a:ext uri="{FF2B5EF4-FFF2-40B4-BE49-F238E27FC236}">
                  <a16:creationId xmlns:a16="http://schemas.microsoft.com/office/drawing/2014/main" id="{9244C8B5-BCB4-89A9-8BB7-DBB0F8EDA5D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0" name="Group 73">
              <a:extLst>
                <a:ext uri="{FF2B5EF4-FFF2-40B4-BE49-F238E27FC236}">
                  <a16:creationId xmlns:a16="http://schemas.microsoft.com/office/drawing/2014/main" id="{D0403C2E-9251-C245-74FA-C4802652A099}"/>
                </a:ext>
              </a:extLst>
            </p:cNvPr>
            <p:cNvGrpSpPr>
              <a:grpSpLocks/>
            </p:cNvGrpSpPr>
            <p:nvPr/>
          </p:nvGrpSpPr>
          <p:grpSpPr bwMode="auto">
            <a:xfrm>
              <a:off x="4739" y="1327"/>
              <a:ext cx="582" cy="139"/>
              <a:chOff x="614" y="2568"/>
              <a:chExt cx="725" cy="139"/>
            </a:xfrm>
          </p:grpSpPr>
          <p:sp>
            <p:nvSpPr>
              <p:cNvPr id="52" name="AutoShape 74">
                <a:extLst>
                  <a:ext uri="{FF2B5EF4-FFF2-40B4-BE49-F238E27FC236}">
                    <a16:creationId xmlns:a16="http://schemas.microsoft.com/office/drawing/2014/main" id="{0609931F-AA28-3B4C-C13F-CDA833A92877}"/>
                  </a:ext>
                </a:extLst>
              </p:cNvPr>
              <p:cNvSpPr>
                <a:spLocks noChangeArrowheads="1"/>
              </p:cNvSpPr>
              <p:nvPr/>
            </p:nvSpPr>
            <p:spPr bwMode="auto">
              <a:xfrm>
                <a:off x="616" y="2566"/>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3" name="AutoShape 75">
                <a:extLst>
                  <a:ext uri="{FF2B5EF4-FFF2-40B4-BE49-F238E27FC236}">
                    <a16:creationId xmlns:a16="http://schemas.microsoft.com/office/drawing/2014/main" id="{3C243C5C-6F66-F4C6-A8B7-A2C586B13758}"/>
                  </a:ext>
                </a:extLst>
              </p:cNvPr>
              <p:cNvSpPr>
                <a:spLocks noChangeArrowheads="1"/>
              </p:cNvSpPr>
              <p:nvPr/>
            </p:nvSpPr>
            <p:spPr bwMode="auto">
              <a:xfrm>
                <a:off x="632" y="2583"/>
                <a:ext cx="695"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sp>
          <p:nvSpPr>
            <p:cNvPr id="41" name="Rectangle 76">
              <a:extLst>
                <a:ext uri="{FF2B5EF4-FFF2-40B4-BE49-F238E27FC236}">
                  <a16:creationId xmlns:a16="http://schemas.microsoft.com/office/drawing/2014/main" id="{6DD7A1FC-105C-B414-D2D6-44AFB5AAAD4C}"/>
                </a:ext>
              </a:extLst>
            </p:cNvPr>
            <p:cNvSpPr>
              <a:spLocks noChangeArrowheads="1"/>
            </p:cNvSpPr>
            <p:nvPr/>
          </p:nvSpPr>
          <p:spPr bwMode="auto">
            <a:xfrm>
              <a:off x="5249" y="429"/>
              <a:ext cx="68"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2" name="Freeform 77">
              <a:extLst>
                <a:ext uri="{FF2B5EF4-FFF2-40B4-BE49-F238E27FC236}">
                  <a16:creationId xmlns:a16="http://schemas.microsoft.com/office/drawing/2014/main" id="{FAE7E827-A812-8766-920B-DDA02EBBE1EF}"/>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78">
              <a:extLst>
                <a:ext uri="{FF2B5EF4-FFF2-40B4-BE49-F238E27FC236}">
                  <a16:creationId xmlns:a16="http://schemas.microsoft.com/office/drawing/2014/main" id="{5C1F7EB0-6C43-6751-E0B6-6E32DC4E5F95}"/>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Oval 79">
              <a:extLst>
                <a:ext uri="{FF2B5EF4-FFF2-40B4-BE49-F238E27FC236}">
                  <a16:creationId xmlns:a16="http://schemas.microsoft.com/office/drawing/2014/main" id="{D28E2083-9546-8813-444D-6448B63EB876}"/>
                </a:ext>
              </a:extLst>
            </p:cNvPr>
            <p:cNvSpPr>
              <a:spLocks noChangeArrowheads="1"/>
            </p:cNvSpPr>
            <p:nvPr/>
          </p:nvSpPr>
          <p:spPr bwMode="auto">
            <a:xfrm>
              <a:off x="5515" y="2612"/>
              <a:ext cx="50"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5" name="Freeform 80">
              <a:extLst>
                <a:ext uri="{FF2B5EF4-FFF2-40B4-BE49-F238E27FC236}">
                  <a16:creationId xmlns:a16="http://schemas.microsoft.com/office/drawing/2014/main" id="{1406E7DA-ED63-D594-634F-7D546268750B}"/>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AutoShape 81">
              <a:extLst>
                <a:ext uri="{FF2B5EF4-FFF2-40B4-BE49-F238E27FC236}">
                  <a16:creationId xmlns:a16="http://schemas.microsoft.com/office/drawing/2014/main" id="{410F96C8-B95C-0CCA-A09D-506827F82F08}"/>
                </a:ext>
              </a:extLst>
            </p:cNvPr>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7" name="AutoShape 82">
              <a:extLst>
                <a:ext uri="{FF2B5EF4-FFF2-40B4-BE49-F238E27FC236}">
                  <a16:creationId xmlns:a16="http://schemas.microsoft.com/office/drawing/2014/main" id="{9AAEF254-D04E-AD92-2CB3-CD82A35D943E}"/>
                </a:ext>
              </a:extLst>
            </p:cNvPr>
            <p:cNvSpPr>
              <a:spLocks noChangeArrowheads="1"/>
            </p:cNvSpPr>
            <p:nvPr/>
          </p:nvSpPr>
          <p:spPr bwMode="auto">
            <a:xfrm>
              <a:off x="4208" y="2713"/>
              <a:ext cx="1066"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8" name="Oval 83">
              <a:extLst>
                <a:ext uri="{FF2B5EF4-FFF2-40B4-BE49-F238E27FC236}">
                  <a16:creationId xmlns:a16="http://schemas.microsoft.com/office/drawing/2014/main" id="{2427362E-EE9F-AF7D-FD21-FF6257EDBCDF}"/>
                </a:ext>
              </a:extLst>
            </p:cNvPr>
            <p:cNvSpPr>
              <a:spLocks noChangeArrowheads="1"/>
            </p:cNvSpPr>
            <p:nvPr/>
          </p:nvSpPr>
          <p:spPr bwMode="auto">
            <a:xfrm>
              <a:off x="4307" y="2382"/>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49" name="Oval 84">
              <a:extLst>
                <a:ext uri="{FF2B5EF4-FFF2-40B4-BE49-F238E27FC236}">
                  <a16:creationId xmlns:a16="http://schemas.microsoft.com/office/drawing/2014/main" id="{EE6340A4-2FB2-AEED-B078-FDCC31F206A7}"/>
                </a:ext>
              </a:extLst>
            </p:cNvPr>
            <p:cNvSpPr>
              <a:spLocks noChangeArrowheads="1"/>
            </p:cNvSpPr>
            <p:nvPr/>
          </p:nvSpPr>
          <p:spPr bwMode="auto">
            <a:xfrm>
              <a:off x="4487" y="2382"/>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800">
                <a:solidFill>
                  <a:srgbClr val="FF0000"/>
                </a:solidFill>
              </a:endParaRPr>
            </a:p>
          </p:txBody>
        </p:sp>
        <p:sp>
          <p:nvSpPr>
            <p:cNvPr id="50" name="Oval 85">
              <a:extLst>
                <a:ext uri="{FF2B5EF4-FFF2-40B4-BE49-F238E27FC236}">
                  <a16:creationId xmlns:a16="http://schemas.microsoft.com/office/drawing/2014/main" id="{0A04B9F2-8EFF-8BCB-A4BD-F56E85AEF7F1}"/>
                </a:ext>
              </a:extLst>
            </p:cNvPr>
            <p:cNvSpPr>
              <a:spLocks noChangeArrowheads="1"/>
            </p:cNvSpPr>
            <p:nvPr/>
          </p:nvSpPr>
          <p:spPr bwMode="auto">
            <a:xfrm>
              <a:off x="4660" y="2382"/>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sp>
          <p:nvSpPr>
            <p:cNvPr id="51" name="Rectangle 86">
              <a:extLst>
                <a:ext uri="{FF2B5EF4-FFF2-40B4-BE49-F238E27FC236}">
                  <a16:creationId xmlns:a16="http://schemas.microsoft.com/office/drawing/2014/main" id="{923E78A4-F0F7-A3B3-CB97-E6A93E2ACB18}"/>
                </a:ext>
              </a:extLst>
            </p:cNvPr>
            <p:cNvSpPr>
              <a:spLocks noChangeArrowheads="1"/>
            </p:cNvSpPr>
            <p:nvPr/>
          </p:nvSpPr>
          <p:spPr bwMode="auto">
            <a:xfrm>
              <a:off x="5063" y="1832"/>
              <a:ext cx="87" cy="763"/>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p>
          </p:txBody>
        </p:sp>
      </p:grpSp>
      <p:grpSp>
        <p:nvGrpSpPr>
          <p:cNvPr id="60" name="Group 87">
            <a:extLst>
              <a:ext uri="{FF2B5EF4-FFF2-40B4-BE49-F238E27FC236}">
                <a16:creationId xmlns:a16="http://schemas.microsoft.com/office/drawing/2014/main" id="{7E4398F9-0D13-97B4-16A3-C6AD83D8F397}"/>
              </a:ext>
            </a:extLst>
          </p:cNvPr>
          <p:cNvGrpSpPr>
            <a:grpSpLocks/>
          </p:cNvGrpSpPr>
          <p:nvPr/>
        </p:nvGrpSpPr>
        <p:grpSpPr bwMode="auto">
          <a:xfrm flipH="1">
            <a:off x="7677028" y="4777801"/>
            <a:ext cx="735012" cy="681038"/>
            <a:chOff x="-44" y="1473"/>
            <a:chExt cx="981" cy="1105"/>
          </a:xfrm>
        </p:grpSpPr>
        <p:pic>
          <p:nvPicPr>
            <p:cNvPr id="61" name="Picture 88" descr="desktop_computer_stylized_medium">
              <a:extLst>
                <a:ext uri="{FF2B5EF4-FFF2-40B4-BE49-F238E27FC236}">
                  <a16:creationId xmlns:a16="http://schemas.microsoft.com/office/drawing/2014/main" id="{228C00F9-BF25-426A-2AD1-4F831A58C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89">
              <a:extLst>
                <a:ext uri="{FF2B5EF4-FFF2-40B4-BE49-F238E27FC236}">
                  <a16:creationId xmlns:a16="http://schemas.microsoft.com/office/drawing/2014/main" id="{832470FB-FD8D-285E-808E-C8DC3BA16FE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
        <p:nvSpPr>
          <p:cNvPr id="25" name="Rectangle 59">
            <a:extLst>
              <a:ext uri="{FF2B5EF4-FFF2-40B4-BE49-F238E27FC236}">
                <a16:creationId xmlns:a16="http://schemas.microsoft.com/office/drawing/2014/main" id="{970FF096-D386-A406-9AE4-62DB907767F1}"/>
              </a:ext>
            </a:extLst>
          </p:cNvPr>
          <p:cNvSpPr>
            <a:spLocks noChangeArrowheads="1"/>
          </p:cNvSpPr>
          <p:nvPr/>
        </p:nvSpPr>
        <p:spPr bwMode="auto">
          <a:xfrm>
            <a:off x="917141" y="5880409"/>
            <a:ext cx="10250759" cy="6856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2800" i="1" dirty="0"/>
              <a:t>… lots more on security (throughout, Chapter 8)</a:t>
            </a:r>
          </a:p>
        </p:txBody>
      </p:sp>
      <p:grpSp>
        <p:nvGrpSpPr>
          <p:cNvPr id="82" name="Group 81">
            <a:extLst>
              <a:ext uri="{FF2B5EF4-FFF2-40B4-BE49-F238E27FC236}">
                <a16:creationId xmlns:a16="http://schemas.microsoft.com/office/drawing/2014/main" id="{AAD4402F-04AA-83A1-18F1-F40E351550DF}"/>
              </a:ext>
            </a:extLst>
          </p:cNvPr>
          <p:cNvGrpSpPr/>
          <p:nvPr/>
        </p:nvGrpSpPr>
        <p:grpSpPr>
          <a:xfrm>
            <a:off x="4054353" y="4784334"/>
            <a:ext cx="958850" cy="476251"/>
            <a:chOff x="7493876" y="2774731"/>
            <a:chExt cx="1481958" cy="894622"/>
          </a:xfrm>
        </p:grpSpPr>
        <p:sp>
          <p:nvSpPr>
            <p:cNvPr id="83" name="Freeform 82">
              <a:extLst>
                <a:ext uri="{FF2B5EF4-FFF2-40B4-BE49-F238E27FC236}">
                  <a16:creationId xmlns:a16="http://schemas.microsoft.com/office/drawing/2014/main" id="{A8D30501-4E0E-B277-D846-B22CF6F5A92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4" name="Oval 83">
              <a:extLst>
                <a:ext uri="{FF2B5EF4-FFF2-40B4-BE49-F238E27FC236}">
                  <a16:creationId xmlns:a16="http://schemas.microsoft.com/office/drawing/2014/main" id="{C62A12A7-54EB-C593-8043-0F5DE6D7706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nvGrpSpPr>
            <p:cNvPr id="85" name="Group 84">
              <a:extLst>
                <a:ext uri="{FF2B5EF4-FFF2-40B4-BE49-F238E27FC236}">
                  <a16:creationId xmlns:a16="http://schemas.microsoft.com/office/drawing/2014/main" id="{F568A00C-154D-286D-EEF4-0FC1D10A7AC1}"/>
                </a:ext>
              </a:extLst>
            </p:cNvPr>
            <p:cNvGrpSpPr/>
            <p:nvPr/>
          </p:nvGrpSpPr>
          <p:grpSpPr>
            <a:xfrm>
              <a:off x="7713663" y="2848339"/>
              <a:ext cx="1042107" cy="425543"/>
              <a:chOff x="7786941" y="2884917"/>
              <a:chExt cx="897649" cy="353919"/>
            </a:xfrm>
          </p:grpSpPr>
          <p:sp>
            <p:nvSpPr>
              <p:cNvPr id="86" name="Freeform 85">
                <a:extLst>
                  <a:ext uri="{FF2B5EF4-FFF2-40B4-BE49-F238E27FC236}">
                    <a16:creationId xmlns:a16="http://schemas.microsoft.com/office/drawing/2014/main" id="{DA65CCE1-0266-E3A8-9A21-A56EAFE8EE8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a:extLst>
                  <a:ext uri="{FF2B5EF4-FFF2-40B4-BE49-F238E27FC236}">
                    <a16:creationId xmlns:a16="http://schemas.microsoft.com/office/drawing/2014/main" id="{1EFE98B3-1347-9756-C23F-F0B2CBCB2A5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a:extLst>
                  <a:ext uri="{FF2B5EF4-FFF2-40B4-BE49-F238E27FC236}">
                    <a16:creationId xmlns:a16="http://schemas.microsoft.com/office/drawing/2014/main" id="{A262E4A4-823B-2F37-9263-ED2D213363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D0630107-AAF0-02C5-850D-F30B630FE5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 name="Group 3">
            <a:extLst>
              <a:ext uri="{FF2B5EF4-FFF2-40B4-BE49-F238E27FC236}">
                <a16:creationId xmlns:a16="http://schemas.microsoft.com/office/drawing/2014/main" id="{2E4BBB90-3EC6-DC88-5A09-CD6D34A0A40F}"/>
              </a:ext>
            </a:extLst>
          </p:cNvPr>
          <p:cNvGrpSpPr/>
          <p:nvPr/>
        </p:nvGrpSpPr>
        <p:grpSpPr>
          <a:xfrm>
            <a:off x="3293812" y="3967064"/>
            <a:ext cx="2967038" cy="819150"/>
            <a:chOff x="3293812" y="3967064"/>
            <a:chExt cx="2967038" cy="819150"/>
          </a:xfrm>
        </p:grpSpPr>
        <p:sp>
          <p:nvSpPr>
            <p:cNvPr id="72" name="Freeform 77">
              <a:extLst>
                <a:ext uri="{FF2B5EF4-FFF2-40B4-BE49-F238E27FC236}">
                  <a16:creationId xmlns:a16="http://schemas.microsoft.com/office/drawing/2014/main" id="{114986A7-1C8D-BAF4-A2C0-878188E7AEA8}"/>
                </a:ext>
              </a:extLst>
            </p:cNvPr>
            <p:cNvSpPr>
              <a:spLocks/>
            </p:cNvSpPr>
            <p:nvPr/>
          </p:nvSpPr>
          <p:spPr bwMode="auto">
            <a:xfrm>
              <a:off x="3293812" y="3967064"/>
              <a:ext cx="2967038" cy="704850"/>
            </a:xfrm>
            <a:custGeom>
              <a:avLst/>
              <a:gdLst>
                <a:gd name="T0" fmla="*/ 2147483647 w 1869"/>
                <a:gd name="T1" fmla="*/ 0 h 444"/>
                <a:gd name="T2" fmla="*/ 2147483647 w 1869"/>
                <a:gd name="T3" fmla="*/ 2147483647 h 444"/>
                <a:gd name="T4" fmla="*/ 0 w 1869"/>
                <a:gd name="T5" fmla="*/ 2147483647 h 444"/>
                <a:gd name="T6" fmla="*/ 0 60000 65536"/>
                <a:gd name="T7" fmla="*/ 0 60000 65536"/>
                <a:gd name="T8" fmla="*/ 0 60000 65536"/>
                <a:gd name="T9" fmla="*/ 0 w 1869"/>
                <a:gd name="T10" fmla="*/ 0 h 444"/>
                <a:gd name="T11" fmla="*/ 1869 w 1869"/>
                <a:gd name="T12" fmla="*/ 444 h 444"/>
              </a:gdLst>
              <a:ahLst/>
              <a:cxnLst>
                <a:cxn ang="T6">
                  <a:pos x="T0" y="T1"/>
                </a:cxn>
                <a:cxn ang="T7">
                  <a:pos x="T2" y="T3"/>
                </a:cxn>
                <a:cxn ang="T8">
                  <a:pos x="T4" y="T5"/>
                </a:cxn>
              </a:cxnLst>
              <a:rect l="T9" t="T10" r="T11" b="T12"/>
              <a:pathLst>
                <a:path w="1869" h="444">
                  <a:moveTo>
                    <a:pt x="1869" y="0"/>
                  </a:moveTo>
                  <a:lnTo>
                    <a:pt x="1869" y="444"/>
                  </a:lnTo>
                  <a:lnTo>
                    <a:pt x="0" y="444"/>
                  </a:lnTo>
                </a:path>
              </a:pathLst>
            </a:custGeom>
            <a:noFill/>
            <a:ln w="28575">
              <a:solidFill>
                <a:srgbClr val="CC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3" name="Group 78">
              <a:extLst>
                <a:ext uri="{FF2B5EF4-FFF2-40B4-BE49-F238E27FC236}">
                  <a16:creationId xmlns:a16="http://schemas.microsoft.com/office/drawing/2014/main" id="{CFCB2591-B1F4-C766-ECE6-F4EA76A7074A}"/>
                </a:ext>
              </a:extLst>
            </p:cNvPr>
            <p:cNvGrpSpPr>
              <a:grpSpLocks/>
            </p:cNvGrpSpPr>
            <p:nvPr/>
          </p:nvGrpSpPr>
          <p:grpSpPr bwMode="auto">
            <a:xfrm>
              <a:off x="3760537" y="4449664"/>
              <a:ext cx="2295525" cy="336550"/>
              <a:chOff x="2418" y="3342"/>
              <a:chExt cx="1446" cy="212"/>
            </a:xfrm>
          </p:grpSpPr>
          <p:sp>
            <p:nvSpPr>
              <p:cNvPr id="74" name="Rectangle 79">
                <a:extLst>
                  <a:ext uri="{FF2B5EF4-FFF2-40B4-BE49-F238E27FC236}">
                    <a16:creationId xmlns:a16="http://schemas.microsoft.com/office/drawing/2014/main" id="{A1581F5C-D57A-AED5-77DC-C39AF7D39266}"/>
                  </a:ext>
                </a:extLst>
              </p:cNvPr>
              <p:cNvSpPr>
                <a:spLocks noChangeArrowheads="1"/>
              </p:cNvSpPr>
              <p:nvPr/>
            </p:nvSpPr>
            <p:spPr bwMode="auto">
              <a:xfrm>
                <a:off x="2463" y="3366"/>
                <a:ext cx="1356" cy="174"/>
              </a:xfrm>
              <a:prstGeom prst="rect">
                <a:avLst/>
              </a:prstGeom>
              <a:solidFill>
                <a:srgbClr val="FFFFFF"/>
              </a:solidFill>
              <a:ln w="12700">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Times New Roman" panose="02020603050405020304" pitchFamily="18" charset="0"/>
                </a:endParaRPr>
              </a:p>
            </p:txBody>
          </p:sp>
          <p:sp>
            <p:nvSpPr>
              <p:cNvPr id="75" name="Line 80">
                <a:extLst>
                  <a:ext uri="{FF2B5EF4-FFF2-40B4-BE49-F238E27FC236}">
                    <a16:creationId xmlns:a16="http://schemas.microsoft.com/office/drawing/2014/main" id="{F072D8CF-987C-8069-F1FF-5A55829F0C80}"/>
                  </a:ext>
                </a:extLst>
              </p:cNvPr>
              <p:cNvSpPr>
                <a:spLocks noChangeShapeType="1"/>
              </p:cNvSpPr>
              <p:nvPr/>
            </p:nvSpPr>
            <p:spPr bwMode="auto">
              <a:xfrm>
                <a:off x="2784" y="3372"/>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81">
                <a:extLst>
                  <a:ext uri="{FF2B5EF4-FFF2-40B4-BE49-F238E27FC236}">
                    <a16:creationId xmlns:a16="http://schemas.microsoft.com/office/drawing/2014/main" id="{34341B0B-ADE1-FD88-909B-91EC422152A1}"/>
                  </a:ext>
                </a:extLst>
              </p:cNvPr>
              <p:cNvSpPr>
                <a:spLocks noChangeShapeType="1"/>
              </p:cNvSpPr>
              <p:nvPr/>
            </p:nvSpPr>
            <p:spPr bwMode="auto">
              <a:xfrm>
                <a:off x="3186"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82">
                <a:extLst>
                  <a:ext uri="{FF2B5EF4-FFF2-40B4-BE49-F238E27FC236}">
                    <a16:creationId xmlns:a16="http://schemas.microsoft.com/office/drawing/2014/main" id="{9DA97406-A50C-B653-2823-106DD0FD4233}"/>
                  </a:ext>
                </a:extLst>
              </p:cNvPr>
              <p:cNvSpPr>
                <a:spLocks noChangeShapeType="1"/>
              </p:cNvSpPr>
              <p:nvPr/>
            </p:nvSpPr>
            <p:spPr bwMode="auto">
              <a:xfrm>
                <a:off x="3321" y="3375"/>
                <a:ext cx="0" cy="1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 name="Text Box 83">
                <a:extLst>
                  <a:ext uri="{FF2B5EF4-FFF2-40B4-BE49-F238E27FC236}">
                    <a16:creationId xmlns:a16="http://schemas.microsoft.com/office/drawing/2014/main" id="{48DAC9D9-3C65-875B-E53A-97618B017DA4}"/>
                  </a:ext>
                </a:extLst>
              </p:cNvPr>
              <p:cNvSpPr txBox="1">
                <a:spLocks noChangeArrowheads="1"/>
              </p:cNvSpPr>
              <p:nvPr/>
            </p:nvSpPr>
            <p:spPr bwMode="auto">
              <a:xfrm>
                <a:off x="2418" y="3342"/>
                <a:ext cx="14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600">
                    <a:solidFill>
                      <a:srgbClr val="CC0000"/>
                    </a:solidFill>
                  </a:rPr>
                  <a:t>src:B</a:t>
                </a:r>
                <a:r>
                  <a:rPr lang="en-US" altLang="en-US" sz="1600"/>
                  <a:t> dest:A     payload</a:t>
                </a:r>
                <a:endParaRPr lang="en-US" altLang="en-US" sz="1600">
                  <a:latin typeface="Times New Roman" panose="02020603050405020304" pitchFamily="18" charset="0"/>
                </a:endParaRPr>
              </a:p>
            </p:txBody>
          </p:sp>
        </p:grpSp>
      </p:grpSp>
    </p:spTree>
    <p:extLst>
      <p:ext uri="{BB962C8B-B14F-4D97-AF65-F5344CB8AC3E}">
        <p14:creationId xmlns:p14="http://schemas.microsoft.com/office/powerpoint/2010/main" val="1828184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3B519-9213-B0CA-A079-BBFBFDBF5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091F6-2FBE-AF0E-2565-47374EEDB842}"/>
              </a:ext>
            </a:extLst>
          </p:cNvPr>
          <p:cNvSpPr>
            <a:spLocks noGrp="1"/>
          </p:cNvSpPr>
          <p:nvPr>
            <p:ph type="title"/>
          </p:nvPr>
        </p:nvSpPr>
        <p:spPr>
          <a:xfrm>
            <a:off x="342900" y="1676400"/>
            <a:ext cx="11341100" cy="3129579"/>
          </a:xfrm>
        </p:spPr>
        <p:txBody>
          <a:bodyPr/>
          <a:lstStyle/>
          <a:p>
            <a:pPr algn="ctr"/>
            <a:r>
              <a:rPr lang="en-US" dirty="0"/>
              <a:t>Part 2 – Media</a:t>
            </a:r>
            <a:endParaRPr lang="en-GB" dirty="0"/>
          </a:p>
        </p:txBody>
      </p:sp>
      <p:sp>
        <p:nvSpPr>
          <p:cNvPr id="5" name="Slide Number Placeholder 4">
            <a:extLst>
              <a:ext uri="{FF2B5EF4-FFF2-40B4-BE49-F238E27FC236}">
                <a16:creationId xmlns:a16="http://schemas.microsoft.com/office/drawing/2014/main" id="{6DEBC93B-0D91-F01C-4F48-5C1D5D73985E}"/>
              </a:ext>
            </a:extLst>
          </p:cNvPr>
          <p:cNvSpPr>
            <a:spLocks noGrp="1"/>
          </p:cNvSpPr>
          <p:nvPr>
            <p:ph type="sldNum" sz="quarter" idx="4"/>
          </p:nvPr>
        </p:nvSpPr>
        <p:spPr/>
        <p:txBody>
          <a:bodyPr/>
          <a:lstStyle/>
          <a:p>
            <a:r>
              <a:rPr lang="en-US"/>
              <a:t>Introduction: 1-</a:t>
            </a:r>
            <a:fld id="{C4204591-24BD-A542-B9D5-F8D8A88D2FEE}" type="slidenum">
              <a:rPr lang="en-US" smtClean="0"/>
              <a:pPr/>
              <a:t>16</a:t>
            </a:fld>
            <a:endParaRPr lang="en-US" dirty="0"/>
          </a:p>
        </p:txBody>
      </p:sp>
    </p:spTree>
    <p:extLst>
      <p:ext uri="{BB962C8B-B14F-4D97-AF65-F5344CB8AC3E}">
        <p14:creationId xmlns:p14="http://schemas.microsoft.com/office/powerpoint/2010/main" val="2153962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Types of Connections</a:t>
            </a:r>
          </a:p>
        </p:txBody>
      </p:sp>
      <p:sp>
        <p:nvSpPr>
          <p:cNvPr id="5" name="Text Placeholder 6"/>
          <p:cNvSpPr txBox="1">
            <a:spLocks/>
          </p:cNvSpPr>
          <p:nvPr/>
        </p:nvSpPr>
        <p:spPr>
          <a:xfrm>
            <a:off x="6549958" y="2143770"/>
            <a:ext cx="1820896"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Home Router</a:t>
            </a: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042" y="1355207"/>
            <a:ext cx="4087644" cy="2586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5405" y="4127221"/>
            <a:ext cx="5843508" cy="2187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6"/>
          <p:cNvSpPr txBox="1">
            <a:spLocks/>
          </p:cNvSpPr>
          <p:nvPr/>
        </p:nvSpPr>
        <p:spPr>
          <a:xfrm>
            <a:off x="1911283" y="4563120"/>
            <a:ext cx="2241618"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Connecting to the Wired LAN</a:t>
            </a:r>
          </a:p>
        </p:txBody>
      </p:sp>
    </p:spTree>
    <p:extLst>
      <p:ext uri="{BB962C8B-B14F-4D97-AF65-F5344CB8AC3E}">
        <p14:creationId xmlns:p14="http://schemas.microsoft.com/office/powerpoint/2010/main" val="92565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Network Interface Card (NIC)</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776" y="3546829"/>
            <a:ext cx="5277643" cy="2720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6"/>
          <p:cNvSpPr txBox="1">
            <a:spLocks/>
          </p:cNvSpPr>
          <p:nvPr/>
        </p:nvSpPr>
        <p:spPr>
          <a:xfrm>
            <a:off x="1695451" y="4563120"/>
            <a:ext cx="3362325"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Connecting to the Wireless LAN with Range Extender</a:t>
            </a:r>
          </a:p>
        </p:txBody>
      </p:sp>
      <p:sp>
        <p:nvSpPr>
          <p:cNvPr id="7" name="Text Placeholder 6"/>
          <p:cNvSpPr txBox="1">
            <a:spLocks/>
          </p:cNvSpPr>
          <p:nvPr/>
        </p:nvSpPr>
        <p:spPr>
          <a:xfrm>
            <a:off x="5724526" y="1741340"/>
            <a:ext cx="3362325"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Wired Connection Using an Ethernet NIC</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464" y="1293519"/>
            <a:ext cx="3726006" cy="2500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954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The Physical Layer</a:t>
            </a: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9480" y="1374433"/>
            <a:ext cx="6013043" cy="48692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866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Physical Layer Media</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8737" y="1252738"/>
            <a:ext cx="5694526" cy="5053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529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rotWithShape="1">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rcRect r="24053" b="14229"/>
          <a:stretch/>
        </p:blipFill>
        <p:spPr>
          <a:xfrm>
            <a:off x="3873433" y="3523579"/>
            <a:ext cx="1931464" cy="2785867"/>
          </a:xfrm>
          <a:prstGeom prst="rect">
            <a:avLst/>
          </a:prstGeom>
        </p:spPr>
      </p:pic>
      <p:pic>
        <p:nvPicPr>
          <p:cNvPr id="5" name="Picture 4"/>
          <p:cNvPicPr>
            <a:picLocks noChangeAspect="1"/>
          </p:cNvPicPr>
          <p:nvPr/>
        </p:nvPicPr>
        <p:blipFill rotWithShape="1">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760291" y="2099681"/>
            <a:ext cx="1865597" cy="4121270"/>
          </a:xfrm>
          <a:prstGeom prst="rect">
            <a:avLst/>
          </a:prstGeom>
        </p:spPr>
      </p:pic>
      <p:pic>
        <p:nvPicPr>
          <p:cNvPr id="7" name="Picture 6"/>
          <p:cNvPicPr>
            <a:picLocks noChangeAspect="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384817" y="1241765"/>
            <a:ext cx="553937" cy="1007159"/>
          </a:xfrm>
          <a:prstGeom prst="rect">
            <a:avLst/>
          </a:prstGeom>
        </p:spPr>
      </p:pic>
      <p:pic>
        <p:nvPicPr>
          <p:cNvPr id="9" name="Picture 8"/>
          <p:cNvPicPr>
            <a:picLocks noChangeAspect="1"/>
          </p:cNvPicPr>
          <p:nvPr/>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623011" y="5285730"/>
            <a:ext cx="276542" cy="496077"/>
          </a:xfrm>
          <a:prstGeom prst="rect">
            <a:avLst/>
          </a:prstGeom>
        </p:spPr>
      </p:pic>
      <p:cxnSp>
        <p:nvCxnSpPr>
          <p:cNvPr id="3" name="Straight Arrow Connector 2"/>
          <p:cNvCxnSpPr/>
          <p:nvPr/>
        </p:nvCxnSpPr>
        <p:spPr>
          <a:xfrm flipH="1" flipV="1">
            <a:off x="2768339" y="1572422"/>
            <a:ext cx="5542961" cy="25878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9" idx="0"/>
          </p:cNvCxnSpPr>
          <p:nvPr/>
        </p:nvCxnSpPr>
        <p:spPr>
          <a:xfrm flipH="1">
            <a:off x="6761283" y="4184243"/>
            <a:ext cx="1550019" cy="11014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9" idx="0"/>
          </p:cNvCxnSpPr>
          <p:nvPr/>
        </p:nvCxnSpPr>
        <p:spPr>
          <a:xfrm>
            <a:off x="5464100" y="3514835"/>
            <a:ext cx="1297183" cy="177089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477083" y="3534182"/>
            <a:ext cx="388809" cy="549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497507" y="3554606"/>
            <a:ext cx="389511" cy="1719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470793" y="3565600"/>
            <a:ext cx="208296" cy="3964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472365" y="3548315"/>
            <a:ext cx="118060" cy="4609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flipV="1">
            <a:off x="2768338" y="1708015"/>
            <a:ext cx="2696174" cy="18135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flipV="1">
            <a:off x="2779407" y="1862526"/>
            <a:ext cx="1949707" cy="17266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257014" y="4160317"/>
            <a:ext cx="1491000" cy="11447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ight Triangle 35"/>
          <p:cNvSpPr/>
          <p:nvPr/>
        </p:nvSpPr>
        <p:spPr>
          <a:xfrm>
            <a:off x="5479302" y="4977551"/>
            <a:ext cx="807358" cy="1028488"/>
          </a:xfrm>
          <a:prstGeom prst="rtTriangle">
            <a:avLst/>
          </a:prstGeom>
          <a:solidFill>
            <a:schemeClr val="tx1">
              <a:lumMod val="6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GB" sz="1400"/>
          </a:p>
        </p:txBody>
      </p:sp>
      <p:cxnSp>
        <p:nvCxnSpPr>
          <p:cNvPr id="38" name="Straight Connector 37"/>
          <p:cNvCxnSpPr/>
          <p:nvPr/>
        </p:nvCxnSpPr>
        <p:spPr>
          <a:xfrm>
            <a:off x="4729114" y="3589172"/>
            <a:ext cx="527901" cy="571144"/>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0" name="Rounded Rectangular Callout 39"/>
          <p:cNvSpPr/>
          <p:nvPr/>
        </p:nvSpPr>
        <p:spPr>
          <a:xfrm rot="19797421">
            <a:off x="6129217" y="4232470"/>
            <a:ext cx="1578909" cy="465169"/>
          </a:xfrm>
          <a:prstGeom prst="wedgeRoundRectCallout">
            <a:avLst>
              <a:gd name="adj1" fmla="val 115738"/>
              <a:gd name="adj2" fmla="val 69292"/>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t>Reflection</a:t>
            </a:r>
          </a:p>
        </p:txBody>
      </p:sp>
      <p:sp>
        <p:nvSpPr>
          <p:cNvPr id="41" name="Rounded Rectangular Callout 40"/>
          <p:cNvSpPr/>
          <p:nvPr/>
        </p:nvSpPr>
        <p:spPr>
          <a:xfrm rot="19797421">
            <a:off x="4294847" y="1325388"/>
            <a:ext cx="1770852" cy="1217596"/>
          </a:xfrm>
          <a:prstGeom prst="wedgeRoundRectCallout">
            <a:avLst>
              <a:gd name="adj1" fmla="val 631"/>
              <a:gd name="adj2" fmla="val 136415"/>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dirty="0"/>
              <a:t>Knife-Edge</a:t>
            </a:r>
          </a:p>
          <a:p>
            <a:pPr algn="ctr"/>
            <a:r>
              <a:rPr lang="en-GB" sz="1600" dirty="0"/>
              <a:t>Diffraction, Scattering</a:t>
            </a:r>
          </a:p>
        </p:txBody>
      </p:sp>
      <p:sp>
        <p:nvSpPr>
          <p:cNvPr id="42" name="Rounded Rectangular Callout 41"/>
          <p:cNvSpPr/>
          <p:nvPr/>
        </p:nvSpPr>
        <p:spPr>
          <a:xfrm>
            <a:off x="6497725" y="6117577"/>
            <a:ext cx="1904719" cy="515689"/>
          </a:xfrm>
          <a:prstGeom prst="wedgeRoundRectCallout">
            <a:avLst>
              <a:gd name="adj1" fmla="val -70630"/>
              <a:gd name="adj2" fmla="val -57784"/>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100" b="1" dirty="0"/>
              <a:t>Shadow – No Signal</a:t>
            </a:r>
          </a:p>
        </p:txBody>
      </p:sp>
      <p:sp>
        <p:nvSpPr>
          <p:cNvPr id="26" name="Rounded Rectangular Callout 25"/>
          <p:cNvSpPr/>
          <p:nvPr/>
        </p:nvSpPr>
        <p:spPr>
          <a:xfrm>
            <a:off x="3132622" y="858948"/>
            <a:ext cx="1596492" cy="515689"/>
          </a:xfrm>
          <a:prstGeom prst="wedgeRoundRectCallout">
            <a:avLst>
              <a:gd name="adj1" fmla="val -88215"/>
              <a:gd name="adj2" fmla="val 113648"/>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dirty="0"/>
              <a:t>Base stations</a:t>
            </a:r>
          </a:p>
        </p:txBody>
      </p:sp>
      <p:sp>
        <p:nvSpPr>
          <p:cNvPr id="24" name="Rectangle 2"/>
          <p:cNvSpPr>
            <a:spLocks noGrp="1" noChangeArrowheads="1"/>
          </p:cNvSpPr>
          <p:nvPr>
            <p:ph type="title"/>
          </p:nvPr>
        </p:nvSpPr>
        <p:spPr>
          <a:xfrm>
            <a:off x="1127449" y="99017"/>
            <a:ext cx="10585176" cy="575898"/>
          </a:xfrm>
        </p:spPr>
        <p:txBody>
          <a:bodyPr/>
          <a:lstStyle/>
          <a:p>
            <a:pPr>
              <a:defRPr/>
            </a:pPr>
            <a:r>
              <a:rPr lang="en-GB" altLang="en-US" sz="1800" dirty="0"/>
              <a:t>Multipath / Penetration Loss / Knife-edge Diffraction / Reflection</a:t>
            </a:r>
          </a:p>
        </p:txBody>
      </p:sp>
      <p:pic>
        <p:nvPicPr>
          <p:cNvPr id="2" name="Picture 1"/>
          <p:cNvPicPr>
            <a:picLocks noChangeAspect="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139135" y="3462169"/>
            <a:ext cx="2114550" cy="2680811"/>
          </a:xfrm>
          <a:prstGeom prst="rect">
            <a:avLst/>
          </a:prstGeom>
        </p:spPr>
      </p:pic>
      <p:sp>
        <p:nvSpPr>
          <p:cNvPr id="43" name="Rounded Rectangular Callout 42"/>
          <p:cNvSpPr/>
          <p:nvPr/>
        </p:nvSpPr>
        <p:spPr>
          <a:xfrm rot="19797421">
            <a:off x="3393859" y="4309859"/>
            <a:ext cx="1578909" cy="720556"/>
          </a:xfrm>
          <a:prstGeom prst="wedgeRoundRectCallout">
            <a:avLst>
              <a:gd name="adj1" fmla="val 68563"/>
              <a:gd name="adj2" fmla="val -55170"/>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dirty="0"/>
              <a:t>Penetration Loss</a:t>
            </a:r>
          </a:p>
        </p:txBody>
      </p:sp>
      <p:sp>
        <p:nvSpPr>
          <p:cNvPr id="17" name="Rectangle 16"/>
          <p:cNvSpPr/>
          <p:nvPr/>
        </p:nvSpPr>
        <p:spPr>
          <a:xfrm>
            <a:off x="7882643" y="826951"/>
            <a:ext cx="3829922" cy="2283702"/>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b="1" dirty="0">
                <a:solidFill>
                  <a:srgbClr val="FF0000"/>
                </a:solidFill>
                <a:effectLst>
                  <a:outerShdw blurRad="38100" dist="38100" dir="2700000" algn="tl">
                    <a:srgbClr val="000000">
                      <a:alpha val="43137"/>
                    </a:srgbClr>
                  </a:outerShdw>
                </a:effectLst>
              </a:rPr>
              <a:t>Multipath</a:t>
            </a:r>
          </a:p>
          <a:p>
            <a:pPr lvl="1">
              <a:lnSpc>
                <a:spcPct val="80000"/>
              </a:lnSpc>
              <a:defRPr/>
            </a:pPr>
            <a:r>
              <a:rPr lang="en-GB" altLang="en-US" sz="1600" dirty="0"/>
              <a:t>Multipath results when radio waves find several individual paths to take when propagating between transmitter and receiver. When the signals arrive, via different paths, at the receiver they can add and subtract in strength to cause fading of the received signal.</a:t>
            </a:r>
          </a:p>
        </p:txBody>
      </p:sp>
      <p:sp>
        <p:nvSpPr>
          <p:cNvPr id="32" name="Rectangle 31"/>
          <p:cNvSpPr/>
          <p:nvPr/>
        </p:nvSpPr>
        <p:spPr>
          <a:xfrm>
            <a:off x="7921003" y="818289"/>
            <a:ext cx="3829922" cy="2505301"/>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sz="2000" b="1" dirty="0">
                <a:solidFill>
                  <a:srgbClr val="FF0000"/>
                </a:solidFill>
              </a:rPr>
              <a:t>Penetration Loss</a:t>
            </a:r>
            <a:r>
              <a:rPr lang="en-GB" altLang="en-US" sz="2000" dirty="0"/>
              <a:t> </a:t>
            </a:r>
          </a:p>
          <a:p>
            <a:pPr lvl="1">
              <a:lnSpc>
                <a:spcPct val="80000"/>
              </a:lnSpc>
              <a:defRPr/>
            </a:pPr>
            <a:r>
              <a:rPr lang="en-GB" altLang="en-US" sz="1600" dirty="0"/>
              <a:t>Penetration Loss – This is the loss (attenuation) which a radio signal suffers as it passes through a material. For example, when a radio wave passes through walls in an office building. The loss is measured in dB and the attenuation factor (level of loss) will be depended upon the type of material which the wave passes through. </a:t>
            </a:r>
          </a:p>
        </p:txBody>
      </p:sp>
      <p:sp>
        <p:nvSpPr>
          <p:cNvPr id="33" name="Rectangle 32"/>
          <p:cNvSpPr/>
          <p:nvPr/>
        </p:nvSpPr>
        <p:spPr>
          <a:xfrm>
            <a:off x="7920019" y="826951"/>
            <a:ext cx="3829922" cy="2308324"/>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sz="2000" b="1" dirty="0">
                <a:solidFill>
                  <a:srgbClr val="FF0000"/>
                </a:solidFill>
              </a:rPr>
              <a:t>Knife-edge Diffraction</a:t>
            </a:r>
            <a:r>
              <a:rPr lang="en-GB" altLang="en-US" sz="2000" dirty="0">
                <a:solidFill>
                  <a:srgbClr val="FF0000"/>
                </a:solidFill>
              </a:rPr>
              <a:t> </a:t>
            </a:r>
          </a:p>
          <a:p>
            <a:pPr lvl="1">
              <a:lnSpc>
                <a:spcPct val="80000"/>
              </a:lnSpc>
              <a:defRPr/>
            </a:pPr>
            <a:r>
              <a:rPr lang="en-GB" altLang="en-US" sz="1600" dirty="0"/>
              <a:t>Knife-edge Diffraction – This is a phenomenon whereby radio waves travelling in a straight path bend around an obstacle. It explains why radio reception can be sometimes achieved behind a large building or mountain. The area not covered by diffraction is called the shadow zone.</a:t>
            </a:r>
          </a:p>
        </p:txBody>
      </p:sp>
      <p:sp>
        <p:nvSpPr>
          <p:cNvPr id="34" name="Rectangle 33"/>
          <p:cNvSpPr/>
          <p:nvPr/>
        </p:nvSpPr>
        <p:spPr>
          <a:xfrm>
            <a:off x="7956877" y="874117"/>
            <a:ext cx="3829922" cy="1717393"/>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80000"/>
              </a:lnSpc>
              <a:defRPr/>
            </a:pPr>
            <a:r>
              <a:rPr lang="en-GB" altLang="en-US" sz="2400" b="1" dirty="0">
                <a:solidFill>
                  <a:srgbClr val="FF0000"/>
                </a:solidFill>
              </a:rPr>
              <a:t>Reflection</a:t>
            </a:r>
            <a:r>
              <a:rPr lang="en-GB" altLang="en-US" sz="2400" dirty="0">
                <a:solidFill>
                  <a:srgbClr val="FF0000"/>
                </a:solidFill>
              </a:rPr>
              <a:t> </a:t>
            </a:r>
          </a:p>
          <a:p>
            <a:pPr lvl="1">
              <a:lnSpc>
                <a:spcPct val="80000"/>
              </a:lnSpc>
              <a:defRPr/>
            </a:pPr>
            <a:r>
              <a:rPr lang="en-GB" altLang="en-US" dirty="0"/>
              <a:t>Reflection – Just a light waves are reflected by a mirror, radio waves are reflected by any conductive medium such as metal or the earth’s surface.</a:t>
            </a:r>
          </a:p>
        </p:txBody>
      </p:sp>
      <p:sp>
        <p:nvSpPr>
          <p:cNvPr id="6" name="Slide Number Placeholder 5"/>
          <p:cNvSpPr>
            <a:spLocks noGrp="1"/>
          </p:cNvSpPr>
          <p:nvPr>
            <p:ph type="sldNum" sz="quarter" idx="12"/>
          </p:nvPr>
        </p:nvSpPr>
        <p:spPr bwMode="gray">
          <a:xfrm>
            <a:off x="269151" y="244526"/>
            <a:ext cx="650792"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345179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17"/>
                                        </p:tgtEl>
                                      </p:cBhvr>
                                    </p:animEffect>
                                    <p:anim calcmode="lin" valueType="num">
                                      <p:cBhvr>
                                        <p:cTn id="7" dur="1000"/>
                                        <p:tgtEl>
                                          <p:spTgt spid="17"/>
                                        </p:tgtEl>
                                        <p:attrNameLst>
                                          <p:attrName>ppt_x</p:attrName>
                                        </p:attrNameLst>
                                      </p:cBhvr>
                                      <p:tavLst>
                                        <p:tav tm="0">
                                          <p:val>
                                            <p:strVal val="ppt_x"/>
                                          </p:val>
                                        </p:tav>
                                        <p:tav tm="100000">
                                          <p:val>
                                            <p:strVal val="ppt_x"/>
                                          </p:val>
                                        </p:tav>
                                      </p:tavLst>
                                    </p:anim>
                                    <p:anim calcmode="lin" valueType="num">
                                      <p:cBhvr>
                                        <p:cTn id="8" dur="1000"/>
                                        <p:tgtEl>
                                          <p:spTgt spid="17"/>
                                        </p:tgtEl>
                                        <p:attrNameLst>
                                          <p:attrName>ppt_y</p:attrName>
                                        </p:attrNameLst>
                                      </p:cBhvr>
                                      <p:tavLst>
                                        <p:tav tm="0">
                                          <p:val>
                                            <p:strVal val="ppt_y"/>
                                          </p:val>
                                        </p:tav>
                                        <p:tav tm="100000">
                                          <p:val>
                                            <p:strVal val="ppt_y+.1"/>
                                          </p:val>
                                        </p:tav>
                                      </p:tavLst>
                                    </p:anim>
                                    <p:set>
                                      <p:cBhvr>
                                        <p:cTn id="9" dur="1" fill="hold">
                                          <p:stCondLst>
                                            <p:cond delay="999"/>
                                          </p:stCondLst>
                                        </p:cTn>
                                        <p:tgtEl>
                                          <p:spTgt spid="17"/>
                                        </p:tgtEl>
                                        <p:attrNameLst>
                                          <p:attrName>style.visibility</p:attrName>
                                        </p:attrNameLst>
                                      </p:cBhvr>
                                      <p:to>
                                        <p:strVal val="hidden"/>
                                      </p:to>
                                    </p:set>
                                  </p:childTnLst>
                                </p:cTn>
                              </p:par>
                              <p:par>
                                <p:cTn id="10" presetID="31"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1000" fill="hold"/>
                                        <p:tgtEl>
                                          <p:spTgt spid="32"/>
                                        </p:tgtEl>
                                        <p:attrNameLst>
                                          <p:attrName>ppt_w</p:attrName>
                                        </p:attrNameLst>
                                      </p:cBhvr>
                                      <p:tavLst>
                                        <p:tav tm="0">
                                          <p:val>
                                            <p:fltVal val="0"/>
                                          </p:val>
                                        </p:tav>
                                        <p:tav tm="100000">
                                          <p:val>
                                            <p:strVal val="#ppt_w"/>
                                          </p:val>
                                        </p:tav>
                                      </p:tavLst>
                                    </p:anim>
                                    <p:anim calcmode="lin" valueType="num">
                                      <p:cBhvr>
                                        <p:cTn id="13" dur="1000" fill="hold"/>
                                        <p:tgtEl>
                                          <p:spTgt spid="32"/>
                                        </p:tgtEl>
                                        <p:attrNameLst>
                                          <p:attrName>ppt_h</p:attrName>
                                        </p:attrNameLst>
                                      </p:cBhvr>
                                      <p:tavLst>
                                        <p:tav tm="0">
                                          <p:val>
                                            <p:fltVal val="0"/>
                                          </p:val>
                                        </p:tav>
                                        <p:tav tm="100000">
                                          <p:val>
                                            <p:strVal val="#ppt_h"/>
                                          </p:val>
                                        </p:tav>
                                      </p:tavLst>
                                    </p:anim>
                                    <p:anim calcmode="lin" valueType="num">
                                      <p:cBhvr>
                                        <p:cTn id="14" dur="1000" fill="hold"/>
                                        <p:tgtEl>
                                          <p:spTgt spid="32"/>
                                        </p:tgtEl>
                                        <p:attrNameLst>
                                          <p:attrName>style.rotation</p:attrName>
                                        </p:attrNameLst>
                                      </p:cBhvr>
                                      <p:tavLst>
                                        <p:tav tm="0">
                                          <p:val>
                                            <p:fltVal val="90"/>
                                          </p:val>
                                        </p:tav>
                                        <p:tav tm="100000">
                                          <p:val>
                                            <p:fltVal val="0"/>
                                          </p:val>
                                        </p:tav>
                                      </p:tavLst>
                                    </p:anim>
                                    <p:animEffect transition="in" filter="fade">
                                      <p:cBhvr>
                                        <p:cTn id="15" dur="10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xit" presetSubtype="0" fill="hold" grpId="1" nodeType="clickEffect">
                                  <p:stCondLst>
                                    <p:cond delay="0"/>
                                  </p:stCondLst>
                                  <p:childTnLst>
                                    <p:animEffect transition="out" filter="fade">
                                      <p:cBhvr>
                                        <p:cTn id="19" dur="1000"/>
                                        <p:tgtEl>
                                          <p:spTgt spid="32"/>
                                        </p:tgtEl>
                                      </p:cBhvr>
                                    </p:animEffect>
                                    <p:anim calcmode="lin" valueType="num">
                                      <p:cBhvr>
                                        <p:cTn id="20" dur="1000"/>
                                        <p:tgtEl>
                                          <p:spTgt spid="32"/>
                                        </p:tgtEl>
                                        <p:attrNameLst>
                                          <p:attrName>ppt_x</p:attrName>
                                        </p:attrNameLst>
                                      </p:cBhvr>
                                      <p:tavLst>
                                        <p:tav tm="0">
                                          <p:val>
                                            <p:strVal val="ppt_x"/>
                                          </p:val>
                                        </p:tav>
                                        <p:tav tm="100000">
                                          <p:val>
                                            <p:strVal val="ppt_x"/>
                                          </p:val>
                                        </p:tav>
                                      </p:tavLst>
                                    </p:anim>
                                    <p:anim calcmode="lin" valueType="num">
                                      <p:cBhvr>
                                        <p:cTn id="21" dur="1000"/>
                                        <p:tgtEl>
                                          <p:spTgt spid="32"/>
                                        </p:tgtEl>
                                        <p:attrNameLst>
                                          <p:attrName>ppt_y</p:attrName>
                                        </p:attrNameLst>
                                      </p:cBhvr>
                                      <p:tavLst>
                                        <p:tav tm="0">
                                          <p:val>
                                            <p:strVal val="ppt_y"/>
                                          </p:val>
                                        </p:tav>
                                        <p:tav tm="100000">
                                          <p:val>
                                            <p:strVal val="ppt_y+.1"/>
                                          </p:val>
                                        </p:tav>
                                      </p:tavLst>
                                    </p:anim>
                                    <p:set>
                                      <p:cBhvr>
                                        <p:cTn id="22" dur="1" fill="hold">
                                          <p:stCondLst>
                                            <p:cond delay="999"/>
                                          </p:stCondLst>
                                        </p:cTn>
                                        <p:tgtEl>
                                          <p:spTgt spid="32"/>
                                        </p:tgtEl>
                                        <p:attrNameLst>
                                          <p:attrName>style.visibility</p:attrName>
                                        </p:attrNameLst>
                                      </p:cBhvr>
                                      <p:to>
                                        <p:strVal val="hidden"/>
                                      </p:to>
                                    </p:set>
                                  </p:childTnLst>
                                </p:cTn>
                              </p:par>
                              <p:par>
                                <p:cTn id="23" presetID="3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p:cTn id="25" dur="1000" fill="hold"/>
                                        <p:tgtEl>
                                          <p:spTgt spid="33"/>
                                        </p:tgtEl>
                                        <p:attrNameLst>
                                          <p:attrName>ppt_w</p:attrName>
                                        </p:attrNameLst>
                                      </p:cBhvr>
                                      <p:tavLst>
                                        <p:tav tm="0">
                                          <p:val>
                                            <p:fltVal val="0"/>
                                          </p:val>
                                        </p:tav>
                                        <p:tav tm="100000">
                                          <p:val>
                                            <p:strVal val="#ppt_w"/>
                                          </p:val>
                                        </p:tav>
                                      </p:tavLst>
                                    </p:anim>
                                    <p:anim calcmode="lin" valueType="num">
                                      <p:cBhvr>
                                        <p:cTn id="26" dur="1000" fill="hold"/>
                                        <p:tgtEl>
                                          <p:spTgt spid="33"/>
                                        </p:tgtEl>
                                        <p:attrNameLst>
                                          <p:attrName>ppt_h</p:attrName>
                                        </p:attrNameLst>
                                      </p:cBhvr>
                                      <p:tavLst>
                                        <p:tav tm="0">
                                          <p:val>
                                            <p:fltVal val="0"/>
                                          </p:val>
                                        </p:tav>
                                        <p:tav tm="100000">
                                          <p:val>
                                            <p:strVal val="#ppt_h"/>
                                          </p:val>
                                        </p:tav>
                                      </p:tavLst>
                                    </p:anim>
                                    <p:anim calcmode="lin" valueType="num">
                                      <p:cBhvr>
                                        <p:cTn id="27" dur="1000" fill="hold"/>
                                        <p:tgtEl>
                                          <p:spTgt spid="33"/>
                                        </p:tgtEl>
                                        <p:attrNameLst>
                                          <p:attrName>style.rotation</p:attrName>
                                        </p:attrNameLst>
                                      </p:cBhvr>
                                      <p:tavLst>
                                        <p:tav tm="0">
                                          <p:val>
                                            <p:fltVal val="90"/>
                                          </p:val>
                                        </p:tav>
                                        <p:tav tm="100000">
                                          <p:val>
                                            <p:fltVal val="0"/>
                                          </p:val>
                                        </p:tav>
                                      </p:tavLst>
                                    </p:anim>
                                    <p:animEffect transition="in" filter="fade">
                                      <p:cBhvr>
                                        <p:cTn id="28" dur="10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xit" presetSubtype="0" fill="hold" grpId="1" nodeType="clickEffect">
                                  <p:stCondLst>
                                    <p:cond delay="0"/>
                                  </p:stCondLst>
                                  <p:childTnLst>
                                    <p:anim calcmode="lin" valueType="num">
                                      <p:cBhvr>
                                        <p:cTn id="32" dur="1000"/>
                                        <p:tgtEl>
                                          <p:spTgt spid="33"/>
                                        </p:tgtEl>
                                        <p:attrNameLst>
                                          <p:attrName>ppt_w</p:attrName>
                                        </p:attrNameLst>
                                      </p:cBhvr>
                                      <p:tavLst>
                                        <p:tav tm="0">
                                          <p:val>
                                            <p:strVal val="ppt_w"/>
                                          </p:val>
                                        </p:tav>
                                        <p:tav tm="100000">
                                          <p:val>
                                            <p:fltVal val="0"/>
                                          </p:val>
                                        </p:tav>
                                      </p:tavLst>
                                    </p:anim>
                                    <p:anim calcmode="lin" valueType="num">
                                      <p:cBhvr>
                                        <p:cTn id="33" dur="1000"/>
                                        <p:tgtEl>
                                          <p:spTgt spid="33"/>
                                        </p:tgtEl>
                                        <p:attrNameLst>
                                          <p:attrName>ppt_h</p:attrName>
                                        </p:attrNameLst>
                                      </p:cBhvr>
                                      <p:tavLst>
                                        <p:tav tm="0">
                                          <p:val>
                                            <p:strVal val="ppt_h"/>
                                          </p:val>
                                        </p:tav>
                                        <p:tav tm="100000">
                                          <p:val>
                                            <p:fltVal val="0"/>
                                          </p:val>
                                        </p:tav>
                                      </p:tavLst>
                                    </p:anim>
                                    <p:anim calcmode="lin" valueType="num">
                                      <p:cBhvr>
                                        <p:cTn id="34" dur="1000"/>
                                        <p:tgtEl>
                                          <p:spTgt spid="33"/>
                                        </p:tgtEl>
                                        <p:attrNameLst>
                                          <p:attrName>style.rotation</p:attrName>
                                        </p:attrNameLst>
                                      </p:cBhvr>
                                      <p:tavLst>
                                        <p:tav tm="0">
                                          <p:val>
                                            <p:fltVal val="0"/>
                                          </p:val>
                                        </p:tav>
                                        <p:tav tm="100000">
                                          <p:val>
                                            <p:fltVal val="90"/>
                                          </p:val>
                                        </p:tav>
                                      </p:tavLst>
                                    </p:anim>
                                    <p:animEffect transition="out" filter="fade">
                                      <p:cBhvr>
                                        <p:cTn id="35" dur="1000"/>
                                        <p:tgtEl>
                                          <p:spTgt spid="33"/>
                                        </p:tgtEl>
                                      </p:cBhvr>
                                    </p:animEffect>
                                    <p:set>
                                      <p:cBhvr>
                                        <p:cTn id="36" dur="1" fill="hold">
                                          <p:stCondLst>
                                            <p:cond delay="999"/>
                                          </p:stCondLst>
                                        </p:cTn>
                                        <p:tgtEl>
                                          <p:spTgt spid="33"/>
                                        </p:tgtEl>
                                        <p:attrNameLst>
                                          <p:attrName>style.visibility</p:attrName>
                                        </p:attrNameLst>
                                      </p:cBhvr>
                                      <p:to>
                                        <p:strVal val="hidden"/>
                                      </p:to>
                                    </p:set>
                                  </p:childTnLst>
                                </p:cTn>
                              </p:par>
                              <p:par>
                                <p:cTn id="37" presetID="3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p:cTn id="39" dur="1000" fill="hold"/>
                                        <p:tgtEl>
                                          <p:spTgt spid="34"/>
                                        </p:tgtEl>
                                        <p:attrNameLst>
                                          <p:attrName>ppt_w</p:attrName>
                                        </p:attrNameLst>
                                      </p:cBhvr>
                                      <p:tavLst>
                                        <p:tav tm="0">
                                          <p:val>
                                            <p:fltVal val="0"/>
                                          </p:val>
                                        </p:tav>
                                        <p:tav tm="100000">
                                          <p:val>
                                            <p:strVal val="#ppt_w"/>
                                          </p:val>
                                        </p:tav>
                                      </p:tavLst>
                                    </p:anim>
                                    <p:anim calcmode="lin" valueType="num">
                                      <p:cBhvr>
                                        <p:cTn id="40" dur="1000" fill="hold"/>
                                        <p:tgtEl>
                                          <p:spTgt spid="34"/>
                                        </p:tgtEl>
                                        <p:attrNameLst>
                                          <p:attrName>ppt_h</p:attrName>
                                        </p:attrNameLst>
                                      </p:cBhvr>
                                      <p:tavLst>
                                        <p:tav tm="0">
                                          <p:val>
                                            <p:fltVal val="0"/>
                                          </p:val>
                                        </p:tav>
                                        <p:tav tm="100000">
                                          <p:val>
                                            <p:strVal val="#ppt_h"/>
                                          </p:val>
                                        </p:tav>
                                      </p:tavLst>
                                    </p:anim>
                                    <p:anim calcmode="lin" valueType="num">
                                      <p:cBhvr>
                                        <p:cTn id="41" dur="1000" fill="hold"/>
                                        <p:tgtEl>
                                          <p:spTgt spid="34"/>
                                        </p:tgtEl>
                                        <p:attrNameLst>
                                          <p:attrName>style.rotation</p:attrName>
                                        </p:attrNameLst>
                                      </p:cBhvr>
                                      <p:tavLst>
                                        <p:tav tm="0">
                                          <p:val>
                                            <p:fltVal val="90"/>
                                          </p:val>
                                        </p:tav>
                                        <p:tav tm="100000">
                                          <p:val>
                                            <p:fltVal val="0"/>
                                          </p:val>
                                        </p:tav>
                                      </p:tavLst>
                                    </p:anim>
                                    <p:animEffect transition="in" filter="fade">
                                      <p:cBhvr>
                                        <p:cTn id="42"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2" grpId="0" animBg="1"/>
      <p:bldP spid="32" grpId="1" animBg="1"/>
      <p:bldP spid="33" grpId="0" animBg="1"/>
      <p:bldP spid="33" grpId="1" animBg="1"/>
      <p:bldP spid="3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894707" y="36869"/>
            <a:ext cx="10515600" cy="894622"/>
          </a:xfrm>
        </p:spPr>
        <p:txBody>
          <a:bodyPr/>
          <a:lstStyle/>
          <a:p>
            <a:pPr>
              <a:defRPr/>
            </a:pPr>
            <a:r>
              <a:rPr lang="en-GB" altLang="en-US" dirty="0"/>
              <a:t>Multipath</a:t>
            </a:r>
            <a:endParaRPr lang="en-GB" altLang="en-US" dirty="0">
              <a:solidFill>
                <a:srgbClr val="FFC000"/>
              </a:solidFill>
            </a:endParaRPr>
          </a:p>
        </p:txBody>
      </p:sp>
      <p:sp>
        <p:nvSpPr>
          <p:cNvPr id="23557" name="Rectangle 3"/>
          <p:cNvSpPr>
            <a:spLocks noGrp="1" noChangeArrowheads="1"/>
          </p:cNvSpPr>
          <p:nvPr>
            <p:ph idx="1"/>
          </p:nvPr>
        </p:nvSpPr>
        <p:spPr>
          <a:xfrm>
            <a:off x="838200" y="817308"/>
            <a:ext cx="10515600" cy="4351338"/>
          </a:xfrm>
        </p:spPr>
        <p:txBody>
          <a:bodyPr>
            <a:noAutofit/>
          </a:bodyPr>
          <a:lstStyle/>
          <a:p>
            <a:pPr>
              <a:lnSpc>
                <a:spcPct val="80000"/>
              </a:lnSpc>
              <a:defRPr/>
            </a:pPr>
            <a:r>
              <a:rPr lang="en-GB" altLang="en-US" sz="2400" dirty="0"/>
              <a:t>Multipath </a:t>
            </a:r>
          </a:p>
          <a:p>
            <a:pPr lvl="1">
              <a:lnSpc>
                <a:spcPct val="80000"/>
              </a:lnSpc>
              <a:defRPr/>
            </a:pPr>
            <a:r>
              <a:rPr lang="en-GB" altLang="en-US" sz="2000" dirty="0"/>
              <a:t>Multipath results when radio waves find several individual paths to take when propagating between transmitter and receiver. When the signals arrive, via different paths, at the receiver they can add and subtract in strength to cause fading of the received signal.</a:t>
            </a:r>
          </a:p>
          <a:p>
            <a:pPr>
              <a:lnSpc>
                <a:spcPct val="80000"/>
              </a:lnSpc>
              <a:defRPr/>
            </a:pPr>
            <a:r>
              <a:rPr lang="en-GB" altLang="en-US" sz="2400" dirty="0"/>
              <a:t>Penetration Loss </a:t>
            </a:r>
          </a:p>
          <a:p>
            <a:pPr lvl="1">
              <a:lnSpc>
                <a:spcPct val="80000"/>
              </a:lnSpc>
              <a:defRPr/>
            </a:pPr>
            <a:r>
              <a:rPr lang="en-GB" altLang="en-US" sz="2000" dirty="0"/>
              <a:t>Penetration Loss – This is the loss (attenuation) which a radio signal suffers as it passes through a material. For example, when a radio wave passes through walls in an office building. The loss is measured in dB and the attenuation factor (level of loss) will be depended upon the type of material which the wave passes through. </a:t>
            </a:r>
          </a:p>
          <a:p>
            <a:pPr>
              <a:lnSpc>
                <a:spcPct val="80000"/>
              </a:lnSpc>
              <a:defRPr/>
            </a:pPr>
            <a:r>
              <a:rPr lang="en-GB" altLang="en-US" sz="2400" dirty="0"/>
              <a:t>Knife-edge Diffraction </a:t>
            </a:r>
          </a:p>
          <a:p>
            <a:pPr lvl="1">
              <a:lnSpc>
                <a:spcPct val="80000"/>
              </a:lnSpc>
              <a:defRPr/>
            </a:pPr>
            <a:r>
              <a:rPr lang="en-GB" altLang="en-US" sz="2000" dirty="0"/>
              <a:t>Knife-edge Diffraction – This is a phenomenon whereby radio waves travelling in a straight path bend around an obstacle. It explains why radio reception can be sometimes achieved behind a large building or mountain. The area not covered by diffraction is called the shadow zone.</a:t>
            </a:r>
          </a:p>
          <a:p>
            <a:pPr>
              <a:lnSpc>
                <a:spcPct val="80000"/>
              </a:lnSpc>
              <a:defRPr/>
            </a:pPr>
            <a:r>
              <a:rPr lang="en-GB" altLang="en-US" dirty="0"/>
              <a:t>Reflection </a:t>
            </a:r>
          </a:p>
          <a:p>
            <a:pPr lvl="1">
              <a:lnSpc>
                <a:spcPct val="80000"/>
              </a:lnSpc>
              <a:defRPr/>
            </a:pPr>
            <a:r>
              <a:rPr lang="en-GB" altLang="en-US" sz="2000" dirty="0"/>
              <a:t>Reflection – Just a light waves are reflected by a mirror, radio waves are reflected by any conductive medium such as metal or the earth’s surface.</a:t>
            </a:r>
          </a:p>
        </p:txBody>
      </p:sp>
      <p:sp>
        <p:nvSpPr>
          <p:cNvPr id="3" name="Slide Number Placeholder 2"/>
          <p:cNvSpPr>
            <a:spLocks noGrp="1"/>
          </p:cNvSpPr>
          <p:nvPr>
            <p:ph type="sldNum" sz="quarter" idx="12"/>
          </p:nvPr>
        </p:nvSpPr>
        <p:spPr bwMode="gray">
          <a:xfrm>
            <a:off x="269151" y="244526"/>
            <a:ext cx="650792"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3653872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C9770F09-EBB8-174E-A6FB-4752E1D92580}"/>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Links: physical media</a:t>
            </a:r>
            <a:endParaRPr lang="en-US" dirty="0"/>
          </a:p>
        </p:txBody>
      </p:sp>
      <p:sp>
        <p:nvSpPr>
          <p:cNvPr id="42" name="Rectangle 3">
            <a:extLst>
              <a:ext uri="{FF2B5EF4-FFF2-40B4-BE49-F238E27FC236}">
                <a16:creationId xmlns:a16="http://schemas.microsoft.com/office/drawing/2014/main" id="{B41BDD21-3AA2-5A47-848F-E5981CBA9334}"/>
              </a:ext>
            </a:extLst>
          </p:cNvPr>
          <p:cNvSpPr txBox="1">
            <a:spLocks noChangeArrowheads="1"/>
          </p:cNvSpPr>
          <p:nvPr/>
        </p:nvSpPr>
        <p:spPr>
          <a:xfrm>
            <a:off x="952500" y="1671911"/>
            <a:ext cx="4639003" cy="4648200"/>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indent="-287338"/>
            <a:r>
              <a:rPr lang="en-US" altLang="en-US" dirty="0">
                <a:solidFill>
                  <a:srgbClr val="CC0000"/>
                </a:solidFill>
                <a:ea typeface="ＭＳ Ｐゴシック" panose="020B0600070205080204" pitchFamily="34" charset="-128"/>
              </a:rPr>
              <a:t>bit:</a:t>
            </a:r>
            <a:r>
              <a:rPr lang="en-US" altLang="en-US" dirty="0">
                <a:solidFill>
                  <a:srgbClr val="FF0000"/>
                </a:solidFill>
                <a:ea typeface="ＭＳ Ｐゴシック" panose="020B0600070205080204" pitchFamily="34" charset="-128"/>
              </a:rPr>
              <a:t> </a:t>
            </a:r>
            <a:r>
              <a:rPr lang="en-US" altLang="en-US" dirty="0">
                <a:ea typeface="ＭＳ Ｐゴシック" panose="020B0600070205080204" pitchFamily="34" charset="-128"/>
              </a:rPr>
              <a:t>propagates between</a:t>
            </a:r>
            <a:br>
              <a:rPr lang="en-US" altLang="en-US" dirty="0">
                <a:ea typeface="ＭＳ Ｐゴシック" panose="020B0600070205080204" pitchFamily="34" charset="-128"/>
              </a:rPr>
            </a:br>
            <a:r>
              <a:rPr lang="en-US" altLang="en-US" dirty="0">
                <a:ea typeface="ＭＳ Ｐゴシック" panose="020B0600070205080204" pitchFamily="34" charset="-128"/>
              </a:rPr>
              <a:t>transmitter/receiver pairs</a:t>
            </a:r>
            <a:endParaRPr lang="en-US" altLang="en-US" dirty="0">
              <a:solidFill>
                <a:srgbClr val="FF0000"/>
              </a:solidFill>
              <a:ea typeface="ＭＳ Ｐゴシック" panose="020B0600070205080204" pitchFamily="34" charset="-128"/>
            </a:endParaRPr>
          </a:p>
          <a:p>
            <a:pPr marL="287338" indent="-287338"/>
            <a:r>
              <a:rPr lang="en-US" altLang="en-US" dirty="0">
                <a:solidFill>
                  <a:srgbClr val="CC0000"/>
                </a:solidFill>
                <a:ea typeface="ＭＳ Ｐゴシック" panose="020B0600070205080204" pitchFamily="34" charset="-128"/>
              </a:rPr>
              <a:t>physical link:</a:t>
            </a:r>
            <a:r>
              <a:rPr lang="en-US" altLang="en-US" dirty="0">
                <a:ea typeface="ＭＳ Ｐゴシック" panose="020B0600070205080204" pitchFamily="34" charset="-128"/>
              </a:rPr>
              <a:t> what lies between transmitter &amp; receiver</a:t>
            </a:r>
          </a:p>
          <a:p>
            <a:pPr marL="287338" indent="-287338"/>
            <a:r>
              <a:rPr lang="en-US" altLang="en-US" dirty="0">
                <a:solidFill>
                  <a:srgbClr val="CC0000"/>
                </a:solidFill>
                <a:ea typeface="ＭＳ Ｐゴシック" panose="020B0600070205080204" pitchFamily="34" charset="-128"/>
              </a:rPr>
              <a:t>guided media: </a:t>
            </a:r>
          </a:p>
          <a:p>
            <a:pPr marL="682625" lvl="1" indent="-225425"/>
            <a:r>
              <a:rPr lang="en-US" altLang="en-US" sz="2800" dirty="0">
                <a:ea typeface="Arial" panose="020B0604020202020204" pitchFamily="34" charset="0"/>
              </a:rPr>
              <a:t>signals propagate in solid media: copper, fiber, coax</a:t>
            </a:r>
          </a:p>
          <a:p>
            <a:pPr marL="287338" indent="-287338"/>
            <a:r>
              <a:rPr lang="en-US" altLang="en-US" dirty="0">
                <a:solidFill>
                  <a:srgbClr val="CC0000"/>
                </a:solidFill>
                <a:ea typeface="ＭＳ Ｐゴシック" panose="020B0600070205080204" pitchFamily="34" charset="-128"/>
              </a:rPr>
              <a:t>unguided media:</a:t>
            </a:r>
            <a:r>
              <a:rPr lang="en-US" altLang="en-US" dirty="0">
                <a:ea typeface="ＭＳ Ｐゴシック" panose="020B0600070205080204" pitchFamily="34" charset="-128"/>
              </a:rPr>
              <a:t> </a:t>
            </a:r>
          </a:p>
          <a:p>
            <a:pPr marL="682625" lvl="1" indent="-225425"/>
            <a:r>
              <a:rPr lang="en-US" altLang="en-US" sz="2800" dirty="0">
                <a:ea typeface="Arial" panose="020B0604020202020204" pitchFamily="34" charset="0"/>
              </a:rPr>
              <a:t>signals propagate freely, e.g., radio</a:t>
            </a:r>
          </a:p>
        </p:txBody>
      </p:sp>
      <p:grpSp>
        <p:nvGrpSpPr>
          <p:cNvPr id="2" name="Group 1">
            <a:extLst>
              <a:ext uri="{FF2B5EF4-FFF2-40B4-BE49-F238E27FC236}">
                <a16:creationId xmlns:a16="http://schemas.microsoft.com/office/drawing/2014/main" id="{D9986260-6BBE-5549-A319-09906DD70AAA}"/>
              </a:ext>
            </a:extLst>
          </p:cNvPr>
          <p:cNvGrpSpPr/>
          <p:nvPr/>
        </p:nvGrpSpPr>
        <p:grpSpPr>
          <a:xfrm>
            <a:off x="6333223" y="1671911"/>
            <a:ext cx="5123052" cy="3611287"/>
            <a:chOff x="6333223" y="1671911"/>
            <a:chExt cx="5123052" cy="3611287"/>
          </a:xfrm>
        </p:grpSpPr>
        <p:sp>
          <p:nvSpPr>
            <p:cNvPr id="43" name="Rectangle 4">
              <a:extLst>
                <a:ext uri="{FF2B5EF4-FFF2-40B4-BE49-F238E27FC236}">
                  <a16:creationId xmlns:a16="http://schemas.microsoft.com/office/drawing/2014/main" id="{9573907E-68CA-1046-A0DB-1869CFA38414}"/>
                </a:ext>
              </a:extLst>
            </p:cNvPr>
            <p:cNvSpPr txBox="1">
              <a:spLocks noChangeArrowheads="1"/>
            </p:cNvSpPr>
            <p:nvPr/>
          </p:nvSpPr>
          <p:spPr>
            <a:xfrm>
              <a:off x="6411036" y="1671911"/>
              <a:ext cx="5045239" cy="33464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42900">
                <a:buFont typeface="Wingdings" charset="0"/>
                <a:buNone/>
                <a:defRPr/>
              </a:pPr>
              <a:r>
                <a:rPr lang="en-US" sz="3200" dirty="0">
                  <a:solidFill>
                    <a:srgbClr val="CC0000"/>
                  </a:solidFill>
                </a:rPr>
                <a:t>Twisted pair (TP</a:t>
              </a:r>
              <a:r>
                <a:rPr lang="en-US" sz="3200" dirty="0">
                  <a:solidFill>
                    <a:srgbClr val="FF0000"/>
                  </a:solidFill>
                </a:rPr>
                <a:t>)</a:t>
              </a:r>
              <a:endParaRPr lang="en-US" sz="3200" dirty="0"/>
            </a:p>
            <a:p>
              <a:pPr marL="228600" indent="-228600">
                <a:buFont typeface="Wingdings" charset="2"/>
                <a:buChar char="§"/>
                <a:defRPr/>
              </a:pPr>
              <a:r>
                <a:rPr lang="en-US" sz="2400" dirty="0"/>
                <a:t>two insulated copper wires</a:t>
              </a:r>
            </a:p>
            <a:p>
              <a:pPr marL="682625" lvl="1">
                <a:buSzPct val="100000"/>
                <a:buFont typeface="Arial"/>
                <a:buChar char="•"/>
                <a:defRPr/>
              </a:pPr>
              <a:r>
                <a:rPr lang="en-US" sz="2000" dirty="0"/>
                <a:t>Category 5: 100 Mbps, 1 Gbps Ethernet</a:t>
              </a:r>
            </a:p>
            <a:p>
              <a:pPr marL="682625" lvl="1">
                <a:buSzPct val="100000"/>
                <a:buFont typeface="Arial"/>
                <a:buChar char="•"/>
                <a:defRPr/>
              </a:pPr>
              <a:r>
                <a:rPr lang="en-US" sz="2000" dirty="0"/>
                <a:t>Category 6: 10Gbps Ethernet</a:t>
              </a:r>
            </a:p>
          </p:txBody>
        </p:sp>
        <p:pic>
          <p:nvPicPr>
            <p:cNvPr id="11266" name="Picture 2" descr="Twisted_Pair_Cables">
              <a:extLst>
                <a:ext uri="{FF2B5EF4-FFF2-40B4-BE49-F238E27FC236}">
                  <a16:creationId xmlns:a16="http://schemas.microsoft.com/office/drawing/2014/main" id="{D6B65C46-A39A-504A-B7AF-C7226316E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3223" y="3476662"/>
              <a:ext cx="2220035" cy="1709427"/>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 result for twisted pair">
              <a:extLst>
                <a:ext uri="{FF2B5EF4-FFF2-40B4-BE49-F238E27FC236}">
                  <a16:creationId xmlns:a16="http://schemas.microsoft.com/office/drawing/2014/main" id="{BD4509EA-366C-1C41-A7BB-9925F1143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5176" y="3594371"/>
              <a:ext cx="2359134" cy="168882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0808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C9770F09-EBB8-174E-A6FB-4752E1D92580}"/>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Links: physical media</a:t>
            </a:r>
            <a:endParaRPr lang="en-US" dirty="0"/>
          </a:p>
        </p:txBody>
      </p:sp>
      <p:sp>
        <p:nvSpPr>
          <p:cNvPr id="9" name="Rectangle 3">
            <a:extLst>
              <a:ext uri="{FF2B5EF4-FFF2-40B4-BE49-F238E27FC236}">
                <a16:creationId xmlns:a16="http://schemas.microsoft.com/office/drawing/2014/main" id="{BECEA851-800B-1A42-B1E6-3BCEBBFF06DD}"/>
              </a:ext>
            </a:extLst>
          </p:cNvPr>
          <p:cNvSpPr txBox="1">
            <a:spLocks noChangeArrowheads="1"/>
          </p:cNvSpPr>
          <p:nvPr/>
        </p:nvSpPr>
        <p:spPr>
          <a:xfrm>
            <a:off x="982262" y="1320920"/>
            <a:ext cx="4878973" cy="43275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19075">
              <a:buFont typeface="Wingdings" charset="0"/>
              <a:buNone/>
              <a:defRPr/>
            </a:pPr>
            <a:r>
              <a:rPr lang="en-US" sz="3200" dirty="0">
                <a:solidFill>
                  <a:srgbClr val="CC0000"/>
                </a:solidFill>
              </a:rPr>
              <a:t>Coaxial cable:</a:t>
            </a:r>
          </a:p>
          <a:p>
            <a:pPr marL="228600" indent="-228600">
              <a:buFont typeface="Wingdings" charset="2"/>
              <a:buChar char="§"/>
              <a:defRPr/>
            </a:pPr>
            <a:r>
              <a:rPr lang="en-US" sz="2400" dirty="0"/>
              <a:t>two concentric copper conductors</a:t>
            </a:r>
          </a:p>
          <a:p>
            <a:pPr marL="228600" indent="-228600">
              <a:buFont typeface="Wingdings" charset="2"/>
              <a:buChar char="§"/>
              <a:defRPr/>
            </a:pPr>
            <a:r>
              <a:rPr lang="en-US" sz="2400" dirty="0"/>
              <a:t>bidirectional</a:t>
            </a:r>
          </a:p>
          <a:p>
            <a:pPr marL="228600" indent="-228600">
              <a:buFont typeface="Wingdings" charset="2"/>
              <a:buChar char="§"/>
              <a:defRPr/>
            </a:pPr>
            <a:r>
              <a:rPr lang="en-US" sz="2400" dirty="0"/>
              <a:t>broadband:</a:t>
            </a:r>
          </a:p>
          <a:p>
            <a:pPr marL="682625" lvl="1" indent="-225425">
              <a:buFont typeface="Arial"/>
              <a:buChar char="•"/>
              <a:defRPr/>
            </a:pPr>
            <a:r>
              <a:rPr lang="en-US" sz="2000" dirty="0"/>
              <a:t>multiple frequency channels on cable</a:t>
            </a:r>
          </a:p>
          <a:p>
            <a:pPr marL="682625" lvl="1" indent="-225425">
              <a:buFont typeface="Arial"/>
              <a:buChar char="•"/>
              <a:defRPr/>
            </a:pPr>
            <a:r>
              <a:rPr lang="en-US" sz="2000" dirty="0"/>
              <a:t>100’s Mbps per channel</a:t>
            </a:r>
          </a:p>
        </p:txBody>
      </p:sp>
      <p:pic>
        <p:nvPicPr>
          <p:cNvPr id="3" name="Picture 2">
            <a:extLst>
              <a:ext uri="{FF2B5EF4-FFF2-40B4-BE49-F238E27FC236}">
                <a16:creationId xmlns:a16="http://schemas.microsoft.com/office/drawing/2014/main" id="{8D4259C2-0AA0-BE4D-A5F7-362CC0D6A7D0}"/>
              </a:ext>
            </a:extLst>
          </p:cNvPr>
          <p:cNvPicPr>
            <a:picLocks noChangeAspect="1"/>
          </p:cNvPicPr>
          <p:nvPr/>
        </p:nvPicPr>
        <p:blipFill>
          <a:blip r:embed="rId3"/>
          <a:stretch>
            <a:fillRect/>
          </a:stretch>
        </p:blipFill>
        <p:spPr>
          <a:xfrm rot="2692153">
            <a:off x="1742089" y="3834600"/>
            <a:ext cx="1854420" cy="1854420"/>
          </a:xfrm>
          <a:prstGeom prst="rect">
            <a:avLst/>
          </a:prstGeom>
        </p:spPr>
      </p:pic>
      <p:grpSp>
        <p:nvGrpSpPr>
          <p:cNvPr id="2" name="Group 1">
            <a:extLst>
              <a:ext uri="{FF2B5EF4-FFF2-40B4-BE49-F238E27FC236}">
                <a16:creationId xmlns:a16="http://schemas.microsoft.com/office/drawing/2014/main" id="{BF6FF9DA-97F1-3A4B-8FA4-5FF000565416}"/>
              </a:ext>
            </a:extLst>
          </p:cNvPr>
          <p:cNvGrpSpPr/>
          <p:nvPr/>
        </p:nvGrpSpPr>
        <p:grpSpPr>
          <a:xfrm>
            <a:off x="6360527" y="1276574"/>
            <a:ext cx="5602289" cy="5319638"/>
            <a:chOff x="6360527" y="1276574"/>
            <a:chExt cx="5602289" cy="5319638"/>
          </a:xfrm>
        </p:grpSpPr>
        <p:sp>
          <p:nvSpPr>
            <p:cNvPr id="11" name="Rectangle 5">
              <a:extLst>
                <a:ext uri="{FF2B5EF4-FFF2-40B4-BE49-F238E27FC236}">
                  <a16:creationId xmlns:a16="http://schemas.microsoft.com/office/drawing/2014/main" id="{0636A257-4BF5-0D40-8994-53C8EDAFC437}"/>
                </a:ext>
              </a:extLst>
            </p:cNvPr>
            <p:cNvSpPr>
              <a:spLocks noChangeArrowheads="1"/>
            </p:cNvSpPr>
            <p:nvPr/>
          </p:nvSpPr>
          <p:spPr bwMode="auto">
            <a:xfrm>
              <a:off x="6360527" y="1276574"/>
              <a:ext cx="5602289" cy="3438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682625" indent="-225425">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ct val="20000"/>
                </a:spcBef>
                <a:buClr>
                  <a:schemeClr val="accent2"/>
                </a:buClr>
                <a:buSzPct val="85000"/>
                <a:buFont typeface="Wingdings" pitchFamily="2" charset="2"/>
                <a:buNone/>
              </a:pPr>
              <a:r>
                <a:rPr lang="en-US" altLang="en-US" sz="3200" dirty="0">
                  <a:solidFill>
                    <a:srgbClr val="CC0000"/>
                  </a:solidFill>
                  <a:latin typeface="+mn-lt"/>
                </a:rPr>
                <a:t>Fiber optic cable:</a:t>
              </a:r>
            </a:p>
            <a:p>
              <a:pPr>
                <a:lnSpc>
                  <a:spcPct val="85000"/>
                </a:lnSpc>
                <a:spcBef>
                  <a:spcPct val="20000"/>
                </a:spcBef>
                <a:buClr>
                  <a:srgbClr val="000099"/>
                </a:buClr>
                <a:buSzPct val="100000"/>
                <a:buFont typeface="Wingdings" pitchFamily="2" charset="2"/>
                <a:buChar char="§"/>
              </a:pPr>
              <a:r>
                <a:rPr lang="en-US" altLang="en-US" dirty="0">
                  <a:latin typeface="+mn-lt"/>
                </a:rPr>
                <a:t>glass fiber carrying light pulses, each pulse a bit</a:t>
              </a:r>
            </a:p>
            <a:p>
              <a:pPr>
                <a:lnSpc>
                  <a:spcPct val="85000"/>
                </a:lnSpc>
                <a:spcBef>
                  <a:spcPct val="20000"/>
                </a:spcBef>
                <a:buClr>
                  <a:srgbClr val="000099"/>
                </a:buClr>
                <a:buSzPct val="100000"/>
                <a:buFont typeface="Wingdings" pitchFamily="2" charset="2"/>
                <a:buChar char="§"/>
              </a:pPr>
              <a:r>
                <a:rPr lang="en-US" altLang="en-US" dirty="0">
                  <a:latin typeface="+mn-lt"/>
                </a:rPr>
                <a:t>high-speed operation:</a:t>
              </a:r>
            </a:p>
            <a:p>
              <a:pPr lvl="1">
                <a:lnSpc>
                  <a:spcPct val="85000"/>
                </a:lnSpc>
                <a:spcBef>
                  <a:spcPct val="20000"/>
                </a:spcBef>
                <a:buClr>
                  <a:srgbClr val="000099"/>
                </a:buClr>
                <a:buFont typeface="Arial" panose="020B0604020202020204" pitchFamily="34" charset="0"/>
                <a:buChar char="•"/>
              </a:pPr>
              <a:r>
                <a:rPr lang="en-US" altLang="en-US" dirty="0">
                  <a:latin typeface="+mn-lt"/>
                </a:rPr>
                <a:t>high-speed point-to-point transmission (10’</a:t>
              </a:r>
              <a:r>
                <a:rPr lang="en-US" altLang="ja-JP" dirty="0">
                  <a:latin typeface="+mn-lt"/>
                </a:rPr>
                <a:t>s-100’s Gbps)</a:t>
              </a:r>
            </a:p>
            <a:p>
              <a:pPr>
                <a:lnSpc>
                  <a:spcPct val="85000"/>
                </a:lnSpc>
                <a:spcBef>
                  <a:spcPct val="20000"/>
                </a:spcBef>
                <a:buClr>
                  <a:srgbClr val="000099"/>
                </a:buClr>
                <a:buSzPct val="100000"/>
                <a:buFont typeface="Wingdings" pitchFamily="2" charset="2"/>
                <a:buChar char="§"/>
              </a:pPr>
              <a:r>
                <a:rPr lang="en-US" altLang="en-US" dirty="0">
                  <a:latin typeface="+mn-lt"/>
                </a:rPr>
                <a:t>low error rate: </a:t>
              </a:r>
            </a:p>
            <a:p>
              <a:pPr lvl="1">
                <a:lnSpc>
                  <a:spcPct val="85000"/>
                </a:lnSpc>
                <a:spcBef>
                  <a:spcPct val="20000"/>
                </a:spcBef>
                <a:buClr>
                  <a:srgbClr val="000099"/>
                </a:buClr>
                <a:buFont typeface="Arial" panose="020B0604020202020204" pitchFamily="34" charset="0"/>
                <a:buChar char="•"/>
              </a:pPr>
              <a:r>
                <a:rPr lang="en-US" altLang="en-US" dirty="0">
                  <a:latin typeface="+mn-lt"/>
                </a:rPr>
                <a:t>repeaters spaced far apart </a:t>
              </a:r>
            </a:p>
            <a:p>
              <a:pPr lvl="1">
                <a:lnSpc>
                  <a:spcPct val="85000"/>
                </a:lnSpc>
                <a:spcBef>
                  <a:spcPct val="20000"/>
                </a:spcBef>
                <a:buClr>
                  <a:srgbClr val="000099"/>
                </a:buClr>
                <a:buFont typeface="Arial" panose="020B0604020202020204" pitchFamily="34" charset="0"/>
                <a:buChar char="•"/>
              </a:pPr>
              <a:r>
                <a:rPr lang="en-US" altLang="en-US" dirty="0">
                  <a:latin typeface="+mn-lt"/>
                </a:rPr>
                <a:t>immune to electromagnetic noise</a:t>
              </a:r>
            </a:p>
          </p:txBody>
        </p:sp>
        <p:pic>
          <p:nvPicPr>
            <p:cNvPr id="12290" name="Picture 2" descr="Image result for optical fiber">
              <a:extLst>
                <a:ext uri="{FF2B5EF4-FFF2-40B4-BE49-F238E27FC236}">
                  <a16:creationId xmlns:a16="http://schemas.microsoft.com/office/drawing/2014/main" id="{DE83E3CC-89A7-4743-A47D-FE0D94F68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5119" y="4700678"/>
              <a:ext cx="2872373" cy="189553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2753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89035B-463A-1E40-A130-AE9AA3E3766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Introduction: 1-</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11" name="Title 1">
            <a:extLst>
              <a:ext uri="{FF2B5EF4-FFF2-40B4-BE49-F238E27FC236}">
                <a16:creationId xmlns:a16="http://schemas.microsoft.com/office/drawing/2014/main" id="{C9770F09-EBB8-174E-A6FB-4752E1D92580}"/>
              </a:ext>
            </a:extLst>
          </p:cNvPr>
          <p:cNvSpPr>
            <a:spLocks noGrp="1"/>
          </p:cNvSpPr>
          <p:nvPr>
            <p:ph type="title"/>
          </p:nvPr>
        </p:nvSpPr>
        <p:spPr>
          <a:xfrm>
            <a:off x="848710" y="273146"/>
            <a:ext cx="10515600" cy="894622"/>
          </a:xfrm>
        </p:spPr>
        <p:txBody>
          <a:bodyPr>
            <a:normAutofit/>
          </a:bodyPr>
          <a:lstStyle/>
          <a:p>
            <a:r>
              <a:rPr lang="en-US" altLang="en-US" dirty="0">
                <a:ea typeface="ＭＳ Ｐゴシック" panose="020B0600070205080204" pitchFamily="34" charset="-128"/>
              </a:rPr>
              <a:t>Links: physical media</a:t>
            </a:r>
            <a:endParaRPr lang="en-US" dirty="0"/>
          </a:p>
        </p:txBody>
      </p:sp>
      <p:sp>
        <p:nvSpPr>
          <p:cNvPr id="12" name="Rectangle 3">
            <a:extLst>
              <a:ext uri="{FF2B5EF4-FFF2-40B4-BE49-F238E27FC236}">
                <a16:creationId xmlns:a16="http://schemas.microsoft.com/office/drawing/2014/main" id="{0FE4FCF6-C044-7F40-BE10-AF4FF95479A4}"/>
              </a:ext>
            </a:extLst>
          </p:cNvPr>
          <p:cNvSpPr txBox="1">
            <a:spLocks noChangeArrowheads="1"/>
          </p:cNvSpPr>
          <p:nvPr/>
        </p:nvSpPr>
        <p:spPr>
          <a:xfrm>
            <a:off x="952500" y="1354420"/>
            <a:ext cx="4702066" cy="4876800"/>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3200" dirty="0">
                <a:solidFill>
                  <a:srgbClr val="C00000"/>
                </a:solidFill>
                <a:ea typeface="ＭＳ Ｐゴシック" panose="020B0600070205080204" pitchFamily="34" charset="-128"/>
              </a:rPr>
              <a:t>Wireless radio</a:t>
            </a:r>
          </a:p>
          <a:p>
            <a:pPr marL="290513" indent="-228600"/>
            <a:r>
              <a:rPr lang="en-US" altLang="en-US" dirty="0">
                <a:ea typeface="ＭＳ Ｐゴシック" panose="020B0600070205080204" pitchFamily="34" charset="-128"/>
              </a:rPr>
              <a:t>signal carried in electromagnetic spectrum</a:t>
            </a:r>
          </a:p>
          <a:p>
            <a:pPr marL="290513" indent="-228600"/>
            <a:r>
              <a:rPr lang="en-US" altLang="en-US" dirty="0">
                <a:ea typeface="ＭＳ Ｐゴシック" panose="020B0600070205080204" pitchFamily="34" charset="-128"/>
              </a:rPr>
              <a:t>no physical “</a:t>
            </a:r>
            <a:r>
              <a:rPr lang="en-US" altLang="ja-JP" dirty="0">
                <a:ea typeface="ＭＳ Ｐゴシック" panose="020B0600070205080204" pitchFamily="34" charset="-128"/>
              </a:rPr>
              <a:t>wire”</a:t>
            </a:r>
          </a:p>
          <a:p>
            <a:pPr marL="290513" indent="-228600"/>
            <a:r>
              <a:rPr lang="en-US" altLang="en-US" dirty="0">
                <a:ea typeface="ＭＳ Ｐゴシック" panose="020B0600070205080204" pitchFamily="34" charset="-128"/>
              </a:rPr>
              <a:t>broadcast and “half-duplex” </a:t>
            </a:r>
            <a:r>
              <a:rPr lang="en-US" altLang="en-US" sz="2400" dirty="0">
                <a:ea typeface="ＭＳ Ｐゴシック" panose="020B0600070205080204" pitchFamily="34" charset="-128"/>
              </a:rPr>
              <a:t>(sender to receiver)</a:t>
            </a:r>
          </a:p>
          <a:p>
            <a:pPr marL="290513" indent="-228600">
              <a:spcBef>
                <a:spcPts val="600"/>
              </a:spcBef>
            </a:pPr>
            <a:r>
              <a:rPr lang="en-US" altLang="en-US" dirty="0">
                <a:ea typeface="ＭＳ Ｐゴシック" panose="020B0600070205080204" pitchFamily="34" charset="-128"/>
              </a:rPr>
              <a:t>propagation environment effects:</a:t>
            </a:r>
          </a:p>
          <a:p>
            <a:pPr marL="635000" lvl="1" indent="-230188">
              <a:spcBef>
                <a:spcPts val="300"/>
              </a:spcBef>
            </a:pPr>
            <a:r>
              <a:rPr lang="en-US" altLang="en-US" sz="2800" dirty="0">
                <a:ea typeface="Arial" panose="020B0604020202020204" pitchFamily="34" charset="0"/>
              </a:rPr>
              <a:t>reflection </a:t>
            </a:r>
          </a:p>
          <a:p>
            <a:pPr marL="635000" lvl="1" indent="-230188">
              <a:spcBef>
                <a:spcPts val="300"/>
              </a:spcBef>
            </a:pPr>
            <a:r>
              <a:rPr lang="en-US" altLang="en-US" sz="2800" dirty="0">
                <a:ea typeface="Arial" panose="020B0604020202020204" pitchFamily="34" charset="0"/>
              </a:rPr>
              <a:t>obstruction by objects</a:t>
            </a:r>
          </a:p>
          <a:p>
            <a:pPr marL="635000" lvl="1" indent="-230188">
              <a:spcBef>
                <a:spcPts val="300"/>
              </a:spcBef>
            </a:pPr>
            <a:r>
              <a:rPr lang="en-US" altLang="en-US" sz="2800" dirty="0">
                <a:ea typeface="Arial" panose="020B0604020202020204" pitchFamily="34" charset="0"/>
              </a:rPr>
              <a:t>interference</a:t>
            </a:r>
          </a:p>
        </p:txBody>
      </p:sp>
      <p:sp>
        <p:nvSpPr>
          <p:cNvPr id="14" name="Rectangle 3">
            <a:extLst>
              <a:ext uri="{FF2B5EF4-FFF2-40B4-BE49-F238E27FC236}">
                <a16:creationId xmlns:a16="http://schemas.microsoft.com/office/drawing/2014/main" id="{111B3EB7-227E-F543-AA3C-890766F25AA8}"/>
              </a:ext>
            </a:extLst>
          </p:cNvPr>
          <p:cNvSpPr txBox="1">
            <a:spLocks noChangeArrowheads="1"/>
          </p:cNvSpPr>
          <p:nvPr/>
        </p:nvSpPr>
        <p:spPr>
          <a:xfrm>
            <a:off x="6349562" y="1354420"/>
            <a:ext cx="4702066" cy="511829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ct val="20000"/>
              </a:spcBef>
              <a:buClr>
                <a:schemeClr val="accent2"/>
              </a:buClr>
              <a:buSzPct val="85000"/>
              <a:buFont typeface="Wingdings" charset="0"/>
              <a:buNone/>
              <a:defRPr/>
            </a:pPr>
            <a:r>
              <a:rPr lang="en-US" sz="3200" dirty="0">
                <a:solidFill>
                  <a:srgbClr val="CC0000"/>
                </a:solidFill>
                <a:ea typeface="ＭＳ Ｐゴシック" charset="0"/>
                <a:cs typeface="ＭＳ Ｐゴシック" charset="0"/>
              </a:rPr>
              <a:t>Radio link types: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terrestrial  microwave</a:t>
            </a:r>
          </a:p>
          <a:p>
            <a:pPr marL="635000" lvl="1" indent="-230188">
              <a:lnSpc>
                <a:spcPct val="85000"/>
              </a:lnSpc>
              <a:spcBef>
                <a:spcPct val="20000"/>
              </a:spcBef>
              <a:buClr>
                <a:srgbClr val="000099"/>
              </a:buClr>
              <a:buSzPct val="100000"/>
              <a:defRPr/>
            </a:pPr>
            <a:r>
              <a:rPr lang="en-US" sz="2000" dirty="0">
                <a:latin typeface="Calibri" panose="020F0502020204030204" pitchFamily="34" charset="0"/>
                <a:ea typeface="ＭＳ Ｐゴシック" charset="0"/>
                <a:cs typeface="Calibri" panose="020F0502020204030204" pitchFamily="34" charset="0"/>
              </a:rPr>
              <a:t>up to 45 </a:t>
            </a:r>
            <a:r>
              <a:rPr lang="en-US" dirty="0">
                <a:latin typeface="Calibri" panose="020F0502020204030204" pitchFamily="34" charset="0"/>
                <a:ea typeface="ＭＳ Ｐゴシック" charset="0"/>
                <a:cs typeface="Calibri" panose="020F0502020204030204" pitchFamily="34" charset="0"/>
              </a:rPr>
              <a:t>Mbps</a:t>
            </a:r>
            <a:r>
              <a:rPr lang="en-US" sz="2000" dirty="0">
                <a:latin typeface="Calibri" panose="020F0502020204030204" pitchFamily="34" charset="0"/>
                <a:ea typeface="ＭＳ Ｐゴシック" charset="0"/>
                <a:cs typeface="Calibri" panose="020F0502020204030204" pitchFamily="34" charset="0"/>
              </a:rPr>
              <a:t> channels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Wireless LAN</a:t>
            </a:r>
            <a:r>
              <a:rPr lang="en-US" dirty="0">
                <a:latin typeface="Calibri" panose="020F0502020204030204" pitchFamily="34" charset="0"/>
                <a:ea typeface="ＭＳ Ｐゴシック" charset="0"/>
                <a:cs typeface="Calibri" panose="020F0502020204030204" pitchFamily="34" charset="0"/>
              </a:rPr>
              <a:t> (</a:t>
            </a:r>
            <a:r>
              <a:rPr lang="en-US" dirty="0" err="1">
                <a:latin typeface="Calibri" panose="020F0502020204030204" pitchFamily="34" charset="0"/>
                <a:ea typeface="ＭＳ Ｐゴシック" charset="0"/>
                <a:cs typeface="Calibri" panose="020F0502020204030204" pitchFamily="34" charset="0"/>
              </a:rPr>
              <a:t>WiFi</a:t>
            </a:r>
            <a:r>
              <a:rPr lang="en-US" dirty="0">
                <a:latin typeface="Calibri" panose="020F0502020204030204" pitchFamily="34" charset="0"/>
                <a:ea typeface="ＭＳ Ｐゴシック" charset="0"/>
                <a:cs typeface="Calibri" panose="020F0502020204030204" pitchFamily="34" charset="0"/>
              </a:rPr>
              <a:t>)</a:t>
            </a:r>
          </a:p>
          <a:p>
            <a:pPr marL="635000" lvl="1" indent="-230188">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Up to 100’s Mbps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wide-area</a:t>
            </a:r>
            <a:r>
              <a:rPr lang="en-US" dirty="0">
                <a:latin typeface="Calibri" panose="020F0502020204030204" pitchFamily="34" charset="0"/>
                <a:ea typeface="ＭＳ Ｐゴシック" charset="0"/>
                <a:cs typeface="Calibri" panose="020F0502020204030204" pitchFamily="34" charset="0"/>
              </a:rPr>
              <a:t> (e.g., cellular)</a:t>
            </a:r>
          </a:p>
          <a:p>
            <a:pPr marL="635000" lvl="1" indent="-230188">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4G cellular: ~ 10’s Mbps</a:t>
            </a:r>
          </a:p>
          <a:p>
            <a:pPr marL="342900" indent="-280988">
              <a:lnSpc>
                <a:spcPct val="85000"/>
              </a:lnSpc>
              <a:spcBef>
                <a:spcPct val="20000"/>
              </a:spcBef>
              <a:buClr>
                <a:srgbClr val="000099"/>
              </a:buClr>
              <a:buSzPct val="100000"/>
              <a:buFont typeface="Wingdings" charset="2"/>
              <a:buChar char="§"/>
              <a:defRPr/>
            </a:pPr>
            <a:r>
              <a:rPr lang="en-US" dirty="0">
                <a:solidFill>
                  <a:srgbClr val="000099"/>
                </a:solidFill>
                <a:latin typeface="Calibri" panose="020F0502020204030204" pitchFamily="34" charset="0"/>
                <a:ea typeface="ＭＳ Ｐゴシック" charset="0"/>
                <a:cs typeface="Calibri" panose="020F0502020204030204" pitchFamily="34" charset="0"/>
              </a:rPr>
              <a:t>satellite</a:t>
            </a:r>
          </a:p>
          <a:p>
            <a:pPr marL="685800" lvl="1" indent="-228600">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up to 45 Mbps per channel</a:t>
            </a:r>
          </a:p>
          <a:p>
            <a:pPr marL="685800" lvl="1" indent="-228600">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270 </a:t>
            </a:r>
            <a:r>
              <a:rPr lang="en-US" dirty="0" err="1">
                <a:latin typeface="Calibri" panose="020F0502020204030204" pitchFamily="34" charset="0"/>
                <a:ea typeface="ＭＳ Ｐゴシック" charset="0"/>
                <a:cs typeface="Calibri" panose="020F0502020204030204" pitchFamily="34" charset="0"/>
              </a:rPr>
              <a:t>msec</a:t>
            </a:r>
            <a:r>
              <a:rPr lang="en-US" dirty="0">
                <a:latin typeface="Calibri" panose="020F0502020204030204" pitchFamily="34" charset="0"/>
                <a:ea typeface="ＭＳ Ｐゴシック" charset="0"/>
                <a:cs typeface="Calibri" panose="020F0502020204030204" pitchFamily="34" charset="0"/>
              </a:rPr>
              <a:t> end-end delay</a:t>
            </a:r>
          </a:p>
          <a:p>
            <a:pPr marL="685800" lvl="1" indent="-228600">
              <a:lnSpc>
                <a:spcPct val="85000"/>
              </a:lnSpc>
              <a:spcBef>
                <a:spcPct val="20000"/>
              </a:spcBef>
              <a:buClr>
                <a:srgbClr val="000099"/>
              </a:buClr>
              <a:buFont typeface="Arial"/>
              <a:buChar char="•"/>
              <a:defRPr/>
            </a:pPr>
            <a:r>
              <a:rPr lang="en-US" dirty="0">
                <a:latin typeface="Calibri" panose="020F0502020204030204" pitchFamily="34" charset="0"/>
                <a:ea typeface="ＭＳ Ｐゴシック" charset="0"/>
                <a:cs typeface="Calibri" panose="020F0502020204030204" pitchFamily="34" charset="0"/>
              </a:rPr>
              <a:t>geosynchronous versus low-earth-orbit </a:t>
            </a:r>
            <a:endParaRPr lang="en-US" sz="2000" dirty="0">
              <a:latin typeface="Calibri" panose="020F0502020204030204" pitchFamily="34" charset="0"/>
              <a:ea typeface="ＭＳ Ｐゴシック" charset="0"/>
              <a:cs typeface="Calibri" panose="020F0502020204030204" pitchFamily="34" charset="0"/>
            </a:endParaRPr>
          </a:p>
        </p:txBody>
      </p:sp>
    </p:spTree>
    <p:extLst>
      <p:ext uri="{BB962C8B-B14F-4D97-AF65-F5344CB8AC3E}">
        <p14:creationId xmlns:p14="http://schemas.microsoft.com/office/powerpoint/2010/main" val="4261154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728303" y="204820"/>
            <a:ext cx="8588861" cy="838200"/>
          </a:xfrm>
        </p:spPr>
        <p:txBody>
          <a:bodyPr/>
          <a:lstStyle/>
          <a:p>
            <a:pPr>
              <a:lnSpc>
                <a:spcPct val="100000"/>
              </a:lnSpc>
            </a:pPr>
            <a:r>
              <a:rPr lang="en-US" dirty="0"/>
              <a:t>Copper Media and Characteristics</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742" y="1363164"/>
            <a:ext cx="5317331" cy="42929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11"/>
          <p:cNvSpPr txBox="1">
            <a:spLocks/>
          </p:cNvSpPr>
          <p:nvPr/>
        </p:nvSpPr>
        <p:spPr>
          <a:xfrm>
            <a:off x="3531702" y="5976285"/>
            <a:ext cx="3835410" cy="196707"/>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algn="ctr">
              <a:lnSpc>
                <a:spcPct val="100000"/>
              </a:lnSpc>
            </a:pPr>
            <a:r>
              <a:rPr lang="en-GB" sz="2400" dirty="0">
                <a:solidFill>
                  <a:schemeClr val="bg2"/>
                </a:solidFill>
              </a:rPr>
              <a:t>Copper Cabling</a:t>
            </a:r>
          </a:p>
        </p:txBody>
      </p:sp>
    </p:spTree>
    <p:extLst>
      <p:ext uri="{BB962C8B-B14F-4D97-AF65-F5344CB8AC3E}">
        <p14:creationId xmlns:p14="http://schemas.microsoft.com/office/powerpoint/2010/main" val="94149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Unshielded Twisted-Pair Cable</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7176" y="1643064"/>
            <a:ext cx="7717651" cy="4220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7943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Shielded Twisted-Pair Cable</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731" y="1191265"/>
            <a:ext cx="7400538" cy="512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965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Coaxial Cable</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2739" y="1239210"/>
            <a:ext cx="6486525" cy="5084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204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dirty="0"/>
              <a:t>Fiber versus Copper</a:t>
            </a:r>
          </a:p>
        </p:txBody>
      </p:sp>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9375" y="1481138"/>
            <a:ext cx="8373253" cy="3910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74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632811" y="0"/>
            <a:ext cx="8588861" cy="838200"/>
          </a:xfrm>
        </p:spPr>
        <p:txBody>
          <a:bodyPr/>
          <a:lstStyle/>
          <a:p>
            <a:r>
              <a:rPr lang="en-US" dirty="0"/>
              <a:t>Bandwidth</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810" y="973464"/>
            <a:ext cx="6643302" cy="2051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418" y="3160404"/>
            <a:ext cx="3220242" cy="3166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1"/>
          <p:cNvSpPr txBox="1">
            <a:spLocks/>
          </p:cNvSpPr>
          <p:nvPr/>
        </p:nvSpPr>
        <p:spPr>
          <a:xfrm>
            <a:off x="1875858" y="3445883"/>
            <a:ext cx="2650658" cy="838200"/>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GB" dirty="0"/>
              <a:t>Throughput</a:t>
            </a:r>
          </a:p>
        </p:txBody>
      </p:sp>
    </p:spTree>
    <p:extLst>
      <p:ext uri="{BB962C8B-B14F-4D97-AF65-F5344CB8AC3E}">
        <p14:creationId xmlns:p14="http://schemas.microsoft.com/office/powerpoint/2010/main" val="107725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The Data Link Layer</a:t>
            </a: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97" y="1453479"/>
            <a:ext cx="6043406" cy="4771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9106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Data Link Sublayers</a:t>
            </a:r>
          </a:p>
        </p:txBody>
      </p:sp>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1508" y="1320613"/>
            <a:ext cx="7568987" cy="490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474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779103" y="0"/>
            <a:ext cx="8588861" cy="838200"/>
          </a:xfrm>
        </p:spPr>
        <p:txBody>
          <a:bodyPr/>
          <a:lstStyle/>
          <a:p>
            <a:r>
              <a:rPr lang="en-US" dirty="0"/>
              <a:t>Media Access Control</a:t>
            </a:r>
          </a:p>
        </p:txBody>
      </p:sp>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103" y="838200"/>
            <a:ext cx="8429821"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8377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524001" y="17633"/>
            <a:ext cx="8588861" cy="838200"/>
          </a:xfrm>
        </p:spPr>
        <p:txBody>
          <a:bodyPr/>
          <a:lstStyle/>
          <a:p>
            <a:r>
              <a:rPr lang="en-US" dirty="0"/>
              <a:t>The Frame</a:t>
            </a:r>
          </a:p>
        </p:txBody>
      </p:sp>
      <p:pic>
        <p:nvPicPr>
          <p:cNvPr id="440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596" y="769463"/>
            <a:ext cx="7584404" cy="3248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Placeholder 6"/>
          <p:cNvSpPr txBox="1">
            <a:spLocks/>
          </p:cNvSpPr>
          <p:nvPr/>
        </p:nvSpPr>
        <p:spPr>
          <a:xfrm>
            <a:off x="1822883" y="1284874"/>
            <a:ext cx="4149292" cy="1850211"/>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Frames have three basic parts:</a:t>
            </a:r>
          </a:p>
          <a:p>
            <a:r>
              <a:rPr lang="en-US" sz="2000" dirty="0"/>
              <a:t>Header</a:t>
            </a:r>
          </a:p>
          <a:p>
            <a:r>
              <a:rPr lang="en-US" sz="2000" dirty="0"/>
              <a:t>Data</a:t>
            </a:r>
          </a:p>
          <a:p>
            <a:r>
              <a:rPr lang="en-US" sz="2000" dirty="0"/>
              <a:t>Trailer</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2884" y="4072480"/>
            <a:ext cx="8328025" cy="2416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3055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Layer 2 Address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9014" y="1914525"/>
            <a:ext cx="8253972" cy="3905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1588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197" y="425239"/>
            <a:ext cx="9163050" cy="994172"/>
          </a:xfrm>
        </p:spPr>
        <p:txBody>
          <a:bodyPr>
            <a:normAutofit fontScale="90000"/>
          </a:bodyPr>
          <a:lstStyle/>
          <a:p>
            <a:r>
              <a:rPr lang="en-GB" dirty="0"/>
              <a:t>Example : </a:t>
            </a:r>
            <a:r>
              <a:rPr lang="en-GB" dirty="0" err="1"/>
              <a:t>L2</a:t>
            </a:r>
            <a:r>
              <a:rPr lang="en-GB" dirty="0"/>
              <a:t> and L3 networking parameters (which is part of L2 and L3 headers) (1)</a:t>
            </a:r>
          </a:p>
        </p:txBody>
      </p:sp>
      <p:sp>
        <p:nvSpPr>
          <p:cNvPr id="3" name="Content Placeholder 2"/>
          <p:cNvSpPr>
            <a:spLocks noGrp="1"/>
          </p:cNvSpPr>
          <p:nvPr>
            <p:ph idx="1"/>
          </p:nvPr>
        </p:nvSpPr>
        <p:spPr>
          <a:xfrm>
            <a:off x="2152650" y="1916497"/>
            <a:ext cx="7886700" cy="1549042"/>
          </a:xfrm>
        </p:spPr>
        <p:txBody>
          <a:bodyPr>
            <a:noAutofit/>
          </a:bodyPr>
          <a:lstStyle/>
          <a:p>
            <a:pPr algn="just"/>
            <a:r>
              <a:rPr lang="en-GB" sz="1800" dirty="0">
                <a:solidFill>
                  <a:srgbClr val="FF0000"/>
                </a:solidFill>
              </a:rPr>
              <a:t>Refer to the exhibit: L2 and L3 refer to the OSI model layers; the coloured rectangles in the exhibit refer to the networking parameters in the headers of those layers. NIC is a Network Interface Card. To simplify the exercise, switches are omitted. All nodes are supposed to know the IPs and MACs of all involved parties. MAC addresses are shown using 4 digits only (a MAC address is 48 bits though)</a:t>
            </a:r>
          </a:p>
        </p:txBody>
      </p:sp>
      <p:pic>
        <p:nvPicPr>
          <p:cNvPr id="5" name="Picture 4"/>
          <p:cNvPicPr>
            <a:picLocks noChangeAspect="1"/>
          </p:cNvPicPr>
          <p:nvPr/>
        </p:nvPicPr>
        <p:blipFill>
          <a:blip r:embed="rId2"/>
          <a:stretch>
            <a:fillRect/>
          </a:stretch>
        </p:blipFill>
        <p:spPr>
          <a:xfrm>
            <a:off x="2513411" y="3550444"/>
            <a:ext cx="7165181" cy="2450306"/>
          </a:xfrm>
          <a:prstGeom prst="rect">
            <a:avLst/>
          </a:prstGeom>
        </p:spPr>
      </p:pic>
    </p:spTree>
    <p:extLst>
      <p:ext uri="{BB962C8B-B14F-4D97-AF65-F5344CB8AC3E}">
        <p14:creationId xmlns:p14="http://schemas.microsoft.com/office/powerpoint/2010/main" val="2431906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L2 and L3 networking parameters (which is part of L2 and L3 headers) (2)</a:t>
            </a:r>
          </a:p>
        </p:txBody>
      </p:sp>
      <p:sp>
        <p:nvSpPr>
          <p:cNvPr id="3" name="Content Placeholder 2"/>
          <p:cNvSpPr>
            <a:spLocks noGrp="1"/>
          </p:cNvSpPr>
          <p:nvPr>
            <p:ph idx="1"/>
          </p:nvPr>
        </p:nvSpPr>
        <p:spPr>
          <a:xfrm>
            <a:off x="2152650" y="2226469"/>
            <a:ext cx="7886700" cy="3217772"/>
          </a:xfrm>
        </p:spPr>
        <p:txBody>
          <a:bodyPr>
            <a:normAutofit fontScale="70000" lnSpcReduction="20000"/>
          </a:bodyPr>
          <a:lstStyle/>
          <a:p>
            <a:r>
              <a:rPr lang="en-GB" dirty="0"/>
              <a:t>In our topology, PC1 connects to router R1 using a fast Ethernet interface:</a:t>
            </a:r>
          </a:p>
          <a:p>
            <a:pPr marL="342900" lvl="1"/>
            <a:r>
              <a:rPr lang="en-GB" dirty="0"/>
              <a:t>PC1 MAC:  </a:t>
            </a:r>
            <a:r>
              <a:rPr lang="en-GB" dirty="0">
                <a:solidFill>
                  <a:srgbClr val="00B050"/>
                </a:solidFill>
              </a:rPr>
              <a:t>0A:10</a:t>
            </a:r>
          </a:p>
          <a:p>
            <a:pPr marL="342900" lvl="1"/>
            <a:r>
              <a:rPr lang="en-GB" dirty="0"/>
              <a:t>PC1 IP:       </a:t>
            </a:r>
            <a:r>
              <a:rPr lang="en-GB" dirty="0">
                <a:solidFill>
                  <a:srgbClr val="00B050"/>
                </a:solidFill>
              </a:rPr>
              <a:t>192.168.1.10</a:t>
            </a:r>
          </a:p>
          <a:p>
            <a:pPr marL="342900" lvl="1"/>
            <a:r>
              <a:rPr lang="en-GB" dirty="0"/>
              <a:t>R1 MAC (on that particular interface):  </a:t>
            </a:r>
            <a:r>
              <a:rPr lang="en-GB" dirty="0">
                <a:solidFill>
                  <a:srgbClr val="00B050"/>
                </a:solidFill>
              </a:rPr>
              <a:t>0C:03</a:t>
            </a:r>
          </a:p>
          <a:p>
            <a:pPr marL="342900" lvl="1"/>
            <a:r>
              <a:rPr lang="en-GB" dirty="0"/>
              <a:t>R1 IP:                                                           </a:t>
            </a:r>
            <a:r>
              <a:rPr lang="en-GB" dirty="0">
                <a:solidFill>
                  <a:srgbClr val="00B050"/>
                </a:solidFill>
              </a:rPr>
              <a:t>192.168.1.1</a:t>
            </a:r>
          </a:p>
          <a:p>
            <a:r>
              <a:rPr lang="en-GB" dirty="0"/>
              <a:t>R1 connects to R2 using a fast Ethernet link; on such interface we have the following addresses:</a:t>
            </a:r>
          </a:p>
          <a:p>
            <a:pPr marL="342900" lvl="1"/>
            <a:r>
              <a:rPr lang="en-GB" dirty="0"/>
              <a:t>R1 MAC:  </a:t>
            </a:r>
            <a:r>
              <a:rPr lang="en-GB" dirty="0">
                <a:solidFill>
                  <a:srgbClr val="00B050"/>
                </a:solidFill>
              </a:rPr>
              <a:t>0C:04</a:t>
            </a:r>
          </a:p>
          <a:p>
            <a:pPr marL="342900" lvl="1"/>
            <a:r>
              <a:rPr lang="en-GB" dirty="0"/>
              <a:t>R1 IP:       </a:t>
            </a:r>
            <a:r>
              <a:rPr lang="en-GB" dirty="0">
                <a:solidFill>
                  <a:srgbClr val="00B050"/>
                </a:solidFill>
              </a:rPr>
              <a:t>192.168.3.1</a:t>
            </a:r>
          </a:p>
          <a:p>
            <a:pPr marL="342900" lvl="1"/>
            <a:r>
              <a:rPr lang="en-GB" dirty="0"/>
              <a:t>R2 MAC (on that particular interface):   </a:t>
            </a:r>
            <a:r>
              <a:rPr lang="en-GB" dirty="0">
                <a:solidFill>
                  <a:srgbClr val="00B050"/>
                </a:solidFill>
              </a:rPr>
              <a:t>0D:05</a:t>
            </a:r>
          </a:p>
          <a:p>
            <a:pPr marL="342900" lvl="1"/>
            <a:r>
              <a:rPr lang="en-GB" dirty="0"/>
              <a:t>R2 IP:                                                            </a:t>
            </a:r>
            <a:r>
              <a:rPr lang="en-GB" dirty="0">
                <a:solidFill>
                  <a:srgbClr val="00B050"/>
                </a:solidFill>
              </a:rPr>
              <a:t>192.168.3.2</a:t>
            </a:r>
          </a:p>
          <a:p>
            <a:endParaRPr lang="en-GB" dirty="0"/>
          </a:p>
          <a:p>
            <a:endParaRPr lang="en-GB" dirty="0"/>
          </a:p>
          <a:p>
            <a:pPr marL="342900" lvl="1"/>
            <a:endParaRPr lang="en-GB" dirty="0"/>
          </a:p>
          <a:p>
            <a:endParaRPr lang="en-GB" dirty="0"/>
          </a:p>
          <a:p>
            <a:endParaRPr lang="en-GB" dirty="0"/>
          </a:p>
        </p:txBody>
      </p:sp>
    </p:spTree>
    <p:extLst>
      <p:ext uri="{BB962C8B-B14F-4D97-AF65-F5344CB8AC3E}">
        <p14:creationId xmlns:p14="http://schemas.microsoft.com/office/powerpoint/2010/main" val="31428481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L2 and L3 networking parameters (which is part of L2 and L3 headers) (3)</a:t>
            </a:r>
          </a:p>
        </p:txBody>
      </p:sp>
      <p:sp>
        <p:nvSpPr>
          <p:cNvPr id="3" name="Content Placeholder 2"/>
          <p:cNvSpPr>
            <a:spLocks noGrp="1"/>
          </p:cNvSpPr>
          <p:nvPr>
            <p:ph idx="1"/>
          </p:nvPr>
        </p:nvSpPr>
        <p:spPr>
          <a:xfrm>
            <a:off x="2152650" y="1567543"/>
            <a:ext cx="7886700" cy="4323806"/>
          </a:xfrm>
        </p:spPr>
        <p:txBody>
          <a:bodyPr>
            <a:normAutofit fontScale="85000" lnSpcReduction="20000"/>
          </a:bodyPr>
          <a:lstStyle/>
          <a:p>
            <a:r>
              <a:rPr lang="en-GB" dirty="0"/>
              <a:t>R2 connects to the server using another fast Ethernet link; on such interface we have the following addresses:</a:t>
            </a:r>
          </a:p>
          <a:p>
            <a:pPr marL="342900" lvl="1"/>
            <a:r>
              <a:rPr lang="en-GB" dirty="0"/>
              <a:t>R2 MAC (on that particular interface):   </a:t>
            </a:r>
            <a:r>
              <a:rPr lang="en-GB" dirty="0">
                <a:solidFill>
                  <a:srgbClr val="00B050"/>
                </a:solidFill>
              </a:rPr>
              <a:t>0D:06</a:t>
            </a:r>
          </a:p>
          <a:p>
            <a:pPr marL="342900" lvl="1"/>
            <a:r>
              <a:rPr lang="en-GB" dirty="0"/>
              <a:t>R2 IP:                                                             </a:t>
            </a:r>
            <a:r>
              <a:rPr lang="en-GB" dirty="0">
                <a:solidFill>
                  <a:srgbClr val="00B050"/>
                </a:solidFill>
              </a:rPr>
              <a:t>192.168.4.1</a:t>
            </a:r>
          </a:p>
          <a:p>
            <a:pPr marL="342900" lvl="1"/>
            <a:r>
              <a:rPr lang="en-GB" dirty="0"/>
              <a:t>Server MAC:   </a:t>
            </a:r>
            <a:r>
              <a:rPr lang="en-GB" dirty="0">
                <a:solidFill>
                  <a:srgbClr val="00B050"/>
                </a:solidFill>
              </a:rPr>
              <a:t>0F:08</a:t>
            </a:r>
          </a:p>
          <a:p>
            <a:pPr marL="342900" lvl="1"/>
            <a:r>
              <a:rPr lang="en-GB" dirty="0"/>
              <a:t>Server IP:        </a:t>
            </a:r>
            <a:r>
              <a:rPr lang="en-GB" dirty="0">
                <a:solidFill>
                  <a:srgbClr val="00B050"/>
                </a:solidFill>
              </a:rPr>
              <a:t>192.168.4.10</a:t>
            </a:r>
          </a:p>
          <a:p>
            <a:endParaRPr lang="en-GB" dirty="0"/>
          </a:p>
          <a:p>
            <a:r>
              <a:rPr lang="en-GB" dirty="0"/>
              <a:t>The headers of L2 and L3 should show (among other things), the destination and source MAC and IP addresses.</a:t>
            </a:r>
          </a:p>
          <a:p>
            <a:r>
              <a:rPr lang="en-GB" dirty="0"/>
              <a:t>The exercise is simplified in the sense that routers may have different ways/means (links) of communication.</a:t>
            </a:r>
          </a:p>
          <a:p>
            <a:r>
              <a:rPr lang="en-GB" dirty="0"/>
              <a:t>Our scenario is that PC1 wants to send data to the server; show how the L2 and L3 headers would change their content:</a:t>
            </a:r>
          </a:p>
          <a:p>
            <a:pPr marL="342900" lvl="1"/>
            <a:endParaRPr lang="en-GB" dirty="0"/>
          </a:p>
          <a:p>
            <a:endParaRPr lang="en-GB" dirty="0"/>
          </a:p>
          <a:p>
            <a:endParaRPr lang="en-GB" dirty="0"/>
          </a:p>
        </p:txBody>
      </p:sp>
    </p:spTree>
    <p:extLst>
      <p:ext uri="{BB962C8B-B14F-4D97-AF65-F5344CB8AC3E}">
        <p14:creationId xmlns:p14="http://schemas.microsoft.com/office/powerpoint/2010/main" val="2089575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L2 and L3 networking parameters (which is part of L2 and L3 headers) (4)</a:t>
            </a:r>
          </a:p>
        </p:txBody>
      </p:sp>
      <p:sp>
        <p:nvSpPr>
          <p:cNvPr id="3" name="Content Placeholder 2"/>
          <p:cNvSpPr>
            <a:spLocks noGrp="1"/>
          </p:cNvSpPr>
          <p:nvPr>
            <p:ph idx="1"/>
          </p:nvPr>
        </p:nvSpPr>
        <p:spPr>
          <a:xfrm>
            <a:off x="2152650" y="2226469"/>
            <a:ext cx="7886700" cy="3217772"/>
          </a:xfrm>
        </p:spPr>
        <p:txBody>
          <a:bodyPr>
            <a:normAutofit/>
          </a:bodyPr>
          <a:lstStyle/>
          <a:p>
            <a:endParaRPr lang="en-GB" dirty="0"/>
          </a:p>
          <a:p>
            <a:endParaRPr lang="en-GB" dirty="0"/>
          </a:p>
        </p:txBody>
      </p:sp>
      <p:graphicFrame>
        <p:nvGraphicFramePr>
          <p:cNvPr id="5" name="Table 4"/>
          <p:cNvGraphicFramePr>
            <a:graphicFrameLocks noGrp="1"/>
          </p:cNvGraphicFramePr>
          <p:nvPr/>
        </p:nvGraphicFramePr>
        <p:xfrm>
          <a:off x="2152651" y="2290128"/>
          <a:ext cx="7702135" cy="3085251"/>
        </p:xfrm>
        <a:graphic>
          <a:graphicData uri="http://schemas.openxmlformats.org/drawingml/2006/table">
            <a:tbl>
              <a:tblPr firstRow="1" bandRow="1">
                <a:tableStyleId>{5C22544A-7EE6-4342-B048-85BDC9FD1C3A}</a:tableStyleId>
              </a:tblPr>
              <a:tblGrid>
                <a:gridCol w="1540427">
                  <a:extLst>
                    <a:ext uri="{9D8B030D-6E8A-4147-A177-3AD203B41FA5}">
                      <a16:colId xmlns:a16="http://schemas.microsoft.com/office/drawing/2014/main" val="1242289840"/>
                    </a:ext>
                  </a:extLst>
                </a:gridCol>
                <a:gridCol w="1540427">
                  <a:extLst>
                    <a:ext uri="{9D8B030D-6E8A-4147-A177-3AD203B41FA5}">
                      <a16:colId xmlns:a16="http://schemas.microsoft.com/office/drawing/2014/main" val="3232093281"/>
                    </a:ext>
                  </a:extLst>
                </a:gridCol>
                <a:gridCol w="1540427">
                  <a:extLst>
                    <a:ext uri="{9D8B030D-6E8A-4147-A177-3AD203B41FA5}">
                      <a16:colId xmlns:a16="http://schemas.microsoft.com/office/drawing/2014/main" val="2100188275"/>
                    </a:ext>
                  </a:extLst>
                </a:gridCol>
                <a:gridCol w="1540427">
                  <a:extLst>
                    <a:ext uri="{9D8B030D-6E8A-4147-A177-3AD203B41FA5}">
                      <a16:colId xmlns:a16="http://schemas.microsoft.com/office/drawing/2014/main" val="340580372"/>
                    </a:ext>
                  </a:extLst>
                </a:gridCol>
                <a:gridCol w="1540427">
                  <a:extLst>
                    <a:ext uri="{9D8B030D-6E8A-4147-A177-3AD203B41FA5}">
                      <a16:colId xmlns:a16="http://schemas.microsoft.com/office/drawing/2014/main" val="3442770158"/>
                    </a:ext>
                  </a:extLst>
                </a:gridCol>
              </a:tblGrid>
              <a:tr h="1440180">
                <a:tc>
                  <a:txBody>
                    <a:bodyPr/>
                    <a:lstStyle/>
                    <a:p>
                      <a:r>
                        <a:rPr lang="en-GB" sz="1800" dirty="0"/>
                        <a:t>From PC1 to server</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L2 source MAC</a:t>
                      </a:r>
                      <a:r>
                        <a:rPr lang="en-GB" sz="1800" baseline="0" dirty="0"/>
                        <a:t> address</a:t>
                      </a:r>
                      <a:endParaRPr lang="en-GB" sz="1800" dirty="0"/>
                    </a:p>
                    <a:p>
                      <a:endParaRPr lang="en-GB" sz="18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L2 destination MAC</a:t>
                      </a:r>
                      <a:r>
                        <a:rPr lang="en-GB" sz="1800" baseline="0" dirty="0"/>
                        <a:t> address</a:t>
                      </a:r>
                      <a:endParaRPr lang="en-GB" sz="1800" dirty="0"/>
                    </a:p>
                    <a:p>
                      <a:endParaRPr lang="en-GB" sz="18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L3 source IP</a:t>
                      </a:r>
                      <a:r>
                        <a:rPr lang="en-GB" sz="1800" baseline="0" dirty="0"/>
                        <a:t> address</a:t>
                      </a:r>
                      <a:endParaRPr lang="en-GB" sz="1800" dirty="0"/>
                    </a:p>
                    <a:p>
                      <a:endParaRPr lang="en-GB" sz="18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L3 destination IP</a:t>
                      </a:r>
                      <a:r>
                        <a:rPr lang="en-GB" sz="1800" baseline="0" dirty="0"/>
                        <a:t> address</a:t>
                      </a:r>
                      <a:endParaRPr lang="en-GB" sz="1800" dirty="0"/>
                    </a:p>
                    <a:p>
                      <a:endParaRPr lang="en-GB" sz="1800" dirty="0"/>
                    </a:p>
                  </a:txBody>
                  <a:tcPr marL="68580" marR="68580" marT="34290" marB="34290"/>
                </a:tc>
                <a:extLst>
                  <a:ext uri="{0D108BD9-81ED-4DB2-BD59-A6C34878D82A}">
                    <a16:rowId xmlns:a16="http://schemas.microsoft.com/office/drawing/2014/main" val="14422760"/>
                  </a:ext>
                </a:extLst>
              </a:tr>
              <a:tr h="548357">
                <a:tc>
                  <a:txBody>
                    <a:bodyPr/>
                    <a:lstStyle/>
                    <a:p>
                      <a:r>
                        <a:rPr lang="en-GB" sz="1800" dirty="0"/>
                        <a:t>PC1 to R1</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0A:10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0C:03</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192.168.1.10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192.168.4.10</a:t>
                      </a:r>
                    </a:p>
                  </a:txBody>
                  <a:tcPr marL="68580" marR="68580" marT="34290" marB="34290"/>
                </a:tc>
                <a:extLst>
                  <a:ext uri="{0D108BD9-81ED-4DB2-BD59-A6C34878D82A}">
                    <a16:rowId xmlns:a16="http://schemas.microsoft.com/office/drawing/2014/main" val="2853654290"/>
                  </a:ext>
                </a:extLst>
              </a:tr>
              <a:tr h="548357">
                <a:tc>
                  <a:txBody>
                    <a:bodyPr/>
                    <a:lstStyle/>
                    <a:p>
                      <a:r>
                        <a:rPr lang="en-GB" sz="1800" dirty="0"/>
                        <a:t>R1 to R2</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0C:04</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0D:05</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192.168.1.10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192.168.4.10</a:t>
                      </a:r>
                    </a:p>
                  </a:txBody>
                  <a:tcPr marL="68580" marR="68580" marT="34290" marB="34290"/>
                </a:tc>
                <a:extLst>
                  <a:ext uri="{0D108BD9-81ED-4DB2-BD59-A6C34878D82A}">
                    <a16:rowId xmlns:a16="http://schemas.microsoft.com/office/drawing/2014/main" val="1809474547"/>
                  </a:ext>
                </a:extLst>
              </a:tr>
              <a:tr h="548357">
                <a:tc>
                  <a:txBody>
                    <a:bodyPr/>
                    <a:lstStyle/>
                    <a:p>
                      <a:r>
                        <a:rPr lang="en-GB" sz="1800" dirty="0"/>
                        <a:t>R2 to server</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0D:06</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0F:08</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192.168.1.10</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00B050"/>
                          </a:solidFill>
                        </a:rPr>
                        <a:t>192.168.4.10</a:t>
                      </a:r>
                    </a:p>
                  </a:txBody>
                  <a:tcPr marL="68580" marR="68580" marT="34290" marB="34290"/>
                </a:tc>
                <a:extLst>
                  <a:ext uri="{0D108BD9-81ED-4DB2-BD59-A6C34878D82A}">
                    <a16:rowId xmlns:a16="http://schemas.microsoft.com/office/drawing/2014/main" val="3346154497"/>
                  </a:ext>
                </a:extLst>
              </a:tr>
            </a:tbl>
          </a:graphicData>
        </a:graphic>
      </p:graphicFrame>
    </p:spTree>
    <p:extLst>
      <p:ext uri="{BB962C8B-B14F-4D97-AF65-F5344CB8AC3E}">
        <p14:creationId xmlns:p14="http://schemas.microsoft.com/office/powerpoint/2010/main" val="3799006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CAF4A6F8AC8BD4483090AC343FA75BD" ma:contentTypeVersion="17" ma:contentTypeDescription="Create a new document." ma:contentTypeScope="" ma:versionID="3e4637ea004155263fc9126fc93531a1">
  <xsd:schema xmlns:xsd="http://www.w3.org/2001/XMLSchema" xmlns:xs="http://www.w3.org/2001/XMLSchema" xmlns:p="http://schemas.microsoft.com/office/2006/metadata/properties" xmlns:ns3="dfc1cd21-1659-462e-b552-f6a97464ea61" xmlns:ns4="a77bfd2c-8136-4486-a3f9-fcbe3ff05f22" targetNamespace="http://schemas.microsoft.com/office/2006/metadata/properties" ma:root="true" ma:fieldsID="31b1ee6bf6ef7d0ab1821d714794d68b" ns3:_="" ns4:_="">
    <xsd:import namespace="dfc1cd21-1659-462e-b552-f6a97464ea61"/>
    <xsd:import namespace="a77bfd2c-8136-4486-a3f9-fcbe3ff05f2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LengthInSeconds" minOccurs="0"/>
                <xsd:element ref="ns3:MediaServiceAutoTags" minOccurs="0"/>
                <xsd:element ref="ns3:_activity"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c1cd21-1659-462e-b552-f6a97464ea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77bfd2c-8136-4486-a3f9-fcbe3ff05f2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dfc1cd21-1659-462e-b552-f6a97464ea61" xsi:nil="true"/>
  </documentManagement>
</p:properties>
</file>

<file path=customXml/itemProps1.xml><?xml version="1.0" encoding="utf-8"?>
<ds:datastoreItem xmlns:ds="http://schemas.openxmlformats.org/officeDocument/2006/customXml" ds:itemID="{D76B097B-C2DD-48C9-914A-E6EA6EB382CA}">
  <ds:schemaRefs>
    <ds:schemaRef ds:uri="http://schemas.microsoft.com/sharepoint/v3/contenttype/forms"/>
  </ds:schemaRefs>
</ds:datastoreItem>
</file>

<file path=customXml/itemProps2.xml><?xml version="1.0" encoding="utf-8"?>
<ds:datastoreItem xmlns:ds="http://schemas.openxmlformats.org/officeDocument/2006/customXml" ds:itemID="{E9C6A3D1-4DB4-41DF-A064-4A2D2FE0ED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c1cd21-1659-462e-b552-f6a97464ea61"/>
    <ds:schemaRef ds:uri="a77bfd2c-8136-4486-a3f9-fcbe3ff05f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E53F8A6-9D99-48C7-9B59-560C0084C38E}">
  <ds:schemaRefs>
    <ds:schemaRef ds:uri="dfc1cd21-1659-462e-b552-f6a97464ea61"/>
    <ds:schemaRef ds:uri="http://www.w3.org/XML/1998/namespace"/>
    <ds:schemaRef ds:uri="http://purl.org/dc/terms/"/>
    <ds:schemaRef ds:uri="http://purl.org/dc/elements/1.1/"/>
    <ds:schemaRef ds:uri="http://schemas.microsoft.com/office/2006/metadata/properties"/>
    <ds:schemaRef ds:uri="http://schemas.microsoft.com/office/2006/documentManagement/types"/>
    <ds:schemaRef ds:uri="a77bfd2c-8136-4486-a3f9-fcbe3ff05f22"/>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TotalTime>
  <Words>4812</Words>
  <Application>Microsoft Office PowerPoint</Application>
  <PresentationFormat>Widescreen</PresentationFormat>
  <Paragraphs>515</Paragraphs>
  <Slides>40</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ＭＳ Ｐゴシック</vt:lpstr>
      <vt:lpstr>Arial</vt:lpstr>
      <vt:lpstr>Calibri</vt:lpstr>
      <vt:lpstr>Gill Sans MT</vt:lpstr>
      <vt:lpstr>Times New Roman</vt:lpstr>
      <vt:lpstr>Wingdings</vt:lpstr>
      <vt:lpstr>ZapfDingbats</vt:lpstr>
      <vt:lpstr>Office Theme</vt:lpstr>
      <vt:lpstr>CMP301 – Computer Networks Lecture week 2</vt:lpstr>
      <vt:lpstr>Lecture Week 2</vt:lpstr>
      <vt:lpstr>Part 1 – Further key topics and concepts</vt:lpstr>
      <vt:lpstr>Host: sends packets of data</vt:lpstr>
      <vt:lpstr>packet-switching</vt:lpstr>
      <vt:lpstr>Packet-switching: queueing delay, loss</vt:lpstr>
      <vt:lpstr>Alternative to packet switching: circuit switching</vt:lpstr>
      <vt:lpstr>Packet switching versus circuit switching</vt:lpstr>
      <vt:lpstr>How do packet loss and delay occur?</vt:lpstr>
      <vt:lpstr>Packet loss</vt:lpstr>
      <vt:lpstr>Network security</vt:lpstr>
      <vt:lpstr>Bad guys: malware </vt:lpstr>
      <vt:lpstr>Bad guys: denial of service</vt:lpstr>
      <vt:lpstr>Bad guys: packet interception</vt:lpstr>
      <vt:lpstr>Bad guys:  fake identity</vt:lpstr>
      <vt:lpstr>Part 2 – Media</vt:lpstr>
      <vt:lpstr>Types of Connections</vt:lpstr>
      <vt:lpstr>Network Interface Card (NIC)</vt:lpstr>
      <vt:lpstr>The Physical Layer</vt:lpstr>
      <vt:lpstr>Physical Layer Media</vt:lpstr>
      <vt:lpstr>Multipath / Penetration Loss / Knife-edge Diffraction / Reflection</vt:lpstr>
      <vt:lpstr>Multipath</vt:lpstr>
      <vt:lpstr>Links: physical media</vt:lpstr>
      <vt:lpstr>Links: physical media</vt:lpstr>
      <vt:lpstr>Links: physical media</vt:lpstr>
      <vt:lpstr>Copper Media and Characteristics</vt:lpstr>
      <vt:lpstr>Unshielded Twisted-Pair Cable</vt:lpstr>
      <vt:lpstr>Shielded Twisted-Pair Cable</vt:lpstr>
      <vt:lpstr>Coaxial Cable</vt:lpstr>
      <vt:lpstr>Fiber versus Copper</vt:lpstr>
      <vt:lpstr>Bandwidth</vt:lpstr>
      <vt:lpstr>The Data Link Layer</vt:lpstr>
      <vt:lpstr>Data Link Sublayers</vt:lpstr>
      <vt:lpstr>Media Access Control</vt:lpstr>
      <vt:lpstr>The Frame</vt:lpstr>
      <vt:lpstr>Layer 2 Address</vt:lpstr>
      <vt:lpstr>Example : L2 and L3 networking parameters (which is part of L2 and L3 headers) (1)</vt:lpstr>
      <vt:lpstr>L2 and L3 networking parameters (which is part of L2 and L3 headers) (2)</vt:lpstr>
      <vt:lpstr>L2 and L3 networking parameters (which is part of L2 and L3 headers) (3)</vt:lpstr>
      <vt:lpstr>L2 and L3 networking parameters (which is part of L2 and L3 headers)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Hasan, Mohammed</cp:lastModifiedBy>
  <cp:revision>176</cp:revision>
  <dcterms:created xsi:type="dcterms:W3CDTF">2020-01-18T07:24:59Z</dcterms:created>
  <dcterms:modified xsi:type="dcterms:W3CDTF">2024-06-12T17:43:58Z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0x0101002CAF4A6F8AC8BD4483090AC343FA75BD</vt:lpwstr>
  </property>
</Properties>
</file>