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1843" r:id="rId2"/>
    <p:sldId id="1844" r:id="rId3"/>
    <p:sldId id="1847" r:id="rId4"/>
    <p:sldId id="1797" r:id="rId5"/>
    <p:sldId id="334" r:id="rId6"/>
    <p:sldId id="336" r:id="rId7"/>
    <p:sldId id="1802" r:id="rId8"/>
    <p:sldId id="1799" r:id="rId9"/>
    <p:sldId id="1798" r:id="rId10"/>
    <p:sldId id="1848" r:id="rId11"/>
    <p:sldId id="1849" r:id="rId12"/>
    <p:sldId id="1850" r:id="rId13"/>
    <p:sldId id="1851" r:id="rId14"/>
    <p:sldId id="1852" r:id="rId15"/>
    <p:sldId id="1853" r:id="rId16"/>
    <p:sldId id="1854" r:id="rId17"/>
    <p:sldId id="1855" r:id="rId18"/>
    <p:sldId id="1856" r:id="rId19"/>
    <p:sldId id="508" r:id="rId20"/>
    <p:sldId id="398" r:id="rId21"/>
    <p:sldId id="1857" r:id="rId22"/>
    <p:sldId id="1858" r:id="rId23"/>
    <p:sldId id="1860" r:id="rId24"/>
    <p:sldId id="1819" r:id="rId25"/>
    <p:sldId id="1820" r:id="rId26"/>
    <p:sldId id="1821" r:id="rId27"/>
    <p:sldId id="349" r:id="rId28"/>
    <p:sldId id="1822" r:id="rId29"/>
    <p:sldId id="350" r:id="rId30"/>
    <p:sldId id="351" r:id="rId31"/>
    <p:sldId id="352" r:id="rId32"/>
    <p:sldId id="1823" r:id="rId33"/>
    <p:sldId id="1824" r:id="rId34"/>
    <p:sldId id="1825" r:id="rId35"/>
    <p:sldId id="1826" r:id="rId36"/>
    <p:sldId id="1827" r:id="rId37"/>
    <p:sldId id="329" r:id="rId38"/>
    <p:sldId id="353" r:id="rId39"/>
    <p:sldId id="369" r:id="rId40"/>
    <p:sldId id="370" r:id="rId41"/>
    <p:sldId id="371" r:id="rId42"/>
    <p:sldId id="374" r:id="rId43"/>
    <p:sldId id="373" r:id="rId44"/>
    <p:sldId id="375" r:id="rId45"/>
    <p:sldId id="376" r:id="rId46"/>
    <p:sldId id="380" r:id="rId47"/>
    <p:sldId id="497" r:id="rId48"/>
    <p:sldId id="498" r:id="rId49"/>
    <p:sldId id="504" r:id="rId50"/>
    <p:sldId id="505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04" userDrawn="1">
          <p15:clr>
            <a:srgbClr val="A4A3A4"/>
          </p15:clr>
        </p15:guide>
        <p15:guide id="2" pos="5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3"/>
    <a:srgbClr val="9CDFF9"/>
    <a:srgbClr val="010086"/>
    <a:srgbClr val="CCCCFF"/>
    <a:srgbClr val="3C6CDF"/>
    <a:srgbClr val="0000A8"/>
    <a:srgbClr val="C96B72"/>
    <a:srgbClr val="B8C2C9"/>
    <a:srgbClr val="D6DCE0"/>
    <a:srgbClr val="01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118"/>
    <p:restoredTop sz="87470" autoAdjust="0"/>
  </p:normalViewPr>
  <p:slideViewPr>
    <p:cSldViewPr snapToGrid="0" snapToObjects="1">
      <p:cViewPr varScale="1">
        <p:scale>
          <a:sx n="65" d="100"/>
          <a:sy n="65" d="100"/>
        </p:scale>
        <p:origin x="220" y="44"/>
      </p:cViewPr>
      <p:guideLst>
        <p:guide orient="horz" pos="1104"/>
        <p:guide pos="576"/>
      </p:guideLst>
    </p:cSldViewPr>
  </p:slideViewPr>
  <p:outlineViewPr>
    <p:cViewPr>
      <p:scale>
        <a:sx n="33" d="100"/>
        <a:sy n="33" d="100"/>
      </p:scale>
      <p:origin x="0" y="-415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coreyms" TargetMode="External"/><Relationship Id="rId7" Type="http://schemas.openxmlformats.org/officeDocument/2006/relationships/hyperlink" Target="https://www.scribd.com/presentation/459672333/TCPSocketProgramming-ppt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cloudxlab.com/assessment/displayslide/877/network-programming-in-python" TargetMode="External"/><Relationship Id="rId5" Type="http://schemas.openxmlformats.org/officeDocument/2006/relationships/hyperlink" Target="https://code.tutsplus.com/introduction-to-network-programming-in-python--cms-30459t" TargetMode="External"/><Relationship Id="rId4" Type="http://schemas.openxmlformats.org/officeDocument/2006/relationships/hyperlink" Target="https://docs.python.org/3.4/library/socket.html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>
              <a:lnSpc>
                <a:spcPct val="115000"/>
              </a:lnSpc>
              <a:spcAft>
                <a:spcPts val="800"/>
              </a:spcAft>
            </a:pPr>
            <a:r>
              <a:rPr lang="en-US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Further reading: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GB" sz="1800" i="1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W. Richard Stevens; Bill Fenner &amp; Andrew M. </a:t>
            </a:r>
            <a:r>
              <a:rPr lang="en-GB" sz="1800" i="1" kern="100" dirty="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Rudoff</a:t>
            </a:r>
            <a:r>
              <a:rPr lang="en-GB" sz="1800" i="1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(2003). Unix Network Programming, Volume 1: The Sockets Networking API (3rd ed.). Addison-Wesley Professional.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GB" sz="1800" i="1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W. Richard Stevens (1998). Unix Network Programming, Volume 2: </a:t>
            </a:r>
            <a:r>
              <a:rPr lang="en-GB" sz="1800" i="1" kern="100" dirty="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Interprocess</a:t>
            </a:r>
            <a:r>
              <a:rPr lang="en-GB" sz="1800" i="1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Communications (2nd ed.). Prentice Hall.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GB" sz="1800" i="1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</a:t>
            </a:r>
            <a:r>
              <a:rPr lang="en-GB" sz="1800" i="1" kern="100" dirty="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Youtube</a:t>
            </a:r>
            <a:r>
              <a:rPr lang="en-GB" sz="1800" i="1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channel of  Corey Schafer: </a:t>
            </a:r>
            <a:r>
              <a:rPr lang="en-US" sz="1800" u="sng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MS PGothic" panose="020B0600070205080204" pitchFamily="34" charset="-128"/>
                <a:cs typeface="Arial" panose="020B0604020202020204" pitchFamily="34" charset="0"/>
                <a:hlinkClick r:id="rId3"/>
              </a:rPr>
              <a:t>https://www.youtube.com/@coreyms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b="1" i="1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Python Socket Tutorial: </a:t>
            </a:r>
            <a:r>
              <a:rPr lang="en-US" sz="1800" b="1" i="1" u="sng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MS PGothic" panose="020B0600070205080204" pitchFamily="34" charset="-128"/>
                <a:cs typeface="Arial" panose="020B0604020202020204" pitchFamily="34" charset="0"/>
                <a:hlinkClick r:id="rId4"/>
              </a:rPr>
              <a:t>https://docs.python.org/3.4/library/socket.html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"/>
              <a:tabLst>
                <a:tab pos="457200" algn="l"/>
              </a:tabLst>
            </a:pPr>
            <a:r>
              <a:rPr lang="en-GB" sz="1800" u="sng" kern="1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5"/>
              </a:rPr>
              <a:t>https://code.tutsplus.com/introduction-to-network-programming-in-python--cms-30459t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"/>
              <a:tabLst>
                <a:tab pos="457200" algn="l"/>
              </a:tabLst>
            </a:pPr>
            <a:r>
              <a:rPr lang="en-GB" sz="1800" u="sng" kern="1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6"/>
              </a:rPr>
              <a:t>https://cloudxlab.com/assessment/displayslide/877/network-programming-in-python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"/>
              <a:tabLst>
                <a:tab pos="457200" algn="l"/>
              </a:tabLst>
            </a:pPr>
            <a:r>
              <a:rPr lang="ar-S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‎</a:t>
            </a:r>
            <a:r>
              <a:rPr lang="en-GB" sz="1800" u="sng" kern="1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7"/>
              </a:rPr>
              <a:t>https://www.scribd.com/presentation/459672333/TCPSocketProgramming-ppt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661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12460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process sends/receives messages to/from its 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socket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socket analogous to door</a:t>
            </a:r>
          </a:p>
          <a:p>
            <a:pPr marL="74295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sending process shoves message out door</a:t>
            </a:r>
          </a:p>
          <a:p>
            <a:pPr marL="74295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sending process relies on transport infrastructure on other side of door to deliver message to socket at receiving process</a:t>
            </a:r>
          </a:p>
          <a:p>
            <a:pPr marL="74295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two sockets involved: one on each side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8489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3986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9916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0706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2074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42414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92166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8130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sz="12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rgbClr val="000000"/>
                </a:solidFill>
                <a:latin typeface="Verdana" panose="020B0604030504040204" pitchFamily="34" charset="0"/>
              </a:rPr>
              <a:t>Both the server and client first create a socket to communicate with other processes. To create a socket, we use the </a:t>
            </a:r>
            <a:r>
              <a:rPr lang="en-US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socket() </a:t>
            </a:r>
            <a:r>
              <a:rPr lang="en-US" sz="1200" dirty="0">
                <a:solidFill>
                  <a:srgbClr val="000000"/>
                </a:solidFill>
                <a:latin typeface="Verdana" panose="020B0604030504040204" pitchFamily="34" charset="0"/>
              </a:rPr>
              <a:t>method.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rgbClr val="000000"/>
                </a:solidFill>
                <a:latin typeface="Verdana" panose="020B0604030504040204" pitchFamily="34" charset="0"/>
              </a:rPr>
              <a:t>Server needs to bind its socket to a specific port and IP. This port and IP will be used by the server to send and receive messages. Use the </a:t>
            </a:r>
            <a:r>
              <a:rPr lang="en-US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bind() </a:t>
            </a:r>
            <a:r>
              <a:rPr lang="en-US" sz="1200" dirty="0">
                <a:solidFill>
                  <a:srgbClr val="000000"/>
                </a:solidFill>
                <a:latin typeface="Verdana" panose="020B0604030504040204" pitchFamily="34" charset="0"/>
              </a:rPr>
              <a:t>method to bind the socket.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rgbClr val="000000"/>
                </a:solidFill>
                <a:latin typeface="Verdana" panose="020B0604030504040204" pitchFamily="34" charset="0"/>
              </a:rPr>
              <a:t>After binding to a defined port and IP, the server needs to listen for incoming connections or messages at this port and IP. Use the </a:t>
            </a:r>
            <a:r>
              <a:rPr lang="en-US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listen() </a:t>
            </a:r>
            <a:r>
              <a:rPr lang="en-US" sz="1200" dirty="0">
                <a:solidFill>
                  <a:srgbClr val="000000"/>
                </a:solidFill>
                <a:latin typeface="Verdana" panose="020B0604030504040204" pitchFamily="34" charset="0"/>
              </a:rPr>
              <a:t>method to listen through the socket.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rgbClr val="000000"/>
                </a:solidFill>
                <a:latin typeface="Verdana" panose="020B0604030504040204" pitchFamily="34" charset="0"/>
              </a:rPr>
              <a:t>For a client to communicate with the server, it first needs to connect to it. Use the </a:t>
            </a:r>
            <a:r>
              <a:rPr lang="en-US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connect() </a:t>
            </a:r>
            <a:r>
              <a:rPr lang="en-US" sz="1200" dirty="0">
                <a:solidFill>
                  <a:srgbClr val="000000"/>
                </a:solidFill>
                <a:latin typeface="Verdana" panose="020B0604030504040204" pitchFamily="34" charset="0"/>
              </a:rPr>
              <a:t>method to connect to a port and IP.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52090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18579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22848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going to be something new for some students.   Interruption-driven programming, timeout.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6774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20412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a bit about real-world examples for timeout at the end.</a:t>
            </a:r>
          </a:p>
          <a:p>
            <a:endParaRPr lang="en-US" dirty="0"/>
          </a:p>
          <a:p>
            <a:r>
              <a:rPr lang="en-US" dirty="0"/>
              <a:t>Question:  settimeout(10), then what happens in the next iteration?  Will .accept() have timeout?</a:t>
            </a:r>
          </a:p>
          <a:p>
            <a:endParaRPr lang="en-US" dirty="0"/>
          </a:p>
          <a:p>
            <a:r>
              <a:rPr lang="en-US" dirty="0"/>
              <a:t>Non-blocking:</a:t>
            </a:r>
          </a:p>
          <a:p>
            <a:r>
              <a:rPr lang="en-US" dirty="0"/>
              <a:t>https://</a:t>
            </a:r>
            <a:r>
              <a:rPr lang="en-US" dirty="0" err="1"/>
              <a:t>www.scottklement.com</a:t>
            </a:r>
            <a:r>
              <a:rPr lang="en-US" dirty="0"/>
              <a:t>/</a:t>
            </a:r>
            <a:r>
              <a:rPr lang="en-US" dirty="0" err="1"/>
              <a:t>rpg</a:t>
            </a:r>
            <a:r>
              <a:rPr lang="en-US" dirty="0"/>
              <a:t>/</a:t>
            </a:r>
            <a:r>
              <a:rPr lang="en-US" dirty="0" err="1"/>
              <a:t>socktut</a:t>
            </a:r>
            <a:r>
              <a:rPr lang="en-US" dirty="0"/>
              <a:t>/</a:t>
            </a:r>
            <a:r>
              <a:rPr lang="en-US" dirty="0" err="1"/>
              <a:t>nonblocking.html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0187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youtube.com/watch?v=3QiPPX-KeSc&amp;t=3s&amp;ab_channel=TechWithTim" TargetMode="External"/><Relationship Id="rId4" Type="http://schemas.openxmlformats.org/officeDocument/2006/relationships/hyperlink" Target="https://www.datacamp.com/tutorial/a-complete-guide-to-socket-programming-in-python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9A9F684E-5DD1-6543-95D2-8EB5E7619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407" y="516517"/>
            <a:ext cx="7850249" cy="1236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Socket Programming</a:t>
            </a:r>
          </a:p>
          <a:p>
            <a:pPr eaLnBrk="1" hangingPunct="1">
              <a:lnSpc>
                <a:spcPct val="85000"/>
              </a:lnSpc>
            </a:pPr>
            <a:endParaRPr lang="en-US" altLang="en-US" sz="5400" b="1" dirty="0">
              <a:solidFill>
                <a:srgbClr val="000099"/>
              </a:solidFill>
              <a:latin typeface="+mj-lt"/>
            </a:endParaRPr>
          </a:p>
          <a:p>
            <a:pPr eaLnBrk="1" hangingPunct="1">
              <a:lnSpc>
                <a:spcPct val="85000"/>
              </a:lnSpc>
            </a:pPr>
            <a:r>
              <a:rPr lang="en-US" altLang="en-US" sz="1400" b="1" dirty="0">
                <a:solidFill>
                  <a:srgbClr val="000099"/>
                </a:solidFill>
                <a:latin typeface="+mj-lt"/>
              </a:rPr>
              <a:t>Material gathered and synthesized by </a:t>
            </a:r>
          </a:p>
          <a:p>
            <a:pPr algn="ctr" eaLnBrk="1" hangingPunct="1">
              <a:lnSpc>
                <a:spcPct val="85000"/>
              </a:lnSpc>
            </a:pPr>
            <a:r>
              <a:rPr lang="en-US" altLang="en-US" sz="3200" b="1" dirty="0">
                <a:solidFill>
                  <a:srgbClr val="000099"/>
                </a:solidFill>
                <a:latin typeface="+mj-lt"/>
              </a:rPr>
              <a:t>Omar Nibouche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67D27E-258D-C546-967D-65B4E6ACE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2800" i="1" dirty="0">
                <a:solidFill>
                  <a:srgbClr val="0000A3"/>
                </a:solidFill>
                <a:latin typeface="+mn-lt"/>
              </a:rPr>
              <a:t>Computer Networking: A Top-Down Approach </a:t>
            </a:r>
            <a:br>
              <a:rPr lang="en-US" altLang="en-US" sz="2800" dirty="0">
                <a:solidFill>
                  <a:srgbClr val="008000"/>
                </a:solidFill>
                <a:latin typeface="+mn-lt"/>
              </a:rPr>
            </a:br>
            <a:r>
              <a:rPr lang="en-US" altLang="en-US" sz="1800" dirty="0">
                <a:latin typeface="+mn-lt"/>
              </a:rPr>
              <a:t>8</a:t>
            </a:r>
            <a:r>
              <a:rPr lang="en-US" altLang="en-US" sz="1800" baseline="30000" dirty="0">
                <a:latin typeface="+mn-lt"/>
              </a:rPr>
              <a:t>th</a:t>
            </a:r>
            <a:r>
              <a:rPr lang="en-US" altLang="en-US" sz="1800" dirty="0">
                <a:latin typeface="+mn-lt"/>
              </a:rPr>
              <a:t> edition     n 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Jim Kurose, Keith Ross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Pearson, 2020</a:t>
            </a:r>
            <a:endParaRPr lang="en-US" altLang="en-US" sz="2000" dirty="0">
              <a:latin typeface="+mn-lt"/>
            </a:endParaRPr>
          </a:p>
        </p:txBody>
      </p:sp>
      <p:pic>
        <p:nvPicPr>
          <p:cNvPr id="12" name="Picture 11" descr="A picture containing outdoor, water, bridge, building&#10;&#10;Description automatically generated">
            <a:extLst>
              <a:ext uri="{FF2B5EF4-FFF2-40B4-BE49-F238E27FC236}">
                <a16:creationId xmlns:a16="http://schemas.microsoft.com/office/drawing/2014/main" id="{3BE6A818-0DC7-1C43-B5D9-6718F2878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257" y="887185"/>
            <a:ext cx="3040743" cy="3800929"/>
          </a:xfrm>
          <a:prstGeom prst="rect">
            <a:avLst/>
          </a:prstGeo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1FAEC67E-2AB1-42C6-4D32-F1F6E2B93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008" y="4688114"/>
            <a:ext cx="7850249" cy="1497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1400" b="1" dirty="0">
                <a:solidFill>
                  <a:srgbClr val="000099"/>
                </a:solidFill>
                <a:latin typeface="+mj-lt"/>
              </a:rPr>
              <a:t>Sources used:</a:t>
            </a:r>
          </a:p>
          <a:p>
            <a:pPr>
              <a:lnSpc>
                <a:spcPct val="85000"/>
              </a:lnSpc>
              <a:spcAft>
                <a:spcPts val="800"/>
              </a:spcAft>
            </a:pPr>
            <a:r>
              <a:rPr lang="en-US" sz="1400" i="1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Computer Networking: A Top-Down Approach, 8</a:t>
            </a:r>
            <a:r>
              <a:rPr lang="en-US" sz="1400" i="1" kern="1200" baseline="300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th</a:t>
            </a:r>
            <a:r>
              <a:rPr lang="en-US" sz="1400" i="1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edition, Jim Kurose, Keith Ross - Pearson, 2020</a:t>
            </a:r>
            <a:endParaRPr lang="en-GB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fontAlgn="base">
              <a:lnSpc>
                <a:spcPct val="115000"/>
              </a:lnSpc>
              <a:spcAft>
                <a:spcPts val="800"/>
              </a:spcAft>
            </a:pPr>
            <a:r>
              <a:rPr lang="en-US" sz="1400" i="1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Foundations of Python Network Programming</a:t>
            </a:r>
            <a:r>
              <a:rPr lang="en-US" sz="14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, 3</a:t>
            </a:r>
            <a:r>
              <a:rPr lang="en-US" sz="1400" kern="1200" baseline="300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rd</a:t>
            </a:r>
            <a:r>
              <a:rPr lang="en-US" sz="14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edition, by </a:t>
            </a:r>
            <a:r>
              <a:rPr lang="en-US" sz="1400" u="sng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Brandon Rhodes</a:t>
            </a:r>
            <a:r>
              <a:rPr lang="en-US" sz="1400" i="1" u="sng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&amp; </a:t>
            </a:r>
            <a:r>
              <a:rPr lang="en-US" sz="1400" u="sng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John </a:t>
            </a:r>
            <a:r>
              <a:rPr lang="en-US" sz="1400" u="sng" kern="1200" dirty="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Goerzen</a:t>
            </a:r>
            <a:r>
              <a:rPr lang="en-US" sz="1400" u="sng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, </a:t>
            </a:r>
            <a:r>
              <a:rPr lang="en-US" sz="14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2014 </a:t>
            </a:r>
            <a:r>
              <a:rPr lang="en-US" sz="1400" kern="1200" dirty="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Apress</a:t>
            </a:r>
            <a:endParaRPr lang="en-GB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400" i="1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A Complete Guide to Socket Programming in Python: </a:t>
            </a:r>
            <a:r>
              <a:rPr lang="en-US" sz="1400" u="sng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MS PGothic" panose="020B0600070205080204" pitchFamily="34" charset="-128"/>
                <a:cs typeface="Arial" panose="020B0604020202020204" pitchFamily="34" charset="0"/>
                <a:hlinkClick r:id="rId4"/>
              </a:rPr>
              <a:t>https://www.datacamp.com/tutorial/a-complete-guide-to-socket-programming-in-python</a:t>
            </a:r>
            <a:endParaRPr lang="en-GB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1400" i="1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Python Socket Programming Tutorial (Tech With Tim): </a:t>
            </a:r>
            <a:r>
              <a:rPr lang="en-GB" sz="1400" u="sng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MS PGothic" panose="020B0600070205080204" pitchFamily="34" charset="-128"/>
                <a:cs typeface="Arial" panose="020B0604020202020204" pitchFamily="34" charset="0"/>
                <a:hlinkClick r:id="rId5"/>
              </a:rPr>
              <a:t>https://www.youtube.com/watch?v=3QiPPX-KeSc&amp;t=3s&amp;ab_channel=TechWithTim</a:t>
            </a:r>
            <a:endParaRPr lang="en-GB" sz="1400" u="sng" kern="1200" dirty="0">
              <a:solidFill>
                <a:srgbClr val="000000"/>
              </a:solidFill>
              <a:effectLst/>
              <a:latin typeface="Aptos" panose="020B00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1400" u="sng" dirty="0">
                <a:solidFill>
                  <a:srgbClr val="92D050"/>
                </a:solidFill>
                <a:latin typeface="Aptos" panose="020B00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For further reading: please the notes section</a:t>
            </a:r>
            <a:endParaRPr lang="en-GB" sz="1400" kern="100" dirty="0">
              <a:solidFill>
                <a:srgbClr val="92D05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5000"/>
              </a:lnSpc>
            </a:pPr>
            <a:endParaRPr lang="en-US" altLang="en-US" sz="3200" b="1" dirty="0">
              <a:solidFill>
                <a:srgbClr val="000099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21829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Freeform 370">
            <a:extLst>
              <a:ext uri="{FF2B5EF4-FFF2-40B4-BE49-F238E27FC236}">
                <a16:creationId xmlns:a16="http://schemas.microsoft.com/office/drawing/2014/main" id="{21662630-62BB-AE4A-A779-AEACD21E6D7C}"/>
              </a:ext>
            </a:extLst>
          </p:cNvPr>
          <p:cNvSpPr/>
          <p:nvPr/>
        </p:nvSpPr>
        <p:spPr>
          <a:xfrm>
            <a:off x="8985188" y="3065778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417">
            <a:extLst>
              <a:ext uri="{FF2B5EF4-FFF2-40B4-BE49-F238E27FC236}">
                <a16:creationId xmlns:a16="http://schemas.microsoft.com/office/drawing/2014/main" id="{22352293-C7A6-4C41-9DD8-CAA48CB29154}"/>
              </a:ext>
            </a:extLst>
          </p:cNvPr>
          <p:cNvSpPr>
            <a:spLocks/>
          </p:cNvSpPr>
          <p:nvPr/>
        </p:nvSpPr>
        <p:spPr bwMode="auto">
          <a:xfrm>
            <a:off x="7274076" y="1826035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" name="Group 418">
            <a:extLst>
              <a:ext uri="{FF2B5EF4-FFF2-40B4-BE49-F238E27FC236}">
                <a16:creationId xmlns:a16="http://schemas.microsoft.com/office/drawing/2014/main" id="{BE0D451A-5CE4-4C4B-B3DF-A408288EDA0C}"/>
              </a:ext>
            </a:extLst>
          </p:cNvPr>
          <p:cNvGrpSpPr>
            <a:grpSpLocks/>
          </p:cNvGrpSpPr>
          <p:nvPr/>
        </p:nvGrpSpPr>
        <p:grpSpPr bwMode="auto"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369" name="Rectangle 419">
              <a:extLst>
                <a:ext uri="{FF2B5EF4-FFF2-40B4-BE49-F238E27FC236}">
                  <a16:creationId xmlns:a16="http://schemas.microsoft.com/office/drawing/2014/main" id="{F39DA03D-3BDA-2344-B3D3-3A95FB5EE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70" name="AutoShape 420">
              <a:extLst>
                <a:ext uri="{FF2B5EF4-FFF2-40B4-BE49-F238E27FC236}">
                  <a16:creationId xmlns:a16="http://schemas.microsoft.com/office/drawing/2014/main" id="{579866B0-F884-A84A-B74A-EFEA50EBF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CC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21" name="Freeform 427">
            <a:extLst>
              <a:ext uri="{FF2B5EF4-FFF2-40B4-BE49-F238E27FC236}">
                <a16:creationId xmlns:a16="http://schemas.microsoft.com/office/drawing/2014/main" id="{3F97D486-CCD5-C043-940C-EC1740EC7BA0}"/>
              </a:ext>
            </a:extLst>
          </p:cNvPr>
          <p:cNvSpPr>
            <a:spLocks/>
          </p:cNvSpPr>
          <p:nvPr/>
        </p:nvSpPr>
        <p:spPr bwMode="auto">
          <a:xfrm>
            <a:off x="7712401" y="4683134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Box 580">
            <a:extLst>
              <a:ext uri="{FF2B5EF4-FFF2-40B4-BE49-F238E27FC236}">
                <a16:creationId xmlns:a16="http://schemas.microsoft.com/office/drawing/2014/main" id="{16C4E384-62E0-DC41-883F-EB2C4C99F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mobile network</a:t>
            </a:r>
          </a:p>
        </p:txBody>
      </p:sp>
      <p:sp>
        <p:nvSpPr>
          <p:cNvPr id="69" name="Text Box 580">
            <a:extLst>
              <a:ext uri="{FF2B5EF4-FFF2-40B4-BE49-F238E27FC236}">
                <a16:creationId xmlns:a16="http://schemas.microsoft.com/office/drawing/2014/main" id="{9AC056F8-729E-D344-BD7D-917810217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home network</a:t>
            </a:r>
          </a:p>
        </p:txBody>
      </p:sp>
      <p:sp>
        <p:nvSpPr>
          <p:cNvPr id="70" name="Text Box 580">
            <a:extLst>
              <a:ext uri="{FF2B5EF4-FFF2-40B4-BE49-F238E27FC236}">
                <a16:creationId xmlns:a16="http://schemas.microsoft.com/office/drawing/2014/main" id="{8A1A4F41-0243-4946-9F02-F301CBD59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enterprise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          network</a:t>
            </a:r>
          </a:p>
        </p:txBody>
      </p:sp>
      <p:sp>
        <p:nvSpPr>
          <p:cNvPr id="372" name="Freeform 371">
            <a:extLst>
              <a:ext uri="{FF2B5EF4-FFF2-40B4-BE49-F238E27FC236}">
                <a16:creationId xmlns:a16="http://schemas.microsoft.com/office/drawing/2014/main" id="{C89E7C56-1DE4-7143-8EEB-E5965035CC42}"/>
              </a:ext>
            </a:extLst>
          </p:cNvPr>
          <p:cNvSpPr/>
          <p:nvPr/>
        </p:nvSpPr>
        <p:spPr>
          <a:xfrm>
            <a:off x="10222146" y="3179540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96BCCD85-1D07-EF4E-A878-EC23CD23096A}"/>
              </a:ext>
            </a:extLst>
          </p:cNvPr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D6FAD5AB-6E93-5E47-BE32-4993FD767B8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2A115C8B-7EC0-084D-A3CF-7AEF0487F301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16F8043F-8502-904C-9632-B3658D71B8BE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B4B3A6DE-2E70-F74C-8CA1-13247C912682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4B9DB078-BD58-F64A-B873-E1187205EB94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D321DD82-9D22-0B49-ADF9-8BE310E97E7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18A2FB0C-53B9-5248-AA65-9BA9B429FC4C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44FBB965-69F3-F546-AE9F-4AD14078F37E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BDA3EF41-5873-7D4B-8A04-F8D62DFD2DB6}"/>
              </a:ext>
            </a:extLst>
          </p:cNvPr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325473B9-6F55-684D-B22D-FF70325540CE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id="{06CE85F7-18B2-3947-975F-CEA32EE2FBA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F3F3D0FA-374D-9147-8047-2B7B3AAF05DF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AFF00F79-7128-E243-BBD5-A97200EABABC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729D9C8D-B396-A049-9B7A-BE878812629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4B32C41F-58E3-CC4F-9625-B6688BEB2140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58933865-B1C6-3244-A0F5-136E4C6DD92E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76C939A7-C3F0-5A45-B81D-4E775CF1C92C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2" name="Freeform 561">
            <a:extLst>
              <a:ext uri="{FF2B5EF4-FFF2-40B4-BE49-F238E27FC236}">
                <a16:creationId xmlns:a16="http://schemas.microsoft.com/office/drawing/2014/main" id="{BE088278-C41B-3E4A-87CE-FD65749FA13D}"/>
              </a:ext>
            </a:extLst>
          </p:cNvPr>
          <p:cNvSpPr/>
          <p:nvPr/>
        </p:nvSpPr>
        <p:spPr>
          <a:xfrm>
            <a:off x="9540813" y="1782042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59DB778E-F23D-6C41-8A2D-8F08BD46CBCB}"/>
              </a:ext>
            </a:extLst>
          </p:cNvPr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national or global ISP</a:t>
            </a: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2DCB9395-41DC-D844-A0B1-59B5BDD3151F}"/>
              </a:ext>
            </a:extLst>
          </p:cNvPr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3" name="TextBox 652">
            <a:extLst>
              <a:ext uri="{FF2B5EF4-FFF2-40B4-BE49-F238E27FC236}">
                <a16:creationId xmlns:a16="http://schemas.microsoft.com/office/drawing/2014/main" id="{C34CA97E-4007-3540-925A-3C739C254049}"/>
              </a:ext>
            </a:extLst>
          </p:cNvPr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local or regional ISP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id="{7DCF99E9-1DFC-0241-B2E7-471998268663}"/>
              </a:ext>
            </a:extLst>
          </p:cNvPr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datacenter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173BD163-3F4D-944E-B86B-3275B779D5A8}"/>
              </a:ext>
            </a:extLst>
          </p:cNvPr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30" name="Straight Connector 829">
            <a:extLst>
              <a:ext uri="{FF2B5EF4-FFF2-40B4-BE49-F238E27FC236}">
                <a16:creationId xmlns:a16="http://schemas.microsoft.com/office/drawing/2014/main" id="{B163CA8C-EB1E-A14C-9A66-BC297C1207E6}"/>
              </a:ext>
            </a:extLst>
          </p:cNvPr>
          <p:cNvCxnSpPr>
            <a:cxnSpLocks/>
          </p:cNvCxnSpPr>
          <p:nvPr/>
        </p:nvCxnSpPr>
        <p:spPr>
          <a:xfrm flipH="1" flipV="1">
            <a:off x="10559920" y="3580125"/>
            <a:ext cx="412964" cy="63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7" name="Straight Connector 826">
            <a:extLst>
              <a:ext uri="{FF2B5EF4-FFF2-40B4-BE49-F238E27FC236}">
                <a16:creationId xmlns:a16="http://schemas.microsoft.com/office/drawing/2014/main" id="{5423E50E-9196-7E41-B2E3-7EFFBB807850}"/>
              </a:ext>
            </a:extLst>
          </p:cNvPr>
          <p:cNvCxnSpPr>
            <a:cxnSpLocks/>
          </p:cNvCxnSpPr>
          <p:nvPr/>
        </p:nvCxnSpPr>
        <p:spPr>
          <a:xfrm flipH="1" flipV="1">
            <a:off x="10660835" y="3640684"/>
            <a:ext cx="345866" cy="738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824">
            <a:extLst>
              <a:ext uri="{FF2B5EF4-FFF2-40B4-BE49-F238E27FC236}">
                <a16:creationId xmlns:a16="http://schemas.microsoft.com/office/drawing/2014/main" id="{D736E0FF-D607-3B4C-A87A-D415301D67BE}"/>
              </a:ext>
            </a:extLst>
          </p:cNvPr>
          <p:cNvCxnSpPr>
            <a:cxnSpLocks/>
          </p:cNvCxnSpPr>
          <p:nvPr/>
        </p:nvCxnSpPr>
        <p:spPr>
          <a:xfrm flipV="1">
            <a:off x="10636897" y="3633421"/>
            <a:ext cx="335987" cy="395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822">
            <a:extLst>
              <a:ext uri="{FF2B5EF4-FFF2-40B4-BE49-F238E27FC236}">
                <a16:creationId xmlns:a16="http://schemas.microsoft.com/office/drawing/2014/main" id="{412118DA-F614-8A42-80A7-8D427CB9D063}"/>
              </a:ext>
            </a:extLst>
          </p:cNvPr>
          <p:cNvCxnSpPr>
            <a:cxnSpLocks/>
          </p:cNvCxnSpPr>
          <p:nvPr/>
        </p:nvCxnSpPr>
        <p:spPr>
          <a:xfrm flipH="1" flipV="1">
            <a:off x="10570774" y="3594896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>
            <a:extLst>
              <a:ext uri="{FF2B5EF4-FFF2-40B4-BE49-F238E27FC236}">
                <a16:creationId xmlns:a16="http://schemas.microsoft.com/office/drawing/2014/main" id="{1F000A1C-019C-AC40-8B26-99394BC90A3F}"/>
              </a:ext>
            </a:extLst>
          </p:cNvPr>
          <p:cNvCxnSpPr>
            <a:cxnSpLocks/>
          </p:cNvCxnSpPr>
          <p:nvPr/>
        </p:nvCxnSpPr>
        <p:spPr>
          <a:xfrm flipH="1" flipV="1">
            <a:off x="10550620" y="4071642"/>
            <a:ext cx="508543" cy="34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817">
            <a:extLst>
              <a:ext uri="{FF2B5EF4-FFF2-40B4-BE49-F238E27FC236}">
                <a16:creationId xmlns:a16="http://schemas.microsoft.com/office/drawing/2014/main" id="{E581177E-ADBB-324A-BE56-FFA64730F33D}"/>
              </a:ext>
            </a:extLst>
          </p:cNvPr>
          <p:cNvCxnSpPr>
            <a:cxnSpLocks/>
          </p:cNvCxnSpPr>
          <p:nvPr/>
        </p:nvCxnSpPr>
        <p:spPr>
          <a:xfrm flipH="1">
            <a:off x="9895195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815">
            <a:extLst>
              <a:ext uri="{FF2B5EF4-FFF2-40B4-BE49-F238E27FC236}">
                <a16:creationId xmlns:a16="http://schemas.microsoft.com/office/drawing/2014/main" id="{D0BFF2F4-0B07-CF45-A69B-7B91FA12DE36}"/>
              </a:ext>
            </a:extLst>
          </p:cNvPr>
          <p:cNvCxnSpPr>
            <a:cxnSpLocks/>
          </p:cNvCxnSpPr>
          <p:nvPr/>
        </p:nvCxnSpPr>
        <p:spPr>
          <a:xfrm flipH="1">
            <a:off x="9219616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Connector 812">
            <a:extLst>
              <a:ext uri="{FF2B5EF4-FFF2-40B4-BE49-F238E27FC236}">
                <a16:creationId xmlns:a16="http://schemas.microsoft.com/office/drawing/2014/main" id="{E3568D00-797E-F542-B47B-DC40257A1AF2}"/>
              </a:ext>
            </a:extLst>
          </p:cNvPr>
          <p:cNvCxnSpPr>
            <a:cxnSpLocks/>
          </p:cNvCxnSpPr>
          <p:nvPr/>
        </p:nvCxnSpPr>
        <p:spPr>
          <a:xfrm flipH="1">
            <a:off x="9276868" y="3507672"/>
            <a:ext cx="382424" cy="51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Connector 810">
            <a:extLst>
              <a:ext uri="{FF2B5EF4-FFF2-40B4-BE49-F238E27FC236}">
                <a16:creationId xmlns:a16="http://schemas.microsoft.com/office/drawing/2014/main" id="{B5D2DFB3-E4DE-3C49-8F72-DC09F553A5F3}"/>
              </a:ext>
            </a:extLst>
          </p:cNvPr>
          <p:cNvCxnSpPr>
            <a:cxnSpLocks/>
          </p:cNvCxnSpPr>
          <p:nvPr/>
        </p:nvCxnSpPr>
        <p:spPr>
          <a:xfrm>
            <a:off x="9733069" y="3507672"/>
            <a:ext cx="0" cy="540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807">
            <a:extLst>
              <a:ext uri="{FF2B5EF4-FFF2-40B4-BE49-F238E27FC236}">
                <a16:creationId xmlns:a16="http://schemas.microsoft.com/office/drawing/2014/main" id="{F9A85AAA-3DAA-6946-B559-D97F731B61D5}"/>
              </a:ext>
            </a:extLst>
          </p:cNvPr>
          <p:cNvCxnSpPr/>
          <p:nvPr/>
        </p:nvCxnSpPr>
        <p:spPr>
          <a:xfrm>
            <a:off x="10137668" y="2754692"/>
            <a:ext cx="488174" cy="83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Connector 562">
            <a:extLst>
              <a:ext uri="{FF2B5EF4-FFF2-40B4-BE49-F238E27FC236}">
                <a16:creationId xmlns:a16="http://schemas.microsoft.com/office/drawing/2014/main" id="{12CE73BA-DDE8-5741-9E5E-64CA353BA98C}"/>
              </a:ext>
            </a:extLst>
          </p:cNvPr>
          <p:cNvCxnSpPr>
            <a:cxnSpLocks/>
          </p:cNvCxnSpPr>
          <p:nvPr/>
        </p:nvCxnSpPr>
        <p:spPr>
          <a:xfrm flipH="1">
            <a:off x="9798719" y="2695013"/>
            <a:ext cx="380432" cy="6948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3" name="Group 802">
            <a:extLst>
              <a:ext uri="{FF2B5EF4-FFF2-40B4-BE49-F238E27FC236}">
                <a16:creationId xmlns:a16="http://schemas.microsoft.com/office/drawing/2014/main" id="{4429D23B-C424-D54E-A99F-D3FC646B3D08}"/>
              </a:ext>
            </a:extLst>
          </p:cNvPr>
          <p:cNvGrpSpPr/>
          <p:nvPr/>
        </p:nvGrpSpPr>
        <p:grpSpPr>
          <a:xfrm>
            <a:off x="7562238" y="2127325"/>
            <a:ext cx="3578867" cy="3640283"/>
            <a:chOff x="7562238" y="2127325"/>
            <a:chExt cx="3578867" cy="3640283"/>
          </a:xfrm>
        </p:grpSpPr>
        <p:grpSp>
          <p:nvGrpSpPr>
            <p:cNvPr id="800" name="Group 799">
              <a:extLst>
                <a:ext uri="{FF2B5EF4-FFF2-40B4-BE49-F238E27FC236}">
                  <a16:creationId xmlns:a16="http://schemas.microsoft.com/office/drawing/2014/main" id="{C0FB38C4-8D4E-FD46-8BA5-A01F983C9AF5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22" name="Line 428">
                <a:extLst>
                  <a:ext uri="{FF2B5EF4-FFF2-40B4-BE49-F238E27FC236}">
                    <a16:creationId xmlns:a16="http://schemas.microsoft.com/office/drawing/2014/main" id="{28DDE19D-11FD-214B-B68A-9F6AAEA3A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Line 430">
                <a:extLst>
                  <a:ext uri="{FF2B5EF4-FFF2-40B4-BE49-F238E27FC236}">
                    <a16:creationId xmlns:a16="http://schemas.microsoft.com/office/drawing/2014/main" id="{3188928B-5976-7142-B509-B67C32631B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Line 431">
                <a:extLst>
                  <a:ext uri="{FF2B5EF4-FFF2-40B4-BE49-F238E27FC236}">
                    <a16:creationId xmlns:a16="http://schemas.microsoft.com/office/drawing/2014/main" id="{B61C3274-819B-1A4B-9892-BC7A0AB4B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Line 432">
                <a:extLst>
                  <a:ext uri="{FF2B5EF4-FFF2-40B4-BE49-F238E27FC236}">
                    <a16:creationId xmlns:a16="http://schemas.microsoft.com/office/drawing/2014/main" id="{6434324A-C183-F645-84E8-7170D215D0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Line 433">
                <a:extLst>
                  <a:ext uri="{FF2B5EF4-FFF2-40B4-BE49-F238E27FC236}">
                    <a16:creationId xmlns:a16="http://schemas.microsoft.com/office/drawing/2014/main" id="{4326369B-7050-F54A-9B61-51FBE9831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Line 435">
                <a:extLst>
                  <a:ext uri="{FF2B5EF4-FFF2-40B4-BE49-F238E27FC236}">
                    <a16:creationId xmlns:a16="http://schemas.microsoft.com/office/drawing/2014/main" id="{D2EFF5DE-9380-7D46-847C-7986E80C63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Line 436">
                <a:extLst>
                  <a:ext uri="{FF2B5EF4-FFF2-40B4-BE49-F238E27FC236}">
                    <a16:creationId xmlns:a16="http://schemas.microsoft.com/office/drawing/2014/main" id="{CAD2281A-59A4-DA4C-A9DC-E37CA49919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Line 439">
                <a:extLst>
                  <a:ext uri="{FF2B5EF4-FFF2-40B4-BE49-F238E27FC236}">
                    <a16:creationId xmlns:a16="http://schemas.microsoft.com/office/drawing/2014/main" id="{59746900-72D7-BF46-8B59-62F2A5D479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Line 440">
                <a:extLst>
                  <a:ext uri="{FF2B5EF4-FFF2-40B4-BE49-F238E27FC236}">
                    <a16:creationId xmlns:a16="http://schemas.microsoft.com/office/drawing/2014/main" id="{76AA107C-4028-5D4D-B986-E7C4D7058C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Line 441">
                <a:extLst>
                  <a:ext uri="{FF2B5EF4-FFF2-40B4-BE49-F238E27FC236}">
                    <a16:creationId xmlns:a16="http://schemas.microsoft.com/office/drawing/2014/main" id="{AF797424-05E8-8345-847C-94DA81395A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Line 443">
                <a:extLst>
                  <a:ext uri="{FF2B5EF4-FFF2-40B4-BE49-F238E27FC236}">
                    <a16:creationId xmlns:a16="http://schemas.microsoft.com/office/drawing/2014/main" id="{BCDF073B-F330-A345-A512-B85DFD399D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Line 449">
                <a:extLst>
                  <a:ext uri="{FF2B5EF4-FFF2-40B4-BE49-F238E27FC236}">
                    <a16:creationId xmlns:a16="http://schemas.microsoft.com/office/drawing/2014/main" id="{53CD988A-3515-7242-9C29-87AF281086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8" name="Line 428">
                <a:extLst>
                  <a:ext uri="{FF2B5EF4-FFF2-40B4-BE49-F238E27FC236}">
                    <a16:creationId xmlns:a16="http://schemas.microsoft.com/office/drawing/2014/main" id="{538963BA-E603-D94F-A908-92C50EC39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7" name="Line 440">
                <a:extLst>
                  <a:ext uri="{FF2B5EF4-FFF2-40B4-BE49-F238E27FC236}">
                    <a16:creationId xmlns:a16="http://schemas.microsoft.com/office/drawing/2014/main" id="{E3BCB46D-EF32-8C42-A43A-1B0DAF759B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564" name="Straight Connector 563">
                <a:extLst>
                  <a:ext uri="{FF2B5EF4-FFF2-40B4-BE49-F238E27FC236}">
                    <a16:creationId xmlns:a16="http://schemas.microsoft.com/office/drawing/2014/main" id="{CE6E1140-BC2F-9947-9B51-91DC5079ABB1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Straight Connector 564">
                <a:extLst>
                  <a:ext uri="{FF2B5EF4-FFF2-40B4-BE49-F238E27FC236}">
                    <a16:creationId xmlns:a16="http://schemas.microsoft.com/office/drawing/2014/main" id="{9EF5B4FA-3960-F54C-936B-C64147078447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" name="Straight Connector 565">
                <a:extLst>
                  <a:ext uri="{FF2B5EF4-FFF2-40B4-BE49-F238E27FC236}">
                    <a16:creationId xmlns:a16="http://schemas.microsoft.com/office/drawing/2014/main" id="{691B45AC-C5E3-D24E-9C63-05D00B08C71D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" name="Straight Connector 566">
                <a:extLst>
                  <a:ext uri="{FF2B5EF4-FFF2-40B4-BE49-F238E27FC236}">
                    <a16:creationId xmlns:a16="http://schemas.microsoft.com/office/drawing/2014/main" id="{59EB46BB-F3EA-4248-B631-AC80BEB74EF0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" name="Straight Connector 567">
                <a:extLst>
                  <a:ext uri="{FF2B5EF4-FFF2-40B4-BE49-F238E27FC236}">
                    <a16:creationId xmlns:a16="http://schemas.microsoft.com/office/drawing/2014/main" id="{C562C7DD-3FD1-0E4C-B308-744C6C87FC79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Straight Connector 568">
                <a:extLst>
                  <a:ext uri="{FF2B5EF4-FFF2-40B4-BE49-F238E27FC236}">
                    <a16:creationId xmlns:a16="http://schemas.microsoft.com/office/drawing/2014/main" id="{6793D61B-AD50-A246-A5C0-38DF48C17738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" name="Straight Connector 569">
                <a:extLst>
                  <a:ext uri="{FF2B5EF4-FFF2-40B4-BE49-F238E27FC236}">
                    <a16:creationId xmlns:a16="http://schemas.microsoft.com/office/drawing/2014/main" id="{EDD09B84-3AA8-0948-AB6C-1D5CBFFC5293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" name="Straight Connector 573">
                <a:extLst>
                  <a:ext uri="{FF2B5EF4-FFF2-40B4-BE49-F238E27FC236}">
                    <a16:creationId xmlns:a16="http://schemas.microsoft.com/office/drawing/2014/main" id="{C777BA08-17B1-254B-BCB6-583E10254EC6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Line 541">
                <a:extLst>
                  <a:ext uri="{FF2B5EF4-FFF2-40B4-BE49-F238E27FC236}">
                    <a16:creationId xmlns:a16="http://schemas.microsoft.com/office/drawing/2014/main" id="{C44ADC96-78DA-C64F-AF97-4FFA68D2ED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Line 424">
                <a:extLst>
                  <a:ext uri="{FF2B5EF4-FFF2-40B4-BE49-F238E27FC236}">
                    <a16:creationId xmlns:a16="http://schemas.microsoft.com/office/drawing/2014/main" id="{845B46BE-685D-2D4E-AD26-5684794D19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262" name="Picture 778" descr="antenna_radiation_stylized">
              <a:extLst>
                <a:ext uri="{FF2B5EF4-FFF2-40B4-BE49-F238E27FC236}">
                  <a16:creationId xmlns:a16="http://schemas.microsoft.com/office/drawing/2014/main" id="{B73E5F98-BC74-DB47-BA02-5F29DC6757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0" name="Picture 781" descr="antenna_radiation_stylized">
              <a:extLst>
                <a:ext uri="{FF2B5EF4-FFF2-40B4-BE49-F238E27FC236}">
                  <a16:creationId xmlns:a16="http://schemas.microsoft.com/office/drawing/2014/main" id="{5F858A2F-D0F0-7E47-8EF1-4C37898F9C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2" name="Picture 799" descr="cell_tower_radiation copy">
              <a:extLst>
                <a:ext uri="{FF2B5EF4-FFF2-40B4-BE49-F238E27FC236}">
                  <a16:creationId xmlns:a16="http://schemas.microsoft.com/office/drawing/2014/main" id="{B5B28CD6-3076-384D-8180-86543C59B6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3" name="Oval 800">
              <a:extLst>
                <a:ext uri="{FF2B5EF4-FFF2-40B4-BE49-F238E27FC236}">
                  <a16:creationId xmlns:a16="http://schemas.microsoft.com/office/drawing/2014/main" id="{271D03F6-D85B-EC41-803D-EFAA96DAE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239" name="Line 426">
            <a:extLst>
              <a:ext uri="{FF2B5EF4-FFF2-40B4-BE49-F238E27FC236}">
                <a16:creationId xmlns:a16="http://schemas.microsoft.com/office/drawing/2014/main" id="{DDAEB50C-98DD-DA43-B9C4-9AB7F9ED5BFD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7860" y="2700359"/>
            <a:ext cx="227964" cy="1743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1" name="Group 783">
            <a:extLst>
              <a:ext uri="{FF2B5EF4-FFF2-40B4-BE49-F238E27FC236}">
                <a16:creationId xmlns:a16="http://schemas.microsoft.com/office/drawing/2014/main" id="{02FEAFB4-9831-B64A-9F54-92C532E8F36E}"/>
              </a:ext>
            </a:extLst>
          </p:cNvPr>
          <p:cNvGrpSpPr>
            <a:grpSpLocks/>
          </p:cNvGrpSpPr>
          <p:nvPr/>
        </p:nvGrpSpPr>
        <p:grpSpPr bwMode="auto">
          <a:xfrm>
            <a:off x="8050698" y="2309376"/>
            <a:ext cx="298450" cy="464008"/>
            <a:chOff x="3130" y="3288"/>
            <a:chExt cx="410" cy="742"/>
          </a:xfrm>
        </p:grpSpPr>
        <p:sp>
          <p:nvSpPr>
            <p:cNvPr id="244" name="Line 270">
              <a:extLst>
                <a:ext uri="{FF2B5EF4-FFF2-40B4-BE49-F238E27FC236}">
                  <a16:creationId xmlns:a16="http://schemas.microsoft.com/office/drawing/2014/main" id="{A9300902-94F3-8949-9A54-8B95986ACB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5" name="Line 271">
              <a:extLst>
                <a:ext uri="{FF2B5EF4-FFF2-40B4-BE49-F238E27FC236}">
                  <a16:creationId xmlns:a16="http://schemas.microsoft.com/office/drawing/2014/main" id="{B93F32E3-8690-BD4B-B848-94E1FAAB5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6" name="Line 272">
              <a:extLst>
                <a:ext uri="{FF2B5EF4-FFF2-40B4-BE49-F238E27FC236}">
                  <a16:creationId xmlns:a16="http://schemas.microsoft.com/office/drawing/2014/main" id="{AB0BEDC3-F0F0-4E42-A55F-57AC0548D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7" name="Line 273">
              <a:extLst>
                <a:ext uri="{FF2B5EF4-FFF2-40B4-BE49-F238E27FC236}">
                  <a16:creationId xmlns:a16="http://schemas.microsoft.com/office/drawing/2014/main" id="{3AF299DE-8F54-D84C-B398-5B3B44C53A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8" name="Line 274">
              <a:extLst>
                <a:ext uri="{FF2B5EF4-FFF2-40B4-BE49-F238E27FC236}">
                  <a16:creationId xmlns:a16="http://schemas.microsoft.com/office/drawing/2014/main" id="{C2005C3C-C4BA-FD44-A127-E5C4FE594D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9" name="Line 275">
              <a:extLst>
                <a:ext uri="{FF2B5EF4-FFF2-40B4-BE49-F238E27FC236}">
                  <a16:creationId xmlns:a16="http://schemas.microsoft.com/office/drawing/2014/main" id="{948DF918-9246-AF45-A55F-C5B7436635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0" name="Line 276">
              <a:extLst>
                <a:ext uri="{FF2B5EF4-FFF2-40B4-BE49-F238E27FC236}">
                  <a16:creationId xmlns:a16="http://schemas.microsoft.com/office/drawing/2014/main" id="{3D1534AB-9253-A140-B4C5-81F085C452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1" name="Line 277">
              <a:extLst>
                <a:ext uri="{FF2B5EF4-FFF2-40B4-BE49-F238E27FC236}">
                  <a16:creationId xmlns:a16="http://schemas.microsoft.com/office/drawing/2014/main" id="{3BA377A2-6A51-F64B-AA8B-4FB90FAA7D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2" name="Line 278">
              <a:extLst>
                <a:ext uri="{FF2B5EF4-FFF2-40B4-BE49-F238E27FC236}">
                  <a16:creationId xmlns:a16="http://schemas.microsoft.com/office/drawing/2014/main" id="{FA310FA6-4B1E-0047-8066-8AF44673F2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3" name="Line 279">
              <a:extLst>
                <a:ext uri="{FF2B5EF4-FFF2-40B4-BE49-F238E27FC236}">
                  <a16:creationId xmlns:a16="http://schemas.microsoft.com/office/drawing/2014/main" id="{254B094E-F3D3-0F46-BF4E-A226644B01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4" name="Line 280">
              <a:extLst>
                <a:ext uri="{FF2B5EF4-FFF2-40B4-BE49-F238E27FC236}">
                  <a16:creationId xmlns:a16="http://schemas.microsoft.com/office/drawing/2014/main" id="{9805319A-9CA5-7340-811A-8DBCB5A2BA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5" name="Line 281">
              <a:extLst>
                <a:ext uri="{FF2B5EF4-FFF2-40B4-BE49-F238E27FC236}">
                  <a16:creationId xmlns:a16="http://schemas.microsoft.com/office/drawing/2014/main" id="{6042C4DF-7427-904B-A064-26708AF480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" name="Line 282">
              <a:extLst>
                <a:ext uri="{FF2B5EF4-FFF2-40B4-BE49-F238E27FC236}">
                  <a16:creationId xmlns:a16="http://schemas.microsoft.com/office/drawing/2014/main" id="{21FF36A4-E56F-C94A-8E67-9A6E4DA844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7" name="Line 283">
              <a:extLst>
                <a:ext uri="{FF2B5EF4-FFF2-40B4-BE49-F238E27FC236}">
                  <a16:creationId xmlns:a16="http://schemas.microsoft.com/office/drawing/2014/main" id="{C6A0831D-FA2C-E744-8FE0-FDFDDB5FDD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8" name="Line 284">
              <a:extLst>
                <a:ext uri="{FF2B5EF4-FFF2-40B4-BE49-F238E27FC236}">
                  <a16:creationId xmlns:a16="http://schemas.microsoft.com/office/drawing/2014/main" id="{65548550-729A-4849-9DC4-127F8FE86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61" name="Picture 777" descr="access_point_stylized_small">
            <a:extLst>
              <a:ext uri="{FF2B5EF4-FFF2-40B4-BE49-F238E27FC236}">
                <a16:creationId xmlns:a16="http://schemas.microsoft.com/office/drawing/2014/main" id="{FA9A412B-D725-D449-8707-A3626DCB4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9" name="Picture 780" descr="access_point_stylized_small">
            <a:extLst>
              <a:ext uri="{FF2B5EF4-FFF2-40B4-BE49-F238E27FC236}">
                <a16:creationId xmlns:a16="http://schemas.microsoft.com/office/drawing/2014/main" id="{AC22920E-0555-BA45-9B6A-B76172153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71" name="Group 470">
            <a:extLst>
              <a:ext uri="{FF2B5EF4-FFF2-40B4-BE49-F238E27FC236}">
                <a16:creationId xmlns:a16="http://schemas.microsoft.com/office/drawing/2014/main" id="{DE035BC7-2762-3044-BE80-C91EC827E65C}"/>
              </a:ext>
            </a:extLst>
          </p:cNvPr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472" name="Freeform 471">
              <a:extLst>
                <a:ext uri="{FF2B5EF4-FFF2-40B4-BE49-F238E27FC236}">
                  <a16:creationId xmlns:a16="http://schemas.microsoft.com/office/drawing/2014/main" id="{BEE06200-7AF9-4A43-9447-2349DCBFF94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73" name="Oval 472">
              <a:extLst>
                <a:ext uri="{FF2B5EF4-FFF2-40B4-BE49-F238E27FC236}">
                  <a16:creationId xmlns:a16="http://schemas.microsoft.com/office/drawing/2014/main" id="{3340A80C-5091-6D49-89E5-375F02E9486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74" name="Group 473">
              <a:extLst>
                <a:ext uri="{FF2B5EF4-FFF2-40B4-BE49-F238E27FC236}">
                  <a16:creationId xmlns:a16="http://schemas.microsoft.com/office/drawing/2014/main" id="{B2821126-95C5-B044-AEBC-BA333FAF6B2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5" name="Freeform 474">
                <a:extLst>
                  <a:ext uri="{FF2B5EF4-FFF2-40B4-BE49-F238E27FC236}">
                    <a16:creationId xmlns:a16="http://schemas.microsoft.com/office/drawing/2014/main" id="{B76A81D4-5DC8-C241-B209-B819BC6D74F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6" name="Freeform 475">
                <a:extLst>
                  <a:ext uri="{FF2B5EF4-FFF2-40B4-BE49-F238E27FC236}">
                    <a16:creationId xmlns:a16="http://schemas.microsoft.com/office/drawing/2014/main" id="{6F6ED06A-086C-754C-BE82-59E2830CF0D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7" name="Freeform 476">
                <a:extLst>
                  <a:ext uri="{FF2B5EF4-FFF2-40B4-BE49-F238E27FC236}">
                    <a16:creationId xmlns:a16="http://schemas.microsoft.com/office/drawing/2014/main" id="{A32340AB-4CC3-5442-987B-A47EF2040F1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8" name="Freeform 477">
                <a:extLst>
                  <a:ext uri="{FF2B5EF4-FFF2-40B4-BE49-F238E27FC236}">
                    <a16:creationId xmlns:a16="http://schemas.microsoft.com/office/drawing/2014/main" id="{AC0AB71B-FD2B-9C4A-AE22-B586FC33568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60B6F784-668B-5D4B-A622-66CCE6350B84}"/>
              </a:ext>
            </a:extLst>
          </p:cNvPr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id="{275B9F34-60F1-4A43-AAD4-D58802DAAC8F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778A1510-2C69-F848-B6B3-6C73FF16369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23" name="Group 522">
              <a:extLst>
                <a:ext uri="{FF2B5EF4-FFF2-40B4-BE49-F238E27FC236}">
                  <a16:creationId xmlns:a16="http://schemas.microsoft.com/office/drawing/2014/main" id="{85BFF772-B3A6-F548-BDE0-8AEB95F33FB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24" name="Freeform 523">
                <a:extLst>
                  <a:ext uri="{FF2B5EF4-FFF2-40B4-BE49-F238E27FC236}">
                    <a16:creationId xmlns:a16="http://schemas.microsoft.com/office/drawing/2014/main" id="{B37A32DB-8119-5447-A58C-87AD1FDF0EB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58EF4D92-6D83-864D-92A9-A1264053688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79E03014-7882-0546-B7FE-50715AB5359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530508B2-B7B9-B347-8151-5F7967C6BED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11A03BFE-097D-3B42-AA2B-11FFEA70FF5B}"/>
              </a:ext>
            </a:extLst>
          </p:cNvPr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480" name="Freeform 479">
              <a:extLst>
                <a:ext uri="{FF2B5EF4-FFF2-40B4-BE49-F238E27FC236}">
                  <a16:creationId xmlns:a16="http://schemas.microsoft.com/office/drawing/2014/main" id="{89B10910-D4AF-3246-860A-25F1D908938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F9BAB47F-DDD3-BE44-9A9E-FC2F670519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753018A5-48AB-6D40-BB99-E6281192F8D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3" name="Freeform 482">
                <a:extLst>
                  <a:ext uri="{FF2B5EF4-FFF2-40B4-BE49-F238E27FC236}">
                    <a16:creationId xmlns:a16="http://schemas.microsoft.com/office/drawing/2014/main" id="{BD7DB5A0-40AC-504F-93F8-89A5617E2AE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4" name="Freeform 483">
                <a:extLst>
                  <a:ext uri="{FF2B5EF4-FFF2-40B4-BE49-F238E27FC236}">
                    <a16:creationId xmlns:a16="http://schemas.microsoft.com/office/drawing/2014/main" id="{DBEBB83D-40BF-8849-BAAA-59AB22EA085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5" name="Freeform 484">
                <a:extLst>
                  <a:ext uri="{FF2B5EF4-FFF2-40B4-BE49-F238E27FC236}">
                    <a16:creationId xmlns:a16="http://schemas.microsoft.com/office/drawing/2014/main" id="{18930CC0-2525-0C49-9555-463122A4FBB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6" name="Freeform 485">
                <a:extLst>
                  <a:ext uri="{FF2B5EF4-FFF2-40B4-BE49-F238E27FC236}">
                    <a16:creationId xmlns:a16="http://schemas.microsoft.com/office/drawing/2014/main" id="{0C651989-7B8A-F043-A1B6-F47D8764FCE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DE45D3AB-47E3-364E-81D6-324D69CE101C}"/>
              </a:ext>
            </a:extLst>
          </p:cNvPr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72425686-3D93-0646-A923-6ADF75485CDC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id="{6ADFF160-CF04-7049-A6D4-1C789FDD39AE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32" name="Group 531">
              <a:extLst>
                <a:ext uri="{FF2B5EF4-FFF2-40B4-BE49-F238E27FC236}">
                  <a16:creationId xmlns:a16="http://schemas.microsoft.com/office/drawing/2014/main" id="{AFDD9D33-8D17-F840-A9A5-3807DD3BA31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33" name="Freeform 532">
                <a:extLst>
                  <a:ext uri="{FF2B5EF4-FFF2-40B4-BE49-F238E27FC236}">
                    <a16:creationId xmlns:a16="http://schemas.microsoft.com/office/drawing/2014/main" id="{3AF3452D-972F-6944-8123-ECA4288786D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4" name="Freeform 533">
                <a:extLst>
                  <a:ext uri="{FF2B5EF4-FFF2-40B4-BE49-F238E27FC236}">
                    <a16:creationId xmlns:a16="http://schemas.microsoft.com/office/drawing/2014/main" id="{BA43E42C-CD9B-1744-BEEC-9E664114AC8E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5" name="Freeform 534">
                <a:extLst>
                  <a:ext uri="{FF2B5EF4-FFF2-40B4-BE49-F238E27FC236}">
                    <a16:creationId xmlns:a16="http://schemas.microsoft.com/office/drawing/2014/main" id="{42EF7BB0-4257-F646-805E-AFBA92B62F9D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6" name="Freeform 535">
                <a:extLst>
                  <a:ext uri="{FF2B5EF4-FFF2-40B4-BE49-F238E27FC236}">
                    <a16:creationId xmlns:a16="http://schemas.microsoft.com/office/drawing/2014/main" id="{95AEC175-56C0-C14B-9DC5-693400B124AB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07" name="Group 406">
            <a:extLst>
              <a:ext uri="{FF2B5EF4-FFF2-40B4-BE49-F238E27FC236}">
                <a16:creationId xmlns:a16="http://schemas.microsoft.com/office/drawing/2014/main" id="{CBD7A282-C22D-714A-88F1-C7D4EDD107F8}"/>
              </a:ext>
            </a:extLst>
          </p:cNvPr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408" name="Freeform 407">
              <a:extLst>
                <a:ext uri="{FF2B5EF4-FFF2-40B4-BE49-F238E27FC236}">
                  <a16:creationId xmlns:a16="http://schemas.microsoft.com/office/drawing/2014/main" id="{3C206862-9269-EE48-877D-EE261101A44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9B69A2C6-F31C-E749-B77A-1818B15E1B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10" name="Group 409">
              <a:extLst>
                <a:ext uri="{FF2B5EF4-FFF2-40B4-BE49-F238E27FC236}">
                  <a16:creationId xmlns:a16="http://schemas.microsoft.com/office/drawing/2014/main" id="{08BE9AB8-F5DA-4D4A-9621-9AB05D691F0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1" name="Freeform 410">
                <a:extLst>
                  <a:ext uri="{FF2B5EF4-FFF2-40B4-BE49-F238E27FC236}">
                    <a16:creationId xmlns:a16="http://schemas.microsoft.com/office/drawing/2014/main" id="{56E730F0-5BB3-6446-9D5B-82D51B9EDAF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2" name="Freeform 411">
                <a:extLst>
                  <a:ext uri="{FF2B5EF4-FFF2-40B4-BE49-F238E27FC236}">
                    <a16:creationId xmlns:a16="http://schemas.microsoft.com/office/drawing/2014/main" id="{5BA37E27-2FC6-BA43-8A97-14171CB51FD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3" name="Freeform 412">
                <a:extLst>
                  <a:ext uri="{FF2B5EF4-FFF2-40B4-BE49-F238E27FC236}">
                    <a16:creationId xmlns:a16="http://schemas.microsoft.com/office/drawing/2014/main" id="{CCB37CB3-304F-6144-85D0-8B420BDD088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4" name="Freeform 413">
                <a:extLst>
                  <a:ext uri="{FF2B5EF4-FFF2-40B4-BE49-F238E27FC236}">
                    <a16:creationId xmlns:a16="http://schemas.microsoft.com/office/drawing/2014/main" id="{BD0CA8E5-A033-834A-A402-E2EFB2FBBFC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F0DE4078-0801-A244-9A82-F7502B8B24A0}"/>
              </a:ext>
            </a:extLst>
          </p:cNvPr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416" name="Freeform 415">
              <a:extLst>
                <a:ext uri="{FF2B5EF4-FFF2-40B4-BE49-F238E27FC236}">
                  <a16:creationId xmlns:a16="http://schemas.microsoft.com/office/drawing/2014/main" id="{EA784F43-D793-4342-92F3-EBC3632212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17" name="Oval 416">
              <a:extLst>
                <a:ext uri="{FF2B5EF4-FFF2-40B4-BE49-F238E27FC236}">
                  <a16:creationId xmlns:a16="http://schemas.microsoft.com/office/drawing/2014/main" id="{75841943-4184-5D4E-AAD4-8FEAC9D7330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18" name="Group 417">
              <a:extLst>
                <a:ext uri="{FF2B5EF4-FFF2-40B4-BE49-F238E27FC236}">
                  <a16:creationId xmlns:a16="http://schemas.microsoft.com/office/drawing/2014/main" id="{23FBC748-DCBA-AA41-A6F7-895374D50CD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9" name="Freeform 418">
                <a:extLst>
                  <a:ext uri="{FF2B5EF4-FFF2-40B4-BE49-F238E27FC236}">
                    <a16:creationId xmlns:a16="http://schemas.microsoft.com/office/drawing/2014/main" id="{96DA1F2B-2063-8C40-BF46-086C20D317A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0" name="Freeform 419">
                <a:extLst>
                  <a:ext uri="{FF2B5EF4-FFF2-40B4-BE49-F238E27FC236}">
                    <a16:creationId xmlns:a16="http://schemas.microsoft.com/office/drawing/2014/main" id="{8A1EF987-02EE-DA4D-8224-02537D5034D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1" name="Freeform 420">
                <a:extLst>
                  <a:ext uri="{FF2B5EF4-FFF2-40B4-BE49-F238E27FC236}">
                    <a16:creationId xmlns:a16="http://schemas.microsoft.com/office/drawing/2014/main" id="{1FC5854A-AF8F-6841-92AD-B18DDAF1E99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2" name="Freeform 421">
                <a:extLst>
                  <a:ext uri="{FF2B5EF4-FFF2-40B4-BE49-F238E27FC236}">
                    <a16:creationId xmlns:a16="http://schemas.microsoft.com/office/drawing/2014/main" id="{A510FA68-BEB6-B54A-A1D4-984168F8571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52B7B73B-1125-084D-8669-C68CC371DDC6}"/>
              </a:ext>
            </a:extLst>
          </p:cNvPr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456" name="Freeform 455">
              <a:extLst>
                <a:ext uri="{FF2B5EF4-FFF2-40B4-BE49-F238E27FC236}">
                  <a16:creationId xmlns:a16="http://schemas.microsoft.com/office/drawing/2014/main" id="{3196A4F9-B139-4D4B-B210-0318216604F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57" name="Oval 456">
              <a:extLst>
                <a:ext uri="{FF2B5EF4-FFF2-40B4-BE49-F238E27FC236}">
                  <a16:creationId xmlns:a16="http://schemas.microsoft.com/office/drawing/2014/main" id="{1D1C7F3A-BE45-014B-AF9C-58CA77DA029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8" name="Group 457">
              <a:extLst>
                <a:ext uri="{FF2B5EF4-FFF2-40B4-BE49-F238E27FC236}">
                  <a16:creationId xmlns:a16="http://schemas.microsoft.com/office/drawing/2014/main" id="{83DFFE47-64E8-F54C-8ABC-E896DA957F0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9" name="Freeform 458">
                <a:extLst>
                  <a:ext uri="{FF2B5EF4-FFF2-40B4-BE49-F238E27FC236}">
                    <a16:creationId xmlns:a16="http://schemas.microsoft.com/office/drawing/2014/main" id="{2A9F0EE2-8F99-EB4D-9331-7AE3BDCBE9C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0" name="Freeform 459">
                <a:extLst>
                  <a:ext uri="{FF2B5EF4-FFF2-40B4-BE49-F238E27FC236}">
                    <a16:creationId xmlns:a16="http://schemas.microsoft.com/office/drawing/2014/main" id="{2E314A90-8DB8-2A49-8BB6-D51C2DAE9CF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1" name="Freeform 460">
                <a:extLst>
                  <a:ext uri="{FF2B5EF4-FFF2-40B4-BE49-F238E27FC236}">
                    <a16:creationId xmlns:a16="http://schemas.microsoft.com/office/drawing/2014/main" id="{7D8C0277-204E-2B4D-B954-94739B9DE72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2" name="Freeform 461">
                <a:extLst>
                  <a:ext uri="{FF2B5EF4-FFF2-40B4-BE49-F238E27FC236}">
                    <a16:creationId xmlns:a16="http://schemas.microsoft.com/office/drawing/2014/main" id="{69955D3C-6D1B-EA40-8228-73DF0156415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15" name="Group 614">
            <a:extLst>
              <a:ext uri="{FF2B5EF4-FFF2-40B4-BE49-F238E27FC236}">
                <a16:creationId xmlns:a16="http://schemas.microsoft.com/office/drawing/2014/main" id="{E166183D-5423-4E4A-AD63-A361EDE184C0}"/>
              </a:ext>
            </a:extLst>
          </p:cNvPr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616" name="Freeform 615">
              <a:extLst>
                <a:ext uri="{FF2B5EF4-FFF2-40B4-BE49-F238E27FC236}">
                  <a16:creationId xmlns:a16="http://schemas.microsoft.com/office/drawing/2014/main" id="{8470D159-2329-7F46-9191-000B96A32C7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17" name="Oval 616">
              <a:extLst>
                <a:ext uri="{FF2B5EF4-FFF2-40B4-BE49-F238E27FC236}">
                  <a16:creationId xmlns:a16="http://schemas.microsoft.com/office/drawing/2014/main" id="{825BDAE5-F4DB-9148-9BC8-0F6F2D1E653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18" name="Group 617">
              <a:extLst>
                <a:ext uri="{FF2B5EF4-FFF2-40B4-BE49-F238E27FC236}">
                  <a16:creationId xmlns:a16="http://schemas.microsoft.com/office/drawing/2014/main" id="{237F0420-A845-064A-97A2-458F63D673C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19" name="Freeform 618">
                <a:extLst>
                  <a:ext uri="{FF2B5EF4-FFF2-40B4-BE49-F238E27FC236}">
                    <a16:creationId xmlns:a16="http://schemas.microsoft.com/office/drawing/2014/main" id="{D11109B9-8A56-A945-BA04-5A564B10300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0" name="Freeform 619">
                <a:extLst>
                  <a:ext uri="{FF2B5EF4-FFF2-40B4-BE49-F238E27FC236}">
                    <a16:creationId xmlns:a16="http://schemas.microsoft.com/office/drawing/2014/main" id="{170AB2AC-06DB-034E-A5C4-0C8F62E3BE4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1" name="Freeform 620">
                <a:extLst>
                  <a:ext uri="{FF2B5EF4-FFF2-40B4-BE49-F238E27FC236}">
                    <a16:creationId xmlns:a16="http://schemas.microsoft.com/office/drawing/2014/main" id="{E41AEAC2-F85C-4A4E-B0B9-D5C02217D60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2" name="Freeform 621">
                <a:extLst>
                  <a:ext uri="{FF2B5EF4-FFF2-40B4-BE49-F238E27FC236}">
                    <a16:creationId xmlns:a16="http://schemas.microsoft.com/office/drawing/2014/main" id="{7955A7EE-741F-9740-8344-A2BC817675A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77" name="Group 576">
            <a:extLst>
              <a:ext uri="{FF2B5EF4-FFF2-40B4-BE49-F238E27FC236}">
                <a16:creationId xmlns:a16="http://schemas.microsoft.com/office/drawing/2014/main" id="{C471E59B-7A0B-AE4F-95D6-F76514D2D55A}"/>
              </a:ext>
            </a:extLst>
          </p:cNvPr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578" name="Freeform 577">
              <a:extLst>
                <a:ext uri="{FF2B5EF4-FFF2-40B4-BE49-F238E27FC236}">
                  <a16:creationId xmlns:a16="http://schemas.microsoft.com/office/drawing/2014/main" id="{8CD016E7-5480-8E4E-94F7-201A1C6046D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79" name="Oval 578">
              <a:extLst>
                <a:ext uri="{FF2B5EF4-FFF2-40B4-BE49-F238E27FC236}">
                  <a16:creationId xmlns:a16="http://schemas.microsoft.com/office/drawing/2014/main" id="{593A573C-B6D6-684E-BA73-8F7F7FA8D57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80" name="Group 579">
              <a:extLst>
                <a:ext uri="{FF2B5EF4-FFF2-40B4-BE49-F238E27FC236}">
                  <a16:creationId xmlns:a16="http://schemas.microsoft.com/office/drawing/2014/main" id="{2C09AC60-D16C-A948-B25E-01CF60EAAD7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1" name="Freeform 580">
                <a:extLst>
                  <a:ext uri="{FF2B5EF4-FFF2-40B4-BE49-F238E27FC236}">
                    <a16:creationId xmlns:a16="http://schemas.microsoft.com/office/drawing/2014/main" id="{D9A85682-B6A6-2344-B24D-66A792630B3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2" name="Freeform 581">
                <a:extLst>
                  <a:ext uri="{FF2B5EF4-FFF2-40B4-BE49-F238E27FC236}">
                    <a16:creationId xmlns:a16="http://schemas.microsoft.com/office/drawing/2014/main" id="{52EBCF47-0621-B64C-B884-20683D14D92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3" name="Freeform 582">
                <a:extLst>
                  <a:ext uri="{FF2B5EF4-FFF2-40B4-BE49-F238E27FC236}">
                    <a16:creationId xmlns:a16="http://schemas.microsoft.com/office/drawing/2014/main" id="{83AAD1CC-D818-A245-9CF9-C4877A62A5D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4" name="Freeform 583">
                <a:extLst>
                  <a:ext uri="{FF2B5EF4-FFF2-40B4-BE49-F238E27FC236}">
                    <a16:creationId xmlns:a16="http://schemas.microsoft.com/office/drawing/2014/main" id="{51F55DD1-3A8F-0242-A470-690BE99AC68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7BF36121-B4F6-2447-9F5B-F29B627F3B2A}"/>
              </a:ext>
            </a:extLst>
          </p:cNvPr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594" name="Freeform 593">
              <a:extLst>
                <a:ext uri="{FF2B5EF4-FFF2-40B4-BE49-F238E27FC236}">
                  <a16:creationId xmlns:a16="http://schemas.microsoft.com/office/drawing/2014/main" id="{D13949CD-BE6A-5744-98EE-61BE5EE60D4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5" name="Oval 594">
              <a:extLst>
                <a:ext uri="{FF2B5EF4-FFF2-40B4-BE49-F238E27FC236}">
                  <a16:creationId xmlns:a16="http://schemas.microsoft.com/office/drawing/2014/main" id="{F3651F16-DD17-4D47-9A8D-8EFA601CA85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6" name="Group 595">
              <a:extLst>
                <a:ext uri="{FF2B5EF4-FFF2-40B4-BE49-F238E27FC236}">
                  <a16:creationId xmlns:a16="http://schemas.microsoft.com/office/drawing/2014/main" id="{10CA9012-91B2-A449-8A2E-65BA6061B48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7" name="Freeform 596">
                <a:extLst>
                  <a:ext uri="{FF2B5EF4-FFF2-40B4-BE49-F238E27FC236}">
                    <a16:creationId xmlns:a16="http://schemas.microsoft.com/office/drawing/2014/main" id="{964BBEA0-D220-6747-850B-459388ABF25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8" name="Freeform 597">
                <a:extLst>
                  <a:ext uri="{FF2B5EF4-FFF2-40B4-BE49-F238E27FC236}">
                    <a16:creationId xmlns:a16="http://schemas.microsoft.com/office/drawing/2014/main" id="{ADEC5ED7-ED4C-584D-AB78-AA02A93E946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9" name="Freeform 598">
                <a:extLst>
                  <a:ext uri="{FF2B5EF4-FFF2-40B4-BE49-F238E27FC236}">
                    <a16:creationId xmlns:a16="http://schemas.microsoft.com/office/drawing/2014/main" id="{F45598BF-44BC-354D-9020-97A874C585B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0" name="Freeform 599">
                <a:extLst>
                  <a:ext uri="{FF2B5EF4-FFF2-40B4-BE49-F238E27FC236}">
                    <a16:creationId xmlns:a16="http://schemas.microsoft.com/office/drawing/2014/main" id="{3A2BDF5D-2CA0-2145-8059-D8F121D4D3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01" name="Group 600">
            <a:extLst>
              <a:ext uri="{FF2B5EF4-FFF2-40B4-BE49-F238E27FC236}">
                <a16:creationId xmlns:a16="http://schemas.microsoft.com/office/drawing/2014/main" id="{187A607B-CA61-BE46-8032-8E34596E7689}"/>
              </a:ext>
            </a:extLst>
          </p:cNvPr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602" name="Freeform 601">
              <a:extLst>
                <a:ext uri="{FF2B5EF4-FFF2-40B4-BE49-F238E27FC236}">
                  <a16:creationId xmlns:a16="http://schemas.microsoft.com/office/drawing/2014/main" id="{EB8C3753-6F83-F64B-9439-656B124AA3B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id="{F476EE06-2893-8D4D-AF54-92697A0FE8A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04" name="Group 603">
              <a:extLst>
                <a:ext uri="{FF2B5EF4-FFF2-40B4-BE49-F238E27FC236}">
                  <a16:creationId xmlns:a16="http://schemas.microsoft.com/office/drawing/2014/main" id="{5DED3EC9-29B0-8D48-BC37-13731DFE683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5" name="Freeform 604">
                <a:extLst>
                  <a:ext uri="{FF2B5EF4-FFF2-40B4-BE49-F238E27FC236}">
                    <a16:creationId xmlns:a16="http://schemas.microsoft.com/office/drawing/2014/main" id="{D08D678C-613A-3543-B832-EE51616C693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6" name="Freeform 605">
                <a:extLst>
                  <a:ext uri="{FF2B5EF4-FFF2-40B4-BE49-F238E27FC236}">
                    <a16:creationId xmlns:a16="http://schemas.microsoft.com/office/drawing/2014/main" id="{9EB7819C-4684-3347-AA14-421D743ECB9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7" name="Freeform 606">
                <a:extLst>
                  <a:ext uri="{FF2B5EF4-FFF2-40B4-BE49-F238E27FC236}">
                    <a16:creationId xmlns:a16="http://schemas.microsoft.com/office/drawing/2014/main" id="{F23E654E-4CEA-E346-A508-15310ABC704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8" name="Freeform 607">
                <a:extLst>
                  <a:ext uri="{FF2B5EF4-FFF2-40B4-BE49-F238E27FC236}">
                    <a16:creationId xmlns:a16="http://schemas.microsoft.com/office/drawing/2014/main" id="{EF443A10-9F41-BB4D-8E65-E94AEE09BDA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id="{7CCD8656-0FD3-B844-BC6C-33CE0577598D}"/>
              </a:ext>
            </a:extLst>
          </p:cNvPr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555" name="Freeform 554">
              <a:extLst>
                <a:ext uri="{FF2B5EF4-FFF2-40B4-BE49-F238E27FC236}">
                  <a16:creationId xmlns:a16="http://schemas.microsoft.com/office/drawing/2014/main" id="{7CF4B187-63BE-654E-852A-09C69503C97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56" name="Oval 555">
              <a:extLst>
                <a:ext uri="{FF2B5EF4-FFF2-40B4-BE49-F238E27FC236}">
                  <a16:creationId xmlns:a16="http://schemas.microsoft.com/office/drawing/2014/main" id="{3B5270E4-3067-1643-B96C-CE5CEE09747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57" name="Group 556">
              <a:extLst>
                <a:ext uri="{FF2B5EF4-FFF2-40B4-BE49-F238E27FC236}">
                  <a16:creationId xmlns:a16="http://schemas.microsoft.com/office/drawing/2014/main" id="{3BECC0F9-CE1F-254B-B04F-1EAA89C59C9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8" name="Freeform 557">
                <a:extLst>
                  <a:ext uri="{FF2B5EF4-FFF2-40B4-BE49-F238E27FC236}">
                    <a16:creationId xmlns:a16="http://schemas.microsoft.com/office/drawing/2014/main" id="{7C55C6EE-4672-4F4F-A2F8-2821804F594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9" name="Freeform 558">
                <a:extLst>
                  <a:ext uri="{FF2B5EF4-FFF2-40B4-BE49-F238E27FC236}">
                    <a16:creationId xmlns:a16="http://schemas.microsoft.com/office/drawing/2014/main" id="{C3B242E2-FAA3-F340-B7F0-35D87BB6BAA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0" name="Freeform 559">
                <a:extLst>
                  <a:ext uri="{FF2B5EF4-FFF2-40B4-BE49-F238E27FC236}">
                    <a16:creationId xmlns:a16="http://schemas.microsoft.com/office/drawing/2014/main" id="{87ED7762-177B-454C-AA37-EB518D75B6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1" name="Freeform 560">
                <a:extLst>
                  <a:ext uri="{FF2B5EF4-FFF2-40B4-BE49-F238E27FC236}">
                    <a16:creationId xmlns:a16="http://schemas.microsoft.com/office/drawing/2014/main" id="{AD88A8A1-4E2B-154E-845D-5419478A1D2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85" name="Group 584">
            <a:extLst>
              <a:ext uri="{FF2B5EF4-FFF2-40B4-BE49-F238E27FC236}">
                <a16:creationId xmlns:a16="http://schemas.microsoft.com/office/drawing/2014/main" id="{1A0C1583-3B4A-E44D-BB19-B20517502EBD}"/>
              </a:ext>
            </a:extLst>
          </p:cNvPr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586" name="Freeform 585">
              <a:extLst>
                <a:ext uri="{FF2B5EF4-FFF2-40B4-BE49-F238E27FC236}">
                  <a16:creationId xmlns:a16="http://schemas.microsoft.com/office/drawing/2014/main" id="{196997C3-A7DB-5041-AC08-10F980FB77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87" name="Oval 586">
              <a:extLst>
                <a:ext uri="{FF2B5EF4-FFF2-40B4-BE49-F238E27FC236}">
                  <a16:creationId xmlns:a16="http://schemas.microsoft.com/office/drawing/2014/main" id="{5F84A336-003F-D045-8717-1066774A69E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88" name="Group 587">
              <a:extLst>
                <a:ext uri="{FF2B5EF4-FFF2-40B4-BE49-F238E27FC236}">
                  <a16:creationId xmlns:a16="http://schemas.microsoft.com/office/drawing/2014/main" id="{FF876992-AF96-3545-9CEA-A02174E1151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9" name="Freeform 588">
                <a:extLst>
                  <a:ext uri="{FF2B5EF4-FFF2-40B4-BE49-F238E27FC236}">
                    <a16:creationId xmlns:a16="http://schemas.microsoft.com/office/drawing/2014/main" id="{668E6E88-4A46-6C47-A59A-CB9D07441C1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0" name="Freeform 589">
                <a:extLst>
                  <a:ext uri="{FF2B5EF4-FFF2-40B4-BE49-F238E27FC236}">
                    <a16:creationId xmlns:a16="http://schemas.microsoft.com/office/drawing/2014/main" id="{C179B4BA-1D8B-E542-8032-CCB2C08DB97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1" name="Freeform 590">
                <a:extLst>
                  <a:ext uri="{FF2B5EF4-FFF2-40B4-BE49-F238E27FC236}">
                    <a16:creationId xmlns:a16="http://schemas.microsoft.com/office/drawing/2014/main" id="{DCACB29E-ABE8-BA42-AD55-DAF519C17B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2" name="Freeform 591">
                <a:extLst>
                  <a:ext uri="{FF2B5EF4-FFF2-40B4-BE49-F238E27FC236}">
                    <a16:creationId xmlns:a16="http://schemas.microsoft.com/office/drawing/2014/main" id="{FD35A0ED-997C-6D46-9D96-FA8D4339826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38" name="Group 537">
            <a:extLst>
              <a:ext uri="{FF2B5EF4-FFF2-40B4-BE49-F238E27FC236}">
                <a16:creationId xmlns:a16="http://schemas.microsoft.com/office/drawing/2014/main" id="{158E5A4C-7065-8643-BDC2-3A235B56FEA4}"/>
              </a:ext>
            </a:extLst>
          </p:cNvPr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id="{CA8EFAEE-3EA1-2A49-A68E-588F301B692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40" name="Oval 539">
              <a:extLst>
                <a:ext uri="{FF2B5EF4-FFF2-40B4-BE49-F238E27FC236}">
                  <a16:creationId xmlns:a16="http://schemas.microsoft.com/office/drawing/2014/main" id="{7A05A3F9-D6B9-D14C-83C8-6C79F0B6B2C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41" name="Group 540">
              <a:extLst>
                <a:ext uri="{FF2B5EF4-FFF2-40B4-BE49-F238E27FC236}">
                  <a16:creationId xmlns:a16="http://schemas.microsoft.com/office/drawing/2014/main" id="{8AAC1FAD-B7BA-744A-8599-5670C6B0E7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2" name="Freeform 541">
                <a:extLst>
                  <a:ext uri="{FF2B5EF4-FFF2-40B4-BE49-F238E27FC236}">
                    <a16:creationId xmlns:a16="http://schemas.microsoft.com/office/drawing/2014/main" id="{A016DA82-50DC-224C-84FF-C492EDE01BC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id="{3D2D51D6-0AC0-9D43-A55C-E94B7DCA77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id="{76C27F31-4CE4-1242-9801-166D4F66B5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id="{9BC7E87F-2555-8D4C-80CB-0E2F5F4BB0F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id="{4DAC2AB4-F1E4-D740-A4AF-07EE55303854}"/>
              </a:ext>
            </a:extLst>
          </p:cNvPr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547" name="Freeform 546">
              <a:extLst>
                <a:ext uri="{FF2B5EF4-FFF2-40B4-BE49-F238E27FC236}">
                  <a16:creationId xmlns:a16="http://schemas.microsoft.com/office/drawing/2014/main" id="{23E59006-14B9-C64E-A05E-0BD7C00C4A6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48" name="Oval 547">
              <a:extLst>
                <a:ext uri="{FF2B5EF4-FFF2-40B4-BE49-F238E27FC236}">
                  <a16:creationId xmlns:a16="http://schemas.microsoft.com/office/drawing/2014/main" id="{2AD17789-C54D-4948-95E6-741F42B1FB2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49" name="Group 548">
              <a:extLst>
                <a:ext uri="{FF2B5EF4-FFF2-40B4-BE49-F238E27FC236}">
                  <a16:creationId xmlns:a16="http://schemas.microsoft.com/office/drawing/2014/main" id="{278D7FE0-D307-E941-967D-E4145732CEE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0" name="Freeform 549">
                <a:extLst>
                  <a:ext uri="{FF2B5EF4-FFF2-40B4-BE49-F238E27FC236}">
                    <a16:creationId xmlns:a16="http://schemas.microsoft.com/office/drawing/2014/main" id="{1ADC6420-4AC2-F544-B940-D0A18615CA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1" name="Freeform 550">
                <a:extLst>
                  <a:ext uri="{FF2B5EF4-FFF2-40B4-BE49-F238E27FC236}">
                    <a16:creationId xmlns:a16="http://schemas.microsoft.com/office/drawing/2014/main" id="{223E40C5-E2E3-3B42-A86A-26D2D130B73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2" name="Freeform 551">
                <a:extLst>
                  <a:ext uri="{FF2B5EF4-FFF2-40B4-BE49-F238E27FC236}">
                    <a16:creationId xmlns:a16="http://schemas.microsoft.com/office/drawing/2014/main" id="{C6AA2152-8609-214A-AE62-E7DFD1A9E7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3" name="Freeform 552">
                <a:extLst>
                  <a:ext uri="{FF2B5EF4-FFF2-40B4-BE49-F238E27FC236}">
                    <a16:creationId xmlns:a16="http://schemas.microsoft.com/office/drawing/2014/main" id="{7CB5E54A-6719-9747-80B7-8D19331BE78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3" name="Group 622">
            <a:extLst>
              <a:ext uri="{FF2B5EF4-FFF2-40B4-BE49-F238E27FC236}">
                <a16:creationId xmlns:a16="http://schemas.microsoft.com/office/drawing/2014/main" id="{EA34A94C-D92D-084C-BFEA-F4C8DF0AD275}"/>
              </a:ext>
            </a:extLst>
          </p:cNvPr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624" name="Freeform 623">
              <a:extLst>
                <a:ext uri="{FF2B5EF4-FFF2-40B4-BE49-F238E27FC236}">
                  <a16:creationId xmlns:a16="http://schemas.microsoft.com/office/drawing/2014/main" id="{E1E1C6E8-4D60-7F43-BB0E-6D883F10D4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25" name="Oval 624">
              <a:extLst>
                <a:ext uri="{FF2B5EF4-FFF2-40B4-BE49-F238E27FC236}">
                  <a16:creationId xmlns:a16="http://schemas.microsoft.com/office/drawing/2014/main" id="{50975E36-0C2A-6844-A407-23F033DB4BD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26" name="Group 625">
              <a:extLst>
                <a:ext uri="{FF2B5EF4-FFF2-40B4-BE49-F238E27FC236}">
                  <a16:creationId xmlns:a16="http://schemas.microsoft.com/office/drawing/2014/main" id="{3F7EBA29-30EF-C741-94EE-735398C6CFA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27" name="Freeform 626">
                <a:extLst>
                  <a:ext uri="{FF2B5EF4-FFF2-40B4-BE49-F238E27FC236}">
                    <a16:creationId xmlns:a16="http://schemas.microsoft.com/office/drawing/2014/main" id="{B3AD45B5-1F4B-FF4A-843D-9D062939267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8" name="Freeform 627">
                <a:extLst>
                  <a:ext uri="{FF2B5EF4-FFF2-40B4-BE49-F238E27FC236}">
                    <a16:creationId xmlns:a16="http://schemas.microsoft.com/office/drawing/2014/main" id="{A6F160FF-CBBD-9147-8D0B-92A36BEBF8A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9" name="Freeform 628">
                <a:extLst>
                  <a:ext uri="{FF2B5EF4-FFF2-40B4-BE49-F238E27FC236}">
                    <a16:creationId xmlns:a16="http://schemas.microsoft.com/office/drawing/2014/main" id="{421F3589-EC70-074A-903F-D618ED6F789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0" name="Freeform 629">
                <a:extLst>
                  <a:ext uri="{FF2B5EF4-FFF2-40B4-BE49-F238E27FC236}">
                    <a16:creationId xmlns:a16="http://schemas.microsoft.com/office/drawing/2014/main" id="{CEC8DEB8-8E24-2948-9AF6-0F3EF908CD4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A8C4B740-B92E-8942-8EF4-347710C32F2C}"/>
              </a:ext>
            </a:extLst>
          </p:cNvPr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71A9C1C2-E4A0-D74C-8C05-2AD307E7B3E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65" name="Oval 464">
              <a:extLst>
                <a:ext uri="{FF2B5EF4-FFF2-40B4-BE49-F238E27FC236}">
                  <a16:creationId xmlns:a16="http://schemas.microsoft.com/office/drawing/2014/main" id="{0F366A03-D9E7-9F45-99D3-1CAC10EE2C7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10CB8A50-A713-2549-9F44-B792D2C30CA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7" name="Freeform 466">
                <a:extLst>
                  <a:ext uri="{FF2B5EF4-FFF2-40B4-BE49-F238E27FC236}">
                    <a16:creationId xmlns:a16="http://schemas.microsoft.com/office/drawing/2014/main" id="{DC4E3153-8354-1145-82FC-C287EF5FE6C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8" name="Freeform 467">
                <a:extLst>
                  <a:ext uri="{FF2B5EF4-FFF2-40B4-BE49-F238E27FC236}">
                    <a16:creationId xmlns:a16="http://schemas.microsoft.com/office/drawing/2014/main" id="{99B3C81B-87BA-1A4F-BCAD-DF0EF9C582C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9" name="Freeform 468">
                <a:extLst>
                  <a:ext uri="{FF2B5EF4-FFF2-40B4-BE49-F238E27FC236}">
                    <a16:creationId xmlns:a16="http://schemas.microsoft.com/office/drawing/2014/main" id="{DEEA64E4-A29A-E742-B32E-C111E6BF42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:a16="http://schemas.microsoft.com/office/drawing/2014/main" id="{43676372-2E7B-9445-80AD-B31686FE67E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314E0C43-2359-9440-BEF9-9E1924BED605}"/>
              </a:ext>
            </a:extLst>
          </p:cNvPr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448" name="Freeform 447">
              <a:extLst>
                <a:ext uri="{FF2B5EF4-FFF2-40B4-BE49-F238E27FC236}">
                  <a16:creationId xmlns:a16="http://schemas.microsoft.com/office/drawing/2014/main" id="{9737FFD7-2DCB-A148-A405-977351501C2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9739DB09-38E5-A347-93BF-13C80AD8453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0" name="Group 449">
              <a:extLst>
                <a:ext uri="{FF2B5EF4-FFF2-40B4-BE49-F238E27FC236}">
                  <a16:creationId xmlns:a16="http://schemas.microsoft.com/office/drawing/2014/main" id="{04079280-378E-384D-9681-BF41B82BF6C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1" name="Freeform 450">
                <a:extLst>
                  <a:ext uri="{FF2B5EF4-FFF2-40B4-BE49-F238E27FC236}">
                    <a16:creationId xmlns:a16="http://schemas.microsoft.com/office/drawing/2014/main" id="{914AA044-3657-1448-A5E9-2F003DC03F6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2" name="Freeform 451">
                <a:extLst>
                  <a:ext uri="{FF2B5EF4-FFF2-40B4-BE49-F238E27FC236}">
                    <a16:creationId xmlns:a16="http://schemas.microsoft.com/office/drawing/2014/main" id="{29FDF0B8-7E9A-1F4D-8C99-CE1C68A1345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3" name="Freeform 452">
                <a:extLst>
                  <a:ext uri="{FF2B5EF4-FFF2-40B4-BE49-F238E27FC236}">
                    <a16:creationId xmlns:a16="http://schemas.microsoft.com/office/drawing/2014/main" id="{49A96193-2E73-4C43-843C-2C8C4DCEE47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4" name="Freeform 453">
                <a:extLst>
                  <a:ext uri="{FF2B5EF4-FFF2-40B4-BE49-F238E27FC236}">
                    <a16:creationId xmlns:a16="http://schemas.microsoft.com/office/drawing/2014/main" id="{F5358318-953E-E249-9021-E0B5DF66E3B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85" name="Group 784">
            <a:extLst>
              <a:ext uri="{FF2B5EF4-FFF2-40B4-BE49-F238E27FC236}">
                <a16:creationId xmlns:a16="http://schemas.microsoft.com/office/drawing/2014/main" id="{91E02B81-5B35-4545-A954-B7E923AB7286}"/>
              </a:ext>
            </a:extLst>
          </p:cNvPr>
          <p:cNvGrpSpPr/>
          <p:nvPr/>
        </p:nvGrpSpPr>
        <p:grpSpPr>
          <a:xfrm>
            <a:off x="7439074" y="2356613"/>
            <a:ext cx="534987" cy="407988"/>
            <a:chOff x="7432700" y="2327293"/>
            <a:chExt cx="534987" cy="407988"/>
          </a:xfrm>
        </p:grpSpPr>
        <p:pic>
          <p:nvPicPr>
            <p:cNvPr id="73" name="Picture 1017" descr="antenna_stylized">
              <a:extLst>
                <a:ext uri="{FF2B5EF4-FFF2-40B4-BE49-F238E27FC236}">
                  <a16:creationId xmlns:a16="http://schemas.microsoft.com/office/drawing/2014/main" id="{27A537F5-5D99-BF4C-9B11-E9782673F1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" name="Picture 1018" descr="laptop_keyboard">
              <a:extLst>
                <a:ext uri="{FF2B5EF4-FFF2-40B4-BE49-F238E27FC236}">
                  <a16:creationId xmlns:a16="http://schemas.microsoft.com/office/drawing/2014/main" id="{7087B8D0-FFCB-0746-A889-28909002C2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" name="Freeform 1019">
              <a:extLst>
                <a:ext uri="{FF2B5EF4-FFF2-40B4-BE49-F238E27FC236}">
                  <a16:creationId xmlns:a16="http://schemas.microsoft.com/office/drawing/2014/main" id="{7C75BC30-0808-D44D-AF7A-A72B4A529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76" name="Picture 1020" descr="screen">
              <a:extLst>
                <a:ext uri="{FF2B5EF4-FFF2-40B4-BE49-F238E27FC236}">
                  <a16:creationId xmlns:a16="http://schemas.microsoft.com/office/drawing/2014/main" id="{2D732B7A-74CB-D547-ADB5-C721526D5E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" name="Freeform 1021">
              <a:extLst>
                <a:ext uri="{FF2B5EF4-FFF2-40B4-BE49-F238E27FC236}">
                  <a16:creationId xmlns:a16="http://schemas.microsoft.com/office/drawing/2014/main" id="{FBD1A429-9B8F-F940-AD09-4638CC316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Freeform 1022">
              <a:extLst>
                <a:ext uri="{FF2B5EF4-FFF2-40B4-BE49-F238E27FC236}">
                  <a16:creationId xmlns:a16="http://schemas.microsoft.com/office/drawing/2014/main" id="{376C8B48-3441-F643-B92D-5DC759EDA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Freeform 1023">
              <a:extLst>
                <a:ext uri="{FF2B5EF4-FFF2-40B4-BE49-F238E27FC236}">
                  <a16:creationId xmlns:a16="http://schemas.microsoft.com/office/drawing/2014/main" id="{4DFECD03-4AF0-1342-8138-6CEC8249A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1024">
              <a:extLst>
                <a:ext uri="{FF2B5EF4-FFF2-40B4-BE49-F238E27FC236}">
                  <a16:creationId xmlns:a16="http://schemas.microsoft.com/office/drawing/2014/main" id="{8AA57D4B-3E9B-994B-AF13-DB646178BD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Freeform 1025">
              <a:extLst>
                <a:ext uri="{FF2B5EF4-FFF2-40B4-BE49-F238E27FC236}">
                  <a16:creationId xmlns:a16="http://schemas.microsoft.com/office/drawing/2014/main" id="{59DA24E7-1981-0E44-8060-2B7CE58EB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Freeform 1026">
              <a:extLst>
                <a:ext uri="{FF2B5EF4-FFF2-40B4-BE49-F238E27FC236}">
                  <a16:creationId xmlns:a16="http://schemas.microsoft.com/office/drawing/2014/main" id="{DB3D3129-2B70-5643-96C2-83638DE57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83" name="Group 1027">
              <a:extLst>
                <a:ext uri="{FF2B5EF4-FFF2-40B4-BE49-F238E27FC236}">
                  <a16:creationId xmlns:a16="http://schemas.microsoft.com/office/drawing/2014/main" id="{8C6DEC60-5C97-D546-9977-EBD182221D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169" name="Freeform 1028">
                <a:extLst>
                  <a:ext uri="{FF2B5EF4-FFF2-40B4-BE49-F238E27FC236}">
                    <a16:creationId xmlns:a16="http://schemas.microsoft.com/office/drawing/2014/main" id="{5D16627E-DE34-BC4F-9513-7A7D4707F7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Freeform 1029">
                <a:extLst>
                  <a:ext uri="{FF2B5EF4-FFF2-40B4-BE49-F238E27FC236}">
                    <a16:creationId xmlns:a16="http://schemas.microsoft.com/office/drawing/2014/main" id="{D8D65D68-18A4-E54D-8916-1DEF36844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1" name="Freeform 1030">
                <a:extLst>
                  <a:ext uri="{FF2B5EF4-FFF2-40B4-BE49-F238E27FC236}">
                    <a16:creationId xmlns:a16="http://schemas.microsoft.com/office/drawing/2014/main" id="{3C79D147-9974-F341-96E9-F9AD19F140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2" name="Freeform 1031">
                <a:extLst>
                  <a:ext uri="{FF2B5EF4-FFF2-40B4-BE49-F238E27FC236}">
                    <a16:creationId xmlns:a16="http://schemas.microsoft.com/office/drawing/2014/main" id="{5E0CE9D2-21FD-2644-9691-743CC3E130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3" name="Freeform 1032">
                <a:extLst>
                  <a:ext uri="{FF2B5EF4-FFF2-40B4-BE49-F238E27FC236}">
                    <a16:creationId xmlns:a16="http://schemas.microsoft.com/office/drawing/2014/main" id="{5691098F-1432-0D44-8573-312C3A566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4" name="Freeform 1033">
                <a:extLst>
                  <a:ext uri="{FF2B5EF4-FFF2-40B4-BE49-F238E27FC236}">
                    <a16:creationId xmlns:a16="http://schemas.microsoft.com/office/drawing/2014/main" id="{2D4A77A2-D0F1-164A-A67D-A50954386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84" name="Freeform 1034">
              <a:extLst>
                <a:ext uri="{FF2B5EF4-FFF2-40B4-BE49-F238E27FC236}">
                  <a16:creationId xmlns:a16="http://schemas.microsoft.com/office/drawing/2014/main" id="{A283BD8E-0AD2-B743-8237-483C3A6A6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Freeform 1035">
              <a:extLst>
                <a:ext uri="{FF2B5EF4-FFF2-40B4-BE49-F238E27FC236}">
                  <a16:creationId xmlns:a16="http://schemas.microsoft.com/office/drawing/2014/main" id="{AA215C2D-4069-DE48-884E-A1816F7D4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Freeform 1036">
              <a:extLst>
                <a:ext uri="{FF2B5EF4-FFF2-40B4-BE49-F238E27FC236}">
                  <a16:creationId xmlns:a16="http://schemas.microsoft.com/office/drawing/2014/main" id="{421821F5-5AD5-4D4E-A4F9-5D46E41A4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Freeform 1037">
              <a:extLst>
                <a:ext uri="{FF2B5EF4-FFF2-40B4-BE49-F238E27FC236}">
                  <a16:creationId xmlns:a16="http://schemas.microsoft.com/office/drawing/2014/main" id="{499D2FC7-7022-A944-98B2-E74E9B2E5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Freeform 1038">
              <a:extLst>
                <a:ext uri="{FF2B5EF4-FFF2-40B4-BE49-F238E27FC236}">
                  <a16:creationId xmlns:a16="http://schemas.microsoft.com/office/drawing/2014/main" id="{37918171-6E71-A846-A2B5-7C65DD745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Freeform 1039">
              <a:extLst>
                <a:ext uri="{FF2B5EF4-FFF2-40B4-BE49-F238E27FC236}">
                  <a16:creationId xmlns:a16="http://schemas.microsoft.com/office/drawing/2014/main" id="{68ECFF60-AA48-2D4C-9A67-90DB18F81D4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40" name="Group 739">
            <a:extLst>
              <a:ext uri="{FF2B5EF4-FFF2-40B4-BE49-F238E27FC236}">
                <a16:creationId xmlns:a16="http://schemas.microsoft.com/office/drawing/2014/main" id="{504BAA5F-BBD8-8242-BC48-7D0E761F340A}"/>
              </a:ext>
            </a:extLst>
          </p:cNvPr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id="110" name="Picture 568" descr="light2.png">
              <a:extLst>
                <a:ext uri="{FF2B5EF4-FFF2-40B4-BE49-F238E27FC236}">
                  <a16:creationId xmlns:a16="http://schemas.microsoft.com/office/drawing/2014/main" id="{D96B693D-26FC-E443-A112-C4AFFE90D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1" name="Picture 1017" descr="antenna_stylized">
              <a:extLst>
                <a:ext uri="{FF2B5EF4-FFF2-40B4-BE49-F238E27FC236}">
                  <a16:creationId xmlns:a16="http://schemas.microsoft.com/office/drawing/2014/main" id="{F4E4C4C0-89A6-D74D-B25C-228CE5BC1D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86" name="Group 785">
            <a:extLst>
              <a:ext uri="{FF2B5EF4-FFF2-40B4-BE49-F238E27FC236}">
                <a16:creationId xmlns:a16="http://schemas.microsoft.com/office/drawing/2014/main" id="{46F998A3-3B85-214A-927A-3BF067B7C2A0}"/>
              </a:ext>
            </a:extLst>
          </p:cNvPr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id="48" name="Picture 603" descr="car_icon_small">
              <a:extLst>
                <a:ext uri="{FF2B5EF4-FFF2-40B4-BE49-F238E27FC236}">
                  <a16:creationId xmlns:a16="http://schemas.microsoft.com/office/drawing/2014/main" id="{147E2796-D425-6645-93B3-B97E69B146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" name="Picture 1017" descr="antenna_stylized">
              <a:extLst>
                <a:ext uri="{FF2B5EF4-FFF2-40B4-BE49-F238E27FC236}">
                  <a16:creationId xmlns:a16="http://schemas.microsoft.com/office/drawing/2014/main" id="{F0886BE8-9B0B-F046-92AA-1AC818378E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93" name="Group 792">
            <a:extLst>
              <a:ext uri="{FF2B5EF4-FFF2-40B4-BE49-F238E27FC236}">
                <a16:creationId xmlns:a16="http://schemas.microsoft.com/office/drawing/2014/main" id="{93351559-0D4C-F04C-928E-5CDA57B5EB47}"/>
              </a:ext>
            </a:extLst>
          </p:cNvPr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792" name="Group 791">
              <a:extLst>
                <a:ext uri="{FF2B5EF4-FFF2-40B4-BE49-F238E27FC236}">
                  <a16:creationId xmlns:a16="http://schemas.microsoft.com/office/drawing/2014/main" id="{084B6293-559E-5D43-AF2B-4CB5E09EC6C5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91" name="Picture 1115" descr="antenna_stylized">
                <a:extLst>
                  <a:ext uri="{FF2B5EF4-FFF2-40B4-BE49-F238E27FC236}">
                    <a16:creationId xmlns:a16="http://schemas.microsoft.com/office/drawing/2014/main" id="{1821BC3E-6137-D844-92B9-4BA4CFF41F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2" name="Picture 1116" descr="laptop_keyboard">
                <a:extLst>
                  <a:ext uri="{FF2B5EF4-FFF2-40B4-BE49-F238E27FC236}">
                    <a16:creationId xmlns:a16="http://schemas.microsoft.com/office/drawing/2014/main" id="{7F05CE3B-E67B-1B40-9D5B-2914F0B9BFB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3" name="Freeform 1117">
                <a:extLst>
                  <a:ext uri="{FF2B5EF4-FFF2-40B4-BE49-F238E27FC236}">
                    <a16:creationId xmlns:a16="http://schemas.microsoft.com/office/drawing/2014/main" id="{B52A07C5-D801-5B41-BD20-C20958925D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94" name="Picture 1118" descr="screen">
                <a:extLst>
                  <a:ext uri="{FF2B5EF4-FFF2-40B4-BE49-F238E27FC236}">
                    <a16:creationId xmlns:a16="http://schemas.microsoft.com/office/drawing/2014/main" id="{2EA30B4E-5447-0340-8DAD-349A843F2A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5" name="Freeform 1119">
                <a:extLst>
                  <a:ext uri="{FF2B5EF4-FFF2-40B4-BE49-F238E27FC236}">
                    <a16:creationId xmlns:a16="http://schemas.microsoft.com/office/drawing/2014/main" id="{1137F6C6-A7C9-9A4D-BCE3-048DB90EF7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" name="Freeform 1120">
                <a:extLst>
                  <a:ext uri="{FF2B5EF4-FFF2-40B4-BE49-F238E27FC236}">
                    <a16:creationId xmlns:a16="http://schemas.microsoft.com/office/drawing/2014/main" id="{7A0060E2-767D-1545-8656-29ED1A4712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Freeform 1121">
                <a:extLst>
                  <a:ext uri="{FF2B5EF4-FFF2-40B4-BE49-F238E27FC236}">
                    <a16:creationId xmlns:a16="http://schemas.microsoft.com/office/drawing/2014/main" id="{15790F5A-ABAC-8D49-A4F9-E2F576550D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Freeform 1122">
                <a:extLst>
                  <a:ext uri="{FF2B5EF4-FFF2-40B4-BE49-F238E27FC236}">
                    <a16:creationId xmlns:a16="http://schemas.microsoft.com/office/drawing/2014/main" id="{8898B7ED-5BCF-8C4E-B1AA-B82AD50FD1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Freeform 1123">
                <a:extLst>
                  <a:ext uri="{FF2B5EF4-FFF2-40B4-BE49-F238E27FC236}">
                    <a16:creationId xmlns:a16="http://schemas.microsoft.com/office/drawing/2014/main" id="{5A7F91EF-AD6B-D64E-B73E-C762D73A7A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Freeform 1124">
                <a:extLst>
                  <a:ext uri="{FF2B5EF4-FFF2-40B4-BE49-F238E27FC236}">
                    <a16:creationId xmlns:a16="http://schemas.microsoft.com/office/drawing/2014/main" id="{BBB1B153-2E6F-7246-9B11-B68D01DF60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01" name="Group 1125">
                <a:extLst>
                  <a:ext uri="{FF2B5EF4-FFF2-40B4-BE49-F238E27FC236}">
                    <a16:creationId xmlns:a16="http://schemas.microsoft.com/office/drawing/2014/main" id="{57060979-075D-9D4D-B12E-DA0CCD4C6B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140" name="Freeform 1126">
                  <a:extLst>
                    <a:ext uri="{FF2B5EF4-FFF2-40B4-BE49-F238E27FC236}">
                      <a16:creationId xmlns:a16="http://schemas.microsoft.com/office/drawing/2014/main" id="{8DFFF656-1361-C546-8336-177F79E469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Freeform 1127">
                  <a:extLst>
                    <a:ext uri="{FF2B5EF4-FFF2-40B4-BE49-F238E27FC236}">
                      <a16:creationId xmlns:a16="http://schemas.microsoft.com/office/drawing/2014/main" id="{60C6C6B3-72DE-664B-B4DE-3C04B0C5BF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" name="Freeform 1128">
                  <a:extLst>
                    <a:ext uri="{FF2B5EF4-FFF2-40B4-BE49-F238E27FC236}">
                      <a16:creationId xmlns:a16="http://schemas.microsoft.com/office/drawing/2014/main" id="{0D48292A-917D-D046-A974-043CEE5A41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" name="Freeform 1129">
                  <a:extLst>
                    <a:ext uri="{FF2B5EF4-FFF2-40B4-BE49-F238E27FC236}">
                      <a16:creationId xmlns:a16="http://schemas.microsoft.com/office/drawing/2014/main" id="{DB6BAAEB-BADD-0A4F-8A9D-D72AFCA99A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" name="Freeform 1130">
                  <a:extLst>
                    <a:ext uri="{FF2B5EF4-FFF2-40B4-BE49-F238E27FC236}">
                      <a16:creationId xmlns:a16="http://schemas.microsoft.com/office/drawing/2014/main" id="{05D5969F-F3B9-414D-975E-A6700098F2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" name="Freeform 1131">
                  <a:extLst>
                    <a:ext uri="{FF2B5EF4-FFF2-40B4-BE49-F238E27FC236}">
                      <a16:creationId xmlns:a16="http://schemas.microsoft.com/office/drawing/2014/main" id="{41BB174D-6019-384D-A5AC-1B4D92D938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2" name="Freeform 1132">
                <a:extLst>
                  <a:ext uri="{FF2B5EF4-FFF2-40B4-BE49-F238E27FC236}">
                    <a16:creationId xmlns:a16="http://schemas.microsoft.com/office/drawing/2014/main" id="{F8739864-4836-E447-8FC8-5886923FF4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Freeform 1133">
                <a:extLst>
                  <a:ext uri="{FF2B5EF4-FFF2-40B4-BE49-F238E27FC236}">
                    <a16:creationId xmlns:a16="http://schemas.microsoft.com/office/drawing/2014/main" id="{C59CADF3-CD09-FB48-A672-C2C50B66CE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Freeform 1134">
                <a:extLst>
                  <a:ext uri="{FF2B5EF4-FFF2-40B4-BE49-F238E27FC236}">
                    <a16:creationId xmlns:a16="http://schemas.microsoft.com/office/drawing/2014/main" id="{628AB6FD-35F6-0345-BD13-22EAAF9EC2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Freeform 1135">
                <a:extLst>
                  <a:ext uri="{FF2B5EF4-FFF2-40B4-BE49-F238E27FC236}">
                    <a16:creationId xmlns:a16="http://schemas.microsoft.com/office/drawing/2014/main" id="{76529D44-B4FD-DE4D-812E-E461A0FCCA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Freeform 1136">
                <a:extLst>
                  <a:ext uri="{FF2B5EF4-FFF2-40B4-BE49-F238E27FC236}">
                    <a16:creationId xmlns:a16="http://schemas.microsoft.com/office/drawing/2014/main" id="{44CD9A89-0E3B-2C40-8436-71B7526BA6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" name="Freeform 1137">
                <a:extLst>
                  <a:ext uri="{FF2B5EF4-FFF2-40B4-BE49-F238E27FC236}">
                    <a16:creationId xmlns:a16="http://schemas.microsoft.com/office/drawing/2014/main" id="{92BF681C-02FC-8F49-A2CD-8F3446ECE5D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8" name="Group 1139">
              <a:extLst>
                <a:ext uri="{FF2B5EF4-FFF2-40B4-BE49-F238E27FC236}">
                  <a16:creationId xmlns:a16="http://schemas.microsoft.com/office/drawing/2014/main" id="{904B7C12-C509-8641-BB63-56DEDB95F95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138" name="Picture 1140" descr="desktop_computer_stylized_medium">
                <a:extLst>
                  <a:ext uri="{FF2B5EF4-FFF2-40B4-BE49-F238E27FC236}">
                    <a16:creationId xmlns:a16="http://schemas.microsoft.com/office/drawing/2014/main" id="{BDC7F552-21C9-C942-90FF-0162099A3D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9" name="Freeform 1141">
                <a:extLst>
                  <a:ext uri="{FF2B5EF4-FFF2-40B4-BE49-F238E27FC236}">
                    <a16:creationId xmlns:a16="http://schemas.microsoft.com/office/drawing/2014/main" id="{654B43BA-608E-5D4D-B11B-71762CFBE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94" name="Group 693">
              <a:extLst>
                <a:ext uri="{FF2B5EF4-FFF2-40B4-BE49-F238E27FC236}">
                  <a16:creationId xmlns:a16="http://schemas.microsoft.com/office/drawing/2014/main" id="{14715B6C-9A50-FE4B-A8D2-1E669BF891E3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113" name="Picture 571" descr="fridge2.png">
                <a:extLst>
                  <a:ext uri="{FF2B5EF4-FFF2-40B4-BE49-F238E27FC236}">
                    <a16:creationId xmlns:a16="http://schemas.microsoft.com/office/drawing/2014/main" id="{29DD0F98-F93B-0145-A925-F4125ED490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4" name="Picture 1115" descr="antenna_stylized">
                <a:extLst>
                  <a:ext uri="{FF2B5EF4-FFF2-40B4-BE49-F238E27FC236}">
                    <a16:creationId xmlns:a16="http://schemas.microsoft.com/office/drawing/2014/main" id="{C1A64F68-4D16-AE4F-AB60-09D2C0CF0E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795" name="Group 794">
            <a:extLst>
              <a:ext uri="{FF2B5EF4-FFF2-40B4-BE49-F238E27FC236}">
                <a16:creationId xmlns:a16="http://schemas.microsoft.com/office/drawing/2014/main" id="{AF73DE4B-526E-9C4F-9242-9BC0D43F8CBA}"/>
              </a:ext>
            </a:extLst>
          </p:cNvPr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433FEDDB-405E-DB4E-815F-55EE9E62EF1A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1D164102-BE0D-AF40-9A7B-7F2B261B2C20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8" name="Group 377">
                <a:extLst>
                  <a:ext uri="{FF2B5EF4-FFF2-40B4-BE49-F238E27FC236}">
                    <a16:creationId xmlns:a16="http://schemas.microsoft.com/office/drawing/2014/main" id="{9018E7EF-EB96-424D-962A-FEB80B43946F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79" name="Picture 378" descr="server_rack.png">
                  <a:extLst>
                    <a:ext uri="{FF2B5EF4-FFF2-40B4-BE49-F238E27FC236}">
                      <a16:creationId xmlns:a16="http://schemas.microsoft.com/office/drawing/2014/main" id="{C865CB27-BCE1-654B-9519-9B39D4CB58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0" name="Picture 379" descr="server_rack.png">
                  <a:extLst>
                    <a:ext uri="{FF2B5EF4-FFF2-40B4-BE49-F238E27FC236}">
                      <a16:creationId xmlns:a16="http://schemas.microsoft.com/office/drawing/2014/main" id="{41D005B5-0BAE-3E48-A2D4-576E4F7B94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1" name="Picture 380" descr="server_rack.png">
                  <a:extLst>
                    <a:ext uri="{FF2B5EF4-FFF2-40B4-BE49-F238E27FC236}">
                      <a16:creationId xmlns:a16="http://schemas.microsoft.com/office/drawing/2014/main" id="{89060F4D-6C40-724C-BD1E-F12A5CA65D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710FDFDB-5658-6346-883B-53F72A0E1C90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21121473-8384-8944-A0B5-DD441780262C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5" name="Group 394">
                <a:extLst>
                  <a:ext uri="{FF2B5EF4-FFF2-40B4-BE49-F238E27FC236}">
                    <a16:creationId xmlns:a16="http://schemas.microsoft.com/office/drawing/2014/main" id="{11366773-360A-0449-911A-80462659C660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96" name="Picture 395" descr="server_rack.png">
                  <a:extLst>
                    <a:ext uri="{FF2B5EF4-FFF2-40B4-BE49-F238E27FC236}">
                      <a16:creationId xmlns:a16="http://schemas.microsoft.com/office/drawing/2014/main" id="{361EFF3D-6A1F-2646-B975-1FACB4284F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7" name="Picture 396" descr="server_rack.png">
                  <a:extLst>
                    <a:ext uri="{FF2B5EF4-FFF2-40B4-BE49-F238E27FC236}">
                      <a16:creationId xmlns:a16="http://schemas.microsoft.com/office/drawing/2014/main" id="{E83F8942-DE11-A747-A5A4-EDFBB17BFC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8" name="Picture 397" descr="server_rack.png">
                  <a:extLst>
                    <a:ext uri="{FF2B5EF4-FFF2-40B4-BE49-F238E27FC236}">
                      <a16:creationId xmlns:a16="http://schemas.microsoft.com/office/drawing/2014/main" id="{300ED1AC-F5EE-3C49-B963-42178C2434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71" name="Group 950">
            <a:extLst>
              <a:ext uri="{FF2B5EF4-FFF2-40B4-BE49-F238E27FC236}">
                <a16:creationId xmlns:a16="http://schemas.microsoft.com/office/drawing/2014/main" id="{2B0A745F-DA32-E140-AB36-BC5E1C4E2D48}"/>
              </a:ext>
            </a:extLst>
          </p:cNvPr>
          <p:cNvGrpSpPr>
            <a:grpSpLocks/>
          </p:cNvGrpSpPr>
          <p:nvPr/>
        </p:nvGrpSpPr>
        <p:grpSpPr bwMode="auto"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207" name="Freeform 951">
              <a:extLst>
                <a:ext uri="{FF2B5EF4-FFF2-40B4-BE49-F238E27FC236}">
                  <a16:creationId xmlns:a16="http://schemas.microsoft.com/office/drawing/2014/main" id="{12CB3660-4D63-014F-8CC9-FDFB8140A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8" name="Rectangle 952">
              <a:extLst>
                <a:ext uri="{FF2B5EF4-FFF2-40B4-BE49-F238E27FC236}">
                  <a16:creationId xmlns:a16="http://schemas.microsoft.com/office/drawing/2014/main" id="{EFE1382F-B768-3541-8BD1-06AB71BFA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9" name="Freeform 953">
              <a:extLst>
                <a:ext uri="{FF2B5EF4-FFF2-40B4-BE49-F238E27FC236}">
                  <a16:creationId xmlns:a16="http://schemas.microsoft.com/office/drawing/2014/main" id="{FB363E8F-CA06-2449-A66C-B14735894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" name="Freeform 954">
              <a:extLst>
                <a:ext uri="{FF2B5EF4-FFF2-40B4-BE49-F238E27FC236}">
                  <a16:creationId xmlns:a16="http://schemas.microsoft.com/office/drawing/2014/main" id="{8A74E36A-A735-7440-A2B1-55846B516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Rectangle 955">
              <a:extLst>
                <a:ext uri="{FF2B5EF4-FFF2-40B4-BE49-F238E27FC236}">
                  <a16:creationId xmlns:a16="http://schemas.microsoft.com/office/drawing/2014/main" id="{FC433BF5-02C8-F540-AE86-53BF56960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2" name="Group 956">
              <a:extLst>
                <a:ext uri="{FF2B5EF4-FFF2-40B4-BE49-F238E27FC236}">
                  <a16:creationId xmlns:a16="http://schemas.microsoft.com/office/drawing/2014/main" id="{969A0B36-D994-A24C-8329-146363A51C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7" name="AutoShape 957">
                <a:extLst>
                  <a:ext uri="{FF2B5EF4-FFF2-40B4-BE49-F238E27FC236}">
                    <a16:creationId xmlns:a16="http://schemas.microsoft.com/office/drawing/2014/main" id="{75A7B329-681F-2B4A-8470-FC0231FE2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8" name="AutoShape 958">
                <a:extLst>
                  <a:ext uri="{FF2B5EF4-FFF2-40B4-BE49-F238E27FC236}">
                    <a16:creationId xmlns:a16="http://schemas.microsoft.com/office/drawing/2014/main" id="{197CEF08-20F4-5741-AC2B-1EBB072FA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3" name="Rectangle 959">
              <a:extLst>
                <a:ext uri="{FF2B5EF4-FFF2-40B4-BE49-F238E27FC236}">
                  <a16:creationId xmlns:a16="http://schemas.microsoft.com/office/drawing/2014/main" id="{775AA9F7-199B-ED4C-B422-5E1B766FB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4" name="Group 960">
              <a:extLst>
                <a:ext uri="{FF2B5EF4-FFF2-40B4-BE49-F238E27FC236}">
                  <a16:creationId xmlns:a16="http://schemas.microsoft.com/office/drawing/2014/main" id="{4EED0C22-3BA6-E24F-B528-BF018CB34F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5" name="AutoShape 961">
                <a:extLst>
                  <a:ext uri="{FF2B5EF4-FFF2-40B4-BE49-F238E27FC236}">
                    <a16:creationId xmlns:a16="http://schemas.microsoft.com/office/drawing/2014/main" id="{FE30D28F-02DD-D041-8551-45D9D2836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6" name="AutoShape 962">
                <a:extLst>
                  <a:ext uri="{FF2B5EF4-FFF2-40B4-BE49-F238E27FC236}">
                    <a16:creationId xmlns:a16="http://schemas.microsoft.com/office/drawing/2014/main" id="{92F33680-18D6-7C4A-88C2-46C4FA3D0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5" name="Rectangle 963">
              <a:extLst>
                <a:ext uri="{FF2B5EF4-FFF2-40B4-BE49-F238E27FC236}">
                  <a16:creationId xmlns:a16="http://schemas.microsoft.com/office/drawing/2014/main" id="{A0014856-A5F8-544F-98BE-B1D6878A6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16" name="Rectangle 964">
              <a:extLst>
                <a:ext uri="{FF2B5EF4-FFF2-40B4-BE49-F238E27FC236}">
                  <a16:creationId xmlns:a16="http://schemas.microsoft.com/office/drawing/2014/main" id="{0E6FC61A-EACA-7D4E-9AA7-C7690D093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7" name="Group 965">
              <a:extLst>
                <a:ext uri="{FF2B5EF4-FFF2-40B4-BE49-F238E27FC236}">
                  <a16:creationId xmlns:a16="http://schemas.microsoft.com/office/drawing/2014/main" id="{CF083CE2-2403-FD4E-8F7D-758E7F67F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3" name="AutoShape 966">
                <a:extLst>
                  <a:ext uri="{FF2B5EF4-FFF2-40B4-BE49-F238E27FC236}">
                    <a16:creationId xmlns:a16="http://schemas.microsoft.com/office/drawing/2014/main" id="{5ED8E2CD-DB59-0040-9493-378A5D7DF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4" name="AutoShape 967">
                <a:extLst>
                  <a:ext uri="{FF2B5EF4-FFF2-40B4-BE49-F238E27FC236}">
                    <a16:creationId xmlns:a16="http://schemas.microsoft.com/office/drawing/2014/main" id="{F249F021-1652-2041-9D37-82D9ADAF2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8" name="Freeform 968">
              <a:extLst>
                <a:ext uri="{FF2B5EF4-FFF2-40B4-BE49-F238E27FC236}">
                  <a16:creationId xmlns:a16="http://schemas.microsoft.com/office/drawing/2014/main" id="{2DA20985-B59E-DD4F-B452-9726DAD28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19" name="Group 969">
              <a:extLst>
                <a:ext uri="{FF2B5EF4-FFF2-40B4-BE49-F238E27FC236}">
                  <a16:creationId xmlns:a16="http://schemas.microsoft.com/office/drawing/2014/main" id="{68489279-23CF-FB42-9AE3-CAB3A000B9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31" name="AutoShape 970">
                <a:extLst>
                  <a:ext uri="{FF2B5EF4-FFF2-40B4-BE49-F238E27FC236}">
                    <a16:creationId xmlns:a16="http://schemas.microsoft.com/office/drawing/2014/main" id="{12532EDD-6029-FD41-90A0-EB4B9A3B8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2" name="AutoShape 971">
                <a:extLst>
                  <a:ext uri="{FF2B5EF4-FFF2-40B4-BE49-F238E27FC236}">
                    <a16:creationId xmlns:a16="http://schemas.microsoft.com/office/drawing/2014/main" id="{2ADE9625-767F-5247-8211-3638BECC9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20" name="Rectangle 972">
              <a:extLst>
                <a:ext uri="{FF2B5EF4-FFF2-40B4-BE49-F238E27FC236}">
                  <a16:creationId xmlns:a16="http://schemas.microsoft.com/office/drawing/2014/main" id="{71E52DA0-9A54-7744-90B9-E438CBE00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1" name="Freeform 973">
              <a:extLst>
                <a:ext uri="{FF2B5EF4-FFF2-40B4-BE49-F238E27FC236}">
                  <a16:creationId xmlns:a16="http://schemas.microsoft.com/office/drawing/2014/main" id="{D950FAED-4EC6-7B4B-AFA5-CA2701F74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2" name="Freeform 974">
              <a:extLst>
                <a:ext uri="{FF2B5EF4-FFF2-40B4-BE49-F238E27FC236}">
                  <a16:creationId xmlns:a16="http://schemas.microsoft.com/office/drawing/2014/main" id="{55AF3FE0-BBE4-A74C-A9EF-B8F3AA7A0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3" name="Oval 975">
              <a:extLst>
                <a:ext uri="{FF2B5EF4-FFF2-40B4-BE49-F238E27FC236}">
                  <a16:creationId xmlns:a16="http://schemas.microsoft.com/office/drawing/2014/main" id="{AC808981-49D6-D840-800C-F21BB9106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4" name="Freeform 976">
              <a:extLst>
                <a:ext uri="{FF2B5EF4-FFF2-40B4-BE49-F238E27FC236}">
                  <a16:creationId xmlns:a16="http://schemas.microsoft.com/office/drawing/2014/main" id="{EBD04B6D-F8F6-FE45-BBD9-3CFFE7B28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5" name="AutoShape 977">
              <a:extLst>
                <a:ext uri="{FF2B5EF4-FFF2-40B4-BE49-F238E27FC236}">
                  <a16:creationId xmlns:a16="http://schemas.microsoft.com/office/drawing/2014/main" id="{EB968B78-CEDA-2949-925F-D6EE71A8E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6" name="AutoShape 978">
              <a:extLst>
                <a:ext uri="{FF2B5EF4-FFF2-40B4-BE49-F238E27FC236}">
                  <a16:creationId xmlns:a16="http://schemas.microsoft.com/office/drawing/2014/main" id="{6127245D-2639-C841-ABBD-0A2EB8719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7" name="Oval 979">
              <a:extLst>
                <a:ext uri="{FF2B5EF4-FFF2-40B4-BE49-F238E27FC236}">
                  <a16:creationId xmlns:a16="http://schemas.microsoft.com/office/drawing/2014/main" id="{CBCE7727-73A7-814E-B244-E80EED405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8" name="Oval 980">
              <a:extLst>
                <a:ext uri="{FF2B5EF4-FFF2-40B4-BE49-F238E27FC236}">
                  <a16:creationId xmlns:a16="http://schemas.microsoft.com/office/drawing/2014/main" id="{7A66ECF6-DDAE-2842-92B5-EA8F14A12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9" name="Oval 981">
              <a:extLst>
                <a:ext uri="{FF2B5EF4-FFF2-40B4-BE49-F238E27FC236}">
                  <a16:creationId xmlns:a16="http://schemas.microsoft.com/office/drawing/2014/main" id="{5A97568E-F028-FD44-8E47-C92EC6C01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30" name="Rectangle 982">
              <a:extLst>
                <a:ext uri="{FF2B5EF4-FFF2-40B4-BE49-F238E27FC236}">
                  <a16:creationId xmlns:a16="http://schemas.microsoft.com/office/drawing/2014/main" id="{A834B858-68E5-0D45-8391-2A0A996FA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44" name="Group 590">
            <a:extLst>
              <a:ext uri="{FF2B5EF4-FFF2-40B4-BE49-F238E27FC236}">
                <a16:creationId xmlns:a16="http://schemas.microsoft.com/office/drawing/2014/main" id="{2648262B-E78D-1D4B-B3FD-3AE9CD5C321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id="367" name="Picture 591" descr="desktop_computer_stylized_medium">
              <a:extLst>
                <a:ext uri="{FF2B5EF4-FFF2-40B4-BE49-F238E27FC236}">
                  <a16:creationId xmlns:a16="http://schemas.microsoft.com/office/drawing/2014/main" id="{35FBE2DB-60A7-B340-A5BB-B3699CCC02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" name="Freeform 592">
              <a:extLst>
                <a:ext uri="{FF2B5EF4-FFF2-40B4-BE49-F238E27FC236}">
                  <a16:creationId xmlns:a16="http://schemas.microsoft.com/office/drawing/2014/main" id="{0263E665-BF2A-2F4A-ADA8-20F44C312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0" name="Group 1064">
            <a:extLst>
              <a:ext uri="{FF2B5EF4-FFF2-40B4-BE49-F238E27FC236}">
                <a16:creationId xmlns:a16="http://schemas.microsoft.com/office/drawing/2014/main" id="{1E483C21-97F2-6C41-9217-2187E09B541E}"/>
              </a:ext>
            </a:extLst>
          </p:cNvPr>
          <p:cNvGrpSpPr>
            <a:grpSpLocks/>
          </p:cNvGrpSpPr>
          <p:nvPr/>
        </p:nvGrpSpPr>
        <p:grpSpPr bwMode="auto">
          <a:xfrm>
            <a:off x="9201681" y="5852809"/>
            <a:ext cx="310186" cy="307808"/>
            <a:chOff x="877" y="1008"/>
            <a:chExt cx="2747" cy="2591"/>
          </a:xfrm>
        </p:grpSpPr>
        <p:pic>
          <p:nvPicPr>
            <p:cNvPr id="146" name="Picture 1065" descr="antenna_stylized">
              <a:extLst>
                <a:ext uri="{FF2B5EF4-FFF2-40B4-BE49-F238E27FC236}">
                  <a16:creationId xmlns:a16="http://schemas.microsoft.com/office/drawing/2014/main" id="{EC1E8FF9-A5AB-904A-91B8-DF49382605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7" name="Picture 1066" descr="laptop_keyboard">
              <a:extLst>
                <a:ext uri="{FF2B5EF4-FFF2-40B4-BE49-F238E27FC236}">
                  <a16:creationId xmlns:a16="http://schemas.microsoft.com/office/drawing/2014/main" id="{71E89937-428E-3447-B221-C34E0D71AC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8" name="Freeform 1067">
              <a:extLst>
                <a:ext uri="{FF2B5EF4-FFF2-40B4-BE49-F238E27FC236}">
                  <a16:creationId xmlns:a16="http://schemas.microsoft.com/office/drawing/2014/main" id="{43C21467-3265-FC4F-AF31-44A028163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49" name="Picture 1068" descr="screen">
              <a:extLst>
                <a:ext uri="{FF2B5EF4-FFF2-40B4-BE49-F238E27FC236}">
                  <a16:creationId xmlns:a16="http://schemas.microsoft.com/office/drawing/2014/main" id="{9868250A-D477-2944-B0F8-A7DE63DA46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0" name="Freeform 1069">
              <a:extLst>
                <a:ext uri="{FF2B5EF4-FFF2-40B4-BE49-F238E27FC236}">
                  <a16:creationId xmlns:a16="http://schemas.microsoft.com/office/drawing/2014/main" id="{A4015B9E-FE1F-594E-AFA2-A5277482E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Freeform 1070">
              <a:extLst>
                <a:ext uri="{FF2B5EF4-FFF2-40B4-BE49-F238E27FC236}">
                  <a16:creationId xmlns:a16="http://schemas.microsoft.com/office/drawing/2014/main" id="{1D5AA9CA-3334-2341-A3C4-E98372488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" name="Freeform 1071">
              <a:extLst>
                <a:ext uri="{FF2B5EF4-FFF2-40B4-BE49-F238E27FC236}">
                  <a16:creationId xmlns:a16="http://schemas.microsoft.com/office/drawing/2014/main" id="{408815EA-3342-2D4A-AB4D-6A6AD669E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" name="Freeform 1072">
              <a:extLst>
                <a:ext uri="{FF2B5EF4-FFF2-40B4-BE49-F238E27FC236}">
                  <a16:creationId xmlns:a16="http://schemas.microsoft.com/office/drawing/2014/main" id="{180DED07-429A-A242-A9E3-1BBEEAF42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" name="Freeform 1073">
              <a:extLst>
                <a:ext uri="{FF2B5EF4-FFF2-40B4-BE49-F238E27FC236}">
                  <a16:creationId xmlns:a16="http://schemas.microsoft.com/office/drawing/2014/main" id="{A86B5E1C-D4A7-804E-9345-DD2099CCF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" name="Freeform 1074">
              <a:extLst>
                <a:ext uri="{FF2B5EF4-FFF2-40B4-BE49-F238E27FC236}">
                  <a16:creationId xmlns:a16="http://schemas.microsoft.com/office/drawing/2014/main" id="{278E44FF-9118-764F-B154-D54B6D088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6" name="Group 1075">
              <a:extLst>
                <a:ext uri="{FF2B5EF4-FFF2-40B4-BE49-F238E27FC236}">
                  <a16:creationId xmlns:a16="http://schemas.microsoft.com/office/drawing/2014/main" id="{B07A4D51-63EA-ED46-9283-3C066C8F80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63" name="Freeform 1076">
                <a:extLst>
                  <a:ext uri="{FF2B5EF4-FFF2-40B4-BE49-F238E27FC236}">
                    <a16:creationId xmlns:a16="http://schemas.microsoft.com/office/drawing/2014/main" id="{362CE3DF-6498-9044-80D1-5B57C954B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4" name="Freeform 1077">
                <a:extLst>
                  <a:ext uri="{FF2B5EF4-FFF2-40B4-BE49-F238E27FC236}">
                    <a16:creationId xmlns:a16="http://schemas.microsoft.com/office/drawing/2014/main" id="{232B6CC8-39FA-8E41-89F9-D454D1953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5" name="Freeform 1078">
                <a:extLst>
                  <a:ext uri="{FF2B5EF4-FFF2-40B4-BE49-F238E27FC236}">
                    <a16:creationId xmlns:a16="http://schemas.microsoft.com/office/drawing/2014/main" id="{14BE6CD7-1B00-AE45-A0A2-B46139077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6" name="Freeform 1079">
                <a:extLst>
                  <a:ext uri="{FF2B5EF4-FFF2-40B4-BE49-F238E27FC236}">
                    <a16:creationId xmlns:a16="http://schemas.microsoft.com/office/drawing/2014/main" id="{17D2993A-DA09-154C-81CE-F00D6DF0DB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7" name="Freeform 1080">
                <a:extLst>
                  <a:ext uri="{FF2B5EF4-FFF2-40B4-BE49-F238E27FC236}">
                    <a16:creationId xmlns:a16="http://schemas.microsoft.com/office/drawing/2014/main" id="{AD580132-3A72-CF47-B834-B58CA201F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Freeform 1081">
                <a:extLst>
                  <a:ext uri="{FF2B5EF4-FFF2-40B4-BE49-F238E27FC236}">
                    <a16:creationId xmlns:a16="http://schemas.microsoft.com/office/drawing/2014/main" id="{E900C928-6E45-6449-A6C9-3DBE801B0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57" name="Freeform 1082">
              <a:extLst>
                <a:ext uri="{FF2B5EF4-FFF2-40B4-BE49-F238E27FC236}">
                  <a16:creationId xmlns:a16="http://schemas.microsoft.com/office/drawing/2014/main" id="{1ECD1A08-63F7-2B4E-84E4-3FA628039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Freeform 1083">
              <a:extLst>
                <a:ext uri="{FF2B5EF4-FFF2-40B4-BE49-F238E27FC236}">
                  <a16:creationId xmlns:a16="http://schemas.microsoft.com/office/drawing/2014/main" id="{E0CE0778-AA7C-994B-8AC5-676F1A825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" name="Freeform 1084">
              <a:extLst>
                <a:ext uri="{FF2B5EF4-FFF2-40B4-BE49-F238E27FC236}">
                  <a16:creationId xmlns:a16="http://schemas.microsoft.com/office/drawing/2014/main" id="{D2A296F6-56E0-0141-8E63-F209F1106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Freeform 1085">
              <a:extLst>
                <a:ext uri="{FF2B5EF4-FFF2-40B4-BE49-F238E27FC236}">
                  <a16:creationId xmlns:a16="http://schemas.microsoft.com/office/drawing/2014/main" id="{06824F88-EE84-D347-A023-F053DA4B2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" name="Freeform 1086">
              <a:extLst>
                <a:ext uri="{FF2B5EF4-FFF2-40B4-BE49-F238E27FC236}">
                  <a16:creationId xmlns:a16="http://schemas.microsoft.com/office/drawing/2014/main" id="{36F4BB90-D696-0945-AC5D-7CBFD97A9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" name="Freeform 1087">
              <a:extLst>
                <a:ext uri="{FF2B5EF4-FFF2-40B4-BE49-F238E27FC236}">
                  <a16:creationId xmlns:a16="http://schemas.microsoft.com/office/drawing/2014/main" id="{9FC45AEE-F94E-2C41-BB56-2055DE618B2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0" name="Group 590">
            <a:extLst>
              <a:ext uri="{FF2B5EF4-FFF2-40B4-BE49-F238E27FC236}">
                <a16:creationId xmlns:a16="http://schemas.microsoft.com/office/drawing/2014/main" id="{A66A00B8-C906-204A-9EA8-BF8007089AF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id="491" name="Picture 591" descr="desktop_computer_stylized_medium">
              <a:extLst>
                <a:ext uri="{FF2B5EF4-FFF2-40B4-BE49-F238E27FC236}">
                  <a16:creationId xmlns:a16="http://schemas.microsoft.com/office/drawing/2014/main" id="{0D26BE9F-5A6F-194D-95F5-9A26085A8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2" name="Freeform 592">
              <a:extLst>
                <a:ext uri="{FF2B5EF4-FFF2-40B4-BE49-F238E27FC236}">
                  <a16:creationId xmlns:a16="http://schemas.microsoft.com/office/drawing/2014/main" id="{F940FA7C-0178-FC42-989D-133C7D3EF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3" name="Group 590">
            <a:extLst>
              <a:ext uri="{FF2B5EF4-FFF2-40B4-BE49-F238E27FC236}">
                <a16:creationId xmlns:a16="http://schemas.microsoft.com/office/drawing/2014/main" id="{AADF67FB-3BE7-EF42-B8A5-B005B506931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id="494" name="Picture 591" descr="desktop_computer_stylized_medium">
              <a:extLst>
                <a:ext uri="{FF2B5EF4-FFF2-40B4-BE49-F238E27FC236}">
                  <a16:creationId xmlns:a16="http://schemas.microsoft.com/office/drawing/2014/main" id="{0BBC0FBB-DA3F-874A-8EBE-B51C772E0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592">
              <a:extLst>
                <a:ext uri="{FF2B5EF4-FFF2-40B4-BE49-F238E27FC236}">
                  <a16:creationId xmlns:a16="http://schemas.microsoft.com/office/drawing/2014/main" id="{A9932DBD-03D1-3E48-AE83-712DE720F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6" name="Group 1064">
            <a:extLst>
              <a:ext uri="{FF2B5EF4-FFF2-40B4-BE49-F238E27FC236}">
                <a16:creationId xmlns:a16="http://schemas.microsoft.com/office/drawing/2014/main" id="{FC2552CF-9AC0-3243-8999-6808B911C762}"/>
              </a:ext>
            </a:extLst>
          </p:cNvPr>
          <p:cNvGrpSpPr>
            <a:grpSpLocks/>
          </p:cNvGrpSpPr>
          <p:nvPr/>
        </p:nvGrpSpPr>
        <p:grpSpPr bwMode="auto">
          <a:xfrm>
            <a:off x="9534746" y="5795138"/>
            <a:ext cx="319264" cy="253379"/>
            <a:chOff x="877" y="1008"/>
            <a:chExt cx="2747" cy="2591"/>
          </a:xfrm>
        </p:grpSpPr>
        <p:pic>
          <p:nvPicPr>
            <p:cNvPr id="497" name="Picture 1065" descr="antenna_stylized">
              <a:extLst>
                <a:ext uri="{FF2B5EF4-FFF2-40B4-BE49-F238E27FC236}">
                  <a16:creationId xmlns:a16="http://schemas.microsoft.com/office/drawing/2014/main" id="{87938519-94DB-D545-A29A-7EDE5E412B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8" name="Picture 1066" descr="laptop_keyboard">
              <a:extLst>
                <a:ext uri="{FF2B5EF4-FFF2-40B4-BE49-F238E27FC236}">
                  <a16:creationId xmlns:a16="http://schemas.microsoft.com/office/drawing/2014/main" id="{2D71707C-83CA-1C4B-8508-67E56E2ADD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9" name="Freeform 1067">
              <a:extLst>
                <a:ext uri="{FF2B5EF4-FFF2-40B4-BE49-F238E27FC236}">
                  <a16:creationId xmlns:a16="http://schemas.microsoft.com/office/drawing/2014/main" id="{73F0FEB4-8393-CC4E-8318-ED16B301B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500" name="Picture 1068" descr="screen">
              <a:extLst>
                <a:ext uri="{FF2B5EF4-FFF2-40B4-BE49-F238E27FC236}">
                  <a16:creationId xmlns:a16="http://schemas.microsoft.com/office/drawing/2014/main" id="{7FE7C88C-9EAD-8349-A46B-E909AEA657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1" name="Freeform 1069">
              <a:extLst>
                <a:ext uri="{FF2B5EF4-FFF2-40B4-BE49-F238E27FC236}">
                  <a16:creationId xmlns:a16="http://schemas.microsoft.com/office/drawing/2014/main" id="{0DBCF6AD-8352-3C40-B68E-0383519D2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2" name="Freeform 1070">
              <a:extLst>
                <a:ext uri="{FF2B5EF4-FFF2-40B4-BE49-F238E27FC236}">
                  <a16:creationId xmlns:a16="http://schemas.microsoft.com/office/drawing/2014/main" id="{3C23673E-599F-5241-B844-C8F96A051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3" name="Freeform 1071">
              <a:extLst>
                <a:ext uri="{FF2B5EF4-FFF2-40B4-BE49-F238E27FC236}">
                  <a16:creationId xmlns:a16="http://schemas.microsoft.com/office/drawing/2014/main" id="{4D502A0C-8868-2C4E-B6B7-F46718640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4" name="Freeform 1072">
              <a:extLst>
                <a:ext uri="{FF2B5EF4-FFF2-40B4-BE49-F238E27FC236}">
                  <a16:creationId xmlns:a16="http://schemas.microsoft.com/office/drawing/2014/main" id="{154DEECF-C451-B140-A650-9DB9DCC41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5" name="Freeform 1073">
              <a:extLst>
                <a:ext uri="{FF2B5EF4-FFF2-40B4-BE49-F238E27FC236}">
                  <a16:creationId xmlns:a16="http://schemas.microsoft.com/office/drawing/2014/main" id="{61C09639-BDA6-1848-86B4-033F9F997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6" name="Freeform 1074">
              <a:extLst>
                <a:ext uri="{FF2B5EF4-FFF2-40B4-BE49-F238E27FC236}">
                  <a16:creationId xmlns:a16="http://schemas.microsoft.com/office/drawing/2014/main" id="{BBF9A35C-4B4A-604C-BCA3-20BC6C3D2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07" name="Group 1075">
              <a:extLst>
                <a:ext uri="{FF2B5EF4-FFF2-40B4-BE49-F238E27FC236}">
                  <a16:creationId xmlns:a16="http://schemas.microsoft.com/office/drawing/2014/main" id="{C228B10E-0BB1-8D40-9DB1-545E285C7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14" name="Freeform 1076">
                <a:extLst>
                  <a:ext uri="{FF2B5EF4-FFF2-40B4-BE49-F238E27FC236}">
                    <a16:creationId xmlns:a16="http://schemas.microsoft.com/office/drawing/2014/main" id="{DBE93115-3362-AE4D-A30A-337520C73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5" name="Freeform 1077">
                <a:extLst>
                  <a:ext uri="{FF2B5EF4-FFF2-40B4-BE49-F238E27FC236}">
                    <a16:creationId xmlns:a16="http://schemas.microsoft.com/office/drawing/2014/main" id="{E980EACA-94CF-194A-AC7A-1415DBB4C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6" name="Freeform 1078">
                <a:extLst>
                  <a:ext uri="{FF2B5EF4-FFF2-40B4-BE49-F238E27FC236}">
                    <a16:creationId xmlns:a16="http://schemas.microsoft.com/office/drawing/2014/main" id="{67C8CECC-A4D3-D543-A1C2-92A3DDD60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7" name="Freeform 1079">
                <a:extLst>
                  <a:ext uri="{FF2B5EF4-FFF2-40B4-BE49-F238E27FC236}">
                    <a16:creationId xmlns:a16="http://schemas.microsoft.com/office/drawing/2014/main" id="{DF7F90DA-E9FF-E64E-979A-F2C4CF6F2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8" name="Freeform 1080">
                <a:extLst>
                  <a:ext uri="{FF2B5EF4-FFF2-40B4-BE49-F238E27FC236}">
                    <a16:creationId xmlns:a16="http://schemas.microsoft.com/office/drawing/2014/main" id="{1FB7CFF5-5312-6B45-B1C9-1E8019D9A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9" name="Freeform 1081">
                <a:extLst>
                  <a:ext uri="{FF2B5EF4-FFF2-40B4-BE49-F238E27FC236}">
                    <a16:creationId xmlns:a16="http://schemas.microsoft.com/office/drawing/2014/main" id="{F6743163-40E8-634F-BDA5-FD850E9C93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08" name="Freeform 1082">
              <a:extLst>
                <a:ext uri="{FF2B5EF4-FFF2-40B4-BE49-F238E27FC236}">
                  <a16:creationId xmlns:a16="http://schemas.microsoft.com/office/drawing/2014/main" id="{5C688E93-8024-AF4A-9FAE-F872353A7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9" name="Freeform 1083">
              <a:extLst>
                <a:ext uri="{FF2B5EF4-FFF2-40B4-BE49-F238E27FC236}">
                  <a16:creationId xmlns:a16="http://schemas.microsoft.com/office/drawing/2014/main" id="{E2D8B864-6DD1-D042-9409-8862ACC1A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0" name="Freeform 1084">
              <a:extLst>
                <a:ext uri="{FF2B5EF4-FFF2-40B4-BE49-F238E27FC236}">
                  <a16:creationId xmlns:a16="http://schemas.microsoft.com/office/drawing/2014/main" id="{CC7A3F9E-B0BC-2945-B124-91C53102E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1" name="Freeform 1085">
              <a:extLst>
                <a:ext uri="{FF2B5EF4-FFF2-40B4-BE49-F238E27FC236}">
                  <a16:creationId xmlns:a16="http://schemas.microsoft.com/office/drawing/2014/main" id="{B8E20EA9-88B9-0A42-A470-7AF9E8810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2" name="Freeform 1086">
              <a:extLst>
                <a:ext uri="{FF2B5EF4-FFF2-40B4-BE49-F238E27FC236}">
                  <a16:creationId xmlns:a16="http://schemas.microsoft.com/office/drawing/2014/main" id="{A9D04135-B045-A743-95D7-CA5EF36EE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3" name="Freeform 1087">
              <a:extLst>
                <a:ext uri="{FF2B5EF4-FFF2-40B4-BE49-F238E27FC236}">
                  <a16:creationId xmlns:a16="http://schemas.microsoft.com/office/drawing/2014/main" id="{C0583F57-71B7-B142-BC2A-15444A0CF4E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5" name="Freeform 984">
            <a:extLst>
              <a:ext uri="{FF2B5EF4-FFF2-40B4-BE49-F238E27FC236}">
                <a16:creationId xmlns:a16="http://schemas.microsoft.com/office/drawing/2014/main" id="{69921432-2526-D74B-B1B3-EF4990D573EA}"/>
              </a:ext>
            </a:extLst>
          </p:cNvPr>
          <p:cNvSpPr>
            <a:spLocks/>
          </p:cNvSpPr>
          <p:nvPr/>
        </p:nvSpPr>
        <p:spPr bwMode="auto">
          <a:xfrm>
            <a:off x="10153593" y="5636971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Freeform 986">
            <a:extLst>
              <a:ext uri="{FF2B5EF4-FFF2-40B4-BE49-F238E27FC236}">
                <a16:creationId xmlns:a16="http://schemas.microsoft.com/office/drawing/2014/main" id="{210AB56E-8E3A-464C-BA90-E5EE13DE14AA}"/>
              </a:ext>
            </a:extLst>
          </p:cNvPr>
          <p:cNvSpPr>
            <a:spLocks/>
          </p:cNvSpPr>
          <p:nvPr/>
        </p:nvSpPr>
        <p:spPr bwMode="auto">
          <a:xfrm>
            <a:off x="10159970" y="5656923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8" name="Freeform 987">
            <a:extLst>
              <a:ext uri="{FF2B5EF4-FFF2-40B4-BE49-F238E27FC236}">
                <a16:creationId xmlns:a16="http://schemas.microsoft.com/office/drawing/2014/main" id="{4B6304D8-37E4-9743-9663-D2140A3373CD}"/>
              </a:ext>
            </a:extLst>
          </p:cNvPr>
          <p:cNvSpPr>
            <a:spLocks/>
          </p:cNvSpPr>
          <p:nvPr/>
        </p:nvSpPr>
        <p:spPr bwMode="auto">
          <a:xfrm>
            <a:off x="10155518" y="5812753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Rectangle 988">
            <a:extLst>
              <a:ext uri="{FF2B5EF4-FFF2-40B4-BE49-F238E27FC236}">
                <a16:creationId xmlns:a16="http://schemas.microsoft.com/office/drawing/2014/main" id="{01DA0D94-4858-4748-835A-0A295C76D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674399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0" name="Group 989">
            <a:extLst>
              <a:ext uri="{FF2B5EF4-FFF2-40B4-BE49-F238E27FC236}">
                <a16:creationId xmlns:a16="http://schemas.microsoft.com/office/drawing/2014/main" id="{653C7E87-1F7F-B94B-970F-8043BE6AD494}"/>
              </a:ext>
            </a:extLst>
          </p:cNvPr>
          <p:cNvGrpSpPr>
            <a:grpSpLocks/>
          </p:cNvGrpSpPr>
          <p:nvPr/>
        </p:nvGrpSpPr>
        <p:grpSpPr bwMode="auto">
          <a:xfrm>
            <a:off x="10091149" y="5671195"/>
            <a:ext cx="69903" cy="21117"/>
            <a:chOff x="614" y="2568"/>
            <a:chExt cx="725" cy="139"/>
          </a:xfrm>
        </p:grpSpPr>
        <p:sp>
          <p:nvSpPr>
            <p:cNvPr id="205" name="AutoShape 990">
              <a:extLst>
                <a:ext uri="{FF2B5EF4-FFF2-40B4-BE49-F238E27FC236}">
                  <a16:creationId xmlns:a16="http://schemas.microsoft.com/office/drawing/2014/main" id="{9E8BF054-B12E-C746-9DCC-FFC0FBE11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6" name="AutoShape 991">
              <a:extLst>
                <a:ext uri="{FF2B5EF4-FFF2-40B4-BE49-F238E27FC236}">
                  <a16:creationId xmlns:a16="http://schemas.microsoft.com/office/drawing/2014/main" id="{60A26098-3AC3-5F48-AF12-0376133BA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1" name="Rectangle 992">
            <a:extLst>
              <a:ext uri="{FF2B5EF4-FFF2-40B4-BE49-F238E27FC236}">
                <a16:creationId xmlns:a16="http://schemas.microsoft.com/office/drawing/2014/main" id="{AB0AE9A0-AEC6-B542-BAA1-AD6A9E257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22750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2" name="Group 993">
            <a:extLst>
              <a:ext uri="{FF2B5EF4-FFF2-40B4-BE49-F238E27FC236}">
                <a16:creationId xmlns:a16="http://schemas.microsoft.com/office/drawing/2014/main" id="{2E23BBDE-93A3-014A-8AD9-509F2B133316}"/>
              </a:ext>
            </a:extLst>
          </p:cNvPr>
          <p:cNvGrpSpPr>
            <a:grpSpLocks/>
          </p:cNvGrpSpPr>
          <p:nvPr/>
        </p:nvGrpSpPr>
        <p:grpSpPr bwMode="auto">
          <a:xfrm>
            <a:off x="10090909" y="5718672"/>
            <a:ext cx="69903" cy="19515"/>
            <a:chOff x="614" y="2568"/>
            <a:chExt cx="725" cy="139"/>
          </a:xfrm>
        </p:grpSpPr>
        <p:sp>
          <p:nvSpPr>
            <p:cNvPr id="203" name="AutoShape 994">
              <a:extLst>
                <a:ext uri="{FF2B5EF4-FFF2-40B4-BE49-F238E27FC236}">
                  <a16:creationId xmlns:a16="http://schemas.microsoft.com/office/drawing/2014/main" id="{CF10A6D2-6E36-BA46-8AB3-2A153E9EC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4" name="AutoShape 995">
              <a:extLst>
                <a:ext uri="{FF2B5EF4-FFF2-40B4-BE49-F238E27FC236}">
                  <a16:creationId xmlns:a16="http://schemas.microsoft.com/office/drawing/2014/main" id="{964D14B2-2639-5A46-B2D5-48A8B0C31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3" name="Rectangle 996">
            <a:extLst>
              <a:ext uri="{FF2B5EF4-FFF2-40B4-BE49-F238E27FC236}">
                <a16:creationId xmlns:a16="http://schemas.microsoft.com/office/drawing/2014/main" id="{426E7337-36DD-B64A-88F7-00D5A742F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71101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84" name="Rectangle 997">
            <a:extLst>
              <a:ext uri="{FF2B5EF4-FFF2-40B4-BE49-F238E27FC236}">
                <a16:creationId xmlns:a16="http://schemas.microsoft.com/office/drawing/2014/main" id="{BE4D7353-7D2D-9F42-8A6A-65BAA6259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5" y="5814938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5" name="Group 998">
            <a:extLst>
              <a:ext uri="{FF2B5EF4-FFF2-40B4-BE49-F238E27FC236}">
                <a16:creationId xmlns:a16="http://schemas.microsoft.com/office/drawing/2014/main" id="{10644FFB-BF70-614B-94F5-58CB99D12E0E}"/>
              </a:ext>
            </a:extLst>
          </p:cNvPr>
          <p:cNvGrpSpPr>
            <a:grpSpLocks/>
          </p:cNvGrpSpPr>
          <p:nvPr/>
        </p:nvGrpSpPr>
        <p:grpSpPr bwMode="auto">
          <a:xfrm>
            <a:off x="10089465" y="5810860"/>
            <a:ext cx="70024" cy="21991"/>
            <a:chOff x="614" y="2568"/>
            <a:chExt cx="725" cy="139"/>
          </a:xfrm>
        </p:grpSpPr>
        <p:sp>
          <p:nvSpPr>
            <p:cNvPr id="201" name="AutoShape 999">
              <a:extLst>
                <a:ext uri="{FF2B5EF4-FFF2-40B4-BE49-F238E27FC236}">
                  <a16:creationId xmlns:a16="http://schemas.microsoft.com/office/drawing/2014/main" id="{2EEDFBCE-8402-0442-A96B-A6412C51C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2" name="AutoShape 1000">
              <a:extLst>
                <a:ext uri="{FF2B5EF4-FFF2-40B4-BE49-F238E27FC236}">
                  <a16:creationId xmlns:a16="http://schemas.microsoft.com/office/drawing/2014/main" id="{5BBF678C-8365-374C-8592-2F4010918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6" name="Freeform 1001">
            <a:extLst>
              <a:ext uri="{FF2B5EF4-FFF2-40B4-BE49-F238E27FC236}">
                <a16:creationId xmlns:a16="http://schemas.microsoft.com/office/drawing/2014/main" id="{43320BBC-6D3F-CE4C-AE57-EE45F3319F3F}"/>
              </a:ext>
            </a:extLst>
          </p:cNvPr>
          <p:cNvSpPr>
            <a:spLocks/>
          </p:cNvSpPr>
          <p:nvPr/>
        </p:nvSpPr>
        <p:spPr bwMode="auto">
          <a:xfrm>
            <a:off x="10156000" y="5771101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7" name="Group 1002">
            <a:extLst>
              <a:ext uri="{FF2B5EF4-FFF2-40B4-BE49-F238E27FC236}">
                <a16:creationId xmlns:a16="http://schemas.microsoft.com/office/drawing/2014/main" id="{4ED748C4-471F-B74E-9328-2437DB94B8F7}"/>
              </a:ext>
            </a:extLst>
          </p:cNvPr>
          <p:cNvGrpSpPr>
            <a:grpSpLocks/>
          </p:cNvGrpSpPr>
          <p:nvPr/>
        </p:nvGrpSpPr>
        <p:grpSpPr bwMode="auto">
          <a:xfrm>
            <a:off x="10089946" y="5767169"/>
            <a:ext cx="70024" cy="20243"/>
            <a:chOff x="614" y="2568"/>
            <a:chExt cx="725" cy="139"/>
          </a:xfrm>
        </p:grpSpPr>
        <p:sp>
          <p:nvSpPr>
            <p:cNvPr id="199" name="AutoShape 1003">
              <a:extLst>
                <a:ext uri="{FF2B5EF4-FFF2-40B4-BE49-F238E27FC236}">
                  <a16:creationId xmlns:a16="http://schemas.microsoft.com/office/drawing/2014/main" id="{DE163CA4-FABE-9B4C-973B-7160FB0CA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0" name="AutoShape 1004">
              <a:extLst>
                <a:ext uri="{FF2B5EF4-FFF2-40B4-BE49-F238E27FC236}">
                  <a16:creationId xmlns:a16="http://schemas.microsoft.com/office/drawing/2014/main" id="{D50A283A-2FFB-A24F-A406-2910EEA8C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8" name="Rectangle 1005">
            <a:extLst>
              <a:ext uri="{FF2B5EF4-FFF2-40B4-BE49-F238E27FC236}">
                <a16:creationId xmlns:a16="http://schemas.microsoft.com/office/drawing/2014/main" id="{42659E43-E287-8942-BD23-94141CB4B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0946" y="5636388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89" name="Freeform 1006">
            <a:extLst>
              <a:ext uri="{FF2B5EF4-FFF2-40B4-BE49-F238E27FC236}">
                <a16:creationId xmlns:a16="http://schemas.microsoft.com/office/drawing/2014/main" id="{48DEF8E3-26E3-0E48-88EA-BAB435AE5150}"/>
              </a:ext>
            </a:extLst>
          </p:cNvPr>
          <p:cNvSpPr>
            <a:spLocks/>
          </p:cNvSpPr>
          <p:nvPr/>
        </p:nvSpPr>
        <p:spPr bwMode="auto">
          <a:xfrm>
            <a:off x="10158887" y="5720566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0" name="Freeform 1007">
            <a:extLst>
              <a:ext uri="{FF2B5EF4-FFF2-40B4-BE49-F238E27FC236}">
                <a16:creationId xmlns:a16="http://schemas.microsoft.com/office/drawing/2014/main" id="{7869EB64-11F6-624E-9B28-6986DD9D076F}"/>
              </a:ext>
            </a:extLst>
          </p:cNvPr>
          <p:cNvSpPr>
            <a:spLocks/>
          </p:cNvSpPr>
          <p:nvPr/>
        </p:nvSpPr>
        <p:spPr bwMode="auto">
          <a:xfrm>
            <a:off x="10159248" y="5672943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1" name="Oval 1008">
            <a:extLst>
              <a:ext uri="{FF2B5EF4-FFF2-40B4-BE49-F238E27FC236}">
                <a16:creationId xmlns:a16="http://schemas.microsoft.com/office/drawing/2014/main" id="{322E0F0C-40A1-7E43-B9BC-A271C6411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2" name="Freeform 1009">
            <a:extLst>
              <a:ext uri="{FF2B5EF4-FFF2-40B4-BE49-F238E27FC236}">
                <a16:creationId xmlns:a16="http://schemas.microsoft.com/office/drawing/2014/main" id="{2C34A91D-8DF1-DE40-8F88-B7AB2BE630CE}"/>
              </a:ext>
            </a:extLst>
          </p:cNvPr>
          <p:cNvSpPr>
            <a:spLocks/>
          </p:cNvSpPr>
          <p:nvPr/>
        </p:nvSpPr>
        <p:spPr bwMode="auto">
          <a:xfrm>
            <a:off x="10157684" y="5954603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3" name="AutoShape 1010">
            <a:extLst>
              <a:ext uri="{FF2B5EF4-FFF2-40B4-BE49-F238E27FC236}">
                <a16:creationId xmlns:a16="http://schemas.microsoft.com/office/drawing/2014/main" id="{C10585A3-5046-F44C-A720-1B5360D1A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877" y="5963487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4" name="AutoShape 1011">
            <a:extLst>
              <a:ext uri="{FF2B5EF4-FFF2-40B4-BE49-F238E27FC236}">
                <a16:creationId xmlns:a16="http://schemas.microsoft.com/office/drawing/2014/main" id="{0F1CC371-A8A5-1146-9D54-06BA5783B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969166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5" name="Oval 1012">
            <a:extLst>
              <a:ext uri="{FF2B5EF4-FFF2-40B4-BE49-F238E27FC236}">
                <a16:creationId xmlns:a16="http://schemas.microsoft.com/office/drawing/2014/main" id="{165ACFDB-EB0A-EF4A-A53B-E952BF38B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6" name="Oval 1013">
            <a:extLst>
              <a:ext uri="{FF2B5EF4-FFF2-40B4-BE49-F238E27FC236}">
                <a16:creationId xmlns:a16="http://schemas.microsoft.com/office/drawing/2014/main" id="{8E1C86F1-E8A5-AB43-9FBE-05329F11F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7" name="Oval 1014">
            <a:extLst>
              <a:ext uri="{FF2B5EF4-FFF2-40B4-BE49-F238E27FC236}">
                <a16:creationId xmlns:a16="http://schemas.microsoft.com/office/drawing/2014/main" id="{0C189499-8A09-3E4B-B216-1DBC5D3CD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8" name="Rectangle 1015">
            <a:extLst>
              <a:ext uri="{FF2B5EF4-FFF2-40B4-BE49-F238E27FC236}">
                <a16:creationId xmlns:a16="http://schemas.microsoft.com/office/drawing/2014/main" id="{F801E0C5-03DC-4947-89BB-24F841D7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483029-0B46-154F-9CA3-FEA06875B8DB}"/>
              </a:ext>
            </a:extLst>
          </p:cNvPr>
          <p:cNvSpPr/>
          <p:nvPr/>
        </p:nvSpPr>
        <p:spPr>
          <a:xfrm>
            <a:off x="6539916" y="1365914"/>
            <a:ext cx="5359400" cy="4954628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1AB30C9-9641-104B-9006-CB16D4919778}"/>
              </a:ext>
            </a:extLst>
          </p:cNvPr>
          <p:cNvGrpSpPr/>
          <p:nvPr/>
        </p:nvGrpSpPr>
        <p:grpSpPr>
          <a:xfrm>
            <a:off x="7680324" y="1814171"/>
            <a:ext cx="2755429" cy="4250670"/>
            <a:chOff x="7680324" y="1814171"/>
            <a:chExt cx="2755429" cy="4250670"/>
          </a:xfrm>
        </p:grpSpPr>
        <p:grpSp>
          <p:nvGrpSpPr>
            <p:cNvPr id="49" name="Group 652">
              <a:extLst>
                <a:ext uri="{FF2B5EF4-FFF2-40B4-BE49-F238E27FC236}">
                  <a16:creationId xmlns:a16="http://schemas.microsoft.com/office/drawing/2014/main" id="{F4E63F52-683B-8244-A48E-D8CF833CC0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50224" y="1859725"/>
              <a:ext cx="415925" cy="385763"/>
              <a:chOff x="2751" y="1851"/>
              <a:chExt cx="462" cy="478"/>
            </a:xfrm>
          </p:grpSpPr>
          <p:pic>
            <p:nvPicPr>
              <p:cNvPr id="359" name="Picture 653" descr="iphone_stylized_small">
                <a:extLst>
                  <a:ext uri="{FF2B5EF4-FFF2-40B4-BE49-F238E27FC236}">
                    <a16:creationId xmlns:a16="http://schemas.microsoft.com/office/drawing/2014/main" id="{EDF1EC93-A6E5-964F-B0D6-EE56B282AE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60" name="Picture 654" descr="antenna_radiation_stylized">
                <a:extLst>
                  <a:ext uri="{FF2B5EF4-FFF2-40B4-BE49-F238E27FC236}">
                    <a16:creationId xmlns:a16="http://schemas.microsoft.com/office/drawing/2014/main" id="{0A17C594-505E-6F41-AEEB-272A31DFD2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87" name="Group 590">
              <a:extLst>
                <a:ext uri="{FF2B5EF4-FFF2-40B4-BE49-F238E27FC236}">
                  <a16:creationId xmlns:a16="http://schemas.microsoft.com/office/drawing/2014/main" id="{B2AAF0C3-BD73-634D-B492-B7CCF9735ED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773981" y="5281060"/>
              <a:ext cx="345630" cy="320302"/>
              <a:chOff x="2839" y="3501"/>
              <a:chExt cx="755" cy="803"/>
            </a:xfrm>
          </p:grpSpPr>
          <p:pic>
            <p:nvPicPr>
              <p:cNvPr id="488" name="Picture 591" descr="desktop_computer_stylized_medium">
                <a:extLst>
                  <a:ext uri="{FF2B5EF4-FFF2-40B4-BE49-F238E27FC236}">
                    <a16:creationId xmlns:a16="http://schemas.microsoft.com/office/drawing/2014/main" id="{1B000E5D-AA79-9741-93EF-69776E79DC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89" name="Freeform 592">
                <a:extLst>
                  <a:ext uri="{FF2B5EF4-FFF2-40B4-BE49-F238E27FC236}">
                    <a16:creationId xmlns:a16="http://schemas.microsoft.com/office/drawing/2014/main" id="{E285DBFE-A1C0-DE49-94FA-3F8D49F9AA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12" name="Oval 611">
              <a:extLst>
                <a:ext uri="{FF2B5EF4-FFF2-40B4-BE49-F238E27FC236}">
                  <a16:creationId xmlns:a16="http://schemas.microsoft.com/office/drawing/2014/main" id="{626C6AB3-E95B-4E45-912D-03BD50D0AB9E}"/>
                </a:ext>
              </a:extLst>
            </p:cNvPr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5" name="Oval 634">
              <a:extLst>
                <a:ext uri="{FF2B5EF4-FFF2-40B4-BE49-F238E27FC236}">
                  <a16:creationId xmlns:a16="http://schemas.microsoft.com/office/drawing/2014/main" id="{78E6AF30-B350-C649-8449-B69F6002DF42}"/>
                </a:ext>
              </a:extLst>
            </p:cNvPr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8" name="Oval 637">
              <a:extLst>
                <a:ext uri="{FF2B5EF4-FFF2-40B4-BE49-F238E27FC236}">
                  <a16:creationId xmlns:a16="http://schemas.microsoft.com/office/drawing/2014/main" id="{C1E7801D-A747-164C-BE12-1FDEB3DFE743}"/>
                </a:ext>
              </a:extLst>
            </p:cNvPr>
            <p:cNvSpPr/>
            <p:nvPr/>
          </p:nvSpPr>
          <p:spPr>
            <a:xfrm>
              <a:off x="9823450" y="5554772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71" name="Group 618">
            <a:extLst>
              <a:ext uri="{FF2B5EF4-FFF2-40B4-BE49-F238E27FC236}">
                <a16:creationId xmlns:a16="http://schemas.microsoft.com/office/drawing/2014/main" id="{580255E5-A809-CB45-994D-F69BD8D6F8D7}"/>
              </a:ext>
            </a:extLst>
          </p:cNvPr>
          <p:cNvGrpSpPr>
            <a:grpSpLocks/>
          </p:cNvGrpSpPr>
          <p:nvPr/>
        </p:nvGrpSpPr>
        <p:grpSpPr bwMode="auto">
          <a:xfrm>
            <a:off x="8005845" y="1168489"/>
            <a:ext cx="1065213" cy="965200"/>
            <a:chOff x="4047" y="420"/>
            <a:chExt cx="671" cy="608"/>
          </a:xfrm>
        </p:grpSpPr>
        <p:sp>
          <p:nvSpPr>
            <p:cNvPr id="572" name="Rectangle 227">
              <a:extLst>
                <a:ext uri="{FF2B5EF4-FFF2-40B4-BE49-F238E27FC236}">
                  <a16:creationId xmlns:a16="http://schemas.microsoft.com/office/drawing/2014/main" id="{B2F29371-16FD-D244-80BF-A52E1D7F8B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5" name="Rectangle 228">
              <a:extLst>
                <a:ext uri="{FF2B5EF4-FFF2-40B4-BE49-F238E27FC236}">
                  <a16:creationId xmlns:a16="http://schemas.microsoft.com/office/drawing/2014/main" id="{E66B124A-4E8B-D846-A7C2-C34B559B7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435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6" name="Rectangle 229">
              <a:extLst>
                <a:ext uri="{FF2B5EF4-FFF2-40B4-BE49-F238E27FC236}">
                  <a16:creationId xmlns:a16="http://schemas.microsoft.com/office/drawing/2014/main" id="{80574F4D-DD94-2C4B-B4A1-D4DE0E2DC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9" name="Text Box 230">
              <a:extLst>
                <a:ext uri="{FF2B5EF4-FFF2-40B4-BE49-F238E27FC236}">
                  <a16:creationId xmlns:a16="http://schemas.microsoft.com/office/drawing/2014/main" id="{2EABDC18-53BF-7B40-AB0D-A755F80C07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5" y="421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 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10" name="Line 231">
              <a:extLst>
                <a:ext uri="{FF2B5EF4-FFF2-40B4-BE49-F238E27FC236}">
                  <a16:creationId xmlns:a16="http://schemas.microsoft.com/office/drawing/2014/main" id="{E5CDD0A1-21E2-6748-A493-24F315669C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5" y="65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1" name="Line 232">
              <a:extLst>
                <a:ext uri="{FF2B5EF4-FFF2-40B4-BE49-F238E27FC236}">
                  <a16:creationId xmlns:a16="http://schemas.microsoft.com/office/drawing/2014/main" id="{CDA63567-EA65-5A46-877E-710FE9AD1D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73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3" name="Line 233">
              <a:extLst>
                <a:ext uri="{FF2B5EF4-FFF2-40B4-BE49-F238E27FC236}">
                  <a16:creationId xmlns:a16="http://schemas.microsoft.com/office/drawing/2014/main" id="{7FE7B44D-4874-7642-8A70-AE45F5B800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82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4" name="Freeform 917">
              <a:extLst>
                <a:ext uri="{FF2B5EF4-FFF2-40B4-BE49-F238E27FC236}">
                  <a16:creationId xmlns:a16="http://schemas.microsoft.com/office/drawing/2014/main" id="{9FBAE6C1-0ABD-B849-B7B3-8C34910CED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434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31" name="Group 619">
            <a:extLst>
              <a:ext uri="{FF2B5EF4-FFF2-40B4-BE49-F238E27FC236}">
                <a16:creationId xmlns:a16="http://schemas.microsoft.com/office/drawing/2014/main" id="{14A407A0-EBD9-3449-9859-9B138D20D5AC}"/>
              </a:ext>
            </a:extLst>
          </p:cNvPr>
          <p:cNvGrpSpPr>
            <a:grpSpLocks/>
          </p:cNvGrpSpPr>
          <p:nvPr/>
        </p:nvGrpSpPr>
        <p:grpSpPr bwMode="auto">
          <a:xfrm>
            <a:off x="10104523" y="4743539"/>
            <a:ext cx="1050926" cy="974725"/>
            <a:chOff x="4047" y="414"/>
            <a:chExt cx="662" cy="614"/>
          </a:xfrm>
        </p:grpSpPr>
        <p:sp>
          <p:nvSpPr>
            <p:cNvPr id="632" name="Rectangle 227">
              <a:extLst>
                <a:ext uri="{FF2B5EF4-FFF2-40B4-BE49-F238E27FC236}">
                  <a16:creationId xmlns:a16="http://schemas.microsoft.com/office/drawing/2014/main" id="{875D12D0-0645-B449-8F48-0AC45EE186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3" name="Rectangle 228">
              <a:extLst>
                <a:ext uri="{FF2B5EF4-FFF2-40B4-BE49-F238E27FC236}">
                  <a16:creationId xmlns:a16="http://schemas.microsoft.com/office/drawing/2014/main" id="{F233A0F6-C3A3-1D47-A777-BFAC1494E3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435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4" name="Rectangle 229">
              <a:extLst>
                <a:ext uri="{FF2B5EF4-FFF2-40B4-BE49-F238E27FC236}">
                  <a16:creationId xmlns:a16="http://schemas.microsoft.com/office/drawing/2014/main" id="{3B52AB0C-7235-834F-A249-28BBCC6D2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6" name="Text Box 230">
              <a:extLst>
                <a:ext uri="{FF2B5EF4-FFF2-40B4-BE49-F238E27FC236}">
                  <a16:creationId xmlns:a16="http://schemas.microsoft.com/office/drawing/2014/main" id="{9B5B5523-DD29-8F46-BF07-8ECCDD6C78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6" y="414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 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7" name="Line 231">
              <a:extLst>
                <a:ext uri="{FF2B5EF4-FFF2-40B4-BE49-F238E27FC236}">
                  <a16:creationId xmlns:a16="http://schemas.microsoft.com/office/drawing/2014/main" id="{00E57763-CBA1-1542-B749-A48E642E00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5" y="65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9" name="Line 232">
              <a:extLst>
                <a:ext uri="{FF2B5EF4-FFF2-40B4-BE49-F238E27FC236}">
                  <a16:creationId xmlns:a16="http://schemas.microsoft.com/office/drawing/2014/main" id="{E4657539-B4FE-304C-816A-A074251ABA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73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0" name="Line 233">
              <a:extLst>
                <a:ext uri="{FF2B5EF4-FFF2-40B4-BE49-F238E27FC236}">
                  <a16:creationId xmlns:a16="http://schemas.microsoft.com/office/drawing/2014/main" id="{DE0F6076-B3CE-C540-BD00-B77A1E45F5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82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1" name="Freeform 917">
              <a:extLst>
                <a:ext uri="{FF2B5EF4-FFF2-40B4-BE49-F238E27FC236}">
                  <a16:creationId xmlns:a16="http://schemas.microsoft.com/office/drawing/2014/main" id="{0111663E-DD9D-6043-8338-8C5285F74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434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42" name="Group 628">
            <a:extLst>
              <a:ext uri="{FF2B5EF4-FFF2-40B4-BE49-F238E27FC236}">
                <a16:creationId xmlns:a16="http://schemas.microsoft.com/office/drawing/2014/main" id="{F65FBC4E-EE37-D144-AFDB-E6C408428C1F}"/>
              </a:ext>
            </a:extLst>
          </p:cNvPr>
          <p:cNvGrpSpPr>
            <a:grpSpLocks/>
          </p:cNvGrpSpPr>
          <p:nvPr/>
        </p:nvGrpSpPr>
        <p:grpSpPr bwMode="auto">
          <a:xfrm>
            <a:off x="7962986" y="4374557"/>
            <a:ext cx="1060451" cy="965200"/>
            <a:chOff x="4047" y="420"/>
            <a:chExt cx="668" cy="608"/>
          </a:xfrm>
        </p:grpSpPr>
        <p:sp>
          <p:nvSpPr>
            <p:cNvPr id="643" name="Rectangle 227">
              <a:extLst>
                <a:ext uri="{FF2B5EF4-FFF2-40B4-BE49-F238E27FC236}">
                  <a16:creationId xmlns:a16="http://schemas.microsoft.com/office/drawing/2014/main" id="{E92C3AA2-F23F-C148-8F92-1D04CB500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44" name="Rectangle 228">
              <a:extLst>
                <a:ext uri="{FF2B5EF4-FFF2-40B4-BE49-F238E27FC236}">
                  <a16:creationId xmlns:a16="http://schemas.microsoft.com/office/drawing/2014/main" id="{6330CAEB-E474-6241-9D9F-EEB5C50916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435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45" name="Rectangle 229">
              <a:extLst>
                <a:ext uri="{FF2B5EF4-FFF2-40B4-BE49-F238E27FC236}">
                  <a16:creationId xmlns:a16="http://schemas.microsoft.com/office/drawing/2014/main" id="{AFA24D83-EF79-8246-AE25-393D0CCB2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46" name="Text Box 230">
              <a:extLst>
                <a:ext uri="{FF2B5EF4-FFF2-40B4-BE49-F238E27FC236}">
                  <a16:creationId xmlns:a16="http://schemas.microsoft.com/office/drawing/2014/main" id="{3EEA565E-691A-5943-B9C1-2FBC1E5B7F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2" y="423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 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47" name="Line 231">
              <a:extLst>
                <a:ext uri="{FF2B5EF4-FFF2-40B4-BE49-F238E27FC236}">
                  <a16:creationId xmlns:a16="http://schemas.microsoft.com/office/drawing/2014/main" id="{8E2DC1D5-A1BA-E349-B4E3-5CB27DD1FF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5" y="65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8" name="Line 232">
              <a:extLst>
                <a:ext uri="{FF2B5EF4-FFF2-40B4-BE49-F238E27FC236}">
                  <a16:creationId xmlns:a16="http://schemas.microsoft.com/office/drawing/2014/main" id="{0D97E1EE-0440-9746-9909-8846196F33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73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9" name="Line 233">
              <a:extLst>
                <a:ext uri="{FF2B5EF4-FFF2-40B4-BE49-F238E27FC236}">
                  <a16:creationId xmlns:a16="http://schemas.microsoft.com/office/drawing/2014/main" id="{9453EBF5-7BBF-8943-8161-7DEB7997BF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82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0" name="Freeform 917">
              <a:extLst>
                <a:ext uri="{FF2B5EF4-FFF2-40B4-BE49-F238E27FC236}">
                  <a16:creationId xmlns:a16="http://schemas.microsoft.com/office/drawing/2014/main" id="{B9EE01B3-0624-134E-8FD0-E4ADEDFD2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434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51" name="Line 913">
            <a:extLst>
              <a:ext uri="{FF2B5EF4-FFF2-40B4-BE49-F238E27FC236}">
                <a16:creationId xmlns:a16="http://schemas.microsoft.com/office/drawing/2014/main" id="{47A3D5AF-94CC-B24F-922A-C603CC0A5A25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8030" y="4451439"/>
            <a:ext cx="1290637" cy="541337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2" name="Line 911">
            <a:extLst>
              <a:ext uri="{FF2B5EF4-FFF2-40B4-BE49-F238E27FC236}">
                <a16:creationId xmlns:a16="http://schemas.microsoft.com/office/drawing/2014/main" id="{8E6A54E5-62F1-544B-AE41-5137E62BFCE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93280" y="1325651"/>
            <a:ext cx="1700212" cy="3386138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Creating a network </a:t>
            </a:r>
            <a:r>
              <a:rPr lang="en-US" altLang="en-US" dirty="0">
                <a:ea typeface="ＭＳ Ｐゴシック" panose="020B0600070205080204" pitchFamily="34" charset="-128"/>
              </a:rPr>
              <a:t>a</a:t>
            </a:r>
            <a:r>
              <a:rPr lang="en-US" altLang="en-US" sz="4400" dirty="0">
                <a:ea typeface="ＭＳ Ｐゴシック" panose="020B0600070205080204" pitchFamily="34" charset="-128"/>
              </a:rPr>
              <a:t>pp</a:t>
            </a:r>
            <a:endParaRPr lang="en-US" sz="4400" dirty="0"/>
          </a:p>
        </p:txBody>
      </p:sp>
      <p:sp>
        <p:nvSpPr>
          <p:cNvPr id="656" name="Content Placeholder 3">
            <a:extLst>
              <a:ext uri="{FF2B5EF4-FFF2-40B4-BE49-F238E27FC236}">
                <a16:creationId xmlns:a16="http://schemas.microsoft.com/office/drawing/2014/main" id="{97C6B0DF-3B81-1046-A02E-98C8247EB000}"/>
              </a:ext>
            </a:extLst>
          </p:cNvPr>
          <p:cNvSpPr txBox="1">
            <a:spLocks/>
          </p:cNvSpPr>
          <p:nvPr/>
        </p:nvSpPr>
        <p:spPr>
          <a:xfrm>
            <a:off x="889178" y="1334086"/>
            <a:ext cx="5309184" cy="497469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7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write programs that:</a:t>
            </a:r>
          </a:p>
          <a:p>
            <a:pPr marL="3460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run on (different) end systems</a:t>
            </a:r>
          </a:p>
          <a:p>
            <a:pPr marL="3460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communicate over network</a:t>
            </a:r>
          </a:p>
          <a:p>
            <a:pPr marL="3460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e.g., web server software communicates with browser software</a:t>
            </a:r>
          </a:p>
          <a:p>
            <a:pPr marL="14287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 need to write software for network-core devices</a:t>
            </a:r>
          </a:p>
          <a:p>
            <a:pPr marL="3460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network-core devices do not run user applications </a:t>
            </a:r>
          </a:p>
          <a:p>
            <a:pPr marL="3460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applications on end systems  allows for rapid app development, propagation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61" name="Group 950">
            <a:extLst>
              <a:ext uri="{FF2B5EF4-FFF2-40B4-BE49-F238E27FC236}">
                <a16:creationId xmlns:a16="http://schemas.microsoft.com/office/drawing/2014/main" id="{221CDB90-F15F-3B40-BE7C-5642BDA8CF7F}"/>
              </a:ext>
            </a:extLst>
          </p:cNvPr>
          <p:cNvGrpSpPr>
            <a:grpSpLocks/>
          </p:cNvGrpSpPr>
          <p:nvPr/>
        </p:nvGrpSpPr>
        <p:grpSpPr bwMode="auto"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662" name="Freeform 951">
              <a:extLst>
                <a:ext uri="{FF2B5EF4-FFF2-40B4-BE49-F238E27FC236}">
                  <a16:creationId xmlns:a16="http://schemas.microsoft.com/office/drawing/2014/main" id="{3F5BE32F-BF2D-5D43-A3F8-8015366B9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Rectangle 952">
              <a:extLst>
                <a:ext uri="{FF2B5EF4-FFF2-40B4-BE49-F238E27FC236}">
                  <a16:creationId xmlns:a16="http://schemas.microsoft.com/office/drawing/2014/main" id="{74DD6C49-0B6B-3445-ABF4-46D45AE69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64" name="Freeform 953">
              <a:extLst>
                <a:ext uri="{FF2B5EF4-FFF2-40B4-BE49-F238E27FC236}">
                  <a16:creationId xmlns:a16="http://schemas.microsoft.com/office/drawing/2014/main" id="{20913D95-E88A-A848-9963-B3BA4505F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954">
              <a:extLst>
                <a:ext uri="{FF2B5EF4-FFF2-40B4-BE49-F238E27FC236}">
                  <a16:creationId xmlns:a16="http://schemas.microsoft.com/office/drawing/2014/main" id="{0DE93F6C-FE6F-AA44-96FD-B6D85A46D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6" name="Rectangle 955">
              <a:extLst>
                <a:ext uri="{FF2B5EF4-FFF2-40B4-BE49-F238E27FC236}">
                  <a16:creationId xmlns:a16="http://schemas.microsoft.com/office/drawing/2014/main" id="{529745F5-82EA-8148-9AA1-BA608BD7B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67" name="Group 956">
              <a:extLst>
                <a:ext uri="{FF2B5EF4-FFF2-40B4-BE49-F238E27FC236}">
                  <a16:creationId xmlns:a16="http://schemas.microsoft.com/office/drawing/2014/main" id="{B8FB9448-22B7-FE4A-8748-ABEF4BEADF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92" name="AutoShape 957">
                <a:extLst>
                  <a:ext uri="{FF2B5EF4-FFF2-40B4-BE49-F238E27FC236}">
                    <a16:creationId xmlns:a16="http://schemas.microsoft.com/office/drawing/2014/main" id="{EADB5D3D-04E2-EF48-B58E-48F7BABA0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93" name="AutoShape 958">
                <a:extLst>
                  <a:ext uri="{FF2B5EF4-FFF2-40B4-BE49-F238E27FC236}">
                    <a16:creationId xmlns:a16="http://schemas.microsoft.com/office/drawing/2014/main" id="{F98E41BE-EA39-754F-82C7-36D93FBD7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68" name="Rectangle 959">
              <a:extLst>
                <a:ext uri="{FF2B5EF4-FFF2-40B4-BE49-F238E27FC236}">
                  <a16:creationId xmlns:a16="http://schemas.microsoft.com/office/drawing/2014/main" id="{327755D1-B209-404D-9363-9EDC28F7F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69" name="Group 960">
              <a:extLst>
                <a:ext uri="{FF2B5EF4-FFF2-40B4-BE49-F238E27FC236}">
                  <a16:creationId xmlns:a16="http://schemas.microsoft.com/office/drawing/2014/main" id="{26E2E8A6-CFB6-044F-85B5-1DAAEA7FA1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90" name="AutoShape 961">
                <a:extLst>
                  <a:ext uri="{FF2B5EF4-FFF2-40B4-BE49-F238E27FC236}">
                    <a16:creationId xmlns:a16="http://schemas.microsoft.com/office/drawing/2014/main" id="{17D69473-78FB-C74F-B4D2-8D565D3F9D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91" name="AutoShape 962">
                <a:extLst>
                  <a:ext uri="{FF2B5EF4-FFF2-40B4-BE49-F238E27FC236}">
                    <a16:creationId xmlns:a16="http://schemas.microsoft.com/office/drawing/2014/main" id="{17A1D2AB-658B-704B-AE35-B18C119E5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0" name="Rectangle 963">
              <a:extLst>
                <a:ext uri="{FF2B5EF4-FFF2-40B4-BE49-F238E27FC236}">
                  <a16:creationId xmlns:a16="http://schemas.microsoft.com/office/drawing/2014/main" id="{F2475D91-5410-684E-A143-AE723E908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1" name="Rectangle 964">
              <a:extLst>
                <a:ext uri="{FF2B5EF4-FFF2-40B4-BE49-F238E27FC236}">
                  <a16:creationId xmlns:a16="http://schemas.microsoft.com/office/drawing/2014/main" id="{88C09684-E90D-B34B-AA01-5F070FE81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72" name="Group 965">
              <a:extLst>
                <a:ext uri="{FF2B5EF4-FFF2-40B4-BE49-F238E27FC236}">
                  <a16:creationId xmlns:a16="http://schemas.microsoft.com/office/drawing/2014/main" id="{8ACC4595-9F78-AF46-887A-914807075E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88" name="AutoShape 966">
                <a:extLst>
                  <a:ext uri="{FF2B5EF4-FFF2-40B4-BE49-F238E27FC236}">
                    <a16:creationId xmlns:a16="http://schemas.microsoft.com/office/drawing/2014/main" id="{0A202C7C-1909-AC47-A2CA-695CE34F5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89" name="AutoShape 967">
                <a:extLst>
                  <a:ext uri="{FF2B5EF4-FFF2-40B4-BE49-F238E27FC236}">
                    <a16:creationId xmlns:a16="http://schemas.microsoft.com/office/drawing/2014/main" id="{E346AA42-C439-DA48-84D9-5D4DD0ABF0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3" name="Freeform 968">
              <a:extLst>
                <a:ext uri="{FF2B5EF4-FFF2-40B4-BE49-F238E27FC236}">
                  <a16:creationId xmlns:a16="http://schemas.microsoft.com/office/drawing/2014/main" id="{5FD4884A-2CB1-894E-8CB9-2067C75F0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74" name="Group 969">
              <a:extLst>
                <a:ext uri="{FF2B5EF4-FFF2-40B4-BE49-F238E27FC236}">
                  <a16:creationId xmlns:a16="http://schemas.microsoft.com/office/drawing/2014/main" id="{B2CB40CE-804C-0948-841C-9A509EE86B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86" name="AutoShape 970">
                <a:extLst>
                  <a:ext uri="{FF2B5EF4-FFF2-40B4-BE49-F238E27FC236}">
                    <a16:creationId xmlns:a16="http://schemas.microsoft.com/office/drawing/2014/main" id="{58614F2D-DA1A-F842-A886-A2F0D8C2BA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87" name="AutoShape 971">
                <a:extLst>
                  <a:ext uri="{FF2B5EF4-FFF2-40B4-BE49-F238E27FC236}">
                    <a16:creationId xmlns:a16="http://schemas.microsoft.com/office/drawing/2014/main" id="{8B641E3D-5D3B-2B4B-B634-292AB1DA65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5" name="Rectangle 972">
              <a:extLst>
                <a:ext uri="{FF2B5EF4-FFF2-40B4-BE49-F238E27FC236}">
                  <a16:creationId xmlns:a16="http://schemas.microsoft.com/office/drawing/2014/main" id="{34776F72-1048-254B-9F43-F004B26E0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6" name="Freeform 973">
              <a:extLst>
                <a:ext uri="{FF2B5EF4-FFF2-40B4-BE49-F238E27FC236}">
                  <a16:creationId xmlns:a16="http://schemas.microsoft.com/office/drawing/2014/main" id="{A2E37FDF-DD02-AA46-A996-DF9614588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7" name="Freeform 974">
              <a:extLst>
                <a:ext uri="{FF2B5EF4-FFF2-40B4-BE49-F238E27FC236}">
                  <a16:creationId xmlns:a16="http://schemas.microsoft.com/office/drawing/2014/main" id="{5E599968-E309-0C41-A6E5-1A2E8D0D7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8" name="Oval 975">
              <a:extLst>
                <a:ext uri="{FF2B5EF4-FFF2-40B4-BE49-F238E27FC236}">
                  <a16:creationId xmlns:a16="http://schemas.microsoft.com/office/drawing/2014/main" id="{8B76954B-B2F9-7644-B168-314EF4AAF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9" name="Freeform 976">
              <a:extLst>
                <a:ext uri="{FF2B5EF4-FFF2-40B4-BE49-F238E27FC236}">
                  <a16:creationId xmlns:a16="http://schemas.microsoft.com/office/drawing/2014/main" id="{D9EAE5CF-636D-F54A-8351-01EA3167D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0" name="AutoShape 977">
              <a:extLst>
                <a:ext uri="{FF2B5EF4-FFF2-40B4-BE49-F238E27FC236}">
                  <a16:creationId xmlns:a16="http://schemas.microsoft.com/office/drawing/2014/main" id="{BA3B7F84-E639-E547-B5C6-A02DC5582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1" name="AutoShape 978">
              <a:extLst>
                <a:ext uri="{FF2B5EF4-FFF2-40B4-BE49-F238E27FC236}">
                  <a16:creationId xmlns:a16="http://schemas.microsoft.com/office/drawing/2014/main" id="{0442B1DD-1D97-9F4D-B5C4-F5A4F4BB4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2" name="Oval 979">
              <a:extLst>
                <a:ext uri="{FF2B5EF4-FFF2-40B4-BE49-F238E27FC236}">
                  <a16:creationId xmlns:a16="http://schemas.microsoft.com/office/drawing/2014/main" id="{EA6FE86C-D41E-1949-A3C7-77647ACF0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3" name="Oval 980">
              <a:extLst>
                <a:ext uri="{FF2B5EF4-FFF2-40B4-BE49-F238E27FC236}">
                  <a16:creationId xmlns:a16="http://schemas.microsoft.com/office/drawing/2014/main" id="{38AA7182-25E5-E442-9745-7BAF64CEA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4" name="Oval 981">
              <a:extLst>
                <a:ext uri="{FF2B5EF4-FFF2-40B4-BE49-F238E27FC236}">
                  <a16:creationId xmlns:a16="http://schemas.microsoft.com/office/drawing/2014/main" id="{16842D0E-A2D6-0745-B8FB-E328BE5B3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5" name="Rectangle 982">
              <a:extLst>
                <a:ext uri="{FF2B5EF4-FFF2-40B4-BE49-F238E27FC236}">
                  <a16:creationId xmlns:a16="http://schemas.microsoft.com/office/drawing/2014/main" id="{8F08011A-E991-A946-A958-0A487EA35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987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6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6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6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51" grpId="0" animBg="1"/>
      <p:bldP spid="65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Socket programming </a:t>
            </a: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DE711DC5-9C34-FB4F-827E-14567B9170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446842"/>
            <a:ext cx="11124616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goal:</a:t>
            </a: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 learn how to build client/server applications that communicate using sockets</a:t>
            </a:r>
            <a:endParaRPr kumimoji="0" lang="en-US" altLang="en-US" sz="3200" b="0" i="1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socket:</a:t>
            </a: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 door between application process and end-end-transport protocol </a:t>
            </a:r>
          </a:p>
        </p:txBody>
      </p:sp>
      <p:sp>
        <p:nvSpPr>
          <p:cNvPr id="117" name="Freeform 66">
            <a:extLst>
              <a:ext uri="{FF2B5EF4-FFF2-40B4-BE49-F238E27FC236}">
                <a16:creationId xmlns:a16="http://schemas.microsoft.com/office/drawing/2014/main" id="{532EF64A-98FA-854C-BC6E-37DCF5442402}"/>
              </a:ext>
            </a:extLst>
          </p:cNvPr>
          <p:cNvSpPr>
            <a:spLocks/>
          </p:cNvSpPr>
          <p:nvPr/>
        </p:nvSpPr>
        <p:spPr bwMode="auto">
          <a:xfrm>
            <a:off x="8379242" y="3598233"/>
            <a:ext cx="736600" cy="1998662"/>
          </a:xfrm>
          <a:custGeom>
            <a:avLst/>
            <a:gdLst>
              <a:gd name="T0" fmla="*/ 2147483647 w 464"/>
              <a:gd name="T1" fmla="*/ 2147483647 h 1259"/>
              <a:gd name="T2" fmla="*/ 0 w 464"/>
              <a:gd name="T3" fmla="*/ 0 h 1259"/>
              <a:gd name="T4" fmla="*/ 2147483647 w 464"/>
              <a:gd name="T5" fmla="*/ 2147483647 h 1259"/>
              <a:gd name="T6" fmla="*/ 2147483647 w 464"/>
              <a:gd name="T7" fmla="*/ 2147483647 h 1259"/>
              <a:gd name="T8" fmla="*/ 2147483647 w 464"/>
              <a:gd name="T9" fmla="*/ 2147483647 h 12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64"/>
              <a:gd name="T16" fmla="*/ 0 h 1259"/>
              <a:gd name="T17" fmla="*/ 464 w 464"/>
              <a:gd name="T18" fmla="*/ 1259 h 12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64" h="1259">
                <a:moveTo>
                  <a:pt x="464" y="1060"/>
                </a:moveTo>
                <a:lnTo>
                  <a:pt x="0" y="0"/>
                </a:lnTo>
                <a:lnTo>
                  <a:pt x="6" y="1258"/>
                </a:lnTo>
                <a:lnTo>
                  <a:pt x="382" y="1259"/>
                </a:lnTo>
                <a:lnTo>
                  <a:pt x="464" y="106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chemeClr val="accent1">
                  <a:lumMod val="75000"/>
                </a:schemeClr>
              </a:gs>
            </a:gsLst>
            <a:lin ang="10800000" scaled="0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8" name="Freeform 7">
            <a:extLst>
              <a:ext uri="{FF2B5EF4-FFF2-40B4-BE49-F238E27FC236}">
                <a16:creationId xmlns:a16="http://schemas.microsoft.com/office/drawing/2014/main" id="{0B3FAB7F-D751-694B-8438-BA60B5BE46B5}"/>
              </a:ext>
            </a:extLst>
          </p:cNvPr>
          <p:cNvSpPr>
            <a:spLocks/>
          </p:cNvSpPr>
          <p:nvPr/>
        </p:nvSpPr>
        <p:spPr bwMode="auto">
          <a:xfrm>
            <a:off x="5064542" y="4895220"/>
            <a:ext cx="1808162" cy="1031875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9" name="Text Box 51">
            <a:extLst>
              <a:ext uri="{FF2B5EF4-FFF2-40B4-BE49-F238E27FC236}">
                <a16:creationId xmlns:a16="http://schemas.microsoft.com/office/drawing/2014/main" id="{31F42B0C-9D7E-B148-8731-AA200CC8E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2692" y="5026983"/>
            <a:ext cx="8747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Internet</a:t>
            </a:r>
          </a:p>
        </p:txBody>
      </p:sp>
      <p:sp>
        <p:nvSpPr>
          <p:cNvPr id="120" name="Line 52">
            <a:extLst>
              <a:ext uri="{FF2B5EF4-FFF2-40B4-BE49-F238E27FC236}">
                <a16:creationId xmlns:a16="http://schemas.microsoft.com/office/drawing/2014/main" id="{4BBAA32D-9FE8-6946-993E-FD9CF5FF2D2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3242" y="5438145"/>
            <a:ext cx="22113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1" name="Text Box 53">
            <a:extLst>
              <a:ext uri="{FF2B5EF4-FFF2-40B4-BE49-F238E27FC236}">
                <a16:creationId xmlns:a16="http://schemas.microsoft.com/office/drawing/2014/main" id="{8DD3EB16-70D9-0E41-9219-8BACFD2FF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4379" y="4663445"/>
            <a:ext cx="106362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controlled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by 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2" name="Text Box 56">
            <a:extLst>
              <a:ext uri="{FF2B5EF4-FFF2-40B4-BE49-F238E27FC236}">
                <a16:creationId xmlns:a16="http://schemas.microsoft.com/office/drawing/2014/main" id="{DE211F08-2700-6642-9DC3-1997DC8ED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2154" y="3763333"/>
            <a:ext cx="14700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controlled by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app developer</a:t>
            </a:r>
          </a:p>
        </p:txBody>
      </p:sp>
      <p:sp>
        <p:nvSpPr>
          <p:cNvPr id="123" name="Freeform 45">
            <a:extLst>
              <a:ext uri="{FF2B5EF4-FFF2-40B4-BE49-F238E27FC236}">
                <a16:creationId xmlns:a16="http://schemas.microsoft.com/office/drawing/2014/main" id="{07B0F571-0623-E94E-AC3A-B1389138AC28}"/>
              </a:ext>
            </a:extLst>
          </p:cNvPr>
          <p:cNvSpPr>
            <a:spLocks/>
          </p:cNvSpPr>
          <p:nvPr/>
        </p:nvSpPr>
        <p:spPr bwMode="auto">
          <a:xfrm>
            <a:off x="2638842" y="3661733"/>
            <a:ext cx="758825" cy="1997075"/>
          </a:xfrm>
          <a:custGeom>
            <a:avLst/>
            <a:gdLst>
              <a:gd name="T0" fmla="*/ 0 w 478"/>
              <a:gd name="T1" fmla="*/ 2147483647 h 1258"/>
              <a:gd name="T2" fmla="*/ 2147483647 w 478"/>
              <a:gd name="T3" fmla="*/ 0 h 1258"/>
              <a:gd name="T4" fmla="*/ 2147483647 w 478"/>
              <a:gd name="T5" fmla="*/ 2147483647 h 1258"/>
              <a:gd name="T6" fmla="*/ 2147483647 w 478"/>
              <a:gd name="T7" fmla="*/ 2147483647 h 1258"/>
              <a:gd name="T8" fmla="*/ 0 w 478"/>
              <a:gd name="T9" fmla="*/ 2147483647 h 125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8"/>
              <a:gd name="T16" fmla="*/ 0 h 1258"/>
              <a:gd name="T17" fmla="*/ 478 w 478"/>
              <a:gd name="T18" fmla="*/ 1258 h 125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8" h="1258">
                <a:moveTo>
                  <a:pt x="0" y="1040"/>
                </a:moveTo>
                <a:lnTo>
                  <a:pt x="478" y="0"/>
                </a:lnTo>
                <a:lnTo>
                  <a:pt x="472" y="1258"/>
                </a:lnTo>
                <a:lnTo>
                  <a:pt x="41" y="1246"/>
                </a:lnTo>
                <a:lnTo>
                  <a:pt x="0" y="104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chemeClr val="accent1">
                  <a:lumMod val="75000"/>
                </a:schemeClr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4" name="Rectangle 23">
            <a:extLst>
              <a:ext uri="{FF2B5EF4-FFF2-40B4-BE49-F238E27FC236}">
                <a16:creationId xmlns:a16="http://schemas.microsoft.com/office/drawing/2014/main" id="{5F3EC8D2-BC57-284F-B438-D2889E964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2117" y="3617283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5" name="Rectangle 24">
            <a:extLst>
              <a:ext uri="{FF2B5EF4-FFF2-40B4-BE49-F238E27FC236}">
                <a16:creationId xmlns:a16="http://schemas.microsoft.com/office/drawing/2014/main" id="{48E3F4A8-8297-154C-8417-C2DCBDE27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4017" y="3671258"/>
            <a:ext cx="1273175" cy="197961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6" name="Line 25">
            <a:extLst>
              <a:ext uri="{FF2B5EF4-FFF2-40B4-BE49-F238E27FC236}">
                <a16:creationId xmlns:a16="http://schemas.microsoft.com/office/drawing/2014/main" id="{105AE91D-03CF-5F44-82E5-D8920536B3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3542" y="4431670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7" name="Text Box 26">
            <a:extLst>
              <a:ext uri="{FF2B5EF4-FFF2-40B4-BE49-F238E27FC236}">
                <a16:creationId xmlns:a16="http://schemas.microsoft.com/office/drawing/2014/main" id="{68C4EA48-A98F-F641-BB8C-5DF3E3907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0679" y="441420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128" name="Line 27">
            <a:extLst>
              <a:ext uri="{FF2B5EF4-FFF2-40B4-BE49-F238E27FC236}">
                <a16:creationId xmlns:a16="http://schemas.microsoft.com/office/drawing/2014/main" id="{E85BFD82-4C55-F145-9B37-39406E46DD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1479" y="4752345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9" name="Line 28">
            <a:extLst>
              <a:ext uri="{FF2B5EF4-FFF2-40B4-BE49-F238E27FC236}">
                <a16:creationId xmlns:a16="http://schemas.microsoft.com/office/drawing/2014/main" id="{428A6E03-2BA0-6243-85AC-2DD8D7EB6C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7192" y="5061908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0" name="Line 29">
            <a:extLst>
              <a:ext uri="{FF2B5EF4-FFF2-40B4-BE49-F238E27FC236}">
                <a16:creationId xmlns:a16="http://schemas.microsoft.com/office/drawing/2014/main" id="{80E8C02C-0DBA-6E4F-BBEC-8772FE1F38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7192" y="5347658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1" name="Text Box 26">
            <a:extLst>
              <a:ext uri="{FF2B5EF4-FFF2-40B4-BE49-F238E27FC236}">
                <a16:creationId xmlns:a16="http://schemas.microsoft.com/office/drawing/2014/main" id="{E521FADF-C422-1E4C-A4EF-0C457D015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604" y="366173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132" name="Text Box 26">
            <a:extLst>
              <a:ext uri="{FF2B5EF4-FFF2-40B4-BE49-F238E27FC236}">
                <a16:creationId xmlns:a16="http://schemas.microsoft.com/office/drawing/2014/main" id="{2BD2A730-1670-1444-BFD6-C3B745F28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1154" y="531908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133" name="Text Box 26">
            <a:extLst>
              <a:ext uri="{FF2B5EF4-FFF2-40B4-BE49-F238E27FC236}">
                <a16:creationId xmlns:a16="http://schemas.microsoft.com/office/drawing/2014/main" id="{F1BA5AB6-F404-DF48-BA11-738F64F02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0204" y="503333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134" name="Text Box 26">
            <a:extLst>
              <a:ext uri="{FF2B5EF4-FFF2-40B4-BE49-F238E27FC236}">
                <a16:creationId xmlns:a16="http://schemas.microsoft.com/office/drawing/2014/main" id="{E65C1E73-F682-E145-9DAF-B7E55ECCE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0679" y="473805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135" name="Oval 57">
            <a:extLst>
              <a:ext uri="{FF2B5EF4-FFF2-40B4-BE49-F238E27FC236}">
                <a16:creationId xmlns:a16="http://schemas.microsoft.com/office/drawing/2014/main" id="{64DC0B32-AD14-4F4C-AA5D-A0175C3E0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954" y="3936370"/>
            <a:ext cx="990600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process</a:t>
            </a:r>
          </a:p>
        </p:txBody>
      </p:sp>
      <p:sp>
        <p:nvSpPr>
          <p:cNvPr id="141" name="Rectangle 23">
            <a:extLst>
              <a:ext uri="{FF2B5EF4-FFF2-40B4-BE49-F238E27FC236}">
                <a16:creationId xmlns:a16="http://schemas.microsoft.com/office/drawing/2014/main" id="{54E0D8CA-A90B-D443-A809-60E5D3C43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4479" y="3588708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2" name="Rectangle 24">
            <a:extLst>
              <a:ext uri="{FF2B5EF4-FFF2-40B4-BE49-F238E27FC236}">
                <a16:creationId xmlns:a16="http://schemas.microsoft.com/office/drawing/2014/main" id="{68855CF6-22DF-7942-990A-E44BCC268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6379" y="3642683"/>
            <a:ext cx="1273175" cy="197961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3" name="Line 25">
            <a:extLst>
              <a:ext uri="{FF2B5EF4-FFF2-40B4-BE49-F238E27FC236}">
                <a16:creationId xmlns:a16="http://schemas.microsoft.com/office/drawing/2014/main" id="{333B2DFF-19AD-5D41-A13A-CAD8D4D1E7A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5904" y="4403095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4" name="Text Box 26">
            <a:extLst>
              <a:ext uri="{FF2B5EF4-FFF2-40B4-BE49-F238E27FC236}">
                <a16:creationId xmlns:a16="http://schemas.microsoft.com/office/drawing/2014/main" id="{ABD5AE77-C968-524B-8267-F5F9D07A9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3042" y="438563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145" name="Line 27">
            <a:extLst>
              <a:ext uri="{FF2B5EF4-FFF2-40B4-BE49-F238E27FC236}">
                <a16:creationId xmlns:a16="http://schemas.microsoft.com/office/drawing/2014/main" id="{E655A70A-1998-F04C-9071-DB527B7184C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3842" y="4723770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6" name="Line 28">
            <a:extLst>
              <a:ext uri="{FF2B5EF4-FFF2-40B4-BE49-F238E27FC236}">
                <a16:creationId xmlns:a16="http://schemas.microsoft.com/office/drawing/2014/main" id="{FFFB9613-6926-D64E-9BCE-95B470FE283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69554" y="5033333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7" name="Line 29">
            <a:extLst>
              <a:ext uri="{FF2B5EF4-FFF2-40B4-BE49-F238E27FC236}">
                <a16:creationId xmlns:a16="http://schemas.microsoft.com/office/drawing/2014/main" id="{74AA23EE-17EA-094E-A14C-C35EF1D4E76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69554" y="5319083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8" name="Text Box 26">
            <a:extLst>
              <a:ext uri="{FF2B5EF4-FFF2-40B4-BE49-F238E27FC236}">
                <a16:creationId xmlns:a16="http://schemas.microsoft.com/office/drawing/2014/main" id="{159414D4-A31C-4C4B-AD86-719BE126A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7967" y="363315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149" name="Text Box 26">
            <a:extLst>
              <a:ext uri="{FF2B5EF4-FFF2-40B4-BE49-F238E27FC236}">
                <a16:creationId xmlns:a16="http://schemas.microsoft.com/office/drawing/2014/main" id="{6D188352-EF4C-FE42-8176-6AE1E5353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3517" y="529050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150" name="Text Box 26">
            <a:extLst>
              <a:ext uri="{FF2B5EF4-FFF2-40B4-BE49-F238E27FC236}">
                <a16:creationId xmlns:a16="http://schemas.microsoft.com/office/drawing/2014/main" id="{2E91368D-F47D-2247-9B9B-1AA9BD1A5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2567" y="500475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151" name="Text Box 26">
            <a:extLst>
              <a:ext uri="{FF2B5EF4-FFF2-40B4-BE49-F238E27FC236}">
                <a16:creationId xmlns:a16="http://schemas.microsoft.com/office/drawing/2014/main" id="{CF4D2E62-8AC3-6447-8A4A-38E1546DB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3042" y="470948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152" name="Oval 78">
            <a:extLst>
              <a:ext uri="{FF2B5EF4-FFF2-40B4-BE49-F238E27FC236}">
                <a16:creationId xmlns:a16="http://schemas.microsoft.com/office/drawing/2014/main" id="{24268CA0-4017-FA41-A0A9-063CDE36F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1317" y="3907795"/>
            <a:ext cx="990600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process</a:t>
            </a:r>
          </a:p>
        </p:txBody>
      </p:sp>
      <p:sp>
        <p:nvSpPr>
          <p:cNvPr id="158" name="Line 88">
            <a:extLst>
              <a:ext uri="{FF2B5EF4-FFF2-40B4-BE49-F238E27FC236}">
                <a16:creationId xmlns:a16="http://schemas.microsoft.com/office/drawing/2014/main" id="{357D04DF-5A8F-3946-A05F-B134A08152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8592" y="4039558"/>
            <a:ext cx="609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9" name="Line 89">
            <a:extLst>
              <a:ext uri="{FF2B5EF4-FFF2-40B4-BE49-F238E27FC236}">
                <a16:creationId xmlns:a16="http://schemas.microsoft.com/office/drawing/2014/main" id="{1F64B7FA-0FDF-AA41-954C-B46F96B69793}"/>
              </a:ext>
            </a:extLst>
          </p:cNvPr>
          <p:cNvSpPr>
            <a:spLocks noChangeShapeType="1"/>
          </p:cNvSpPr>
          <p:nvPr/>
        </p:nvSpPr>
        <p:spPr bwMode="auto">
          <a:xfrm>
            <a:off x="8484017" y="4465008"/>
            <a:ext cx="0" cy="102235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0" name="Line 90">
            <a:extLst>
              <a:ext uri="{FF2B5EF4-FFF2-40B4-BE49-F238E27FC236}">
                <a16:creationId xmlns:a16="http://schemas.microsoft.com/office/drawing/2014/main" id="{1C49FAA4-451C-9346-B2A1-9DADDB3735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07829" y="4965070"/>
            <a:ext cx="609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E6F8F39-CC95-5944-86C7-18592B3F79C2}"/>
              </a:ext>
            </a:extLst>
          </p:cNvPr>
          <p:cNvGrpSpPr/>
          <p:nvPr/>
        </p:nvGrpSpPr>
        <p:grpSpPr>
          <a:xfrm>
            <a:off x="3786604" y="3720470"/>
            <a:ext cx="4208463" cy="801688"/>
            <a:chOff x="3786604" y="3720470"/>
            <a:chExt cx="4208463" cy="801688"/>
          </a:xfrm>
        </p:grpSpPr>
        <p:grpSp>
          <p:nvGrpSpPr>
            <p:cNvPr id="136" name="Group 58">
              <a:extLst>
                <a:ext uri="{FF2B5EF4-FFF2-40B4-BE49-F238E27FC236}">
                  <a16:creationId xmlns:a16="http://schemas.microsoft.com/office/drawing/2014/main" id="{E675645C-771D-1C4D-BD09-0A50219A70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6604" y="4296733"/>
              <a:ext cx="546100" cy="225425"/>
              <a:chOff x="1287" y="2524"/>
              <a:chExt cx="260" cy="100"/>
            </a:xfrm>
          </p:grpSpPr>
          <p:sp>
            <p:nvSpPr>
              <p:cNvPr id="137" name="Rectangle 59">
                <a:extLst>
                  <a:ext uri="{FF2B5EF4-FFF2-40B4-BE49-F238E27FC236}">
                    <a16:creationId xmlns:a16="http://schemas.microsoft.com/office/drawing/2014/main" id="{4BD7EDAC-534F-D84F-8E24-977FE250A0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" y="2524"/>
                <a:ext cx="260" cy="100"/>
              </a:xfrm>
              <a:prstGeom prst="rect">
                <a:avLst/>
              </a:prstGeom>
              <a:solidFill>
                <a:srgbClr val="C96B72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8" name="Rectangle 60">
                <a:extLst>
                  <a:ext uri="{FF2B5EF4-FFF2-40B4-BE49-F238E27FC236}">
                    <a16:creationId xmlns:a16="http://schemas.microsoft.com/office/drawing/2014/main" id="{522C0AA5-89A7-AE45-9EA6-0984C3D367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8" y="2537"/>
                <a:ext cx="156" cy="7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9" name="Rectangle 61">
                <a:extLst>
                  <a:ext uri="{FF2B5EF4-FFF2-40B4-BE49-F238E27FC236}">
                    <a16:creationId xmlns:a16="http://schemas.microsoft.com/office/drawing/2014/main" id="{E45B888C-A7C7-C04F-96C2-AC5495901C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3" y="2582"/>
                <a:ext cx="27" cy="27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0" name="Rectangle 62">
                <a:extLst>
                  <a:ext uri="{FF2B5EF4-FFF2-40B4-BE49-F238E27FC236}">
                    <a16:creationId xmlns:a16="http://schemas.microsoft.com/office/drawing/2014/main" id="{6D259067-30CA-3A43-B969-2FED80C101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8" y="2583"/>
                <a:ext cx="26" cy="27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53" name="Group 79">
              <a:extLst>
                <a:ext uri="{FF2B5EF4-FFF2-40B4-BE49-F238E27FC236}">
                  <a16:creationId xmlns:a16="http://schemas.microsoft.com/office/drawing/2014/main" id="{2953A696-2D0B-4946-96FC-8F6534A2F1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48967" y="4268158"/>
              <a:ext cx="546100" cy="225425"/>
              <a:chOff x="1287" y="2524"/>
              <a:chExt cx="260" cy="100"/>
            </a:xfrm>
          </p:grpSpPr>
          <p:sp>
            <p:nvSpPr>
              <p:cNvPr id="154" name="Rectangle 80">
                <a:extLst>
                  <a:ext uri="{FF2B5EF4-FFF2-40B4-BE49-F238E27FC236}">
                    <a16:creationId xmlns:a16="http://schemas.microsoft.com/office/drawing/2014/main" id="{313605CC-1AC5-8944-94FF-94268AD804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" y="2524"/>
                <a:ext cx="260" cy="100"/>
              </a:xfrm>
              <a:prstGeom prst="rect">
                <a:avLst/>
              </a:prstGeom>
              <a:solidFill>
                <a:srgbClr val="C96B7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55" name="Rectangle 81">
                <a:extLst>
                  <a:ext uri="{FF2B5EF4-FFF2-40B4-BE49-F238E27FC236}">
                    <a16:creationId xmlns:a16="http://schemas.microsoft.com/office/drawing/2014/main" id="{BAFE64F2-A025-9F4E-99C9-ACC9BFF2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8" y="2537"/>
                <a:ext cx="156" cy="7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56" name="Rectangle 82">
                <a:extLst>
                  <a:ext uri="{FF2B5EF4-FFF2-40B4-BE49-F238E27FC236}">
                    <a16:creationId xmlns:a16="http://schemas.microsoft.com/office/drawing/2014/main" id="{3829DF34-8663-6146-9BA0-7632285CE6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3" y="2582"/>
                <a:ext cx="27" cy="27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57" name="Rectangle 83">
                <a:extLst>
                  <a:ext uri="{FF2B5EF4-FFF2-40B4-BE49-F238E27FC236}">
                    <a16:creationId xmlns:a16="http://schemas.microsoft.com/office/drawing/2014/main" id="{D148D136-2E3F-5745-9E50-2A0525F6E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8" y="2583"/>
                <a:ext cx="26" cy="27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61" name="Text Box 56">
              <a:extLst>
                <a:ext uri="{FF2B5EF4-FFF2-40B4-BE49-F238E27FC236}">
                  <a16:creationId xmlns:a16="http://schemas.microsoft.com/office/drawing/2014/main" id="{0AD3AB67-1B7A-DC4C-8CF0-ED4CE6AD67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1729" y="3720470"/>
              <a:ext cx="917575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socket</a:t>
              </a:r>
            </a:p>
          </p:txBody>
        </p:sp>
        <p:sp>
          <p:nvSpPr>
            <p:cNvPr id="162" name="Line 92">
              <a:extLst>
                <a:ext uri="{FF2B5EF4-FFF2-40B4-BE49-F238E27FC236}">
                  <a16:creationId xmlns:a16="http://schemas.microsoft.com/office/drawing/2014/main" id="{143E3CCF-902D-1B48-A226-00DCF5BF00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24779" y="3920495"/>
              <a:ext cx="968375" cy="434975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3" name="Line 93">
              <a:extLst>
                <a:ext uri="{FF2B5EF4-FFF2-40B4-BE49-F238E27FC236}">
                  <a16:creationId xmlns:a16="http://schemas.microsoft.com/office/drawing/2014/main" id="{C4134BE9-E71D-0348-B019-E892502C5F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359942" y="3909383"/>
              <a:ext cx="968375" cy="434975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64" name="Group 96">
            <a:extLst>
              <a:ext uri="{FF2B5EF4-FFF2-40B4-BE49-F238E27FC236}">
                <a16:creationId xmlns:a16="http://schemas.microsoft.com/office/drawing/2014/main" id="{9A6CA79B-4989-1B42-B637-EB423445684E}"/>
              </a:ext>
            </a:extLst>
          </p:cNvPr>
          <p:cNvGrpSpPr>
            <a:grpSpLocks/>
          </p:cNvGrpSpPr>
          <p:nvPr/>
        </p:nvGrpSpPr>
        <p:grpSpPr bwMode="auto">
          <a:xfrm>
            <a:off x="2214979" y="4974595"/>
            <a:ext cx="719138" cy="773113"/>
            <a:chOff x="-44" y="1473"/>
            <a:chExt cx="981" cy="1105"/>
          </a:xfrm>
        </p:grpSpPr>
        <p:pic>
          <p:nvPicPr>
            <p:cNvPr id="165" name="Picture 97" descr="desktop_computer_stylized_medium">
              <a:extLst>
                <a:ext uri="{FF2B5EF4-FFF2-40B4-BE49-F238E27FC236}">
                  <a16:creationId xmlns:a16="http://schemas.microsoft.com/office/drawing/2014/main" id="{52A0739D-A2B2-9B4C-808E-15A031326E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6" name="Freeform 98">
              <a:extLst>
                <a:ext uri="{FF2B5EF4-FFF2-40B4-BE49-F238E27FC236}">
                  <a16:creationId xmlns:a16="http://schemas.microsoft.com/office/drawing/2014/main" id="{DA46FEF0-4E21-2249-B7F5-7F6F7B7F0DE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67" name="Group 99">
            <a:extLst>
              <a:ext uri="{FF2B5EF4-FFF2-40B4-BE49-F238E27FC236}">
                <a16:creationId xmlns:a16="http://schemas.microsoft.com/office/drawing/2014/main" id="{05F61B1A-C7F7-544F-B009-739C54EFEA0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911054" y="5169858"/>
            <a:ext cx="719138" cy="773112"/>
            <a:chOff x="-44" y="1473"/>
            <a:chExt cx="981" cy="1105"/>
          </a:xfrm>
        </p:grpSpPr>
        <p:pic>
          <p:nvPicPr>
            <p:cNvPr id="168" name="Picture 100" descr="desktop_computer_stylized_medium">
              <a:extLst>
                <a:ext uri="{FF2B5EF4-FFF2-40B4-BE49-F238E27FC236}">
                  <a16:creationId xmlns:a16="http://schemas.microsoft.com/office/drawing/2014/main" id="{23181BD9-C2D1-5E4C-A8EE-29F5422B96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9" name="Freeform 101">
              <a:extLst>
                <a:ext uri="{FF2B5EF4-FFF2-40B4-BE49-F238E27FC236}">
                  <a16:creationId xmlns:a16="http://schemas.microsoft.com/office/drawing/2014/main" id="{2BA7DD97-C4EE-0C4B-B331-0E1CF367ECA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8182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B5FAA-A7D6-5E1C-CD82-2336B9F5C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009"/>
            <a:ext cx="10515600" cy="1005840"/>
          </a:xfrm>
        </p:spPr>
        <p:txBody>
          <a:bodyPr>
            <a:normAutofit/>
          </a:bodyPr>
          <a:lstStyle/>
          <a:p>
            <a:r>
              <a:rPr lang="en-US" b="1" dirty="0"/>
              <a:t>Socket Basics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377F0-18FF-375F-246A-19942A11B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9304"/>
            <a:ext cx="10515600" cy="532657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network socket is an endpoint of an inter-process communication flow across a computer network. </a:t>
            </a:r>
          </a:p>
          <a:p>
            <a:r>
              <a:rPr lang="en-US" dirty="0"/>
              <a:t>Sockets may communicate within a process, between processes on the same machine, or between processes on different continents. </a:t>
            </a:r>
          </a:p>
          <a:p>
            <a:r>
              <a:rPr lang="en-US" dirty="0"/>
              <a:t>Today, most communication between computers is based on the internet protocol; therefore, most network sockets are internet sockets. </a:t>
            </a:r>
          </a:p>
          <a:p>
            <a:r>
              <a:rPr lang="en-US" dirty="0"/>
              <a:t>Example: to create a connection between machines, </a:t>
            </a:r>
            <a:r>
              <a:rPr lang="en-US" dirty="0">
                <a:highlight>
                  <a:srgbClr val="FFFF00"/>
                </a:highlight>
              </a:rPr>
              <a:t>Python programs </a:t>
            </a:r>
            <a:r>
              <a:rPr lang="en-US" dirty="0"/>
              <a:t>import the socket module, create a socket object, and call the object’s methods to establish connections and send and receive data. </a:t>
            </a:r>
          </a:p>
          <a:p>
            <a:r>
              <a:rPr lang="en-US" dirty="0">
                <a:highlight>
                  <a:srgbClr val="FFFF00"/>
                </a:highlight>
              </a:rPr>
              <a:t>Sockets are the endpoints of a bidirectional communications channel.</a:t>
            </a:r>
            <a:endParaRPr lang="en-GB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71347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r-SA" dirty="0">
                <a:ea typeface="ＭＳ Ｐゴシック" panose="020B0600070205080204" pitchFamily="34" charset="-128"/>
              </a:rPr>
              <a:t>Processes communicating</a:t>
            </a:r>
            <a:endParaRPr lang="en-US" dirty="0"/>
          </a:p>
        </p:txBody>
      </p:sp>
      <p:sp>
        <p:nvSpPr>
          <p:cNvPr id="388" name="Rectangle 3">
            <a:extLst>
              <a:ext uri="{FF2B5EF4-FFF2-40B4-BE49-F238E27FC236}">
                <a16:creationId xmlns:a16="http://schemas.microsoft.com/office/drawing/2014/main" id="{3C1CB0C4-8DD6-481B-B6C3-E414258F957F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379101"/>
            <a:ext cx="3989388" cy="46482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ar-SA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process:</a:t>
            </a:r>
            <a:r>
              <a:rPr lang="en-US" altLang="ar-SA" dirty="0">
                <a:ea typeface="ＭＳ Ｐゴシック" panose="020B0600070205080204" pitchFamily="34" charset="-128"/>
              </a:rPr>
              <a:t> program running within a host</a:t>
            </a:r>
          </a:p>
          <a:p>
            <a:r>
              <a:rPr lang="en-US" altLang="ar-SA" sz="2400" dirty="0">
                <a:ea typeface="ＭＳ Ｐゴシック" panose="020B0600070205080204" pitchFamily="34" charset="-128"/>
              </a:rPr>
              <a:t>within same host, two processes communicate using  </a:t>
            </a:r>
            <a:r>
              <a:rPr lang="en-US" altLang="ar-SA" sz="24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inter-process communication</a:t>
            </a:r>
            <a:r>
              <a:rPr lang="en-US" altLang="ar-SA" sz="2400" dirty="0">
                <a:ea typeface="ＭＳ Ｐゴシック" panose="020B0600070205080204" pitchFamily="34" charset="-128"/>
              </a:rPr>
              <a:t> (defined by OS)</a:t>
            </a:r>
          </a:p>
          <a:p>
            <a:r>
              <a:rPr lang="en-US" altLang="ar-SA" sz="2400" dirty="0">
                <a:ea typeface="ＭＳ Ｐゴシック" panose="020B0600070205080204" pitchFamily="34" charset="-128"/>
              </a:rPr>
              <a:t>processes in different hosts communicate by exchanging </a:t>
            </a:r>
            <a:r>
              <a:rPr lang="en-US" altLang="ar-SA" sz="24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messages</a:t>
            </a:r>
          </a:p>
        </p:txBody>
      </p:sp>
      <p:sp>
        <p:nvSpPr>
          <p:cNvPr id="389" name="Rectangle 4">
            <a:extLst>
              <a:ext uri="{FF2B5EF4-FFF2-40B4-BE49-F238E27FC236}">
                <a16:creationId xmlns:a16="http://schemas.microsoft.com/office/drawing/2014/main" id="{FFBFDD97-BCC7-4F54-A825-5166902A5584}"/>
              </a:ext>
            </a:extLst>
          </p:cNvPr>
          <p:cNvSpPr txBox="1">
            <a:spLocks noChangeArrowheads="1"/>
          </p:cNvSpPr>
          <p:nvPr/>
        </p:nvSpPr>
        <p:spPr>
          <a:xfrm>
            <a:off x="6427788" y="1979614"/>
            <a:ext cx="3810000" cy="2033587"/>
          </a:xfrm>
          <a:prstGeom prst="rect">
            <a:avLst/>
          </a:prstGeom>
          <a:noFill/>
        </p:spPr>
        <p:txBody>
          <a:bodyPr/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ar-SA" i="1">
                <a:solidFill>
                  <a:srgbClr val="CC0000"/>
                </a:solidFill>
                <a:ea typeface="ＭＳ Ｐゴシック" panose="020B0600070205080204" pitchFamily="34" charset="-128"/>
              </a:rPr>
              <a:t>client process:</a:t>
            </a:r>
            <a:r>
              <a:rPr lang="en-US" altLang="ar-SA">
                <a:ea typeface="ＭＳ Ｐゴシック" panose="020B0600070205080204" pitchFamily="34" charset="-128"/>
              </a:rPr>
              <a:t> </a:t>
            </a:r>
            <a:r>
              <a:rPr lang="en-US" altLang="ar-SA" sz="2400">
                <a:ea typeface="ＭＳ Ｐゴシック" panose="020B0600070205080204" pitchFamily="34" charset="-128"/>
              </a:rPr>
              <a:t>process that initiates communication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ar-SA" i="1">
                <a:solidFill>
                  <a:srgbClr val="CC0000"/>
                </a:solidFill>
                <a:ea typeface="ＭＳ Ｐゴシック" panose="020B0600070205080204" pitchFamily="34" charset="-128"/>
              </a:rPr>
              <a:t>server process:</a:t>
            </a:r>
            <a:r>
              <a:rPr lang="en-US" altLang="ar-SA">
                <a:ea typeface="ＭＳ Ｐゴシック" panose="020B0600070205080204" pitchFamily="34" charset="-128"/>
              </a:rPr>
              <a:t> </a:t>
            </a:r>
            <a:r>
              <a:rPr lang="en-US" altLang="ar-SA" sz="2400">
                <a:ea typeface="ＭＳ Ｐゴシック" panose="020B0600070205080204" pitchFamily="34" charset="-128"/>
              </a:rPr>
              <a:t>process that waits to be contacted</a:t>
            </a:r>
            <a:endParaRPr lang="en-US" altLang="ar-SA"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ar-SA">
              <a:ea typeface="ＭＳ Ｐゴシック" panose="020B0600070205080204" pitchFamily="34" charset="-128"/>
            </a:endParaRPr>
          </a:p>
        </p:txBody>
      </p:sp>
      <p:sp>
        <p:nvSpPr>
          <p:cNvPr id="390" name="Rectangle 7">
            <a:extLst>
              <a:ext uri="{FF2B5EF4-FFF2-40B4-BE49-F238E27FC236}">
                <a16:creationId xmlns:a16="http://schemas.microsoft.com/office/drawing/2014/main" id="{1BE1C8E5-122A-49E6-BFC9-FB2F4F5C3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5064" y="4238626"/>
            <a:ext cx="3989387" cy="183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ar-SA" sz="2400" dirty="0">
                <a:latin typeface="Gill Sans MT" panose="020B0502020104020203" pitchFamily="34" charset="0"/>
              </a:rPr>
              <a:t>aside: applications with P2P architectures have client processes &amp; server processes</a:t>
            </a:r>
          </a:p>
        </p:txBody>
      </p:sp>
      <p:sp>
        <p:nvSpPr>
          <p:cNvPr id="392" name="Rectangle 13">
            <a:extLst>
              <a:ext uri="{FF2B5EF4-FFF2-40B4-BE49-F238E27FC236}">
                <a16:creationId xmlns:a16="http://schemas.microsoft.com/office/drawing/2014/main" id="{632D96FE-33D1-411D-8333-CB0323A33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3801" y="1762126"/>
            <a:ext cx="4092575" cy="2062163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ar-SA" altLang="ar-SA"/>
          </a:p>
        </p:txBody>
      </p:sp>
      <p:sp>
        <p:nvSpPr>
          <p:cNvPr id="393" name="Text Box 14">
            <a:extLst>
              <a:ext uri="{FF2B5EF4-FFF2-40B4-BE49-F238E27FC236}">
                <a16:creationId xmlns:a16="http://schemas.microsoft.com/office/drawing/2014/main" id="{9943F5EB-E35E-4BBE-B614-4C5A41C5F9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4450" y="1463676"/>
            <a:ext cx="2325688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ar-SA" sz="2800">
                <a:latin typeface="Gill Sans MT" panose="020B0502020104020203" pitchFamily="34" charset="0"/>
              </a:rPr>
              <a:t>clients, servers</a:t>
            </a:r>
          </a:p>
        </p:txBody>
      </p:sp>
    </p:spTree>
    <p:extLst>
      <p:ext uri="{BB962C8B-B14F-4D97-AF65-F5344CB8AC3E}">
        <p14:creationId xmlns:p14="http://schemas.microsoft.com/office/powerpoint/2010/main" val="931767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r-SA" dirty="0">
                <a:ea typeface="ＭＳ Ｐゴシック" panose="020B0600070205080204" pitchFamily="34" charset="-128"/>
              </a:rPr>
              <a:t>App-layer protocol defines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282822"/>
            <a:ext cx="3962400" cy="4937760"/>
          </a:xfrm>
        </p:spPr>
        <p:txBody>
          <a:bodyPr>
            <a:normAutofit lnSpcReduction="10000"/>
          </a:bodyPr>
          <a:lstStyle/>
          <a:p>
            <a:r>
              <a:rPr lang="en-US" altLang="ar-SA" sz="24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types of messages exchanged,</a:t>
            </a:r>
            <a:r>
              <a:rPr lang="en-US" altLang="ar-SA" sz="2400" dirty="0">
                <a:ea typeface="ＭＳ Ｐゴシック" panose="020B0600070205080204" pitchFamily="34" charset="-128"/>
              </a:rPr>
              <a:t> </a:t>
            </a:r>
          </a:p>
          <a:p>
            <a:pPr lvl="1"/>
            <a:r>
              <a:rPr lang="en-US" altLang="ar-SA" dirty="0">
                <a:ea typeface="ＭＳ Ｐゴシック" panose="020B0600070205080204" pitchFamily="34" charset="-128"/>
              </a:rPr>
              <a:t>e.g., request, response </a:t>
            </a:r>
          </a:p>
          <a:p>
            <a:r>
              <a:rPr lang="en-US" altLang="ar-SA" sz="24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message syntax:</a:t>
            </a:r>
          </a:p>
          <a:p>
            <a:pPr lvl="1"/>
            <a:r>
              <a:rPr lang="en-US" altLang="ar-SA" dirty="0">
                <a:ea typeface="ＭＳ Ｐゴシック" panose="020B0600070205080204" pitchFamily="34" charset="-128"/>
              </a:rPr>
              <a:t>what fields in messages &amp; how fields are delineated</a:t>
            </a:r>
          </a:p>
          <a:p>
            <a:r>
              <a:rPr lang="en-US" altLang="ar-SA" sz="24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message semantics</a:t>
            </a:r>
            <a:r>
              <a:rPr lang="en-US" altLang="ar-SA" sz="2400" dirty="0">
                <a:ea typeface="ＭＳ Ｐゴシック" panose="020B0600070205080204" pitchFamily="34" charset="-128"/>
              </a:rPr>
              <a:t> </a:t>
            </a:r>
          </a:p>
          <a:p>
            <a:pPr lvl="1"/>
            <a:r>
              <a:rPr lang="en-US" altLang="ar-SA" dirty="0">
                <a:ea typeface="ＭＳ Ｐゴシック" panose="020B0600070205080204" pitchFamily="34" charset="-128"/>
              </a:rPr>
              <a:t>meaning of information in fields</a:t>
            </a:r>
          </a:p>
          <a:p>
            <a:r>
              <a:rPr lang="en-US" altLang="ar-SA" sz="24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rules</a:t>
            </a:r>
            <a:r>
              <a:rPr lang="en-US" altLang="ar-SA" sz="2400" dirty="0">
                <a:ea typeface="ＭＳ Ｐゴシック" panose="020B0600070205080204" pitchFamily="34" charset="-128"/>
              </a:rPr>
              <a:t> for when and how processes send &amp; respond to messages</a:t>
            </a:r>
          </a:p>
        </p:txBody>
      </p:sp>
      <p:sp>
        <p:nvSpPr>
          <p:cNvPr id="440" name="Content Placeholder 2">
            <a:extLst>
              <a:ext uri="{FF2B5EF4-FFF2-40B4-BE49-F238E27FC236}">
                <a16:creationId xmlns:a16="http://schemas.microsoft.com/office/drawing/2014/main" id="{C79F1890-197D-4CD3-A423-BB54A21B3C1C}"/>
              </a:ext>
            </a:extLst>
          </p:cNvPr>
          <p:cNvSpPr txBox="1">
            <a:spLocks/>
          </p:cNvSpPr>
          <p:nvPr/>
        </p:nvSpPr>
        <p:spPr>
          <a:xfrm>
            <a:off x="6264678" y="1219200"/>
            <a:ext cx="3962400" cy="49377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ar-SA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open protocols:</a:t>
            </a:r>
          </a:p>
          <a:p>
            <a:r>
              <a:rPr lang="en-US" altLang="ar-SA" sz="2400" dirty="0">
                <a:ea typeface="ＭＳ Ｐゴシック" panose="020B0600070205080204" pitchFamily="34" charset="-128"/>
              </a:rPr>
              <a:t>defined in RFCs</a:t>
            </a:r>
            <a:r>
              <a:rPr lang="en-US" dirty="0"/>
              <a:t>(Request for Comments) </a:t>
            </a:r>
            <a:endParaRPr lang="en-US" altLang="ar-SA" sz="2400" dirty="0">
              <a:ea typeface="ＭＳ Ｐゴシック" panose="020B0600070205080204" pitchFamily="34" charset="-128"/>
            </a:endParaRPr>
          </a:p>
          <a:p>
            <a:r>
              <a:rPr lang="en-US" altLang="ar-SA" sz="2400" dirty="0">
                <a:ea typeface="ＭＳ Ｐゴシック" panose="020B0600070205080204" pitchFamily="34" charset="-128"/>
              </a:rPr>
              <a:t>allows for interoperability </a:t>
            </a:r>
            <a:r>
              <a:rPr lang="en-US" altLang="ar-SA" sz="1500" dirty="0">
                <a:ea typeface="ＭＳ Ｐゴシック" panose="020B0600070205080204" pitchFamily="34" charset="-128"/>
              </a:rPr>
              <a:t>(</a:t>
            </a:r>
            <a:r>
              <a:rPr lang="en-US" sz="1500" b="1" dirty="0"/>
              <a:t>the basic ability of different computerized products or systems to readily connect and exchange information with one another</a:t>
            </a:r>
            <a:r>
              <a:rPr lang="en-US" b="1" dirty="0"/>
              <a:t>)</a:t>
            </a:r>
            <a:endParaRPr lang="en-US" altLang="ar-SA" sz="2400" dirty="0">
              <a:ea typeface="ＭＳ Ｐゴシック" panose="020B0600070205080204" pitchFamily="34" charset="-128"/>
            </a:endParaRPr>
          </a:p>
          <a:p>
            <a:r>
              <a:rPr lang="en-US" altLang="ar-SA" sz="2400" dirty="0">
                <a:ea typeface="ＭＳ Ｐゴシック" panose="020B0600070205080204" pitchFamily="34" charset="-128"/>
              </a:rPr>
              <a:t>e.g., HTTP, SMTP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ar-SA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proprietary protocols:</a:t>
            </a:r>
          </a:p>
          <a:p>
            <a:r>
              <a:rPr lang="en-US" altLang="ar-SA" sz="2400" dirty="0">
                <a:ea typeface="ＭＳ Ｐゴシック" panose="020B0600070205080204" pitchFamily="34" charset="-128"/>
              </a:rPr>
              <a:t>e.g., Skype</a:t>
            </a:r>
          </a:p>
        </p:txBody>
      </p:sp>
    </p:spTree>
    <p:extLst>
      <p:ext uri="{BB962C8B-B14F-4D97-AF65-F5344CB8AC3E}">
        <p14:creationId xmlns:p14="http://schemas.microsoft.com/office/powerpoint/2010/main" val="335671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Addressing processes</a:t>
            </a:r>
            <a:endParaRPr lang="en-US" sz="4400" dirty="0"/>
          </a:p>
        </p:txBody>
      </p:sp>
      <p:sp>
        <p:nvSpPr>
          <p:cNvPr id="61" name="Rectangle 3">
            <a:extLst>
              <a:ext uri="{FF2B5EF4-FFF2-40B4-BE49-F238E27FC236}">
                <a16:creationId xmlns:a16="http://schemas.microsoft.com/office/drawing/2014/main" id="{4B0603A7-FD76-E142-950F-40A4CCA78957}"/>
              </a:ext>
            </a:extLst>
          </p:cNvPr>
          <p:cNvSpPr txBox="1">
            <a:spLocks noChangeArrowheads="1"/>
          </p:cNvSpPr>
          <p:nvPr/>
        </p:nvSpPr>
        <p:spPr>
          <a:xfrm>
            <a:off x="695101" y="1464896"/>
            <a:ext cx="4964479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 receive messages, process  must have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identifier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device has unique 32-bit IP address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does  IP address of host on which process runs suffice for identifying the process?</a:t>
            </a:r>
          </a:p>
        </p:txBody>
      </p:sp>
      <p:sp>
        <p:nvSpPr>
          <p:cNvPr id="62" name="Rectangle 4">
            <a:extLst>
              <a:ext uri="{FF2B5EF4-FFF2-40B4-BE49-F238E27FC236}">
                <a16:creationId xmlns:a16="http://schemas.microsoft.com/office/drawing/2014/main" id="{3FB47D89-608E-6B48-B260-00596EFC3969}"/>
              </a:ext>
            </a:extLst>
          </p:cNvPr>
          <p:cNvSpPr txBox="1">
            <a:spLocks noChangeArrowheads="1"/>
          </p:cNvSpPr>
          <p:nvPr/>
        </p:nvSpPr>
        <p:spPr>
          <a:xfrm>
            <a:off x="6056491" y="1464896"/>
            <a:ext cx="5573224" cy="5218112"/>
          </a:xfrm>
          <a:prstGeom prst="rect">
            <a:avLst/>
          </a:prstGeom>
          <a:noFill/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identifier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includes both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IP address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and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port numbers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associated with process on host.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example port numbers: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HTTP server: 80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mail server: 25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 send HTTP message to gaia.cs.umass.edu web server: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IP address: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128.119.245.12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port number: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80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more shortly…</a:t>
            </a:r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E09403B9-43A8-5149-B58E-34440F6AB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285" y="4507034"/>
            <a:ext cx="431451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742950" marR="0" lvl="1" indent="-28575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no,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many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processes can be running on same host</a:t>
            </a:r>
          </a:p>
        </p:txBody>
      </p:sp>
    </p:spTree>
    <p:extLst>
      <p:ext uri="{BB962C8B-B14F-4D97-AF65-F5344CB8AC3E}">
        <p14:creationId xmlns:p14="http://schemas.microsoft.com/office/powerpoint/2010/main" val="862231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E2F3164-6E0B-5A83-E518-2FEFE1D5B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89713" y="6376988"/>
            <a:ext cx="2193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folHlink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EE1DE44A-DE5F-44E7-B954-C3C758267EFF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87042" name="Rectangle 2">
            <a:extLst>
              <a:ext uri="{FF2B5EF4-FFF2-40B4-BE49-F238E27FC236}">
                <a16:creationId xmlns:a16="http://schemas.microsoft.com/office/drawing/2014/main" id="{41C03130-3273-D928-F9FC-0236E0A92D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Server and Client</a:t>
            </a:r>
          </a:p>
        </p:txBody>
      </p:sp>
      <p:sp>
        <p:nvSpPr>
          <p:cNvPr id="87043" name="Text Box 3">
            <a:extLst>
              <a:ext uri="{FF2B5EF4-FFF2-40B4-BE49-F238E27FC236}">
                <a16:creationId xmlns:a16="http://schemas.microsoft.com/office/drawing/2014/main" id="{57F835A0-D449-E440-5C0A-766CC05F9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6989" y="4221164"/>
            <a:ext cx="1455737" cy="5238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37160" bIns="137160"/>
          <a:lstStyle/>
          <a:p>
            <a:pPr algn="ctr" eaLnBrk="0" hangingPunct="0"/>
            <a:r>
              <a:rPr lang="en-US" altLang="en-US" sz="2000">
                <a:latin typeface="Arial" panose="020B0604020202020204" pitchFamily="34" charset="0"/>
              </a:rPr>
              <a:t>TCP/UDP</a:t>
            </a:r>
          </a:p>
        </p:txBody>
      </p:sp>
      <p:sp>
        <p:nvSpPr>
          <p:cNvPr id="87044" name="Text Box 4">
            <a:extLst>
              <a:ext uri="{FF2B5EF4-FFF2-40B4-BE49-F238E27FC236}">
                <a16:creationId xmlns:a16="http://schemas.microsoft.com/office/drawing/2014/main" id="{FAC87036-086B-E15F-937A-B10370BDA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6989" y="5051426"/>
            <a:ext cx="1455737" cy="5238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37160" bIns="137160"/>
          <a:lstStyle/>
          <a:p>
            <a:pPr algn="ctr" eaLnBrk="0" hangingPunct="0"/>
            <a:r>
              <a:rPr lang="en-US" altLang="en-US" sz="2000">
                <a:latin typeface="Arial" panose="020B0604020202020204" pitchFamily="34" charset="0"/>
              </a:rPr>
              <a:t>IP</a:t>
            </a:r>
          </a:p>
        </p:txBody>
      </p:sp>
      <p:sp>
        <p:nvSpPr>
          <p:cNvPr id="87045" name="Text Box 5">
            <a:extLst>
              <a:ext uri="{FF2B5EF4-FFF2-40B4-BE49-F238E27FC236}">
                <a16:creationId xmlns:a16="http://schemas.microsoft.com/office/drawing/2014/main" id="{A52FBC6A-DB8E-8938-EE15-322390C7B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2663" y="5897563"/>
            <a:ext cx="2114550" cy="5905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37160" bIns="137160">
            <a:spAutoFit/>
          </a:bodyPr>
          <a:lstStyle/>
          <a:p>
            <a:pPr algn="ctr" eaLnBrk="0" hangingPunct="0"/>
            <a:r>
              <a:rPr lang="en-US" altLang="en-US" sz="2000">
                <a:latin typeface="Arial" panose="020B0604020202020204" pitchFamily="34" charset="0"/>
              </a:rPr>
              <a:t>Ethernet Adapter</a:t>
            </a:r>
          </a:p>
        </p:txBody>
      </p:sp>
      <p:sp>
        <p:nvSpPr>
          <p:cNvPr id="87046" name="Line 6">
            <a:extLst>
              <a:ext uri="{FF2B5EF4-FFF2-40B4-BE49-F238E27FC236}">
                <a16:creationId xmlns:a16="http://schemas.microsoft.com/office/drawing/2014/main" id="{5F40ADE7-09A0-518A-4DCD-1B504EA5BCD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5650" y="4741863"/>
            <a:ext cx="1588" cy="311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 anchor="ctr"/>
          <a:lstStyle/>
          <a:p>
            <a:endParaRPr lang="en-GB"/>
          </a:p>
        </p:txBody>
      </p:sp>
      <p:sp>
        <p:nvSpPr>
          <p:cNvPr id="87047" name="Line 7">
            <a:extLst>
              <a:ext uri="{FF2B5EF4-FFF2-40B4-BE49-F238E27FC236}">
                <a16:creationId xmlns:a16="http://schemas.microsoft.com/office/drawing/2014/main" id="{AF2A6B10-3D96-BF7B-8A3A-3EA0CA0BCF1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5650" y="5588000"/>
            <a:ext cx="1588" cy="311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 anchor="ctr"/>
          <a:lstStyle/>
          <a:p>
            <a:endParaRPr lang="en-GB"/>
          </a:p>
        </p:txBody>
      </p:sp>
      <p:sp>
        <p:nvSpPr>
          <p:cNvPr id="87048" name="Oval 8">
            <a:extLst>
              <a:ext uri="{FF2B5EF4-FFF2-40B4-BE49-F238E27FC236}">
                <a16:creationId xmlns:a16="http://schemas.microsoft.com/office/drawing/2014/main" id="{9B4E9AFE-4A11-7390-8EE7-B8C4D130E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5214" y="2530475"/>
            <a:ext cx="1939925" cy="1028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 anchor="ctr"/>
          <a:lstStyle/>
          <a:p>
            <a:pPr algn="ctr" eaLnBrk="0" hangingPunct="0"/>
            <a:r>
              <a:rPr lang="en-US" altLang="en-US" sz="2000">
                <a:latin typeface="Arial" panose="020B0604020202020204" pitchFamily="34" charset="0"/>
              </a:rPr>
              <a:t>Server</a:t>
            </a:r>
          </a:p>
        </p:txBody>
      </p:sp>
      <p:sp>
        <p:nvSpPr>
          <p:cNvPr id="87049" name="Line 9">
            <a:extLst>
              <a:ext uri="{FF2B5EF4-FFF2-40B4-BE49-F238E27FC236}">
                <a16:creationId xmlns:a16="http://schemas.microsoft.com/office/drawing/2014/main" id="{24FB3E0E-8F87-8A63-497E-59A92D70604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6650" y="3949700"/>
            <a:ext cx="1828800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 anchor="ctr"/>
          <a:lstStyle/>
          <a:p>
            <a:endParaRPr lang="en-GB"/>
          </a:p>
        </p:txBody>
      </p:sp>
      <p:sp>
        <p:nvSpPr>
          <p:cNvPr id="87050" name="Rectangle 10">
            <a:extLst>
              <a:ext uri="{FF2B5EF4-FFF2-40B4-BE49-F238E27FC236}">
                <a16:creationId xmlns:a16="http://schemas.microsoft.com/office/drawing/2014/main" id="{8D543856-CAF0-BD72-DFF0-505808E98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1" y="2362200"/>
            <a:ext cx="2347913" cy="426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 anchor="ctr"/>
          <a:lstStyle/>
          <a:p>
            <a:endParaRPr lang="en-GB"/>
          </a:p>
        </p:txBody>
      </p:sp>
      <p:sp>
        <p:nvSpPr>
          <p:cNvPr id="87051" name="Oval 11">
            <a:extLst>
              <a:ext uri="{FF2B5EF4-FFF2-40B4-BE49-F238E27FC236}">
                <a16:creationId xmlns:a16="http://schemas.microsoft.com/office/drawing/2014/main" id="{22B4A826-5746-847C-32C7-9559800D5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3168650"/>
            <a:ext cx="220662" cy="222250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 anchor="ctr"/>
          <a:lstStyle/>
          <a:p>
            <a:endParaRPr lang="en-GB"/>
          </a:p>
        </p:txBody>
      </p:sp>
      <p:sp>
        <p:nvSpPr>
          <p:cNvPr id="87052" name="Line 12">
            <a:extLst>
              <a:ext uri="{FF2B5EF4-FFF2-40B4-BE49-F238E27FC236}">
                <a16:creationId xmlns:a16="http://schemas.microsoft.com/office/drawing/2014/main" id="{3962B260-24FA-ABFE-5BB0-BCEE2BB407D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7814" y="3384550"/>
            <a:ext cx="314325" cy="8382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 anchor="ctr"/>
          <a:lstStyle/>
          <a:p>
            <a:endParaRPr lang="en-GB"/>
          </a:p>
        </p:txBody>
      </p:sp>
      <p:sp>
        <p:nvSpPr>
          <p:cNvPr id="87053" name="Oval 13">
            <a:extLst>
              <a:ext uri="{FF2B5EF4-FFF2-40B4-BE49-F238E27FC236}">
                <a16:creationId xmlns:a16="http://schemas.microsoft.com/office/drawing/2014/main" id="{23A6FC51-D7AE-9513-74B6-EB33928F6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3651" y="3168650"/>
            <a:ext cx="220663" cy="222250"/>
          </a:xfrm>
          <a:prstGeom prst="ellipse">
            <a:avLst/>
          </a:prstGeom>
          <a:solidFill>
            <a:srgbClr val="FF6600"/>
          </a:solidFill>
          <a:ln w="9525">
            <a:solidFill>
              <a:srgbClr val="FF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 anchor="ctr"/>
          <a:lstStyle/>
          <a:p>
            <a:endParaRPr lang="en-GB"/>
          </a:p>
        </p:txBody>
      </p:sp>
      <p:sp>
        <p:nvSpPr>
          <p:cNvPr id="87054" name="Line 14">
            <a:extLst>
              <a:ext uri="{FF2B5EF4-FFF2-40B4-BE49-F238E27FC236}">
                <a16:creationId xmlns:a16="http://schemas.microsoft.com/office/drawing/2014/main" id="{85072FDC-DA62-349E-5973-E9196AAB46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78214" y="3384550"/>
            <a:ext cx="388937" cy="83343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 anchor="ctr"/>
          <a:lstStyle/>
          <a:p>
            <a:endParaRPr lang="en-GB"/>
          </a:p>
        </p:txBody>
      </p:sp>
      <p:sp>
        <p:nvSpPr>
          <p:cNvPr id="87055" name="Text Box 15">
            <a:extLst>
              <a:ext uri="{FF2B5EF4-FFF2-40B4-BE49-F238E27FC236}">
                <a16:creationId xmlns:a16="http://schemas.microsoft.com/office/drawing/2014/main" id="{5216F31F-0E86-9777-95DE-7A4C54642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563" y="4219576"/>
            <a:ext cx="1465262" cy="5238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37160" bIns="137160"/>
          <a:lstStyle/>
          <a:p>
            <a:pPr algn="ctr" eaLnBrk="0" hangingPunct="0"/>
            <a:r>
              <a:rPr lang="en-US" altLang="en-US" sz="2000">
                <a:latin typeface="Arial" panose="020B0604020202020204" pitchFamily="34" charset="0"/>
              </a:rPr>
              <a:t>TCP/UDP</a:t>
            </a:r>
          </a:p>
        </p:txBody>
      </p:sp>
      <p:sp>
        <p:nvSpPr>
          <p:cNvPr id="87056" name="Text Box 16">
            <a:extLst>
              <a:ext uri="{FF2B5EF4-FFF2-40B4-BE49-F238E27FC236}">
                <a16:creationId xmlns:a16="http://schemas.microsoft.com/office/drawing/2014/main" id="{842CE085-8B28-ED59-D4A8-A66758BE9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563" y="5049839"/>
            <a:ext cx="1465262" cy="5238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37160" bIns="137160"/>
          <a:lstStyle/>
          <a:p>
            <a:pPr algn="ctr" eaLnBrk="0" hangingPunct="0"/>
            <a:r>
              <a:rPr lang="en-US" altLang="en-US" sz="2000">
                <a:latin typeface="Arial" panose="020B0604020202020204" pitchFamily="34" charset="0"/>
              </a:rPr>
              <a:t>IP</a:t>
            </a:r>
          </a:p>
        </p:txBody>
      </p:sp>
      <p:sp>
        <p:nvSpPr>
          <p:cNvPr id="87057" name="Text Box 17">
            <a:extLst>
              <a:ext uri="{FF2B5EF4-FFF2-40B4-BE49-F238E27FC236}">
                <a16:creationId xmlns:a16="http://schemas.microsoft.com/office/drawing/2014/main" id="{2DF6ED1B-7535-C7A6-10C1-DC6EA6EAF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3413" y="5894388"/>
            <a:ext cx="2114550" cy="5905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137160" bIns="137160">
            <a:spAutoFit/>
          </a:bodyPr>
          <a:lstStyle/>
          <a:p>
            <a:pPr algn="ctr" eaLnBrk="0" hangingPunct="0"/>
            <a:r>
              <a:rPr lang="en-US" altLang="en-US" sz="2000">
                <a:latin typeface="Arial" panose="020B0604020202020204" pitchFamily="34" charset="0"/>
              </a:rPr>
              <a:t>Ethernet Adapter</a:t>
            </a:r>
          </a:p>
        </p:txBody>
      </p:sp>
      <p:sp>
        <p:nvSpPr>
          <p:cNvPr id="87058" name="Line 18">
            <a:extLst>
              <a:ext uri="{FF2B5EF4-FFF2-40B4-BE49-F238E27FC236}">
                <a16:creationId xmlns:a16="http://schemas.microsoft.com/office/drawing/2014/main" id="{98730D78-9893-AB6C-CB2E-77AE4A838749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6400" y="4740275"/>
            <a:ext cx="0" cy="311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 anchor="ctr"/>
          <a:lstStyle/>
          <a:p>
            <a:endParaRPr lang="en-GB"/>
          </a:p>
        </p:txBody>
      </p:sp>
      <p:sp>
        <p:nvSpPr>
          <p:cNvPr id="87059" name="Line 19">
            <a:extLst>
              <a:ext uri="{FF2B5EF4-FFF2-40B4-BE49-F238E27FC236}">
                <a16:creationId xmlns:a16="http://schemas.microsoft.com/office/drawing/2014/main" id="{26FE8C46-EFAD-2B2B-1033-82279583E766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6400" y="5586413"/>
            <a:ext cx="0" cy="311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 anchor="ctr"/>
          <a:lstStyle/>
          <a:p>
            <a:endParaRPr lang="en-GB"/>
          </a:p>
        </p:txBody>
      </p:sp>
      <p:sp>
        <p:nvSpPr>
          <p:cNvPr id="87060" name="Line 20">
            <a:extLst>
              <a:ext uri="{FF2B5EF4-FFF2-40B4-BE49-F238E27FC236}">
                <a16:creationId xmlns:a16="http://schemas.microsoft.com/office/drawing/2014/main" id="{7C13FB30-C597-605C-1011-8FDB75EA26CE}"/>
              </a:ext>
            </a:extLst>
          </p:cNvPr>
          <p:cNvSpPr>
            <a:spLocks noChangeShapeType="1"/>
          </p:cNvSpPr>
          <p:nvPr/>
        </p:nvSpPr>
        <p:spPr bwMode="auto">
          <a:xfrm>
            <a:off x="7132638" y="3948113"/>
            <a:ext cx="18399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 anchor="ctr"/>
          <a:lstStyle/>
          <a:p>
            <a:endParaRPr lang="en-GB"/>
          </a:p>
        </p:txBody>
      </p:sp>
      <p:sp>
        <p:nvSpPr>
          <p:cNvPr id="87061" name="Rectangle 21">
            <a:extLst>
              <a:ext uri="{FF2B5EF4-FFF2-40B4-BE49-F238E27FC236}">
                <a16:creationId xmlns:a16="http://schemas.microsoft.com/office/drawing/2014/main" id="{ACFD52FF-EA93-D48B-869E-BB571BD41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2362200"/>
            <a:ext cx="2362200" cy="419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 anchor="ctr"/>
          <a:lstStyle/>
          <a:p>
            <a:endParaRPr lang="en-GB"/>
          </a:p>
        </p:txBody>
      </p:sp>
      <p:sp>
        <p:nvSpPr>
          <p:cNvPr id="87062" name="Oval 22">
            <a:extLst>
              <a:ext uri="{FF2B5EF4-FFF2-40B4-BE49-F238E27FC236}">
                <a16:creationId xmlns:a16="http://schemas.microsoft.com/office/drawing/2014/main" id="{25913244-C8BD-E7AA-38D6-04D922A98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1" y="3352801"/>
            <a:ext cx="220663" cy="220663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 anchor="ctr"/>
          <a:lstStyle/>
          <a:p>
            <a:endParaRPr lang="en-GB"/>
          </a:p>
        </p:txBody>
      </p:sp>
      <p:sp>
        <p:nvSpPr>
          <p:cNvPr id="87063" name="Line 23">
            <a:extLst>
              <a:ext uri="{FF2B5EF4-FFF2-40B4-BE49-F238E27FC236}">
                <a16:creationId xmlns:a16="http://schemas.microsoft.com/office/drawing/2014/main" id="{3C4324C3-53B5-147C-EAB7-6C40D75B0297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3581401"/>
            <a:ext cx="242888" cy="639763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 anchor="ctr"/>
          <a:lstStyle/>
          <a:p>
            <a:endParaRPr lang="en-GB"/>
          </a:p>
        </p:txBody>
      </p:sp>
      <p:sp>
        <p:nvSpPr>
          <p:cNvPr id="87064" name="Oval 24">
            <a:extLst>
              <a:ext uri="{FF2B5EF4-FFF2-40B4-BE49-F238E27FC236}">
                <a16:creationId xmlns:a16="http://schemas.microsoft.com/office/drawing/2014/main" id="{DE52E19B-1250-4A26-F9AE-E0BA2D35B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3352801"/>
            <a:ext cx="222250" cy="220663"/>
          </a:xfrm>
          <a:prstGeom prst="ellipse">
            <a:avLst/>
          </a:prstGeom>
          <a:solidFill>
            <a:srgbClr val="FF6600"/>
          </a:solidFill>
          <a:ln w="9525">
            <a:solidFill>
              <a:srgbClr val="FF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 anchor="ctr"/>
          <a:lstStyle/>
          <a:p>
            <a:endParaRPr lang="en-GB"/>
          </a:p>
        </p:txBody>
      </p:sp>
      <p:sp>
        <p:nvSpPr>
          <p:cNvPr id="87065" name="Line 25">
            <a:extLst>
              <a:ext uri="{FF2B5EF4-FFF2-40B4-BE49-F238E27FC236}">
                <a16:creationId xmlns:a16="http://schemas.microsoft.com/office/drawing/2014/main" id="{75E65082-BAA3-CA93-0DD2-3B92BE6FD7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10550" y="3581400"/>
            <a:ext cx="323850" cy="63500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 anchor="ctr"/>
          <a:lstStyle/>
          <a:p>
            <a:endParaRPr lang="en-GB"/>
          </a:p>
        </p:txBody>
      </p:sp>
      <p:sp>
        <p:nvSpPr>
          <p:cNvPr id="87066" name="Oval 26">
            <a:extLst>
              <a:ext uri="{FF2B5EF4-FFF2-40B4-BE49-F238E27FC236}">
                <a16:creationId xmlns:a16="http://schemas.microsoft.com/office/drawing/2014/main" id="{845A2B3A-C7B5-4F6A-D07C-596A908D6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9301" y="2878138"/>
            <a:ext cx="809625" cy="8048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 anchor="ctr"/>
          <a:lstStyle/>
          <a:p>
            <a:endParaRPr lang="en-GB"/>
          </a:p>
        </p:txBody>
      </p:sp>
      <p:sp>
        <p:nvSpPr>
          <p:cNvPr id="87067" name="Oval 27">
            <a:extLst>
              <a:ext uri="{FF2B5EF4-FFF2-40B4-BE49-F238E27FC236}">
                <a16:creationId xmlns:a16="http://schemas.microsoft.com/office/drawing/2014/main" id="{1109DF03-C425-6003-4A43-F906356A2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8014" y="2878138"/>
            <a:ext cx="808037" cy="8048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 anchor="ctr"/>
          <a:lstStyle/>
          <a:p>
            <a:endParaRPr lang="en-GB"/>
          </a:p>
        </p:txBody>
      </p:sp>
      <p:sp>
        <p:nvSpPr>
          <p:cNvPr id="87068" name="Text Box 28">
            <a:extLst>
              <a:ext uri="{FF2B5EF4-FFF2-40B4-BE49-F238E27FC236}">
                <a16:creationId xmlns:a16="http://schemas.microsoft.com/office/drawing/2014/main" id="{7577C862-A87F-3191-C42A-ABDC3FD13D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1" y="2514600"/>
            <a:ext cx="981075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>
            <a:spAutoFit/>
          </a:bodyPr>
          <a:lstStyle/>
          <a:p>
            <a:pPr eaLnBrk="0" hangingPunct="0"/>
            <a:r>
              <a:rPr lang="en-US" altLang="en-US" sz="2000">
                <a:latin typeface="Arial" panose="020B0604020202020204" pitchFamily="34" charset="0"/>
              </a:rPr>
              <a:t>Clients</a:t>
            </a:r>
          </a:p>
        </p:txBody>
      </p:sp>
      <p:sp>
        <p:nvSpPr>
          <p:cNvPr id="87069" name="Line 29">
            <a:extLst>
              <a:ext uri="{FF2B5EF4-FFF2-40B4-BE49-F238E27FC236}">
                <a16:creationId xmlns:a16="http://schemas.microsoft.com/office/drawing/2014/main" id="{00491E75-AC5B-F6A5-9F90-64A8D6335D4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6248400"/>
            <a:ext cx="243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 anchor="ctr"/>
          <a:lstStyle/>
          <a:p>
            <a:endParaRPr lang="en-GB"/>
          </a:p>
        </p:txBody>
      </p:sp>
      <p:sp>
        <p:nvSpPr>
          <p:cNvPr id="87070" name="Text Box 30">
            <a:extLst>
              <a:ext uri="{FF2B5EF4-FFF2-40B4-BE49-F238E27FC236}">
                <a16:creationId xmlns:a16="http://schemas.microsoft.com/office/drawing/2014/main" id="{1D359FF2-B426-8A3B-C9BF-BDCA87CA6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454150"/>
            <a:ext cx="7620000" cy="656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600" tIns="50800" rIns="101600" bIns="50800">
            <a:spAutoFit/>
          </a:bodyPr>
          <a:lstStyle/>
          <a:p>
            <a:pPr eaLnBrk="0" hangingPunct="0"/>
            <a:r>
              <a:rPr lang="en-US" altLang="en-US">
                <a:solidFill>
                  <a:schemeClr val="tx2"/>
                </a:solidFill>
                <a:latin typeface="Arial" panose="020B0604020202020204" pitchFamily="34" charset="0"/>
              </a:rPr>
              <a:t>Server and Client exchange messages over the network through a common</a:t>
            </a:r>
            <a:r>
              <a:rPr lang="en-US" altLang="en-US">
                <a:solidFill>
                  <a:srgbClr val="CC0000"/>
                </a:solidFill>
                <a:latin typeface="Arial" panose="020B0604020202020204" pitchFamily="34" charset="0"/>
              </a:rPr>
              <a:t> Socket API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7071" name="Rectangle 31">
            <a:extLst>
              <a:ext uri="{FF2B5EF4-FFF2-40B4-BE49-F238E27FC236}">
                <a16:creationId xmlns:a16="http://schemas.microsoft.com/office/drawing/2014/main" id="{5CAD0418-3A8F-1D7C-930F-3F055DF4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1" y="4419601"/>
            <a:ext cx="1333763" cy="379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>
            <a:spAutoFit/>
          </a:bodyPr>
          <a:lstStyle/>
          <a:p>
            <a:pPr eaLnBrk="0" hangingPunct="0"/>
            <a:r>
              <a:rPr lang="en-US" altLang="en-US">
                <a:solidFill>
                  <a:srgbClr val="CC0000"/>
                </a:solidFill>
                <a:latin typeface="Arial" panose="020B0604020202020204" pitchFamily="34" charset="0"/>
              </a:rPr>
              <a:t>Socket API</a:t>
            </a:r>
          </a:p>
        </p:txBody>
      </p:sp>
      <p:sp>
        <p:nvSpPr>
          <p:cNvPr id="87072" name="Line 32">
            <a:extLst>
              <a:ext uri="{FF2B5EF4-FFF2-40B4-BE49-F238E27FC236}">
                <a16:creationId xmlns:a16="http://schemas.microsoft.com/office/drawing/2014/main" id="{EBDD1D05-9D91-C522-2964-7168B7055F0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14800" y="4038600"/>
            <a:ext cx="6858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 anchor="ctr"/>
          <a:lstStyle/>
          <a:p>
            <a:endParaRPr lang="en-GB"/>
          </a:p>
        </p:txBody>
      </p:sp>
      <p:sp>
        <p:nvSpPr>
          <p:cNvPr id="87073" name="Line 33">
            <a:extLst>
              <a:ext uri="{FF2B5EF4-FFF2-40B4-BE49-F238E27FC236}">
                <a16:creationId xmlns:a16="http://schemas.microsoft.com/office/drawing/2014/main" id="{4959E987-DA63-F3D0-AA0A-52E2D61846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29400" y="4038600"/>
            <a:ext cx="5334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 anchor="ctr"/>
          <a:lstStyle/>
          <a:p>
            <a:endParaRPr lang="en-GB"/>
          </a:p>
        </p:txBody>
      </p:sp>
      <p:sp>
        <p:nvSpPr>
          <p:cNvPr id="87074" name="Line 34">
            <a:extLst>
              <a:ext uri="{FF2B5EF4-FFF2-40B4-BE49-F238E27FC236}">
                <a16:creationId xmlns:a16="http://schemas.microsoft.com/office/drawing/2014/main" id="{C7047197-3E83-2A43-0BA1-21E73D80A9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5715000"/>
            <a:ext cx="1828800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 anchor="ctr"/>
          <a:lstStyle/>
          <a:p>
            <a:endParaRPr lang="en-GB"/>
          </a:p>
        </p:txBody>
      </p:sp>
      <p:sp>
        <p:nvSpPr>
          <p:cNvPr id="87075" name="Line 35">
            <a:extLst>
              <a:ext uri="{FF2B5EF4-FFF2-40B4-BE49-F238E27FC236}">
                <a16:creationId xmlns:a16="http://schemas.microsoft.com/office/drawing/2014/main" id="{C25EC222-7B92-B0BE-D915-78882269C553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5715000"/>
            <a:ext cx="1828800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 anchor="ctr"/>
          <a:lstStyle/>
          <a:p>
            <a:endParaRPr lang="en-GB"/>
          </a:p>
        </p:txBody>
      </p:sp>
      <p:sp>
        <p:nvSpPr>
          <p:cNvPr id="87076" name="AutoShape 36">
            <a:extLst>
              <a:ext uri="{FF2B5EF4-FFF2-40B4-BE49-F238E27FC236}">
                <a16:creationId xmlns:a16="http://schemas.microsoft.com/office/drawing/2014/main" id="{50D0822C-CCF3-4E5A-FF8B-28D3AE0E2ED8}"/>
              </a:ext>
            </a:extLst>
          </p:cNvPr>
          <p:cNvSpPr>
            <a:spLocks/>
          </p:cNvSpPr>
          <p:nvPr/>
        </p:nvSpPr>
        <p:spPr bwMode="auto">
          <a:xfrm>
            <a:off x="9296400" y="2438400"/>
            <a:ext cx="152400" cy="1447800"/>
          </a:xfrm>
          <a:prstGeom prst="rightBrace">
            <a:avLst>
              <a:gd name="adj1" fmla="val 791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 anchor="ctr"/>
          <a:lstStyle/>
          <a:p>
            <a:endParaRPr lang="en-GB"/>
          </a:p>
        </p:txBody>
      </p:sp>
      <p:sp>
        <p:nvSpPr>
          <p:cNvPr id="87077" name="AutoShape 37">
            <a:extLst>
              <a:ext uri="{FF2B5EF4-FFF2-40B4-BE49-F238E27FC236}">
                <a16:creationId xmlns:a16="http://schemas.microsoft.com/office/drawing/2014/main" id="{41CA9D09-1BB2-C9C0-EE13-7616BADC202E}"/>
              </a:ext>
            </a:extLst>
          </p:cNvPr>
          <p:cNvSpPr>
            <a:spLocks/>
          </p:cNvSpPr>
          <p:nvPr/>
        </p:nvSpPr>
        <p:spPr bwMode="auto">
          <a:xfrm>
            <a:off x="9296400" y="4114800"/>
            <a:ext cx="152400" cy="1447800"/>
          </a:xfrm>
          <a:prstGeom prst="rightBrace">
            <a:avLst>
              <a:gd name="adj1" fmla="val 791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 anchor="ctr"/>
          <a:lstStyle/>
          <a:p>
            <a:endParaRPr lang="en-GB"/>
          </a:p>
        </p:txBody>
      </p:sp>
      <p:sp>
        <p:nvSpPr>
          <p:cNvPr id="87078" name="AutoShape 38">
            <a:extLst>
              <a:ext uri="{FF2B5EF4-FFF2-40B4-BE49-F238E27FC236}">
                <a16:creationId xmlns:a16="http://schemas.microsoft.com/office/drawing/2014/main" id="{02081E20-A498-923E-18DC-50415BE9A7C4}"/>
              </a:ext>
            </a:extLst>
          </p:cNvPr>
          <p:cNvSpPr>
            <a:spLocks/>
          </p:cNvSpPr>
          <p:nvPr/>
        </p:nvSpPr>
        <p:spPr bwMode="auto">
          <a:xfrm>
            <a:off x="9296400" y="5867400"/>
            <a:ext cx="228600" cy="609600"/>
          </a:xfrm>
          <a:prstGeom prst="rightBrace">
            <a:avLst>
              <a:gd name="adj1" fmla="val 22222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 anchor="ctr"/>
          <a:lstStyle/>
          <a:p>
            <a:endParaRPr lang="en-GB"/>
          </a:p>
        </p:txBody>
      </p:sp>
      <p:sp>
        <p:nvSpPr>
          <p:cNvPr id="87079" name="Text Box 39">
            <a:extLst>
              <a:ext uri="{FF2B5EF4-FFF2-40B4-BE49-F238E27FC236}">
                <a16:creationId xmlns:a16="http://schemas.microsoft.com/office/drawing/2014/main" id="{1EFA099F-1B37-4DF4-7449-C960CD146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6439" y="5989639"/>
            <a:ext cx="1059585" cy="348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>
            <a:spAutoFit/>
          </a:bodyPr>
          <a:lstStyle/>
          <a:p>
            <a:pPr eaLnBrk="0" hangingPunct="0"/>
            <a:r>
              <a:rPr lang="en-US" altLang="en-US" sz="1600">
                <a:latin typeface="Arial" panose="020B0604020202020204" pitchFamily="34" charset="0"/>
              </a:rPr>
              <a:t>hardware</a:t>
            </a:r>
          </a:p>
        </p:txBody>
      </p:sp>
      <p:sp>
        <p:nvSpPr>
          <p:cNvPr id="87080" name="Text Box 40">
            <a:extLst>
              <a:ext uri="{FF2B5EF4-FFF2-40B4-BE49-F238E27FC236}">
                <a16:creationId xmlns:a16="http://schemas.microsoft.com/office/drawing/2014/main" id="{BB6DF759-7C6B-C403-6944-F4CD52247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0" y="4465638"/>
            <a:ext cx="812800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>
            <a:spAutoFit/>
          </a:bodyPr>
          <a:lstStyle/>
          <a:p>
            <a:pPr eaLnBrk="0" hangingPunct="0"/>
            <a:r>
              <a:rPr lang="en-US" altLang="en-US" sz="1600">
                <a:latin typeface="Arial" panose="020B0604020202020204" pitchFamily="34" charset="0"/>
              </a:rPr>
              <a:t>kernel </a:t>
            </a:r>
          </a:p>
          <a:p>
            <a:pPr eaLnBrk="0" hangingPunct="0"/>
            <a:r>
              <a:rPr lang="en-US" altLang="en-US" sz="1600">
                <a:latin typeface="Arial" panose="020B0604020202020204" pitchFamily="34" charset="0"/>
              </a:rPr>
              <a:t>space</a:t>
            </a:r>
          </a:p>
        </p:txBody>
      </p:sp>
      <p:sp>
        <p:nvSpPr>
          <p:cNvPr id="87081" name="Text Box 41">
            <a:extLst>
              <a:ext uri="{FF2B5EF4-FFF2-40B4-BE49-F238E27FC236}">
                <a16:creationId xmlns:a16="http://schemas.microsoft.com/office/drawing/2014/main" id="{BEEBCDBA-DFEC-E957-0726-C67B3E9AE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0" y="2789238"/>
            <a:ext cx="744538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>
            <a:spAutoFit/>
          </a:bodyPr>
          <a:lstStyle/>
          <a:p>
            <a:pPr eaLnBrk="0" hangingPunct="0"/>
            <a:r>
              <a:rPr lang="en-US" altLang="en-US" sz="1600">
                <a:latin typeface="Arial" panose="020B0604020202020204" pitchFamily="34" charset="0"/>
              </a:rPr>
              <a:t>user </a:t>
            </a:r>
          </a:p>
          <a:p>
            <a:pPr eaLnBrk="0" hangingPunct="0"/>
            <a:r>
              <a:rPr lang="en-US" altLang="en-US" sz="1600">
                <a:latin typeface="Arial" panose="020B0604020202020204" pitchFamily="34" charset="0"/>
              </a:rPr>
              <a:t>space</a:t>
            </a:r>
          </a:p>
        </p:txBody>
      </p:sp>
      <p:sp>
        <p:nvSpPr>
          <p:cNvPr id="87082" name="Line 42">
            <a:extLst>
              <a:ext uri="{FF2B5EF4-FFF2-40B4-BE49-F238E27FC236}">
                <a16:creationId xmlns:a16="http://schemas.microsoft.com/office/drawing/2014/main" id="{34AFB11E-65C2-24FA-3855-A45C65BFA79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38600" y="3276600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 anchor="ctr"/>
          <a:lstStyle/>
          <a:p>
            <a:endParaRPr lang="en-GB"/>
          </a:p>
        </p:txBody>
      </p:sp>
      <p:sp>
        <p:nvSpPr>
          <p:cNvPr id="87083" name="Rectangle 43">
            <a:extLst>
              <a:ext uri="{FF2B5EF4-FFF2-40B4-BE49-F238E27FC236}">
                <a16:creationId xmlns:a16="http://schemas.microsoft.com/office/drawing/2014/main" id="{AECA60B0-3EEC-07C3-637B-B2E33B6A8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1" y="3048000"/>
            <a:ext cx="766763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tx2"/>
                </a:solidFill>
                <a:latin typeface="Arial" panose="020B0604020202020204" pitchFamily="34" charset="0"/>
              </a:rPr>
              <a:t>ports</a:t>
            </a:r>
          </a:p>
        </p:txBody>
      </p:sp>
      <p:sp>
        <p:nvSpPr>
          <p:cNvPr id="87084" name="Line 44">
            <a:extLst>
              <a:ext uri="{FF2B5EF4-FFF2-40B4-BE49-F238E27FC236}">
                <a16:creationId xmlns:a16="http://schemas.microsoft.com/office/drawing/2014/main" id="{182AEBCD-E225-25DD-0E5A-83EA79E0B6E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3276600"/>
            <a:ext cx="13716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600" tIns="50800" rIns="101600" bIns="50800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9E7F4-CCC2-668E-AC60-586BD909B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9475"/>
          </a:xfrm>
        </p:spPr>
        <p:txBody>
          <a:bodyPr/>
          <a:lstStyle/>
          <a:p>
            <a:r>
              <a:rPr lang="en-US" dirty="0"/>
              <a:t>Sockets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11266-81D0-2F3E-5188-D95933500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5700"/>
            <a:ext cx="10325100" cy="5021263"/>
          </a:xfrm>
        </p:spPr>
        <p:txBody>
          <a:bodyPr>
            <a:normAutofit/>
          </a:bodyPr>
          <a:lstStyle/>
          <a:p>
            <a:r>
              <a:rPr lang="en-US" dirty="0"/>
              <a:t>A socket API is used for communicating between a Client and a Server</a:t>
            </a:r>
          </a:p>
          <a:p>
            <a:r>
              <a:rPr lang="en-US" dirty="0"/>
              <a:t> Client </a:t>
            </a:r>
          </a:p>
          <a:p>
            <a:pPr lvl="1"/>
            <a:r>
              <a:rPr lang="en-US" dirty="0"/>
              <a:t>Active participant in communication</a:t>
            </a:r>
          </a:p>
          <a:p>
            <a:pPr lvl="1"/>
            <a:r>
              <a:rPr lang="en-US" dirty="0"/>
              <a:t>Initiates conversations and sends data</a:t>
            </a:r>
          </a:p>
          <a:p>
            <a:r>
              <a:rPr lang="en-US" dirty="0"/>
              <a:t>Server</a:t>
            </a:r>
          </a:p>
          <a:p>
            <a:pPr lvl="1"/>
            <a:r>
              <a:rPr lang="en-US" dirty="0"/>
              <a:t>Passively listens and waits for data</a:t>
            </a:r>
          </a:p>
          <a:p>
            <a:r>
              <a:rPr lang="en-US" dirty="0"/>
              <a:t>Socket</a:t>
            </a:r>
          </a:p>
          <a:p>
            <a:pPr lvl="1"/>
            <a:r>
              <a:rPr lang="en-US" dirty="0"/>
              <a:t>Protocol to use?</a:t>
            </a:r>
          </a:p>
          <a:p>
            <a:pPr lvl="1"/>
            <a:r>
              <a:rPr lang="en-US" dirty="0"/>
              <a:t>Identifier of the other machine (IP + port)? </a:t>
            </a:r>
          </a:p>
          <a:p>
            <a:pPr lvl="1"/>
            <a:r>
              <a:rPr lang="en-US" dirty="0"/>
              <a:t>Client or server?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5123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Socket programming </a:t>
            </a:r>
          </a:p>
        </p:txBody>
      </p:sp>
      <p:sp>
        <p:nvSpPr>
          <p:cNvPr id="58" name="Rectangle 3">
            <a:extLst>
              <a:ext uri="{FF2B5EF4-FFF2-40B4-BE49-F238E27FC236}">
                <a16:creationId xmlns:a16="http://schemas.microsoft.com/office/drawing/2014/main" id="{616F4545-210A-A74D-A31A-E4339596B3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199" y="1513591"/>
            <a:ext cx="10798277" cy="1742641"/>
          </a:xfrm>
        </p:spPr>
        <p:txBody>
          <a:bodyPr>
            <a:normAutofit/>
          </a:bodyPr>
          <a:lstStyle/>
          <a:p>
            <a:pPr marL="342900" lvl="1" indent="-342900">
              <a:buSzPct val="65000"/>
              <a:buFont typeface="Wingdings" pitchFamily="2" charset="2"/>
              <a:buNone/>
            </a:pPr>
            <a:r>
              <a:rPr lang="en-US" altLang="en-US" sz="3200" dirty="0">
                <a:solidFill>
                  <a:srgbClr val="22228B"/>
                </a:solidFill>
                <a:ea typeface="ＭＳ Ｐゴシック" panose="020B0600070205080204" pitchFamily="34" charset="-128"/>
              </a:rPr>
              <a:t>Two socket types for two transport services:</a:t>
            </a:r>
          </a:p>
          <a:p>
            <a:pPr marL="631825" lvl="1" indent="-457200">
              <a:buSzPct val="100000"/>
              <a:buFont typeface="Wingdings" pitchFamily="2" charset="2"/>
              <a:buChar char="§"/>
            </a:pPr>
            <a:r>
              <a:rPr lang="en-US" altLang="en-US" sz="32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UDP:</a:t>
            </a:r>
            <a:r>
              <a:rPr lang="en-US" altLang="en-US" sz="3200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3200" dirty="0">
                <a:ea typeface="ＭＳ Ｐゴシック" panose="020B0600070205080204" pitchFamily="34" charset="-128"/>
              </a:rPr>
              <a:t>unreliable datagram </a:t>
            </a:r>
          </a:p>
          <a:p>
            <a:pPr marL="631825" lvl="1" indent="-457200">
              <a:buSzPct val="100000"/>
              <a:buFont typeface="Wingdings" pitchFamily="2" charset="2"/>
              <a:buChar char="§"/>
            </a:pPr>
            <a:r>
              <a:rPr lang="en-US" altLang="en-US" sz="32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TCP:</a:t>
            </a:r>
            <a:r>
              <a:rPr lang="en-US" altLang="en-US" sz="3200" dirty="0">
                <a:ea typeface="ＭＳ Ｐゴシック" panose="020B0600070205080204" pitchFamily="34" charset="-128"/>
              </a:rPr>
              <a:t> reliable, byte stream-oriented</a:t>
            </a:r>
            <a:endParaRPr lang="en-US" altLang="en-US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</p:txBody>
      </p:sp>
      <p:sp>
        <p:nvSpPr>
          <p:cNvPr id="59" name="Rectangle 3">
            <a:extLst>
              <a:ext uri="{FF2B5EF4-FFF2-40B4-BE49-F238E27FC236}">
                <a16:creationId xmlns:a16="http://schemas.microsoft.com/office/drawing/2014/main" id="{E8FBE9BD-5125-8341-AC98-0DB0D8C28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760" y="3291529"/>
            <a:ext cx="10798277" cy="3481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marR="0" lvl="1" indent="-34290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Application Example:</a:t>
            </a:r>
          </a:p>
          <a:p>
            <a:pPr marL="514350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ＭＳ Ｐゴシック" charset="0"/>
              </a:rPr>
              <a:t>client reads a line of characters (data) from its keyboard and sends data to server</a:t>
            </a:r>
          </a:p>
          <a:p>
            <a:pPr marL="514350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ＭＳ Ｐゴシック" charset="0"/>
              </a:rPr>
              <a:t>server receives the data and converts characters to uppercase</a:t>
            </a:r>
          </a:p>
          <a:p>
            <a:pPr marL="514350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ＭＳ Ｐゴシック" charset="0"/>
              </a:rPr>
              <a:t>server sends modified data to client</a:t>
            </a:r>
          </a:p>
          <a:p>
            <a:pPr marL="514350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ＭＳ Ｐゴシック" charset="0"/>
              </a:rPr>
              <a:t>client receives modified data and displays line on its screen</a:t>
            </a:r>
          </a:p>
        </p:txBody>
      </p:sp>
    </p:spTree>
    <p:extLst>
      <p:ext uri="{BB962C8B-B14F-4D97-AF65-F5344CB8AC3E}">
        <p14:creationId xmlns:p14="http://schemas.microsoft.com/office/powerpoint/2010/main" val="1689535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33" y="33328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Socket programming with UDP 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CF53D30-07DA-0041-8212-FA74FE4546A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714803" y="1318820"/>
            <a:ext cx="6363331" cy="485333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US" altLang="en-US" sz="32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UDP: </a:t>
            </a:r>
            <a:r>
              <a:rPr lang="en-US" altLang="en-US" sz="3200" dirty="0">
                <a:solidFill>
                  <a:srgbClr val="0000A3"/>
                </a:solidFill>
                <a:ea typeface="ＭＳ Ｐゴシック" panose="020B0600070205080204" pitchFamily="34" charset="-128"/>
              </a:rPr>
              <a:t>no “</a:t>
            </a:r>
            <a:r>
              <a:rPr lang="en-US" altLang="ja-JP" sz="3200" dirty="0">
                <a:solidFill>
                  <a:srgbClr val="0000A3"/>
                </a:solidFill>
                <a:ea typeface="ＭＳ Ｐゴシック" panose="020B0600070205080204" pitchFamily="34" charset="-128"/>
              </a:rPr>
              <a:t>connection” between client and server:</a:t>
            </a:r>
          </a:p>
          <a:p>
            <a:pPr marL="466725" indent="-292100"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no handshaking before sending data</a:t>
            </a:r>
          </a:p>
          <a:p>
            <a:pPr marL="466725" indent="-292100"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sender explicitly attaches IP destination address and port # to each packet</a:t>
            </a:r>
          </a:p>
          <a:p>
            <a:pPr marL="466725" indent="-292100"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receiver extracts sender IP address and port# from received packet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0E341AE-C6C9-1C45-BF8F-D552077CBC01}"/>
              </a:ext>
            </a:extLst>
          </p:cNvPr>
          <p:cNvSpPr txBox="1">
            <a:spLocks noChangeArrowheads="1"/>
          </p:cNvSpPr>
          <p:nvPr/>
        </p:nvSpPr>
        <p:spPr>
          <a:xfrm>
            <a:off x="680936" y="4553087"/>
            <a:ext cx="10352496" cy="2177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UDP: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transmitted data may be lost or received out-of-order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viewpoint:</a:t>
            </a:r>
          </a:p>
          <a:p>
            <a:pPr marL="466725" marR="0" lvl="0" indent="-2921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10086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UDP provides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unreliable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transfer  of groups of bytes (“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datagrams”)  between client and server processes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537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Client/server socket interaction: UDP</a:t>
            </a:r>
          </a:p>
        </p:txBody>
      </p:sp>
      <p:grpSp>
        <p:nvGrpSpPr>
          <p:cNvPr id="37" name="Group 4">
            <a:extLst>
              <a:ext uri="{FF2B5EF4-FFF2-40B4-BE49-F238E27FC236}">
                <a16:creationId xmlns:a16="http://schemas.microsoft.com/office/drawing/2014/main" id="{7F44DCB0-3AAB-534C-89CD-DB913DF09229}"/>
              </a:ext>
            </a:extLst>
          </p:cNvPr>
          <p:cNvGrpSpPr>
            <a:grpSpLocks/>
          </p:cNvGrpSpPr>
          <p:nvPr/>
        </p:nvGrpSpPr>
        <p:grpSpPr bwMode="auto">
          <a:xfrm>
            <a:off x="7008229" y="4140035"/>
            <a:ext cx="2211387" cy="2200275"/>
            <a:chOff x="3485" y="2494"/>
            <a:chExt cx="1393" cy="1386"/>
          </a:xfrm>
        </p:grpSpPr>
        <p:grpSp>
          <p:nvGrpSpPr>
            <p:cNvPr id="38" name="Group 5">
              <a:extLst>
                <a:ext uri="{FF2B5EF4-FFF2-40B4-BE49-F238E27FC236}">
                  <a16:creationId xmlns:a16="http://schemas.microsoft.com/office/drawing/2014/main" id="{702C97B7-DA60-0149-85AB-47F1FE0F7F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85" y="2964"/>
              <a:ext cx="1393" cy="916"/>
              <a:chOff x="3485" y="2964"/>
              <a:chExt cx="1393" cy="916"/>
            </a:xfrm>
          </p:grpSpPr>
          <p:sp>
            <p:nvSpPr>
              <p:cNvPr id="40" name="Text Box 6">
                <a:extLst>
                  <a:ext uri="{FF2B5EF4-FFF2-40B4-BE49-F238E27FC236}">
                    <a16:creationId xmlns:a16="http://schemas.microsoft.com/office/drawing/2014/main" id="{ACD138B3-6FD3-074F-B4D6-833745FCB1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9" y="3473"/>
                <a:ext cx="900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close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clientSocke</a:t>
                </a: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t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" name="Line 7">
                <a:extLst>
                  <a:ext uri="{FF2B5EF4-FFF2-40B4-BE49-F238E27FC236}">
                    <a16:creationId xmlns:a16="http://schemas.microsoft.com/office/drawing/2014/main" id="{4F1734AF-E8AC-FE4D-A9A8-4AF1B202B4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7" y="3335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" name="Text Box 8">
                <a:extLst>
                  <a:ext uri="{FF2B5EF4-FFF2-40B4-BE49-F238E27FC236}">
                    <a16:creationId xmlns:a16="http://schemas.microsoft.com/office/drawing/2014/main" id="{81054262-2955-D24D-A204-BF36CA6FD4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85" y="2964"/>
                <a:ext cx="139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read datagram from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clientSocket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9" name="Line 9">
              <a:extLst>
                <a:ext uri="{FF2B5EF4-FFF2-40B4-BE49-F238E27FC236}">
                  <a16:creationId xmlns:a16="http://schemas.microsoft.com/office/drawing/2014/main" id="{FC178652-3FBA-1743-A65B-D82CC0E63C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4" y="2494"/>
              <a:ext cx="0" cy="522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5" name="Text Box 14">
            <a:extLst>
              <a:ext uri="{FF2B5EF4-FFF2-40B4-BE49-F238E27FC236}">
                <a16:creationId xmlns:a16="http://schemas.microsoft.com/office/drawing/2014/main" id="{9FDD06E3-D412-AA43-B8B8-10BB6577E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5392" y="1480972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CA67099-9B1F-AF4B-AADB-081B7A2FC10D}"/>
              </a:ext>
            </a:extLst>
          </p:cNvPr>
          <p:cNvGrpSpPr/>
          <p:nvPr/>
        </p:nvGrpSpPr>
        <p:grpSpPr>
          <a:xfrm>
            <a:off x="6878054" y="2115972"/>
            <a:ext cx="4198939" cy="2055813"/>
            <a:chOff x="6878054" y="2115972"/>
            <a:chExt cx="4198939" cy="2055813"/>
          </a:xfrm>
        </p:grpSpPr>
        <p:grpSp>
          <p:nvGrpSpPr>
            <p:cNvPr id="44" name="Group 11">
              <a:extLst>
                <a:ext uri="{FF2B5EF4-FFF2-40B4-BE49-F238E27FC236}">
                  <a16:creationId xmlns:a16="http://schemas.microsoft.com/office/drawing/2014/main" id="{798733F7-216A-784C-9688-7517E2CC98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90754" y="2115972"/>
              <a:ext cx="3635376" cy="971550"/>
              <a:chOff x="3241" y="1750"/>
              <a:chExt cx="2290" cy="612"/>
            </a:xfrm>
          </p:grpSpPr>
          <p:sp>
            <p:nvSpPr>
              <p:cNvPr id="49" name="Text Box 12">
                <a:extLst>
                  <a:ext uri="{FF2B5EF4-FFF2-40B4-BE49-F238E27FC236}">
                    <a16:creationId xmlns:a16="http://schemas.microsoft.com/office/drawing/2014/main" id="{4BB2271A-4FFC-8048-A612-7E12F9F50E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1" y="1750"/>
                <a:ext cx="1021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create socket: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0" name="Text Box 13">
                <a:extLst>
                  <a:ext uri="{FF2B5EF4-FFF2-40B4-BE49-F238E27FC236}">
                    <a16:creationId xmlns:a16="http://schemas.microsoft.com/office/drawing/2014/main" id="{277D84D0-CE11-2846-B401-8AB4D0BF51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1" y="1944"/>
                <a:ext cx="2290" cy="4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ts val="2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clientSocket =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ts val="2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socket(AF_INET,SOCK_DGRAM)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6" name="Text Box 15">
              <a:extLst>
                <a:ext uri="{FF2B5EF4-FFF2-40B4-BE49-F238E27FC236}">
                  <a16:creationId xmlns:a16="http://schemas.microsoft.com/office/drawing/2014/main" id="{97D964F3-BC0D-9344-837B-2B0BF990E4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78054" y="3247860"/>
              <a:ext cx="4198939" cy="923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Create datagram with serverIP address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And port=x; send datagram via</a:t>
              </a:r>
              <a:b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</a:b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clientSocket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" name="Line 16">
              <a:extLst>
                <a:ext uri="{FF2B5EF4-FFF2-40B4-BE49-F238E27FC236}">
                  <a16:creationId xmlns:a16="http://schemas.microsoft.com/office/drawing/2014/main" id="{7EC03F56-353B-7E42-A0A2-334C1287EA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74967" y="3052597"/>
              <a:ext cx="0" cy="32385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8" name="Line 17">
            <a:extLst>
              <a:ext uri="{FF2B5EF4-FFF2-40B4-BE49-F238E27FC236}">
                <a16:creationId xmlns:a16="http://schemas.microsoft.com/office/drawing/2014/main" id="{40634A1C-2FFB-FC4C-80CE-D90FD19221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98391" y="3652672"/>
            <a:ext cx="2409826" cy="4000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1" name="Text Box 18">
            <a:extLst>
              <a:ext uri="{FF2B5EF4-FFF2-40B4-BE49-F238E27FC236}">
                <a16:creationId xmlns:a16="http://schemas.microsoft.com/office/drawing/2014/main" id="{C819A4BA-113E-964D-96AD-ED683094A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8754" y="2335047"/>
            <a:ext cx="24622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create socket, port= x: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2" name="Text Box 19">
            <a:extLst>
              <a:ext uri="{FF2B5EF4-FFF2-40B4-BE49-F238E27FC236}">
                <a16:creationId xmlns:a16="http://schemas.microsoft.com/office/drawing/2014/main" id="{E75AC30B-2B60-9B49-9BC6-1121B1556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1454" y="2630322"/>
            <a:ext cx="3635375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serverSocket =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socket(AF_INET,SOCK_DGRAM)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3" name="Group 20">
            <a:extLst>
              <a:ext uri="{FF2B5EF4-FFF2-40B4-BE49-F238E27FC236}">
                <a16:creationId xmlns:a16="http://schemas.microsoft.com/office/drawing/2014/main" id="{105B53F6-4E11-9B4F-83AD-A12D7B45002E}"/>
              </a:ext>
            </a:extLst>
          </p:cNvPr>
          <p:cNvGrpSpPr>
            <a:grpSpLocks/>
          </p:cNvGrpSpPr>
          <p:nvPr/>
        </p:nvGrpSpPr>
        <p:grpSpPr bwMode="auto">
          <a:xfrm>
            <a:off x="2344154" y="3293897"/>
            <a:ext cx="2211387" cy="1109663"/>
            <a:chOff x="589" y="1982"/>
            <a:chExt cx="1393" cy="699"/>
          </a:xfrm>
        </p:grpSpPr>
        <p:sp>
          <p:nvSpPr>
            <p:cNvPr id="54" name="Line 21">
              <a:extLst>
                <a:ext uri="{FF2B5EF4-FFF2-40B4-BE49-F238E27FC236}">
                  <a16:creationId xmlns:a16="http://schemas.microsoft.com/office/drawing/2014/main" id="{2DB889B3-B55C-E94B-B323-72AECF179D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6" y="1982"/>
              <a:ext cx="0" cy="36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" name="Text Box 22">
              <a:extLst>
                <a:ext uri="{FF2B5EF4-FFF2-40B4-BE49-F238E27FC236}">
                  <a16:creationId xmlns:a16="http://schemas.microsoft.com/office/drawing/2014/main" id="{9FE4B9D3-FE8A-7E4C-8E08-01C28E8102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" y="2274"/>
              <a:ext cx="1393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read datagram from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serverSocke</a:t>
              </a: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6" name="Group 23">
            <a:extLst>
              <a:ext uri="{FF2B5EF4-FFF2-40B4-BE49-F238E27FC236}">
                <a16:creationId xmlns:a16="http://schemas.microsoft.com/office/drawing/2014/main" id="{6729A767-0894-134A-B58D-6CE959F3ABBB}"/>
              </a:ext>
            </a:extLst>
          </p:cNvPr>
          <p:cNvGrpSpPr>
            <a:grpSpLocks/>
          </p:cNvGrpSpPr>
          <p:nvPr/>
        </p:nvGrpSpPr>
        <p:grpSpPr bwMode="auto">
          <a:xfrm>
            <a:off x="2607679" y="4405147"/>
            <a:ext cx="4202112" cy="1698625"/>
            <a:chOff x="755" y="2696"/>
            <a:chExt cx="2647" cy="1070"/>
          </a:xfrm>
        </p:grpSpPr>
        <p:sp>
          <p:nvSpPr>
            <p:cNvPr id="57" name="Text Box 24">
              <a:extLst>
                <a:ext uri="{FF2B5EF4-FFF2-40B4-BE49-F238E27FC236}">
                  <a16:creationId xmlns:a16="http://schemas.microsoft.com/office/drawing/2014/main" id="{45FE834E-F5E7-9341-B57D-B054DC6E28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" y="2835"/>
              <a:ext cx="1062" cy="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write reply to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serverSocket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specifying </a:t>
              </a:r>
              <a:b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</a:b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client address,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port number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8" name="Line 25">
              <a:extLst>
                <a:ext uri="{FF2B5EF4-FFF2-40B4-BE49-F238E27FC236}">
                  <a16:creationId xmlns:a16="http://schemas.microsoft.com/office/drawing/2014/main" id="{77A2D0F4-2C33-7B48-B528-6DAF87636F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8" y="2696"/>
              <a:ext cx="0" cy="198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9" name="Line 26">
              <a:extLst>
                <a:ext uri="{FF2B5EF4-FFF2-40B4-BE49-F238E27FC236}">
                  <a16:creationId xmlns:a16="http://schemas.microsoft.com/office/drawing/2014/main" id="{77CA0ACB-6768-D649-A01B-D103D4E2B5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6" y="2970"/>
              <a:ext cx="1536" cy="18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60" name="Text Box 22">
            <a:extLst>
              <a:ext uri="{FF2B5EF4-FFF2-40B4-BE49-F238E27FC236}">
                <a16:creationId xmlns:a16="http://schemas.microsoft.com/office/drawing/2014/main" id="{BA5A099E-C76D-334B-B273-AED0342E4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6195" y="1465007"/>
            <a:ext cx="328609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(running on serverIP)</a:t>
            </a:r>
          </a:p>
        </p:txBody>
      </p:sp>
      <p:sp>
        <p:nvSpPr>
          <p:cNvPr id="61" name="Text Box 23">
            <a:extLst>
              <a:ext uri="{FF2B5EF4-FFF2-40B4-BE49-F238E27FC236}">
                <a16:creationId xmlns:a16="http://schemas.microsoft.com/office/drawing/2014/main" id="{2C0B647E-1C2C-574A-86D4-A8DBF2427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0313" y="1416392"/>
            <a:ext cx="110100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</a:t>
            </a:r>
          </a:p>
        </p:txBody>
      </p:sp>
      <p:grpSp>
        <p:nvGrpSpPr>
          <p:cNvPr id="64" name="Group 34">
            <a:extLst>
              <a:ext uri="{FF2B5EF4-FFF2-40B4-BE49-F238E27FC236}">
                <a16:creationId xmlns:a16="http://schemas.microsoft.com/office/drawing/2014/main" id="{B18363F5-9DA8-C844-9FF5-8607E23ECAE0}"/>
              </a:ext>
            </a:extLst>
          </p:cNvPr>
          <p:cNvGrpSpPr>
            <a:grpSpLocks/>
          </p:cNvGrpSpPr>
          <p:nvPr/>
        </p:nvGrpSpPr>
        <p:grpSpPr bwMode="auto">
          <a:xfrm>
            <a:off x="1534349" y="1399326"/>
            <a:ext cx="422275" cy="685800"/>
            <a:chOff x="4140" y="429"/>
            <a:chExt cx="1425" cy="2396"/>
          </a:xfrm>
        </p:grpSpPr>
        <p:sp>
          <p:nvSpPr>
            <p:cNvPr id="65" name="Freeform 35">
              <a:extLst>
                <a:ext uri="{FF2B5EF4-FFF2-40B4-BE49-F238E27FC236}">
                  <a16:creationId xmlns:a16="http://schemas.microsoft.com/office/drawing/2014/main" id="{0528A8CB-65E5-964D-B654-85E03FD18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Rectangle 36">
              <a:extLst>
                <a:ext uri="{FF2B5EF4-FFF2-40B4-BE49-F238E27FC236}">
                  <a16:creationId xmlns:a16="http://schemas.microsoft.com/office/drawing/2014/main" id="{6E84855E-322D-B04A-A7A9-4DC033725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0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7" name="Freeform 37">
              <a:extLst>
                <a:ext uri="{FF2B5EF4-FFF2-40B4-BE49-F238E27FC236}">
                  <a16:creationId xmlns:a16="http://schemas.microsoft.com/office/drawing/2014/main" id="{0DE429C7-30A9-C04A-A526-765AC5EAA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Freeform 38">
              <a:extLst>
                <a:ext uri="{FF2B5EF4-FFF2-40B4-BE49-F238E27FC236}">
                  <a16:creationId xmlns:a16="http://schemas.microsoft.com/office/drawing/2014/main" id="{DF53DCF7-7CCE-A14D-89D6-6AAAE8C14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Rectangle 39">
              <a:extLst>
                <a:ext uri="{FF2B5EF4-FFF2-40B4-BE49-F238E27FC236}">
                  <a16:creationId xmlns:a16="http://schemas.microsoft.com/office/drawing/2014/main" id="{FCF7FE3C-7CB1-1949-80FD-5DEB7C2DF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5"/>
              <a:ext cx="600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0" name="Group 40">
              <a:extLst>
                <a:ext uri="{FF2B5EF4-FFF2-40B4-BE49-F238E27FC236}">
                  <a16:creationId xmlns:a16="http://schemas.microsoft.com/office/drawing/2014/main" id="{9EA93011-9988-1C46-8FFD-C704F4A48C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5" name="AutoShape 41">
                <a:extLst>
                  <a:ext uri="{FF2B5EF4-FFF2-40B4-BE49-F238E27FC236}">
                    <a16:creationId xmlns:a16="http://schemas.microsoft.com/office/drawing/2014/main" id="{79ABB3C1-EE56-6F45-9499-45BC801291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6" name="AutoShape 42">
                <a:extLst>
                  <a:ext uri="{FF2B5EF4-FFF2-40B4-BE49-F238E27FC236}">
                    <a16:creationId xmlns:a16="http://schemas.microsoft.com/office/drawing/2014/main" id="{3CE416CE-22C1-B44C-A8BC-DD8D49FA1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1" name="Rectangle 43">
              <a:extLst>
                <a:ext uri="{FF2B5EF4-FFF2-40B4-BE49-F238E27FC236}">
                  <a16:creationId xmlns:a16="http://schemas.microsoft.com/office/drawing/2014/main" id="{E9AF4519-635B-C444-AD0B-889732CA4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17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2" name="Group 44">
              <a:extLst>
                <a:ext uri="{FF2B5EF4-FFF2-40B4-BE49-F238E27FC236}">
                  <a16:creationId xmlns:a16="http://schemas.microsoft.com/office/drawing/2014/main" id="{AE3F7048-2B7F-8146-8234-207ED13E90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3" name="AutoShape 45">
                <a:extLst>
                  <a:ext uri="{FF2B5EF4-FFF2-40B4-BE49-F238E27FC236}">
                    <a16:creationId xmlns:a16="http://schemas.microsoft.com/office/drawing/2014/main" id="{53908CFC-D723-4742-8456-2D30C66E35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4" name="AutoShape 46">
                <a:extLst>
                  <a:ext uri="{FF2B5EF4-FFF2-40B4-BE49-F238E27FC236}">
                    <a16:creationId xmlns:a16="http://schemas.microsoft.com/office/drawing/2014/main" id="{3A7947BE-FF10-9D41-9767-56A9F87FC3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3" name="Rectangle 47">
              <a:extLst>
                <a:ext uri="{FF2B5EF4-FFF2-40B4-BE49-F238E27FC236}">
                  <a16:creationId xmlns:a16="http://schemas.microsoft.com/office/drawing/2014/main" id="{A116F8BE-CE6D-0046-BBDF-ED91EC563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Rectangle 48">
              <a:extLst>
                <a:ext uri="{FF2B5EF4-FFF2-40B4-BE49-F238E27FC236}">
                  <a16:creationId xmlns:a16="http://schemas.microsoft.com/office/drawing/2014/main" id="{EDDDAA43-84E9-5649-B997-CD32383C8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5" name="Group 49">
              <a:extLst>
                <a:ext uri="{FF2B5EF4-FFF2-40B4-BE49-F238E27FC236}">
                  <a16:creationId xmlns:a16="http://schemas.microsoft.com/office/drawing/2014/main" id="{ED22CCB4-0F75-C14E-8FF6-F0FB9D3FC9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1" name="AutoShape 50">
                <a:extLst>
                  <a:ext uri="{FF2B5EF4-FFF2-40B4-BE49-F238E27FC236}">
                    <a16:creationId xmlns:a16="http://schemas.microsoft.com/office/drawing/2014/main" id="{23A963E3-E563-8243-8CD5-AD41B731D0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2" name="AutoShape 51">
                <a:extLst>
                  <a:ext uri="{FF2B5EF4-FFF2-40B4-BE49-F238E27FC236}">
                    <a16:creationId xmlns:a16="http://schemas.microsoft.com/office/drawing/2014/main" id="{3CDFE710-0763-8B45-AFC8-16BE12CABF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6" name="Freeform 52">
              <a:extLst>
                <a:ext uri="{FF2B5EF4-FFF2-40B4-BE49-F238E27FC236}">
                  <a16:creationId xmlns:a16="http://schemas.microsoft.com/office/drawing/2014/main" id="{DFF03B02-CD58-954F-8277-362C27F82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7" name="Group 53">
              <a:extLst>
                <a:ext uri="{FF2B5EF4-FFF2-40B4-BE49-F238E27FC236}">
                  <a16:creationId xmlns:a16="http://schemas.microsoft.com/office/drawing/2014/main" id="{3E689C5E-F98B-8049-943E-5C1ACD1083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9" name="AutoShape 54">
                <a:extLst>
                  <a:ext uri="{FF2B5EF4-FFF2-40B4-BE49-F238E27FC236}">
                    <a16:creationId xmlns:a16="http://schemas.microsoft.com/office/drawing/2014/main" id="{6761E2B1-103D-4445-A2AE-88446D262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0" name="AutoShape 55">
                <a:extLst>
                  <a:ext uri="{FF2B5EF4-FFF2-40B4-BE49-F238E27FC236}">
                    <a16:creationId xmlns:a16="http://schemas.microsoft.com/office/drawing/2014/main" id="{EAB91C60-8F54-7C41-988D-5BE6CF0595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8" name="Rectangle 56">
              <a:extLst>
                <a:ext uri="{FF2B5EF4-FFF2-40B4-BE49-F238E27FC236}">
                  <a16:creationId xmlns:a16="http://schemas.microsoft.com/office/drawing/2014/main" id="{87AAEB8B-15DB-FF40-9AE1-E4AF827B8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70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Freeform 57">
              <a:extLst>
                <a:ext uri="{FF2B5EF4-FFF2-40B4-BE49-F238E27FC236}">
                  <a16:creationId xmlns:a16="http://schemas.microsoft.com/office/drawing/2014/main" id="{CC9C0288-5815-DA49-8C3D-91F3048A6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58">
              <a:extLst>
                <a:ext uri="{FF2B5EF4-FFF2-40B4-BE49-F238E27FC236}">
                  <a16:creationId xmlns:a16="http://schemas.microsoft.com/office/drawing/2014/main" id="{298D6A78-AAD4-6C42-8184-6B5B0ADD7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Oval 59">
              <a:extLst>
                <a:ext uri="{FF2B5EF4-FFF2-40B4-BE49-F238E27FC236}">
                  <a16:creationId xmlns:a16="http://schemas.microsoft.com/office/drawing/2014/main" id="{2C2ADEA9-27C8-8047-B295-9313B8ABB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2" name="Freeform 60">
              <a:extLst>
                <a:ext uri="{FF2B5EF4-FFF2-40B4-BE49-F238E27FC236}">
                  <a16:creationId xmlns:a16="http://schemas.microsoft.com/office/drawing/2014/main" id="{9CAEC79C-34C3-884C-93EA-251A84F70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AutoShape 61">
              <a:extLst>
                <a:ext uri="{FF2B5EF4-FFF2-40B4-BE49-F238E27FC236}">
                  <a16:creationId xmlns:a16="http://schemas.microsoft.com/office/drawing/2014/main" id="{36B22FB8-29CC-B041-B349-ADB1A1CF0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AutoShape 62">
              <a:extLst>
                <a:ext uri="{FF2B5EF4-FFF2-40B4-BE49-F238E27FC236}">
                  <a16:creationId xmlns:a16="http://schemas.microsoft.com/office/drawing/2014/main" id="{A568E896-D157-6749-8B5C-38036DCDA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9"/>
              <a:ext cx="1071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Oval 63">
              <a:extLst>
                <a:ext uri="{FF2B5EF4-FFF2-40B4-BE49-F238E27FC236}">
                  <a16:creationId xmlns:a16="http://schemas.microsoft.com/office/drawing/2014/main" id="{76E67DE4-8580-984E-96DB-32AA41DD1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Oval 64">
              <a:extLst>
                <a:ext uri="{FF2B5EF4-FFF2-40B4-BE49-F238E27FC236}">
                  <a16:creationId xmlns:a16="http://schemas.microsoft.com/office/drawing/2014/main" id="{B85D964A-BC7F-0243-8B3C-55498AEBC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87" name="Oval 65">
              <a:extLst>
                <a:ext uri="{FF2B5EF4-FFF2-40B4-BE49-F238E27FC236}">
                  <a16:creationId xmlns:a16="http://schemas.microsoft.com/office/drawing/2014/main" id="{1023622E-7290-DB4F-BDFC-4AE5806C35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8" name="Rectangle 66">
              <a:extLst>
                <a:ext uri="{FF2B5EF4-FFF2-40B4-BE49-F238E27FC236}">
                  <a16:creationId xmlns:a16="http://schemas.microsoft.com/office/drawing/2014/main" id="{C404F913-10F9-264F-B4B2-2C47E82E0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7" name="Group 67">
            <a:extLst>
              <a:ext uri="{FF2B5EF4-FFF2-40B4-BE49-F238E27FC236}">
                <a16:creationId xmlns:a16="http://schemas.microsoft.com/office/drawing/2014/main" id="{CED85610-CD29-5E4F-BB21-F275B7666450}"/>
              </a:ext>
            </a:extLst>
          </p:cNvPr>
          <p:cNvGrpSpPr>
            <a:grpSpLocks/>
          </p:cNvGrpSpPr>
          <p:nvPr/>
        </p:nvGrpSpPr>
        <p:grpSpPr bwMode="auto">
          <a:xfrm>
            <a:off x="7841666" y="1346443"/>
            <a:ext cx="742950" cy="742950"/>
            <a:chOff x="-44" y="1473"/>
            <a:chExt cx="981" cy="1105"/>
          </a:xfrm>
        </p:grpSpPr>
        <p:pic>
          <p:nvPicPr>
            <p:cNvPr id="98" name="Picture 68" descr="desktop_computer_stylized_medium">
              <a:extLst>
                <a:ext uri="{FF2B5EF4-FFF2-40B4-BE49-F238E27FC236}">
                  <a16:creationId xmlns:a16="http://schemas.microsoft.com/office/drawing/2014/main" id="{1830ACA4-0FBE-1142-BE23-D05178A5FE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9" name="Freeform 69">
              <a:extLst>
                <a:ext uri="{FF2B5EF4-FFF2-40B4-BE49-F238E27FC236}">
                  <a16:creationId xmlns:a16="http://schemas.microsoft.com/office/drawing/2014/main" id="{E76D0C82-A009-EE46-B2AF-9D042C9D0FC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4329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Example app: UDP client</a:t>
            </a:r>
            <a:endParaRPr lang="en-US" altLang="en-US" sz="5400" dirty="0">
              <a:solidFill>
                <a:srgbClr val="000099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0" name="TextBox 1">
            <a:extLst>
              <a:ext uri="{FF2B5EF4-FFF2-40B4-BE49-F238E27FC236}">
                <a16:creationId xmlns:a16="http://schemas.microsoft.com/office/drawing/2014/main" id="{536333E5-2CE2-9346-82C1-DACAC2946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4044" y="1906313"/>
            <a:ext cx="5889754" cy="4267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from socket import *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serverName = 'hostname'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serverPort = 12000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 = socket(AF_INET, 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                              SOCK_DGRAM)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message = input('Input lowercase sentence:')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clientSocket.sendto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(message.encode(),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                                 (serverName, serverPort))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modifiedMessage, serverAddress = 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                              clientSocket.recvfrom(2048)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print(modifiedMessage.decode())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clientSocket.close()</a:t>
            </a:r>
          </a:p>
        </p:txBody>
      </p:sp>
      <p:sp>
        <p:nvSpPr>
          <p:cNvPr id="101" name="TextBox 2">
            <a:extLst>
              <a:ext uri="{FF2B5EF4-FFF2-40B4-BE49-F238E27FC236}">
                <a16:creationId xmlns:a16="http://schemas.microsoft.com/office/drawing/2014/main" id="{71D41B91-E8C8-6145-A56E-4FC2D52EA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6744" y="1423713"/>
            <a:ext cx="27416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Python UDPClient</a:t>
            </a:r>
          </a:p>
        </p:txBody>
      </p:sp>
      <p:grpSp>
        <p:nvGrpSpPr>
          <p:cNvPr id="102" name="Group 46">
            <a:extLst>
              <a:ext uri="{FF2B5EF4-FFF2-40B4-BE49-F238E27FC236}">
                <a16:creationId xmlns:a16="http://schemas.microsoft.com/office/drawing/2014/main" id="{F406A622-9128-8442-A93C-56AFB56A7A29}"/>
              </a:ext>
            </a:extLst>
          </p:cNvPr>
          <p:cNvGrpSpPr>
            <a:grpSpLocks/>
          </p:cNvGrpSpPr>
          <p:nvPr/>
        </p:nvGrpSpPr>
        <p:grpSpPr bwMode="auto">
          <a:xfrm>
            <a:off x="2456662" y="1963666"/>
            <a:ext cx="3023734" cy="297517"/>
            <a:chOff x="-242132" y="1766968"/>
            <a:chExt cx="3023579" cy="298280"/>
          </a:xfrm>
        </p:grpSpPr>
        <p:sp>
          <p:nvSpPr>
            <p:cNvPr id="103" name="TextBox 3">
              <a:extLst>
                <a:ext uri="{FF2B5EF4-FFF2-40B4-BE49-F238E27FC236}">
                  <a16:creationId xmlns:a16="http://schemas.microsoft.com/office/drawing/2014/main" id="{12DA0434-01DE-E046-B7D5-1EDBB8B2D0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42132" y="1766968"/>
              <a:ext cx="3023579" cy="298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include Python’s socket library</a:t>
              </a:r>
            </a:p>
          </p:txBody>
        </p:sp>
        <p:cxnSp>
          <p:nvCxnSpPr>
            <p:cNvPr id="104" name="Straight Connector 10">
              <a:extLst>
                <a:ext uri="{FF2B5EF4-FFF2-40B4-BE49-F238E27FC236}">
                  <a16:creationId xmlns:a16="http://schemas.microsoft.com/office/drawing/2014/main" id="{3C3F6D39-A2A8-4349-A503-867255F17A1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09371" y="1930400"/>
              <a:ext cx="370329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5" name="Group 47">
            <a:extLst>
              <a:ext uri="{FF2B5EF4-FFF2-40B4-BE49-F238E27FC236}">
                <a16:creationId xmlns:a16="http://schemas.microsoft.com/office/drawing/2014/main" id="{0A55EB29-DB79-7645-BE78-7EACF4B9A12B}"/>
              </a:ext>
            </a:extLst>
          </p:cNvPr>
          <p:cNvGrpSpPr>
            <a:grpSpLocks/>
          </p:cNvGrpSpPr>
          <p:nvPr/>
        </p:nvGrpSpPr>
        <p:grpSpPr bwMode="auto">
          <a:xfrm>
            <a:off x="3344907" y="2997131"/>
            <a:ext cx="2943680" cy="307777"/>
            <a:chOff x="1211823" y="2904386"/>
            <a:chExt cx="2271818" cy="307392"/>
          </a:xfrm>
        </p:grpSpPr>
        <p:sp>
          <p:nvSpPr>
            <p:cNvPr id="106" name="TextBox 31">
              <a:extLst>
                <a:ext uri="{FF2B5EF4-FFF2-40B4-BE49-F238E27FC236}">
                  <a16:creationId xmlns:a16="http://schemas.microsoft.com/office/drawing/2014/main" id="{75D75C6C-85BB-3C40-92D3-8502CEABFB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1823" y="2904386"/>
              <a:ext cx="2271818" cy="307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create UDP socket</a:t>
              </a:r>
            </a:p>
          </p:txBody>
        </p:sp>
        <p:cxnSp>
          <p:nvCxnSpPr>
            <p:cNvPr id="107" name="Straight Connector 32">
              <a:extLst>
                <a:ext uri="{FF2B5EF4-FFF2-40B4-BE49-F238E27FC236}">
                  <a16:creationId xmlns:a16="http://schemas.microsoft.com/office/drawing/2014/main" id="{DCDED167-6BDC-964B-B56B-76A2BB37206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88965" y="3080272"/>
              <a:ext cx="288707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8" name="Group 48">
            <a:extLst>
              <a:ext uri="{FF2B5EF4-FFF2-40B4-BE49-F238E27FC236}">
                <a16:creationId xmlns:a16="http://schemas.microsoft.com/office/drawing/2014/main" id="{25E66BBE-B082-AC48-AE42-0CA9F6FF4A7B}"/>
              </a:ext>
            </a:extLst>
          </p:cNvPr>
          <p:cNvGrpSpPr>
            <a:grpSpLocks/>
          </p:cNvGrpSpPr>
          <p:nvPr/>
        </p:nvGrpSpPr>
        <p:grpSpPr bwMode="auto">
          <a:xfrm>
            <a:off x="2988803" y="3664103"/>
            <a:ext cx="2943680" cy="297517"/>
            <a:chOff x="320502" y="3822598"/>
            <a:chExt cx="2944213" cy="297415"/>
          </a:xfrm>
        </p:grpSpPr>
        <p:sp>
          <p:nvSpPr>
            <p:cNvPr id="109" name="TextBox 34">
              <a:extLst>
                <a:ext uri="{FF2B5EF4-FFF2-40B4-BE49-F238E27FC236}">
                  <a16:creationId xmlns:a16="http://schemas.microsoft.com/office/drawing/2014/main" id="{CD0C6081-C6B7-2641-80D1-E2DED8EB5B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502" y="3822598"/>
              <a:ext cx="2944213" cy="297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get user keyboard input </a:t>
              </a:r>
            </a:p>
          </p:txBody>
        </p:sp>
        <p:cxnSp>
          <p:nvCxnSpPr>
            <p:cNvPr id="110" name="Straight Connector 35">
              <a:extLst>
                <a:ext uri="{FF2B5EF4-FFF2-40B4-BE49-F238E27FC236}">
                  <a16:creationId xmlns:a16="http://schemas.microsoft.com/office/drawing/2014/main" id="{A49CAC45-33DD-284A-9C51-3E8086DB4A3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40360" y="3968752"/>
              <a:ext cx="381069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1" name="Group 49">
            <a:extLst>
              <a:ext uri="{FF2B5EF4-FFF2-40B4-BE49-F238E27FC236}">
                <a16:creationId xmlns:a16="http://schemas.microsoft.com/office/drawing/2014/main" id="{48C468B7-1DC1-CB4A-8733-4EA18F6E3330}"/>
              </a:ext>
            </a:extLst>
          </p:cNvPr>
          <p:cNvGrpSpPr>
            <a:grpSpLocks/>
          </p:cNvGrpSpPr>
          <p:nvPr/>
        </p:nvGrpSpPr>
        <p:grpSpPr bwMode="auto">
          <a:xfrm>
            <a:off x="589926" y="4010877"/>
            <a:ext cx="4778572" cy="307777"/>
            <a:chOff x="-2057015" y="4094341"/>
            <a:chExt cx="4779099" cy="307008"/>
          </a:xfrm>
        </p:grpSpPr>
        <p:sp>
          <p:nvSpPr>
            <p:cNvPr id="112" name="TextBox 36">
              <a:extLst>
                <a:ext uri="{FF2B5EF4-FFF2-40B4-BE49-F238E27FC236}">
                  <a16:creationId xmlns:a16="http://schemas.microsoft.com/office/drawing/2014/main" id="{829D5E68-A72B-B34D-8934-6A58024541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057015" y="4094341"/>
              <a:ext cx="4723287" cy="307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attach server name, port to message; send into socket</a:t>
              </a:r>
            </a:p>
          </p:txBody>
        </p:sp>
        <p:cxnSp>
          <p:nvCxnSpPr>
            <p:cNvPr id="113" name="Straight Connector 39">
              <a:extLst>
                <a:ext uri="{FF2B5EF4-FFF2-40B4-BE49-F238E27FC236}">
                  <a16:creationId xmlns:a16="http://schemas.microsoft.com/office/drawing/2014/main" id="{B03E6B6D-23CC-9947-A802-0FCAD6FEFC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360668" y="4261938"/>
              <a:ext cx="361416" cy="557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4" name="Group 55">
            <a:extLst>
              <a:ext uri="{FF2B5EF4-FFF2-40B4-BE49-F238E27FC236}">
                <a16:creationId xmlns:a16="http://schemas.microsoft.com/office/drawing/2014/main" id="{D3297448-7869-B14A-9507-C168A822334C}"/>
              </a:ext>
            </a:extLst>
          </p:cNvPr>
          <p:cNvGrpSpPr>
            <a:grpSpLocks/>
          </p:cNvGrpSpPr>
          <p:nvPr/>
        </p:nvGrpSpPr>
        <p:grpSpPr bwMode="auto">
          <a:xfrm>
            <a:off x="1645918" y="5411634"/>
            <a:ext cx="3787622" cy="307776"/>
            <a:chOff x="-1061954" y="5487008"/>
            <a:chExt cx="3788048" cy="307391"/>
          </a:xfrm>
        </p:grpSpPr>
        <p:sp>
          <p:nvSpPr>
            <p:cNvPr id="115" name="TextBox 61">
              <a:extLst>
                <a:ext uri="{FF2B5EF4-FFF2-40B4-BE49-F238E27FC236}">
                  <a16:creationId xmlns:a16="http://schemas.microsoft.com/office/drawing/2014/main" id="{F3DDBD5F-F332-4149-B743-63C7CFA3F0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061954" y="5487008"/>
              <a:ext cx="3684841" cy="3073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print out received string and close socket</a:t>
              </a:r>
            </a:p>
          </p:txBody>
        </p:sp>
        <p:cxnSp>
          <p:nvCxnSpPr>
            <p:cNvPr id="116" name="Straight Connector 62">
              <a:extLst>
                <a:ext uri="{FF2B5EF4-FFF2-40B4-BE49-F238E27FC236}">
                  <a16:creationId xmlns:a16="http://schemas.microsoft.com/office/drawing/2014/main" id="{0E7498AA-C1D3-274D-B0D2-D6ED3F088FD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09661" y="5657831"/>
              <a:ext cx="416433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7" name="Group 54">
            <a:extLst>
              <a:ext uri="{FF2B5EF4-FFF2-40B4-BE49-F238E27FC236}">
                <a16:creationId xmlns:a16="http://schemas.microsoft.com/office/drawing/2014/main" id="{7E74A29F-5607-FC4D-9A4A-9324DFA726A6}"/>
              </a:ext>
            </a:extLst>
          </p:cNvPr>
          <p:cNvGrpSpPr>
            <a:grpSpLocks/>
          </p:cNvGrpSpPr>
          <p:nvPr/>
        </p:nvGrpSpPr>
        <p:grpSpPr bwMode="auto">
          <a:xfrm>
            <a:off x="2137532" y="4571815"/>
            <a:ext cx="4091095" cy="440025"/>
            <a:chOff x="-493741" y="4530536"/>
            <a:chExt cx="4090757" cy="440321"/>
          </a:xfrm>
        </p:grpSpPr>
        <p:sp>
          <p:nvSpPr>
            <p:cNvPr id="118" name="TextBox 56">
              <a:extLst>
                <a:ext uri="{FF2B5EF4-FFF2-40B4-BE49-F238E27FC236}">
                  <a16:creationId xmlns:a16="http://schemas.microsoft.com/office/drawing/2014/main" id="{4535E505-0C85-C345-9726-A22F78213A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93741" y="4662874"/>
              <a:ext cx="4090757" cy="307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read reply data (bytes) from socket</a:t>
              </a:r>
            </a:p>
          </p:txBody>
        </p:sp>
        <p:cxnSp>
          <p:nvCxnSpPr>
            <p:cNvPr id="119" name="Straight Connector 59">
              <a:extLst>
                <a:ext uri="{FF2B5EF4-FFF2-40B4-BE49-F238E27FC236}">
                  <a16:creationId xmlns:a16="http://schemas.microsoft.com/office/drawing/2014/main" id="{DD1F2FDB-E293-DF42-9B53-AA2F24A605E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415586" y="4830837"/>
              <a:ext cx="327418" cy="416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0" name="TextBox 53">
              <a:extLst>
                <a:ext uri="{FF2B5EF4-FFF2-40B4-BE49-F238E27FC236}">
                  <a16:creationId xmlns:a16="http://schemas.microsoft.com/office/drawing/2014/main" id="{97123429-EC80-5746-ADCF-168DB6F1FD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57119" y="4530536"/>
              <a:ext cx="18466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8146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Example app: UDP server</a:t>
            </a:r>
            <a:endParaRPr lang="en-US" altLang="en-US" sz="5400" dirty="0">
              <a:solidFill>
                <a:srgbClr val="000099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1" name="TextBox 2">
            <a:extLst>
              <a:ext uri="{FF2B5EF4-FFF2-40B4-BE49-F238E27FC236}">
                <a16:creationId xmlns:a16="http://schemas.microsoft.com/office/drawing/2014/main" id="{71D41B91-E8C8-6145-A56E-4FC2D52EA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6744" y="1423713"/>
            <a:ext cx="27863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Python UDPServer</a:t>
            </a:r>
          </a:p>
        </p:txBody>
      </p:sp>
      <p:sp>
        <p:nvSpPr>
          <p:cNvPr id="25" name="TextBox 1">
            <a:extLst>
              <a:ext uri="{FF2B5EF4-FFF2-40B4-BE49-F238E27FC236}">
                <a16:creationId xmlns:a16="http://schemas.microsoft.com/office/drawing/2014/main" id="{69C030C5-F3D0-9E44-ABCB-6457753A9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6744" y="1962946"/>
            <a:ext cx="6128601" cy="3453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from socket import *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serverPort = 12000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serverSocket = socket(AF_INET, SOCK_DGRAM)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serverSocket.bind((</a:t>
            </a:r>
            <a:r>
              <a:rPr kumimoji="0" lang="fr-F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''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, serverPort))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print('</a:t>
            </a:r>
            <a:r>
              <a:rPr kumimoji="0" lang="en-US" altLang="ja-JP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The server is ready to receive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')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while True: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message, clientAddress = serverSocket.recvfrom(2048)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modifiedMessage = message.decode().upper()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serverSocket.sendto(modifiedMessage.encode(),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                                 clientAddress)</a:t>
            </a:r>
          </a:p>
        </p:txBody>
      </p:sp>
      <p:grpSp>
        <p:nvGrpSpPr>
          <p:cNvPr id="26" name="Group 13">
            <a:extLst>
              <a:ext uri="{FF2B5EF4-FFF2-40B4-BE49-F238E27FC236}">
                <a16:creationId xmlns:a16="http://schemas.microsoft.com/office/drawing/2014/main" id="{E6794E5D-F097-A04E-9B91-603D87E112BE}"/>
              </a:ext>
            </a:extLst>
          </p:cNvPr>
          <p:cNvGrpSpPr>
            <a:grpSpLocks/>
          </p:cNvGrpSpPr>
          <p:nvPr/>
        </p:nvGrpSpPr>
        <p:grpSpPr bwMode="auto">
          <a:xfrm>
            <a:off x="3352917" y="2744875"/>
            <a:ext cx="2558753" cy="307975"/>
            <a:chOff x="732830" y="2581901"/>
            <a:chExt cx="2559082" cy="307777"/>
          </a:xfrm>
        </p:grpSpPr>
        <p:sp>
          <p:nvSpPr>
            <p:cNvPr id="27" name="TextBox 31">
              <a:extLst>
                <a:ext uri="{FF2B5EF4-FFF2-40B4-BE49-F238E27FC236}">
                  <a16:creationId xmlns:a16="http://schemas.microsoft.com/office/drawing/2014/main" id="{529ABA9E-2387-AB44-B717-09C05F742B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2830" y="2581901"/>
              <a:ext cx="255908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create UDP socket</a:t>
              </a:r>
            </a:p>
          </p:txBody>
        </p:sp>
        <p:cxnSp>
          <p:nvCxnSpPr>
            <p:cNvPr id="28" name="Straight Connector 32">
              <a:extLst>
                <a:ext uri="{FF2B5EF4-FFF2-40B4-BE49-F238E27FC236}">
                  <a16:creationId xmlns:a16="http://schemas.microsoft.com/office/drawing/2014/main" id="{103D9E9D-7411-A240-B0CE-7B858CF05BF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94178" y="2749550"/>
              <a:ext cx="358094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9" name="Group 14">
            <a:extLst>
              <a:ext uri="{FF2B5EF4-FFF2-40B4-BE49-F238E27FC236}">
                <a16:creationId xmlns:a16="http://schemas.microsoft.com/office/drawing/2014/main" id="{F985C9C4-F94B-CC47-9BE8-1892C6168FD0}"/>
              </a:ext>
            </a:extLst>
          </p:cNvPr>
          <p:cNvGrpSpPr>
            <a:grpSpLocks/>
          </p:cNvGrpSpPr>
          <p:nvPr/>
        </p:nvGrpSpPr>
        <p:grpSpPr bwMode="auto">
          <a:xfrm>
            <a:off x="1773888" y="3108924"/>
            <a:ext cx="3605785" cy="307777"/>
            <a:chOff x="-896820" y="3018353"/>
            <a:chExt cx="3607385" cy="307392"/>
          </a:xfrm>
        </p:grpSpPr>
        <p:sp>
          <p:nvSpPr>
            <p:cNvPr id="30" name="TextBox 26">
              <a:extLst>
                <a:ext uri="{FF2B5EF4-FFF2-40B4-BE49-F238E27FC236}">
                  <a16:creationId xmlns:a16="http://schemas.microsoft.com/office/drawing/2014/main" id="{8032DBCE-C286-BB46-BD1F-9805EEA319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96820" y="3018353"/>
              <a:ext cx="3607385" cy="307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bind socket to local port number 12000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B47DB91-CB9C-004F-8F0B-B960A536FB1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75948" y="3171825"/>
              <a:ext cx="334255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2" name="Group 15">
            <a:extLst>
              <a:ext uri="{FF2B5EF4-FFF2-40B4-BE49-F238E27FC236}">
                <a16:creationId xmlns:a16="http://schemas.microsoft.com/office/drawing/2014/main" id="{D747856B-2F4C-494D-8DDA-72B42F0090C3}"/>
              </a:ext>
            </a:extLst>
          </p:cNvPr>
          <p:cNvGrpSpPr>
            <a:grpSpLocks/>
          </p:cNvGrpSpPr>
          <p:nvPr/>
        </p:nvGrpSpPr>
        <p:grpSpPr bwMode="auto">
          <a:xfrm>
            <a:off x="3884090" y="3825856"/>
            <a:ext cx="1488056" cy="298450"/>
            <a:chOff x="1222134" y="3803733"/>
            <a:chExt cx="1488522" cy="299227"/>
          </a:xfrm>
        </p:grpSpPr>
        <p:sp>
          <p:nvSpPr>
            <p:cNvPr id="33" name="TextBox 34">
              <a:extLst>
                <a:ext uri="{FF2B5EF4-FFF2-40B4-BE49-F238E27FC236}">
                  <a16:creationId xmlns:a16="http://schemas.microsoft.com/office/drawing/2014/main" id="{B9333DFF-5997-FD45-82AB-CE3AE4734E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2134" y="3803733"/>
              <a:ext cx="1194763" cy="299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loop forever</a:t>
              </a:r>
            </a:p>
          </p:txBody>
        </p:sp>
        <p:cxnSp>
          <p:nvCxnSpPr>
            <p:cNvPr id="34" name="Straight Connector 35">
              <a:extLst>
                <a:ext uri="{FF2B5EF4-FFF2-40B4-BE49-F238E27FC236}">
                  <a16:creationId xmlns:a16="http://schemas.microsoft.com/office/drawing/2014/main" id="{C5C98F9A-B437-0647-8271-AFD3AB07BC4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67604" y="3964781"/>
              <a:ext cx="343052" cy="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5" name="Group 17">
            <a:extLst>
              <a:ext uri="{FF2B5EF4-FFF2-40B4-BE49-F238E27FC236}">
                <a16:creationId xmlns:a16="http://schemas.microsoft.com/office/drawing/2014/main" id="{D0BDCF5E-DA2B-5844-BD1C-AC1F96949F3B}"/>
              </a:ext>
            </a:extLst>
          </p:cNvPr>
          <p:cNvGrpSpPr>
            <a:grpSpLocks/>
          </p:cNvGrpSpPr>
          <p:nvPr/>
        </p:nvGrpSpPr>
        <p:grpSpPr bwMode="auto">
          <a:xfrm>
            <a:off x="1304089" y="4147117"/>
            <a:ext cx="4068011" cy="502702"/>
            <a:chOff x="-1394433" y="3835897"/>
            <a:chExt cx="4067973" cy="502591"/>
          </a:xfrm>
        </p:grpSpPr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156E8BB3-6722-944E-9388-9EAA07C523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394433" y="3835897"/>
              <a:ext cx="3841634" cy="5025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Read from UDP socket into message, getting client’s address (client IP and port)</a:t>
              </a:r>
            </a:p>
          </p:txBody>
        </p:sp>
        <p:cxnSp>
          <p:nvCxnSpPr>
            <p:cNvPr id="37" name="Straight Connector 39">
              <a:extLst>
                <a:ext uri="{FF2B5EF4-FFF2-40B4-BE49-F238E27FC236}">
                  <a16:creationId xmlns:a16="http://schemas.microsoft.com/office/drawing/2014/main" id="{BAFF573C-9254-4D42-BF1F-B58175A5C60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30643" y="3987004"/>
              <a:ext cx="342897" cy="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8" name="Group 18">
            <a:extLst>
              <a:ext uri="{FF2B5EF4-FFF2-40B4-BE49-F238E27FC236}">
                <a16:creationId xmlns:a16="http://schemas.microsoft.com/office/drawing/2014/main" id="{49C1836C-5DBA-F94B-B925-ABC592A1A1AD}"/>
              </a:ext>
            </a:extLst>
          </p:cNvPr>
          <p:cNvGrpSpPr>
            <a:grpSpLocks/>
          </p:cNvGrpSpPr>
          <p:nvPr/>
        </p:nvGrpSpPr>
        <p:grpSpPr bwMode="auto">
          <a:xfrm>
            <a:off x="1619318" y="4783930"/>
            <a:ext cx="3841670" cy="307777"/>
            <a:chOff x="-1179917" y="4521468"/>
            <a:chExt cx="3842964" cy="307392"/>
          </a:xfrm>
        </p:grpSpPr>
        <p:sp>
          <p:nvSpPr>
            <p:cNvPr id="39" name="TextBox 61">
              <a:extLst>
                <a:ext uri="{FF2B5EF4-FFF2-40B4-BE49-F238E27FC236}">
                  <a16:creationId xmlns:a16="http://schemas.microsoft.com/office/drawing/2014/main" id="{19797EBA-27BC-C641-806F-7436C22CF6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179917" y="4521468"/>
              <a:ext cx="3842964" cy="307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send upper case string back to this client</a:t>
              </a:r>
            </a:p>
          </p:txBody>
        </p:sp>
        <p:cxnSp>
          <p:nvCxnSpPr>
            <p:cNvPr id="40" name="Straight Connector 62">
              <a:extLst>
                <a:ext uri="{FF2B5EF4-FFF2-40B4-BE49-F238E27FC236}">
                  <a16:creationId xmlns:a16="http://schemas.microsoft.com/office/drawing/2014/main" id="{D86F62BC-7674-424E-BFC8-DE9ED1B6052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17617" y="4675165"/>
              <a:ext cx="356512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151734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Socket programming </a:t>
            </a:r>
            <a:r>
              <a:rPr lang="en-US" altLang="en-US" sz="4400" dirty="0">
                <a:solidFill>
                  <a:srgbClr val="C00000"/>
                </a:solidFill>
                <a:ea typeface="ＭＳ Ｐゴシック" panose="020B0600070205080204" pitchFamily="34" charset="-128"/>
                <a:cs typeface="+mn-cs"/>
              </a:rPr>
              <a:t>with TCP</a:t>
            </a:r>
            <a:endParaRPr lang="en-US" altLang="en-US" sz="5400" dirty="0">
              <a:solidFill>
                <a:srgbClr val="C00000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3" name="Rectangle 3">
            <a:extLst>
              <a:ext uri="{FF2B5EF4-FFF2-40B4-BE49-F238E27FC236}">
                <a16:creationId xmlns:a16="http://schemas.microsoft.com/office/drawing/2014/main" id="{6F8F00D4-4B13-DD4C-9070-F4C3E1AA319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61829" y="1455785"/>
            <a:ext cx="5074444" cy="5090539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None/>
            </a:pP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Client must contact server</a:t>
            </a:r>
          </a:p>
          <a:p>
            <a:pPr marL="466725" indent="-233363"/>
            <a:r>
              <a:rPr lang="en-US" altLang="en-US" sz="2400" dirty="0">
                <a:ea typeface="ＭＳ Ｐゴシック" panose="020B0600070205080204" pitchFamily="34" charset="-128"/>
              </a:rPr>
              <a:t>server process must first be running</a:t>
            </a:r>
          </a:p>
          <a:p>
            <a:pPr marL="466725" indent="-233363"/>
            <a:r>
              <a:rPr lang="en-US" altLang="en-US" sz="2400" dirty="0">
                <a:ea typeface="ＭＳ Ｐゴシック" panose="020B0600070205080204" pitchFamily="34" charset="-128"/>
              </a:rPr>
              <a:t>server must have created socket (door) that welcomes client’</a:t>
            </a:r>
            <a:r>
              <a:rPr lang="en-US" altLang="ja-JP" sz="2400" dirty="0">
                <a:ea typeface="ＭＳ Ｐゴシック" panose="020B0600070205080204" pitchFamily="34" charset="-128"/>
              </a:rPr>
              <a:t>s contact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Client contacts server by:</a:t>
            </a:r>
          </a:p>
          <a:p>
            <a:pPr marL="466725" indent="-292100"/>
            <a:r>
              <a:rPr lang="en-US" altLang="en-US" sz="2400" dirty="0">
                <a:ea typeface="ＭＳ Ｐゴシック" panose="020B0600070205080204" pitchFamily="34" charset="-128"/>
              </a:rPr>
              <a:t>Creating TCP socket, specifying IP address, port number of server process</a:t>
            </a:r>
          </a:p>
          <a:p>
            <a:pPr marL="466725" indent="-233363"/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when client creates socket:</a:t>
            </a:r>
            <a:r>
              <a:rPr lang="en-US" altLang="en-US" sz="2400" dirty="0">
                <a:ea typeface="ＭＳ Ｐゴシック" panose="020B0600070205080204" pitchFamily="34" charset="-128"/>
              </a:rPr>
              <a:t> client TCP establishes connection to server TCP</a:t>
            </a:r>
            <a:endParaRPr lang="en-US" altLang="en-US" sz="2200" dirty="0">
              <a:ea typeface="ＭＳ Ｐゴシック" panose="020B0600070205080204" pitchFamily="34" charset="-128"/>
            </a:endParaRPr>
          </a:p>
          <a:p>
            <a:endParaRPr lang="en-US" altLang="en-US" sz="20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</p:txBody>
      </p:sp>
      <p:sp>
        <p:nvSpPr>
          <p:cNvPr id="44" name="Rectangle 4">
            <a:extLst>
              <a:ext uri="{FF2B5EF4-FFF2-40B4-BE49-F238E27FC236}">
                <a16:creationId xmlns:a16="http://schemas.microsoft.com/office/drawing/2014/main" id="{B1AC5695-3887-C247-97DD-C7F6FB635E1B}"/>
              </a:ext>
            </a:extLst>
          </p:cNvPr>
          <p:cNvSpPr txBox="1">
            <a:spLocks noChangeArrowheads="1"/>
          </p:cNvSpPr>
          <p:nvPr/>
        </p:nvSpPr>
        <p:spPr>
          <a:xfrm>
            <a:off x="5735469" y="1426964"/>
            <a:ext cx="5794702" cy="30003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when contacted by client,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server TCP creates new socket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for server process to communicate with that particular client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allows server to talk with multiple clients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client source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port # and IP address used to distinguish clients (more in Chap 3)</a:t>
            </a:r>
            <a:endParaRPr kumimoji="0" lang="en-US" altLang="en-US" sz="2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48E49A6-28AD-904A-9A83-FE9DE35715C0}"/>
              </a:ext>
            </a:extLst>
          </p:cNvPr>
          <p:cNvGrpSpPr/>
          <p:nvPr/>
        </p:nvGrpSpPr>
        <p:grpSpPr>
          <a:xfrm>
            <a:off x="6267640" y="4602113"/>
            <a:ext cx="4660490" cy="1933598"/>
            <a:chOff x="5928853" y="4608645"/>
            <a:chExt cx="4660490" cy="193359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1FDF457-3529-1A4B-B2F1-0A6DF5BAF2E1}"/>
                </a:ext>
              </a:extLst>
            </p:cNvPr>
            <p:cNvSpPr/>
            <p:nvPr/>
          </p:nvSpPr>
          <p:spPr>
            <a:xfrm>
              <a:off x="5928853" y="4896465"/>
              <a:ext cx="4660490" cy="164577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Text Box 6">
              <a:extLst>
                <a:ext uri="{FF2B5EF4-FFF2-40B4-BE49-F238E27FC236}">
                  <a16:creationId xmlns:a16="http://schemas.microsoft.com/office/drawing/2014/main" id="{3290FC86-CCC3-9042-8394-E0092848BE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3124" y="5097182"/>
              <a:ext cx="4091065" cy="13508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TCP provides reliable, in-order</a:t>
              </a:r>
            </a:p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byte-stream transfer (“</a:t>
              </a:r>
              <a:r>
                <a:rPr kumimoji="0" lang="en-US" altLang="ja-JP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pipe”) </a:t>
              </a:r>
            </a:p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between client and server processes</a:t>
              </a:r>
            </a:p>
          </p:txBody>
        </p:sp>
        <p:grpSp>
          <p:nvGrpSpPr>
            <p:cNvPr id="46" name="Group 8">
              <a:extLst>
                <a:ext uri="{FF2B5EF4-FFF2-40B4-BE49-F238E27FC236}">
                  <a16:creationId xmlns:a16="http://schemas.microsoft.com/office/drawing/2014/main" id="{8B55559B-7D61-6147-A322-49E351E9DC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41246" y="4608645"/>
              <a:ext cx="3452811" cy="550863"/>
              <a:chOff x="-195" y="3766"/>
              <a:chExt cx="2175" cy="347"/>
            </a:xfrm>
          </p:grpSpPr>
          <p:sp>
            <p:nvSpPr>
              <p:cNvPr id="47" name="Rectangle 9">
                <a:extLst>
                  <a:ext uri="{FF2B5EF4-FFF2-40B4-BE49-F238E27FC236}">
                    <a16:creationId xmlns:a16="http://schemas.microsoft.com/office/drawing/2014/main" id="{4B1395F7-3763-B74C-AF37-1DAC6BC4F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" y="3825"/>
                <a:ext cx="116" cy="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8" name="Text Box 10">
                <a:extLst>
                  <a:ext uri="{FF2B5EF4-FFF2-40B4-BE49-F238E27FC236}">
                    <a16:creationId xmlns:a16="http://schemas.microsoft.com/office/drawing/2014/main" id="{EC474FEA-9E73-5248-89ED-9528E3BFBC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195" y="3766"/>
                <a:ext cx="2175" cy="33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Application viewpoint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16688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Client/server socket interaction: TCP</a:t>
            </a:r>
          </a:p>
        </p:txBody>
      </p:sp>
      <p:sp>
        <p:nvSpPr>
          <p:cNvPr id="60" name="Text Box 22">
            <a:extLst>
              <a:ext uri="{FF2B5EF4-FFF2-40B4-BE49-F238E27FC236}">
                <a16:creationId xmlns:a16="http://schemas.microsoft.com/office/drawing/2014/main" id="{BA5A099E-C76D-334B-B273-AED0342E4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5141" y="1421154"/>
            <a:ext cx="31073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(running on hostid)</a:t>
            </a:r>
          </a:p>
        </p:txBody>
      </p:sp>
      <p:sp>
        <p:nvSpPr>
          <p:cNvPr id="61" name="Text Box 23">
            <a:extLst>
              <a:ext uri="{FF2B5EF4-FFF2-40B4-BE49-F238E27FC236}">
                <a16:creationId xmlns:a16="http://schemas.microsoft.com/office/drawing/2014/main" id="{2C0B647E-1C2C-574A-86D4-A8DBF2427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0313" y="1416392"/>
            <a:ext cx="110100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</a:t>
            </a:r>
          </a:p>
        </p:txBody>
      </p:sp>
      <p:grpSp>
        <p:nvGrpSpPr>
          <p:cNvPr id="64" name="Group 34">
            <a:extLst>
              <a:ext uri="{FF2B5EF4-FFF2-40B4-BE49-F238E27FC236}">
                <a16:creationId xmlns:a16="http://schemas.microsoft.com/office/drawing/2014/main" id="{B18363F5-9DA8-C844-9FF5-8607E23ECAE0}"/>
              </a:ext>
            </a:extLst>
          </p:cNvPr>
          <p:cNvGrpSpPr>
            <a:grpSpLocks/>
          </p:cNvGrpSpPr>
          <p:nvPr/>
        </p:nvGrpSpPr>
        <p:grpSpPr bwMode="auto">
          <a:xfrm>
            <a:off x="1947735" y="1365879"/>
            <a:ext cx="422275" cy="685800"/>
            <a:chOff x="4140" y="429"/>
            <a:chExt cx="1425" cy="2396"/>
          </a:xfrm>
        </p:grpSpPr>
        <p:sp>
          <p:nvSpPr>
            <p:cNvPr id="65" name="Freeform 35">
              <a:extLst>
                <a:ext uri="{FF2B5EF4-FFF2-40B4-BE49-F238E27FC236}">
                  <a16:creationId xmlns:a16="http://schemas.microsoft.com/office/drawing/2014/main" id="{0528A8CB-65E5-964D-B654-85E03FD18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Rectangle 36">
              <a:extLst>
                <a:ext uri="{FF2B5EF4-FFF2-40B4-BE49-F238E27FC236}">
                  <a16:creationId xmlns:a16="http://schemas.microsoft.com/office/drawing/2014/main" id="{6E84855E-322D-B04A-A7A9-4DC033725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0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7" name="Freeform 37">
              <a:extLst>
                <a:ext uri="{FF2B5EF4-FFF2-40B4-BE49-F238E27FC236}">
                  <a16:creationId xmlns:a16="http://schemas.microsoft.com/office/drawing/2014/main" id="{0DE429C7-30A9-C04A-A526-765AC5EAA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Freeform 38">
              <a:extLst>
                <a:ext uri="{FF2B5EF4-FFF2-40B4-BE49-F238E27FC236}">
                  <a16:creationId xmlns:a16="http://schemas.microsoft.com/office/drawing/2014/main" id="{DF53DCF7-7CCE-A14D-89D6-6AAAE8C14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Rectangle 39">
              <a:extLst>
                <a:ext uri="{FF2B5EF4-FFF2-40B4-BE49-F238E27FC236}">
                  <a16:creationId xmlns:a16="http://schemas.microsoft.com/office/drawing/2014/main" id="{FCF7FE3C-7CB1-1949-80FD-5DEB7C2DF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5"/>
              <a:ext cx="600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0" name="Group 40">
              <a:extLst>
                <a:ext uri="{FF2B5EF4-FFF2-40B4-BE49-F238E27FC236}">
                  <a16:creationId xmlns:a16="http://schemas.microsoft.com/office/drawing/2014/main" id="{9EA93011-9988-1C46-8FFD-C704F4A48C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5" name="AutoShape 41">
                <a:extLst>
                  <a:ext uri="{FF2B5EF4-FFF2-40B4-BE49-F238E27FC236}">
                    <a16:creationId xmlns:a16="http://schemas.microsoft.com/office/drawing/2014/main" id="{79ABB3C1-EE56-6F45-9499-45BC801291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6" name="AutoShape 42">
                <a:extLst>
                  <a:ext uri="{FF2B5EF4-FFF2-40B4-BE49-F238E27FC236}">
                    <a16:creationId xmlns:a16="http://schemas.microsoft.com/office/drawing/2014/main" id="{3CE416CE-22C1-B44C-A8BC-DD8D49FA1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1" name="Rectangle 43">
              <a:extLst>
                <a:ext uri="{FF2B5EF4-FFF2-40B4-BE49-F238E27FC236}">
                  <a16:creationId xmlns:a16="http://schemas.microsoft.com/office/drawing/2014/main" id="{E9AF4519-635B-C444-AD0B-889732CA4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17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2" name="Group 44">
              <a:extLst>
                <a:ext uri="{FF2B5EF4-FFF2-40B4-BE49-F238E27FC236}">
                  <a16:creationId xmlns:a16="http://schemas.microsoft.com/office/drawing/2014/main" id="{AE3F7048-2B7F-8146-8234-207ED13E90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3" name="AutoShape 45">
                <a:extLst>
                  <a:ext uri="{FF2B5EF4-FFF2-40B4-BE49-F238E27FC236}">
                    <a16:creationId xmlns:a16="http://schemas.microsoft.com/office/drawing/2014/main" id="{53908CFC-D723-4742-8456-2D30C66E35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4" name="AutoShape 46">
                <a:extLst>
                  <a:ext uri="{FF2B5EF4-FFF2-40B4-BE49-F238E27FC236}">
                    <a16:creationId xmlns:a16="http://schemas.microsoft.com/office/drawing/2014/main" id="{3A7947BE-FF10-9D41-9767-56A9F87FC3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3" name="Rectangle 47">
              <a:extLst>
                <a:ext uri="{FF2B5EF4-FFF2-40B4-BE49-F238E27FC236}">
                  <a16:creationId xmlns:a16="http://schemas.microsoft.com/office/drawing/2014/main" id="{A116F8BE-CE6D-0046-BBDF-ED91EC563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Rectangle 48">
              <a:extLst>
                <a:ext uri="{FF2B5EF4-FFF2-40B4-BE49-F238E27FC236}">
                  <a16:creationId xmlns:a16="http://schemas.microsoft.com/office/drawing/2014/main" id="{EDDDAA43-84E9-5649-B997-CD32383C8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5" name="Group 49">
              <a:extLst>
                <a:ext uri="{FF2B5EF4-FFF2-40B4-BE49-F238E27FC236}">
                  <a16:creationId xmlns:a16="http://schemas.microsoft.com/office/drawing/2014/main" id="{ED22CCB4-0F75-C14E-8FF6-F0FB9D3FC9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1" name="AutoShape 50">
                <a:extLst>
                  <a:ext uri="{FF2B5EF4-FFF2-40B4-BE49-F238E27FC236}">
                    <a16:creationId xmlns:a16="http://schemas.microsoft.com/office/drawing/2014/main" id="{23A963E3-E563-8243-8CD5-AD41B731D0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2" name="AutoShape 51">
                <a:extLst>
                  <a:ext uri="{FF2B5EF4-FFF2-40B4-BE49-F238E27FC236}">
                    <a16:creationId xmlns:a16="http://schemas.microsoft.com/office/drawing/2014/main" id="{3CDFE710-0763-8B45-AFC8-16BE12CABF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6" name="Freeform 52">
              <a:extLst>
                <a:ext uri="{FF2B5EF4-FFF2-40B4-BE49-F238E27FC236}">
                  <a16:creationId xmlns:a16="http://schemas.microsoft.com/office/drawing/2014/main" id="{DFF03B02-CD58-954F-8277-362C27F82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7" name="Group 53">
              <a:extLst>
                <a:ext uri="{FF2B5EF4-FFF2-40B4-BE49-F238E27FC236}">
                  <a16:creationId xmlns:a16="http://schemas.microsoft.com/office/drawing/2014/main" id="{3E689C5E-F98B-8049-943E-5C1ACD1083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9" name="AutoShape 54">
                <a:extLst>
                  <a:ext uri="{FF2B5EF4-FFF2-40B4-BE49-F238E27FC236}">
                    <a16:creationId xmlns:a16="http://schemas.microsoft.com/office/drawing/2014/main" id="{6761E2B1-103D-4445-A2AE-88446D262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0" name="AutoShape 55">
                <a:extLst>
                  <a:ext uri="{FF2B5EF4-FFF2-40B4-BE49-F238E27FC236}">
                    <a16:creationId xmlns:a16="http://schemas.microsoft.com/office/drawing/2014/main" id="{EAB91C60-8F54-7C41-988D-5BE6CF0595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8" name="Rectangle 56">
              <a:extLst>
                <a:ext uri="{FF2B5EF4-FFF2-40B4-BE49-F238E27FC236}">
                  <a16:creationId xmlns:a16="http://schemas.microsoft.com/office/drawing/2014/main" id="{87AAEB8B-15DB-FF40-9AE1-E4AF827B8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70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Freeform 57">
              <a:extLst>
                <a:ext uri="{FF2B5EF4-FFF2-40B4-BE49-F238E27FC236}">
                  <a16:creationId xmlns:a16="http://schemas.microsoft.com/office/drawing/2014/main" id="{CC9C0288-5815-DA49-8C3D-91F3048A6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58">
              <a:extLst>
                <a:ext uri="{FF2B5EF4-FFF2-40B4-BE49-F238E27FC236}">
                  <a16:creationId xmlns:a16="http://schemas.microsoft.com/office/drawing/2014/main" id="{298D6A78-AAD4-6C42-8184-6B5B0ADD7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Oval 59">
              <a:extLst>
                <a:ext uri="{FF2B5EF4-FFF2-40B4-BE49-F238E27FC236}">
                  <a16:creationId xmlns:a16="http://schemas.microsoft.com/office/drawing/2014/main" id="{2C2ADEA9-27C8-8047-B295-9313B8ABB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2" name="Freeform 60">
              <a:extLst>
                <a:ext uri="{FF2B5EF4-FFF2-40B4-BE49-F238E27FC236}">
                  <a16:creationId xmlns:a16="http://schemas.microsoft.com/office/drawing/2014/main" id="{9CAEC79C-34C3-884C-93EA-251A84F70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AutoShape 61">
              <a:extLst>
                <a:ext uri="{FF2B5EF4-FFF2-40B4-BE49-F238E27FC236}">
                  <a16:creationId xmlns:a16="http://schemas.microsoft.com/office/drawing/2014/main" id="{36B22FB8-29CC-B041-B349-ADB1A1CF0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AutoShape 62">
              <a:extLst>
                <a:ext uri="{FF2B5EF4-FFF2-40B4-BE49-F238E27FC236}">
                  <a16:creationId xmlns:a16="http://schemas.microsoft.com/office/drawing/2014/main" id="{A568E896-D157-6749-8B5C-38036DCDA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9"/>
              <a:ext cx="1071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Oval 63">
              <a:extLst>
                <a:ext uri="{FF2B5EF4-FFF2-40B4-BE49-F238E27FC236}">
                  <a16:creationId xmlns:a16="http://schemas.microsoft.com/office/drawing/2014/main" id="{76E67DE4-8580-984E-96DB-32AA41DD1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Oval 64">
              <a:extLst>
                <a:ext uri="{FF2B5EF4-FFF2-40B4-BE49-F238E27FC236}">
                  <a16:creationId xmlns:a16="http://schemas.microsoft.com/office/drawing/2014/main" id="{B85D964A-BC7F-0243-8B3C-55498AEBC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87" name="Oval 65">
              <a:extLst>
                <a:ext uri="{FF2B5EF4-FFF2-40B4-BE49-F238E27FC236}">
                  <a16:creationId xmlns:a16="http://schemas.microsoft.com/office/drawing/2014/main" id="{1023622E-7290-DB4F-BDFC-4AE5806C35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8" name="Rectangle 66">
              <a:extLst>
                <a:ext uri="{FF2B5EF4-FFF2-40B4-BE49-F238E27FC236}">
                  <a16:creationId xmlns:a16="http://schemas.microsoft.com/office/drawing/2014/main" id="{C404F913-10F9-264F-B4B2-2C47E82E0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7" name="Group 67">
            <a:extLst>
              <a:ext uri="{FF2B5EF4-FFF2-40B4-BE49-F238E27FC236}">
                <a16:creationId xmlns:a16="http://schemas.microsoft.com/office/drawing/2014/main" id="{CED85610-CD29-5E4F-BB21-F275B7666450}"/>
              </a:ext>
            </a:extLst>
          </p:cNvPr>
          <p:cNvGrpSpPr>
            <a:grpSpLocks/>
          </p:cNvGrpSpPr>
          <p:nvPr/>
        </p:nvGrpSpPr>
        <p:grpSpPr bwMode="auto">
          <a:xfrm>
            <a:off x="7841666" y="1346443"/>
            <a:ext cx="742950" cy="742950"/>
            <a:chOff x="-44" y="1473"/>
            <a:chExt cx="981" cy="1105"/>
          </a:xfrm>
        </p:grpSpPr>
        <p:pic>
          <p:nvPicPr>
            <p:cNvPr id="98" name="Picture 68" descr="desktop_computer_stylized_medium">
              <a:extLst>
                <a:ext uri="{FF2B5EF4-FFF2-40B4-BE49-F238E27FC236}">
                  <a16:creationId xmlns:a16="http://schemas.microsoft.com/office/drawing/2014/main" id="{1830ACA4-0FBE-1142-BE23-D05178A5FE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9" name="Freeform 69">
              <a:extLst>
                <a:ext uri="{FF2B5EF4-FFF2-40B4-BE49-F238E27FC236}">
                  <a16:creationId xmlns:a16="http://schemas.microsoft.com/office/drawing/2014/main" id="{E76D0C82-A009-EE46-B2AF-9D042C9D0FC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0" name="Group 3">
            <a:extLst>
              <a:ext uri="{FF2B5EF4-FFF2-40B4-BE49-F238E27FC236}">
                <a16:creationId xmlns:a16="http://schemas.microsoft.com/office/drawing/2014/main" id="{17F245AD-D1C8-1047-B190-F3B9F38A51DA}"/>
              </a:ext>
            </a:extLst>
          </p:cNvPr>
          <p:cNvGrpSpPr>
            <a:grpSpLocks/>
          </p:cNvGrpSpPr>
          <p:nvPr/>
        </p:nvGrpSpPr>
        <p:grpSpPr bwMode="auto">
          <a:xfrm>
            <a:off x="3761300" y="3384960"/>
            <a:ext cx="1931987" cy="930275"/>
            <a:chOff x="827" y="2027"/>
            <a:chExt cx="1217" cy="586"/>
          </a:xfrm>
        </p:grpSpPr>
        <p:sp>
          <p:nvSpPr>
            <p:cNvPr id="101" name="Text Box 4">
              <a:extLst>
                <a:ext uri="{FF2B5EF4-FFF2-40B4-BE49-F238E27FC236}">
                  <a16:creationId xmlns:a16="http://schemas.microsoft.com/office/drawing/2014/main" id="{96ECA07F-984C-9640-8279-02E0C42A59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" y="2027"/>
              <a:ext cx="1059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wait for incoming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connection request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2" name="Text Box 5">
              <a:extLst>
                <a:ext uri="{FF2B5EF4-FFF2-40B4-BE49-F238E27FC236}">
                  <a16:creationId xmlns:a16="http://schemas.microsoft.com/office/drawing/2014/main" id="{3EED45EC-0C3C-CD4F-8B77-F31CC4D8B6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8" y="2283"/>
              <a:ext cx="121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connectionSocket =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serverSocket.accept()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3" name="Group 6">
            <a:extLst>
              <a:ext uri="{FF2B5EF4-FFF2-40B4-BE49-F238E27FC236}">
                <a16:creationId xmlns:a16="http://schemas.microsoft.com/office/drawing/2014/main" id="{942F4A59-7245-424D-B343-8B3AE10F149D}"/>
              </a:ext>
            </a:extLst>
          </p:cNvPr>
          <p:cNvGrpSpPr>
            <a:grpSpLocks/>
          </p:cNvGrpSpPr>
          <p:nvPr/>
        </p:nvGrpSpPr>
        <p:grpSpPr bwMode="auto">
          <a:xfrm>
            <a:off x="3742250" y="2145123"/>
            <a:ext cx="2357437" cy="1317625"/>
            <a:chOff x="821" y="1246"/>
            <a:chExt cx="1485" cy="830"/>
          </a:xfrm>
        </p:grpSpPr>
        <p:grpSp>
          <p:nvGrpSpPr>
            <p:cNvPr id="104" name="Group 7">
              <a:extLst>
                <a:ext uri="{FF2B5EF4-FFF2-40B4-BE49-F238E27FC236}">
                  <a16:creationId xmlns:a16="http://schemas.microsoft.com/office/drawing/2014/main" id="{26B7DDA9-00F9-674D-BF38-CB98156F7D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246"/>
              <a:ext cx="1485" cy="586"/>
              <a:chOff x="329" y="1270"/>
              <a:chExt cx="1485" cy="586"/>
            </a:xfrm>
          </p:grpSpPr>
          <p:sp>
            <p:nvSpPr>
              <p:cNvPr id="106" name="Text Box 8">
                <a:extLst>
                  <a:ext uri="{FF2B5EF4-FFF2-40B4-BE49-F238E27FC236}">
                    <a16:creationId xmlns:a16="http://schemas.microsoft.com/office/drawing/2014/main" id="{EB10976F-C234-F04E-BDCB-D23AD81426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9" y="1270"/>
                <a:ext cx="1213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create socket,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port=</a:t>
                </a:r>
                <a:r>
                  <a:rPr kumimoji="0" lang="en-US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ＭＳ Ｐゴシック" panose="020B0600070205080204" pitchFamily="34" charset="-128"/>
                    <a:cs typeface="+mn-cs"/>
                  </a:rPr>
                  <a:t>x</a:t>
                </a: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, for incoming request: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7" name="Text Box 9">
                <a:extLst>
                  <a:ext uri="{FF2B5EF4-FFF2-40B4-BE49-F238E27FC236}">
                    <a16:creationId xmlns:a16="http://schemas.microsoft.com/office/drawing/2014/main" id="{FE1C48C3-1411-C842-B695-AE75246E0D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3" y="1662"/>
                <a:ext cx="1481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serverSocket = socket()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05" name="Line 10">
              <a:extLst>
                <a:ext uri="{FF2B5EF4-FFF2-40B4-BE49-F238E27FC236}">
                  <a16:creationId xmlns:a16="http://schemas.microsoft.com/office/drawing/2014/main" id="{EFE8B30D-7531-1F4B-8F1D-2889E29181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4" y="1872"/>
              <a:ext cx="0" cy="204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8" name="Group 11">
            <a:extLst>
              <a:ext uri="{FF2B5EF4-FFF2-40B4-BE49-F238E27FC236}">
                <a16:creationId xmlns:a16="http://schemas.microsoft.com/office/drawing/2014/main" id="{ACBB7887-7AB9-1344-A0D2-33A736B32882}"/>
              </a:ext>
            </a:extLst>
          </p:cNvPr>
          <p:cNvGrpSpPr>
            <a:grpSpLocks/>
          </p:cNvGrpSpPr>
          <p:nvPr/>
        </p:nvGrpSpPr>
        <p:grpSpPr bwMode="auto">
          <a:xfrm>
            <a:off x="7539550" y="3389723"/>
            <a:ext cx="2357437" cy="731837"/>
            <a:chOff x="3333" y="1202"/>
            <a:chExt cx="1485" cy="461"/>
          </a:xfrm>
        </p:grpSpPr>
        <p:sp>
          <p:nvSpPr>
            <p:cNvPr id="109" name="Text Box 12">
              <a:extLst>
                <a:ext uri="{FF2B5EF4-FFF2-40B4-BE49-F238E27FC236}">
                  <a16:creationId xmlns:a16="http://schemas.microsoft.com/office/drawing/2014/main" id="{7C40D8E2-34BB-B14D-99EA-EC4D8E46BD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5" y="1202"/>
              <a:ext cx="146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create socket,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 to </a:t>
              </a:r>
              <a:r>
                <a:rPr kumimoji="0" lang="en-US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hostid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, port=</a:t>
              </a:r>
              <a:r>
                <a:rPr kumimoji="0" lang="en-US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x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0" name="Text Box 13">
              <a:extLst>
                <a:ext uri="{FF2B5EF4-FFF2-40B4-BE49-F238E27FC236}">
                  <a16:creationId xmlns:a16="http://schemas.microsoft.com/office/drawing/2014/main" id="{7AB5735E-62F0-3342-99B5-3AA0751455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3" y="1469"/>
              <a:ext cx="1485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clientSocket = socket()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1" name="Group 24">
            <a:extLst>
              <a:ext uri="{FF2B5EF4-FFF2-40B4-BE49-F238E27FC236}">
                <a16:creationId xmlns:a16="http://schemas.microsoft.com/office/drawing/2014/main" id="{EE4290C4-C540-4C43-B98B-8DA5381EA7C7}"/>
              </a:ext>
            </a:extLst>
          </p:cNvPr>
          <p:cNvGrpSpPr>
            <a:grpSpLocks/>
          </p:cNvGrpSpPr>
          <p:nvPr/>
        </p:nvGrpSpPr>
        <p:grpSpPr bwMode="auto">
          <a:xfrm>
            <a:off x="5382137" y="4177123"/>
            <a:ext cx="4062413" cy="1371600"/>
            <a:chOff x="1848" y="2526"/>
            <a:chExt cx="2559" cy="864"/>
          </a:xfrm>
        </p:grpSpPr>
        <p:sp>
          <p:nvSpPr>
            <p:cNvPr id="112" name="Line 25">
              <a:extLst>
                <a:ext uri="{FF2B5EF4-FFF2-40B4-BE49-F238E27FC236}">
                  <a16:creationId xmlns:a16="http://schemas.microsoft.com/office/drawing/2014/main" id="{F96A14E1-46BB-E441-BD29-639D3BF8A8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92" y="2964"/>
              <a:ext cx="6" cy="42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3" name="Group 26">
              <a:extLst>
                <a:ext uri="{FF2B5EF4-FFF2-40B4-BE49-F238E27FC236}">
                  <a16:creationId xmlns:a16="http://schemas.microsoft.com/office/drawing/2014/main" id="{5ED3F8AA-60DC-A346-9E5F-E29F6BA4D5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8" y="2526"/>
              <a:ext cx="2559" cy="516"/>
              <a:chOff x="1848" y="2526"/>
              <a:chExt cx="2559" cy="516"/>
            </a:xfrm>
          </p:grpSpPr>
          <p:sp>
            <p:nvSpPr>
              <p:cNvPr id="114" name="Text Box 27">
                <a:extLst>
                  <a:ext uri="{FF2B5EF4-FFF2-40B4-BE49-F238E27FC236}">
                    <a16:creationId xmlns:a16="http://schemas.microsoft.com/office/drawing/2014/main" id="{8F25CD2B-A067-E44F-BD6A-549F5C3DB5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35" y="2673"/>
                <a:ext cx="1072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send request using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clientSocket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" name="Line 28">
                <a:extLst>
                  <a:ext uri="{FF2B5EF4-FFF2-40B4-BE49-F238E27FC236}">
                    <a16:creationId xmlns:a16="http://schemas.microsoft.com/office/drawing/2014/main" id="{AD461D4B-E47B-A345-9632-F935FCFBB0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2" y="2526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6" name="Line 29">
                <a:extLst>
                  <a:ext uri="{FF2B5EF4-FFF2-40B4-BE49-F238E27FC236}">
                    <a16:creationId xmlns:a16="http://schemas.microsoft.com/office/drawing/2014/main" id="{A6330BBE-6EEE-7E44-A9AE-95D14BB594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48" y="2790"/>
                <a:ext cx="1518" cy="252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7" name="Group 30">
            <a:extLst>
              <a:ext uri="{FF2B5EF4-FFF2-40B4-BE49-F238E27FC236}">
                <a16:creationId xmlns:a16="http://schemas.microsoft.com/office/drawing/2014/main" id="{C2C60A7C-9F85-CC40-A5F2-4EA4B69999A4}"/>
              </a:ext>
            </a:extLst>
          </p:cNvPr>
          <p:cNvGrpSpPr>
            <a:grpSpLocks/>
          </p:cNvGrpSpPr>
          <p:nvPr/>
        </p:nvGrpSpPr>
        <p:grpSpPr bwMode="auto">
          <a:xfrm>
            <a:off x="3751775" y="4272373"/>
            <a:ext cx="4097337" cy="1490662"/>
            <a:chOff x="821" y="2586"/>
            <a:chExt cx="2581" cy="939"/>
          </a:xfrm>
        </p:grpSpPr>
        <p:sp>
          <p:nvSpPr>
            <p:cNvPr id="118" name="Text Box 31">
              <a:extLst>
                <a:ext uri="{FF2B5EF4-FFF2-40B4-BE49-F238E27FC236}">
                  <a16:creationId xmlns:a16="http://schemas.microsoft.com/office/drawing/2014/main" id="{9B1FDBB8-2D0E-0148-926C-35E78571D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" y="2787"/>
              <a:ext cx="101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read request from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connectionSocke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9" name="Text Box 32">
              <a:extLst>
                <a:ext uri="{FF2B5EF4-FFF2-40B4-BE49-F238E27FC236}">
                  <a16:creationId xmlns:a16="http://schemas.microsoft.com/office/drawing/2014/main" id="{E067E97F-BD76-CA4D-8001-FDBBB19C2B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1" y="3195"/>
              <a:ext cx="101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write reply to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connectionSocket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0" name="Line 33">
              <a:extLst>
                <a:ext uri="{FF2B5EF4-FFF2-40B4-BE49-F238E27FC236}">
                  <a16:creationId xmlns:a16="http://schemas.microsoft.com/office/drawing/2014/main" id="{B80CAF82-B68A-6743-9CBF-29BD445037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8" y="2586"/>
              <a:ext cx="0" cy="24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Line 34">
              <a:extLst>
                <a:ext uri="{FF2B5EF4-FFF2-40B4-BE49-F238E27FC236}">
                  <a16:creationId xmlns:a16="http://schemas.microsoft.com/office/drawing/2014/main" id="{21022D29-A2BF-2F42-AB7D-DD5736B2CC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84" y="3090"/>
              <a:ext cx="6" cy="15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" name="Line 35">
              <a:extLst>
                <a:ext uri="{FF2B5EF4-FFF2-40B4-BE49-F238E27FC236}">
                  <a16:creationId xmlns:a16="http://schemas.microsoft.com/office/drawing/2014/main" id="{82228A3E-396F-244B-822E-ACF1690A6D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6" y="3306"/>
              <a:ext cx="1536" cy="18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3" name="Group 52">
            <a:extLst>
              <a:ext uri="{FF2B5EF4-FFF2-40B4-BE49-F238E27FC236}">
                <a16:creationId xmlns:a16="http://schemas.microsoft.com/office/drawing/2014/main" id="{DD1A5005-D6A8-DF4C-876E-C0F3D852EBA6}"/>
              </a:ext>
            </a:extLst>
          </p:cNvPr>
          <p:cNvGrpSpPr>
            <a:grpSpLocks/>
          </p:cNvGrpSpPr>
          <p:nvPr/>
        </p:nvGrpSpPr>
        <p:grpSpPr bwMode="auto">
          <a:xfrm>
            <a:off x="5371025" y="3472273"/>
            <a:ext cx="2200275" cy="587375"/>
            <a:chOff x="3043" y="1189"/>
            <a:chExt cx="1386" cy="370"/>
          </a:xfrm>
        </p:grpSpPr>
        <p:sp>
          <p:nvSpPr>
            <p:cNvPr id="124" name="Line 37">
              <a:extLst>
                <a:ext uri="{FF2B5EF4-FFF2-40B4-BE49-F238E27FC236}">
                  <a16:creationId xmlns:a16="http://schemas.microsoft.com/office/drawing/2014/main" id="{81B4F580-1F65-E540-9F46-45075CD5F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3" y="1372"/>
              <a:ext cx="1386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prstDash val="dash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" name="Text Box 38">
              <a:extLst>
                <a:ext uri="{FF2B5EF4-FFF2-40B4-BE49-F238E27FC236}">
                  <a16:creationId xmlns:a16="http://schemas.microsoft.com/office/drawing/2014/main" id="{30516E51-0850-1846-9E67-14E9AE0CDE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6" y="1189"/>
              <a:ext cx="1204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TCP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connection setup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6" name="Group 53">
            <a:extLst>
              <a:ext uri="{FF2B5EF4-FFF2-40B4-BE49-F238E27FC236}">
                <a16:creationId xmlns:a16="http://schemas.microsoft.com/office/drawing/2014/main" id="{76CBC147-BDC3-9B41-973C-967836913ABE}"/>
              </a:ext>
            </a:extLst>
          </p:cNvPr>
          <p:cNvGrpSpPr>
            <a:grpSpLocks/>
          </p:cNvGrpSpPr>
          <p:nvPr/>
        </p:nvGrpSpPr>
        <p:grpSpPr bwMode="auto">
          <a:xfrm>
            <a:off x="3702562" y="4620035"/>
            <a:ext cx="5457825" cy="1954213"/>
            <a:chOff x="832" y="2713"/>
            <a:chExt cx="3438" cy="1231"/>
          </a:xfrm>
        </p:grpSpPr>
        <p:sp>
          <p:nvSpPr>
            <p:cNvPr id="127" name="Text Box 15">
              <a:extLst>
                <a:ext uri="{FF2B5EF4-FFF2-40B4-BE49-F238E27FC236}">
                  <a16:creationId xmlns:a16="http://schemas.microsoft.com/office/drawing/2014/main" id="{BD49C61F-B268-184F-AF89-17A24E5209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7" y="3512"/>
              <a:ext cx="101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close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connectionSocket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8" name="Line 16">
              <a:extLst>
                <a:ext uri="{FF2B5EF4-FFF2-40B4-BE49-F238E27FC236}">
                  <a16:creationId xmlns:a16="http://schemas.microsoft.com/office/drawing/2014/main" id="{2835A62D-1D4C-F44E-B258-9FD622CDE7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8" y="3437"/>
              <a:ext cx="0" cy="204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" name="Freeform 17">
              <a:extLst>
                <a:ext uri="{FF2B5EF4-FFF2-40B4-BE49-F238E27FC236}">
                  <a16:creationId xmlns:a16="http://schemas.microsoft.com/office/drawing/2014/main" id="{196F5095-8EB1-E544-AC83-27077BF9FE26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" y="2713"/>
              <a:ext cx="492" cy="306"/>
            </a:xfrm>
            <a:custGeom>
              <a:avLst/>
              <a:gdLst>
                <a:gd name="T0" fmla="*/ 492 w 492"/>
                <a:gd name="T1" fmla="*/ 0 h 2112"/>
                <a:gd name="T2" fmla="*/ 492 w 492"/>
                <a:gd name="T3" fmla="*/ 0 h 2112"/>
                <a:gd name="T4" fmla="*/ 0 w 492"/>
                <a:gd name="T5" fmla="*/ 0 h 2112"/>
                <a:gd name="T6" fmla="*/ 0 w 492"/>
                <a:gd name="T7" fmla="*/ 0 h 2112"/>
                <a:gd name="T8" fmla="*/ 402 w 492"/>
                <a:gd name="T9" fmla="*/ 0 h 21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2"/>
                <a:gd name="T16" fmla="*/ 0 h 2112"/>
                <a:gd name="T17" fmla="*/ 492 w 492"/>
                <a:gd name="T18" fmla="*/ 2112 h 21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2" h="2112">
                  <a:moveTo>
                    <a:pt x="492" y="1968"/>
                  </a:moveTo>
                  <a:lnTo>
                    <a:pt x="492" y="2112"/>
                  </a:lnTo>
                  <a:lnTo>
                    <a:pt x="0" y="2112"/>
                  </a:lnTo>
                  <a:lnTo>
                    <a:pt x="0" y="0"/>
                  </a:lnTo>
                  <a:lnTo>
                    <a:pt x="402" y="0"/>
                  </a:lnTo>
                </a:path>
              </a:pathLst>
            </a:cu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0" name="Group 18">
              <a:extLst>
                <a:ext uri="{FF2B5EF4-FFF2-40B4-BE49-F238E27FC236}">
                  <a16:creationId xmlns:a16="http://schemas.microsoft.com/office/drawing/2014/main" id="{F4224D9F-D1DB-8E48-A119-9B3F4C3D1B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93" y="3248"/>
              <a:ext cx="877" cy="696"/>
              <a:chOff x="3365" y="3375"/>
              <a:chExt cx="877" cy="696"/>
            </a:xfrm>
          </p:grpSpPr>
          <p:sp>
            <p:nvSpPr>
              <p:cNvPr id="131" name="Text Box 19">
                <a:extLst>
                  <a:ext uri="{FF2B5EF4-FFF2-40B4-BE49-F238E27FC236}">
                    <a16:creationId xmlns:a16="http://schemas.microsoft.com/office/drawing/2014/main" id="{F57939D5-24DF-6642-BEE7-6FF967E1DC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5" y="3375"/>
                <a:ext cx="877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read reply from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clientSocket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2" name="Text Box 20">
                <a:extLst>
                  <a:ext uri="{FF2B5EF4-FFF2-40B4-BE49-F238E27FC236}">
                    <a16:creationId xmlns:a16="http://schemas.microsoft.com/office/drawing/2014/main" id="{B8D472E2-53BD-364D-B6B9-D8A6525EDD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89" y="3741"/>
                <a:ext cx="730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close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clientSocket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3" name="Line 21">
                <a:extLst>
                  <a:ext uri="{FF2B5EF4-FFF2-40B4-BE49-F238E27FC236}">
                    <a16:creationId xmlns:a16="http://schemas.microsoft.com/office/drawing/2014/main" id="{92CB88C5-2A25-EE44-A282-4291659B12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6" y="3690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39039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Example app: TCP client</a:t>
            </a:r>
            <a:endParaRPr lang="en-US" altLang="en-US" sz="5400" dirty="0">
              <a:solidFill>
                <a:srgbClr val="000099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" name="TextBox 1">
            <a:extLst>
              <a:ext uri="{FF2B5EF4-FFF2-40B4-BE49-F238E27FC236}">
                <a16:creationId xmlns:a16="http://schemas.microsoft.com/office/drawing/2014/main" id="{32242A8E-B3CB-194E-B2B0-D62D05F94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3332" y="2021516"/>
            <a:ext cx="5878982" cy="3651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from socket import *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serverName = '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servername'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serverPort = 12000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 = socket(AF_INET, SOCK_STREAM)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clientSocket.connect((serverName,serverPort))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sentence = input('Input lowercase sentence:')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clientSocket.send(sentence.encode())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modifiedSentence = clientSocket.recv(1024)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print ('From Server:', modifiedSentence.decode())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clientSocket.close()</a:t>
            </a:r>
          </a:p>
        </p:txBody>
      </p:sp>
      <p:sp>
        <p:nvSpPr>
          <p:cNvPr id="26" name="TextBox 2">
            <a:extLst>
              <a:ext uri="{FF2B5EF4-FFF2-40B4-BE49-F238E27FC236}">
                <a16:creationId xmlns:a16="http://schemas.microsoft.com/office/drawing/2014/main" id="{CB8056E7-3F65-9A48-BB93-0E9B6178A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6032" y="1538916"/>
            <a:ext cx="27066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Python TCPClient</a:t>
            </a:r>
          </a:p>
        </p:txBody>
      </p:sp>
      <p:grpSp>
        <p:nvGrpSpPr>
          <p:cNvPr id="27" name="Group 47">
            <a:extLst>
              <a:ext uri="{FF2B5EF4-FFF2-40B4-BE49-F238E27FC236}">
                <a16:creationId xmlns:a16="http://schemas.microsoft.com/office/drawing/2014/main" id="{500AF080-AE8D-BA48-B682-89E723677E64}"/>
              </a:ext>
            </a:extLst>
          </p:cNvPr>
          <p:cNvGrpSpPr>
            <a:grpSpLocks/>
          </p:cNvGrpSpPr>
          <p:nvPr/>
        </p:nvGrpSpPr>
        <p:grpSpPr bwMode="auto">
          <a:xfrm>
            <a:off x="1656643" y="3166108"/>
            <a:ext cx="3481226" cy="584775"/>
            <a:chOff x="-792500" y="2796587"/>
            <a:chExt cx="3481672" cy="584044"/>
          </a:xfrm>
        </p:grpSpPr>
        <p:sp>
          <p:nvSpPr>
            <p:cNvPr id="28" name="TextBox 31">
              <a:extLst>
                <a:ext uri="{FF2B5EF4-FFF2-40B4-BE49-F238E27FC236}">
                  <a16:creationId xmlns:a16="http://schemas.microsoft.com/office/drawing/2014/main" id="{8564B35A-2400-144A-A554-A0822DEA8F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792500" y="2796587"/>
              <a:ext cx="2888177" cy="584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create TCP socket for server, remote port 12000</a:t>
              </a:r>
            </a:p>
          </p:txBody>
        </p:sp>
        <p:cxnSp>
          <p:nvCxnSpPr>
            <p:cNvPr id="29" name="Straight Connector 32">
              <a:extLst>
                <a:ext uri="{FF2B5EF4-FFF2-40B4-BE49-F238E27FC236}">
                  <a16:creationId xmlns:a16="http://schemas.microsoft.com/office/drawing/2014/main" id="{729CE148-4BC3-9844-81FA-3A670DB40EA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61643" y="2959715"/>
              <a:ext cx="727529" cy="272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34C8C54F-60CE-974F-8DEC-48BF9D4DF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0541" y="2993923"/>
            <a:ext cx="2133599" cy="589517"/>
          </a:xfrm>
          <a:prstGeom prst="ellips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1" name="Group 47">
            <a:extLst>
              <a:ext uri="{FF2B5EF4-FFF2-40B4-BE49-F238E27FC236}">
                <a16:creationId xmlns:a16="http://schemas.microsoft.com/office/drawing/2014/main" id="{E21D3C68-B8EF-A444-80F9-31E682114E08}"/>
              </a:ext>
            </a:extLst>
          </p:cNvPr>
          <p:cNvGrpSpPr>
            <a:grpSpLocks/>
          </p:cNvGrpSpPr>
          <p:nvPr/>
        </p:nvGrpSpPr>
        <p:grpSpPr bwMode="auto">
          <a:xfrm>
            <a:off x="970933" y="4616284"/>
            <a:ext cx="4182811" cy="338554"/>
            <a:chOff x="-1495096" y="3006031"/>
            <a:chExt cx="4184250" cy="337708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6254A49-A84C-F34C-9198-710668B581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495096" y="3006031"/>
              <a:ext cx="3779615" cy="337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No need to attach server name, port 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433589B-C5F2-A648-B005-02E951C7EF7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61625" y="3165929"/>
              <a:ext cx="727529" cy="272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802854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Example app: TCP server</a:t>
            </a:r>
            <a:endParaRPr lang="en-US" altLang="en-US" sz="5400" dirty="0">
              <a:solidFill>
                <a:srgbClr val="000099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5950741E-8292-7E41-84C1-46A070CA3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060" y="1922450"/>
            <a:ext cx="6269665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from socket import *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serverPort = 12000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serverSocket = socket(AF_INET,SOCK_STREAM)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serverSocket.bind(('',serverPort))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serverSocket.listen(1)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print('The server is ready to receive')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while True: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connectionSocket, addr = serverSocket.accept()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sentence = connectionSocket.recv(1024).decode()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capitalizedSentence = sentence.upper()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connectionSocket.send(capitalizedSentence.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                                                       encode())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connectionSocket.close()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311EF17F-3D4A-0B47-8BA1-C2C103586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060" y="1439850"/>
            <a:ext cx="28273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Python TCPServer</a:t>
            </a:r>
          </a:p>
        </p:txBody>
      </p:sp>
      <p:grpSp>
        <p:nvGrpSpPr>
          <p:cNvPr id="15" name="Group 13">
            <a:extLst>
              <a:ext uri="{FF2B5EF4-FFF2-40B4-BE49-F238E27FC236}">
                <a16:creationId xmlns:a16="http://schemas.microsoft.com/office/drawing/2014/main" id="{FE11A28B-1D9C-5D4D-9B45-8F8462E7E906}"/>
              </a:ext>
            </a:extLst>
          </p:cNvPr>
          <p:cNvGrpSpPr>
            <a:grpSpLocks/>
          </p:cNvGrpSpPr>
          <p:nvPr/>
        </p:nvGrpSpPr>
        <p:grpSpPr bwMode="auto">
          <a:xfrm>
            <a:off x="1724351" y="2556715"/>
            <a:ext cx="3374285" cy="338554"/>
            <a:chOff x="-749058" y="2414108"/>
            <a:chExt cx="3374330" cy="338257"/>
          </a:xfrm>
        </p:grpSpPr>
        <p:sp>
          <p:nvSpPr>
            <p:cNvPr id="16" name="TextBox 31">
              <a:extLst>
                <a:ext uri="{FF2B5EF4-FFF2-40B4-BE49-F238E27FC236}">
                  <a16:creationId xmlns:a16="http://schemas.microsoft.com/office/drawing/2014/main" id="{BE7B84C0-FF81-284C-B893-87D2A5F776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749058" y="2414108"/>
              <a:ext cx="3062331" cy="338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create TCP welcoming socket</a:t>
              </a:r>
            </a:p>
          </p:txBody>
        </p:sp>
        <p:cxnSp>
          <p:nvCxnSpPr>
            <p:cNvPr id="17" name="Straight Connector 32">
              <a:extLst>
                <a:ext uri="{FF2B5EF4-FFF2-40B4-BE49-F238E27FC236}">
                  <a16:creationId xmlns:a16="http://schemas.microsoft.com/office/drawing/2014/main" id="{9AC227D5-ACE3-9D45-9809-D827F0E36A3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36730" y="2597150"/>
              <a:ext cx="488542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8" name="Group 14">
            <a:extLst>
              <a:ext uri="{FF2B5EF4-FFF2-40B4-BE49-F238E27FC236}">
                <a16:creationId xmlns:a16="http://schemas.microsoft.com/office/drawing/2014/main" id="{FAAA7E9C-BFC7-834D-AA16-2DA4A476CDA2}"/>
              </a:ext>
            </a:extLst>
          </p:cNvPr>
          <p:cNvGrpSpPr>
            <a:grpSpLocks/>
          </p:cNvGrpSpPr>
          <p:nvPr/>
        </p:nvGrpSpPr>
        <p:grpSpPr bwMode="auto">
          <a:xfrm>
            <a:off x="2080634" y="3063061"/>
            <a:ext cx="3036870" cy="584775"/>
            <a:chOff x="-1667664" y="2908339"/>
            <a:chExt cx="4371910" cy="584044"/>
          </a:xfrm>
        </p:grpSpPr>
        <p:sp>
          <p:nvSpPr>
            <p:cNvPr id="19" name="TextBox 26">
              <a:extLst>
                <a:ext uri="{FF2B5EF4-FFF2-40B4-BE49-F238E27FC236}">
                  <a16:creationId xmlns:a16="http://schemas.microsoft.com/office/drawing/2014/main" id="{DDD9E670-279E-624F-9241-0F4EB31CF7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667664" y="2908339"/>
              <a:ext cx="4139198" cy="584044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 begins listening for  incoming TCP requests</a:t>
              </a:r>
            </a:p>
          </p:txBody>
        </p:sp>
        <p:cxnSp>
          <p:nvCxnSpPr>
            <p:cNvPr id="20" name="Straight Connector 30">
              <a:extLst>
                <a:ext uri="{FF2B5EF4-FFF2-40B4-BE49-F238E27FC236}">
                  <a16:creationId xmlns:a16="http://schemas.microsoft.com/office/drawing/2014/main" id="{24B55155-A531-764D-80EA-161809A2835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67825" y="3217286"/>
              <a:ext cx="736421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1" name="Group 15">
            <a:extLst>
              <a:ext uri="{FF2B5EF4-FFF2-40B4-BE49-F238E27FC236}">
                <a16:creationId xmlns:a16="http://schemas.microsoft.com/office/drawing/2014/main" id="{4E398AB3-CA85-1246-9B45-0A62FCD962C1}"/>
              </a:ext>
            </a:extLst>
          </p:cNvPr>
          <p:cNvGrpSpPr>
            <a:grpSpLocks/>
          </p:cNvGrpSpPr>
          <p:nvPr/>
        </p:nvGrpSpPr>
        <p:grpSpPr bwMode="auto">
          <a:xfrm>
            <a:off x="3328500" y="3824136"/>
            <a:ext cx="1858624" cy="297517"/>
            <a:chOff x="905004" y="3819988"/>
            <a:chExt cx="1859872" cy="298292"/>
          </a:xfrm>
        </p:grpSpPr>
        <p:sp>
          <p:nvSpPr>
            <p:cNvPr id="22" name="TextBox 34">
              <a:extLst>
                <a:ext uri="{FF2B5EF4-FFF2-40B4-BE49-F238E27FC236}">
                  <a16:creationId xmlns:a16="http://schemas.microsoft.com/office/drawing/2014/main" id="{94C20932-E37A-A347-85B8-6A71FAB668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5004" y="3819988"/>
              <a:ext cx="1859872" cy="298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loop forever</a:t>
              </a:r>
            </a:p>
          </p:txBody>
        </p:sp>
        <p:cxnSp>
          <p:nvCxnSpPr>
            <p:cNvPr id="23" name="Straight Connector 35">
              <a:extLst>
                <a:ext uri="{FF2B5EF4-FFF2-40B4-BE49-F238E27FC236}">
                  <a16:creationId xmlns:a16="http://schemas.microsoft.com/office/drawing/2014/main" id="{FAC42719-5F1D-0749-8621-F7DF2A166C6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87464" y="3964782"/>
              <a:ext cx="523192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4" name="Group 17">
            <a:extLst>
              <a:ext uri="{FF2B5EF4-FFF2-40B4-BE49-F238E27FC236}">
                <a16:creationId xmlns:a16="http://schemas.microsoft.com/office/drawing/2014/main" id="{F3B50B89-48C8-7E48-8FDE-4D6D8A826B11}"/>
              </a:ext>
            </a:extLst>
          </p:cNvPr>
          <p:cNvGrpSpPr>
            <a:grpSpLocks/>
          </p:cNvGrpSpPr>
          <p:nvPr/>
        </p:nvGrpSpPr>
        <p:grpSpPr bwMode="auto">
          <a:xfrm>
            <a:off x="906051" y="4140995"/>
            <a:ext cx="4273089" cy="502702"/>
            <a:chOff x="-812680" y="4044670"/>
            <a:chExt cx="3634217" cy="502843"/>
          </a:xfrm>
        </p:grpSpPr>
        <p:sp>
          <p:nvSpPr>
            <p:cNvPr id="34" name="TextBox 36">
              <a:extLst>
                <a:ext uri="{FF2B5EF4-FFF2-40B4-BE49-F238E27FC236}">
                  <a16:creationId xmlns:a16="http://schemas.microsoft.com/office/drawing/2014/main" id="{C7F6449F-1FAC-0144-AA7B-940049031E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12680" y="4044670"/>
              <a:ext cx="3634217" cy="5028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 waits on accept() for incoming requests, new socket created on return</a:t>
              </a:r>
            </a:p>
          </p:txBody>
        </p:sp>
        <p:cxnSp>
          <p:nvCxnSpPr>
            <p:cNvPr id="35" name="Straight Connector 39">
              <a:extLst>
                <a:ext uri="{FF2B5EF4-FFF2-40B4-BE49-F238E27FC236}">
                  <a16:creationId xmlns:a16="http://schemas.microsoft.com/office/drawing/2014/main" id="{1E61EC2C-2AF0-BD40-B849-E841D4D3D3F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37575" y="4188416"/>
              <a:ext cx="435213" cy="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6" name="Group 18">
            <a:extLst>
              <a:ext uri="{FF2B5EF4-FFF2-40B4-BE49-F238E27FC236}">
                <a16:creationId xmlns:a16="http://schemas.microsoft.com/office/drawing/2014/main" id="{2B25A781-3C5A-4345-B1BA-DEACB59F98D7}"/>
              </a:ext>
            </a:extLst>
          </p:cNvPr>
          <p:cNvGrpSpPr>
            <a:grpSpLocks/>
          </p:cNvGrpSpPr>
          <p:nvPr/>
        </p:nvGrpSpPr>
        <p:grpSpPr bwMode="auto">
          <a:xfrm>
            <a:off x="1951002" y="4771416"/>
            <a:ext cx="3154397" cy="584775"/>
            <a:chOff x="-463314" y="4140337"/>
            <a:chExt cx="3153124" cy="585085"/>
          </a:xfrm>
        </p:grpSpPr>
        <p:sp>
          <p:nvSpPr>
            <p:cNvPr id="37" name="TextBox 61">
              <a:extLst>
                <a:ext uri="{FF2B5EF4-FFF2-40B4-BE49-F238E27FC236}">
                  <a16:creationId xmlns:a16="http://schemas.microsoft.com/office/drawing/2014/main" id="{A4995AED-D7BB-0A43-8C79-4CAECC669A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63314" y="4140337"/>
              <a:ext cx="2746043" cy="585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read bytes from socket (but not address as in UDP)</a:t>
              </a:r>
            </a:p>
          </p:txBody>
        </p:sp>
        <p:cxnSp>
          <p:nvCxnSpPr>
            <p:cNvPr id="38" name="Straight Connector 62">
              <a:extLst>
                <a:ext uri="{FF2B5EF4-FFF2-40B4-BE49-F238E27FC236}">
                  <a16:creationId xmlns:a16="http://schemas.microsoft.com/office/drawing/2014/main" id="{39CA9B6C-408E-C74F-BCDD-01EC8665E7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94710" y="4288764"/>
              <a:ext cx="495100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9" name="Group 28">
            <a:extLst>
              <a:ext uri="{FF2B5EF4-FFF2-40B4-BE49-F238E27FC236}">
                <a16:creationId xmlns:a16="http://schemas.microsoft.com/office/drawing/2014/main" id="{2EF79CA3-2450-FB47-A075-DE884877B7F1}"/>
              </a:ext>
            </a:extLst>
          </p:cNvPr>
          <p:cNvGrpSpPr>
            <a:grpSpLocks/>
          </p:cNvGrpSpPr>
          <p:nvPr/>
        </p:nvGrpSpPr>
        <p:grpSpPr bwMode="auto">
          <a:xfrm>
            <a:off x="1026276" y="5902558"/>
            <a:ext cx="4079124" cy="584775"/>
            <a:chOff x="-1411416" y="4686923"/>
            <a:chExt cx="4079374" cy="585153"/>
          </a:xfrm>
        </p:grpSpPr>
        <p:sp>
          <p:nvSpPr>
            <p:cNvPr id="40" name="TextBox 29">
              <a:extLst>
                <a:ext uri="{FF2B5EF4-FFF2-40B4-BE49-F238E27FC236}">
                  <a16:creationId xmlns:a16="http://schemas.microsoft.com/office/drawing/2014/main" id="{4729B12D-4BE5-7649-A39B-A68529411C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411416" y="4686923"/>
              <a:ext cx="3902071" cy="585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close connection to this client (but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not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welcoming socket)</a:t>
              </a:r>
            </a:p>
          </p:txBody>
        </p:sp>
        <p:cxnSp>
          <p:nvCxnSpPr>
            <p:cNvPr id="41" name="Straight Connector 33">
              <a:extLst>
                <a:ext uri="{FF2B5EF4-FFF2-40B4-BE49-F238E27FC236}">
                  <a16:creationId xmlns:a16="http://schemas.microsoft.com/office/drawing/2014/main" id="{445EB81E-B12F-454D-80B8-5484BE29F55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72628" y="4843734"/>
              <a:ext cx="495330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436759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444DF140-929E-30D8-A55D-3F344279FB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7863" y="196850"/>
            <a:ext cx="7772400" cy="903288"/>
          </a:xfrm>
        </p:spPr>
        <p:txBody>
          <a:bodyPr/>
          <a:lstStyle/>
          <a:p>
            <a:r>
              <a:rPr lang="en-US" altLang="en-US" sz="3600"/>
              <a:t>Socket programming </a:t>
            </a:r>
            <a:r>
              <a:rPr lang="en-US" altLang="en-US" sz="3600" i="1">
                <a:solidFill>
                  <a:srgbClr val="CC0000"/>
                </a:solidFill>
              </a:rPr>
              <a:t>with TCP</a:t>
            </a:r>
            <a:endParaRPr lang="en-US" altLang="en-US" sz="3600">
              <a:solidFill>
                <a:srgbClr val="CC0000"/>
              </a:solidFill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207FA6A9-5EA3-E032-6A8C-0E29341E27A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172200" y="1350963"/>
            <a:ext cx="421005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CC0000"/>
                </a:solidFill>
              </a:rPr>
              <a:t>client must contact server</a:t>
            </a:r>
          </a:p>
          <a:p>
            <a:r>
              <a:rPr lang="en-US" altLang="en-US" sz="2000"/>
              <a:t>server process must first be running</a:t>
            </a:r>
          </a:p>
          <a:p>
            <a:r>
              <a:rPr lang="en-US" altLang="en-US" sz="2000"/>
              <a:t>server must have created socket (door) that welcomes client</a:t>
            </a:r>
            <a:r>
              <a:rPr lang="ja-JP" altLang="en-US" sz="2000"/>
              <a:t>’</a:t>
            </a:r>
            <a:r>
              <a:rPr lang="en-US" altLang="ja-JP" sz="2000"/>
              <a:t>s contact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CC0000"/>
                </a:solidFill>
              </a:rPr>
              <a:t>client contacts server by:</a:t>
            </a:r>
          </a:p>
          <a:p>
            <a:r>
              <a:rPr lang="en-US" altLang="en-US" sz="2000"/>
              <a:t>Creating TCP socket, specifying IP address, port number of server process</a:t>
            </a:r>
          </a:p>
          <a:p>
            <a:r>
              <a:rPr lang="en-US" altLang="en-US" sz="2000" i="1">
                <a:solidFill>
                  <a:srgbClr val="CC0000"/>
                </a:solidFill>
              </a:rPr>
              <a:t>when client creates socket:</a:t>
            </a:r>
            <a:r>
              <a:rPr lang="en-US" altLang="en-US" sz="2000"/>
              <a:t> client TCP establishes connection to server TCP</a:t>
            </a:r>
          </a:p>
          <a:p>
            <a:endParaRPr lang="en-US" altLang="en-US" sz="2000"/>
          </a:p>
        </p:txBody>
      </p:sp>
      <p:pic>
        <p:nvPicPr>
          <p:cNvPr id="36868" name="Picture 10">
            <a:extLst>
              <a:ext uri="{FF2B5EF4-FFF2-40B4-BE49-F238E27FC236}">
                <a16:creationId xmlns:a16="http://schemas.microsoft.com/office/drawing/2014/main" id="{555EE281-B535-3A13-485A-C046B40AC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67" t="12666" r="20833" b="20667"/>
          <a:stretch>
            <a:fillRect/>
          </a:stretch>
        </p:blipFill>
        <p:spPr bwMode="auto">
          <a:xfrm>
            <a:off x="1828800" y="1770063"/>
            <a:ext cx="3659188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B095128B-E8D7-9907-6039-450E409287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7863" y="196850"/>
            <a:ext cx="7772400" cy="903288"/>
          </a:xfrm>
        </p:spPr>
        <p:txBody>
          <a:bodyPr/>
          <a:lstStyle/>
          <a:p>
            <a:r>
              <a:rPr lang="en-US" altLang="en-US" sz="3600"/>
              <a:t>Socket programming </a:t>
            </a:r>
            <a:r>
              <a:rPr lang="en-US" altLang="en-US" sz="3600" i="1">
                <a:solidFill>
                  <a:srgbClr val="CC0000"/>
                </a:solidFill>
              </a:rPr>
              <a:t>with TCP</a:t>
            </a:r>
            <a:endParaRPr lang="en-US" altLang="en-US" sz="3600">
              <a:solidFill>
                <a:srgbClr val="CC0000"/>
              </a:solidFill>
            </a:endParaRP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7685A6ED-CBCE-5D54-DEC4-BE8EC003323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019800" y="1419226"/>
            <a:ext cx="4114800" cy="3000375"/>
          </a:xfrm>
        </p:spPr>
        <p:txBody>
          <a:bodyPr/>
          <a:lstStyle/>
          <a:p>
            <a:r>
              <a:rPr lang="en-US" altLang="en-US" sz="2000"/>
              <a:t>when contacted by client, </a:t>
            </a:r>
            <a:r>
              <a:rPr lang="en-US" altLang="en-US" sz="2000" i="1">
                <a:solidFill>
                  <a:srgbClr val="CC0000"/>
                </a:solidFill>
              </a:rPr>
              <a:t>server TCP creates new socket</a:t>
            </a:r>
            <a:r>
              <a:rPr lang="en-US" altLang="en-US" sz="2000"/>
              <a:t> for server process to communicate with that particular client</a:t>
            </a:r>
          </a:p>
          <a:p>
            <a:pPr lvl="1"/>
            <a:r>
              <a:rPr lang="en-US" altLang="en-US" sz="2000"/>
              <a:t>allows server to talk with multiple clients</a:t>
            </a:r>
          </a:p>
          <a:p>
            <a:pPr lvl="1"/>
            <a:r>
              <a:rPr lang="en-US" altLang="en-US" sz="2000"/>
              <a:t>source port numbers used to distinguish clients (more in Chap 3)</a:t>
            </a:r>
            <a:endParaRPr lang="en-US" altLang="en-US" sz="2000" i="1"/>
          </a:p>
        </p:txBody>
      </p:sp>
      <p:pic>
        <p:nvPicPr>
          <p:cNvPr id="37892" name="Picture 2">
            <a:extLst>
              <a:ext uri="{FF2B5EF4-FFF2-40B4-BE49-F238E27FC236}">
                <a16:creationId xmlns:a16="http://schemas.microsoft.com/office/drawing/2014/main" id="{E93AD838-01CA-E9BE-FCAF-2BAE8D5AA1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67" t="12666" r="20833" b="20667"/>
          <a:stretch>
            <a:fillRect/>
          </a:stretch>
        </p:blipFill>
        <p:spPr bwMode="auto">
          <a:xfrm>
            <a:off x="1984375" y="1281113"/>
            <a:ext cx="3659188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7893" name="Group 3">
            <a:extLst>
              <a:ext uri="{FF2B5EF4-FFF2-40B4-BE49-F238E27FC236}">
                <a16:creationId xmlns:a16="http://schemas.microsoft.com/office/drawing/2014/main" id="{24E2C321-0B29-87C1-A4CD-89C4CB47B001}"/>
              </a:ext>
            </a:extLst>
          </p:cNvPr>
          <p:cNvGrpSpPr>
            <a:grpSpLocks/>
          </p:cNvGrpSpPr>
          <p:nvPr/>
        </p:nvGrpSpPr>
        <p:grpSpPr bwMode="auto">
          <a:xfrm>
            <a:off x="2020889" y="4799018"/>
            <a:ext cx="3602037" cy="1230308"/>
            <a:chOff x="4772025" y="4522806"/>
            <a:chExt cx="2635448" cy="1229718"/>
          </a:xfrm>
        </p:grpSpPr>
        <p:sp>
          <p:nvSpPr>
            <p:cNvPr id="228359" name="Text Box 6">
              <a:extLst>
                <a:ext uri="{FF2B5EF4-FFF2-40B4-BE49-F238E27FC236}">
                  <a16:creationId xmlns:a16="http://schemas.microsoft.com/office/drawing/2014/main" id="{6FAA54C0-3191-B2C3-09FA-8F7D641C0E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4724" y="5032144"/>
              <a:ext cx="2342749" cy="720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85000"/>
                </a:lnSpc>
                <a:defRPr/>
              </a:pPr>
              <a:r>
                <a:rPr lang="en-US" altLang="en-US" sz="1600" dirty="0">
                  <a:solidFill>
                    <a:srgbClr val="000099"/>
                  </a:solidFill>
                  <a:latin typeface="+mn-lt"/>
                </a:rPr>
                <a:t>TCP provides reliable, in-order</a:t>
              </a:r>
            </a:p>
            <a:p>
              <a:pPr>
                <a:lnSpc>
                  <a:spcPct val="85000"/>
                </a:lnSpc>
                <a:defRPr/>
              </a:pPr>
              <a:r>
                <a:rPr lang="en-US" altLang="en-US" sz="1600" dirty="0">
                  <a:solidFill>
                    <a:srgbClr val="000099"/>
                  </a:solidFill>
                  <a:latin typeface="+mn-lt"/>
                </a:rPr>
                <a:t>byte-stream transfer (</a:t>
              </a:r>
              <a:r>
                <a:rPr lang="ja-JP" altLang="en-US" sz="1600" dirty="0">
                  <a:solidFill>
                    <a:srgbClr val="000099"/>
                  </a:solidFill>
                  <a:latin typeface="+mn-lt"/>
                </a:rPr>
                <a:t>“</a:t>
              </a:r>
              <a:r>
                <a:rPr lang="en-US" altLang="ja-JP" sz="1600" dirty="0">
                  <a:solidFill>
                    <a:srgbClr val="000099"/>
                  </a:solidFill>
                  <a:latin typeface="+mn-lt"/>
                </a:rPr>
                <a:t>pipe</a:t>
              </a:r>
              <a:r>
                <a:rPr lang="ja-JP" altLang="en-US" sz="1600" dirty="0">
                  <a:solidFill>
                    <a:srgbClr val="000099"/>
                  </a:solidFill>
                  <a:latin typeface="+mn-lt"/>
                </a:rPr>
                <a:t>”</a:t>
              </a:r>
              <a:r>
                <a:rPr lang="en-US" altLang="ja-JP" sz="1600" dirty="0">
                  <a:solidFill>
                    <a:srgbClr val="000099"/>
                  </a:solidFill>
                  <a:latin typeface="+mn-lt"/>
                </a:rPr>
                <a:t>) </a:t>
              </a:r>
            </a:p>
            <a:p>
              <a:pPr>
                <a:lnSpc>
                  <a:spcPct val="85000"/>
                </a:lnSpc>
                <a:defRPr/>
              </a:pPr>
              <a:r>
                <a:rPr lang="en-US" altLang="en-US" sz="1600" dirty="0">
                  <a:solidFill>
                    <a:srgbClr val="000099"/>
                  </a:solidFill>
                  <a:latin typeface="+mn-lt"/>
                </a:rPr>
                <a:t>between client and server</a:t>
              </a:r>
            </a:p>
          </p:txBody>
        </p:sp>
        <p:grpSp>
          <p:nvGrpSpPr>
            <p:cNvPr id="37895" name="Group 8">
              <a:extLst>
                <a:ext uri="{FF2B5EF4-FFF2-40B4-BE49-F238E27FC236}">
                  <a16:creationId xmlns:a16="http://schemas.microsoft.com/office/drawing/2014/main" id="{70CDC3BB-F46C-5326-1A0C-AC614FBB24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72025" y="4522806"/>
              <a:ext cx="2530475" cy="536576"/>
              <a:chOff x="96" y="3824"/>
              <a:chExt cx="1594" cy="338"/>
            </a:xfrm>
          </p:grpSpPr>
          <p:sp>
            <p:nvSpPr>
              <p:cNvPr id="37896" name="Rectangle 9">
                <a:extLst>
                  <a:ext uri="{FF2B5EF4-FFF2-40B4-BE49-F238E27FC236}">
                    <a16:creationId xmlns:a16="http://schemas.microsoft.com/office/drawing/2014/main" id="{05043979-7537-2ADA-C246-9377BEEFB7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" y="3824"/>
                <a:ext cx="85" cy="2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rgbClr val="000099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>
                    <a:srgbClr val="3333CC"/>
                  </a:buClr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228362" name="Text Box 10">
                <a:extLst>
                  <a:ext uri="{FF2B5EF4-FFF2-40B4-BE49-F238E27FC236}">
                    <a16:creationId xmlns:a16="http://schemas.microsoft.com/office/drawing/2014/main" id="{250CE192-E95B-0C42-A94A-8AA8B6334F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" y="3949"/>
                <a:ext cx="1494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algn="ctr">
                  <a:defRPr/>
                </a:pPr>
                <a:r>
                  <a:rPr lang="en-US" altLang="en-US" sz="1600" dirty="0">
                    <a:solidFill>
                      <a:srgbClr val="CC0000"/>
                    </a:solidFill>
                    <a:latin typeface="+mn-lt"/>
                  </a:rPr>
                  <a:t>application viewpoint: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8FC9A2C5-401D-BA8A-47E5-8FE088C3DD1B}"/>
              </a:ext>
            </a:extLst>
          </p:cNvPr>
          <p:cNvGrpSpPr/>
          <p:nvPr/>
        </p:nvGrpSpPr>
        <p:grpSpPr>
          <a:xfrm>
            <a:off x="9321127" y="4329416"/>
            <a:ext cx="2119679" cy="2033431"/>
            <a:chOff x="9321127" y="4683372"/>
            <a:chExt cx="2119679" cy="2033431"/>
          </a:xfrm>
        </p:grpSpPr>
        <p:grpSp>
          <p:nvGrpSpPr>
            <p:cNvPr id="47" name="Group 92">
              <a:extLst>
                <a:ext uri="{FF2B5EF4-FFF2-40B4-BE49-F238E27FC236}">
                  <a16:creationId xmlns:a16="http://schemas.microsoft.com/office/drawing/2014/main" id="{93F53F69-A099-28FB-E470-09E5A543E7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132704" y="4817788"/>
              <a:ext cx="1308102" cy="527050"/>
              <a:chOff x="2846" y="2348"/>
              <a:chExt cx="824" cy="332"/>
            </a:xfrm>
          </p:grpSpPr>
          <p:pic>
            <p:nvPicPr>
              <p:cNvPr id="48" name="Picture 87" descr="alarm_clock_ringing">
                <a:extLst>
                  <a:ext uri="{FF2B5EF4-FFF2-40B4-BE49-F238E27FC236}">
                    <a16:creationId xmlns:a16="http://schemas.microsoft.com/office/drawing/2014/main" id="{D58739BD-BB5C-E965-261F-F5A4F9CBE6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46" y="2348"/>
                <a:ext cx="275" cy="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" name="Text Box 91">
                <a:extLst>
                  <a:ext uri="{FF2B5EF4-FFF2-40B4-BE49-F238E27FC236}">
                    <a16:creationId xmlns:a16="http://schemas.microsoft.com/office/drawing/2014/main" id="{F0D582BA-68E2-7AC8-6811-9FF8EB8587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5" y="2491"/>
                <a:ext cx="605" cy="1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r" defTabSz="914400" rtl="0" eaLnBrk="0" fontAlgn="base" latinLnBrk="0" hangingPunct="0">
                  <a:lnSpc>
                    <a:spcPct val="7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timeout</a:t>
                </a:r>
              </a:p>
            </p:txBody>
          </p:sp>
        </p:grp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1637B945-AF7D-9567-2430-7021FFA80FE1}"/>
                </a:ext>
              </a:extLst>
            </p:cNvPr>
            <p:cNvSpPr/>
            <p:nvPr/>
          </p:nvSpPr>
          <p:spPr>
            <a:xfrm>
              <a:off x="9321127" y="5434414"/>
              <a:ext cx="1408176" cy="585216"/>
            </a:xfrm>
            <a:prstGeom prst="roundRect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handle timeout</a:t>
              </a:r>
            </a:p>
          </p:txBody>
        </p:sp>
        <p:cxnSp>
          <p:nvCxnSpPr>
            <p:cNvPr id="36" name="Elbow Connector 35">
              <a:extLst>
                <a:ext uri="{FF2B5EF4-FFF2-40B4-BE49-F238E27FC236}">
                  <a16:creationId xmlns:a16="http://schemas.microsoft.com/office/drawing/2014/main" id="{43CE0F49-9C3D-C195-0081-6A2420BA169A}"/>
                </a:ext>
              </a:extLst>
            </p:cNvPr>
            <p:cNvCxnSpPr>
              <a:cxnSpLocks/>
              <a:endCxn id="20" idx="0"/>
            </p:cNvCxnSpPr>
            <p:nvPr/>
          </p:nvCxnSpPr>
          <p:spPr>
            <a:xfrm rot="16200000" flipH="1">
              <a:off x="9312329" y="4721528"/>
              <a:ext cx="751042" cy="674730"/>
            </a:xfrm>
            <a:prstGeom prst="bentConnector3">
              <a:avLst>
                <a:gd name="adj1" fmla="val 2224"/>
              </a:avLst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BB34C9E-28F0-1925-F0ED-A4DD6415C1D7}"/>
                </a:ext>
              </a:extLst>
            </p:cNvPr>
            <p:cNvSpPr txBox="1"/>
            <p:nvPr/>
          </p:nvSpPr>
          <p:spPr>
            <a:xfrm>
              <a:off x="9791016" y="6132028"/>
              <a:ext cx="468398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…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8413ABF-1372-8936-16CA-665F40157A3B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>
              <a:off x="10025215" y="6019630"/>
              <a:ext cx="0" cy="31172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701492E-B23C-5E3F-4947-245FFDDCF531}"/>
              </a:ext>
            </a:extLst>
          </p:cNvPr>
          <p:cNvGrpSpPr/>
          <p:nvPr/>
        </p:nvGrpSpPr>
        <p:grpSpPr>
          <a:xfrm>
            <a:off x="9326880" y="3740748"/>
            <a:ext cx="2113926" cy="654568"/>
            <a:chOff x="9326880" y="4094704"/>
            <a:chExt cx="2113926" cy="654568"/>
          </a:xfrm>
        </p:grpSpPr>
        <p:grpSp>
          <p:nvGrpSpPr>
            <p:cNvPr id="663" name="Group 662">
              <a:extLst>
                <a:ext uri="{FF2B5EF4-FFF2-40B4-BE49-F238E27FC236}">
                  <a16:creationId xmlns:a16="http://schemas.microsoft.com/office/drawing/2014/main" id="{2A07C271-2D61-7479-7CAB-E4E7B48E93CE}"/>
                </a:ext>
              </a:extLst>
            </p:cNvPr>
            <p:cNvGrpSpPr/>
            <p:nvPr/>
          </p:nvGrpSpPr>
          <p:grpSpPr>
            <a:xfrm>
              <a:off x="9326880" y="4164497"/>
              <a:ext cx="1858277" cy="584775"/>
              <a:chOff x="8308864" y="5012428"/>
              <a:chExt cx="1858277" cy="584775"/>
            </a:xfrm>
          </p:grpSpPr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3BA449D7-FFF2-4A72-3CC5-05D3EF1CC8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08864" y="5387340"/>
                <a:ext cx="1371600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0" name="TextBox 649">
                <a:extLst>
                  <a:ext uri="{FF2B5EF4-FFF2-40B4-BE49-F238E27FC236}">
                    <a16:creationId xmlns:a16="http://schemas.microsoft.com/office/drawing/2014/main" id="{B42F45FB-AC8F-648D-B0CD-C5645AE4021B}"/>
                  </a:ext>
                </a:extLst>
              </p:cNvPr>
              <p:cNvSpPr txBox="1"/>
              <p:nvPr/>
            </p:nvSpPr>
            <p:spPr>
              <a:xfrm>
                <a:off x="9698743" y="5012428"/>
                <a:ext cx="468398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…</a:t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F1F199D-864F-D20C-99FE-F8BE55D4B2E4}"/>
                </a:ext>
              </a:extLst>
            </p:cNvPr>
            <p:cNvSpPr txBox="1"/>
            <p:nvPr/>
          </p:nvSpPr>
          <p:spPr>
            <a:xfrm>
              <a:off x="9551314" y="4094704"/>
              <a:ext cx="188949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receive a message</a:t>
              </a:r>
            </a:p>
          </p:txBody>
        </p:sp>
      </p:grpSp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</p:spPr>
        <p:txBody>
          <a:bodyPr>
            <a:normAutofit fontScale="90000"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Socket programming: waiting for multiple events</a:t>
            </a:r>
            <a:endParaRPr lang="en-US" altLang="en-US" sz="5400" dirty="0">
              <a:solidFill>
                <a:srgbClr val="000099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" name="Slide Number Placeholder 2">
            <a:extLst>
              <a:ext uri="{FF2B5EF4-FFF2-40B4-BE49-F238E27FC236}">
                <a16:creationId xmlns:a16="http://schemas.microsoft.com/office/drawing/2014/main" id="{CBD18514-E668-5544-8BF7-53F711E4F9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Application Layer: 2-</a:t>
            </a:r>
            <a:fld id="{C4204591-24BD-A542-B9D5-F8D8A88D2FEE}" type="slidenum">
              <a:rPr lang="en-US" smtClean="0"/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F5F9ED71-6561-B59D-1ED6-74880EE90FB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943130" y="1644456"/>
            <a:ext cx="10639863" cy="2028134"/>
          </a:xfrm>
        </p:spPr>
        <p:txBody>
          <a:bodyPr>
            <a:normAutofit fontScale="92500" lnSpcReduction="10000"/>
          </a:bodyPr>
          <a:lstStyle/>
          <a:p>
            <a:pPr marL="287338" indent="-287338">
              <a:buFont typeface="Wingdings" charset="2"/>
              <a:buChar char="§"/>
              <a:defRPr/>
            </a:pPr>
            <a:r>
              <a:rPr lang="en-US" dirty="0"/>
              <a:t>sometimes a program must </a:t>
            </a:r>
            <a:r>
              <a:rPr lang="en-US" dirty="0">
                <a:solidFill>
                  <a:srgbClr val="CC0000"/>
                </a:solidFill>
              </a:rPr>
              <a:t>wait for one of several events</a:t>
            </a:r>
            <a:r>
              <a:rPr lang="en-US" dirty="0"/>
              <a:t> to happen, e.g.,:</a:t>
            </a:r>
            <a:endParaRPr lang="en-US" sz="2000" dirty="0"/>
          </a:p>
          <a:p>
            <a:pPr marL="630238" lvl="1" indent="-287338">
              <a:buFont typeface="Wingdings" charset="2"/>
              <a:buChar char="§"/>
              <a:defRPr/>
            </a:pPr>
            <a:r>
              <a:rPr lang="en-US" dirty="0"/>
              <a:t>wait for either (i) a reply from another end of the socket, or (ii) timeout: </a:t>
            </a:r>
            <a:r>
              <a:rPr lang="en-US" dirty="0">
                <a:solidFill>
                  <a:srgbClr val="0000A3"/>
                </a:solidFill>
              </a:rPr>
              <a:t>timer</a:t>
            </a:r>
          </a:p>
          <a:p>
            <a:pPr marL="630238" lvl="1" indent="-287338">
              <a:buFont typeface="Wingdings" charset="2"/>
              <a:buChar char="§"/>
              <a:defRPr/>
            </a:pPr>
            <a:r>
              <a:rPr lang="en-US" dirty="0"/>
              <a:t>wait for replies from several different open sockets: </a:t>
            </a:r>
            <a:r>
              <a:rPr lang="en-US" dirty="0">
                <a:solidFill>
                  <a:srgbClr val="0000A3"/>
                </a:solidFill>
              </a:rPr>
              <a:t>select(), multithreading</a:t>
            </a:r>
          </a:p>
          <a:p>
            <a:pPr marL="287338" indent="-287338">
              <a:buFont typeface="Wingdings" charset="2"/>
              <a:buChar char="§"/>
              <a:defRPr/>
            </a:pPr>
            <a:r>
              <a:rPr lang="en-US" sz="2400" dirty="0"/>
              <a:t>timeouts are used extensively in networking </a:t>
            </a:r>
          </a:p>
          <a:p>
            <a:pPr marL="287338" indent="-287338">
              <a:buFont typeface="Wingdings" charset="2"/>
              <a:buChar char="§"/>
              <a:defRPr/>
            </a:pPr>
            <a:r>
              <a:rPr lang="en-US" sz="2400" dirty="0"/>
              <a:t>using timeouts with Python socket:</a:t>
            </a:r>
          </a:p>
          <a:p>
            <a:pPr marL="287338" indent="-287338">
              <a:buFont typeface="Wingdings" charset="2"/>
              <a:buChar char="§"/>
              <a:defRPr/>
            </a:pPr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A457FA4-BAAE-1956-DB07-A2A2D20BE947}"/>
              </a:ext>
            </a:extLst>
          </p:cNvPr>
          <p:cNvSpPr/>
          <p:nvPr/>
        </p:nvSpPr>
        <p:spPr>
          <a:xfrm>
            <a:off x="1093634" y="3913192"/>
            <a:ext cx="1408176" cy="585216"/>
          </a:xfrm>
          <a:prstGeom prst="round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socket()</a:t>
            </a:r>
          </a:p>
        </p:txBody>
      </p:sp>
      <p:grpSp>
        <p:nvGrpSpPr>
          <p:cNvPr id="657" name="Group 656">
            <a:extLst>
              <a:ext uri="{FF2B5EF4-FFF2-40B4-BE49-F238E27FC236}">
                <a16:creationId xmlns:a16="http://schemas.microsoft.com/office/drawing/2014/main" id="{D53ED452-1D91-8365-86E3-FBDC1725E44C}"/>
              </a:ext>
            </a:extLst>
          </p:cNvPr>
          <p:cNvGrpSpPr/>
          <p:nvPr/>
        </p:nvGrpSpPr>
        <p:grpSpPr>
          <a:xfrm>
            <a:off x="2501810" y="3913192"/>
            <a:ext cx="1689194" cy="585216"/>
            <a:chOff x="3195550" y="5094766"/>
            <a:chExt cx="1689194" cy="585216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EF6511DB-ABA1-B8B3-2B31-6DE71D286EB8}"/>
                </a:ext>
              </a:extLst>
            </p:cNvPr>
            <p:cNvSpPr/>
            <p:nvPr/>
          </p:nvSpPr>
          <p:spPr>
            <a:xfrm>
              <a:off x="3476568" y="5094766"/>
              <a:ext cx="1408176" cy="585216"/>
            </a:xfrm>
            <a:prstGeom prst="roundRect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connect()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41A29C7-C8B1-4553-0885-5F957F8BE47E}"/>
                </a:ext>
              </a:extLst>
            </p:cNvPr>
            <p:cNvCxnSpPr>
              <a:cxnSpLocks/>
              <a:stCxn id="9" idx="3"/>
              <a:endCxn id="10" idx="1"/>
            </p:cNvCxnSpPr>
            <p:nvPr/>
          </p:nvCxnSpPr>
          <p:spPr>
            <a:xfrm>
              <a:off x="3195550" y="5387374"/>
              <a:ext cx="281018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8" name="Group 657">
            <a:extLst>
              <a:ext uri="{FF2B5EF4-FFF2-40B4-BE49-F238E27FC236}">
                <a16:creationId xmlns:a16="http://schemas.microsoft.com/office/drawing/2014/main" id="{E4677394-E79E-6D5D-4983-F90183AAABA6}"/>
              </a:ext>
            </a:extLst>
          </p:cNvPr>
          <p:cNvGrpSpPr/>
          <p:nvPr/>
        </p:nvGrpSpPr>
        <p:grpSpPr>
          <a:xfrm>
            <a:off x="4191004" y="3916382"/>
            <a:ext cx="1714735" cy="585216"/>
            <a:chOff x="4970761" y="5092335"/>
            <a:chExt cx="1714735" cy="585216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5EBE706C-55C0-8AE4-2C7A-F91D92BE6209}"/>
                </a:ext>
              </a:extLst>
            </p:cNvPr>
            <p:cNvSpPr/>
            <p:nvPr/>
          </p:nvSpPr>
          <p:spPr>
            <a:xfrm>
              <a:off x="5277320" y="5092335"/>
              <a:ext cx="1408176" cy="585216"/>
            </a:xfrm>
            <a:prstGeom prst="roundRect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send()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8729C34-56E6-8CEE-6EBF-D5611F7ACEBC}"/>
                </a:ext>
              </a:extLst>
            </p:cNvPr>
            <p:cNvCxnSpPr>
              <a:cxnSpLocks/>
              <a:stCxn id="10" idx="3"/>
              <a:endCxn id="11" idx="1"/>
            </p:cNvCxnSpPr>
            <p:nvPr/>
          </p:nvCxnSpPr>
          <p:spPr>
            <a:xfrm>
              <a:off x="4970761" y="5381753"/>
              <a:ext cx="306559" cy="319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9" name="Group 658">
            <a:extLst>
              <a:ext uri="{FF2B5EF4-FFF2-40B4-BE49-F238E27FC236}">
                <a16:creationId xmlns:a16="http://schemas.microsoft.com/office/drawing/2014/main" id="{31D27139-7014-294D-44F1-39A7A64CDC79}"/>
              </a:ext>
            </a:extLst>
          </p:cNvPr>
          <p:cNvGrpSpPr/>
          <p:nvPr/>
        </p:nvGrpSpPr>
        <p:grpSpPr>
          <a:xfrm>
            <a:off x="7627941" y="3916362"/>
            <a:ext cx="1749846" cy="585216"/>
            <a:chOff x="6736402" y="5085622"/>
            <a:chExt cx="1749846" cy="585216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B3FC058A-5DF2-4F66-2C77-AF57E98AA0F0}"/>
                </a:ext>
              </a:extLst>
            </p:cNvPr>
            <p:cNvSpPr/>
            <p:nvPr/>
          </p:nvSpPr>
          <p:spPr>
            <a:xfrm>
              <a:off x="7078072" y="5085622"/>
              <a:ext cx="1408176" cy="585216"/>
            </a:xfrm>
            <a:prstGeom prst="roundRect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recv()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CB8331D-9779-EEFB-937A-105F8F747417}"/>
                </a:ext>
              </a:extLst>
            </p:cNvPr>
            <p:cNvCxnSpPr>
              <a:cxnSpLocks/>
              <a:stCxn id="7" idx="3"/>
              <a:endCxn id="12" idx="1"/>
            </p:cNvCxnSpPr>
            <p:nvPr/>
          </p:nvCxnSpPr>
          <p:spPr>
            <a:xfrm flipV="1">
              <a:off x="6736402" y="5378230"/>
              <a:ext cx="341670" cy="392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7E6C144-052E-2FCA-A1EF-9CF18163E4D9}"/>
              </a:ext>
            </a:extLst>
          </p:cNvPr>
          <p:cNvSpPr txBox="1"/>
          <p:nvPr/>
        </p:nvSpPr>
        <p:spPr>
          <a:xfrm>
            <a:off x="13219033" y="4894239"/>
            <a:ext cx="171245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throw exception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76AEAF-D1E8-C2A2-EB78-79246E17C02C}"/>
              </a:ext>
            </a:extLst>
          </p:cNvPr>
          <p:cNvSpPr txBox="1"/>
          <p:nvPr/>
        </p:nvSpPr>
        <p:spPr>
          <a:xfrm>
            <a:off x="321864" y="7020373"/>
            <a:ext cx="6476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Show example: connect wordle client to random port, it will freeze.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FA4CAB5-225D-5F0E-FEE5-5F401E0466D7}"/>
              </a:ext>
            </a:extLst>
          </p:cNvPr>
          <p:cNvGrpSpPr/>
          <p:nvPr/>
        </p:nvGrpSpPr>
        <p:grpSpPr>
          <a:xfrm>
            <a:off x="5905739" y="3920286"/>
            <a:ext cx="1722202" cy="585216"/>
            <a:chOff x="6764046" y="5092187"/>
            <a:chExt cx="1722202" cy="585216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D0CF3567-27A4-6AEC-1161-6C985E83D607}"/>
                </a:ext>
              </a:extLst>
            </p:cNvPr>
            <p:cNvSpPr/>
            <p:nvPr/>
          </p:nvSpPr>
          <p:spPr>
            <a:xfrm>
              <a:off x="7078072" y="5092187"/>
              <a:ext cx="1408176" cy="585216"/>
            </a:xfrm>
            <a:prstGeom prst="roundRect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settimeout()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BA4D986-87B1-4E8E-1E63-9093AB40C171}"/>
                </a:ext>
              </a:extLst>
            </p:cNvPr>
            <p:cNvCxnSpPr>
              <a:cxnSpLocks/>
              <a:stCxn id="11" idx="3"/>
              <a:endCxn id="7" idx="1"/>
            </p:cNvCxnSpPr>
            <p:nvPr/>
          </p:nvCxnSpPr>
          <p:spPr>
            <a:xfrm>
              <a:off x="6764046" y="5380891"/>
              <a:ext cx="314026" cy="390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D5DE7281-2F14-0F5A-6DFA-4C657BFEF5CF}"/>
              </a:ext>
            </a:extLst>
          </p:cNvPr>
          <p:cNvSpPr txBox="1"/>
          <p:nvPr/>
        </p:nvSpPr>
        <p:spPr>
          <a:xfrm>
            <a:off x="7069659" y="7882296"/>
            <a:ext cx="179562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handle exception</a:t>
            </a:r>
          </a:p>
        </p:txBody>
      </p:sp>
    </p:spTree>
    <p:extLst>
      <p:ext uri="{BB962C8B-B14F-4D97-AF65-F5344CB8AC3E}">
        <p14:creationId xmlns:p14="http://schemas.microsoft.com/office/powerpoint/2010/main" val="536565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ine 25">
            <a:extLst>
              <a:ext uri="{FF2B5EF4-FFF2-40B4-BE49-F238E27FC236}">
                <a16:creationId xmlns:a16="http://schemas.microsoft.com/office/drawing/2014/main" id="{C8B17E67-5A89-99E1-F4AC-BF62D60F03A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2340705"/>
            <a:ext cx="10210800" cy="0"/>
          </a:xfrm>
          <a:prstGeom prst="line">
            <a:avLst/>
          </a:prstGeom>
          <a:noFill/>
          <a:ln w="57150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50F8C-4B1D-4875-9E51-6FF0B2674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Application Layer: 2-</a:t>
            </a:r>
            <a:fld id="{C4204591-24BD-A542-B9D5-F8D8A88D2FEE}" type="slidenum">
              <a:rPr lang="en-US" smtClean="0"/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93E685-17A4-FC9E-DBF4-FCEEAC1F7FFF}"/>
              </a:ext>
            </a:extLst>
          </p:cNvPr>
          <p:cNvSpPr txBox="1"/>
          <p:nvPr/>
        </p:nvSpPr>
        <p:spPr>
          <a:xfrm>
            <a:off x="980117" y="2577803"/>
            <a:ext cx="20201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s.settimeout(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30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272C691-D8C3-38F9-9C3A-C7DD4926F134}"/>
              </a:ext>
            </a:extLst>
          </p:cNvPr>
          <p:cNvSpPr/>
          <p:nvPr/>
        </p:nvSpPr>
        <p:spPr>
          <a:xfrm>
            <a:off x="1737840" y="2156542"/>
            <a:ext cx="358140" cy="35814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A16A193-6C10-D1E9-3328-1736030156ED}"/>
              </a:ext>
            </a:extLst>
          </p:cNvPr>
          <p:cNvGrpSpPr/>
          <p:nvPr/>
        </p:nvGrpSpPr>
        <p:grpSpPr>
          <a:xfrm>
            <a:off x="3143404" y="1678625"/>
            <a:ext cx="1582770" cy="1279362"/>
            <a:chOff x="3143404" y="1678625"/>
            <a:chExt cx="1582770" cy="127936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A38D4AC-68C7-46B3-2C76-079B007BC9F8}"/>
                </a:ext>
              </a:extLst>
            </p:cNvPr>
            <p:cNvSpPr txBox="1"/>
            <p:nvPr/>
          </p:nvSpPr>
          <p:spPr>
            <a:xfrm>
              <a:off x="3143404" y="2557877"/>
              <a:ext cx="11190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s.recv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()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82EF0B9-5356-0131-EBF2-EA304817B01D}"/>
                </a:ext>
              </a:extLst>
            </p:cNvPr>
            <p:cNvSpPr/>
            <p:nvPr/>
          </p:nvSpPr>
          <p:spPr>
            <a:xfrm>
              <a:off x="3402009" y="2156542"/>
              <a:ext cx="358140" cy="35814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1986B28-DC36-9FBC-0416-2551B103F140}"/>
                </a:ext>
              </a:extLst>
            </p:cNvPr>
            <p:cNvSpPr txBox="1"/>
            <p:nvPr/>
          </p:nvSpPr>
          <p:spPr>
            <a:xfrm>
              <a:off x="3384717" y="1678625"/>
              <a:ext cx="13414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timer starts!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6597F89-B705-2D33-6320-CA6E3386B792}"/>
              </a:ext>
            </a:extLst>
          </p:cNvPr>
          <p:cNvGrpSpPr/>
          <p:nvPr/>
        </p:nvGrpSpPr>
        <p:grpSpPr>
          <a:xfrm>
            <a:off x="8955387" y="1637453"/>
            <a:ext cx="2398413" cy="1525484"/>
            <a:chOff x="8955387" y="1637453"/>
            <a:chExt cx="2398413" cy="152548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A867EB-5ADA-2AEC-6AAB-723D6EA274DF}"/>
                </a:ext>
              </a:extLst>
            </p:cNvPr>
            <p:cNvSpPr txBox="1"/>
            <p:nvPr/>
          </p:nvSpPr>
          <p:spPr>
            <a:xfrm>
              <a:off x="8955387" y="2516606"/>
              <a:ext cx="239841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interrupt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s.recv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() &amp;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raise timeout exception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4B1B365-E58D-2A67-B93A-0983D2A237DE}"/>
                </a:ext>
              </a:extLst>
            </p:cNvPr>
            <p:cNvSpPr/>
            <p:nvPr/>
          </p:nvSpPr>
          <p:spPr>
            <a:xfrm>
              <a:off x="9916950" y="2160350"/>
              <a:ext cx="358140" cy="35814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5" name="Picture 87" descr="alarm_clock_ringing">
              <a:extLst>
                <a:ext uri="{FF2B5EF4-FFF2-40B4-BE49-F238E27FC236}">
                  <a16:creationId xmlns:a16="http://schemas.microsoft.com/office/drawing/2014/main" id="{995D0104-5C8E-1A66-F2EF-D23E1D5480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09626" y="1637453"/>
              <a:ext cx="436563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Text Box 91">
              <a:extLst>
                <a:ext uri="{FF2B5EF4-FFF2-40B4-BE49-F238E27FC236}">
                  <a16:creationId xmlns:a16="http://schemas.microsoft.com/office/drawing/2014/main" id="{BE4C5224-021E-C8EF-40C2-6351ED166D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91075" y="1798567"/>
              <a:ext cx="960439" cy="3000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7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timeout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973C3E2-6216-9C20-15AB-66E20BA7012F}"/>
              </a:ext>
            </a:extLst>
          </p:cNvPr>
          <p:cNvGrpSpPr/>
          <p:nvPr/>
        </p:nvGrpSpPr>
        <p:grpSpPr>
          <a:xfrm>
            <a:off x="996446" y="4267853"/>
            <a:ext cx="10357354" cy="821371"/>
            <a:chOff x="996446" y="4267853"/>
            <a:chExt cx="10357354" cy="821371"/>
          </a:xfrm>
        </p:grpSpPr>
        <p:sp>
          <p:nvSpPr>
            <p:cNvPr id="17" name="Line 25">
              <a:extLst>
                <a:ext uri="{FF2B5EF4-FFF2-40B4-BE49-F238E27FC236}">
                  <a16:creationId xmlns:a16="http://schemas.microsoft.com/office/drawing/2014/main" id="{BDDA05EA-9AA0-97AF-7ED8-EA25166315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3000" y="4452016"/>
              <a:ext cx="10210800" cy="0"/>
            </a:xfrm>
            <a:prstGeom prst="line">
              <a:avLst/>
            </a:prstGeom>
            <a:noFill/>
            <a:ln w="5715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BA27198-F672-7911-BF43-58C614E3B906}"/>
                </a:ext>
              </a:extLst>
            </p:cNvPr>
            <p:cNvSpPr txBox="1"/>
            <p:nvPr/>
          </p:nvSpPr>
          <p:spPr>
            <a:xfrm>
              <a:off x="996446" y="4689114"/>
              <a:ext cx="202010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s.settimeout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(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10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F3DA307-1508-EAE6-2738-BC9D7595DCEA}"/>
                </a:ext>
              </a:extLst>
            </p:cNvPr>
            <p:cNvSpPr/>
            <p:nvPr/>
          </p:nvSpPr>
          <p:spPr>
            <a:xfrm>
              <a:off x="1737840" y="4267853"/>
              <a:ext cx="358140" cy="35814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3096885-715D-76A0-3182-1B6A668AE1B1}"/>
              </a:ext>
            </a:extLst>
          </p:cNvPr>
          <p:cNvGrpSpPr/>
          <p:nvPr/>
        </p:nvGrpSpPr>
        <p:grpSpPr>
          <a:xfrm>
            <a:off x="2953611" y="3876924"/>
            <a:ext cx="1341457" cy="1192374"/>
            <a:chOff x="2953611" y="3876924"/>
            <a:chExt cx="1341457" cy="119237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2E7240D-61C1-7804-79F3-D65716FF9C3F}"/>
                </a:ext>
              </a:extLst>
            </p:cNvPr>
            <p:cNvSpPr txBox="1"/>
            <p:nvPr/>
          </p:nvSpPr>
          <p:spPr>
            <a:xfrm>
              <a:off x="3176063" y="4669188"/>
              <a:ext cx="10863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s.recv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()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0009779-8D38-E854-A7C6-29CF7408AEBD}"/>
                </a:ext>
              </a:extLst>
            </p:cNvPr>
            <p:cNvSpPr/>
            <p:nvPr/>
          </p:nvSpPr>
          <p:spPr>
            <a:xfrm>
              <a:off x="3402009" y="4267853"/>
              <a:ext cx="358140" cy="35814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FAA9E51-8B12-691E-D8D6-8889908518AF}"/>
                </a:ext>
              </a:extLst>
            </p:cNvPr>
            <p:cNvSpPr txBox="1"/>
            <p:nvPr/>
          </p:nvSpPr>
          <p:spPr>
            <a:xfrm>
              <a:off x="2953611" y="3876924"/>
              <a:ext cx="13414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timer starts!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3F359B8-EDE5-1CCA-2439-DF7D8D9185AF}"/>
              </a:ext>
            </a:extLst>
          </p:cNvPr>
          <p:cNvGrpSpPr/>
          <p:nvPr/>
        </p:nvGrpSpPr>
        <p:grpSpPr>
          <a:xfrm>
            <a:off x="4446123" y="3623736"/>
            <a:ext cx="1889492" cy="1002257"/>
            <a:chOff x="4446123" y="3623736"/>
            <a:chExt cx="1889492" cy="1002257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8F19865-1DBF-B031-6785-462B30B681D3}"/>
                </a:ext>
              </a:extLst>
            </p:cNvPr>
            <p:cNvSpPr/>
            <p:nvPr/>
          </p:nvSpPr>
          <p:spPr>
            <a:xfrm>
              <a:off x="5087068" y="4267853"/>
              <a:ext cx="358140" cy="35814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C5BC3E8-54CE-9B18-EA79-66605E6BEAD4}"/>
                </a:ext>
              </a:extLst>
            </p:cNvPr>
            <p:cNvSpPr txBox="1"/>
            <p:nvPr/>
          </p:nvSpPr>
          <p:spPr>
            <a:xfrm>
              <a:off x="4446123" y="3623736"/>
              <a:ext cx="188949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receive a message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&amp; timer stop!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FCCA15A-9CB6-C4E2-8350-444F579EB36E}"/>
              </a:ext>
            </a:extLst>
          </p:cNvPr>
          <p:cNvGrpSpPr/>
          <p:nvPr/>
        </p:nvGrpSpPr>
        <p:grpSpPr>
          <a:xfrm>
            <a:off x="6059118" y="3916704"/>
            <a:ext cx="1341457" cy="1141035"/>
            <a:chOff x="6059118" y="3916704"/>
            <a:chExt cx="1341457" cy="114103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F10FD2D-B5AE-6162-A76C-9AA5C1D460DB}"/>
                </a:ext>
              </a:extLst>
            </p:cNvPr>
            <p:cNvSpPr txBox="1"/>
            <p:nvPr/>
          </p:nvSpPr>
          <p:spPr>
            <a:xfrm>
              <a:off x="6235414" y="4657629"/>
              <a:ext cx="10863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s.recv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()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99F3F03-7B05-6F57-E777-BFF28E7FBBF3}"/>
                </a:ext>
              </a:extLst>
            </p:cNvPr>
            <p:cNvSpPr/>
            <p:nvPr/>
          </p:nvSpPr>
          <p:spPr>
            <a:xfrm>
              <a:off x="6480410" y="4265835"/>
              <a:ext cx="358140" cy="35814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8A0D417-C180-AD79-A729-D17A0441414B}"/>
                </a:ext>
              </a:extLst>
            </p:cNvPr>
            <p:cNvSpPr txBox="1"/>
            <p:nvPr/>
          </p:nvSpPr>
          <p:spPr>
            <a:xfrm>
              <a:off x="6059118" y="3916704"/>
              <a:ext cx="13414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timer starts!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D39D156-0CAE-2F35-3E5C-C3C2F2BA7A78}"/>
              </a:ext>
            </a:extLst>
          </p:cNvPr>
          <p:cNvGrpSpPr/>
          <p:nvPr/>
        </p:nvGrpSpPr>
        <p:grpSpPr>
          <a:xfrm>
            <a:off x="9598373" y="3733597"/>
            <a:ext cx="2398413" cy="1626302"/>
            <a:chOff x="9598373" y="3733597"/>
            <a:chExt cx="2398413" cy="162630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90F8558-EAE8-1617-DAD8-C54085A7E0D4}"/>
                </a:ext>
              </a:extLst>
            </p:cNvPr>
            <p:cNvSpPr txBox="1"/>
            <p:nvPr/>
          </p:nvSpPr>
          <p:spPr>
            <a:xfrm>
              <a:off x="9598373" y="4713568"/>
              <a:ext cx="239841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interrupt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s.recv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() &amp;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raise timeout exception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EF4BCC2-519B-ED34-44C2-EAE862913159}"/>
                </a:ext>
              </a:extLst>
            </p:cNvPr>
            <p:cNvSpPr/>
            <p:nvPr/>
          </p:nvSpPr>
          <p:spPr>
            <a:xfrm>
              <a:off x="10488450" y="4271661"/>
              <a:ext cx="358140" cy="35814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Text Box 91">
              <a:extLst>
                <a:ext uri="{FF2B5EF4-FFF2-40B4-BE49-F238E27FC236}">
                  <a16:creationId xmlns:a16="http://schemas.microsoft.com/office/drawing/2014/main" id="{517F7020-185F-C4E9-8EF5-00AC41200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73945" y="3886420"/>
              <a:ext cx="960439" cy="3000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7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timeout</a:t>
              </a:r>
            </a:p>
          </p:txBody>
        </p:sp>
        <p:pic>
          <p:nvPicPr>
            <p:cNvPr id="32" name="Picture 87" descr="alarm_clock_ringing">
              <a:extLst>
                <a:ext uri="{FF2B5EF4-FFF2-40B4-BE49-F238E27FC236}">
                  <a16:creationId xmlns:a16="http://schemas.microsoft.com/office/drawing/2014/main" id="{F1D65421-BC2F-E4CF-A03D-D9EA6B0BDF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97476" y="3733597"/>
              <a:ext cx="436563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9" name="Rounded Rectangular Callout 38">
            <a:extLst>
              <a:ext uri="{FF2B5EF4-FFF2-40B4-BE49-F238E27FC236}">
                <a16:creationId xmlns:a16="http://schemas.microsoft.com/office/drawing/2014/main" id="{CFB62DD4-4669-291F-177D-95873E674B90}"/>
              </a:ext>
            </a:extLst>
          </p:cNvPr>
          <p:cNvSpPr/>
          <p:nvPr/>
        </p:nvSpPr>
        <p:spPr>
          <a:xfrm>
            <a:off x="1570895" y="5720359"/>
            <a:ext cx="8655774" cy="730631"/>
          </a:xfrm>
          <a:prstGeom prst="wedgeRoundRectCallout">
            <a:avLst>
              <a:gd name="adj1" fmla="val -41685"/>
              <a:gd name="adj2" fmla="val -131854"/>
              <a:gd name="adj3" fmla="val 16667"/>
            </a:avLst>
          </a:prstGeom>
          <a:ln w="34925">
            <a:solidFill>
              <a:srgbClr val="CC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Set a timeout on all future socket operations of that specific socket! 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DDC1186-9CE2-403B-E783-B674FC13F2F1}"/>
              </a:ext>
            </a:extLst>
          </p:cNvPr>
          <p:cNvGrpSpPr/>
          <p:nvPr/>
        </p:nvGrpSpPr>
        <p:grpSpPr>
          <a:xfrm>
            <a:off x="3889531" y="1713789"/>
            <a:ext cx="5887562" cy="560973"/>
            <a:chOff x="3889531" y="1713789"/>
            <a:chExt cx="5887562" cy="56097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AA50C2F-309F-AB78-0560-CC16D507778C}"/>
                </a:ext>
              </a:extLst>
            </p:cNvPr>
            <p:cNvSpPr txBox="1"/>
            <p:nvPr/>
          </p:nvSpPr>
          <p:spPr>
            <a:xfrm>
              <a:off x="5533981" y="1713789"/>
              <a:ext cx="27433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no packet arrives in 30 secs</a:t>
              </a:r>
            </a:p>
          </p:txBody>
        </p:sp>
        <p:sp>
          <p:nvSpPr>
            <p:cNvPr id="40" name="Right Brace 39">
              <a:extLst>
                <a:ext uri="{FF2B5EF4-FFF2-40B4-BE49-F238E27FC236}">
                  <a16:creationId xmlns:a16="http://schemas.microsoft.com/office/drawing/2014/main" id="{E040FF53-7C34-443A-EA92-A406119E1E2E}"/>
                </a:ext>
              </a:extLst>
            </p:cNvPr>
            <p:cNvSpPr/>
            <p:nvPr/>
          </p:nvSpPr>
          <p:spPr>
            <a:xfrm rot="16200000">
              <a:off x="6717838" y="-784492"/>
              <a:ext cx="230947" cy="5887562"/>
            </a:xfrm>
            <a:prstGeom prst="rightBrace">
              <a:avLst/>
            </a:prstGeom>
            <a:ln w="38100">
              <a:solidFill>
                <a:srgbClr val="C0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2153B2A-A8C9-899E-D598-0DF3F658C494}"/>
              </a:ext>
            </a:extLst>
          </p:cNvPr>
          <p:cNvGrpSpPr/>
          <p:nvPr/>
        </p:nvGrpSpPr>
        <p:grpSpPr>
          <a:xfrm>
            <a:off x="6905671" y="3735288"/>
            <a:ext cx="3481022" cy="614857"/>
            <a:chOff x="6905671" y="3735288"/>
            <a:chExt cx="3481022" cy="61485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0909FD9-D1FA-43B5-2168-09FA646BD2F6}"/>
                </a:ext>
              </a:extLst>
            </p:cNvPr>
            <p:cNvSpPr txBox="1"/>
            <p:nvPr/>
          </p:nvSpPr>
          <p:spPr>
            <a:xfrm>
              <a:off x="7483289" y="3735288"/>
              <a:ext cx="27433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no packet arrives in 10 secs</a:t>
              </a:r>
            </a:p>
          </p:txBody>
        </p:sp>
        <p:sp>
          <p:nvSpPr>
            <p:cNvPr id="41" name="Right Brace 40">
              <a:extLst>
                <a:ext uri="{FF2B5EF4-FFF2-40B4-BE49-F238E27FC236}">
                  <a16:creationId xmlns:a16="http://schemas.microsoft.com/office/drawing/2014/main" id="{1105B5E2-3D12-65DB-8652-E9AA6190CEEB}"/>
                </a:ext>
              </a:extLst>
            </p:cNvPr>
            <p:cNvSpPr/>
            <p:nvPr/>
          </p:nvSpPr>
          <p:spPr>
            <a:xfrm rot="16200000">
              <a:off x="8528260" y="2491713"/>
              <a:ext cx="235843" cy="3481022"/>
            </a:xfrm>
            <a:prstGeom prst="rightBrace">
              <a:avLst/>
            </a:prstGeom>
            <a:ln w="38100">
              <a:solidFill>
                <a:srgbClr val="C0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E38AAB5C-53D2-FA7B-A32A-85D30051936B}"/>
              </a:ext>
            </a:extLst>
          </p:cNvPr>
          <p:cNvSpPr txBox="1">
            <a:spLocks/>
          </p:cNvSpPr>
          <p:nvPr/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 Light" panose="020F0302020204030204"/>
                <a:ea typeface="ＭＳ Ｐゴシック" panose="020B0600070205080204" pitchFamily="34" charset="-128"/>
                <a:cs typeface="+mj-cs"/>
              </a:rPr>
              <a:t>How Python </a:t>
            </a:r>
            <a:r>
              <a:rPr kumimoji="0" lang="en-US" alt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 Light" panose="020F0302020204030204"/>
                <a:ea typeface="ＭＳ Ｐゴシック" panose="020B0600070205080204" pitchFamily="34" charset="-128"/>
                <a:cs typeface="+mj-cs"/>
              </a:rPr>
              <a:t>socket.settimeout</a:t>
            </a:r>
            <a:r>
              <a:rPr kumimoji="0" lang="en-US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 Light" panose="020F0302020204030204"/>
                <a:ea typeface="ＭＳ Ｐゴシック" panose="020B0600070205080204" pitchFamily="34" charset="-128"/>
                <a:cs typeface="+mj-cs"/>
              </a:rPr>
              <a:t>() works?</a:t>
            </a:r>
            <a:endParaRPr kumimoji="0" lang="en-US" altLang="en-US" sz="54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 Light" panose="020F0302020204030204"/>
              <a:ea typeface="ＭＳ Ｐゴシック" panose="020B0600070205080204" pitchFamily="34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97508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Socket programming: </a:t>
            </a:r>
            <a:r>
              <a:rPr lang="en-US" altLang="en-US">
                <a:solidFill>
                  <a:srgbClr val="C00000"/>
                </a:solidFill>
                <a:ea typeface="ＭＳ Ｐゴシック" panose="020B0600070205080204" pitchFamily="34" charset="-128"/>
                <a:cs typeface="+mn-cs"/>
              </a:rPr>
              <a:t>socket timeouts</a:t>
            </a:r>
            <a:endParaRPr lang="en-US" altLang="en-US" sz="5400">
              <a:solidFill>
                <a:srgbClr val="000099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" name="Slide Number Placeholder 2">
            <a:extLst>
              <a:ext uri="{FF2B5EF4-FFF2-40B4-BE49-F238E27FC236}">
                <a16:creationId xmlns:a16="http://schemas.microsoft.com/office/drawing/2014/main" id="{CBD18514-E668-5544-8BF7-53F711E4F9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Application Layer: 2-</a:t>
            </a:r>
            <a:fld id="{C4204591-24BD-A542-B9D5-F8D8A88D2FEE}" type="slidenum">
              <a:rPr lang="en-US" smtClean="0"/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9E0B3A-6E1D-33DD-B4C3-FEFE580E9C3C}"/>
              </a:ext>
            </a:extLst>
          </p:cNvPr>
          <p:cNvGrpSpPr/>
          <p:nvPr/>
        </p:nvGrpSpPr>
        <p:grpSpPr>
          <a:xfrm>
            <a:off x="5406160" y="1309918"/>
            <a:ext cx="6352756" cy="5006915"/>
            <a:chOff x="5406160" y="1309918"/>
            <a:chExt cx="6352756" cy="5006915"/>
          </a:xfrm>
        </p:grpSpPr>
        <p:sp>
          <p:nvSpPr>
            <p:cNvPr id="5" name="TextBox 1">
              <a:extLst>
                <a:ext uri="{FF2B5EF4-FFF2-40B4-BE49-F238E27FC236}">
                  <a16:creationId xmlns:a16="http://schemas.microsoft.com/office/drawing/2014/main" id="{78BFC306-359D-5D2E-17CD-D24F11D82E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6160" y="1792518"/>
              <a:ext cx="6352756" cy="4524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from socket import *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serverPort = 12000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serverSocket = socket(AF_INET,SOCK_STREAM)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serverSocket.bind(('',serverPort))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serverSocket.listen(1)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counter = 0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while counter &lt; 3: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   connectionSocket, addr = serverSocket.accept()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   </a:t>
              </a:r>
              <a:r>
                <a:rPr kumimoji="0" lang="en-US" alt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connectionSocket.settimeout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(10)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   try: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        </a:t>
              </a:r>
              <a:r>
                <a:rPr kumimoji="0" lang="en-US" alt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wolf_location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= connectionSocket.recv(1024).decode()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        </a:t>
              </a:r>
              <a:r>
                <a:rPr kumimoji="0" lang="en-US" alt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send_hunter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</a:t>
              </a:r>
              <a:r>
                <a:rPr kumimoji="0" lang="en-US" alt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wolf_location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 # a villager function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        connectionSocket.send('hunter sent')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   except timeout: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        counter += 1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   connectionSocket.close()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" name="TextBox 2">
              <a:extLst>
                <a:ext uri="{FF2B5EF4-FFF2-40B4-BE49-F238E27FC236}">
                  <a16:creationId xmlns:a16="http://schemas.microsoft.com/office/drawing/2014/main" id="{E3284415-84EE-F12A-B596-E5D2245B0F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1148" y="1309918"/>
              <a:ext cx="421865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Python TCPServer (Villagers)</a:t>
              </a:r>
            </a:p>
          </p:txBody>
        </p:sp>
      </p:grpSp>
      <p:grpSp>
        <p:nvGrpSpPr>
          <p:cNvPr id="7" name="Group 47">
            <a:extLst>
              <a:ext uri="{FF2B5EF4-FFF2-40B4-BE49-F238E27FC236}">
                <a16:creationId xmlns:a16="http://schemas.microsoft.com/office/drawing/2014/main" id="{81091F01-E028-6E04-3BDA-E9218EF02941}"/>
              </a:ext>
            </a:extLst>
          </p:cNvPr>
          <p:cNvGrpSpPr>
            <a:grpSpLocks/>
          </p:cNvGrpSpPr>
          <p:nvPr/>
        </p:nvGrpSpPr>
        <p:grpSpPr bwMode="auto">
          <a:xfrm>
            <a:off x="2081759" y="3801772"/>
            <a:ext cx="3485382" cy="584775"/>
            <a:chOff x="-796660" y="2582793"/>
            <a:chExt cx="3485832" cy="584044"/>
          </a:xfrm>
        </p:grpSpPr>
        <p:sp>
          <p:nvSpPr>
            <p:cNvPr id="8" name="TextBox 31">
              <a:extLst>
                <a:ext uri="{FF2B5EF4-FFF2-40B4-BE49-F238E27FC236}">
                  <a16:creationId xmlns:a16="http://schemas.microsoft.com/office/drawing/2014/main" id="{19BA9B9F-82D1-D7AA-7AD3-4B9BD9EA0C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796660" y="2582793"/>
              <a:ext cx="2898914" cy="584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set a 10-seconds timeout on all future socket operations </a:t>
              </a:r>
            </a:p>
          </p:txBody>
        </p:sp>
        <p:cxnSp>
          <p:nvCxnSpPr>
            <p:cNvPr id="9" name="Straight Connector 32">
              <a:extLst>
                <a:ext uri="{FF2B5EF4-FFF2-40B4-BE49-F238E27FC236}">
                  <a16:creationId xmlns:a16="http://schemas.microsoft.com/office/drawing/2014/main" id="{AF673A42-8171-692D-9D72-3998DA8B2AE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61643" y="2959715"/>
              <a:ext cx="727529" cy="272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" name="Group 47">
            <a:extLst>
              <a:ext uri="{FF2B5EF4-FFF2-40B4-BE49-F238E27FC236}">
                <a16:creationId xmlns:a16="http://schemas.microsoft.com/office/drawing/2014/main" id="{B8443CA7-4434-6A5B-8132-6C3BAE460129}"/>
              </a:ext>
            </a:extLst>
          </p:cNvPr>
          <p:cNvGrpSpPr>
            <a:grpSpLocks/>
          </p:cNvGrpSpPr>
          <p:nvPr/>
        </p:nvGrpSpPr>
        <p:grpSpPr bwMode="auto">
          <a:xfrm>
            <a:off x="1826792" y="5650433"/>
            <a:ext cx="3740349" cy="338554"/>
            <a:chOff x="-1052482" y="3006031"/>
            <a:chExt cx="3741636" cy="33770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5F415E2-E12E-9D9C-2F95-B067904DEC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052482" y="3006031"/>
              <a:ext cx="3372184" cy="337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</a:t>
              </a:r>
              <a:r>
                <a:rPr kumimoji="0" lang="en-US" altLang="en-US" sz="1600" b="0" i="0" u="none" strike="noStrike" kern="1200" cap="none" spc="0" normalizeH="0" baseline="0" noProof="0" err="1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atch</a:t>
              </a: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socket timeout exception 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14FF7E6-7D09-9985-08F5-3DC87DC9C92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61625" y="3165929"/>
              <a:ext cx="727529" cy="272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" name="Group 47">
            <a:extLst>
              <a:ext uri="{FF2B5EF4-FFF2-40B4-BE49-F238E27FC236}">
                <a16:creationId xmlns:a16="http://schemas.microsoft.com/office/drawing/2014/main" id="{92C50A01-8CC8-E41B-5B89-3F7494E5ADB7}"/>
              </a:ext>
            </a:extLst>
          </p:cNvPr>
          <p:cNvGrpSpPr>
            <a:grpSpLocks/>
          </p:cNvGrpSpPr>
          <p:nvPr/>
        </p:nvGrpSpPr>
        <p:grpSpPr bwMode="auto">
          <a:xfrm>
            <a:off x="945274" y="4531396"/>
            <a:ext cx="4623492" cy="830997"/>
            <a:chOff x="-1934920" y="2758537"/>
            <a:chExt cx="4624092" cy="829958"/>
          </a:xfrm>
        </p:grpSpPr>
        <p:sp>
          <p:nvSpPr>
            <p:cNvPr id="15" name="TextBox 31">
              <a:extLst>
                <a:ext uri="{FF2B5EF4-FFF2-40B4-BE49-F238E27FC236}">
                  <a16:creationId xmlns:a16="http://schemas.microsoft.com/office/drawing/2014/main" id="{DA0F88B2-B215-E010-DDFD-099B54AB3D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934920" y="2758537"/>
              <a:ext cx="3877172" cy="8299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timer starts when recv() is called and will </a:t>
              </a:r>
              <a:b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</a:b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raise timeout exception if there is no message within 10 seconds.</a:t>
              </a:r>
            </a:p>
          </p:txBody>
        </p:sp>
        <p:cxnSp>
          <p:nvCxnSpPr>
            <p:cNvPr id="16" name="Straight Connector 32">
              <a:extLst>
                <a:ext uri="{FF2B5EF4-FFF2-40B4-BE49-F238E27FC236}">
                  <a16:creationId xmlns:a16="http://schemas.microsoft.com/office/drawing/2014/main" id="{778374B3-E903-E872-2AAC-54F29A88B0C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61643" y="2959715"/>
              <a:ext cx="727529" cy="272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3903B4D-B024-1F79-8345-E98D422FB58F}"/>
              </a:ext>
            </a:extLst>
          </p:cNvPr>
          <p:cNvGrpSpPr/>
          <p:nvPr/>
        </p:nvGrpSpPr>
        <p:grpSpPr>
          <a:xfrm>
            <a:off x="407047" y="6933055"/>
            <a:ext cx="4660490" cy="1525145"/>
            <a:chOff x="5928853" y="4654689"/>
            <a:chExt cx="4660490" cy="152514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8E6AF2B-70E9-62BF-F8C4-2A1774D2B154}"/>
                </a:ext>
              </a:extLst>
            </p:cNvPr>
            <p:cNvSpPr/>
            <p:nvPr/>
          </p:nvSpPr>
          <p:spPr>
            <a:xfrm>
              <a:off x="5928853" y="4896465"/>
              <a:ext cx="4660490" cy="128336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Text Box 6">
              <a:extLst>
                <a:ext uri="{FF2B5EF4-FFF2-40B4-BE49-F238E27FC236}">
                  <a16:creationId xmlns:a16="http://schemas.microsoft.com/office/drawing/2014/main" id="{D03D271E-C921-5797-77AC-10F79B26EE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1144" y="5144863"/>
              <a:ext cx="4491141" cy="879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Use settimeout(None).  settimeout(0) will result in changing the socket to non-blocking mode.</a:t>
              </a:r>
            </a:p>
          </p:txBody>
        </p:sp>
        <p:grpSp>
          <p:nvGrpSpPr>
            <p:cNvPr id="10" name="Group 8">
              <a:extLst>
                <a:ext uri="{FF2B5EF4-FFF2-40B4-BE49-F238E27FC236}">
                  <a16:creationId xmlns:a16="http://schemas.microsoft.com/office/drawing/2014/main" id="{42E7C50D-ECC0-A023-0BB4-C5B841A992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53940" y="4654689"/>
              <a:ext cx="3876669" cy="476251"/>
              <a:chOff x="-250" y="3795"/>
              <a:chExt cx="2442" cy="300"/>
            </a:xfrm>
          </p:grpSpPr>
          <p:sp>
            <p:nvSpPr>
              <p:cNvPr id="17" name="Rectangle 9">
                <a:extLst>
                  <a:ext uri="{FF2B5EF4-FFF2-40B4-BE49-F238E27FC236}">
                    <a16:creationId xmlns:a16="http://schemas.microsoft.com/office/drawing/2014/main" id="{5BC84BB2-A6C4-5479-EB5B-5634BC0E68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" y="3843"/>
                <a:ext cx="116" cy="2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" name="Text Box 10">
                <a:extLst>
                  <a:ext uri="{FF2B5EF4-FFF2-40B4-BE49-F238E27FC236}">
                    <a16:creationId xmlns:a16="http://schemas.microsoft.com/office/drawing/2014/main" id="{1C4EC6AB-2887-7376-1476-1D27BCA57B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50" y="3795"/>
                <a:ext cx="2442" cy="29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How to remove settimeout()?</a:t>
                </a:r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4CC59B4-CBB2-E9F1-9795-A617D31755AA}"/>
              </a:ext>
            </a:extLst>
          </p:cNvPr>
          <p:cNvGrpSpPr/>
          <p:nvPr/>
        </p:nvGrpSpPr>
        <p:grpSpPr>
          <a:xfrm>
            <a:off x="387284" y="1127116"/>
            <a:ext cx="4452422" cy="2594487"/>
            <a:chOff x="387284" y="1121887"/>
            <a:chExt cx="4452422" cy="259448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2910DB2-90BF-1EF4-8396-31F93DD3A199}"/>
                </a:ext>
              </a:extLst>
            </p:cNvPr>
            <p:cNvGrpSpPr/>
            <p:nvPr/>
          </p:nvGrpSpPr>
          <p:grpSpPr>
            <a:xfrm>
              <a:off x="387284" y="1145894"/>
              <a:ext cx="4452422" cy="2570480"/>
              <a:chOff x="6013233" y="4746687"/>
              <a:chExt cx="4452422" cy="1945077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EDFD96B-2156-2FEE-018F-EC5FC178CB92}"/>
                  </a:ext>
                </a:extLst>
              </p:cNvPr>
              <p:cNvSpPr/>
              <p:nvPr/>
            </p:nvSpPr>
            <p:spPr>
              <a:xfrm>
                <a:off x="6013233" y="4896464"/>
                <a:ext cx="4452422" cy="17953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Text Box 6">
                <a:extLst>
                  <a:ext uri="{FF2B5EF4-FFF2-40B4-BE49-F238E27FC236}">
                    <a16:creationId xmlns:a16="http://schemas.microsoft.com/office/drawing/2014/main" id="{6AF14F12-F928-1738-6490-5907854B07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91477" y="5016566"/>
                <a:ext cx="4217998" cy="16549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- A shepherd boy tends his master’s sheep.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- If he sees a wolf, he can send a message to villagers for help using a TCP socket.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- The boy found it fun to connect to the server without sending any messages. But the villagers don’t think so. 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- And they decided that if the boy connects to the server and doesn’t send the wolf location </a:t>
                </a:r>
                <a:r>
                  <a:rPr kumimoji="0" lang="en-US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within 10 seconds for three times</a:t>
                </a:r>
                <a:r>
                  <a:rPr kumimoji="0" lang="en-US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, they will </a:t>
                </a:r>
                <a:r>
                  <a:rPr kumimoji="0" lang="en-US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stop listening</a:t>
                </a:r>
                <a:r>
                  <a:rPr kumimoji="0" lang="en-US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 </a:t>
                </a:r>
                <a:r>
                  <a:rPr kumimoji="0" lang="en-US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to him forever and ever.</a:t>
                </a:r>
              </a:p>
            </p:txBody>
          </p:sp>
          <p:sp>
            <p:nvSpPr>
              <p:cNvPr id="26" name="Text Box 10">
                <a:extLst>
                  <a:ext uri="{FF2B5EF4-FFF2-40B4-BE49-F238E27FC236}">
                    <a16:creationId xmlns:a16="http://schemas.microsoft.com/office/drawing/2014/main" id="{E5DB9E53-4CB0-2F89-D0C5-90E8102D72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59534" y="4746687"/>
                <a:ext cx="1482646" cy="32631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Toy Example:</a:t>
                </a:r>
              </a:p>
            </p:txBody>
          </p:sp>
        </p:grpSp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7A9EF232-FAF8-E94F-A0F6-88CE63AD29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67637" y="1121887"/>
              <a:ext cx="539484" cy="5394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5436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5573A-A187-796F-0753-4A3243F1F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6163"/>
          </a:xfrm>
        </p:spPr>
        <p:txBody>
          <a:bodyPr/>
          <a:lstStyle/>
          <a:p>
            <a:r>
              <a:rPr lang="en-US" dirty="0"/>
              <a:t>Socket in Python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697CD-D27D-EA4F-8385-7D6ADE5B2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48" y="1459873"/>
            <a:ext cx="11375136" cy="5440680"/>
          </a:xfrm>
        </p:spPr>
        <p:txBody>
          <a:bodyPr>
            <a:normAutofit/>
          </a:bodyPr>
          <a:lstStyle/>
          <a:p>
            <a:r>
              <a:rPr lang="en-US" dirty="0"/>
              <a:t>Python provides two levels of access to network services. At a low level, you can access the basic socket support in the underlying operating system, which allows you to implement clients and servers for both connection-oriented and connectionless protocols. </a:t>
            </a:r>
          </a:p>
          <a:p>
            <a:r>
              <a:rPr lang="en-US" dirty="0"/>
              <a:t>Python also has libraries that provide higher level access to specific application level network protocols, such as FTP, HTTP, SMTP, and so on.</a:t>
            </a:r>
          </a:p>
          <a:p>
            <a:r>
              <a:rPr lang="en-US" dirty="0"/>
              <a:t>Sockets may be implemented over a number of different channel types: UNIX domain sockets, TCP, UDP, and so on. </a:t>
            </a:r>
          </a:p>
          <a:p>
            <a:r>
              <a:rPr lang="en-US" dirty="0"/>
              <a:t>The socket library provides specific classes for handling the common transports as well as a generic interface for handling the rest.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65795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FAB24-3A36-D1CE-2298-C57468A80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4451"/>
          </a:xfrm>
        </p:spPr>
        <p:txBody>
          <a:bodyPr/>
          <a:lstStyle/>
          <a:p>
            <a:r>
              <a:rPr lang="en-GB" dirty="0"/>
              <a:t>Vocabulary of Sockets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775CC3-9E7D-1FCD-6C28-82ABF9929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16" y="1179576"/>
            <a:ext cx="10934084" cy="552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590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48275-7596-DFFE-280E-C0D8D1267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socket Module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C7D43-7203-8CF9-6D49-CC49403BB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create a socket, you must use the </a:t>
            </a:r>
            <a:r>
              <a:rPr lang="en-US" dirty="0" err="1"/>
              <a:t>socket.socket</a:t>
            </a:r>
            <a:r>
              <a:rPr lang="en-US" dirty="0"/>
              <a:t>() function available in socket module, which has the general syntax: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b="1" dirty="0"/>
              <a:t> </a:t>
            </a:r>
            <a:r>
              <a:rPr lang="sv-SE" b="1" i="1" dirty="0"/>
              <a:t>s = socket.socket (socket_family, socket_type, protocol=0)</a:t>
            </a:r>
          </a:p>
          <a:p>
            <a:r>
              <a:rPr lang="en-US" dirty="0"/>
              <a:t>Here is the description of the parameters:</a:t>
            </a:r>
          </a:p>
          <a:p>
            <a:pPr lvl="1"/>
            <a:r>
              <a:rPr lang="en-US" dirty="0" err="1"/>
              <a:t>socket_family</a:t>
            </a:r>
            <a:r>
              <a:rPr lang="en-US" dirty="0"/>
              <a:t>: This is either AF_UNIX or AF_INET, as explained earlier.</a:t>
            </a:r>
          </a:p>
          <a:p>
            <a:pPr lvl="1"/>
            <a:r>
              <a:rPr lang="en-US" dirty="0" err="1"/>
              <a:t>socket_type</a:t>
            </a:r>
            <a:r>
              <a:rPr lang="en-US" dirty="0"/>
              <a:t>: This is either SOCK_STREAM or SOCK_DGRAM.</a:t>
            </a:r>
          </a:p>
          <a:p>
            <a:pPr lvl="1"/>
            <a:r>
              <a:rPr lang="en-US" dirty="0"/>
              <a:t>protocol: This is usually left out, defaulting to 0.</a:t>
            </a:r>
          </a:p>
          <a:p>
            <a:r>
              <a:rPr lang="en-US" dirty="0"/>
              <a:t>Once you have socket object, then you can use required functions to create your client or server program.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62396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382000" cy="990600"/>
          </a:xfrm>
        </p:spPr>
        <p:txBody>
          <a:bodyPr>
            <a:normAutofit/>
          </a:bodyPr>
          <a:lstStyle/>
          <a:p>
            <a:r>
              <a:rPr lang="en-US" altLang="ar-SA" dirty="0">
                <a:ea typeface="ＭＳ Ｐゴシック" panose="020B0600070205080204" pitchFamily="34" charset="-128"/>
              </a:rPr>
              <a:t>The socket Module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81200" y="1219200"/>
            <a:ext cx="8382000" cy="4937760"/>
          </a:xfrm>
        </p:spPr>
        <p:txBody>
          <a:bodyPr>
            <a:normAutofit/>
          </a:bodyPr>
          <a:lstStyle/>
          <a:p>
            <a:r>
              <a:rPr lang="en-US" dirty="0"/>
              <a:t>To create a socket, you must use the </a:t>
            </a:r>
            <a:r>
              <a:rPr lang="en-US" i="1" dirty="0" err="1"/>
              <a:t>socket.socket</a:t>
            </a:r>
            <a:r>
              <a:rPr lang="en-US" i="1" dirty="0"/>
              <a:t>()</a:t>
            </a:r>
            <a:r>
              <a:rPr lang="en-US" dirty="0"/>
              <a:t> function available in </a:t>
            </a:r>
            <a:r>
              <a:rPr lang="en-US" i="1" dirty="0"/>
              <a:t>socket</a:t>
            </a:r>
            <a:r>
              <a:rPr lang="en-US" dirty="0"/>
              <a:t> module, which has the general syntax </a:t>
            </a:r>
          </a:p>
          <a:p>
            <a:endParaRPr lang="en-US" altLang="ar-SA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endParaRPr lang="en-US" altLang="ar-SA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r>
              <a:rPr lang="en-US" dirty="0"/>
              <a:t>Here is the description of the parameters −</a:t>
            </a:r>
          </a:p>
          <a:p>
            <a:pPr lvl="1"/>
            <a:r>
              <a:rPr lang="en-US" b="1" dirty="0" err="1"/>
              <a:t>socket_family</a:t>
            </a:r>
            <a:r>
              <a:rPr lang="en-US" dirty="0"/>
              <a:t> − This is either AF_UNIX or AF_INET, as explained earlier.</a:t>
            </a:r>
          </a:p>
          <a:p>
            <a:pPr lvl="1"/>
            <a:r>
              <a:rPr lang="en-US" b="1" dirty="0" err="1"/>
              <a:t>socket_type</a:t>
            </a:r>
            <a:r>
              <a:rPr lang="en-US" dirty="0"/>
              <a:t> − This is either SOCK_STREAM or SOCK_DGRAM.</a:t>
            </a:r>
          </a:p>
          <a:p>
            <a:pPr lvl="1"/>
            <a:r>
              <a:rPr lang="en-US" b="1" dirty="0"/>
              <a:t>protocol</a:t>
            </a:r>
            <a:r>
              <a:rPr lang="en-US" dirty="0"/>
              <a:t> − This is usually left out, defaulting to 0.</a:t>
            </a:r>
          </a:p>
          <a:p>
            <a:endParaRPr lang="en-US" altLang="ar-SA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B5B33D-C3EF-4285-B2BE-44069536D570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E024A5-C019-4FFA-80F7-899B04441AF3}"/>
              </a:ext>
            </a:extLst>
          </p:cNvPr>
          <p:cNvSpPr/>
          <p:nvPr/>
        </p:nvSpPr>
        <p:spPr>
          <a:xfrm>
            <a:off x="2136648" y="2819400"/>
            <a:ext cx="7613904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sv-SE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s = socket.socket (socket_family, socket_type, protocol=0)</a:t>
            </a:r>
          </a:p>
        </p:txBody>
      </p:sp>
    </p:spTree>
    <p:extLst>
      <p:ext uri="{BB962C8B-B14F-4D97-AF65-F5344CB8AC3E}">
        <p14:creationId xmlns:p14="http://schemas.microsoft.com/office/powerpoint/2010/main" val="38821233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4EEFB5-03B3-1F91-3905-B8CB69299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875" y="121920"/>
            <a:ext cx="8745610" cy="661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5296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382000" cy="990600"/>
          </a:xfrm>
        </p:spPr>
        <p:txBody>
          <a:bodyPr>
            <a:normAutofit/>
          </a:bodyPr>
          <a:lstStyle/>
          <a:p>
            <a:r>
              <a:rPr lang="en-US" altLang="ar-SA" dirty="0">
                <a:ea typeface="ＭＳ Ｐゴシック" panose="020B0600070205080204" pitchFamily="34" charset="-128"/>
              </a:rPr>
              <a:t>Server Socket Methods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B5B33D-C3EF-4285-B2BE-44069536D570}" type="slidenum">
              <a:rPr lang="en-US" smtClean="0"/>
              <a:pPr/>
              <a:t>29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2F30E4B-19E2-4D55-B23F-C0A437E41F58}"/>
              </a:ext>
            </a:extLst>
          </p:cNvPr>
          <p:cNvGraphicFramePr>
            <a:graphicFrameLocks noGrp="1"/>
          </p:cNvGraphicFramePr>
          <p:nvPr/>
        </p:nvGraphicFramePr>
        <p:xfrm>
          <a:off x="2136648" y="2971800"/>
          <a:ext cx="7997952" cy="2804160"/>
        </p:xfrm>
        <a:graphic>
          <a:graphicData uri="http://schemas.openxmlformats.org/drawingml/2006/table">
            <a:tbl>
              <a:tblPr/>
              <a:tblGrid>
                <a:gridCol w="7997952">
                  <a:extLst>
                    <a:ext uri="{9D8B030D-6E8A-4147-A177-3AD203B41FA5}">
                      <a16:colId xmlns:a16="http://schemas.microsoft.com/office/drawing/2014/main" val="1273422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GB" dirty="0">
                          <a:effectLst/>
                        </a:rPr>
                        <a:t>Method &amp; Description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608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t"/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s.bind()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This method binds address (hostname, port number pair) to socket.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3020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t"/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s.listen()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>
                          <a:solidFill>
                            <a:srgbClr val="000000"/>
                          </a:solidFill>
                          <a:effectLst/>
                        </a:rPr>
                        <a:t>This method sets up and start TCP listener.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81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t"/>
                      <a:r>
                        <a:rPr lang="en-US" b="1" dirty="0" err="1">
                          <a:solidFill>
                            <a:srgbClr val="000000"/>
                          </a:solidFill>
                          <a:effectLst/>
                        </a:rPr>
                        <a:t>s.accept</a:t>
                      </a:r>
                      <a:r>
                        <a:rPr lang="en-US" b="1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This passively accept TCP client connection, waiting until connection arrives (blocking).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3877677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21951F7-87D2-4A30-80D7-25C688FA604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1219200"/>
            <a:ext cx="8382000" cy="4937760"/>
          </a:xfrm>
        </p:spPr>
        <p:txBody>
          <a:bodyPr>
            <a:normAutofit/>
          </a:bodyPr>
          <a:lstStyle/>
          <a:p>
            <a:r>
              <a:rPr lang="en-US" dirty="0"/>
              <a:t>Once you have </a:t>
            </a:r>
            <a:r>
              <a:rPr lang="en-US" i="1" dirty="0"/>
              <a:t>socket</a:t>
            </a:r>
            <a:r>
              <a:rPr lang="en-US" dirty="0"/>
              <a:t> object, then you can use required functions to create your client or server program. Following is the list of functions required</a:t>
            </a:r>
            <a:endParaRPr lang="en-US" altLang="ar-SA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502871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382000" cy="990600"/>
          </a:xfrm>
        </p:spPr>
        <p:txBody>
          <a:bodyPr>
            <a:normAutofit/>
          </a:bodyPr>
          <a:lstStyle/>
          <a:p>
            <a:r>
              <a:rPr lang="en-US" altLang="ar-SA" dirty="0">
                <a:ea typeface="ＭＳ Ｐゴシック" panose="020B0600070205080204" pitchFamily="34" charset="-128"/>
              </a:rPr>
              <a:t>Server and Client Socket Methods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B5B33D-C3EF-4285-B2BE-44069536D570}" type="slidenum">
              <a:rPr lang="en-US" smtClean="0"/>
              <a:pPr/>
              <a:t>30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2F30E4B-19E2-4D55-B23F-C0A437E41F58}"/>
              </a:ext>
            </a:extLst>
          </p:cNvPr>
          <p:cNvGraphicFramePr>
            <a:graphicFrameLocks noGrp="1"/>
          </p:cNvGraphicFramePr>
          <p:nvPr/>
        </p:nvGraphicFramePr>
        <p:xfrm>
          <a:off x="2136648" y="1752600"/>
          <a:ext cx="7997952" cy="2103120"/>
        </p:xfrm>
        <a:graphic>
          <a:graphicData uri="http://schemas.openxmlformats.org/drawingml/2006/table">
            <a:tbl>
              <a:tblPr/>
              <a:tblGrid>
                <a:gridCol w="7997952">
                  <a:extLst>
                    <a:ext uri="{9D8B030D-6E8A-4147-A177-3AD203B41FA5}">
                      <a16:colId xmlns:a16="http://schemas.microsoft.com/office/drawing/2014/main" val="1273422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dirty="0">
                          <a:effectLst/>
                        </a:rPr>
                        <a:t>Method &amp; Description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608613"/>
                  </a:ext>
                </a:extLst>
              </a:tr>
              <a:tr h="25025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b="1" dirty="0" err="1">
                          <a:solidFill>
                            <a:srgbClr val="000000"/>
                          </a:solidFill>
                          <a:effectLst/>
                        </a:rPr>
                        <a:t>s.bind</a:t>
                      </a: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This method binds address (hostname, port number pair) to socket.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3020682"/>
                  </a:ext>
                </a:extLst>
              </a:tr>
              <a:tr h="25025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b="1" dirty="0" err="1">
                          <a:solidFill>
                            <a:srgbClr val="000000"/>
                          </a:solidFill>
                          <a:effectLst/>
                        </a:rPr>
                        <a:t>s.listen</a:t>
                      </a: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This method sets up and start TCP listener.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81200"/>
                  </a:ext>
                </a:extLst>
              </a:tr>
              <a:tr h="286327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b="1" dirty="0" err="1">
                          <a:solidFill>
                            <a:srgbClr val="000000"/>
                          </a:solidFill>
                          <a:effectLst/>
                        </a:rPr>
                        <a:t>s.accept</a:t>
                      </a: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This passively accept TCP client connection, waiting until connection arrives (blocking).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3877677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21951F7-87D2-4A30-80D7-25C688FA604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1219200"/>
            <a:ext cx="8382000" cy="4937760"/>
          </a:xfrm>
        </p:spPr>
        <p:txBody>
          <a:bodyPr>
            <a:normAutofit/>
          </a:bodyPr>
          <a:lstStyle/>
          <a:p>
            <a:r>
              <a:rPr lang="en-US" altLang="ar-SA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Server</a:t>
            </a:r>
          </a:p>
          <a:p>
            <a:endParaRPr lang="en-US" altLang="ar-SA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endParaRPr lang="en-US" altLang="ar-SA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endParaRPr lang="en-US" altLang="ar-SA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endParaRPr lang="en-US" altLang="ar-SA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endParaRPr lang="en-US" altLang="ar-SA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r>
              <a:rPr lang="en-US" altLang="ar-SA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Client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F4B2C85-0851-4366-A2B3-C412A7E690D2}"/>
              </a:ext>
            </a:extLst>
          </p:cNvPr>
          <p:cNvGraphicFramePr>
            <a:graphicFrameLocks noGrp="1"/>
          </p:cNvGraphicFramePr>
          <p:nvPr/>
        </p:nvGraphicFramePr>
        <p:xfrm>
          <a:off x="2136648" y="4850432"/>
          <a:ext cx="7997952" cy="944880"/>
        </p:xfrm>
        <a:graphic>
          <a:graphicData uri="http://schemas.openxmlformats.org/drawingml/2006/table">
            <a:tbl>
              <a:tblPr/>
              <a:tblGrid>
                <a:gridCol w="7997952">
                  <a:extLst>
                    <a:ext uri="{9D8B030D-6E8A-4147-A177-3AD203B41FA5}">
                      <a16:colId xmlns:a16="http://schemas.microsoft.com/office/drawing/2014/main" val="19548027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dirty="0">
                          <a:effectLst/>
                        </a:rPr>
                        <a:t>Method &amp; Description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137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b="1" dirty="0" err="1">
                          <a:solidFill>
                            <a:srgbClr val="000000"/>
                          </a:solidFill>
                          <a:effectLst/>
                        </a:rPr>
                        <a:t>s.connect</a:t>
                      </a: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This method actively initiates TCP server connection.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9648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11647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382000" cy="990600"/>
          </a:xfrm>
        </p:spPr>
        <p:txBody>
          <a:bodyPr>
            <a:normAutofit/>
          </a:bodyPr>
          <a:lstStyle/>
          <a:p>
            <a:r>
              <a:rPr lang="en-US" altLang="ar-SA" dirty="0">
                <a:ea typeface="ＭＳ Ｐゴシック" panose="020B0600070205080204" pitchFamily="34" charset="-128"/>
              </a:rPr>
              <a:t>General Socket Methods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B5B33D-C3EF-4285-B2BE-44069536D570}" type="slidenum">
              <a:rPr lang="en-US" smtClean="0"/>
              <a:pPr/>
              <a:t>31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6733102-8461-42E5-880A-1067F009356D}"/>
              </a:ext>
            </a:extLst>
          </p:cNvPr>
          <p:cNvGraphicFramePr>
            <a:graphicFrameLocks noGrp="1"/>
          </p:cNvGraphicFramePr>
          <p:nvPr>
            <p:ph sz="quarter" idx="1"/>
          </p:nvPr>
        </p:nvGraphicFramePr>
        <p:xfrm>
          <a:off x="1981200" y="1584960"/>
          <a:ext cx="8153400" cy="4405242"/>
        </p:xfrm>
        <a:graphic>
          <a:graphicData uri="http://schemas.openxmlformats.org/drawingml/2006/table">
            <a:tbl>
              <a:tblPr/>
              <a:tblGrid>
                <a:gridCol w="8153400">
                  <a:extLst>
                    <a:ext uri="{9D8B030D-6E8A-4147-A177-3AD203B41FA5}">
                      <a16:colId xmlns:a16="http://schemas.microsoft.com/office/drawing/2014/main" val="358044108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fontAlgn="t"/>
                      <a:r>
                        <a:rPr lang="en-GB" sz="1800" dirty="0">
                          <a:effectLst/>
                        </a:rPr>
                        <a:t>Method &amp; Description</a:t>
                      </a:r>
                    </a:p>
                  </a:txBody>
                  <a:tcPr marL="55632" marR="55632" marT="55632" marB="5563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831298"/>
                  </a:ext>
                </a:extLst>
              </a:tr>
              <a:tr h="669943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 err="1">
                          <a:solidFill>
                            <a:srgbClr val="000000"/>
                          </a:solidFill>
                          <a:effectLst/>
                        </a:rPr>
                        <a:t>s.recv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This method receives TCP message</a:t>
                      </a:r>
                    </a:p>
                  </a:txBody>
                  <a:tcPr marL="55632" marR="55632" marT="55632" marB="5563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900417"/>
                  </a:ext>
                </a:extLst>
              </a:tr>
              <a:tr h="669943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 err="1">
                          <a:solidFill>
                            <a:srgbClr val="000000"/>
                          </a:solidFill>
                          <a:effectLst/>
                        </a:rPr>
                        <a:t>s.send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This method transmits TCP message</a:t>
                      </a:r>
                    </a:p>
                  </a:txBody>
                  <a:tcPr marL="55632" marR="55632" marT="55632" marB="5563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4476260"/>
                  </a:ext>
                </a:extLst>
              </a:tr>
              <a:tr h="669943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 err="1">
                          <a:solidFill>
                            <a:srgbClr val="000000"/>
                          </a:solidFill>
                          <a:effectLst/>
                        </a:rPr>
                        <a:t>s.recvfrom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This method receives UDP message</a:t>
                      </a:r>
                    </a:p>
                  </a:txBody>
                  <a:tcPr marL="55632" marR="55632" marT="55632" marB="5563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9746445"/>
                  </a:ext>
                </a:extLst>
              </a:tr>
              <a:tr h="669943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 err="1">
                          <a:solidFill>
                            <a:srgbClr val="000000"/>
                          </a:solidFill>
                          <a:effectLst/>
                        </a:rPr>
                        <a:t>s.sendto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This method transmits UDP message</a:t>
                      </a:r>
                    </a:p>
                  </a:txBody>
                  <a:tcPr marL="55632" marR="55632" marT="55632" marB="5563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325057"/>
                  </a:ext>
                </a:extLst>
              </a:tr>
              <a:tr h="669943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 err="1">
                          <a:solidFill>
                            <a:srgbClr val="000000"/>
                          </a:solidFill>
                          <a:effectLst/>
                        </a:rPr>
                        <a:t>s.close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This method closes socket</a:t>
                      </a:r>
                    </a:p>
                  </a:txBody>
                  <a:tcPr marL="55632" marR="55632" marT="55632" marB="5563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9861484"/>
                  </a:ext>
                </a:extLst>
              </a:tr>
              <a:tr h="669943"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1" dirty="0" err="1">
                          <a:solidFill>
                            <a:srgbClr val="000000"/>
                          </a:solidFill>
                          <a:effectLst/>
                        </a:rPr>
                        <a:t>socket.gethostname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Returns the hostname.</a:t>
                      </a:r>
                    </a:p>
                  </a:txBody>
                  <a:tcPr marL="55632" marR="55632" marT="55632" marB="55632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58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49591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68DE9-6C9E-236E-FD9D-0F04F59C9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Server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A96A5-91C9-A462-49AD-5D649F362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write Internet servers, we use the socket function available in socket module to create a socket object. </a:t>
            </a:r>
          </a:p>
          <a:p>
            <a:r>
              <a:rPr lang="en-US" dirty="0"/>
              <a:t>A socket object is then used to call other functions to setup a socket server.</a:t>
            </a:r>
          </a:p>
          <a:p>
            <a:r>
              <a:rPr lang="en-US" dirty="0"/>
              <a:t>Now call bind(hostname, port) function to specify a port for your service on the given host.</a:t>
            </a:r>
          </a:p>
          <a:p>
            <a:r>
              <a:rPr lang="en-US" dirty="0"/>
              <a:t>Next, call the accept method of the returned object. This method waits until a client connects to the port you specified, and then returns a connection object that represents the connection to that client.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86435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B6FD3-3ED1-316E-4EB9-9E24A4F4A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3504"/>
            <a:ext cx="10515600" cy="557345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b="1" i="1" dirty="0"/>
              <a:t>#!C:\Python33\python.exe</a:t>
            </a:r>
          </a:p>
          <a:p>
            <a:pPr marL="0" indent="0">
              <a:buNone/>
            </a:pPr>
            <a:r>
              <a:rPr lang="en-GB" b="1" i="1" dirty="0"/>
              <a:t># Echo server program</a:t>
            </a:r>
          </a:p>
          <a:p>
            <a:pPr marL="0" indent="0">
              <a:buNone/>
            </a:pPr>
            <a:r>
              <a:rPr lang="en-GB" b="1" i="1" dirty="0"/>
              <a:t>import socket</a:t>
            </a:r>
          </a:p>
          <a:p>
            <a:pPr marL="0" indent="0">
              <a:buNone/>
            </a:pPr>
            <a:r>
              <a:rPr lang="en-GB" b="1" i="1" dirty="0"/>
              <a:t>host = </a:t>
            </a:r>
            <a:r>
              <a:rPr lang="en-GB" b="1" i="1" dirty="0" err="1"/>
              <a:t>socket.gethostname</a:t>
            </a:r>
            <a:r>
              <a:rPr lang="en-GB" b="1" i="1" dirty="0"/>
              <a:t>()</a:t>
            </a:r>
          </a:p>
          <a:p>
            <a:pPr marL="0" indent="0">
              <a:buNone/>
            </a:pPr>
            <a:r>
              <a:rPr lang="en-GB" b="1" i="1" dirty="0"/>
              <a:t>port = 12345</a:t>
            </a:r>
          </a:p>
          <a:p>
            <a:pPr marL="0" indent="0">
              <a:buNone/>
            </a:pPr>
            <a:r>
              <a:rPr lang="en-GB" b="1" i="1" dirty="0"/>
              <a:t>s = </a:t>
            </a:r>
            <a:r>
              <a:rPr lang="en-GB" b="1" i="1" dirty="0" err="1"/>
              <a:t>socket.socket</a:t>
            </a:r>
            <a:r>
              <a:rPr lang="en-GB" b="1" i="1" dirty="0"/>
              <a:t>()</a:t>
            </a:r>
          </a:p>
          <a:p>
            <a:pPr marL="0" indent="0">
              <a:buNone/>
            </a:pPr>
            <a:r>
              <a:rPr lang="en-GB" b="1" i="1" dirty="0" err="1"/>
              <a:t>s.bind</a:t>
            </a:r>
            <a:r>
              <a:rPr lang="en-GB" b="1" i="1" dirty="0"/>
              <a:t>((host, port))</a:t>
            </a:r>
          </a:p>
          <a:p>
            <a:pPr marL="0" indent="0">
              <a:buNone/>
            </a:pPr>
            <a:r>
              <a:rPr lang="en-GB" b="1" i="1" dirty="0" err="1"/>
              <a:t>s.listen</a:t>
            </a:r>
            <a:r>
              <a:rPr lang="en-GB" b="1" i="1" dirty="0"/>
              <a:t>(5)</a:t>
            </a:r>
          </a:p>
          <a:p>
            <a:pPr marL="0" indent="0">
              <a:buNone/>
            </a:pPr>
            <a:r>
              <a:rPr lang="en-GB" b="1" i="1" dirty="0"/>
              <a:t>conn, </a:t>
            </a:r>
            <a:r>
              <a:rPr lang="en-GB" b="1" i="1" dirty="0" err="1"/>
              <a:t>addr</a:t>
            </a:r>
            <a:r>
              <a:rPr lang="en-GB" b="1" i="1" dirty="0"/>
              <a:t> = </a:t>
            </a:r>
            <a:r>
              <a:rPr lang="en-GB" b="1" i="1" dirty="0" err="1"/>
              <a:t>s.accept</a:t>
            </a:r>
            <a:r>
              <a:rPr lang="en-GB" b="1" i="1" dirty="0"/>
              <a:t>()</a:t>
            </a:r>
          </a:p>
          <a:p>
            <a:pPr marL="0" indent="0">
              <a:buNone/>
            </a:pPr>
            <a:r>
              <a:rPr lang="en-GB" b="1" i="1" dirty="0"/>
              <a:t>print('Got connection from ', </a:t>
            </a:r>
            <a:r>
              <a:rPr lang="en-GB" b="1" i="1" dirty="0" err="1"/>
              <a:t>addr</a:t>
            </a:r>
            <a:r>
              <a:rPr lang="en-GB" b="1" i="1" dirty="0"/>
              <a:t>[0], '(', </a:t>
            </a:r>
            <a:r>
              <a:rPr lang="en-GB" b="1" i="1" dirty="0" err="1"/>
              <a:t>addr</a:t>
            </a:r>
            <a:r>
              <a:rPr lang="en-GB" b="1" i="1" dirty="0"/>
              <a:t>[1], ')')</a:t>
            </a:r>
          </a:p>
          <a:p>
            <a:pPr marL="0" indent="0">
              <a:buNone/>
            </a:pPr>
            <a:r>
              <a:rPr lang="en-GB" b="1" i="1" dirty="0"/>
              <a:t>print('Thank you for connecting')</a:t>
            </a:r>
          </a:p>
          <a:p>
            <a:pPr marL="0" indent="0">
              <a:buNone/>
            </a:pPr>
            <a:r>
              <a:rPr lang="en-GB" b="1" i="1" dirty="0"/>
              <a:t>while True:</a:t>
            </a:r>
          </a:p>
          <a:p>
            <a:pPr marL="0" indent="0">
              <a:buNone/>
            </a:pPr>
            <a:r>
              <a:rPr lang="en-GB" b="1" i="1" dirty="0"/>
              <a:t>data = </a:t>
            </a:r>
            <a:r>
              <a:rPr lang="en-GB" b="1" i="1" dirty="0" err="1"/>
              <a:t>conn.recv</a:t>
            </a:r>
            <a:r>
              <a:rPr lang="en-GB" b="1" i="1" dirty="0"/>
              <a:t>(1024)</a:t>
            </a:r>
          </a:p>
          <a:p>
            <a:pPr marL="0" indent="0">
              <a:buNone/>
            </a:pPr>
            <a:r>
              <a:rPr lang="en-GB" b="1" i="1" dirty="0"/>
              <a:t>if not data: break</a:t>
            </a:r>
          </a:p>
          <a:p>
            <a:pPr marL="0" indent="0">
              <a:buNone/>
            </a:pPr>
            <a:r>
              <a:rPr lang="en-GB" b="1" i="1" dirty="0" err="1"/>
              <a:t>conn.sendall</a:t>
            </a:r>
            <a:r>
              <a:rPr lang="en-GB" b="1" i="1" dirty="0"/>
              <a:t>(data)</a:t>
            </a:r>
          </a:p>
          <a:p>
            <a:pPr marL="0" indent="0">
              <a:buNone/>
            </a:pPr>
            <a:r>
              <a:rPr lang="en-GB" b="1" i="1" dirty="0" err="1"/>
              <a:t>conn.close</a:t>
            </a:r>
            <a:r>
              <a:rPr lang="en-GB" b="1" i="1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0032155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2DA53-8042-59E5-C7C8-F5C7DC942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Client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D3B7D-2B79-69D1-EEBB-811D8C76F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Now we will write a very simple client program which will open a connection to a given port 12345 and given host. </a:t>
            </a:r>
          </a:p>
          <a:p>
            <a:r>
              <a:rPr lang="en-US" dirty="0"/>
              <a:t>This is very simple to create a socket client using Python's socket module function.</a:t>
            </a:r>
          </a:p>
          <a:p>
            <a:r>
              <a:rPr lang="en-US" dirty="0"/>
              <a:t>The </a:t>
            </a:r>
            <a:r>
              <a:rPr lang="en-US" dirty="0" err="1"/>
              <a:t>socket.connect</a:t>
            </a:r>
            <a:r>
              <a:rPr lang="en-US" dirty="0"/>
              <a:t>(</a:t>
            </a:r>
            <a:r>
              <a:rPr lang="en-US" dirty="0" err="1"/>
              <a:t>hosname</a:t>
            </a:r>
            <a:r>
              <a:rPr lang="en-US" dirty="0"/>
              <a:t>, port ) opens a TCP connection to hostname on the port. </a:t>
            </a:r>
          </a:p>
          <a:p>
            <a:r>
              <a:rPr lang="en-US" dirty="0"/>
              <a:t>Once you have a socket open, you can read from it like any IO object. When done, remember to close it, as you would close a file.</a:t>
            </a:r>
          </a:p>
          <a:p>
            <a:r>
              <a:rPr lang="en-US" dirty="0"/>
              <a:t>The following code is a very simple client that connects to a given host and port, reads any available data from the socket, and then exits: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39615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390CC-4853-2C2B-7192-D890728E9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7472"/>
            <a:ext cx="10515600" cy="5829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i="1" dirty="0"/>
              <a:t>#!C:\Python33\python.exe</a:t>
            </a:r>
          </a:p>
          <a:p>
            <a:pPr marL="0" indent="0">
              <a:buNone/>
            </a:pPr>
            <a:r>
              <a:rPr lang="en-GB" b="1" i="1" dirty="0"/>
              <a:t># Echo client program</a:t>
            </a:r>
          </a:p>
          <a:p>
            <a:pPr marL="0" indent="0">
              <a:buNone/>
            </a:pPr>
            <a:r>
              <a:rPr lang="en-GB" b="1" i="1" dirty="0"/>
              <a:t>import socket</a:t>
            </a:r>
          </a:p>
          <a:p>
            <a:pPr marL="0" indent="0">
              <a:buNone/>
            </a:pPr>
            <a:r>
              <a:rPr lang="en-GB" b="1" i="1" dirty="0"/>
              <a:t>host = </a:t>
            </a:r>
            <a:r>
              <a:rPr lang="en-GB" b="1" i="1" dirty="0" err="1"/>
              <a:t>socket.gethostname</a:t>
            </a:r>
            <a:r>
              <a:rPr lang="en-GB" b="1" i="1" dirty="0"/>
              <a:t>()</a:t>
            </a:r>
          </a:p>
          <a:p>
            <a:pPr marL="0" indent="0">
              <a:buNone/>
            </a:pPr>
            <a:r>
              <a:rPr lang="en-GB" b="1" i="1" dirty="0"/>
              <a:t>port = 12345</a:t>
            </a:r>
          </a:p>
          <a:p>
            <a:pPr marL="0" indent="0">
              <a:buNone/>
            </a:pPr>
            <a:r>
              <a:rPr lang="en-GB" b="1" i="1" dirty="0"/>
              <a:t>s = </a:t>
            </a:r>
            <a:r>
              <a:rPr lang="en-GB" b="1" i="1" dirty="0" err="1"/>
              <a:t>socket.socket</a:t>
            </a:r>
            <a:r>
              <a:rPr lang="en-GB" b="1" i="1" dirty="0"/>
              <a:t>()</a:t>
            </a:r>
          </a:p>
          <a:p>
            <a:pPr marL="0" indent="0">
              <a:buNone/>
            </a:pPr>
            <a:r>
              <a:rPr lang="en-GB" b="1" i="1" dirty="0" err="1"/>
              <a:t>s.connect</a:t>
            </a:r>
            <a:r>
              <a:rPr lang="en-GB" b="1" i="1" dirty="0"/>
              <a:t>((host, port))</a:t>
            </a:r>
          </a:p>
          <a:p>
            <a:pPr marL="0" indent="0">
              <a:buNone/>
            </a:pPr>
            <a:r>
              <a:rPr lang="en-GB" b="1" i="1" dirty="0" err="1"/>
              <a:t>s.sendall</a:t>
            </a:r>
            <a:r>
              <a:rPr lang="en-GB" b="1" i="1" dirty="0"/>
              <a:t>(</a:t>
            </a:r>
            <a:r>
              <a:rPr lang="en-GB" b="1" i="1" dirty="0" err="1"/>
              <a:t>b'Welcome</a:t>
            </a:r>
            <a:r>
              <a:rPr lang="en-GB" b="1" i="1" dirty="0"/>
              <a:t> User!')</a:t>
            </a:r>
          </a:p>
          <a:p>
            <a:pPr marL="0" indent="0">
              <a:buNone/>
            </a:pPr>
            <a:r>
              <a:rPr lang="en-GB" b="1" i="1" dirty="0"/>
              <a:t>data = </a:t>
            </a:r>
            <a:r>
              <a:rPr lang="en-GB" b="1" i="1" dirty="0" err="1"/>
              <a:t>s.recv</a:t>
            </a:r>
            <a:r>
              <a:rPr lang="en-GB" b="1" i="1" dirty="0"/>
              <a:t>(1024)</a:t>
            </a:r>
          </a:p>
          <a:p>
            <a:pPr marL="0" indent="0">
              <a:buNone/>
            </a:pPr>
            <a:r>
              <a:rPr lang="en-GB" b="1" i="1" dirty="0" err="1"/>
              <a:t>s.close</a:t>
            </a:r>
            <a:r>
              <a:rPr lang="en-GB" b="1" i="1" dirty="0"/>
              <a:t>()</a:t>
            </a:r>
          </a:p>
          <a:p>
            <a:pPr marL="0" indent="0">
              <a:buNone/>
            </a:pPr>
            <a:r>
              <a:rPr lang="en-GB" b="1" i="1" dirty="0"/>
              <a:t>print(</a:t>
            </a:r>
            <a:r>
              <a:rPr lang="en-GB" b="1" i="1" dirty="0" err="1"/>
              <a:t>repr</a:t>
            </a:r>
            <a:r>
              <a:rPr lang="en-GB" b="1" i="1" dirty="0"/>
              <a:t>(data))</a:t>
            </a:r>
          </a:p>
        </p:txBody>
      </p:sp>
    </p:spTree>
    <p:extLst>
      <p:ext uri="{BB962C8B-B14F-4D97-AF65-F5344CB8AC3E}">
        <p14:creationId xmlns:p14="http://schemas.microsoft.com/office/powerpoint/2010/main" val="38475741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72105-574F-2D8B-D3F2-5F6AF7C5E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8562"/>
            <a:ext cx="10515600" cy="576840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Now run this server.py in background and then run above client.py to see the result.</a:t>
            </a:r>
          </a:p>
          <a:p>
            <a:r>
              <a:rPr lang="en-US" dirty="0"/>
              <a:t>Output:</a:t>
            </a:r>
          </a:p>
          <a:p>
            <a:r>
              <a:rPr lang="en-US" dirty="0"/>
              <a:t>Step 1: Run server.py. It would start a server in background.</a:t>
            </a:r>
          </a:p>
          <a:p>
            <a:r>
              <a:rPr lang="en-US" dirty="0"/>
              <a:t>Step 2: Run client.py. Once server is started run client.</a:t>
            </a:r>
          </a:p>
          <a:p>
            <a:r>
              <a:rPr lang="en-US" dirty="0"/>
              <a:t>Step 3: Output of server.py generates as follows:</a:t>
            </a:r>
          </a:p>
          <a:p>
            <a:r>
              <a:rPr lang="en-GB" dirty="0"/>
              <a:t>C:\Users\Ashok Kumar\Desktop&gt;python server.py</a:t>
            </a:r>
          </a:p>
          <a:p>
            <a:r>
              <a:rPr lang="en-GB" dirty="0"/>
              <a:t>Got connection from 192.168.3.21 ( 61428 )</a:t>
            </a:r>
          </a:p>
          <a:p>
            <a:r>
              <a:rPr lang="en-GB" dirty="0"/>
              <a:t>Thank you for connecting</a:t>
            </a:r>
          </a:p>
          <a:p>
            <a:r>
              <a:rPr lang="en-GB" dirty="0"/>
              <a:t>Step 4: Output of client.py generates as follows:</a:t>
            </a:r>
          </a:p>
          <a:p>
            <a:r>
              <a:rPr lang="en-GB" dirty="0"/>
              <a:t>C:\Users\Ashok Kumar\Desktop&gt;python clients.py</a:t>
            </a:r>
          </a:p>
          <a:p>
            <a:r>
              <a:rPr lang="en-GB" dirty="0" err="1"/>
              <a:t>b'Welcome</a:t>
            </a:r>
            <a:r>
              <a:rPr lang="en-GB" dirty="0"/>
              <a:t> User!'</a:t>
            </a:r>
          </a:p>
        </p:txBody>
      </p:sp>
    </p:spTree>
    <p:extLst>
      <p:ext uri="{BB962C8B-B14F-4D97-AF65-F5344CB8AC3E}">
        <p14:creationId xmlns:p14="http://schemas.microsoft.com/office/powerpoint/2010/main" val="38660324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UDP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Example for UDP server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EADE5C-6044-466D-943D-0B0DAEA1166F}"/>
              </a:ext>
            </a:extLst>
          </p:cNvPr>
          <p:cNvSpPr/>
          <p:nvPr/>
        </p:nvSpPr>
        <p:spPr>
          <a:xfrm>
            <a:off x="2136648" y="2286000"/>
            <a:ext cx="7921752" cy="30777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import socket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UDP_IP = "127.0.0.1"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UDP_PORT = 5005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sock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socket.socket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socket.AF_INET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# Internet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socket.SOCK_DGRAM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# UDP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sock.bind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((UDP_IP, UDP_PORT))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while True: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data,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addr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sock.recvfrom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(1024) # buffer size is 1024 bytes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print("received message: %s" % data)</a:t>
            </a:r>
          </a:p>
        </p:txBody>
      </p:sp>
    </p:spTree>
    <p:extLst>
      <p:ext uri="{BB962C8B-B14F-4D97-AF65-F5344CB8AC3E}">
        <p14:creationId xmlns:p14="http://schemas.microsoft.com/office/powerpoint/2010/main" val="6079285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UDP 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Example for UDP client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B5B33D-C3EF-4285-B2BE-44069536D570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EADE5C-6044-466D-943D-0B0DAEA1166F}"/>
              </a:ext>
            </a:extLst>
          </p:cNvPr>
          <p:cNvSpPr/>
          <p:nvPr/>
        </p:nvSpPr>
        <p:spPr>
          <a:xfrm>
            <a:off x="2136648" y="2286001"/>
            <a:ext cx="7921752" cy="329320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import socket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UDP_IP = "127.0.0.1"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UDP_PORT = 5005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MESSAGE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b"Hello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World!"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print("UDP target IP: %s" % UDP_IP)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print("UDP target port: %s" % UDP_PORT)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print("message: %s" % MESSAGE)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sock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socket.socket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socket.AF_INET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# Internet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socket.SOCK_DGRAM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# UDP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sock.sendto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(MESSAGE, (UDP_IP, UDP_PORT))</a:t>
            </a:r>
          </a:p>
        </p:txBody>
      </p:sp>
    </p:spTree>
    <p:extLst>
      <p:ext uri="{BB962C8B-B14F-4D97-AF65-F5344CB8AC3E}">
        <p14:creationId xmlns:p14="http://schemas.microsoft.com/office/powerpoint/2010/main" val="27986133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0"/>
            <a:ext cx="8382000" cy="723499"/>
          </a:xfrm>
        </p:spPr>
        <p:txBody>
          <a:bodyPr>
            <a:normAutofit/>
          </a:bodyPr>
          <a:lstStyle/>
          <a:p>
            <a:r>
              <a:rPr lang="en-US" altLang="ar-SA" dirty="0">
                <a:ea typeface="ＭＳ Ｐゴシック" panose="020B0600070205080204" pitchFamily="34" charset="-128"/>
              </a:rPr>
              <a:t>Transferring Files using UDP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B5B33D-C3EF-4285-B2BE-44069536D570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397D632-11BC-ABB8-6319-F9FC76EE1B97}"/>
              </a:ext>
            </a:extLst>
          </p:cNvPr>
          <p:cNvSpPr txBox="1">
            <a:spLocks/>
          </p:cNvSpPr>
          <p:nvPr/>
        </p:nvSpPr>
        <p:spPr>
          <a:xfrm>
            <a:off x="344906" y="1265722"/>
            <a:ext cx="11234446" cy="4393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Simple approach</a:t>
            </a:r>
          </a:p>
          <a:p>
            <a:r>
              <a:rPr lang="en-US" dirty="0"/>
              <a:t>On the client side,</a:t>
            </a:r>
          </a:p>
          <a:p>
            <a:pPr lvl="1"/>
            <a:r>
              <a:rPr lang="en-US" dirty="0"/>
              <a:t>Reading the file as one variable</a:t>
            </a:r>
          </a:p>
          <a:p>
            <a:pPr lvl="1"/>
            <a:r>
              <a:rPr lang="en-US" altLang="ar-SA" dirty="0"/>
              <a:t>Sending the file as one UDP packet</a:t>
            </a:r>
          </a:p>
          <a:p>
            <a:r>
              <a:rPr lang="en-US" altLang="ar-SA" dirty="0"/>
              <a:t>On the server side,</a:t>
            </a:r>
          </a:p>
          <a:p>
            <a:pPr lvl="1"/>
            <a:r>
              <a:rPr lang="en-US" altLang="ar-SA" dirty="0"/>
              <a:t>read the data from the socket</a:t>
            </a:r>
          </a:p>
          <a:p>
            <a:pPr lvl="1"/>
            <a:r>
              <a:rPr lang="en-US" altLang="ar-SA" dirty="0"/>
              <a:t>store the data into a file</a:t>
            </a:r>
          </a:p>
        </p:txBody>
      </p:sp>
    </p:spTree>
    <p:extLst>
      <p:ext uri="{BB962C8B-B14F-4D97-AF65-F5344CB8AC3E}">
        <p14:creationId xmlns:p14="http://schemas.microsoft.com/office/powerpoint/2010/main" val="11814940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ar-SA" dirty="0">
                <a:ea typeface="ＭＳ Ｐゴシック" panose="020B0600070205080204" pitchFamily="34" charset="-128"/>
              </a:rPr>
              <a:t>Example: Transferring Files UDP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Example for UDP file transfer server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B5B33D-C3EF-4285-B2BE-44069536D570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EADE5C-6044-466D-943D-0B0DAEA1166F}"/>
              </a:ext>
            </a:extLst>
          </p:cNvPr>
          <p:cNvSpPr/>
          <p:nvPr/>
        </p:nvSpPr>
        <p:spPr>
          <a:xfrm>
            <a:off x="2136648" y="2286000"/>
            <a:ext cx="7921752" cy="378565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import socket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import time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UDP_IP = "127.0.0.1"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UDP_PORT = 5005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sock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socket.socket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socket.AF_INET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# Internet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socket.SOCK_DGRAM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# UDP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sock.bind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((UDP_IP, UDP_PORT))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data,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addr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sock.recvfrom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(1024) # buffer size is 1024 bytes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f = open("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output.txt","w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")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f.write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data.decode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f.close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print("received message from:" 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addr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758111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ar-SA" dirty="0">
                <a:ea typeface="ＭＳ Ｐゴシック" panose="020B0600070205080204" pitchFamily="34" charset="-128"/>
              </a:rPr>
              <a:t>Example: Transferring Files UDP Client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Example for UDP file transfer client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B5B33D-C3EF-4285-B2BE-44069536D570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EADE5C-6044-466D-943D-0B0DAEA1166F}"/>
              </a:ext>
            </a:extLst>
          </p:cNvPr>
          <p:cNvSpPr/>
          <p:nvPr/>
        </p:nvSpPr>
        <p:spPr>
          <a:xfrm>
            <a:off x="2136648" y="2286001"/>
            <a:ext cx="7921752" cy="40318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import socket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UDP_IP = "127.0.0.1"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UDP_PORT = 5005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print("UDP target IP: %s" % UDP_IP)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print("UDP target port: %s" % UDP_PORT)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f = open("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input.txt","r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")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file_data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f.read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sock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socket.socket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socket.AF_INET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# Internet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socket.SOCK_DGRAM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# UDP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sock.sendto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file_data.encode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(), (UDP_IP, UDP_PORT))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6893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382000" cy="990600"/>
          </a:xfrm>
        </p:spPr>
        <p:txBody>
          <a:bodyPr>
            <a:normAutofit/>
          </a:bodyPr>
          <a:lstStyle/>
          <a:p>
            <a:r>
              <a:rPr lang="en-US" altLang="ar-SA" dirty="0">
                <a:ea typeface="ＭＳ Ｐゴシック" panose="020B0600070205080204" pitchFamily="34" charset="-128"/>
              </a:rPr>
              <a:t>Example: Transferring Files UDP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81200" y="1219200"/>
            <a:ext cx="8382000" cy="4937760"/>
          </a:xfrm>
        </p:spPr>
        <p:txBody>
          <a:bodyPr>
            <a:normAutofit/>
          </a:bodyPr>
          <a:lstStyle/>
          <a:p>
            <a:r>
              <a:rPr lang="en-US" dirty="0"/>
              <a:t>Simple approach works well with small files</a:t>
            </a:r>
            <a:endParaRPr lang="en-US" altLang="ar-SA" dirty="0"/>
          </a:p>
          <a:p>
            <a:r>
              <a:rPr lang="en-US" altLang="ar-SA" dirty="0"/>
              <a:t>Does not work with large files</a:t>
            </a:r>
          </a:p>
          <a:p>
            <a:pPr lvl="1"/>
            <a:r>
              <a:rPr lang="en-US" altLang="ar-SA" dirty="0"/>
              <a:t>What is the limit?</a:t>
            </a:r>
          </a:p>
          <a:p>
            <a:pPr lvl="2"/>
            <a:r>
              <a:rPr lang="en-US" altLang="ar-SA" dirty="0"/>
              <a:t>consider the UDP datagram maximum length.</a:t>
            </a:r>
          </a:p>
          <a:p>
            <a:pPr lvl="2"/>
            <a:r>
              <a:rPr lang="en-US" altLang="ar-SA" dirty="0"/>
              <a:t>2^16 = </a:t>
            </a:r>
            <a:r>
              <a:rPr lang="en-US" dirty="0"/>
              <a:t>65536 bytes</a:t>
            </a:r>
            <a:endParaRPr lang="en-US" altLang="ar-SA" dirty="0"/>
          </a:p>
          <a:p>
            <a:pPr lvl="3"/>
            <a:r>
              <a:rPr lang="en-US" altLang="ar-SA" dirty="0"/>
              <a:t>16 = the number of bits allocated for the packet length</a:t>
            </a:r>
          </a:p>
          <a:p>
            <a:pPr lvl="3"/>
            <a:endParaRPr lang="en-US" altLang="ar-SA" dirty="0"/>
          </a:p>
          <a:p>
            <a:pPr lvl="3"/>
            <a:endParaRPr lang="en-US" altLang="ar-SA" dirty="0"/>
          </a:p>
          <a:p>
            <a:r>
              <a:rPr lang="en-US" altLang="ar-SA" dirty="0"/>
              <a:t>What is the solution?</a:t>
            </a:r>
          </a:p>
          <a:p>
            <a:pPr lvl="3"/>
            <a:endParaRPr lang="en-US" altLang="ar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B5B33D-C3EF-4285-B2BE-44069536D570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315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382000" cy="990600"/>
          </a:xfrm>
        </p:spPr>
        <p:txBody>
          <a:bodyPr>
            <a:normAutofit/>
          </a:bodyPr>
          <a:lstStyle/>
          <a:p>
            <a:r>
              <a:rPr lang="en-US" altLang="ar-SA" dirty="0">
                <a:ea typeface="ＭＳ Ｐゴシック" panose="020B0600070205080204" pitchFamily="34" charset="-128"/>
              </a:rPr>
              <a:t>Example: Transferring Files UDP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81200" y="1219200"/>
            <a:ext cx="8382000" cy="4937760"/>
          </a:xfrm>
        </p:spPr>
        <p:txBody>
          <a:bodyPr>
            <a:normAutofit/>
          </a:bodyPr>
          <a:lstStyle/>
          <a:p>
            <a:r>
              <a:rPr lang="en-US" dirty="0"/>
              <a:t>Better approach</a:t>
            </a:r>
          </a:p>
          <a:p>
            <a:r>
              <a:rPr lang="en-US" dirty="0"/>
              <a:t>On the client side,</a:t>
            </a:r>
          </a:p>
          <a:p>
            <a:pPr lvl="1"/>
            <a:r>
              <a:rPr lang="en-US" dirty="0"/>
              <a:t>Reading the file as data chunks of small size </a:t>
            </a:r>
          </a:p>
          <a:p>
            <a:pPr lvl="2"/>
            <a:r>
              <a:rPr lang="en-US" dirty="0"/>
              <a:t>For example, 100 bytes</a:t>
            </a:r>
          </a:p>
          <a:p>
            <a:pPr lvl="1"/>
            <a:r>
              <a:rPr lang="en-US" altLang="ar-SA" dirty="0"/>
              <a:t>Using while loop</a:t>
            </a:r>
          </a:p>
          <a:p>
            <a:pPr lvl="2"/>
            <a:r>
              <a:rPr lang="en-US" altLang="ar-SA" dirty="0"/>
              <a:t>send each chunk until the last chunk</a:t>
            </a:r>
          </a:p>
          <a:p>
            <a:r>
              <a:rPr lang="en-US" altLang="ar-SA" dirty="0"/>
              <a:t>On the server side,</a:t>
            </a:r>
          </a:p>
          <a:p>
            <a:pPr lvl="1"/>
            <a:r>
              <a:rPr lang="en-US" dirty="0"/>
              <a:t>Reading all chunks from the socket</a:t>
            </a:r>
          </a:p>
          <a:p>
            <a:pPr lvl="1"/>
            <a:r>
              <a:rPr lang="en-US" altLang="ar-SA" dirty="0"/>
              <a:t>Append all data chunks into the output 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B5B33D-C3EF-4285-B2BE-44069536D570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5814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ar-SA" dirty="0">
                <a:ea typeface="ＭＳ Ｐゴシック" panose="020B0600070205080204" pitchFamily="34" charset="-128"/>
              </a:rPr>
              <a:t>Example: Transferring Files UDP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Example for UDP file transfer server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B5B33D-C3EF-4285-B2BE-44069536D570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EADE5C-6044-466D-943D-0B0DAEA1166F}"/>
              </a:ext>
            </a:extLst>
          </p:cNvPr>
          <p:cNvSpPr/>
          <p:nvPr/>
        </p:nvSpPr>
        <p:spPr>
          <a:xfrm>
            <a:off x="914400" y="2256651"/>
            <a:ext cx="7921752" cy="45243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import socket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UDP_IP = "127.0.0.1"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UDP_PORT = 5005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sock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socket.socket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socket.AF_INET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# Internet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socket.SOCK_DGRAM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# UDP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sock.bind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((UDP_IP, UDP_PORT))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f = open("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output.txt","w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")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chunk_size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10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data = "buffer"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while True: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data,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addr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sock.recvfrom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chunk_size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if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data.decode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== "":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	break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print("received chunk from:" 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addr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f.write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data.decode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f.close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8698913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ar-SA" dirty="0">
                <a:ea typeface="ＭＳ Ｐゴシック" panose="020B0600070205080204" pitchFamily="34" charset="-128"/>
              </a:rPr>
              <a:t>Example: Transferring Files UDP Client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Example for UDP file transfer client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B5B33D-C3EF-4285-B2BE-44069536D570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EADE5C-6044-466D-943D-0B0DAEA1166F}"/>
              </a:ext>
            </a:extLst>
          </p:cNvPr>
          <p:cNvSpPr/>
          <p:nvPr/>
        </p:nvSpPr>
        <p:spPr>
          <a:xfrm>
            <a:off x="1087494" y="2324477"/>
            <a:ext cx="7921752" cy="40318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import socket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UDP_IP = "127.0.0.1"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UDP_PORT = 5005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print("UDP target IP: %s" % UDP_IP)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print("UDP target port: %s" % UDP_PORT)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f = open("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input.txt","r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")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chunk_size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10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file_data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f.read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chunk_size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sock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socket.socket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socket.AF_INET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						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socket.SOCK_DGRAM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while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file_data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	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sock.sendto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file_data.encode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(), (UDP_IP, UDP_PORT))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file_data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f.read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chunk_size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sock.sendto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(b"", (UDP_IP, UDP_PORT))</a:t>
            </a:r>
          </a:p>
        </p:txBody>
      </p:sp>
    </p:spTree>
    <p:extLst>
      <p:ext uri="{BB962C8B-B14F-4D97-AF65-F5344CB8AC3E}">
        <p14:creationId xmlns:p14="http://schemas.microsoft.com/office/powerpoint/2010/main" val="27116049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382000" cy="990600"/>
          </a:xfrm>
        </p:spPr>
        <p:txBody>
          <a:bodyPr>
            <a:normAutofit/>
          </a:bodyPr>
          <a:lstStyle/>
          <a:p>
            <a:r>
              <a:rPr lang="en-US" altLang="ar-SA" dirty="0">
                <a:ea typeface="ＭＳ Ｐゴシック" panose="020B0600070205080204" pitchFamily="34" charset="-128"/>
              </a:rPr>
              <a:t>Socket programming </a:t>
            </a:r>
            <a:r>
              <a:rPr lang="en-US" altLang="ar-SA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with TCP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81200" y="1219200"/>
            <a:ext cx="8382000" cy="493776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ar-SA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client must contact server</a:t>
            </a:r>
          </a:p>
          <a:p>
            <a:r>
              <a:rPr lang="en-US" altLang="ar-SA" dirty="0">
                <a:ea typeface="ＭＳ Ｐゴシック" panose="020B0600070205080204" pitchFamily="34" charset="-128"/>
              </a:rPr>
              <a:t>server process must first be running</a:t>
            </a:r>
          </a:p>
          <a:p>
            <a:r>
              <a:rPr lang="en-US" altLang="ar-SA" dirty="0">
                <a:ea typeface="ＭＳ Ｐゴシック" panose="020B0600070205080204" pitchFamily="34" charset="-128"/>
              </a:rPr>
              <a:t>server must have created socket (door) that welcomes client</a:t>
            </a:r>
            <a:r>
              <a:rPr lang="ja-JP" altLang="en-US" dirty="0"/>
              <a:t>’</a:t>
            </a:r>
            <a:r>
              <a:rPr lang="en-US" altLang="ja-JP" dirty="0"/>
              <a:t>s contact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ar-SA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client contacts server by:</a:t>
            </a:r>
          </a:p>
          <a:p>
            <a:r>
              <a:rPr lang="en-US" altLang="ar-SA" dirty="0">
                <a:ea typeface="ＭＳ Ｐゴシック" panose="020B0600070205080204" pitchFamily="34" charset="-128"/>
              </a:rPr>
              <a:t>Creating TCP socket, specifying IP address, port number of server process</a:t>
            </a:r>
          </a:p>
          <a:p>
            <a:r>
              <a:rPr lang="en-US" altLang="ar-SA" sz="2200" dirty="0">
                <a:ea typeface="ＭＳ Ｐゴシック" panose="020B0600070205080204" pitchFamily="34" charset="-128"/>
              </a:rPr>
              <a:t>when contacted by client, </a:t>
            </a:r>
            <a:r>
              <a:rPr lang="en-US" altLang="ar-SA" sz="22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server TCP creates new socket</a:t>
            </a:r>
            <a:r>
              <a:rPr lang="en-US" altLang="ar-SA" sz="2200" dirty="0">
                <a:ea typeface="ＭＳ Ｐゴシック" panose="020B0600070205080204" pitchFamily="34" charset="-128"/>
              </a:rPr>
              <a:t> for server process to communicate with that particular client</a:t>
            </a:r>
          </a:p>
          <a:p>
            <a:pPr lvl="1"/>
            <a:r>
              <a:rPr lang="en-US" altLang="ar-SA" sz="2200" dirty="0">
                <a:ea typeface="ＭＳ Ｐゴシック" panose="020B0600070205080204" pitchFamily="34" charset="-128"/>
              </a:rPr>
              <a:t>allows server to talk with multiple clients</a:t>
            </a:r>
          </a:p>
          <a:p>
            <a:pPr lvl="1"/>
            <a:r>
              <a:rPr lang="en-US" altLang="ar-SA" sz="2200" dirty="0">
                <a:ea typeface="ＭＳ Ｐゴシック" panose="020B0600070205080204" pitchFamily="34" charset="-128"/>
              </a:rPr>
              <a:t>source port numbers used to distinguish clients </a:t>
            </a:r>
          </a:p>
          <a:p>
            <a:r>
              <a:rPr lang="en-US" altLang="ar-SA" dirty="0">
                <a:solidFill>
                  <a:srgbClr val="CC0000"/>
                </a:solidFill>
                <a:latin typeface="Gill Sans MT" panose="020B0502020104020203" pitchFamily="34" charset="0"/>
              </a:rPr>
              <a:t>application viewpoint:</a:t>
            </a:r>
          </a:p>
          <a:p>
            <a:r>
              <a:rPr lang="en-US" altLang="ar-SA" sz="2500" i="1" dirty="0">
                <a:ea typeface="ＭＳ Ｐゴシック" panose="020B0600070205080204" pitchFamily="34" charset="-128"/>
              </a:rPr>
              <a:t>TCP provides reliable, in-order byte-stream transfer (“pipe”) between client and server</a:t>
            </a:r>
          </a:p>
          <a:p>
            <a:endParaRPr lang="en-US" altLang="ar-SA" dirty="0">
              <a:ea typeface="ＭＳ Ｐゴシック" panose="020B0600070205080204" pitchFamily="34" charset="-128"/>
            </a:endParaRPr>
          </a:p>
          <a:p>
            <a:endParaRPr lang="en-US" altLang="ar-SA" sz="2200" i="1" dirty="0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B5B33D-C3EF-4285-B2BE-44069536D570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7674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ar-SA" dirty="0">
                <a:ea typeface="ＭＳ Ｐゴシック" panose="020B0600070205080204" pitchFamily="34" charset="-128"/>
              </a:rPr>
              <a:t>Simple TCP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Example for TCP file transfer server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B5B33D-C3EF-4285-B2BE-44069536D570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EADE5C-6044-466D-943D-0B0DAEA1166F}"/>
              </a:ext>
            </a:extLst>
          </p:cNvPr>
          <p:cNvSpPr/>
          <p:nvPr/>
        </p:nvSpPr>
        <p:spPr>
          <a:xfrm>
            <a:off x="1010493" y="2816920"/>
            <a:ext cx="7921752" cy="35394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import socket               # Import socket module</a:t>
            </a:r>
          </a:p>
          <a:p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s = socket.socket(socket.AF_INET, # Internet</a:t>
            </a:r>
          </a:p>
          <a:p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socket.SOCK_STREAM) # tcp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host = ""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port = 12345                # Reserve a port for your service.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s.bind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((host, port))        # Bind to the port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s.listen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(5)                 # Now wait for client connection.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while True: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c,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addr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s.accept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    # Establish connection with client.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print ("Got connection from",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addr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msg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c.recv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(1024)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print 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msg.decode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c.close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               # Close the connection</a:t>
            </a:r>
          </a:p>
        </p:txBody>
      </p:sp>
    </p:spTree>
    <p:extLst>
      <p:ext uri="{BB962C8B-B14F-4D97-AF65-F5344CB8AC3E}">
        <p14:creationId xmlns:p14="http://schemas.microsoft.com/office/powerpoint/2010/main" val="36798082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ar-SA" dirty="0">
                <a:ea typeface="ＭＳ Ｐゴシック" panose="020B0600070205080204" pitchFamily="34" charset="-128"/>
              </a:rPr>
              <a:t>Simple TCP Client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Example for TCP file transfer client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B5B33D-C3EF-4285-B2BE-44069536D570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EADE5C-6044-466D-943D-0B0DAEA1166F}"/>
              </a:ext>
            </a:extLst>
          </p:cNvPr>
          <p:cNvSpPr/>
          <p:nvPr/>
        </p:nvSpPr>
        <p:spPr>
          <a:xfrm>
            <a:off x="914400" y="2473694"/>
            <a:ext cx="7921752" cy="20621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import socket            # Import socket module</a:t>
            </a:r>
          </a:p>
          <a:p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s = socket.socket(socket.AF_INET, # Internet</a:t>
            </a:r>
          </a:p>
          <a:p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socket.SOCK_STREAM) # tcp</a:t>
            </a:r>
          </a:p>
          <a:p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host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 "127.0.0.1" 	# Get local machine name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port = 12345             # Reserve a port for your service.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s.connect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((host, port))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s.send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b"Hello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There from Client")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s.close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                    # Close the socket when done</a:t>
            </a:r>
          </a:p>
        </p:txBody>
      </p:sp>
    </p:spTree>
    <p:extLst>
      <p:ext uri="{BB962C8B-B14F-4D97-AF65-F5344CB8AC3E}">
        <p14:creationId xmlns:p14="http://schemas.microsoft.com/office/powerpoint/2010/main" val="35225038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Transferring Files TCP Server</a:t>
            </a:r>
            <a:endParaRPr lang="ar-SA" dirty="0"/>
          </a:p>
        </p:txBody>
      </p:sp>
      <p:sp>
        <p:nvSpPr>
          <p:cNvPr id="3" name="عنصر نائب لرقم الشريحة 2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B5B33D-C3EF-4285-B2BE-44069536D570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4" name="عنصر نائب للمحتوى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Example for TCP file transfer server</a:t>
            </a:r>
          </a:p>
          <a:p>
            <a:pPr marL="0" indent="0">
              <a:buNone/>
            </a:pPr>
            <a:endParaRPr lang="ar-SA" dirty="0"/>
          </a:p>
          <a:p>
            <a:endParaRPr lang="ar-S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EADE5C-6044-466D-943D-0B0DAEA1166F}"/>
              </a:ext>
            </a:extLst>
          </p:cNvPr>
          <p:cNvSpPr/>
          <p:nvPr/>
        </p:nvSpPr>
        <p:spPr>
          <a:xfrm>
            <a:off x="750610" y="2324477"/>
            <a:ext cx="7921752" cy="40318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import socket               # Import socket module</a:t>
            </a:r>
          </a:p>
          <a:p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s = socket.socket(socket.AF_INET, # Internet</a:t>
            </a:r>
          </a:p>
          <a:p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socket.SOCK_STREAM) # tcp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host = ""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port = 12345                # Reserve a port for your service.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s.bind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((host, port))        # Bind to the port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s.listen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(5)                 # Now wait for client connection.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while True: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c,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addr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s.accept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    # Establish connection with client.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print ("Got connection from",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addr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f = open("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output.txt","w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")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data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c.recv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(65000)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f.write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data.decode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f.close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c.close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               # Close the connection</a:t>
            </a:r>
          </a:p>
        </p:txBody>
      </p:sp>
    </p:spTree>
    <p:extLst>
      <p:ext uri="{BB962C8B-B14F-4D97-AF65-F5344CB8AC3E}">
        <p14:creationId xmlns:p14="http://schemas.microsoft.com/office/powerpoint/2010/main" val="34351052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905000" y="453524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Example: Transferring Files TCP Client</a:t>
            </a:r>
            <a:endParaRPr lang="ar-SA" dirty="0"/>
          </a:p>
        </p:txBody>
      </p:sp>
      <p:sp>
        <p:nvSpPr>
          <p:cNvPr id="3" name="عنصر نائب لرقم الشريحة 2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defPPr>
              <a:defRPr lang="en-US"/>
            </a:defPPr>
            <a:lvl1pPr marL="0" algn="l" defTabSz="914400" rtl="0" eaLnBrk="1" latinLnBrk="0" hangingPunct="1">
              <a:defRPr kumimoji="0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B5B33D-C3EF-4285-B2BE-44069536D570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4" name="عنصر نائب للمحتوى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Example for TCP file transfer client</a:t>
            </a:r>
          </a:p>
          <a:p>
            <a:endParaRPr lang="ar-SA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FEADE5C-6044-466D-943D-0B0DAEA1166F}"/>
              </a:ext>
            </a:extLst>
          </p:cNvPr>
          <p:cNvSpPr/>
          <p:nvPr/>
        </p:nvSpPr>
        <p:spPr>
          <a:xfrm>
            <a:off x="914400" y="2704700"/>
            <a:ext cx="7921752" cy="280076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import socket            # Import socket module</a:t>
            </a:r>
          </a:p>
          <a:p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s = socket.socket(socket.AF_INET, # Internet</a:t>
            </a:r>
          </a:p>
          <a:p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socket.SOCK_STREAM) # tcp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host = "127.0.0.1" 	# Get local machine name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port = 12345             # Reserve a port for your service.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addr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(host, port)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s.connect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addr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f = open("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input.txt","r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")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file_data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f.read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s.send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file_data.encode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s.close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                    # Close the socket when done</a:t>
            </a:r>
          </a:p>
        </p:txBody>
      </p:sp>
    </p:spTree>
    <p:extLst>
      <p:ext uri="{BB962C8B-B14F-4D97-AF65-F5344CB8AC3E}">
        <p14:creationId xmlns:p14="http://schemas.microsoft.com/office/powerpoint/2010/main" val="2416757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5119</Words>
  <Application>Microsoft Office PowerPoint</Application>
  <PresentationFormat>Widescreen</PresentationFormat>
  <Paragraphs>812</Paragraphs>
  <Slides>50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5" baseType="lpstr">
      <vt:lpstr>ＭＳ Ｐゴシック</vt:lpstr>
      <vt:lpstr>Aptos</vt:lpstr>
      <vt:lpstr>Arial</vt:lpstr>
      <vt:lpstr>Calibri</vt:lpstr>
      <vt:lpstr>Calibri Light</vt:lpstr>
      <vt:lpstr>Comic Sans MS</vt:lpstr>
      <vt:lpstr>Consolas</vt:lpstr>
      <vt:lpstr>Courier New</vt:lpstr>
      <vt:lpstr>Gill Sans MT</vt:lpstr>
      <vt:lpstr>Tahoma</vt:lpstr>
      <vt:lpstr>Times New Roman</vt:lpstr>
      <vt:lpstr>Verdana</vt:lpstr>
      <vt:lpstr>Wingdings</vt:lpstr>
      <vt:lpstr>ZapfDingbats</vt:lpstr>
      <vt:lpstr>Office Theme</vt:lpstr>
      <vt:lpstr>PowerPoint Presentation</vt:lpstr>
      <vt:lpstr>Creating a network app</vt:lpstr>
      <vt:lpstr>Socket programming </vt:lpstr>
      <vt:lpstr>Socket Basics</vt:lpstr>
      <vt:lpstr>Processes communicating</vt:lpstr>
      <vt:lpstr>App-layer protocol defines</vt:lpstr>
      <vt:lpstr>Addressing processes</vt:lpstr>
      <vt:lpstr>Server and Client</vt:lpstr>
      <vt:lpstr>Sockets</vt:lpstr>
      <vt:lpstr>Socket programming </vt:lpstr>
      <vt:lpstr>Socket programming with UDP </vt:lpstr>
      <vt:lpstr>Client/server socket interaction: UDP</vt:lpstr>
      <vt:lpstr>Example app: UDP client</vt:lpstr>
      <vt:lpstr>Example app: UDP server</vt:lpstr>
      <vt:lpstr>Socket programming with TCP</vt:lpstr>
      <vt:lpstr>Client/server socket interaction: TCP</vt:lpstr>
      <vt:lpstr>Example app: TCP client</vt:lpstr>
      <vt:lpstr>Example app: TCP server</vt:lpstr>
      <vt:lpstr>Socket programming with TCP</vt:lpstr>
      <vt:lpstr>Socket programming with TCP</vt:lpstr>
      <vt:lpstr>Socket programming: waiting for multiple events</vt:lpstr>
      <vt:lpstr>PowerPoint Presentation</vt:lpstr>
      <vt:lpstr>Socket programming: socket timeouts</vt:lpstr>
      <vt:lpstr>Socket in Python</vt:lpstr>
      <vt:lpstr>Vocabulary of Sockets</vt:lpstr>
      <vt:lpstr>The socket Module</vt:lpstr>
      <vt:lpstr>The socket Module</vt:lpstr>
      <vt:lpstr>PowerPoint Presentation</vt:lpstr>
      <vt:lpstr>Server Socket Methods</vt:lpstr>
      <vt:lpstr>Server and Client Socket Methods</vt:lpstr>
      <vt:lpstr>General Socket Methods</vt:lpstr>
      <vt:lpstr>A Simple Server</vt:lpstr>
      <vt:lpstr>PowerPoint Presentation</vt:lpstr>
      <vt:lpstr>A Simple Client</vt:lpstr>
      <vt:lpstr>PowerPoint Presentation</vt:lpstr>
      <vt:lpstr>PowerPoint Presentation</vt:lpstr>
      <vt:lpstr>UDP Server</vt:lpstr>
      <vt:lpstr>UDP Client</vt:lpstr>
      <vt:lpstr>Transferring Files using UDP</vt:lpstr>
      <vt:lpstr>Example: Transferring Files UDP Server</vt:lpstr>
      <vt:lpstr>Example: Transferring Files UDP Client</vt:lpstr>
      <vt:lpstr>Example: Transferring Files UDP</vt:lpstr>
      <vt:lpstr>Example: Transferring Files UDP</vt:lpstr>
      <vt:lpstr>Example: Transferring Files UDP Server</vt:lpstr>
      <vt:lpstr>Example: Transferring Files UDP Client</vt:lpstr>
      <vt:lpstr>Socket programming with TCP</vt:lpstr>
      <vt:lpstr>Simple TCP Server</vt:lpstr>
      <vt:lpstr>Simple TCP Client</vt:lpstr>
      <vt:lpstr>Example: Transferring Files TCP Server</vt:lpstr>
      <vt:lpstr>Example: Transferring Files TCP Client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Nibouche, Omar</cp:lastModifiedBy>
  <cp:revision>346</cp:revision>
  <dcterms:created xsi:type="dcterms:W3CDTF">2020-01-18T07:24:59Z</dcterms:created>
  <dcterms:modified xsi:type="dcterms:W3CDTF">2025-02-19T09:14:03Z</dcterms:modified>
</cp:coreProperties>
</file>