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1290" r:id="rId2"/>
    <p:sldId id="956" r:id="rId3"/>
    <p:sldId id="1213" r:id="rId4"/>
    <p:sldId id="1214" r:id="rId5"/>
    <p:sldId id="1217" r:id="rId6"/>
    <p:sldId id="1219" r:id="rId7"/>
    <p:sldId id="1220" r:id="rId8"/>
    <p:sldId id="1221" r:id="rId9"/>
    <p:sldId id="1223" r:id="rId10"/>
    <p:sldId id="1224" r:id="rId11"/>
    <p:sldId id="1233" r:id="rId12"/>
    <p:sldId id="1234" r:id="rId13"/>
    <p:sldId id="1235" r:id="rId14"/>
    <p:sldId id="1236" r:id="rId15"/>
    <p:sldId id="1238" r:id="rId16"/>
    <p:sldId id="1239" r:id="rId17"/>
    <p:sldId id="1240" r:id="rId18"/>
    <p:sldId id="1241" r:id="rId19"/>
    <p:sldId id="124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A0"/>
    <a:srgbClr val="9AE0FF"/>
    <a:srgbClr val="66ACD3"/>
    <a:srgbClr val="6EBFF0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4"/>
    <p:restoredTop sz="85158" autoAdjust="0"/>
  </p:normalViewPr>
  <p:slideViewPr>
    <p:cSldViewPr snapToGrid="0" snapToObjects="1">
      <p:cViewPr varScale="1">
        <p:scale>
          <a:sx n="63" d="100"/>
          <a:sy n="63" d="100"/>
        </p:scale>
        <p:origin x="560" y="52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8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7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4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31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16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81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50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0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57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25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54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76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72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0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66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75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42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300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wmf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CC1886E-FF84-E809-5401-224279DC4D07}"/>
              </a:ext>
            </a:extLst>
          </p:cNvPr>
          <p:cNvSpPr txBox="1">
            <a:spLocks/>
          </p:cNvSpPr>
          <p:nvPr/>
        </p:nvSpPr>
        <p:spPr>
          <a:xfrm>
            <a:off x="533400" y="2819400"/>
            <a:ext cx="81534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3400" dirty="0"/>
              <a:t>Network Security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C149D-7594-D108-98B8-03ADEED3BC22}"/>
              </a:ext>
            </a:extLst>
          </p:cNvPr>
          <p:cNvSpPr txBox="1">
            <a:spLocks/>
          </p:cNvSpPr>
          <p:nvPr/>
        </p:nvSpPr>
        <p:spPr>
          <a:xfrm>
            <a:off x="1513840" y="1047750"/>
            <a:ext cx="7399421" cy="179070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/>
              <a:t>CMP301 – Computer Networking</a:t>
            </a:r>
            <a:br>
              <a:rPr lang="en-US" dirty="0"/>
            </a:br>
            <a:r>
              <a:rPr lang="en-US" dirty="0"/>
              <a:t>Lecture Week 10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3FD3CBC-4C94-BD00-854A-B6C26B3E924B}"/>
              </a:ext>
            </a:extLst>
          </p:cNvPr>
          <p:cNvSpPr txBox="1">
            <a:spLocks/>
          </p:cNvSpPr>
          <p:nvPr/>
        </p:nvSpPr>
        <p:spPr>
          <a:xfrm>
            <a:off x="990600" y="4267200"/>
            <a:ext cx="4419600" cy="1752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Dr. Omar Nibouche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095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Security: overview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867032" y="1295400"/>
            <a:ext cx="8321675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security in practice:</a:t>
            </a:r>
          </a:p>
          <a:p>
            <a:pPr lvl="1"/>
            <a:r>
              <a:rPr lang="en-US" dirty="0"/>
              <a:t>firewalls and intrusion detection systems</a:t>
            </a:r>
          </a:p>
          <a:p>
            <a:pPr lvl="1"/>
            <a:r>
              <a:rPr lang="en-US" dirty="0"/>
              <a:t>security in transport layers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3D5C8EF-2927-2B63-4F6E-08F936E807E9}"/>
              </a:ext>
            </a:extLst>
          </p:cNvPr>
          <p:cNvSpPr txBox="1">
            <a:spLocks noChangeArrowheads="1"/>
          </p:cNvSpPr>
          <p:nvPr/>
        </p:nvSpPr>
        <p:spPr>
          <a:xfrm>
            <a:off x="1028700" y="3210858"/>
            <a:ext cx="7772400" cy="2683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dirty="0"/>
              <a:t>Securing TCP connections: TLS</a:t>
            </a:r>
          </a:p>
          <a:p>
            <a:pPr>
              <a:buClr>
                <a:srgbClr val="011199"/>
              </a:buClr>
            </a:pPr>
            <a:r>
              <a:rPr lang="en-US" dirty="0"/>
              <a:t>Operational security: firewalls and IDS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82334-5FD2-919F-E163-BAC9FB244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496" y="3947539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800" i="1" dirty="0">
                <a:solidFill>
                  <a:srgbClr val="0012A0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j-lt"/>
              </a:rPr>
              <a:t>8</a:t>
            </a:r>
            <a:r>
              <a:rPr lang="en-US" altLang="en-US" sz="1800" baseline="30000" dirty="0">
                <a:latin typeface="+mj-lt"/>
              </a:rPr>
              <a:t>th</a:t>
            </a:r>
            <a:r>
              <a:rPr lang="en-US" altLang="en-US" sz="1800" dirty="0">
                <a:latin typeface="+mj-lt"/>
              </a:rPr>
              <a:t> edition, Global Edition </a:t>
            </a:r>
            <a:br>
              <a:rPr lang="en-US" altLang="en-US" sz="1800" dirty="0">
                <a:latin typeface="+mj-lt"/>
              </a:rPr>
            </a:br>
            <a:r>
              <a:rPr lang="en-US" altLang="en-US" sz="1800" dirty="0">
                <a:latin typeface="+mj-lt"/>
              </a:rPr>
              <a:t>Jim Kurose, Keith Ross</a:t>
            </a:r>
            <a:br>
              <a:rPr lang="en-US" altLang="en-US" sz="1800" dirty="0">
                <a:latin typeface="+mj-lt"/>
              </a:rPr>
            </a:br>
            <a:r>
              <a:rPr lang="en-US" altLang="en-US" sz="1800" dirty="0">
                <a:latin typeface="+mj-lt"/>
              </a:rPr>
              <a:t>Copyright © 2022 Pearson Education Ltd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C0CF1EE-8BB7-8E99-C180-D74825311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174" y="187521"/>
            <a:ext cx="3442368" cy="4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7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93E8B2A-A755-5E48-807C-4B3E8C517B43}"/>
              </a:ext>
            </a:extLst>
          </p:cNvPr>
          <p:cNvSpPr txBox="1">
            <a:spLocks noChangeArrowheads="1"/>
          </p:cNvSpPr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certification authority (CA): </a:t>
            </a:r>
            <a:r>
              <a:rPr lang="en-US" dirty="0"/>
              <a:t>binds public key to particular entity, E</a:t>
            </a:r>
          </a:p>
          <a:p>
            <a:r>
              <a:rPr lang="en-US" dirty="0"/>
              <a:t>entity (person, website, router) registers its public key with CE provides </a:t>
            </a:r>
            <a:r>
              <a:rPr lang="en-US" altLang="ja-JP" dirty="0"/>
              <a:t>“proof of identity” to CA</a:t>
            </a:r>
          </a:p>
          <a:p>
            <a:pPr lvl="1"/>
            <a:r>
              <a:rPr lang="en-US" dirty="0"/>
              <a:t>CA creates certificate binding identity E to E’s public key</a:t>
            </a:r>
          </a:p>
          <a:p>
            <a:pPr lvl="1"/>
            <a:r>
              <a:rPr lang="en-US" dirty="0"/>
              <a:t>certificate containing E’</a:t>
            </a:r>
            <a:r>
              <a:rPr lang="en-US" altLang="ja-JP" dirty="0"/>
              <a:t>s public key digitally signed by CA: CA says “this is E’s public key”</a:t>
            </a:r>
            <a:endParaRPr lang="en-US" dirty="0"/>
          </a:p>
        </p:txBody>
      </p:sp>
      <p:pic>
        <p:nvPicPr>
          <p:cNvPr id="7" name="Picture 4" descr="j0175664[1]">
            <a:extLst>
              <a:ext uri="{FF2B5EF4-FFF2-40B4-BE49-F238E27FC236}">
                <a16:creationId xmlns:a16="http://schemas.microsoft.com/office/drawing/2014/main" id="{23CAD533-9FA9-104F-B787-25857E08A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</p:spPr>
      </p:pic>
      <p:pic>
        <p:nvPicPr>
          <p:cNvPr id="8" name="Picture 5" descr="Bob">
            <a:extLst>
              <a:ext uri="{FF2B5EF4-FFF2-40B4-BE49-F238E27FC236}">
                <a16:creationId xmlns:a16="http://schemas.microsoft.com/office/drawing/2014/main" id="{0548BCFD-B7B1-C642-A6A8-74DD77F00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3">
            <a:extLst>
              <a:ext uri="{FF2B5EF4-FFF2-40B4-BE49-F238E27FC236}">
                <a16:creationId xmlns:a16="http://schemas.microsoft.com/office/drawing/2014/main" id="{514DEAE9-3473-A94A-B6EB-D6509081E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651" y="4532105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B959E000-A13C-AB4A-B282-6A698249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identifying information 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1B9863CF-92EF-BC44-9CCC-D015F7212C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99139" y="5314743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9D776C03-EA8C-2848-85F8-6B5E0D3EE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451" y="4349543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746B9D1E-91F6-E34F-93A3-36FF0A9C8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3076" y="437653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1" name="Group 28">
            <a:extLst>
              <a:ext uri="{FF2B5EF4-FFF2-40B4-BE49-F238E27FC236}">
                <a16:creationId xmlns:a16="http://schemas.microsoft.com/office/drawing/2014/main" id="{B42AC924-4113-6146-9190-3E0B43B0D2A6}"/>
              </a:ext>
            </a:extLst>
          </p:cNvPr>
          <p:cNvGrpSpPr>
            <a:grpSpLocks/>
          </p:cNvGrpSpPr>
          <p:nvPr/>
        </p:nvGrpSpPr>
        <p:grpSpPr bwMode="auto"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id="32" name="Picture 29" descr="SO00109_[1]">
              <a:extLst>
                <a:ext uri="{FF2B5EF4-FFF2-40B4-BE49-F238E27FC236}">
                  <a16:creationId xmlns:a16="http://schemas.microsoft.com/office/drawing/2014/main" id="{2A42DF74-0987-5743-815C-6D6077F50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CABC37BB-8D37-5346-8D2F-6AEE6F2BFB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35" name="Group 31">
                <a:extLst>
                  <a:ext uri="{FF2B5EF4-FFF2-40B4-BE49-F238E27FC236}">
                    <a16:creationId xmlns:a16="http://schemas.microsoft.com/office/drawing/2014/main" id="{6FC90D88-FE04-9642-A206-14C100229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37" name="Text Box 32">
                  <a:extLst>
                    <a:ext uri="{FF2B5EF4-FFF2-40B4-BE49-F238E27FC236}">
                      <a16:creationId xmlns:a16="http://schemas.microsoft.com/office/drawing/2014/main" id="{69E50F96-6F41-304B-AA4E-F0D481927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38" name="Text Box 33">
                  <a:extLst>
                    <a:ext uri="{FF2B5EF4-FFF2-40B4-BE49-F238E27FC236}">
                      <a16:creationId xmlns:a16="http://schemas.microsoft.com/office/drawing/2014/main" id="{BD9826BE-5617-2545-8BEA-DF335B1185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36" name="Text Box 34">
                <a:extLst>
                  <a:ext uri="{FF2B5EF4-FFF2-40B4-BE49-F238E27FC236}">
                    <a16:creationId xmlns:a16="http://schemas.microsoft.com/office/drawing/2014/main" id="{9DB419F6-7ACA-F647-82AC-3C6EFAC50A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34" name="Picture 35" descr="BS00768_[1]">
              <a:extLst>
                <a:ext uri="{FF2B5EF4-FFF2-40B4-BE49-F238E27FC236}">
                  <a16:creationId xmlns:a16="http://schemas.microsoft.com/office/drawing/2014/main" id="{E90EC5A6-F279-6E4A-A0F4-1F5B775A53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Text Box 36">
            <a:extLst>
              <a:ext uri="{FF2B5EF4-FFF2-40B4-BE49-F238E27FC236}">
                <a16:creationId xmlns:a16="http://schemas.microsoft.com/office/drawing/2014/main" id="{AEC96A95-A24E-234D-BFA0-CAD51D07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certificate for Bob’</a:t>
            </a:r>
            <a:r>
              <a:rPr lang="en-US" altLang="ja-JP" sz="2400" dirty="0">
                <a:latin typeface="+mn-lt"/>
                <a:cs typeface="Arial" charset="0"/>
              </a:rPr>
              <a:t>s public key, signed by CA</a:t>
            </a:r>
            <a:endParaRPr lang="en-US" sz="2400" dirty="0">
              <a:latin typeface="+mn-lt"/>
              <a:cs typeface="Arial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A104D4-6597-8545-AE1E-4577D2F09F17}"/>
              </a:ext>
            </a:extLst>
          </p:cNvPr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D5506696-77AB-1B40-A4F7-5FFAF0CC1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42" name="Picture 17" descr="BS00768_[1]">
              <a:extLst>
                <a:ext uri="{FF2B5EF4-FFF2-40B4-BE49-F238E27FC236}">
                  <a16:creationId xmlns:a16="http://schemas.microsoft.com/office/drawing/2014/main" id="{A7ECB05D-E6D2-A048-986D-B97CF6063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" name="Group 18">
              <a:extLst>
                <a:ext uri="{FF2B5EF4-FFF2-40B4-BE49-F238E27FC236}">
                  <a16:creationId xmlns:a16="http://schemas.microsoft.com/office/drawing/2014/main" id="{C75D009B-E4B0-7D46-9107-860AFBE8A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45" name="Group 19">
                <a:extLst>
                  <a:ext uri="{FF2B5EF4-FFF2-40B4-BE49-F238E27FC236}">
                    <a16:creationId xmlns:a16="http://schemas.microsoft.com/office/drawing/2014/main" id="{FA341A53-980A-5C49-B6F7-E79003B34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47" name="Text Box 20">
                  <a:extLst>
                    <a:ext uri="{FF2B5EF4-FFF2-40B4-BE49-F238E27FC236}">
                      <a16:creationId xmlns:a16="http://schemas.microsoft.com/office/drawing/2014/main" id="{DEAC77C3-BAA5-F443-8C94-D92E5D6CD6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48" name="Text Box 21">
                  <a:extLst>
                    <a:ext uri="{FF2B5EF4-FFF2-40B4-BE49-F238E27FC236}">
                      <a16:creationId xmlns:a16="http://schemas.microsoft.com/office/drawing/2014/main" id="{C89B2AF0-297B-6E4C-8552-0E5F297C82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46" name="Text Box 22">
                <a:extLst>
                  <a:ext uri="{FF2B5EF4-FFF2-40B4-BE49-F238E27FC236}">
                    <a16:creationId xmlns:a16="http://schemas.microsoft.com/office/drawing/2014/main" id="{FD5B6C22-76DD-BB4D-93E7-DF94845342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59881B-A1F9-7A4D-BDB2-822CB1AC868C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3BB3F4-B2E4-CB40-9B41-6B747981F1D1}"/>
              </a:ext>
            </a:extLst>
          </p:cNvPr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50" name="Rectangle 14">
              <a:extLst>
                <a:ext uri="{FF2B5EF4-FFF2-40B4-BE49-F238E27FC236}">
                  <a16:creationId xmlns:a16="http://schemas.microsoft.com/office/drawing/2014/main" id="{9F86004E-57D3-2B47-A9C8-B12CCB4E6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94D9C94A-2C78-EF44-95ED-65E34026B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C9228D-7D76-B749-BF6B-5CD50A49737B}"/>
              </a:ext>
            </a:extLst>
          </p:cNvPr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F1F72D12-E9EA-EA4E-9462-C0194DDA2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55" name="Picture 17" descr="BS00768_[1]">
              <a:extLst>
                <a:ext uri="{FF2B5EF4-FFF2-40B4-BE49-F238E27FC236}">
                  <a16:creationId xmlns:a16="http://schemas.microsoft.com/office/drawing/2014/main" id="{64902A97-E370-9644-A285-6713693008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6" name="Group 18">
              <a:extLst>
                <a:ext uri="{FF2B5EF4-FFF2-40B4-BE49-F238E27FC236}">
                  <a16:creationId xmlns:a16="http://schemas.microsoft.com/office/drawing/2014/main" id="{40B79DC8-6CFF-1A42-BBB2-043B5D8A6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58" name="Group 19">
                <a:extLst>
                  <a:ext uri="{FF2B5EF4-FFF2-40B4-BE49-F238E27FC236}">
                    <a16:creationId xmlns:a16="http://schemas.microsoft.com/office/drawing/2014/main" id="{7CE30E7F-A771-CD48-8BA7-28ECDB8D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60" name="Text Box 20">
                  <a:extLst>
                    <a:ext uri="{FF2B5EF4-FFF2-40B4-BE49-F238E27FC236}">
                      <a16:creationId xmlns:a16="http://schemas.microsoft.com/office/drawing/2014/main" id="{95F49427-0650-9F48-AD60-F4AD83D704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61" name="Text Box 21">
                  <a:extLst>
                    <a:ext uri="{FF2B5EF4-FFF2-40B4-BE49-F238E27FC236}">
                      <a16:creationId xmlns:a16="http://schemas.microsoft.com/office/drawing/2014/main" id="{1D3534E8-F6F2-3F40-A422-A479EAB109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59" name="Text Box 22">
                <a:extLst>
                  <a:ext uri="{FF2B5EF4-FFF2-40B4-BE49-F238E27FC236}">
                    <a16:creationId xmlns:a16="http://schemas.microsoft.com/office/drawing/2014/main" id="{91198392-95D5-C743-A978-73224FA9A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8B9612A-2D92-F647-989B-3FD2B6A7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309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pic>
        <p:nvPicPr>
          <p:cNvPr id="62" name="Picture 4" descr="j0175664[1]">
            <a:extLst>
              <a:ext uri="{FF2B5EF4-FFF2-40B4-BE49-F238E27FC236}">
                <a16:creationId xmlns:a16="http://schemas.microsoft.com/office/drawing/2014/main" id="{86204907-90B2-284B-BA6F-A051EB0C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</p:spPr>
      </p:pic>
      <p:sp>
        <p:nvSpPr>
          <p:cNvPr id="63" name="Text Box 5">
            <a:extLst>
              <a:ext uri="{FF2B5EF4-FFF2-40B4-BE49-F238E27FC236}">
                <a16:creationId xmlns:a16="http://schemas.microsoft.com/office/drawing/2014/main" id="{BF16691C-9BDB-1D4F-AA2F-7065045E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Bob</a:t>
            </a:r>
            <a:r>
              <a:rPr lang="en-US" altLang="ja-JP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public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key </a:t>
            </a:r>
          </a:p>
        </p:txBody>
      </p:sp>
      <p:pic>
        <p:nvPicPr>
          <p:cNvPr id="64" name="Picture 6" descr="BS00768_[1]">
            <a:extLst>
              <a:ext uri="{FF2B5EF4-FFF2-40B4-BE49-F238E27FC236}">
                <a16:creationId xmlns:a16="http://schemas.microsoft.com/office/drawing/2014/main" id="{8280B673-28A1-4F46-858C-8C7273B4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7">
            <a:extLst>
              <a:ext uri="{FF2B5EF4-FFF2-40B4-BE49-F238E27FC236}">
                <a16:creationId xmlns:a16="http://schemas.microsoft.com/office/drawing/2014/main" id="{47A82B01-B7E1-D846-8542-A99CD2AEA39E}"/>
              </a:ext>
            </a:extLst>
          </p:cNvPr>
          <p:cNvGrpSpPr>
            <a:grpSpLocks/>
          </p:cNvGrpSpPr>
          <p:nvPr/>
        </p:nvGrpSpPr>
        <p:grpSpPr bwMode="auto"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66" name="Group 8">
              <a:extLst>
                <a:ext uri="{FF2B5EF4-FFF2-40B4-BE49-F238E27FC236}">
                  <a16:creationId xmlns:a16="http://schemas.microsoft.com/office/drawing/2014/main" id="{C2759B9C-729A-5343-BADB-7B154CCF8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68" name="Text Box 9">
                <a:extLst>
                  <a:ext uri="{FF2B5EF4-FFF2-40B4-BE49-F238E27FC236}">
                    <a16:creationId xmlns:a16="http://schemas.microsoft.com/office/drawing/2014/main" id="{A77E39EC-DC13-404E-B464-ABE48C6D1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69" name="Text Box 10">
                <a:extLst>
                  <a:ext uri="{FF2B5EF4-FFF2-40B4-BE49-F238E27FC236}">
                    <a16:creationId xmlns:a16="http://schemas.microsoft.com/office/drawing/2014/main" id="{C5422436-A231-5644-8B83-73C0DDFE2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C552F4B3-060D-5E41-AFB6-6B22FC0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2" name="Group 24">
            <a:extLst>
              <a:ext uri="{FF2B5EF4-FFF2-40B4-BE49-F238E27FC236}">
                <a16:creationId xmlns:a16="http://schemas.microsoft.com/office/drawing/2014/main" id="{1723C1A2-8445-2D4C-A1AC-7941C67B6447}"/>
              </a:ext>
            </a:extLst>
          </p:cNvPr>
          <p:cNvGrpSpPr>
            <a:grpSpLocks/>
          </p:cNvGrpSpPr>
          <p:nvPr/>
        </p:nvGrpSpPr>
        <p:grpSpPr bwMode="auto"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id="83" name="Picture 25" descr="SO00109_[1]">
              <a:extLst>
                <a:ext uri="{FF2B5EF4-FFF2-40B4-BE49-F238E27FC236}">
                  <a16:creationId xmlns:a16="http://schemas.microsoft.com/office/drawing/2014/main" id="{884E3D47-2931-0749-BC1C-167192A82B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4" name="Group 26">
              <a:extLst>
                <a:ext uri="{FF2B5EF4-FFF2-40B4-BE49-F238E27FC236}">
                  <a16:creationId xmlns:a16="http://schemas.microsoft.com/office/drawing/2014/main" id="{C26DAA83-3F07-2948-9CB4-F03941CB5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6" name="Group 27">
                <a:extLst>
                  <a:ext uri="{FF2B5EF4-FFF2-40B4-BE49-F238E27FC236}">
                    <a16:creationId xmlns:a16="http://schemas.microsoft.com/office/drawing/2014/main" id="{3D9235A1-82B6-9A4D-B692-364CBCFC81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8" name="Text Box 28">
                  <a:extLst>
                    <a:ext uri="{FF2B5EF4-FFF2-40B4-BE49-F238E27FC236}">
                      <a16:creationId xmlns:a16="http://schemas.microsoft.com/office/drawing/2014/main" id="{26A0F4D4-6AF6-9E47-A61A-CF82F0B947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9" name="Text Box 29">
                  <a:extLst>
                    <a:ext uri="{FF2B5EF4-FFF2-40B4-BE49-F238E27FC236}">
                      <a16:creationId xmlns:a16="http://schemas.microsoft.com/office/drawing/2014/main" id="{61B19EC3-D708-D648-BBA1-846CA65A0D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7" name="Text Box 30">
                <a:extLst>
                  <a:ext uri="{FF2B5EF4-FFF2-40B4-BE49-F238E27FC236}">
                    <a16:creationId xmlns:a16="http://schemas.microsoft.com/office/drawing/2014/main" id="{8115967C-E3FB-BE48-ABEF-FBE72FA54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5" name="Picture 31" descr="BS00768_[1]">
              <a:extLst>
                <a:ext uri="{FF2B5EF4-FFF2-40B4-BE49-F238E27FC236}">
                  <a16:creationId xmlns:a16="http://schemas.microsoft.com/office/drawing/2014/main" id="{00CF9311-3C9B-3A4F-9436-75CF9002FF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0" name="Rectangle 3">
            <a:extLst>
              <a:ext uri="{FF2B5EF4-FFF2-40B4-BE49-F238E27FC236}">
                <a16:creationId xmlns:a16="http://schemas.microsoft.com/office/drawing/2014/main" id="{A9D3E564-4A02-0341-99A6-4CA77C4481EE}"/>
              </a:ext>
            </a:extLst>
          </p:cNvPr>
          <p:cNvSpPr txBox="1">
            <a:spLocks noChangeArrowheads="1"/>
          </p:cNvSpPr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>
                <a:solidFill>
                  <a:schemeClr val="tx2"/>
                </a:solidFill>
              </a:rPr>
              <a:t>when Alice wants Bob</a:t>
            </a:r>
            <a:r>
              <a:rPr lang="en-US" altLang="ja-JP" sz="3200" dirty="0">
                <a:solidFill>
                  <a:schemeClr val="tx2"/>
                </a:solidFill>
              </a:rPr>
              <a:t>’s public key</a:t>
            </a:r>
            <a:r>
              <a:rPr lang="en-US" altLang="ja-JP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gets Bob</a:t>
            </a:r>
            <a:r>
              <a:rPr lang="en-US" altLang="ja-JP" sz="2800" dirty="0">
                <a:solidFill>
                  <a:schemeClr val="tx2"/>
                </a:solidFill>
              </a:rPr>
              <a:t>’s certificate (Bob or elsewhere) 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apply CA</a:t>
            </a:r>
            <a:r>
              <a:rPr lang="en-US" altLang="ja-JP" sz="2800" dirty="0">
                <a:solidFill>
                  <a:schemeClr val="tx2"/>
                </a:solidFill>
              </a:rPr>
              <a:t>’s public key to Bob</a:t>
            </a:r>
            <a:r>
              <a:rPr lang="ja-JP" altLang="en-US" sz="2800">
                <a:solidFill>
                  <a:schemeClr val="tx2"/>
                </a:solidFill>
              </a:rPr>
              <a:t>’</a:t>
            </a:r>
            <a:r>
              <a:rPr lang="en-US" altLang="ja-JP" sz="2800" dirty="0">
                <a:solidFill>
                  <a:schemeClr val="tx2"/>
                </a:solidFill>
              </a:rPr>
              <a:t>s certificate, get Bob’s public key</a:t>
            </a: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18F6ED6-01A5-0E45-82CA-E5937DA040AC}"/>
              </a:ext>
            </a:extLst>
          </p:cNvPr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92" name="Text Box 16">
              <a:extLst>
                <a:ext uri="{FF2B5EF4-FFF2-40B4-BE49-F238E27FC236}">
                  <a16:creationId xmlns:a16="http://schemas.microsoft.com/office/drawing/2014/main" id="{623C5444-33AE-A745-BE15-55AD9A0EE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key</a:t>
              </a:r>
              <a:r>
                <a:rPr lang="en-US" sz="1800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pic>
          <p:nvPicPr>
            <p:cNvPr id="93" name="Picture 17" descr="BS00768_[1]">
              <a:extLst>
                <a:ext uri="{FF2B5EF4-FFF2-40B4-BE49-F238E27FC236}">
                  <a16:creationId xmlns:a16="http://schemas.microsoft.com/office/drawing/2014/main" id="{D7837F94-C73E-4F4B-9E5D-BA3F3F58A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4" name="Group 18">
              <a:extLst>
                <a:ext uri="{FF2B5EF4-FFF2-40B4-BE49-F238E27FC236}">
                  <a16:creationId xmlns:a16="http://schemas.microsoft.com/office/drawing/2014/main" id="{74911AEB-DF5A-1C40-B94B-9013E3477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96" name="Group 19">
                <a:extLst>
                  <a:ext uri="{FF2B5EF4-FFF2-40B4-BE49-F238E27FC236}">
                    <a16:creationId xmlns:a16="http://schemas.microsoft.com/office/drawing/2014/main" id="{4CA1F0FD-4828-2144-A75D-FDE3A8678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98" name="Text Box 20">
                  <a:extLst>
                    <a:ext uri="{FF2B5EF4-FFF2-40B4-BE49-F238E27FC236}">
                      <a16:creationId xmlns:a16="http://schemas.microsoft.com/office/drawing/2014/main" id="{B3D79FB7-1C2B-C94B-B437-7A8ECA4482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9" name="Text Box 21">
                  <a:extLst>
                    <a:ext uri="{FF2B5EF4-FFF2-40B4-BE49-F238E27FC236}">
                      <a16:creationId xmlns:a16="http://schemas.microsoft.com/office/drawing/2014/main" id="{E3966B90-5436-A04E-8C64-3707CB2188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97" name="Text Box 22">
                <a:extLst>
                  <a:ext uri="{FF2B5EF4-FFF2-40B4-BE49-F238E27FC236}">
                    <a16:creationId xmlns:a16="http://schemas.microsoft.com/office/drawing/2014/main" id="{97AFB871-1EC4-CD44-A23A-77B645039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75A1564F-7EB2-0A4C-BE2B-C0FE1A5F9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1BF86D7-C3B3-2847-ACEE-C8C1FEB25E60}"/>
              </a:ext>
            </a:extLst>
          </p:cNvPr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01" name="Rectangle 14">
              <a:extLst>
                <a:ext uri="{FF2B5EF4-FFF2-40B4-BE49-F238E27FC236}">
                  <a16:creationId xmlns:a16="http://schemas.microsoft.com/office/drawing/2014/main" id="{73BE9E8D-6C46-A342-B10D-C6ECD8AED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2" name="Text Box 15">
              <a:extLst>
                <a:ext uri="{FF2B5EF4-FFF2-40B4-BE49-F238E27FC236}">
                  <a16:creationId xmlns:a16="http://schemas.microsoft.com/office/drawing/2014/main" id="{669CFD21-9EEE-4149-A26A-FB28FA2D2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504F19-7FCB-A149-8908-2F307F1C15D6}"/>
              </a:ext>
            </a:extLst>
          </p:cNvPr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339D3AD-1952-B248-B66E-C59F9B8324E8}"/>
              </a:ext>
            </a:extLst>
          </p:cNvPr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67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524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3324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38" name="Picture 41" descr="Alice">
            <a:extLst>
              <a:ext uri="{FF2B5EF4-FFF2-40B4-BE49-F238E27FC236}">
                <a16:creationId xmlns:a16="http://schemas.microsoft.com/office/drawing/2014/main" id="{0C371DC6-AA5F-4442-B6FF-9BE6B85B9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pic>
        <p:nvPicPr>
          <p:cNvPr id="255" name="Picture 67" descr="Bob">
            <a:extLst>
              <a:ext uri="{FF2B5EF4-FFF2-40B4-BE49-F238E27FC236}">
                <a16:creationId xmlns:a16="http://schemas.microsoft.com/office/drawing/2014/main" id="{5045B734-7259-3046-A38E-F20FEAFE0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4" name="Text Box 3">
            <a:extLst>
              <a:ext uri="{FF2B5EF4-FFF2-40B4-BE49-F238E27FC236}">
                <a16:creationId xmlns:a16="http://schemas.microsoft.com/office/drawing/2014/main" id="{8F65192A-556A-A141-AA63-E5E573B1C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generates random </a:t>
            </a:r>
            <a:r>
              <a:rPr lang="en-US" sz="2400" i="1" dirty="0">
                <a:latin typeface="+mn-lt"/>
              </a:rPr>
              <a:t>symmetric</a:t>
            </a:r>
            <a:r>
              <a:rPr lang="en-US" sz="2400" dirty="0">
                <a:latin typeface="+mn-lt"/>
              </a:rPr>
              <a:t> private key, K</a:t>
            </a:r>
            <a:r>
              <a:rPr lang="en-US" sz="2400" baseline="-25000" dirty="0">
                <a:latin typeface="+mn-lt"/>
              </a:rPr>
              <a:t>S</a:t>
            </a:r>
            <a:endParaRPr lang="en-US" sz="2400" dirty="0">
              <a:latin typeface="+mn-lt"/>
            </a:endParaRP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encrypts message with K</a:t>
            </a:r>
            <a:r>
              <a:rPr lang="en-US" sz="2400" baseline="-25000" dirty="0">
                <a:latin typeface="+mn-lt"/>
              </a:rPr>
              <a:t>S  </a:t>
            </a:r>
            <a:r>
              <a:rPr lang="en-US" sz="2400" dirty="0">
                <a:latin typeface="+mn-lt"/>
              </a:rPr>
              <a:t>(for efficiency)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also encrypts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with Bob’</a:t>
            </a:r>
            <a:r>
              <a:rPr lang="en-US" altLang="ja-JP" sz="2400" dirty="0">
                <a:latin typeface="+mn-lt"/>
              </a:rPr>
              <a:t>s public key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sends both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and K</a:t>
            </a:r>
            <a:r>
              <a:rPr lang="en-US" sz="2800" baseline="30000" dirty="0">
                <a:latin typeface="+mn-lt"/>
              </a:rPr>
              <a:t>+</a:t>
            </a:r>
            <a:r>
              <a:rPr lang="en-US" sz="2400" baseline="-25000" dirty="0">
                <a:latin typeface="+mn-lt"/>
              </a:rPr>
              <a:t>B</a:t>
            </a:r>
            <a:r>
              <a:rPr lang="en-US" sz="2400" dirty="0">
                <a:latin typeface="+mn-lt"/>
              </a:rPr>
              <a:t>(K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) to Bob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52D2062F-CA48-1640-B3D5-A53B91C43E7F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9404D262-2707-184F-A734-C5EDC8CE3D5E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4AEFA32B-1A87-E643-B480-9E16BF81B05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43377ED2-37FB-2A48-9457-CB5C224CA256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" name="Picture 40" descr="BS00768_[1]">
            <a:extLst>
              <a:ext uri="{FF2B5EF4-FFF2-40B4-BE49-F238E27FC236}">
                <a16:creationId xmlns:a16="http://schemas.microsoft.com/office/drawing/2014/main" id="{25CD6C53-D478-0F45-AF7C-0B7FA20E3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" name="Picture 63" descr="BS00768_[1]">
            <a:extLst>
              <a:ext uri="{FF2B5EF4-FFF2-40B4-BE49-F238E27FC236}">
                <a16:creationId xmlns:a16="http://schemas.microsoft.com/office/drawing/2014/main" id="{58DA2BF2-4146-C74A-B07F-46340CB5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4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  <a:r>
              <a:rPr lang="en-US" sz="3600" b="0" dirty="0">
                <a:latin typeface="+mn-lt"/>
              </a:rPr>
              <a:t>(more) </a:t>
            </a:r>
            <a:endParaRPr lang="en-US" b="0" dirty="0">
              <a:latin typeface="+mn-lt"/>
            </a:endParaRPr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768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0560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37" name="Picture 40" descr="BS00768_[1]">
            <a:extLst>
              <a:ext uri="{FF2B5EF4-FFF2-40B4-BE49-F238E27FC236}">
                <a16:creationId xmlns:a16="http://schemas.microsoft.com/office/drawing/2014/main" id="{61059736-E07B-744E-B96D-1F4E5761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8" name="Picture 41" descr="Alice">
            <a:extLst>
              <a:ext uri="{FF2B5EF4-FFF2-40B4-BE49-F238E27FC236}">
                <a16:creationId xmlns:a16="http://schemas.microsoft.com/office/drawing/2014/main" id="{0C371DC6-AA5F-4442-B6FF-9BE6B85B9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51" name="Picture 63" descr="BS00768_[1]">
            <a:extLst>
              <a:ext uri="{FF2B5EF4-FFF2-40B4-BE49-F238E27FC236}">
                <a16:creationId xmlns:a16="http://schemas.microsoft.com/office/drawing/2014/main" id="{704F2548-B402-D343-A7F0-B9E3DBE18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pic>
        <p:nvPicPr>
          <p:cNvPr id="255" name="Picture 67" descr="Bob">
            <a:extLst>
              <a:ext uri="{FF2B5EF4-FFF2-40B4-BE49-F238E27FC236}">
                <a16:creationId xmlns:a16="http://schemas.microsoft.com/office/drawing/2014/main" id="{5045B734-7259-3046-A38E-F20FEAFE0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sp>
        <p:nvSpPr>
          <p:cNvPr id="72" name="Text Box 3">
            <a:extLst>
              <a:ext uri="{FF2B5EF4-FFF2-40B4-BE49-F238E27FC236}">
                <a16:creationId xmlns:a16="http://schemas.microsoft.com/office/drawing/2014/main" id="{A7DDBE4A-929E-B642-9DAE-D762CC72B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Bob: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his private key to decrypt and recover K</a:t>
            </a:r>
            <a:r>
              <a:rPr lang="en-US" sz="2400" baseline="-25000" dirty="0">
                <a:latin typeface="+mn-lt"/>
              </a:rPr>
              <a:t>S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to decrypt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to recover m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99435D-2271-B04F-8D13-401A6A3326A7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73F6EEE-3FCB-2E46-81EC-273DBA6A63E6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0DE79B7-8500-4745-B5AF-25A00ABB921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754BF6D-ACBE-CC49-BE4E-4102462FD5E0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19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5566811" y="3122817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m to Bob, with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3309110" y="2832340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4" name="Text Box 25">
            <a:extLst>
              <a:ext uri="{FF2B5EF4-FFF2-40B4-BE49-F238E27FC236}">
                <a16:creationId xmlns:a16="http://schemas.microsoft.com/office/drawing/2014/main" id="{28C8EE68-97D2-FF41-82E7-33345F4D0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2361373" y="3667365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36" descr="Alice">
            <a:extLst>
              <a:ext uri="{FF2B5EF4-FFF2-40B4-BE49-F238E27FC236}">
                <a16:creationId xmlns:a16="http://schemas.microsoft.com/office/drawing/2014/main" id="{6F5B1E19-8AE4-3D48-9575-18C992853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485" y="3141903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" name="Freeform 41">
            <a:extLst>
              <a:ext uri="{FF2B5EF4-FFF2-40B4-BE49-F238E27FC236}">
                <a16:creationId xmlns:a16="http://schemas.microsoft.com/office/drawing/2014/main" id="{55D2C347-2435-E542-9A79-6C7EC0C3DA50}"/>
              </a:ext>
            </a:extLst>
          </p:cNvPr>
          <p:cNvSpPr>
            <a:spLocks/>
          </p:cNvSpPr>
          <p:nvPr/>
        </p:nvSpPr>
        <p:spPr bwMode="auto">
          <a:xfrm flipH="1">
            <a:off x="8131245" y="2840278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7" name="Freeform 42">
            <a:extLst>
              <a:ext uri="{FF2B5EF4-FFF2-40B4-BE49-F238E27FC236}">
                <a16:creationId xmlns:a16="http://schemas.microsoft.com/office/drawing/2014/main" id="{F807986B-0E09-FA4F-881F-706A27FC7F4F}"/>
              </a:ext>
            </a:extLst>
          </p:cNvPr>
          <p:cNvSpPr>
            <a:spLocks/>
          </p:cNvSpPr>
          <p:nvPr/>
        </p:nvSpPr>
        <p:spPr bwMode="auto">
          <a:xfrm flipH="1" flipV="1">
            <a:off x="8153470" y="3675303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pic>
        <p:nvPicPr>
          <p:cNvPr id="158" name="Picture 43" descr="Bob">
            <a:extLst>
              <a:ext uri="{FF2B5EF4-FFF2-40B4-BE49-F238E27FC236}">
                <a16:creationId xmlns:a16="http://schemas.microsoft.com/office/drawing/2014/main" id="{9D615FF3-AB81-364A-B0F1-CE29503E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858" y="3065703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0" name="Group 45">
            <a:extLst>
              <a:ext uri="{FF2B5EF4-FFF2-40B4-BE49-F238E27FC236}">
                <a16:creationId xmlns:a16="http://schemas.microsoft.com/office/drawing/2014/main" id="{B070881B-8F76-0241-BBB2-17A2761F93FB}"/>
              </a:ext>
            </a:extLst>
          </p:cNvPr>
          <p:cNvGrpSpPr>
            <a:grpSpLocks/>
          </p:cNvGrpSpPr>
          <p:nvPr/>
        </p:nvGrpSpPr>
        <p:grpSpPr bwMode="auto"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78" name="Rectangle 46">
              <a:extLst>
                <a:ext uri="{FF2B5EF4-FFF2-40B4-BE49-F238E27FC236}">
                  <a16:creationId xmlns:a16="http://schemas.microsoft.com/office/drawing/2014/main" id="{3DF6F0B4-7F43-4A45-8970-FF3F4C695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9" name="Text Box 47">
              <a:extLst>
                <a:ext uri="{FF2B5EF4-FFF2-40B4-BE49-F238E27FC236}">
                  <a16:creationId xmlns:a16="http://schemas.microsoft.com/office/drawing/2014/main" id="{E2BA66F0-5B75-A94B-BFB8-3C2B9F313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80" name="Text Box 48">
              <a:extLst>
                <a:ext uri="{FF2B5EF4-FFF2-40B4-BE49-F238E27FC236}">
                  <a16:creationId xmlns:a16="http://schemas.microsoft.com/office/drawing/2014/main" id="{1F49BE10-EA54-A84A-8F6A-25C464DFC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81" name="Text Box 49">
              <a:extLst>
                <a:ext uri="{FF2B5EF4-FFF2-40B4-BE49-F238E27FC236}">
                  <a16:creationId xmlns:a16="http://schemas.microsoft.com/office/drawing/2014/main" id="{2D8AEC8C-F0F2-5044-83E1-CF9E0D45A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pic>
        <p:nvPicPr>
          <p:cNvPr id="162" name="Picture 51" descr="BS00768_[1]">
            <a:extLst>
              <a:ext uri="{FF2B5EF4-FFF2-40B4-BE49-F238E27FC236}">
                <a16:creationId xmlns:a16="http://schemas.microsoft.com/office/drawing/2014/main" id="{211576C7-23B5-8C41-BD5B-D7E4BDB8D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" name="Group 52">
            <a:extLst>
              <a:ext uri="{FF2B5EF4-FFF2-40B4-BE49-F238E27FC236}">
                <a16:creationId xmlns:a16="http://schemas.microsoft.com/office/drawing/2014/main" id="{0AD101C7-1262-424D-87F3-9C9E02F032E0}"/>
              </a:ext>
            </a:extLst>
          </p:cNvPr>
          <p:cNvGrpSpPr>
            <a:grpSpLocks/>
          </p:cNvGrpSpPr>
          <p:nvPr/>
        </p:nvGrpSpPr>
        <p:grpSpPr bwMode="auto"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76" name="Text Box 53">
              <a:extLst>
                <a:ext uri="{FF2B5EF4-FFF2-40B4-BE49-F238E27FC236}">
                  <a16:creationId xmlns:a16="http://schemas.microsoft.com/office/drawing/2014/main" id="{4A79E822-86A5-D44B-B0B2-81E7C9CE5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77" name="Text Box 54">
              <a:extLst>
                <a:ext uri="{FF2B5EF4-FFF2-40B4-BE49-F238E27FC236}">
                  <a16:creationId xmlns:a16="http://schemas.microsoft.com/office/drawing/2014/main" id="{7A4A96DE-6FB4-D044-AD65-43209196E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164" name="Group 55">
            <a:extLst>
              <a:ext uri="{FF2B5EF4-FFF2-40B4-BE49-F238E27FC236}">
                <a16:creationId xmlns:a16="http://schemas.microsoft.com/office/drawing/2014/main" id="{0F0A6289-FA89-A14C-897D-B2BA44609D3F}"/>
              </a:ext>
            </a:extLst>
          </p:cNvPr>
          <p:cNvGrpSpPr>
            <a:grpSpLocks/>
          </p:cNvGrpSpPr>
          <p:nvPr/>
        </p:nvGrpSpPr>
        <p:grpSpPr bwMode="auto"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74" name="Text Box 56">
              <a:extLst>
                <a:ext uri="{FF2B5EF4-FFF2-40B4-BE49-F238E27FC236}">
                  <a16:creationId xmlns:a16="http://schemas.microsoft.com/office/drawing/2014/main" id="{65E495B1-6FD1-FB4D-8106-739D3AA58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75" name="Text Box 57">
              <a:extLst>
                <a:ext uri="{FF2B5EF4-FFF2-40B4-BE49-F238E27FC236}">
                  <a16:creationId xmlns:a16="http://schemas.microsoft.com/office/drawing/2014/main" id="{B235E78A-2E04-B642-9500-E3AAD79EA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65" name="Text Box 58">
            <a:extLst>
              <a:ext uri="{FF2B5EF4-FFF2-40B4-BE49-F238E27FC236}">
                <a16:creationId xmlns:a16="http://schemas.microsoft.com/office/drawing/2014/main" id="{4DA86245-D925-3446-A4D0-A81E917FB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6" name="Group 59">
            <a:extLst>
              <a:ext uri="{FF2B5EF4-FFF2-40B4-BE49-F238E27FC236}">
                <a16:creationId xmlns:a16="http://schemas.microsoft.com/office/drawing/2014/main" id="{A97BD907-9DC7-7041-9D34-2BBEA9A1D328}"/>
              </a:ext>
            </a:extLst>
          </p:cNvPr>
          <p:cNvGrpSpPr>
            <a:grpSpLocks/>
          </p:cNvGrpSpPr>
          <p:nvPr/>
        </p:nvGrpSpPr>
        <p:grpSpPr bwMode="auto"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71" name="Rectangle 60">
              <a:extLst>
                <a:ext uri="{FF2B5EF4-FFF2-40B4-BE49-F238E27FC236}">
                  <a16:creationId xmlns:a16="http://schemas.microsoft.com/office/drawing/2014/main" id="{1D293FAC-5E22-D141-A5E4-DB02E8BB0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2" name="Text Box 61">
              <a:extLst>
                <a:ext uri="{FF2B5EF4-FFF2-40B4-BE49-F238E27FC236}">
                  <a16:creationId xmlns:a16="http://schemas.microsoft.com/office/drawing/2014/main" id="{A757629A-2626-2944-9DE4-3E353D0AB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73" name="Text Box 62">
              <a:extLst>
                <a:ext uri="{FF2B5EF4-FFF2-40B4-BE49-F238E27FC236}">
                  <a16:creationId xmlns:a16="http://schemas.microsoft.com/office/drawing/2014/main" id="{1B39B42A-EF1C-E746-A3FD-3109C0DDE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sp>
        <p:nvSpPr>
          <p:cNvPr id="167" name="Freeform 63">
            <a:extLst>
              <a:ext uri="{FF2B5EF4-FFF2-40B4-BE49-F238E27FC236}">
                <a16:creationId xmlns:a16="http://schemas.microsoft.com/office/drawing/2014/main" id="{4691EE9B-BA40-2640-9979-67370B5C964C}"/>
              </a:ext>
            </a:extLst>
          </p:cNvPr>
          <p:cNvSpPr>
            <a:spLocks/>
          </p:cNvSpPr>
          <p:nvPr/>
        </p:nvSpPr>
        <p:spPr bwMode="auto">
          <a:xfrm flipV="1">
            <a:off x="9696520" y="36673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68" name="Freeform 64">
            <a:extLst>
              <a:ext uri="{FF2B5EF4-FFF2-40B4-BE49-F238E27FC236}">
                <a16:creationId xmlns:a16="http://schemas.microsoft.com/office/drawing/2014/main" id="{B7C4584F-BF1A-0544-926F-EA048B2C95C9}"/>
              </a:ext>
            </a:extLst>
          </p:cNvPr>
          <p:cNvSpPr>
            <a:spLocks/>
          </p:cNvSpPr>
          <p:nvPr/>
        </p:nvSpPr>
        <p:spPr bwMode="auto">
          <a:xfrm>
            <a:off x="9675883" y="27910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9" name="Text Box 65">
            <a:extLst>
              <a:ext uri="{FF2B5EF4-FFF2-40B4-BE49-F238E27FC236}">
                <a16:creationId xmlns:a16="http://schemas.microsoft.com/office/drawing/2014/main" id="{F7D43E61-3100-7A4D-BECB-A3331CE38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sp>
        <p:nvSpPr>
          <p:cNvPr id="170" name="Text Box 66">
            <a:extLst>
              <a:ext uri="{FF2B5EF4-FFF2-40B4-BE49-F238E27FC236}">
                <a16:creationId xmlns:a16="http://schemas.microsoft.com/office/drawing/2014/main" id="{1C0EFBE4-3204-B04F-B170-3873C8B0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C00000"/>
                </a:solidFill>
                <a:latin typeface="+mn-lt"/>
                <a:cs typeface="Arial" charset="0"/>
              </a:rPr>
              <a:t>compare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085666D-A10E-EE47-B430-1A938BB519D5}"/>
              </a:ext>
            </a:extLst>
          </p:cNvPr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44" descr="BS00592_[1]">
            <a:extLst>
              <a:ext uri="{FF2B5EF4-FFF2-40B4-BE49-F238E27FC236}">
                <a16:creationId xmlns:a16="http://schemas.microsoft.com/office/drawing/2014/main" id="{0FF485A1-9AA8-6F46-8E70-E9180D86E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pic>
        <p:nvPicPr>
          <p:cNvPr id="202" name="Picture 9" descr="BS00592_[1]">
            <a:extLst>
              <a:ext uri="{FF2B5EF4-FFF2-40B4-BE49-F238E27FC236}">
                <a16:creationId xmlns:a16="http://schemas.microsoft.com/office/drawing/2014/main" id="{A2B82B1E-9E0E-AB4B-B59F-4CA155D8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BA5BB77-4637-7B46-B5F9-DEC82AA783F5}"/>
              </a:ext>
            </a:extLst>
          </p:cNvPr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00E3AD53-6CBA-714C-953B-F457A80C2164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6DC195A-36B0-204A-AEA3-DF2912DA03EB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8FC684D3-661D-214E-8AAA-803D5741950F}"/>
              </a:ext>
            </a:extLst>
          </p:cNvPr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 Box 4">
            <a:extLst>
              <a:ext uri="{FF2B5EF4-FFF2-40B4-BE49-F238E27FC236}">
                <a16:creationId xmlns:a16="http://schemas.microsoft.com/office/drawing/2014/main" id="{1F245A08-96A8-8C45-A51A-73F89CCBC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digitally signs hash of her message with her private key, providing integrity and authentication </a:t>
            </a:r>
          </a:p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sends both message (in the clear) and 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383562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919003A-0583-1E4A-B26A-5A0954150CD9}"/>
              </a:ext>
            </a:extLst>
          </p:cNvPr>
          <p:cNvSpPr/>
          <p:nvPr/>
        </p:nvSpPr>
        <p:spPr>
          <a:xfrm>
            <a:off x="2869617" y="1808924"/>
            <a:ext cx="3133618" cy="2723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07CD2E-B6EC-9248-927D-6D3F30F4B7C6}"/>
              </a:ext>
            </a:extLst>
          </p:cNvPr>
          <p:cNvSpPr/>
          <p:nvPr/>
        </p:nvSpPr>
        <p:spPr>
          <a:xfrm>
            <a:off x="6387545" y="2001078"/>
            <a:ext cx="2610678" cy="32865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9913522" y="3440871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sends m to Bob, with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confidentiality,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4223508" y="2660061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3259587" y="3495086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36" descr="Alice">
            <a:extLst>
              <a:ext uri="{FF2B5EF4-FFF2-40B4-BE49-F238E27FC236}">
                <a16:creationId xmlns:a16="http://schemas.microsoft.com/office/drawing/2014/main" id="{6F5B1E19-8AE4-3D48-9575-18C992853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1" y="2956372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>
            <a:cxnSpLocks/>
          </p:cNvCxnSpPr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>
            <a:cxnSpLocks/>
          </p:cNvCxnSpPr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B78702-8E82-044F-9A18-B2714D979F8A}"/>
              </a:ext>
            </a:extLst>
          </p:cNvPr>
          <p:cNvCxnSpPr>
            <a:cxnSpLocks/>
          </p:cNvCxnSpPr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9" descr="BS00592_[1]">
            <a:extLst>
              <a:ext uri="{FF2B5EF4-FFF2-40B4-BE49-F238E27FC236}">
                <a16:creationId xmlns:a16="http://schemas.microsoft.com/office/drawing/2014/main" id="{55983C4D-CE39-2B44-9000-A0B4F6171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8" descr="BS00768_[1]">
            <a:extLst>
              <a:ext uri="{FF2B5EF4-FFF2-40B4-BE49-F238E27FC236}">
                <a16:creationId xmlns:a16="http://schemas.microsoft.com/office/drawing/2014/main" id="{5D634922-0CDC-3B48-B755-7D3687FF7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" name="Group 10">
            <a:extLst>
              <a:ext uri="{FF2B5EF4-FFF2-40B4-BE49-F238E27FC236}">
                <a16:creationId xmlns:a16="http://schemas.microsoft.com/office/drawing/2014/main" id="{479CB536-995E-2848-93C0-49213D5F025B}"/>
              </a:ext>
            </a:extLst>
          </p:cNvPr>
          <p:cNvGrpSpPr>
            <a:grpSpLocks/>
          </p:cNvGrpSpPr>
          <p:nvPr/>
        </p:nvGrpSpPr>
        <p:grpSpPr bwMode="auto"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73" name="Rectangle 11">
              <a:extLst>
                <a:ext uri="{FF2B5EF4-FFF2-40B4-BE49-F238E27FC236}">
                  <a16:creationId xmlns:a16="http://schemas.microsoft.com/office/drawing/2014/main" id="{87B2F9BA-C745-1A43-A558-24B6C9943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4" name="Text Box 12">
              <a:extLst>
                <a:ext uri="{FF2B5EF4-FFF2-40B4-BE49-F238E27FC236}">
                  <a16:creationId xmlns:a16="http://schemas.microsoft.com/office/drawing/2014/main" id="{1A0FB0CD-E502-7A4E-A69B-9E31C2D38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5" name="Text Box 13">
              <a:extLst>
                <a:ext uri="{FF2B5EF4-FFF2-40B4-BE49-F238E27FC236}">
                  <a16:creationId xmlns:a16="http://schemas.microsoft.com/office/drawing/2014/main" id="{0C8C6F93-FFB7-2A4E-905A-46BF3BF75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76" name="Group 14">
            <a:extLst>
              <a:ext uri="{FF2B5EF4-FFF2-40B4-BE49-F238E27FC236}">
                <a16:creationId xmlns:a16="http://schemas.microsoft.com/office/drawing/2014/main" id="{7B08F5B3-C631-034D-B94A-C26CE6CA152E}"/>
              </a:ext>
            </a:extLst>
          </p:cNvPr>
          <p:cNvGrpSpPr>
            <a:grpSpLocks/>
          </p:cNvGrpSpPr>
          <p:nvPr/>
        </p:nvGrpSpPr>
        <p:grpSpPr bwMode="auto"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77" name="Rectangle 15">
              <a:extLst>
                <a:ext uri="{FF2B5EF4-FFF2-40B4-BE49-F238E27FC236}">
                  <a16:creationId xmlns:a16="http://schemas.microsoft.com/office/drawing/2014/main" id="{87CF5C84-CFB0-A54D-815B-871C0E771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8" name="Text Box 16">
              <a:extLst>
                <a:ext uri="{FF2B5EF4-FFF2-40B4-BE49-F238E27FC236}">
                  <a16:creationId xmlns:a16="http://schemas.microsoft.com/office/drawing/2014/main" id="{4DF8A064-5DAE-6147-AA3D-CA2BBB157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2192AFD7-E41C-7048-9674-C1F0750C3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80" name="Text Box 18">
              <a:extLst>
                <a:ext uri="{FF2B5EF4-FFF2-40B4-BE49-F238E27FC236}">
                  <a16:creationId xmlns:a16="http://schemas.microsoft.com/office/drawing/2014/main" id="{F709284F-B898-BA4A-AE36-2BDC0285A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1" name="Line 25">
            <a:extLst>
              <a:ext uri="{FF2B5EF4-FFF2-40B4-BE49-F238E27FC236}">
                <a16:creationId xmlns:a16="http://schemas.microsoft.com/office/drawing/2014/main" id="{93FC36BF-7703-A443-B5C0-29F56D29D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8362" y="4432160"/>
            <a:ext cx="27906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2" name="Text Box 26">
            <a:extLst>
              <a:ext uri="{FF2B5EF4-FFF2-40B4-BE49-F238E27FC236}">
                <a16:creationId xmlns:a16="http://schemas.microsoft.com/office/drawing/2014/main" id="{4FDC4900-F99E-F04E-8448-6CCBAFE28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83" name="Group 27">
            <a:extLst>
              <a:ext uri="{FF2B5EF4-FFF2-40B4-BE49-F238E27FC236}">
                <a16:creationId xmlns:a16="http://schemas.microsoft.com/office/drawing/2014/main" id="{6475EBD6-3E0A-DA48-9F1C-61F229410786}"/>
              </a:ext>
            </a:extLst>
          </p:cNvPr>
          <p:cNvGrpSpPr>
            <a:grpSpLocks/>
          </p:cNvGrpSpPr>
          <p:nvPr/>
        </p:nvGrpSpPr>
        <p:grpSpPr bwMode="auto"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84" name="Text Box 28">
              <a:extLst>
                <a:ext uri="{FF2B5EF4-FFF2-40B4-BE49-F238E27FC236}">
                  <a16:creationId xmlns:a16="http://schemas.microsoft.com/office/drawing/2014/main" id="{1D17612A-6DD5-4545-B91F-79CFB6865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85" name="Text Box 29">
              <a:extLst>
                <a:ext uri="{FF2B5EF4-FFF2-40B4-BE49-F238E27FC236}">
                  <a16:creationId xmlns:a16="http://schemas.microsoft.com/office/drawing/2014/main" id="{3B044692-0A88-C549-8D8F-064AF3429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6" name="Freeform 30">
            <a:extLst>
              <a:ext uri="{FF2B5EF4-FFF2-40B4-BE49-F238E27FC236}">
                <a16:creationId xmlns:a16="http://schemas.microsoft.com/office/drawing/2014/main" id="{209D438A-7E40-1046-9D71-EEB7D84A7705}"/>
              </a:ext>
            </a:extLst>
          </p:cNvPr>
          <p:cNvSpPr>
            <a:spLocks/>
          </p:cNvSpPr>
          <p:nvPr/>
        </p:nvSpPr>
        <p:spPr bwMode="auto">
          <a:xfrm>
            <a:off x="7865512" y="32129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7" name="Freeform 31">
            <a:extLst>
              <a:ext uri="{FF2B5EF4-FFF2-40B4-BE49-F238E27FC236}">
                <a16:creationId xmlns:a16="http://schemas.microsoft.com/office/drawing/2014/main" id="{9488F0BA-9459-C04E-9FE0-9FE4B103B1A3}"/>
              </a:ext>
            </a:extLst>
          </p:cNvPr>
          <p:cNvSpPr>
            <a:spLocks/>
          </p:cNvSpPr>
          <p:nvPr/>
        </p:nvSpPr>
        <p:spPr bwMode="auto">
          <a:xfrm flipV="1">
            <a:off x="7887737" y="40336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9" name="Text Box 34">
            <a:extLst>
              <a:ext uri="{FF2B5EF4-FFF2-40B4-BE49-F238E27FC236}">
                <a16:creationId xmlns:a16="http://schemas.microsoft.com/office/drawing/2014/main" id="{FF4A2C03-F93B-1444-BA7A-5B93D671B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0" name="Group 36">
            <a:extLst>
              <a:ext uri="{FF2B5EF4-FFF2-40B4-BE49-F238E27FC236}">
                <a16:creationId xmlns:a16="http://schemas.microsoft.com/office/drawing/2014/main" id="{F010567E-F375-3441-A880-066E7FB4EE4C}"/>
              </a:ext>
            </a:extLst>
          </p:cNvPr>
          <p:cNvGrpSpPr>
            <a:grpSpLocks/>
          </p:cNvGrpSpPr>
          <p:nvPr/>
        </p:nvGrpSpPr>
        <p:grpSpPr bwMode="auto"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91" name="Text Box 37">
              <a:extLst>
                <a:ext uri="{FF2B5EF4-FFF2-40B4-BE49-F238E27FC236}">
                  <a16:creationId xmlns:a16="http://schemas.microsoft.com/office/drawing/2014/main" id="{788BAF0A-DC82-9A43-9E98-761C274DF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" name="Text Box 38">
              <a:extLst>
                <a:ext uri="{FF2B5EF4-FFF2-40B4-BE49-F238E27FC236}">
                  <a16:creationId xmlns:a16="http://schemas.microsoft.com/office/drawing/2014/main" id="{0E6BAE5C-4522-F346-95E0-0AA69C38E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93" name="Picture 40" descr="BS00768_[1]">
            <a:extLst>
              <a:ext uri="{FF2B5EF4-FFF2-40B4-BE49-F238E27FC236}">
                <a16:creationId xmlns:a16="http://schemas.microsoft.com/office/drawing/2014/main" id="{2100A58F-3DE8-CA44-A340-2701137B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 Box 64">
            <a:extLst>
              <a:ext uri="{FF2B5EF4-FFF2-40B4-BE49-F238E27FC236}">
                <a16:creationId xmlns:a16="http://schemas.microsoft.com/office/drawing/2014/main" id="{0495C371-4F47-344C-BA47-2E01397FF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DC868E2-FF4E-584F-B734-7FE4135BB5C1}"/>
              </a:ext>
            </a:extLst>
          </p:cNvPr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F043BD1-A4FA-BC4B-BE4E-112865DA449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196BCCC-1C75-144D-A1D3-E974D44F362C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5F03D04-F8E5-DF4D-AA60-CA9A0E39EEA6}"/>
              </a:ext>
            </a:extLst>
          </p:cNvPr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6E00D5-8912-904B-8565-6DD639E3390E}"/>
              </a:ext>
            </a:extLst>
          </p:cNvPr>
          <p:cNvCxnSpPr>
            <a:cxnSpLocks/>
          </p:cNvCxnSpPr>
          <p:nvPr/>
        </p:nvCxnSpPr>
        <p:spPr>
          <a:xfrm flipH="1" flipV="1">
            <a:off x="7518592" y="46800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 Box 4">
            <a:extLst>
              <a:ext uri="{FF2B5EF4-FFF2-40B4-BE49-F238E27FC236}">
                <a16:creationId xmlns:a16="http://schemas.microsoft.com/office/drawing/2014/main" id="{A0F773C8-BE0A-1D44-A564-CCE4F5ADF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1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10" name="Text Box 4">
            <a:extLst>
              <a:ext uri="{FF2B5EF4-FFF2-40B4-BE49-F238E27FC236}">
                <a16:creationId xmlns:a16="http://schemas.microsoft.com/office/drawing/2014/main" id="{F23FB403-140F-ED49-8850-0E17EC0B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confidentiality</a:t>
            </a:r>
          </a:p>
        </p:txBody>
      </p:sp>
      <p:sp>
        <p:nvSpPr>
          <p:cNvPr id="112" name="Text Box 4">
            <a:extLst>
              <a:ext uri="{FF2B5EF4-FFF2-40B4-BE49-F238E27FC236}">
                <a16:creationId xmlns:a16="http://schemas.microsoft.com/office/drawing/2014/main" id="{B7FD7CC3-4A91-3E4D-8524-20024787A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 uses three keys: </a:t>
            </a:r>
            <a:r>
              <a:rPr lang="en-US" sz="2800" dirty="0">
                <a:latin typeface="+mn-lt"/>
              </a:rPr>
              <a:t>her private key, Bob’</a:t>
            </a:r>
            <a:r>
              <a:rPr lang="en-US" altLang="ja-JP" sz="2800" dirty="0">
                <a:latin typeface="+mn-lt"/>
              </a:rPr>
              <a:t>s public key, new symmetric key</a:t>
            </a:r>
            <a:endParaRPr lang="en-US" sz="2800" dirty="0">
              <a:latin typeface="+mn-lt"/>
            </a:endParaRPr>
          </a:p>
        </p:txBody>
      </p:sp>
      <p:sp>
        <p:nvSpPr>
          <p:cNvPr id="113" name="Text Box 4">
            <a:extLst>
              <a:ext uri="{FF2B5EF4-FFF2-40B4-BE49-F238E27FC236}">
                <a16:creationId xmlns:a16="http://schemas.microsoft.com/office/drawing/2014/main" id="{004647EC-7722-7144-ACFF-6986A2917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i="1" dirty="0">
                <a:solidFill>
                  <a:srgbClr val="0012A0"/>
                </a:solidFill>
                <a:latin typeface="+mn-lt"/>
              </a:rPr>
              <a:t>What are Bob’s complementary actions?</a:t>
            </a:r>
          </a:p>
        </p:txBody>
      </p:sp>
    </p:spTree>
    <p:extLst>
      <p:ext uri="{BB962C8B-B14F-4D97-AF65-F5344CB8AC3E}">
        <p14:creationId xmlns:p14="http://schemas.microsoft.com/office/powerpoint/2010/main" val="374027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836718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security: what’s needed?</a:t>
            </a:r>
            <a:endParaRPr lang="en-US" sz="4400" b="0" dirty="0">
              <a:latin typeface="+mn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711017D-0786-AE4D-9C8B-A9B78332A06C}"/>
              </a:ext>
            </a:extLst>
          </p:cNvPr>
          <p:cNvSpPr txBox="1">
            <a:spLocks noChangeArrowheads="1"/>
          </p:cNvSpPr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handshake: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Alice, Bob use their certificates, private keys to authenticate each other, exchange or create shared secret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derivation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Alice, Bob use shared secret to derive set of keys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transfer: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stream data transfer: data as a series of records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not just one-time transactions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 closure: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special messages to securely close connection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3FD55F0-E149-124E-8E21-E70DE72E018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62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let’s </a:t>
            </a:r>
            <a:r>
              <a:rPr lang="en-US" sz="3200" i="1" dirty="0"/>
              <a:t>build</a:t>
            </a:r>
            <a:r>
              <a:rPr lang="en-US" sz="3200" dirty="0"/>
              <a:t> a toy TLS protocol, </a:t>
            </a:r>
            <a:r>
              <a:rPr lang="en-US" sz="3200" i="1" dirty="0"/>
              <a:t>t-tls, </a:t>
            </a:r>
            <a:r>
              <a:rPr lang="en-US" sz="3200" dirty="0"/>
              <a:t>to see what’s needed!</a:t>
            </a:r>
            <a:endParaRPr lang="en-US" sz="2800" dirty="0">
              <a:solidFill>
                <a:srgbClr val="0012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0A1B3-23D0-C644-B102-E8B069ED3317}"/>
              </a:ext>
            </a:extLst>
          </p:cNvPr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6863" indent="-296863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3200" dirty="0"/>
              <a:t>we’ve seen the “pieces” already:</a:t>
            </a:r>
          </a:p>
        </p:txBody>
      </p:sp>
    </p:spTree>
    <p:extLst>
      <p:ext uri="{BB962C8B-B14F-4D97-AF65-F5344CB8AC3E}">
        <p14:creationId xmlns:p14="http://schemas.microsoft.com/office/powerpoint/2010/main" val="47412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930C5F0E-4D36-9C4B-88CB-340775C3D57C}"/>
              </a:ext>
            </a:extLst>
          </p:cNvPr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9BCC160-B990-A54E-940E-FEBC31E83C58}"/>
                </a:ext>
              </a:extLst>
            </p:cNvPr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B454662-0671-9643-A55F-365DA7A38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 Box 5">
                <a:extLst>
                  <a:ext uri="{FF2B5EF4-FFF2-40B4-BE49-F238E27FC236}">
                    <a16:creationId xmlns:a16="http://schemas.microsoft.com/office/drawing/2014/main" id="{E8A5DC00-B05C-4D4B-AEB0-AAA10F83C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client request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F28683F-5EAF-FF40-BADA-C320A04AB3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AA90659-E488-4244-A265-0CC0984E6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 Box 5">
                <a:extLst>
                  <a:ext uri="{FF2B5EF4-FFF2-40B4-BE49-F238E27FC236}">
                    <a16:creationId xmlns:a16="http://schemas.microsoft.com/office/drawing/2014/main" id="{A6526929-0E98-4F4D-BBD1-63D92B0CD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server reply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7284159-8995-8D44-8B2C-98EB32304940}"/>
              </a:ext>
            </a:extLst>
          </p:cNvPr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6F19937-2079-E54E-809A-EEC900DF25EC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D0F91550-555B-C94B-A5D6-4DD5B0CAB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8A54A79F-75A4-E844-893E-FC200D2790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t-tls hello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82AD674-EE10-254E-A440-84021C4A62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16CB137-51BC-4B4A-AD44-E2F3C1F0DB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 Box 5">
                <a:extLst>
                  <a:ext uri="{FF2B5EF4-FFF2-40B4-BE49-F238E27FC236}">
                    <a16:creationId xmlns:a16="http://schemas.microsoft.com/office/drawing/2014/main" id="{5F8BC39E-EDF0-1342-9827-3BE6A9D01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public key certificate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29E47A9-4F33-984A-B9C1-48E51EFF5F81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E3A71BE5-5428-884C-9D0F-85B8AD98E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baseline="-250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r>
                <a:rPr lang="en-US" baseline="300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(MS) = EMS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B890D9-A9E7-E148-A927-23B5327FBA02}"/>
              </a:ext>
            </a:extLst>
          </p:cNvPr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0439343-F5CB-514E-AA77-86CC33169BA3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D147B95-2F16-0F4C-B288-AFF61FDD1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 Box 5">
                <a:extLst>
                  <a:ext uri="{FF2B5EF4-FFF2-40B4-BE49-F238E27FC236}">
                    <a16:creationId xmlns:a16="http://schemas.microsoft.com/office/drawing/2014/main" id="{0CEE80EA-1A0F-2141-B45A-171010848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TCP SYN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8376851-1BCE-4849-8509-B3DAD9C8BFF5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3D4FB3AB-20C8-604E-81FA-D32111B05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 Box 5">
                <a:extLst>
                  <a:ext uri="{FF2B5EF4-FFF2-40B4-BE49-F238E27FC236}">
                    <a16:creationId xmlns:a16="http://schemas.microsoft.com/office/drawing/2014/main" id="{23D4810A-9307-2941-B5FA-9CB2C7985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SYNACK</a:t>
                </a:r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945B41C-927D-5D44-B384-B4DB1F5A6A88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11">
              <a:extLst>
                <a:ext uri="{FF2B5EF4-FFF2-40B4-BE49-F238E27FC236}">
                  <a16:creationId xmlns:a16="http://schemas.microsoft.com/office/drawing/2014/main" id="{A87FF3D0-8FD9-7144-8C26-79BD1498D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>
                      <a:lumMod val="75000"/>
                    </a:schemeClr>
                  </a:solidFill>
                  <a:latin typeface="+mn-lt"/>
                  <a:cs typeface="Arial" charset="0"/>
                </a:rPr>
                <a:t>ACK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  <a:cs typeface="Arial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initial handshake</a:t>
            </a:r>
            <a:endParaRPr lang="en-US" sz="4400" b="0" dirty="0">
              <a:latin typeface="+mn-lt"/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94A11CB-4FF9-2B46-A769-F6B82B9EA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703" y="1216025"/>
            <a:ext cx="5181600" cy="5237784"/>
          </a:xfrm>
        </p:spPr>
        <p:txBody>
          <a:bodyPr>
            <a:normAutofit/>
          </a:bodyPr>
          <a:lstStyle/>
          <a:p>
            <a:pPr marL="130175" indent="0">
              <a:buNone/>
            </a:pPr>
            <a:r>
              <a:rPr lang="en-US" dirty="0">
                <a:solidFill>
                  <a:srgbClr val="C00000"/>
                </a:solidFill>
              </a:rPr>
              <a:t>t-tls handshake phase:</a:t>
            </a:r>
          </a:p>
          <a:p>
            <a:r>
              <a:rPr lang="en-US" dirty="0"/>
              <a:t>Bob establishes TCP connection with Alice</a:t>
            </a:r>
          </a:p>
          <a:p>
            <a:r>
              <a:rPr lang="en-US" dirty="0"/>
              <a:t>Bob verifies that Alice is really Alice</a:t>
            </a:r>
          </a:p>
          <a:p>
            <a:r>
              <a:rPr lang="en-US" dirty="0"/>
              <a:t>Bob sends Alice a master secret key (MS), used to generate all other keys for TLS session</a:t>
            </a:r>
          </a:p>
          <a:p>
            <a:r>
              <a:rPr lang="en-US" dirty="0"/>
              <a:t>potential issues:</a:t>
            </a:r>
          </a:p>
          <a:p>
            <a:pPr lvl="1"/>
            <a:r>
              <a:rPr lang="en-US" dirty="0"/>
              <a:t>3 RTT before client can start receiving data (including TCP handshake)</a:t>
            </a:r>
          </a:p>
          <a:p>
            <a:endParaRPr lang="en-US" dirty="0"/>
          </a:p>
        </p:txBody>
      </p:sp>
      <p:pic>
        <p:nvPicPr>
          <p:cNvPr id="13" name="Picture 6" descr="Alice">
            <a:extLst>
              <a:ext uri="{FF2B5EF4-FFF2-40B4-BE49-F238E27FC236}">
                <a16:creationId xmlns:a16="http://schemas.microsoft.com/office/drawing/2014/main" id="{C3B7BAC7-7FD0-5341-B149-28B8FEC59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683" y="1581219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 descr="Bob">
            <a:extLst>
              <a:ext uri="{FF2B5EF4-FFF2-40B4-BE49-F238E27FC236}">
                <a16:creationId xmlns:a16="http://schemas.microsoft.com/office/drawing/2014/main" id="{49B94789-D08D-CE4E-B510-D55798675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74" y="1696280"/>
            <a:ext cx="622682" cy="636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06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cryptographic keys</a:t>
            </a:r>
            <a:endParaRPr lang="en-US" sz="4400" b="0" dirty="0">
              <a:latin typeface="+mn-lt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considered bad to use same key for more than one cryptographic function</a:t>
            </a:r>
          </a:p>
          <a:p>
            <a:pPr lvl="1"/>
            <a:r>
              <a:rPr lang="en-US" sz="2800" dirty="0"/>
              <a:t>different keys for message authentication code (MAC) and encryption</a:t>
            </a:r>
          </a:p>
          <a:p>
            <a:pPr indent="-287338"/>
            <a:r>
              <a:rPr lang="en-US" dirty="0"/>
              <a:t>four keys: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c</a:t>
            </a:r>
            <a:r>
              <a:rPr lang="en-US" sz="2800" dirty="0"/>
              <a:t> : encryption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c</a:t>
            </a:r>
            <a:r>
              <a:rPr lang="en-US" sz="2800" dirty="0"/>
              <a:t> : MAC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s</a:t>
            </a:r>
            <a:r>
              <a:rPr lang="en-US" sz="2800" dirty="0"/>
              <a:t> : encryption key for data sent from server to client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s</a:t>
            </a:r>
            <a:r>
              <a:rPr lang="en-US" sz="2800" dirty="0"/>
              <a:t> : MAC key for data sent from server to client</a:t>
            </a:r>
          </a:p>
          <a:p>
            <a:pPr indent="-287338"/>
            <a:r>
              <a:rPr lang="en-US" dirty="0"/>
              <a:t>keys derived from key derivation function (KDF)</a:t>
            </a:r>
          </a:p>
          <a:p>
            <a:pPr lvl="1"/>
            <a:r>
              <a:rPr lang="en-US" sz="2800" dirty="0"/>
              <a:t>takes master secret and (possibly) some additional random data to create new keys</a:t>
            </a:r>
          </a:p>
        </p:txBody>
      </p:sp>
      <p:pic>
        <p:nvPicPr>
          <p:cNvPr id="47" name="Picture 35" descr="BS00768_[1]">
            <a:extLst>
              <a:ext uri="{FF2B5EF4-FFF2-40B4-BE49-F238E27FC236}">
                <a16:creationId xmlns:a16="http://schemas.microsoft.com/office/drawing/2014/main" id="{27414126-EE53-FD47-8ED9-DC763D399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5" descr="BS00768_[1]">
            <a:extLst>
              <a:ext uri="{FF2B5EF4-FFF2-40B4-BE49-F238E27FC236}">
                <a16:creationId xmlns:a16="http://schemas.microsoft.com/office/drawing/2014/main" id="{02DF6332-5A79-2C45-BCE5-BF448423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5" descr="BS00768_[1]">
            <a:extLst>
              <a:ext uri="{FF2B5EF4-FFF2-40B4-BE49-F238E27FC236}">
                <a16:creationId xmlns:a16="http://schemas.microsoft.com/office/drawing/2014/main" id="{F83058A1-6959-C94F-87FF-4E2CF2559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35" descr="BS00768_[1]">
            <a:extLst>
              <a:ext uri="{FF2B5EF4-FFF2-40B4-BE49-F238E27FC236}">
                <a16:creationId xmlns:a16="http://schemas.microsoft.com/office/drawing/2014/main" id="{B126C34A-7E21-5748-86F0-D2A6A5BA2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74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</a:t>
            </a:r>
            <a:endParaRPr lang="en-US" sz="4400" b="0" dirty="0">
              <a:latin typeface="+mn-lt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recall: TCP provides data </a:t>
            </a:r>
            <a:r>
              <a:rPr lang="en-US" i="1" dirty="0"/>
              <a:t>byte</a:t>
            </a:r>
            <a:r>
              <a:rPr lang="en-US" dirty="0"/>
              <a:t> </a:t>
            </a:r>
            <a:r>
              <a:rPr lang="en-US" i="1" dirty="0"/>
              <a:t>stream</a:t>
            </a:r>
            <a:r>
              <a:rPr lang="en-US" dirty="0"/>
              <a:t> abstraction</a:t>
            </a:r>
          </a:p>
          <a:p>
            <a:r>
              <a:rPr lang="en-US" u="sng" dirty="0">
                <a:solidFill>
                  <a:srgbClr val="0012A0"/>
                </a:solidFill>
              </a:rPr>
              <a:t>Q: </a:t>
            </a:r>
            <a:r>
              <a:rPr lang="en-US" dirty="0"/>
              <a:t>can we encrypt data in-stream as written into TCP socket?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A: </a:t>
            </a:r>
            <a:r>
              <a:rPr lang="en-US" sz="2800" dirty="0"/>
              <a:t>where would MAC go? If at end, no message integrity until all data received and connection closed!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solution: </a:t>
            </a:r>
            <a:r>
              <a:rPr lang="en-US" sz="2800" dirty="0"/>
              <a:t>break stream in series of “records”</a:t>
            </a:r>
          </a:p>
          <a:p>
            <a:pPr lvl="2"/>
            <a:r>
              <a:rPr lang="en-US" sz="2800" dirty="0"/>
              <a:t>each client-to-server record carries a MAC, created using M</a:t>
            </a:r>
            <a:r>
              <a:rPr lang="en-US" sz="2800" baseline="-25000" dirty="0"/>
              <a:t>c</a:t>
            </a:r>
            <a:endParaRPr lang="en-US" sz="2800" dirty="0"/>
          </a:p>
          <a:p>
            <a:pPr lvl="2"/>
            <a:r>
              <a:rPr lang="en-US" sz="2800" dirty="0"/>
              <a:t>receiver can act on each record as it arrives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/>
                <a:t>t-tls record encrypted using symmetric key, K</a:t>
              </a:r>
              <a:r>
                <a:rPr lang="en-US" sz="2800" baseline="-25000" dirty="0"/>
                <a:t>c, </a:t>
              </a:r>
              <a:r>
                <a:rPr lang="en-US" sz="2800" dirty="0"/>
                <a:t>passed to TCP: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58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 </a:t>
            </a:r>
            <a:r>
              <a:rPr lang="en-US" sz="3600" b="0" dirty="0">
                <a:latin typeface="+mn-lt"/>
              </a:rPr>
              <a:t>(more)</a:t>
            </a:r>
            <a:endParaRPr lang="en-US" sz="4400" b="0" dirty="0">
              <a:latin typeface="+mn-lt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possible attacks on data stream?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re-ordering: </a:t>
            </a:r>
            <a:r>
              <a:rPr lang="en-US" sz="2800" dirty="0"/>
              <a:t>man-in middle intercepts TCP segments and reorders (manipulating sequence #s in unencrypted TCP header)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replay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10C6FCF-6552-434B-A569-0DFC7248D525}"/>
              </a:ext>
            </a:extLst>
          </p:cNvPr>
          <p:cNvSpPr txBox="1">
            <a:spLocks noChangeArrowheads="1"/>
          </p:cNvSpPr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solutions:</a:t>
            </a:r>
          </a:p>
          <a:p>
            <a:pPr lvl="1"/>
            <a:r>
              <a:rPr lang="en-US" sz="2800" dirty="0"/>
              <a:t>use TLS sequence numbers (data, TLS-seq-# incorporated into MAC)</a:t>
            </a:r>
          </a:p>
          <a:p>
            <a:pPr lvl="1"/>
            <a:r>
              <a:rPr lang="en-US" sz="2800" dirty="0"/>
              <a:t>use nonce</a:t>
            </a:r>
          </a:p>
        </p:txBody>
      </p:sp>
    </p:spTree>
    <p:extLst>
      <p:ext uri="{BB962C8B-B14F-4D97-AF65-F5344CB8AC3E}">
        <p14:creationId xmlns:p14="http://schemas.microsoft.com/office/powerpoint/2010/main" val="378581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connection close</a:t>
            </a:r>
            <a:endParaRPr lang="en-US" sz="4400" b="0" dirty="0">
              <a:latin typeface="+mn-lt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1" name="TextBox 40">
              <a:extLst>
                <a:ext uri="{FF2B5EF4-FFF2-40B4-BE49-F238E27FC236}">
                  <a16:creationId xmlns:a16="http://schemas.microsoft.com/office/drawing/2014/main" id="{40349773-0930-D141-AEDF-6487C739A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type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cxnSp>
          <p:nvCxnSpPr>
            <p:cNvPr id="22" name="Straight Connector 35">
              <a:extLst>
                <a:ext uri="{FF2B5EF4-FFF2-40B4-BE49-F238E27FC236}">
                  <a16:creationId xmlns:a16="http://schemas.microsoft.com/office/drawing/2014/main" id="{ACA878E9-7BAB-4547-BDA6-CEACC26C2C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5412" y="5130876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8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CFB3BD4C-9E5D-884B-8F72-F51F636D1647}"/>
              </a:ext>
            </a:extLst>
          </p:cNvPr>
          <p:cNvSpPr txBox="1">
            <a:spLocks noChangeArrowheads="1"/>
          </p:cNvSpPr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truncation attack: </a:t>
            </a:r>
          </a:p>
          <a:p>
            <a:pPr lvl="1"/>
            <a:r>
              <a:rPr lang="en-US" sz="2800" dirty="0"/>
              <a:t>attacker forges TCP connection close segment</a:t>
            </a:r>
          </a:p>
          <a:p>
            <a:pPr lvl="1"/>
            <a:r>
              <a:rPr lang="en-US" sz="2800" dirty="0"/>
              <a:t>one or both sides thinks there is less data than there actually is </a:t>
            </a:r>
          </a:p>
          <a:p>
            <a:r>
              <a:rPr lang="en-US" dirty="0">
                <a:solidFill>
                  <a:srgbClr val="0012A0"/>
                </a:solidFill>
              </a:rPr>
              <a:t>solution: </a:t>
            </a:r>
            <a:r>
              <a:rPr lang="en-US" dirty="0"/>
              <a:t>record types, with one type for closure</a:t>
            </a:r>
          </a:p>
          <a:p>
            <a:pPr lvl="1"/>
            <a:r>
              <a:rPr lang="en-US" dirty="0"/>
              <a:t>type 0 for data; type 1 for close</a:t>
            </a:r>
          </a:p>
          <a:p>
            <a:r>
              <a:rPr lang="en-US" dirty="0"/>
              <a:t>MAC now computed using data, type, sequence #</a:t>
            </a:r>
          </a:p>
        </p:txBody>
      </p:sp>
    </p:spTree>
    <p:extLst>
      <p:ext uri="{BB962C8B-B14F-4D97-AF65-F5344CB8AC3E}">
        <p14:creationId xmlns:p14="http://schemas.microsoft.com/office/powerpoint/2010/main" val="274047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75DA-960F-9E42-A5A3-3B8B45FC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451" y="1631260"/>
            <a:ext cx="10850217" cy="4875557"/>
          </a:xfrm>
        </p:spPr>
        <p:txBody>
          <a:bodyPr>
            <a:normAutofit/>
          </a:bodyPr>
          <a:lstStyle/>
          <a:p>
            <a:r>
              <a:rPr lang="en-US" dirty="0"/>
              <a:t>“cipher suite”: algorithms that can be used for key generation, encryption, MAC, digital signature</a:t>
            </a:r>
          </a:p>
          <a:p>
            <a:r>
              <a:rPr lang="en-US" dirty="0"/>
              <a:t>TLS: 1.3 </a:t>
            </a:r>
            <a:r>
              <a:rPr lang="en-US" sz="2000" dirty="0"/>
              <a:t>(2018)</a:t>
            </a:r>
            <a:r>
              <a:rPr lang="en-US" sz="3200" dirty="0"/>
              <a:t>:</a:t>
            </a:r>
            <a:r>
              <a:rPr lang="en-US" dirty="0"/>
              <a:t> more limited cipher suite choice than TLS 1.2 </a:t>
            </a:r>
            <a:r>
              <a:rPr lang="en-US" sz="2000" dirty="0"/>
              <a:t>(2008)</a:t>
            </a:r>
          </a:p>
          <a:p>
            <a:pPr lvl="1"/>
            <a:r>
              <a:rPr lang="en-US" sz="2800" dirty="0"/>
              <a:t>only 5 choices, rather than 37 choices</a:t>
            </a:r>
          </a:p>
          <a:p>
            <a:pPr lvl="1"/>
            <a:r>
              <a:rPr lang="en-US" sz="2800" i="1" dirty="0"/>
              <a:t>requires</a:t>
            </a:r>
            <a:r>
              <a:rPr lang="en-US" sz="2800" dirty="0"/>
              <a:t> Diffie-Hellman (DH) for key exchange, rather than DH or RSA</a:t>
            </a:r>
          </a:p>
          <a:p>
            <a:pPr lvl="1"/>
            <a:r>
              <a:rPr lang="en-US" sz="2800" dirty="0"/>
              <a:t>combined encryption and authentication algorithm (“authenticated encryption”) for data rather than serial encryption, authentication</a:t>
            </a:r>
          </a:p>
          <a:p>
            <a:pPr lvl="2"/>
            <a:r>
              <a:rPr lang="en-US" sz="2400" dirty="0"/>
              <a:t>4 based on AES</a:t>
            </a:r>
          </a:p>
          <a:p>
            <a:pPr lvl="1"/>
            <a:r>
              <a:rPr lang="en-US" sz="2800" dirty="0"/>
              <a:t>HMAC uses SHA (256 or 284) cryptographic hash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TLS: 1.3 cipher suite</a:t>
            </a:r>
            <a:endParaRPr lang="en-US" sz="4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67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1 RTT</a:t>
            </a:r>
            <a:endParaRPr lang="en-US" sz="4400" b="0" dirty="0">
              <a:latin typeface="+mn-lt"/>
            </a:endParaRPr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419059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0" name="Line 73">
            <a:extLst>
              <a:ext uri="{FF2B5EF4-FFF2-40B4-BE49-F238E27FC236}">
                <a16:creationId xmlns:a16="http://schemas.microsoft.com/office/drawing/2014/main" id="{B119B6F9-3051-4845-8DC3-AC7CA8281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0390" y="4446052"/>
            <a:ext cx="4466341" cy="76205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6FD78D8-A011-BF41-BF8B-F55B6EBED7DB}"/>
              </a:ext>
            </a:extLst>
          </p:cNvPr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21" name="Rectangle 77">
              <a:extLst>
                <a:ext uri="{FF2B5EF4-FFF2-40B4-BE49-F238E27FC236}">
                  <a16:creationId xmlns:a16="http://schemas.microsoft.com/office/drawing/2014/main" id="{F8CA38D6-DA75-DA48-A714-1C05DAF7B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27341C0E-38B0-8E4B-B70A-41ED33D9D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3C8411C-D034-C847-A430-7115B6AF6DC3}"/>
                </a:ext>
              </a:extLst>
            </p:cNvPr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0B4A451-6D15-754A-81D3-3A6437D01540}"/>
                </a:ext>
              </a:extLst>
            </p:cNvPr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client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supported cipher suites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79AF327-7180-2D4F-B786-6C4D99E8780B}"/>
                </a:ext>
              </a:extLst>
            </p:cNvPr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56D9E5A-5ED3-374B-9790-3B78253C2B98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0280EBC-BB7A-564A-963E-3E72488991D3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AE94685-FD97-0B41-8CD2-EFB1AACB74B8}"/>
              </a:ext>
            </a:extLst>
          </p:cNvPr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3401A1E-798A-B043-A313-16D3E1D0D4E3}"/>
                </a:ext>
              </a:extLst>
            </p:cNvPr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79" name="Rectangle 79">
                <a:extLst>
                  <a:ext uri="{FF2B5EF4-FFF2-40B4-BE49-F238E27FC236}">
                    <a16:creationId xmlns:a16="http://schemas.microsoft.com/office/drawing/2014/main" id="{929B3F4D-DC3B-524F-832B-72A27F4E7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AE9F0B4-D415-2D4C-8FE9-1E41596DEA9F}"/>
                  </a:ext>
                </a:extLst>
              </p:cNvPr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876DC1-8D84-6748-BD43-CDCAB74776FE}"/>
                  </a:ext>
                </a:extLst>
              </p:cNvPr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server hello: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selected cipher suite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DH key agreement protocol, parameters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4B20F14-67AA-4449-8216-AA9235811F84}"/>
                </a:ext>
              </a:extLst>
            </p:cNvPr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FEE8FED-9849-0640-ADC2-A51F04F1D092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7D11A2-826D-6F4D-8085-88C8D0B18D5C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6A04956-A9EC-9F4E-B0FD-8BDF21A502C5}"/>
              </a:ext>
            </a:extLst>
          </p:cNvPr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A21D853-0AA1-3E42-8F47-15ECB71F1459}"/>
                </a:ext>
              </a:extLst>
            </p:cNvPr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6F4317B-0829-2745-8E4A-0EBC142CF32B}"/>
                </a:ext>
              </a:extLst>
            </p:cNvPr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8D2E281-5D35-6042-A1B3-F9E2FBADECFB}"/>
              </a:ext>
            </a:extLst>
          </p:cNvPr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C36F151-9EED-B348-96AA-8062FCF1CB3B}"/>
                </a:ext>
              </a:extLst>
            </p:cNvPr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 TLS hello msg: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i="1" dirty="0"/>
                <a:t>guesses </a:t>
              </a: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indicates cipher suites it supports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73D9687-9F48-3447-976D-72F8C75DF63E}"/>
                </a:ext>
              </a:extLst>
            </p:cNvPr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C8042C3-B36C-2F4D-B826-590F3BDA6D55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5B5C66D-1F38-D643-99AF-39C171C11E55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0B08D4F-46F1-8A4B-BB13-DC6881FEB440}"/>
              </a:ext>
            </a:extLst>
          </p:cNvPr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0B52424-6607-484C-BD49-FC6EC4A0C5B5}"/>
                </a:ext>
              </a:extLst>
            </p:cNvPr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server TLS hello msg chooses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cipher suite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server-signed certificate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6F9CB07-1EAC-B945-80DF-41F8681DFE0B}"/>
                </a:ext>
              </a:extLst>
            </p:cNvPr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8519843-0AD0-A94D-B2B9-7974C84A5527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B3A009-2410-4A4A-A33A-2700AEB8B24D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A4F4A90-03F0-F34A-822F-A3F079D550FA}"/>
              </a:ext>
            </a:extLst>
          </p:cNvPr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28CC550-011E-5041-B6E2-2DDA5F90CF12}"/>
                </a:ext>
              </a:extLst>
            </p:cNvPr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client: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checks server certificate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generates key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can now make application request (e.g.., HTTPS GET)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F248C5B-DA6D-4146-B6BB-E22ABB520608}"/>
                </a:ext>
              </a:extLst>
            </p:cNvPr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F7BDA39-4222-C64B-AFF8-63BB40E7EDA6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6D5B9647-139B-944F-BD2F-804D83D4EF24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349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0 RTT</a:t>
            </a:r>
            <a:endParaRPr lang="en-US" sz="4400" b="0" dirty="0">
              <a:latin typeface="+mn-lt"/>
            </a:endParaRPr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856384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" name="Rectangle 77">
            <a:extLst>
              <a:ext uri="{FF2B5EF4-FFF2-40B4-BE49-F238E27FC236}">
                <a16:creationId xmlns:a16="http://schemas.microsoft.com/office/drawing/2014/main" id="{F8CA38D6-DA75-DA48-A714-1C05DAF7B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" name="Rectangle 79">
            <a:extLst>
              <a:ext uri="{FF2B5EF4-FFF2-40B4-BE49-F238E27FC236}">
                <a16:creationId xmlns:a16="http://schemas.microsoft.com/office/drawing/2014/main" id="{27341C0E-38B0-8E4B-B70A-41ED33D9D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C8411C-D034-C847-A430-7115B6AF6DC3}"/>
              </a:ext>
            </a:extLst>
          </p:cNvPr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bg1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B4A451-6D15-754A-81D3-3A6437D01540}"/>
              </a:ext>
            </a:extLst>
          </p:cNvPr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client hello: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supported cipher suites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DH key agreement protocol, parameters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application data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3401A1E-798A-B043-A313-16D3E1D0D4E3}"/>
              </a:ext>
            </a:extLst>
          </p:cNvPr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929B3F4D-DC3B-524F-832B-72A27F4E7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AE9F0B4-D415-2D4C-8FE9-1E41596DEA9F}"/>
                </a:ext>
              </a:extLst>
            </p:cNvPr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1876DC1-8D84-6748-BD43-CDCAB74776FE}"/>
                </a:ext>
              </a:extLst>
            </p:cNvPr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server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selected cipher suite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>
                  <a:solidFill>
                    <a:srgbClr val="C00000"/>
                  </a:solidFill>
                </a:rPr>
                <a:t>application data (reply)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58702B9F-F007-BD45-B451-CDED71CA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140" y="1430821"/>
            <a:ext cx="4929807" cy="4875557"/>
          </a:xfrm>
        </p:spPr>
        <p:txBody>
          <a:bodyPr>
            <a:normAutofit/>
          </a:bodyPr>
          <a:lstStyle/>
          <a:p>
            <a:r>
              <a:rPr lang="en-US" dirty="0"/>
              <a:t>initial hello message contains encrypted application data!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“resuming” earlier connection between client and server 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application data encrypted using “resumption master secret” from earlier connection</a:t>
            </a:r>
          </a:p>
          <a:p>
            <a:pPr indent="-234950"/>
            <a:r>
              <a:rPr lang="en-US" dirty="0"/>
              <a:t>vulnerable to replay attacks!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maybe OK for get HTTP GET or client requests not modifying server state</a:t>
            </a:r>
          </a:p>
        </p:txBody>
      </p:sp>
    </p:spTree>
    <p:extLst>
      <p:ext uri="{BB962C8B-B14F-4D97-AF65-F5344CB8AC3E}">
        <p14:creationId xmlns:p14="http://schemas.microsoft.com/office/powerpoint/2010/main" val="31898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1531</Words>
  <Application>Microsoft Office PowerPoint</Application>
  <PresentationFormat>Widescreen</PresentationFormat>
  <Paragraphs>347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Gill Sans MT</vt:lpstr>
      <vt:lpstr>Wingdings</vt:lpstr>
      <vt:lpstr>Office Theme</vt:lpstr>
      <vt:lpstr>PowerPoint Presentation</vt:lpstr>
      <vt:lpstr>Security: overview</vt:lpstr>
      <vt:lpstr>Public key Certification Authorities (CA)</vt:lpstr>
      <vt:lpstr>Public key Certification Authorities (CA)</vt:lpstr>
      <vt:lpstr>Secure e-mail: confidentiality </vt:lpstr>
      <vt:lpstr>Secure e-mail: confidentiality (more) </vt:lpstr>
      <vt:lpstr>Secure e-mail: integrity, authentication</vt:lpstr>
      <vt:lpstr>Secure e-mail: integrity, authentication</vt:lpstr>
      <vt:lpstr>Transport-layer security (TLS)</vt:lpstr>
      <vt:lpstr>Transport-layer security (TLS)</vt:lpstr>
      <vt:lpstr>Transport-layer security: what’s needed?</vt:lpstr>
      <vt:lpstr>t-tls: initial handshake</vt:lpstr>
      <vt:lpstr>t-tls: cryptographic keys</vt:lpstr>
      <vt:lpstr>t-tls: encrypting data</vt:lpstr>
      <vt:lpstr>t-tls: encrypting data (more)</vt:lpstr>
      <vt:lpstr>t-tls: connection close</vt:lpstr>
      <vt:lpstr>TLS: 1.3 cipher suite</vt:lpstr>
      <vt:lpstr>TLS 1.3 handshake: 1 RTT</vt:lpstr>
      <vt:lpstr>TLS 1.3 handshake: 0 RTT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Nibouche, Omar</cp:lastModifiedBy>
  <cp:revision>1082</cp:revision>
  <dcterms:created xsi:type="dcterms:W3CDTF">2020-01-18T07:24:59Z</dcterms:created>
  <dcterms:modified xsi:type="dcterms:W3CDTF">2025-02-04T21:27:52Z</dcterms:modified>
</cp:coreProperties>
</file>